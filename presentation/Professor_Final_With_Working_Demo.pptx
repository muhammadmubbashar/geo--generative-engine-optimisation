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9" r:id="rId3"/>
    <p:sldId id="267" r:id="rId4"/>
    <p:sldId id="261" r:id="rId5"/>
    <p:sldId id="264" r:id="rId6"/>
    <p:sldId id="262" r:id="rId7"/>
    <p:sldId id="258" r:id="rId8"/>
    <p:sldId id="265" r:id="rId9"/>
    <p:sldId id="266" r:id="rId10"/>
    <p:sldId id="268" r:id="rId11"/>
    <p:sldId id="257" r:id="rId12"/>
    <p:sldId id="269" r:id="rId13"/>
    <p:sldId id="270" r:id="rId14"/>
    <p:sldId id="280" r:id="rId15"/>
    <p:sldId id="281" r:id="rId16"/>
    <p:sldId id="282" r:id="rId17"/>
    <p:sldId id="273" r:id="rId18"/>
    <p:sldId id="274" r:id="rId19"/>
    <p:sldId id="275"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DF7BA9-39F0-4A30-9308-5B84257FDC27}" type="datetimeFigureOut">
              <a:rPr lang="en-US" smtClean="0"/>
              <a:t>10/25/2026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74038A-BCCC-41DC-B32C-A3AB2E808F42}" type="slidenum">
              <a:rPr lang="en-US" smtClean="0"/>
              <a:t>‹#›</a:t>
            </a:fld>
            <a:endParaRPr lang="en-US"/>
          </a:p>
        </p:txBody>
      </p:sp>
    </p:spTree>
    <p:extLst>
      <p:ext uri="{BB962C8B-B14F-4D97-AF65-F5344CB8AC3E}">
        <p14:creationId xmlns:p14="http://schemas.microsoft.com/office/powerpoint/2010/main" val="4185008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Flight Centre's live Melbourne to London page, as a person sees it: the price, the search box, the deal cards with airline, dates and fare, and the FAQ. On the right is the same page as an AI tool reads it, taken from the page text our sandbox saved. The deal cards are empty because they only load with JavaScript, and the FAQ answer is still there but its question is missing, because the question sat inside a clickable button. Fees and other facts are buried in sentences, so they are hard to pick out. Our methods fix each of these: Expose, Organise and Connect. Note: the screenshots are from October 2026; the saved text is from the August capture, and the right-hand view is a reconstruction for illustration.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work the same way: a question goes in, pages are found, an AI writes an answer and cites sources. ChatGPT uses the live web, which changes daily; we cannot see what it read or swap Flight Centre's page. Our sandbox uses a frozen copy of real Brave search results (50 questions, 953 pages), the Luna model (gpt-5.6-luna) through the OpenAI API, and swaps only Flight Centre's page between original and improved. So any change in citations comes from our page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sandbox is built. Stage 1 freezes Brave Search results through its API. Stage 2 downloads each page without running JavaScript and turns it into plain text with Python and BeautifulSoup. Stage 3 is our own code that builds the improved Flight Centre pages, with automated tests for each change. Stage 4 builds the source pack: 5 to 10 numbered pages per question, in two shuffled orders. Stage 5 sends the question and pages to the OpenAI API, model gpt-5.6-luna, which must cite sources by number. Stage 6 maps each citation back to its page and records whether Flight Centre was cited. Everything is saved and fingerprinted. Performance: each page is capped at 24,000 characters; each comparison is 580 paid API answers; failed API calls resume without losing results; and every result can be recounted offline.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can only cite what it can read. Our methods do not add new claims; they make Flight Centre's existing information easier for the AI to find, read and understand. They work in three ways. Expose: some deal details only load with JavaScript, and FAQ questions sit inside clickable buttons, so a tool reading the page text misses them; we make them visible. Organise: key facts such as route, starting fare and fees are put in clear labelled fields. Connect: each FAQ question is kept beside its answer, so the answer keeps its meaning. Each change was tested on its own against the original page, and the most promising ones were combined into one final page.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versions get the same question, the same competitor pages in the same order, and the same AI model. The only difference is whether Flight Centre's page is the original or the improved one. AI answers vary from run to run, so each question is answered 10 times: 2 source orders times 5 repeats. Across the 29 questions where Flight Centre had a page in the results, that gives 290 answers per version. We count how many answers cite Flight Centre in each version and compare them. The AI is never told to cite Flight Centre.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Flight Centre's deal cards only appear after JavaScript runs. Many AI tools read a page without running JavaScript, so in the text the AI received, the "Hot deals" heading was followed by nothing. What we did: we opened each Flight Centre page in a real browser so the JavaScript ran, saved that version, removed menus and clutter, and fixed prices that came out as single digits (for example "$ 1 3 8 7 *" became "$1387*"). Only Flight Centre pages were swapped; competitors stayed as captured. Result: citations rose from 39.3% to 45.9% of 290 answers, +6.6 percentage points. The 95% range is -0.3 to +14.1, so the gain is not certain. On the Melbourne to London question alone, citations went from 0 to 7 out of 10. The screenshot is from October and our capture from August, so the fares differ.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on route pages, the route, a repeated price, a caret symbol, the deals heading and the fee notice were all jumbled into one line of text. What we did: our code matched this line against a strict pattern and copied each value into labelled fields: departure, destination, starting fare stated on the page, and fees (the full fee wording, "Displayed fares exclude Online Booking Fee &amp; Merchant Fee. Fees are applied once at checkout."). The fields were added as a "Product facts" section at the end of the page; the original text stayed. Nothing was guessed: no currency, dates or trip type, and any page that did not match the pattern exactly was left unchanged. Result: citations rose from 39.3% to 46.9%, +7.6 percentage points, with a 95% range of +2.8 to +13.1, so above zero. On the Melbourne to London question, 0 to 3 out of 10.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people ask AI assistants questions, but the page gives its facts as plain text with nothing linking them to a question. What we did: fixed rules (not the questions we test with) wrote a specific question from the page's own facts, and the answer is an exact quote from the same page, so nothing new is claimed. The rules skipped sales lines like "40 years in the business" and facts about the wrong country. Result: citations rose from 39.3% to 46.2%, +6.9 percentage points, with a 95% range of +1.0 to +13.1, so above zero. On the Melbourne to London question, 0 to 3 out of 10.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final fixes to the FAQ section. First, each FAQ question sat inside a clickable button, and text extraction throws buttons away, so the AI got the answers without their questions. Our code turned each button into plain text with the same words; checks confirmed only the questions were added and every answer was unchanged (429 question labels across the saved pages). Second, on 9 pages the FAQ sat below a long "Explore" travel guide, so we moved the whole FAQ section above it, with every word unchanged. These fixes were never tested on their own, so they have no separate result. They are part of the final page, which raised citations from 40.0% to 49.3% on the first run and 52.4% on the repeat run, both with 95% ranges above zero.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Play the embedded recording automatically in Slide Show. This is a genuine browser screen recording: the buttons load original saved evidence, compare an FAQ excerpt, open complete answers and compute inclusion from all citation markers. It is an offline calculation, not new model generation. Source: 04_evidence/selected/{baseline,optimised}/Q06_fixed_s2_r4.json.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66204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Scoring matches the selected-record verifier: regex bracketed integer citations, valid source index, brand flightcentre, binary inclusion per answer. Comparison checks use complete source text. The page captures differ in other content including fares; this is not an isolated FAQ experiment. The unchanged-source checks are recorded by the working demo.</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0039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Actual saved Offline_Verification.json excerpt shown, not a simulated terminal. Source script: 03_code/verify_results.py. Selected historical comparison; baseline116 and optimised152 of290. Question bootstrap95 interval5.17 to20.00pp. Record checks do not establish truth, citation entailment or causal identification. Interpretation and broader limitations follow in the later slides.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57147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of all six methods, each tested on its own against the same original page, where 39.3% of answers (114 of 290) cited Flight Centre. Kept: labelled facts +7.6 points (46.9%), question and answer +6.9 (46.2%), showing hidden deals +6.6 (45.9%, range includes zero). Not used: schema code plus a visible sentence +6.2 (45.5%; both changed together, and Google says no special markup is needed for its AI features), outside facts +3.4 (42.8%, range includes zero), AI rewriting -5.5 (33.8%, range entirely below zero). The kept changes were refined and combined with two FAQ fixes into the final page, which raised citations from 40.0% to 49.3% and 52.4% across two runs. The final page used refined versions, so the individual gains cannot be added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 increase enough? It is enough to show the page changes worked inside our sandbox, but not enough yet to prove the business outcome.
What supports it: both runs of the final page beat the original with 95% ranges above zero (+3.1 to +15.9 and +5.2 to +20.0 points). The gain is larger than the gap between two runs of identical pages (+3.1 points, range -2.8 to +8.3). In the repeat run, 21 of 29 questions improved, 6 declined and 2 stayed the same. In relative terms, 23% and 31% more answers cited Flight Centre. Our sandbox also reproduced two effects that published research reports: moving Flight Centre's source to the top of the list added 18.3 points, matching the position effects in Lost in the Middle (TACL 2024) and C-SEO Bench (NeurIPS 2025); and automatic AI rewriting lowered citations, matching C-SEO Bench's finding that many rewriting methods hurt. That suggests the sandbox behaves the way independent studies say answer engines behave. (The GEO paper's "up to 40%" uses a different measure, the share of answer words, so we do not compare it directly.)
What it does not prove: we have not tested live AI engines, traffic or bookings. In the open-contest check, where the system picks its own sources, citations barely changed (6.50% to 6.75%). Our aspirational target was 60%; the best run reached 52.4%. The final page was also chosen after development, and the baseline was historical, so the result is likely somewhat optimistic. Our design could only reliably detect gains of about 9 to 11 points or more.
So the decision is a governed live pilot, not a full rollout.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learned. Exact percentages will change as models change, but five lessons should hold.
1. AI can only cite what it can read. Deals that load with JavaScript and FAQ questions inside buttons were invisible in the text the AI received; making them readable helped. Vercel found the AI crawlers from OpenAI, Anthropic and Perplexity do not run JavaScript.
2. Substance beats style. Adding real, labelled facts and question-and-answer structure helped (+7.6 and +6.9 points), while automatic AI rewriting lowered citations (-5.5). Google's May 2026 guidance also says content does not need to be rewritten for AI, and C-SEO Bench found many stylistic rewrites do not help.
3. Getting into the list matters most. Moving Flight Centre's source to the top added 18.3 points with the text unchanged, the largest effect we saw, and when the system picked its own sources there was no gain. So the next lever is discovery: classic SEO that gets Flight Centre's pages retrieved in the first place.
4. Measure how often, not where. The same question gave different answers each run, so we counted the share of ten answers citing Flight Centre. SparkToro found the same: how often a brand appears is far more stable than its position.
5. Re-test when models change. Our sandbox can swap models and recapture search results, so a fresh, fair re-test is cheap.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in plain terms. We define visibility as how often AI answers cite Flight Centre. With the original pages, about 4 in 10 answers cited Flight Centre (40%). With our improved pages, about 5 in 10 did: 49% on the first run and 52% on the repeat. Each method on its own raised visibility by up to 7.6 percentage points, and combined into one final page they raised it by 9 to 12 points. Both runs beat the original, so the gain was not luck. This was measured in our sandbox, not yet on live AI search traffic or bookings.
What Flight Centre gets from us:
1. The sandbox (GEO Experiment and Optimisation Software): the code for the page changes, the experiments and the checking tools, so Flight Centre can test any page change safely before it goes live, using its own API keys.
2. A detailed report (Technical Report and Handover Guide): how the system works, our methods, findings and limitations, and step-by-step instructions to rerun everything.
3. 52 improved pages (Optimised Travel Page Demonstrator): the saved before-and-after page versions, which show exactly what changed and can guide Flight Centre's own page updates.
4. The results pack (Experimental Results and Reproducibility Pack): every saved AI answer, its sources and the counts, with scripts that recheck the numbers offline, without an API key.
We also hand over this presentation with speaker notes. Code, slides and summary numbers are in our public GitHub repository; the full evidence comes as a separate package.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0D04-7ECC-7BD8-2690-B8311701BB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5D1816-9CD5-7447-CDDA-96B543FD31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489862-84C4-7E1B-193F-844A2682D49E}"/>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5" name="Footer Placeholder 4">
            <a:extLst>
              <a:ext uri="{FF2B5EF4-FFF2-40B4-BE49-F238E27FC236}">
                <a16:creationId xmlns:a16="http://schemas.microsoft.com/office/drawing/2014/main" id="{6F30D727-AC27-E0A3-40F1-DDF45E8A97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E65C7-DEBA-4DB3-4AE9-B0AD497F8651}"/>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148567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EEE2-9A72-685A-247F-433281E56E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29DECA-128F-C3A7-533F-75DB5D0D96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403AAC-C002-8233-8F85-822BE3D8D548}"/>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5" name="Footer Placeholder 4">
            <a:extLst>
              <a:ext uri="{FF2B5EF4-FFF2-40B4-BE49-F238E27FC236}">
                <a16:creationId xmlns:a16="http://schemas.microsoft.com/office/drawing/2014/main" id="{5E5ED310-3064-5A50-51D5-3EA8624117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C37C2A-2177-DB28-F863-3DA18A2E91F6}"/>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3596188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2D710-DA92-CFE3-0008-82CBF103B2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C6FDE4-FF17-78B3-AC58-E1B175E7F1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6AEF98-2982-28FE-D8EF-FE4B7357E201}"/>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5" name="Footer Placeholder 4">
            <a:extLst>
              <a:ext uri="{FF2B5EF4-FFF2-40B4-BE49-F238E27FC236}">
                <a16:creationId xmlns:a16="http://schemas.microsoft.com/office/drawing/2014/main" id="{1E351BA6-ACA2-23CB-1638-A3988EE386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D2C321-7ECD-59E4-5666-0F7E0342F167}"/>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802103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65C76-5852-4ABE-C0E0-6A3A76F328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AA0A3E-DB96-6F8A-36E8-BBE983B242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3CD8F4-6F2D-0A21-A46E-9B693B482F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ACD29F-96E1-C6FA-D0EB-DC44B2A0BD6B}"/>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6" name="Footer Placeholder 5">
            <a:extLst>
              <a:ext uri="{FF2B5EF4-FFF2-40B4-BE49-F238E27FC236}">
                <a16:creationId xmlns:a16="http://schemas.microsoft.com/office/drawing/2014/main" id="{0F3C722E-C6EB-DBCA-7F06-A2D8DCB061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E67BA-C7C1-AB4B-ECED-7AB7DEE23614}"/>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1463520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E2A70-1FB8-406B-63ED-46B911ECFF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8D388B-B67B-980B-C1D1-42268B7A39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4462B1-0A33-FD6B-80E1-ABB75A57A7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E9A1F1-5608-4C68-C72B-980DB5C426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EC9F20-1AA3-22C4-221D-3804AAFE58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7F00E2-399A-284C-569A-CCB91D6B5BB3}"/>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8" name="Footer Placeholder 7">
            <a:extLst>
              <a:ext uri="{FF2B5EF4-FFF2-40B4-BE49-F238E27FC236}">
                <a16:creationId xmlns:a16="http://schemas.microsoft.com/office/drawing/2014/main" id="{C1A248DE-E2D2-9CED-3404-E173347B43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2517FB-222D-0032-8871-B893F4651D69}"/>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74069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C806-4B3D-B44F-9DA5-ECC369FC66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A13ACD-0E92-3992-AF0E-761A5E2AC226}"/>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4" name="Footer Placeholder 3">
            <a:extLst>
              <a:ext uri="{FF2B5EF4-FFF2-40B4-BE49-F238E27FC236}">
                <a16:creationId xmlns:a16="http://schemas.microsoft.com/office/drawing/2014/main" id="{B6A4CF11-D7CC-75E9-C196-4D194B3EE8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A1D797-1641-A54F-C3A1-BFE4326D7BBF}"/>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38114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796C3-E9B2-2D66-9C3C-280B4419BCD4}"/>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3" name="Footer Placeholder 2">
            <a:extLst>
              <a:ext uri="{FF2B5EF4-FFF2-40B4-BE49-F238E27FC236}">
                <a16:creationId xmlns:a16="http://schemas.microsoft.com/office/drawing/2014/main" id="{154EB65F-F87C-2D5E-F9AC-39A714D3A2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F2D594-57E1-1B14-69D7-495D1603CDD1}"/>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581678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ADFE-E903-A1BF-C347-4CF4064411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4909C7-CDB3-745B-63C6-30EF77D70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710EDC-2647-949C-55CC-48F24C36C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B6D49C-CCC9-7FB3-C661-E3D83A3FDCDA}"/>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6" name="Footer Placeholder 5">
            <a:extLst>
              <a:ext uri="{FF2B5EF4-FFF2-40B4-BE49-F238E27FC236}">
                <a16:creationId xmlns:a16="http://schemas.microsoft.com/office/drawing/2014/main" id="{AD7F6B4D-6608-E564-2EDA-C34570A7F8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AC0BC1-F5F7-5123-C70F-BEE8F0141E86}"/>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369022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C480D-5868-3D1C-3EAC-3CD9CA20A5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D692AE-7A75-0B36-19CF-7E89C7C1255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1CE0F8-28A8-4CE3-9C49-69FE8C3BFA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F7C376-BC8C-A8B6-ACD7-D214D79BA373}"/>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6" name="Footer Placeholder 5">
            <a:extLst>
              <a:ext uri="{FF2B5EF4-FFF2-40B4-BE49-F238E27FC236}">
                <a16:creationId xmlns:a16="http://schemas.microsoft.com/office/drawing/2014/main" id="{4C723AC7-166E-4B96-F6B0-2A74AD5817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6862DD-3044-B53D-6FC4-5F9D41C50BC4}"/>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70559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FD603-C2FE-44D9-BE3D-533C574347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C99D6C-76C7-81D6-25AA-367109A15D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FF8F1-AC42-7C4C-DFBD-C3A2DCC26EE8}"/>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5" name="Footer Placeholder 4">
            <a:extLst>
              <a:ext uri="{FF2B5EF4-FFF2-40B4-BE49-F238E27FC236}">
                <a16:creationId xmlns:a16="http://schemas.microsoft.com/office/drawing/2014/main" id="{3FA8CF4E-006E-71BD-B7A8-1B7D222283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269CE-CFF0-E704-B702-F4E43F111A00}"/>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879705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D7F89D-412B-5EE8-5E19-DCCB3A449F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C682EE-A7E5-886D-0220-2D56B5A235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B4DBDA-9CB7-9D5B-6C96-C4CD91BECEF5}"/>
              </a:ext>
            </a:extLst>
          </p:cNvPr>
          <p:cNvSpPr>
            <a:spLocks noGrp="1"/>
          </p:cNvSpPr>
          <p:nvPr>
            <p:ph type="dt" sz="half" idx="10"/>
          </p:nvPr>
        </p:nvSpPr>
        <p:spPr/>
        <p:txBody>
          <a:bodyPr/>
          <a:lstStyle/>
          <a:p>
            <a:fld id="{0BEFB68E-B230-496E-993F-801ADFD3AEC5}" type="datetimeFigureOut">
              <a:rPr lang="en-US" smtClean="0"/>
              <a:t>10/25/2026</a:t>
            </a:fld>
            <a:endParaRPr lang="en-US"/>
          </a:p>
        </p:txBody>
      </p:sp>
      <p:sp>
        <p:nvSpPr>
          <p:cNvPr id="5" name="Footer Placeholder 4">
            <a:extLst>
              <a:ext uri="{FF2B5EF4-FFF2-40B4-BE49-F238E27FC236}">
                <a16:creationId xmlns:a16="http://schemas.microsoft.com/office/drawing/2014/main" id="{C623E25A-9C95-492A-2B0B-B5193CC684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921DB4-4662-D275-670B-40E8CBB523E5}"/>
              </a:ext>
            </a:extLst>
          </p:cNvPr>
          <p:cNvSpPr>
            <a:spLocks noGrp="1"/>
          </p:cNvSpPr>
          <p:nvPr>
            <p:ph type="sldNum" sz="quarter" idx="12"/>
          </p:nvPr>
        </p:nvSpPr>
        <p:spPr/>
        <p:txBody>
          <a:bodyPr/>
          <a:lstStyle/>
          <a:p>
            <a:fld id="{8B68117F-2E84-4947-A4F1-2C7331432CEE}" type="slidenum">
              <a:rPr lang="en-US" smtClean="0"/>
              <a:t>‹#›</a:t>
            </a:fld>
            <a:endParaRPr lang="en-US"/>
          </a:p>
        </p:txBody>
      </p:sp>
    </p:spTree>
    <p:extLst>
      <p:ext uri="{BB962C8B-B14F-4D97-AF65-F5344CB8AC3E}">
        <p14:creationId xmlns:p14="http://schemas.microsoft.com/office/powerpoint/2010/main" val="2931199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2406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BB596C-E9B5-1C30-B0C8-C05556E325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BA44ED-0E21-83BD-125C-A819E5A53A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54C42C-3FCB-87E2-84C3-225FEE666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EFB68E-B230-496E-993F-801ADFD3AEC5}" type="datetimeFigureOut">
              <a:rPr lang="en-US" smtClean="0"/>
              <a:t>10/25/2026</a:t>
            </a:fld>
            <a:endParaRPr lang="en-US"/>
          </a:p>
        </p:txBody>
      </p:sp>
      <p:sp>
        <p:nvSpPr>
          <p:cNvPr id="5" name="Footer Placeholder 4">
            <a:extLst>
              <a:ext uri="{FF2B5EF4-FFF2-40B4-BE49-F238E27FC236}">
                <a16:creationId xmlns:a16="http://schemas.microsoft.com/office/drawing/2014/main" id="{000D5168-4667-8B9B-87FA-CECB12F39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23DBCF7-B78E-81FC-D9EA-B63011D904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68117F-2E84-4947-A4F1-2C7331432CEE}" type="slidenum">
              <a:rPr lang="en-US" smtClean="0"/>
              <a:t>‹#›</a:t>
            </a:fld>
            <a:endParaRPr lang="en-US"/>
          </a:p>
        </p:txBody>
      </p:sp>
    </p:spTree>
    <p:extLst>
      <p:ext uri="{BB962C8B-B14F-4D97-AF65-F5344CB8AC3E}">
        <p14:creationId xmlns:p14="http://schemas.microsoft.com/office/powerpoint/2010/main" val="419718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AEF467-1E06-9EFA-8159-8F3E6B0912CB}"/>
              </a:ext>
            </a:extLst>
          </p:cNvPr>
          <p:cNvPicPr>
            <a:picLocks noChangeAspect="1"/>
          </p:cNvPicPr>
          <p:nvPr/>
        </p:nvPicPr>
        <p:blipFill>
          <a:blip r:embed="rId2"/>
          <a:srcRect b="2716"/>
          <a:stretch>
            <a:fillRect/>
          </a:stretch>
        </p:blipFill>
        <p:spPr>
          <a:xfrm>
            <a:off x="0" y="26581"/>
            <a:ext cx="12192000" cy="6620025"/>
          </a:xfrm>
          <a:prstGeom prst="rect">
            <a:avLst/>
          </a:prstGeom>
        </p:spPr>
      </p:pic>
    </p:spTree>
    <p:extLst>
      <p:ext uri="{BB962C8B-B14F-4D97-AF65-F5344CB8AC3E}">
        <p14:creationId xmlns:p14="http://schemas.microsoft.com/office/powerpoint/2010/main" val="823349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EC6B12-D485-BEA7-B02E-FD3AD1D4E382}"/>
              </a:ext>
            </a:extLst>
          </p:cNvPr>
          <p:cNvPicPr>
            <a:picLocks noChangeAspect="1"/>
          </p:cNvPicPr>
          <p:nvPr/>
        </p:nvPicPr>
        <p:blipFill>
          <a:blip r:embed="rId2"/>
          <a:stretch>
            <a:fillRect/>
          </a:stretch>
        </p:blipFill>
        <p:spPr>
          <a:xfrm>
            <a:off x="0" y="26581"/>
            <a:ext cx="12192000" cy="6804837"/>
          </a:xfrm>
          <a:prstGeom prst="rect">
            <a:avLst/>
          </a:prstGeom>
        </p:spPr>
      </p:pic>
    </p:spTree>
    <p:extLst>
      <p:ext uri="{BB962C8B-B14F-4D97-AF65-F5344CB8AC3E}">
        <p14:creationId xmlns:p14="http://schemas.microsoft.com/office/powerpoint/2010/main" val="1437878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365760"/>
            <a:ext cx="1097280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Why the AI misses Flight Centre’s most useful content</a:t>
            </a:r>
            <a:endParaRPr lang="en-US" sz="2800" dirty="0"/>
          </a:p>
        </p:txBody>
      </p:sp>
      <p:sp>
        <p:nvSpPr>
          <p:cNvPr id="3" name="Text 1"/>
          <p:cNvSpPr txBox="1"/>
          <p:nvPr/>
        </p:nvSpPr>
        <p:spPr>
          <a:xfrm>
            <a:off x="640080" y="932688"/>
            <a:ext cx="10972800" cy="365760"/>
          </a:xfrm>
          <a:prstGeom prst="rect">
            <a:avLst/>
          </a:prstGeom>
          <a:noFill/>
          <a:ln/>
        </p:spPr>
        <p:txBody>
          <a:bodyPr wrap="square" lIns="0" tIns="0" rIns="0" bIns="0" rtlCol="0" anchor="ctr"/>
          <a:lstStyle/>
          <a:p>
            <a:pPr marL="0" indent="0">
              <a:buNone/>
            </a:pPr>
            <a:r>
              <a:rPr lang="en-US" sz="1600" dirty="0">
                <a:solidFill>
                  <a:srgbClr val="1F2A44"/>
                </a:solidFill>
                <a:latin typeface="Arial" pitchFamily="34" charset="0"/>
                <a:ea typeface="Arial" pitchFamily="34" charset="-122"/>
                <a:cs typeface="Arial" pitchFamily="34" charset="-120"/>
              </a:rPr>
              <a:t>A person sees the full page. Many AI tools read only its text, without running JavaScript or clicking buttons.</a:t>
            </a:r>
            <a:endParaRPr lang="en-US" sz="1600" dirty="0"/>
          </a:p>
        </p:txBody>
      </p:sp>
      <p:pic>
        <p:nvPicPr>
          <p:cNvPr id="4" name="Image 0" descr="preencoded.png"/>
          <p:cNvPicPr>
            <a:picLocks noChangeAspect="1"/>
          </p:cNvPicPr>
          <p:nvPr/>
        </p:nvPicPr>
        <p:blipFill>
          <a:blip r:embed="rId3"/>
          <a:stretch>
            <a:fillRect/>
          </a:stretch>
        </p:blipFill>
        <p:spPr>
          <a:xfrm>
            <a:off x="1828800" y="1463040"/>
            <a:ext cx="329184" cy="329184"/>
          </a:xfrm>
          <a:prstGeom prst="rect">
            <a:avLst/>
          </a:prstGeom>
        </p:spPr>
      </p:pic>
      <p:sp>
        <p:nvSpPr>
          <p:cNvPr id="5" name="Text 2"/>
          <p:cNvSpPr txBox="1"/>
          <p:nvPr/>
        </p:nvSpPr>
        <p:spPr>
          <a:xfrm>
            <a:off x="2240280" y="1463040"/>
            <a:ext cx="3108960" cy="329184"/>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What a person sees</a:t>
            </a:r>
            <a:endParaRPr lang="en-US" sz="1600" dirty="0"/>
          </a:p>
        </p:txBody>
      </p:sp>
      <p:sp>
        <p:nvSpPr>
          <p:cNvPr id="6" name="Text 3"/>
          <p:cNvSpPr txBox="1"/>
          <p:nvPr/>
        </p:nvSpPr>
        <p:spPr>
          <a:xfrm>
            <a:off x="2240280" y="1764792"/>
            <a:ext cx="3108960" cy="201168"/>
          </a:xfrm>
          <a:prstGeom prst="rect">
            <a:avLst/>
          </a:prstGeom>
          <a:noFill/>
          <a:ln/>
        </p:spPr>
        <p:txBody>
          <a:bodyPr wrap="square" lIns="0" tIns="0" rIns="0" bIns="0" rtlCol="0" anchor="ctr"/>
          <a:lstStyle/>
          <a:p>
            <a:pPr marL="0" indent="0">
              <a:buNone/>
            </a:pPr>
            <a:r>
              <a:rPr lang="en-US" sz="1000" i="1" dirty="0">
                <a:solidFill>
                  <a:srgbClr val="5F6B7A"/>
                </a:solidFill>
                <a:latin typeface="Arial" pitchFamily="34" charset="0"/>
                <a:ea typeface="Arial" pitchFamily="34" charset="-122"/>
                <a:cs typeface="Arial" pitchFamily="34" charset="-120"/>
              </a:rPr>
              <a:t>Live page, October 2026</a:t>
            </a:r>
            <a:endParaRPr lang="en-US" sz="1000" dirty="0"/>
          </a:p>
        </p:txBody>
      </p:sp>
      <p:pic>
        <p:nvPicPr>
          <p:cNvPr id="7" name="Image 1" descr="preencoded.png"/>
          <p:cNvPicPr>
            <a:picLocks noChangeAspect="1"/>
          </p:cNvPicPr>
          <p:nvPr/>
        </p:nvPicPr>
        <p:blipFill>
          <a:blip r:embed="rId4"/>
          <a:stretch>
            <a:fillRect/>
          </a:stretch>
        </p:blipFill>
        <p:spPr>
          <a:xfrm>
            <a:off x="7137718" y="1463040"/>
            <a:ext cx="329184" cy="329184"/>
          </a:xfrm>
          <a:prstGeom prst="rect">
            <a:avLst/>
          </a:prstGeom>
        </p:spPr>
      </p:pic>
      <p:sp>
        <p:nvSpPr>
          <p:cNvPr id="8" name="Text 4"/>
          <p:cNvSpPr txBox="1"/>
          <p:nvPr/>
        </p:nvSpPr>
        <p:spPr>
          <a:xfrm>
            <a:off x="7549198" y="1463040"/>
            <a:ext cx="3108960" cy="329184"/>
          </a:xfrm>
          <a:prstGeom prst="rect">
            <a:avLst/>
          </a:prstGeom>
          <a:noFill/>
          <a:ln/>
        </p:spPr>
        <p:txBody>
          <a:bodyPr wrap="square" lIns="0" tIns="0" rIns="0" bIns="0" rtlCol="0" anchor="ctr"/>
          <a:lstStyle/>
          <a:p>
            <a:pPr marL="0" indent="0">
              <a:buNone/>
            </a:pPr>
            <a:r>
              <a:rPr lang="en-US" sz="1600" b="1" dirty="0">
                <a:solidFill>
                  <a:srgbClr val="D7262E"/>
                </a:solidFill>
                <a:latin typeface="Arial" pitchFamily="34" charset="0"/>
                <a:ea typeface="Arial" pitchFamily="34" charset="-122"/>
                <a:cs typeface="Arial" pitchFamily="34" charset="-120"/>
              </a:rPr>
              <a:t>What the AI reads</a:t>
            </a:r>
            <a:endParaRPr lang="en-US" sz="1600" dirty="0"/>
          </a:p>
        </p:txBody>
      </p:sp>
      <p:sp>
        <p:nvSpPr>
          <p:cNvPr id="9" name="Text 5"/>
          <p:cNvSpPr txBox="1"/>
          <p:nvPr/>
        </p:nvSpPr>
        <p:spPr>
          <a:xfrm>
            <a:off x="7549198" y="1764792"/>
            <a:ext cx="3108960" cy="201168"/>
          </a:xfrm>
          <a:prstGeom prst="rect">
            <a:avLst/>
          </a:prstGeom>
          <a:noFill/>
          <a:ln/>
        </p:spPr>
        <p:txBody>
          <a:bodyPr wrap="square" lIns="0" tIns="0" rIns="0" bIns="0" rtlCol="0" anchor="ctr"/>
          <a:lstStyle/>
          <a:p>
            <a:pPr marL="0" indent="0">
              <a:buNone/>
            </a:pPr>
            <a:r>
              <a:rPr lang="en-US" sz="1000" i="1" dirty="0">
                <a:solidFill>
                  <a:srgbClr val="5F6B7A"/>
                </a:solidFill>
                <a:latin typeface="Arial" pitchFamily="34" charset="0"/>
                <a:ea typeface="Arial" pitchFamily="34" charset="-122"/>
                <a:cs typeface="Arial" pitchFamily="34" charset="-120"/>
              </a:rPr>
              <a:t>The same page as text, as saved in our sandbox</a:t>
            </a:r>
            <a:endParaRPr lang="en-US" sz="1000" dirty="0"/>
          </a:p>
        </p:txBody>
      </p:sp>
      <p:sp>
        <p:nvSpPr>
          <p:cNvPr id="10" name="Shape 6"/>
          <p:cNvSpPr/>
          <p:nvPr/>
        </p:nvSpPr>
        <p:spPr>
          <a:xfrm>
            <a:off x="1792224" y="1975104"/>
            <a:ext cx="3295586" cy="3776472"/>
          </a:xfrm>
          <a:prstGeom prst="rect">
            <a:avLst/>
          </a:prstGeom>
          <a:solidFill>
            <a:srgbClr val="FFFFFF"/>
          </a:solidFill>
          <a:ln w="12700">
            <a:solidFill>
              <a:srgbClr val="D5DBE3"/>
            </a:solidFill>
            <a:prstDash val="solid"/>
          </a:ln>
          <a:effectLst>
            <a:outerShdw blurRad="101600" dist="38100" dir="5400000" algn="bl" rotWithShape="0">
              <a:srgbClr val="9AA3AE">
                <a:alpha val="25000"/>
              </a:srgbClr>
            </a:outerShdw>
          </a:effectLst>
        </p:spPr>
        <p:txBody>
          <a:bodyPr/>
          <a:lstStyle/>
          <a:p>
            <a:endParaRPr lang="LID4096"/>
          </a:p>
        </p:txBody>
      </p:sp>
      <p:pic>
        <p:nvPicPr>
          <p:cNvPr id="11" name="Image 2" descr="preencoded.png"/>
          <p:cNvPicPr>
            <a:picLocks noChangeAspect="1"/>
          </p:cNvPicPr>
          <p:nvPr/>
        </p:nvPicPr>
        <p:blipFill>
          <a:blip r:embed="rId5"/>
          <a:stretch>
            <a:fillRect/>
          </a:stretch>
        </p:blipFill>
        <p:spPr>
          <a:xfrm>
            <a:off x="1828800" y="2011680"/>
            <a:ext cx="3222434" cy="3703320"/>
          </a:xfrm>
          <a:prstGeom prst="rect">
            <a:avLst/>
          </a:prstGeom>
        </p:spPr>
      </p:pic>
      <p:sp>
        <p:nvSpPr>
          <p:cNvPr id="12" name="Shape 7"/>
          <p:cNvSpPr/>
          <p:nvPr/>
        </p:nvSpPr>
        <p:spPr>
          <a:xfrm>
            <a:off x="7101142" y="1975104"/>
            <a:ext cx="3295586" cy="3776472"/>
          </a:xfrm>
          <a:prstGeom prst="rect">
            <a:avLst/>
          </a:prstGeom>
          <a:solidFill>
            <a:srgbClr val="FFFFFF"/>
          </a:solidFill>
          <a:ln w="22225">
            <a:solidFill>
              <a:srgbClr val="D7262E"/>
            </a:solidFill>
            <a:prstDash val="solid"/>
          </a:ln>
          <a:effectLst>
            <a:outerShdw blurRad="101600" dist="38100" dir="5400000" algn="bl" rotWithShape="0">
              <a:srgbClr val="9AA3AE">
                <a:alpha val="25000"/>
              </a:srgbClr>
            </a:outerShdw>
          </a:effectLst>
        </p:spPr>
        <p:txBody>
          <a:bodyPr/>
          <a:lstStyle/>
          <a:p>
            <a:endParaRPr lang="LID4096"/>
          </a:p>
        </p:txBody>
      </p:sp>
      <p:pic>
        <p:nvPicPr>
          <p:cNvPr id="13" name="Image 3" descr="preencoded.png"/>
          <p:cNvPicPr>
            <a:picLocks noChangeAspect="1"/>
          </p:cNvPicPr>
          <p:nvPr/>
        </p:nvPicPr>
        <p:blipFill>
          <a:blip r:embed="rId6"/>
          <a:stretch>
            <a:fillRect/>
          </a:stretch>
        </p:blipFill>
        <p:spPr>
          <a:xfrm>
            <a:off x="7137718" y="2011680"/>
            <a:ext cx="3222434" cy="3703320"/>
          </a:xfrm>
          <a:prstGeom prst="rect">
            <a:avLst/>
          </a:prstGeom>
        </p:spPr>
      </p:pic>
      <p:sp>
        <p:nvSpPr>
          <p:cNvPr id="14" name="Shape 8"/>
          <p:cNvSpPr/>
          <p:nvPr/>
        </p:nvSpPr>
        <p:spPr>
          <a:xfrm>
            <a:off x="5682996" y="3589020"/>
            <a:ext cx="822960" cy="548640"/>
          </a:xfrm>
          <a:prstGeom prst="rightArrow">
            <a:avLst/>
          </a:prstGeom>
          <a:solidFill>
            <a:srgbClr val="9AA3AE"/>
          </a:solidFill>
          <a:ln w="12700">
            <a:solidFill>
              <a:srgbClr val="9AA3AE"/>
            </a:solidFill>
            <a:prstDash val="solid"/>
          </a:ln>
        </p:spPr>
        <p:txBody>
          <a:bodyPr/>
          <a:lstStyle/>
          <a:p>
            <a:endParaRPr lang="LID4096"/>
          </a:p>
        </p:txBody>
      </p:sp>
      <p:sp>
        <p:nvSpPr>
          <p:cNvPr id="15" name="Text 9"/>
          <p:cNvSpPr txBox="1"/>
          <p:nvPr/>
        </p:nvSpPr>
        <p:spPr>
          <a:xfrm>
            <a:off x="5408676" y="4183380"/>
            <a:ext cx="1371600" cy="228600"/>
          </a:xfrm>
          <a:prstGeom prst="rect">
            <a:avLst/>
          </a:prstGeom>
          <a:noFill/>
          <a:ln/>
        </p:spPr>
        <p:txBody>
          <a:bodyPr wrap="square" lIns="0" tIns="0" rIns="0" bIns="0" rtlCol="0" anchor="ctr"/>
          <a:lstStyle/>
          <a:p>
            <a:pPr marL="0" indent="0" algn="ctr">
              <a:buNone/>
            </a:pPr>
            <a:r>
              <a:rPr lang="en-US" sz="1050" i="1" dirty="0">
                <a:solidFill>
                  <a:srgbClr val="5F6B7A"/>
                </a:solidFill>
                <a:latin typeface="Arial" pitchFamily="34" charset="0"/>
                <a:ea typeface="Arial" pitchFamily="34" charset="-122"/>
                <a:cs typeface="Arial" pitchFamily="34" charset="-120"/>
              </a:rPr>
              <a:t>read as text</a:t>
            </a:r>
            <a:endParaRPr lang="en-US" sz="1050" dirty="0"/>
          </a:p>
        </p:txBody>
      </p:sp>
      <p:pic>
        <p:nvPicPr>
          <p:cNvPr id="35" name="Picture 34">
            <a:extLst>
              <a:ext uri="{FF2B5EF4-FFF2-40B4-BE49-F238E27FC236}">
                <a16:creationId xmlns:a16="http://schemas.microsoft.com/office/drawing/2014/main" id="{62AFF58F-32DA-1BC4-BADF-608EC43BCB3F}"/>
              </a:ext>
            </a:extLst>
          </p:cNvPr>
          <p:cNvPicPr>
            <a:picLocks noChangeAspect="1"/>
          </p:cNvPicPr>
          <p:nvPr/>
        </p:nvPicPr>
        <p:blipFill>
          <a:blip r:embed="rId7"/>
          <a:stretch>
            <a:fillRect/>
          </a:stretch>
        </p:blipFill>
        <p:spPr>
          <a:xfrm>
            <a:off x="4619838" y="2182965"/>
            <a:ext cx="2682472" cy="1272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93E6F1-28E3-E604-6E14-A8A8C15EC170}"/>
              </a:ext>
            </a:extLst>
          </p:cNvPr>
          <p:cNvPicPr>
            <a:picLocks noChangeAspect="1"/>
          </p:cNvPicPr>
          <p:nvPr/>
        </p:nvPicPr>
        <p:blipFill>
          <a:blip r:embed="rId2"/>
          <a:stretch>
            <a:fillRect/>
          </a:stretch>
        </p:blipFill>
        <p:spPr>
          <a:xfrm>
            <a:off x="0" y="120579"/>
            <a:ext cx="12191082" cy="6290268"/>
          </a:xfrm>
          <a:prstGeom prst="rect">
            <a:avLst/>
          </a:prstGeom>
        </p:spPr>
      </p:pic>
    </p:spTree>
    <p:extLst>
      <p:ext uri="{BB962C8B-B14F-4D97-AF65-F5344CB8AC3E}">
        <p14:creationId xmlns:p14="http://schemas.microsoft.com/office/powerpoint/2010/main" val="795024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0"/>
            <a:ext cx="0" cy="6858000"/>
          </a:xfrm>
          <a:prstGeom prst="line">
            <a:avLst/>
          </a:prstGeom>
          <a:noFill/>
          <a:ln w="6350">
            <a:solidFill>
              <a:srgbClr val="E1E6EC"/>
            </a:solidFill>
            <a:prstDash val="solid"/>
          </a:ln>
        </p:spPr>
        <p:txBody>
          <a:bodyPr/>
          <a:lstStyle/>
          <a:p>
            <a:endParaRPr lang="LID4096"/>
          </a:p>
        </p:txBody>
      </p:sp>
      <p:sp>
        <p:nvSpPr>
          <p:cNvPr id="3" name="Shape 1"/>
          <p:cNvSpPr/>
          <p:nvPr/>
        </p:nvSpPr>
        <p:spPr>
          <a:xfrm>
            <a:off x="914400" y="0"/>
            <a:ext cx="0" cy="6858000"/>
          </a:xfrm>
          <a:prstGeom prst="line">
            <a:avLst/>
          </a:prstGeom>
          <a:noFill/>
          <a:ln w="6350">
            <a:solidFill>
              <a:srgbClr val="E1E6EC"/>
            </a:solidFill>
            <a:prstDash val="solid"/>
          </a:ln>
        </p:spPr>
        <p:txBody>
          <a:bodyPr/>
          <a:lstStyle/>
          <a:p>
            <a:endParaRPr lang="LID4096"/>
          </a:p>
        </p:txBody>
      </p:sp>
      <p:sp>
        <p:nvSpPr>
          <p:cNvPr id="4" name="Shape 2"/>
          <p:cNvSpPr/>
          <p:nvPr/>
        </p:nvSpPr>
        <p:spPr>
          <a:xfrm>
            <a:off x="1371600" y="0"/>
            <a:ext cx="0" cy="6858000"/>
          </a:xfrm>
          <a:prstGeom prst="line">
            <a:avLst/>
          </a:prstGeom>
          <a:noFill/>
          <a:ln w="6350">
            <a:solidFill>
              <a:srgbClr val="E1E6EC"/>
            </a:solidFill>
            <a:prstDash val="solid"/>
          </a:ln>
        </p:spPr>
        <p:txBody>
          <a:bodyPr/>
          <a:lstStyle/>
          <a:p>
            <a:endParaRPr lang="LID4096"/>
          </a:p>
        </p:txBody>
      </p:sp>
      <p:sp>
        <p:nvSpPr>
          <p:cNvPr id="5" name="Shape 3"/>
          <p:cNvSpPr/>
          <p:nvPr/>
        </p:nvSpPr>
        <p:spPr>
          <a:xfrm>
            <a:off x="1828800" y="0"/>
            <a:ext cx="0" cy="6858000"/>
          </a:xfrm>
          <a:prstGeom prst="line">
            <a:avLst/>
          </a:prstGeom>
          <a:noFill/>
          <a:ln w="6350">
            <a:solidFill>
              <a:srgbClr val="E1E6EC"/>
            </a:solidFill>
            <a:prstDash val="solid"/>
          </a:ln>
        </p:spPr>
        <p:txBody>
          <a:bodyPr/>
          <a:lstStyle/>
          <a:p>
            <a:endParaRPr lang="LID4096"/>
          </a:p>
        </p:txBody>
      </p:sp>
      <p:sp>
        <p:nvSpPr>
          <p:cNvPr id="6" name="Shape 4"/>
          <p:cNvSpPr/>
          <p:nvPr/>
        </p:nvSpPr>
        <p:spPr>
          <a:xfrm>
            <a:off x="2286000" y="0"/>
            <a:ext cx="0" cy="6858000"/>
          </a:xfrm>
          <a:prstGeom prst="line">
            <a:avLst/>
          </a:prstGeom>
          <a:noFill/>
          <a:ln w="6350">
            <a:solidFill>
              <a:srgbClr val="E1E6EC"/>
            </a:solidFill>
            <a:prstDash val="solid"/>
          </a:ln>
        </p:spPr>
        <p:txBody>
          <a:bodyPr/>
          <a:lstStyle/>
          <a:p>
            <a:endParaRPr lang="LID4096"/>
          </a:p>
        </p:txBody>
      </p:sp>
      <p:sp>
        <p:nvSpPr>
          <p:cNvPr id="7" name="Shape 5"/>
          <p:cNvSpPr/>
          <p:nvPr/>
        </p:nvSpPr>
        <p:spPr>
          <a:xfrm>
            <a:off x="2743200" y="0"/>
            <a:ext cx="0" cy="6858000"/>
          </a:xfrm>
          <a:prstGeom prst="line">
            <a:avLst/>
          </a:prstGeom>
          <a:noFill/>
          <a:ln w="6350">
            <a:solidFill>
              <a:srgbClr val="E1E6EC"/>
            </a:solidFill>
            <a:prstDash val="solid"/>
          </a:ln>
        </p:spPr>
        <p:txBody>
          <a:bodyPr/>
          <a:lstStyle/>
          <a:p>
            <a:endParaRPr lang="LID4096"/>
          </a:p>
        </p:txBody>
      </p:sp>
      <p:sp>
        <p:nvSpPr>
          <p:cNvPr id="8" name="Shape 6"/>
          <p:cNvSpPr/>
          <p:nvPr/>
        </p:nvSpPr>
        <p:spPr>
          <a:xfrm>
            <a:off x="3200400" y="0"/>
            <a:ext cx="0" cy="6858000"/>
          </a:xfrm>
          <a:prstGeom prst="line">
            <a:avLst/>
          </a:prstGeom>
          <a:noFill/>
          <a:ln w="6350">
            <a:solidFill>
              <a:srgbClr val="E1E6EC"/>
            </a:solidFill>
            <a:prstDash val="solid"/>
          </a:ln>
        </p:spPr>
        <p:txBody>
          <a:bodyPr/>
          <a:lstStyle/>
          <a:p>
            <a:endParaRPr lang="LID4096"/>
          </a:p>
        </p:txBody>
      </p:sp>
      <p:sp>
        <p:nvSpPr>
          <p:cNvPr id="9" name="Shape 7"/>
          <p:cNvSpPr/>
          <p:nvPr/>
        </p:nvSpPr>
        <p:spPr>
          <a:xfrm>
            <a:off x="3657600" y="0"/>
            <a:ext cx="0" cy="6858000"/>
          </a:xfrm>
          <a:prstGeom prst="line">
            <a:avLst/>
          </a:prstGeom>
          <a:noFill/>
          <a:ln w="6350">
            <a:solidFill>
              <a:srgbClr val="E1E6EC"/>
            </a:solidFill>
            <a:prstDash val="solid"/>
          </a:ln>
        </p:spPr>
        <p:txBody>
          <a:bodyPr/>
          <a:lstStyle/>
          <a:p>
            <a:endParaRPr lang="LID4096"/>
          </a:p>
        </p:txBody>
      </p:sp>
      <p:sp>
        <p:nvSpPr>
          <p:cNvPr id="10" name="Shape 8"/>
          <p:cNvSpPr/>
          <p:nvPr/>
        </p:nvSpPr>
        <p:spPr>
          <a:xfrm>
            <a:off x="4114800" y="0"/>
            <a:ext cx="0" cy="6858000"/>
          </a:xfrm>
          <a:prstGeom prst="line">
            <a:avLst/>
          </a:prstGeom>
          <a:noFill/>
          <a:ln w="6350">
            <a:solidFill>
              <a:srgbClr val="E1E6EC"/>
            </a:solidFill>
            <a:prstDash val="solid"/>
          </a:ln>
        </p:spPr>
        <p:txBody>
          <a:bodyPr/>
          <a:lstStyle/>
          <a:p>
            <a:endParaRPr lang="LID4096"/>
          </a:p>
        </p:txBody>
      </p:sp>
      <p:sp>
        <p:nvSpPr>
          <p:cNvPr id="11" name="Shape 9"/>
          <p:cNvSpPr/>
          <p:nvPr/>
        </p:nvSpPr>
        <p:spPr>
          <a:xfrm>
            <a:off x="4572000" y="0"/>
            <a:ext cx="0" cy="6858000"/>
          </a:xfrm>
          <a:prstGeom prst="line">
            <a:avLst/>
          </a:prstGeom>
          <a:noFill/>
          <a:ln w="6350">
            <a:solidFill>
              <a:srgbClr val="E1E6EC"/>
            </a:solidFill>
            <a:prstDash val="solid"/>
          </a:ln>
        </p:spPr>
        <p:txBody>
          <a:bodyPr/>
          <a:lstStyle/>
          <a:p>
            <a:endParaRPr lang="LID4096"/>
          </a:p>
        </p:txBody>
      </p:sp>
      <p:sp>
        <p:nvSpPr>
          <p:cNvPr id="12" name="Shape 10"/>
          <p:cNvSpPr/>
          <p:nvPr/>
        </p:nvSpPr>
        <p:spPr>
          <a:xfrm>
            <a:off x="5029200" y="0"/>
            <a:ext cx="0" cy="6858000"/>
          </a:xfrm>
          <a:prstGeom prst="line">
            <a:avLst/>
          </a:prstGeom>
          <a:noFill/>
          <a:ln w="6350">
            <a:solidFill>
              <a:srgbClr val="E1E6EC"/>
            </a:solidFill>
            <a:prstDash val="solid"/>
          </a:ln>
        </p:spPr>
        <p:txBody>
          <a:bodyPr/>
          <a:lstStyle/>
          <a:p>
            <a:endParaRPr lang="LID4096"/>
          </a:p>
        </p:txBody>
      </p:sp>
      <p:sp>
        <p:nvSpPr>
          <p:cNvPr id="13" name="Shape 11"/>
          <p:cNvSpPr/>
          <p:nvPr/>
        </p:nvSpPr>
        <p:spPr>
          <a:xfrm>
            <a:off x="5486400" y="0"/>
            <a:ext cx="0" cy="6858000"/>
          </a:xfrm>
          <a:prstGeom prst="line">
            <a:avLst/>
          </a:prstGeom>
          <a:noFill/>
          <a:ln w="6350">
            <a:solidFill>
              <a:srgbClr val="E1E6EC"/>
            </a:solidFill>
            <a:prstDash val="solid"/>
          </a:ln>
        </p:spPr>
        <p:txBody>
          <a:bodyPr/>
          <a:lstStyle/>
          <a:p>
            <a:endParaRPr lang="LID4096"/>
          </a:p>
        </p:txBody>
      </p:sp>
      <p:sp>
        <p:nvSpPr>
          <p:cNvPr id="14" name="Shape 12"/>
          <p:cNvSpPr/>
          <p:nvPr/>
        </p:nvSpPr>
        <p:spPr>
          <a:xfrm>
            <a:off x="5943600" y="0"/>
            <a:ext cx="0" cy="6858000"/>
          </a:xfrm>
          <a:prstGeom prst="line">
            <a:avLst/>
          </a:prstGeom>
          <a:noFill/>
          <a:ln w="6350">
            <a:solidFill>
              <a:srgbClr val="E1E6EC"/>
            </a:solidFill>
            <a:prstDash val="solid"/>
          </a:ln>
        </p:spPr>
        <p:txBody>
          <a:bodyPr/>
          <a:lstStyle/>
          <a:p>
            <a:endParaRPr lang="LID4096"/>
          </a:p>
        </p:txBody>
      </p:sp>
      <p:sp>
        <p:nvSpPr>
          <p:cNvPr id="15" name="Shape 13"/>
          <p:cNvSpPr/>
          <p:nvPr/>
        </p:nvSpPr>
        <p:spPr>
          <a:xfrm>
            <a:off x="6400800" y="0"/>
            <a:ext cx="0" cy="6858000"/>
          </a:xfrm>
          <a:prstGeom prst="line">
            <a:avLst/>
          </a:prstGeom>
          <a:noFill/>
          <a:ln w="6350">
            <a:solidFill>
              <a:srgbClr val="E1E6EC"/>
            </a:solidFill>
            <a:prstDash val="solid"/>
          </a:ln>
        </p:spPr>
        <p:txBody>
          <a:bodyPr/>
          <a:lstStyle/>
          <a:p>
            <a:endParaRPr lang="LID4096"/>
          </a:p>
        </p:txBody>
      </p:sp>
      <p:sp>
        <p:nvSpPr>
          <p:cNvPr id="16" name="Shape 14"/>
          <p:cNvSpPr/>
          <p:nvPr/>
        </p:nvSpPr>
        <p:spPr>
          <a:xfrm>
            <a:off x="6858000" y="0"/>
            <a:ext cx="0" cy="6858000"/>
          </a:xfrm>
          <a:prstGeom prst="line">
            <a:avLst/>
          </a:prstGeom>
          <a:noFill/>
          <a:ln w="6350">
            <a:solidFill>
              <a:srgbClr val="E1E6EC"/>
            </a:solidFill>
            <a:prstDash val="solid"/>
          </a:ln>
        </p:spPr>
        <p:txBody>
          <a:bodyPr/>
          <a:lstStyle/>
          <a:p>
            <a:endParaRPr lang="LID4096"/>
          </a:p>
        </p:txBody>
      </p:sp>
      <p:sp>
        <p:nvSpPr>
          <p:cNvPr id="17" name="Shape 15"/>
          <p:cNvSpPr/>
          <p:nvPr/>
        </p:nvSpPr>
        <p:spPr>
          <a:xfrm>
            <a:off x="7315200" y="0"/>
            <a:ext cx="0" cy="6858000"/>
          </a:xfrm>
          <a:prstGeom prst="line">
            <a:avLst/>
          </a:prstGeom>
          <a:noFill/>
          <a:ln w="6350">
            <a:solidFill>
              <a:srgbClr val="E1E6EC"/>
            </a:solidFill>
            <a:prstDash val="solid"/>
          </a:ln>
        </p:spPr>
        <p:txBody>
          <a:bodyPr/>
          <a:lstStyle/>
          <a:p>
            <a:endParaRPr lang="LID4096"/>
          </a:p>
        </p:txBody>
      </p:sp>
      <p:sp>
        <p:nvSpPr>
          <p:cNvPr id="18" name="Shape 16"/>
          <p:cNvSpPr/>
          <p:nvPr/>
        </p:nvSpPr>
        <p:spPr>
          <a:xfrm>
            <a:off x="7772400" y="0"/>
            <a:ext cx="0" cy="6858000"/>
          </a:xfrm>
          <a:prstGeom prst="line">
            <a:avLst/>
          </a:prstGeom>
          <a:noFill/>
          <a:ln w="6350">
            <a:solidFill>
              <a:srgbClr val="E1E6EC"/>
            </a:solidFill>
            <a:prstDash val="solid"/>
          </a:ln>
        </p:spPr>
        <p:txBody>
          <a:bodyPr/>
          <a:lstStyle/>
          <a:p>
            <a:endParaRPr lang="LID4096"/>
          </a:p>
        </p:txBody>
      </p:sp>
      <p:sp>
        <p:nvSpPr>
          <p:cNvPr id="19" name="Shape 17"/>
          <p:cNvSpPr/>
          <p:nvPr/>
        </p:nvSpPr>
        <p:spPr>
          <a:xfrm>
            <a:off x="8229600" y="0"/>
            <a:ext cx="0" cy="6858000"/>
          </a:xfrm>
          <a:prstGeom prst="line">
            <a:avLst/>
          </a:prstGeom>
          <a:noFill/>
          <a:ln w="6350">
            <a:solidFill>
              <a:srgbClr val="E1E6EC"/>
            </a:solidFill>
            <a:prstDash val="solid"/>
          </a:ln>
        </p:spPr>
        <p:txBody>
          <a:bodyPr/>
          <a:lstStyle/>
          <a:p>
            <a:endParaRPr lang="LID4096"/>
          </a:p>
        </p:txBody>
      </p:sp>
      <p:sp>
        <p:nvSpPr>
          <p:cNvPr id="20" name="Shape 18"/>
          <p:cNvSpPr/>
          <p:nvPr/>
        </p:nvSpPr>
        <p:spPr>
          <a:xfrm>
            <a:off x="8686800" y="0"/>
            <a:ext cx="0" cy="6858000"/>
          </a:xfrm>
          <a:prstGeom prst="line">
            <a:avLst/>
          </a:prstGeom>
          <a:noFill/>
          <a:ln w="6350">
            <a:solidFill>
              <a:srgbClr val="E1E6EC"/>
            </a:solidFill>
            <a:prstDash val="solid"/>
          </a:ln>
        </p:spPr>
        <p:txBody>
          <a:bodyPr/>
          <a:lstStyle/>
          <a:p>
            <a:endParaRPr lang="LID4096"/>
          </a:p>
        </p:txBody>
      </p:sp>
      <p:sp>
        <p:nvSpPr>
          <p:cNvPr id="21" name="Shape 19"/>
          <p:cNvSpPr/>
          <p:nvPr/>
        </p:nvSpPr>
        <p:spPr>
          <a:xfrm>
            <a:off x="9144000" y="0"/>
            <a:ext cx="0" cy="6858000"/>
          </a:xfrm>
          <a:prstGeom prst="line">
            <a:avLst/>
          </a:prstGeom>
          <a:noFill/>
          <a:ln w="6350">
            <a:solidFill>
              <a:srgbClr val="E1E6EC"/>
            </a:solidFill>
            <a:prstDash val="solid"/>
          </a:ln>
        </p:spPr>
        <p:txBody>
          <a:bodyPr/>
          <a:lstStyle/>
          <a:p>
            <a:endParaRPr lang="LID4096"/>
          </a:p>
        </p:txBody>
      </p:sp>
      <p:sp>
        <p:nvSpPr>
          <p:cNvPr id="22" name="Shape 20"/>
          <p:cNvSpPr/>
          <p:nvPr/>
        </p:nvSpPr>
        <p:spPr>
          <a:xfrm>
            <a:off x="9601200" y="0"/>
            <a:ext cx="0" cy="6858000"/>
          </a:xfrm>
          <a:prstGeom prst="line">
            <a:avLst/>
          </a:prstGeom>
          <a:noFill/>
          <a:ln w="6350">
            <a:solidFill>
              <a:srgbClr val="E1E6EC"/>
            </a:solidFill>
            <a:prstDash val="solid"/>
          </a:ln>
        </p:spPr>
        <p:txBody>
          <a:bodyPr/>
          <a:lstStyle/>
          <a:p>
            <a:endParaRPr lang="LID4096"/>
          </a:p>
        </p:txBody>
      </p:sp>
      <p:sp>
        <p:nvSpPr>
          <p:cNvPr id="23" name="Shape 21"/>
          <p:cNvSpPr/>
          <p:nvPr/>
        </p:nvSpPr>
        <p:spPr>
          <a:xfrm>
            <a:off x="10058400" y="0"/>
            <a:ext cx="0" cy="6858000"/>
          </a:xfrm>
          <a:prstGeom prst="line">
            <a:avLst/>
          </a:prstGeom>
          <a:noFill/>
          <a:ln w="6350">
            <a:solidFill>
              <a:srgbClr val="E1E6EC"/>
            </a:solidFill>
            <a:prstDash val="solid"/>
          </a:ln>
        </p:spPr>
        <p:txBody>
          <a:bodyPr/>
          <a:lstStyle/>
          <a:p>
            <a:endParaRPr lang="LID4096"/>
          </a:p>
        </p:txBody>
      </p:sp>
      <p:sp>
        <p:nvSpPr>
          <p:cNvPr id="24" name="Shape 22"/>
          <p:cNvSpPr/>
          <p:nvPr/>
        </p:nvSpPr>
        <p:spPr>
          <a:xfrm>
            <a:off x="10515600" y="0"/>
            <a:ext cx="0" cy="6858000"/>
          </a:xfrm>
          <a:prstGeom prst="line">
            <a:avLst/>
          </a:prstGeom>
          <a:noFill/>
          <a:ln w="6350">
            <a:solidFill>
              <a:srgbClr val="E1E6EC"/>
            </a:solidFill>
            <a:prstDash val="solid"/>
          </a:ln>
        </p:spPr>
        <p:txBody>
          <a:bodyPr/>
          <a:lstStyle/>
          <a:p>
            <a:endParaRPr lang="LID4096"/>
          </a:p>
        </p:txBody>
      </p:sp>
      <p:sp>
        <p:nvSpPr>
          <p:cNvPr id="25" name="Shape 23"/>
          <p:cNvSpPr/>
          <p:nvPr/>
        </p:nvSpPr>
        <p:spPr>
          <a:xfrm>
            <a:off x="10972800" y="0"/>
            <a:ext cx="0" cy="6858000"/>
          </a:xfrm>
          <a:prstGeom prst="line">
            <a:avLst/>
          </a:prstGeom>
          <a:noFill/>
          <a:ln w="6350">
            <a:solidFill>
              <a:srgbClr val="E1E6EC"/>
            </a:solidFill>
            <a:prstDash val="solid"/>
          </a:ln>
        </p:spPr>
        <p:txBody>
          <a:bodyPr/>
          <a:lstStyle/>
          <a:p>
            <a:endParaRPr lang="LID4096"/>
          </a:p>
        </p:txBody>
      </p:sp>
      <p:sp>
        <p:nvSpPr>
          <p:cNvPr id="26" name="Shape 24"/>
          <p:cNvSpPr/>
          <p:nvPr/>
        </p:nvSpPr>
        <p:spPr>
          <a:xfrm>
            <a:off x="11430000" y="0"/>
            <a:ext cx="0" cy="6858000"/>
          </a:xfrm>
          <a:prstGeom prst="line">
            <a:avLst/>
          </a:prstGeom>
          <a:noFill/>
          <a:ln w="6350">
            <a:solidFill>
              <a:srgbClr val="E1E6EC"/>
            </a:solidFill>
            <a:prstDash val="solid"/>
          </a:ln>
        </p:spPr>
        <p:txBody>
          <a:bodyPr/>
          <a:lstStyle/>
          <a:p>
            <a:endParaRPr lang="LID4096"/>
          </a:p>
        </p:txBody>
      </p:sp>
      <p:sp>
        <p:nvSpPr>
          <p:cNvPr id="27" name="Shape 25"/>
          <p:cNvSpPr/>
          <p:nvPr/>
        </p:nvSpPr>
        <p:spPr>
          <a:xfrm>
            <a:off x="11887200" y="0"/>
            <a:ext cx="0" cy="6858000"/>
          </a:xfrm>
          <a:prstGeom prst="line">
            <a:avLst/>
          </a:prstGeom>
          <a:noFill/>
          <a:ln w="6350">
            <a:solidFill>
              <a:srgbClr val="E1E6EC"/>
            </a:solidFill>
            <a:prstDash val="solid"/>
          </a:ln>
        </p:spPr>
        <p:txBody>
          <a:bodyPr/>
          <a:lstStyle/>
          <a:p>
            <a:endParaRPr lang="LID4096"/>
          </a:p>
        </p:txBody>
      </p:sp>
      <p:sp>
        <p:nvSpPr>
          <p:cNvPr id="28" name="Shape 26"/>
          <p:cNvSpPr/>
          <p:nvPr/>
        </p:nvSpPr>
        <p:spPr>
          <a:xfrm>
            <a:off x="0" y="457200"/>
            <a:ext cx="12188952" cy="0"/>
          </a:xfrm>
          <a:prstGeom prst="line">
            <a:avLst/>
          </a:prstGeom>
          <a:noFill/>
          <a:ln w="6350">
            <a:solidFill>
              <a:srgbClr val="E1E6EC"/>
            </a:solidFill>
            <a:prstDash val="solid"/>
          </a:ln>
        </p:spPr>
        <p:txBody>
          <a:bodyPr/>
          <a:lstStyle/>
          <a:p>
            <a:endParaRPr lang="LID4096"/>
          </a:p>
        </p:txBody>
      </p:sp>
      <p:sp>
        <p:nvSpPr>
          <p:cNvPr id="29" name="Shape 27"/>
          <p:cNvSpPr/>
          <p:nvPr/>
        </p:nvSpPr>
        <p:spPr>
          <a:xfrm>
            <a:off x="0" y="914400"/>
            <a:ext cx="12188952" cy="0"/>
          </a:xfrm>
          <a:prstGeom prst="line">
            <a:avLst/>
          </a:prstGeom>
          <a:noFill/>
          <a:ln w="6350">
            <a:solidFill>
              <a:srgbClr val="E1E6EC"/>
            </a:solidFill>
            <a:prstDash val="solid"/>
          </a:ln>
        </p:spPr>
        <p:txBody>
          <a:bodyPr/>
          <a:lstStyle/>
          <a:p>
            <a:endParaRPr lang="LID4096"/>
          </a:p>
        </p:txBody>
      </p:sp>
      <p:sp>
        <p:nvSpPr>
          <p:cNvPr id="30" name="Shape 28"/>
          <p:cNvSpPr/>
          <p:nvPr/>
        </p:nvSpPr>
        <p:spPr>
          <a:xfrm>
            <a:off x="0" y="1371600"/>
            <a:ext cx="12188952" cy="0"/>
          </a:xfrm>
          <a:prstGeom prst="line">
            <a:avLst/>
          </a:prstGeom>
          <a:noFill/>
          <a:ln w="6350">
            <a:solidFill>
              <a:srgbClr val="E1E6EC"/>
            </a:solidFill>
            <a:prstDash val="solid"/>
          </a:ln>
        </p:spPr>
        <p:txBody>
          <a:bodyPr/>
          <a:lstStyle/>
          <a:p>
            <a:endParaRPr lang="LID4096"/>
          </a:p>
        </p:txBody>
      </p:sp>
      <p:sp>
        <p:nvSpPr>
          <p:cNvPr id="31" name="Shape 29"/>
          <p:cNvSpPr/>
          <p:nvPr/>
        </p:nvSpPr>
        <p:spPr>
          <a:xfrm>
            <a:off x="0" y="1828800"/>
            <a:ext cx="12188952" cy="0"/>
          </a:xfrm>
          <a:prstGeom prst="line">
            <a:avLst/>
          </a:prstGeom>
          <a:noFill/>
          <a:ln w="6350">
            <a:solidFill>
              <a:srgbClr val="E1E6EC"/>
            </a:solidFill>
            <a:prstDash val="solid"/>
          </a:ln>
        </p:spPr>
        <p:txBody>
          <a:bodyPr/>
          <a:lstStyle/>
          <a:p>
            <a:endParaRPr lang="LID4096"/>
          </a:p>
        </p:txBody>
      </p:sp>
      <p:sp>
        <p:nvSpPr>
          <p:cNvPr id="32" name="Shape 30"/>
          <p:cNvSpPr/>
          <p:nvPr/>
        </p:nvSpPr>
        <p:spPr>
          <a:xfrm>
            <a:off x="0" y="2286000"/>
            <a:ext cx="12188952" cy="0"/>
          </a:xfrm>
          <a:prstGeom prst="line">
            <a:avLst/>
          </a:prstGeom>
          <a:noFill/>
          <a:ln w="6350">
            <a:solidFill>
              <a:srgbClr val="E1E6EC"/>
            </a:solidFill>
            <a:prstDash val="solid"/>
          </a:ln>
        </p:spPr>
        <p:txBody>
          <a:bodyPr/>
          <a:lstStyle/>
          <a:p>
            <a:endParaRPr lang="LID4096"/>
          </a:p>
        </p:txBody>
      </p:sp>
      <p:sp>
        <p:nvSpPr>
          <p:cNvPr id="33" name="Shape 31"/>
          <p:cNvSpPr/>
          <p:nvPr/>
        </p:nvSpPr>
        <p:spPr>
          <a:xfrm>
            <a:off x="0" y="2743200"/>
            <a:ext cx="12188952" cy="0"/>
          </a:xfrm>
          <a:prstGeom prst="line">
            <a:avLst/>
          </a:prstGeom>
          <a:noFill/>
          <a:ln w="6350">
            <a:solidFill>
              <a:srgbClr val="E1E6EC"/>
            </a:solidFill>
            <a:prstDash val="solid"/>
          </a:ln>
        </p:spPr>
        <p:txBody>
          <a:bodyPr/>
          <a:lstStyle/>
          <a:p>
            <a:endParaRPr lang="LID4096"/>
          </a:p>
        </p:txBody>
      </p:sp>
      <p:sp>
        <p:nvSpPr>
          <p:cNvPr id="34" name="Shape 32"/>
          <p:cNvSpPr/>
          <p:nvPr/>
        </p:nvSpPr>
        <p:spPr>
          <a:xfrm>
            <a:off x="0" y="3200400"/>
            <a:ext cx="12188952" cy="0"/>
          </a:xfrm>
          <a:prstGeom prst="line">
            <a:avLst/>
          </a:prstGeom>
          <a:noFill/>
          <a:ln w="6350">
            <a:solidFill>
              <a:srgbClr val="E1E6EC"/>
            </a:solidFill>
            <a:prstDash val="solid"/>
          </a:ln>
        </p:spPr>
        <p:txBody>
          <a:bodyPr/>
          <a:lstStyle/>
          <a:p>
            <a:endParaRPr lang="LID4096"/>
          </a:p>
        </p:txBody>
      </p:sp>
      <p:sp>
        <p:nvSpPr>
          <p:cNvPr id="35" name="Shape 33"/>
          <p:cNvSpPr/>
          <p:nvPr/>
        </p:nvSpPr>
        <p:spPr>
          <a:xfrm>
            <a:off x="0" y="3657600"/>
            <a:ext cx="12188952" cy="0"/>
          </a:xfrm>
          <a:prstGeom prst="line">
            <a:avLst/>
          </a:prstGeom>
          <a:noFill/>
          <a:ln w="6350">
            <a:solidFill>
              <a:srgbClr val="E1E6EC"/>
            </a:solidFill>
            <a:prstDash val="solid"/>
          </a:ln>
        </p:spPr>
        <p:txBody>
          <a:bodyPr/>
          <a:lstStyle/>
          <a:p>
            <a:endParaRPr lang="LID4096"/>
          </a:p>
        </p:txBody>
      </p:sp>
      <p:sp>
        <p:nvSpPr>
          <p:cNvPr id="36" name="Shape 34"/>
          <p:cNvSpPr/>
          <p:nvPr/>
        </p:nvSpPr>
        <p:spPr>
          <a:xfrm>
            <a:off x="0" y="4114800"/>
            <a:ext cx="12188952" cy="0"/>
          </a:xfrm>
          <a:prstGeom prst="line">
            <a:avLst/>
          </a:prstGeom>
          <a:noFill/>
          <a:ln w="6350">
            <a:solidFill>
              <a:srgbClr val="E1E6EC"/>
            </a:solidFill>
            <a:prstDash val="solid"/>
          </a:ln>
        </p:spPr>
        <p:txBody>
          <a:bodyPr/>
          <a:lstStyle/>
          <a:p>
            <a:endParaRPr lang="LID4096"/>
          </a:p>
        </p:txBody>
      </p:sp>
      <p:sp>
        <p:nvSpPr>
          <p:cNvPr id="37" name="Shape 35"/>
          <p:cNvSpPr/>
          <p:nvPr/>
        </p:nvSpPr>
        <p:spPr>
          <a:xfrm>
            <a:off x="0" y="4572000"/>
            <a:ext cx="12188952" cy="0"/>
          </a:xfrm>
          <a:prstGeom prst="line">
            <a:avLst/>
          </a:prstGeom>
          <a:noFill/>
          <a:ln w="6350">
            <a:solidFill>
              <a:srgbClr val="E1E6EC"/>
            </a:solidFill>
            <a:prstDash val="solid"/>
          </a:ln>
        </p:spPr>
        <p:txBody>
          <a:bodyPr/>
          <a:lstStyle/>
          <a:p>
            <a:endParaRPr lang="LID4096"/>
          </a:p>
        </p:txBody>
      </p:sp>
      <p:sp>
        <p:nvSpPr>
          <p:cNvPr id="38" name="Shape 36"/>
          <p:cNvSpPr/>
          <p:nvPr/>
        </p:nvSpPr>
        <p:spPr>
          <a:xfrm>
            <a:off x="0" y="5029200"/>
            <a:ext cx="12188952" cy="0"/>
          </a:xfrm>
          <a:prstGeom prst="line">
            <a:avLst/>
          </a:prstGeom>
          <a:noFill/>
          <a:ln w="6350">
            <a:solidFill>
              <a:srgbClr val="E1E6EC"/>
            </a:solidFill>
            <a:prstDash val="solid"/>
          </a:ln>
        </p:spPr>
        <p:txBody>
          <a:bodyPr/>
          <a:lstStyle/>
          <a:p>
            <a:endParaRPr lang="LID4096"/>
          </a:p>
        </p:txBody>
      </p:sp>
      <p:sp>
        <p:nvSpPr>
          <p:cNvPr id="39" name="Shape 37"/>
          <p:cNvSpPr/>
          <p:nvPr/>
        </p:nvSpPr>
        <p:spPr>
          <a:xfrm>
            <a:off x="0" y="5486400"/>
            <a:ext cx="12188952" cy="0"/>
          </a:xfrm>
          <a:prstGeom prst="line">
            <a:avLst/>
          </a:prstGeom>
          <a:noFill/>
          <a:ln w="6350">
            <a:solidFill>
              <a:srgbClr val="E1E6EC"/>
            </a:solidFill>
            <a:prstDash val="solid"/>
          </a:ln>
        </p:spPr>
        <p:txBody>
          <a:bodyPr/>
          <a:lstStyle/>
          <a:p>
            <a:endParaRPr lang="LID4096"/>
          </a:p>
        </p:txBody>
      </p:sp>
      <p:sp>
        <p:nvSpPr>
          <p:cNvPr id="40" name="Shape 38"/>
          <p:cNvSpPr/>
          <p:nvPr/>
        </p:nvSpPr>
        <p:spPr>
          <a:xfrm>
            <a:off x="0" y="5943600"/>
            <a:ext cx="12188952" cy="0"/>
          </a:xfrm>
          <a:prstGeom prst="line">
            <a:avLst/>
          </a:prstGeom>
          <a:noFill/>
          <a:ln w="6350">
            <a:solidFill>
              <a:srgbClr val="E1E6EC"/>
            </a:solidFill>
            <a:prstDash val="solid"/>
          </a:ln>
        </p:spPr>
        <p:txBody>
          <a:bodyPr/>
          <a:lstStyle/>
          <a:p>
            <a:endParaRPr lang="LID4096"/>
          </a:p>
        </p:txBody>
      </p:sp>
      <p:sp>
        <p:nvSpPr>
          <p:cNvPr id="41" name="Shape 39"/>
          <p:cNvSpPr/>
          <p:nvPr/>
        </p:nvSpPr>
        <p:spPr>
          <a:xfrm>
            <a:off x="0" y="6400800"/>
            <a:ext cx="12188952" cy="0"/>
          </a:xfrm>
          <a:prstGeom prst="line">
            <a:avLst/>
          </a:prstGeom>
          <a:noFill/>
          <a:ln w="6350">
            <a:solidFill>
              <a:srgbClr val="E1E6EC"/>
            </a:solidFill>
            <a:prstDash val="solid"/>
          </a:ln>
        </p:spPr>
        <p:txBody>
          <a:bodyPr/>
          <a:lstStyle/>
          <a:p>
            <a:endParaRPr lang="LID4096"/>
          </a:p>
        </p:txBody>
      </p:sp>
      <p:sp>
        <p:nvSpPr>
          <p:cNvPr id="42" name="Text 40"/>
          <p:cNvSpPr txBox="1"/>
          <p:nvPr/>
        </p:nvSpPr>
        <p:spPr>
          <a:xfrm>
            <a:off x="640080" y="320040"/>
            <a:ext cx="1097280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Our sandbox: a controlled saved-source answer experiment</a:t>
            </a:r>
            <a:endParaRPr lang="en-US" sz="2800" dirty="0"/>
          </a:p>
        </p:txBody>
      </p:sp>
      <p:sp>
        <p:nvSpPr>
          <p:cNvPr id="43" name="Shape 41"/>
          <p:cNvSpPr/>
          <p:nvPr/>
        </p:nvSpPr>
        <p:spPr>
          <a:xfrm>
            <a:off x="640080" y="1097280"/>
            <a:ext cx="5029200" cy="3429000"/>
          </a:xfrm>
          <a:prstGeom prst="roundRect">
            <a:avLst>
              <a:gd name="adj" fmla="val 2133"/>
            </a:avLst>
          </a:prstGeom>
          <a:solidFill>
            <a:srgbClr val="FFFFFF"/>
          </a:solidFill>
          <a:ln w="12700">
            <a:solidFill>
              <a:srgbClr val="D5DBE3"/>
            </a:solidFill>
            <a:prstDash val="solid"/>
          </a:ln>
          <a:effectLst>
            <a:outerShdw blurRad="101600" dist="38100" dir="5400000" algn="bl" rotWithShape="0">
              <a:srgbClr val="9AA3AE">
                <a:alpha val="30000"/>
              </a:srgbClr>
            </a:outerShdw>
          </a:effectLst>
        </p:spPr>
        <p:txBody>
          <a:bodyPr/>
          <a:lstStyle/>
          <a:p>
            <a:endParaRPr lang="LID4096"/>
          </a:p>
        </p:txBody>
      </p:sp>
      <p:sp>
        <p:nvSpPr>
          <p:cNvPr id="44" name="Shape 42"/>
          <p:cNvSpPr/>
          <p:nvPr/>
        </p:nvSpPr>
        <p:spPr>
          <a:xfrm>
            <a:off x="658368" y="1115568"/>
            <a:ext cx="4992624" cy="310896"/>
          </a:xfrm>
          <a:prstGeom prst="rect">
            <a:avLst/>
          </a:prstGeom>
          <a:solidFill>
            <a:srgbClr val="E9EBEE"/>
          </a:solidFill>
          <a:ln w="12700">
            <a:solidFill>
              <a:srgbClr val="E9EBEE"/>
            </a:solidFill>
            <a:prstDash val="solid"/>
          </a:ln>
        </p:spPr>
        <p:txBody>
          <a:bodyPr/>
          <a:lstStyle/>
          <a:p>
            <a:endParaRPr lang="LID4096"/>
          </a:p>
        </p:txBody>
      </p:sp>
      <p:sp>
        <p:nvSpPr>
          <p:cNvPr id="45" name="Shape 43"/>
          <p:cNvSpPr/>
          <p:nvPr/>
        </p:nvSpPr>
        <p:spPr>
          <a:xfrm>
            <a:off x="777240" y="1216152"/>
            <a:ext cx="91440" cy="91440"/>
          </a:xfrm>
          <a:prstGeom prst="ellipse">
            <a:avLst/>
          </a:prstGeom>
          <a:solidFill>
            <a:srgbClr val="FF5F57"/>
          </a:solidFill>
          <a:ln w="12700">
            <a:solidFill>
              <a:srgbClr val="E9EBEE"/>
            </a:solidFill>
            <a:prstDash val="solid"/>
          </a:ln>
        </p:spPr>
        <p:txBody>
          <a:bodyPr/>
          <a:lstStyle/>
          <a:p>
            <a:endParaRPr lang="LID4096"/>
          </a:p>
        </p:txBody>
      </p:sp>
      <p:sp>
        <p:nvSpPr>
          <p:cNvPr id="46" name="Shape 44"/>
          <p:cNvSpPr/>
          <p:nvPr/>
        </p:nvSpPr>
        <p:spPr>
          <a:xfrm>
            <a:off x="932688" y="1216152"/>
            <a:ext cx="91440" cy="91440"/>
          </a:xfrm>
          <a:prstGeom prst="ellipse">
            <a:avLst/>
          </a:prstGeom>
          <a:solidFill>
            <a:srgbClr val="FEBC2E"/>
          </a:solidFill>
          <a:ln w="12700">
            <a:solidFill>
              <a:srgbClr val="E9EBEE"/>
            </a:solidFill>
            <a:prstDash val="solid"/>
          </a:ln>
        </p:spPr>
        <p:txBody>
          <a:bodyPr/>
          <a:lstStyle/>
          <a:p>
            <a:endParaRPr lang="LID4096"/>
          </a:p>
        </p:txBody>
      </p:sp>
      <p:sp>
        <p:nvSpPr>
          <p:cNvPr id="47" name="Shape 45"/>
          <p:cNvSpPr/>
          <p:nvPr/>
        </p:nvSpPr>
        <p:spPr>
          <a:xfrm>
            <a:off x="1088136" y="1216152"/>
            <a:ext cx="91440" cy="91440"/>
          </a:xfrm>
          <a:prstGeom prst="ellipse">
            <a:avLst/>
          </a:prstGeom>
          <a:solidFill>
            <a:srgbClr val="28C840"/>
          </a:solidFill>
          <a:ln w="12700">
            <a:solidFill>
              <a:srgbClr val="E9EBEE"/>
            </a:solidFill>
            <a:prstDash val="solid"/>
          </a:ln>
        </p:spPr>
        <p:txBody>
          <a:bodyPr/>
          <a:lstStyle/>
          <a:p>
            <a:endParaRPr lang="LID4096"/>
          </a:p>
        </p:txBody>
      </p:sp>
      <p:sp>
        <p:nvSpPr>
          <p:cNvPr id="48" name="Text 46"/>
          <p:cNvSpPr txBox="1"/>
          <p:nvPr/>
        </p:nvSpPr>
        <p:spPr>
          <a:xfrm>
            <a:off x="1371600" y="1115568"/>
            <a:ext cx="2743200" cy="310896"/>
          </a:xfrm>
          <a:prstGeom prst="rect">
            <a:avLst/>
          </a:prstGeom>
          <a:noFill/>
          <a:ln/>
        </p:spPr>
        <p:txBody>
          <a:bodyPr wrap="square" lIns="0" tIns="0" rIns="0" bIns="0" rtlCol="0" anchor="ctr"/>
          <a:lstStyle/>
          <a:p>
            <a:pPr marL="0" indent="0">
              <a:buNone/>
            </a:pPr>
            <a:r>
              <a:rPr lang="en-US" sz="1100" b="1" dirty="0">
                <a:solidFill>
                  <a:srgbClr val="0D0D0D"/>
                </a:solidFill>
                <a:latin typeface="Arial" pitchFamily="34" charset="0"/>
                <a:ea typeface="Arial" pitchFamily="34" charset="-122"/>
                <a:cs typeface="Arial" pitchFamily="34" charset="-120"/>
              </a:rPr>
              <a:t>ChatGPT (live)</a:t>
            </a:r>
            <a:endParaRPr lang="en-US" sz="1100" dirty="0"/>
          </a:p>
        </p:txBody>
      </p:sp>
      <p:sp>
        <p:nvSpPr>
          <p:cNvPr id="49" name="Shape 47"/>
          <p:cNvSpPr/>
          <p:nvPr/>
        </p:nvSpPr>
        <p:spPr>
          <a:xfrm>
            <a:off x="658368" y="1426464"/>
            <a:ext cx="1143000" cy="3081528"/>
          </a:xfrm>
          <a:prstGeom prst="rect">
            <a:avLst/>
          </a:prstGeom>
          <a:solidFill>
            <a:srgbClr val="F9F9F9"/>
          </a:solidFill>
          <a:ln w="6350">
            <a:solidFill>
              <a:srgbClr val="ECECEC"/>
            </a:solidFill>
            <a:prstDash val="solid"/>
          </a:ln>
        </p:spPr>
        <p:txBody>
          <a:bodyPr/>
          <a:lstStyle/>
          <a:p>
            <a:endParaRPr lang="LID4096"/>
          </a:p>
        </p:txBody>
      </p:sp>
      <p:sp>
        <p:nvSpPr>
          <p:cNvPr id="50" name="Text 48"/>
          <p:cNvSpPr txBox="1"/>
          <p:nvPr/>
        </p:nvSpPr>
        <p:spPr>
          <a:xfrm>
            <a:off x="777240" y="1536192"/>
            <a:ext cx="960120" cy="228600"/>
          </a:xfrm>
          <a:prstGeom prst="rect">
            <a:avLst/>
          </a:prstGeom>
          <a:noFill/>
          <a:ln/>
        </p:spPr>
        <p:txBody>
          <a:bodyPr wrap="square" lIns="0" tIns="0" rIns="0" bIns="0" rtlCol="0" anchor="ctr"/>
          <a:lstStyle/>
          <a:p>
            <a:pPr marL="0" indent="0">
              <a:buNone/>
            </a:pPr>
            <a:r>
              <a:rPr lang="en-US" sz="900" dirty="0">
                <a:solidFill>
                  <a:srgbClr val="0D0D0D"/>
                </a:solidFill>
                <a:latin typeface="Arial" pitchFamily="34" charset="0"/>
                <a:ea typeface="Arial" pitchFamily="34" charset="-122"/>
                <a:cs typeface="Arial" pitchFamily="34" charset="-120"/>
              </a:rPr>
              <a:t>✎  New chat</a:t>
            </a:r>
            <a:endParaRPr lang="en-US" sz="900" dirty="0"/>
          </a:p>
        </p:txBody>
      </p:sp>
      <p:sp>
        <p:nvSpPr>
          <p:cNvPr id="51" name="Text 49"/>
          <p:cNvSpPr txBox="1"/>
          <p:nvPr/>
        </p:nvSpPr>
        <p:spPr>
          <a:xfrm>
            <a:off x="777240" y="1883664"/>
            <a:ext cx="914400" cy="182880"/>
          </a:xfrm>
          <a:prstGeom prst="rect">
            <a:avLst/>
          </a:prstGeom>
          <a:noFill/>
          <a:ln/>
        </p:spPr>
        <p:txBody>
          <a:bodyPr wrap="square" lIns="0" tIns="0" rIns="0" bIns="0" rtlCol="0" anchor="ctr"/>
          <a:lstStyle/>
          <a:p>
            <a:pPr marL="0" indent="0">
              <a:buNone/>
            </a:pPr>
            <a:r>
              <a:rPr lang="en-US" sz="750" dirty="0">
                <a:solidFill>
                  <a:srgbClr val="8E8E8E"/>
                </a:solidFill>
                <a:latin typeface="Arial" pitchFamily="34" charset="0"/>
                <a:ea typeface="Arial" pitchFamily="34" charset="-122"/>
                <a:cs typeface="Arial" pitchFamily="34" charset="-120"/>
              </a:rPr>
              <a:t>Today</a:t>
            </a:r>
            <a:endParaRPr lang="en-US" sz="750" dirty="0"/>
          </a:p>
        </p:txBody>
      </p:sp>
      <p:sp>
        <p:nvSpPr>
          <p:cNvPr id="52" name="Shape 50"/>
          <p:cNvSpPr/>
          <p:nvPr/>
        </p:nvSpPr>
        <p:spPr>
          <a:xfrm>
            <a:off x="777240" y="2139696"/>
            <a:ext cx="868680" cy="82296"/>
          </a:xfrm>
          <a:prstGeom prst="roundRect">
            <a:avLst>
              <a:gd name="adj" fmla="val 44444"/>
            </a:avLst>
          </a:prstGeom>
          <a:solidFill>
            <a:srgbClr val="D9D9D9"/>
          </a:solidFill>
          <a:ln w="12700">
            <a:solidFill>
              <a:srgbClr val="FFFFFF"/>
            </a:solidFill>
            <a:prstDash val="solid"/>
          </a:ln>
        </p:spPr>
        <p:txBody>
          <a:bodyPr/>
          <a:lstStyle/>
          <a:p>
            <a:endParaRPr lang="LID4096"/>
          </a:p>
        </p:txBody>
      </p:sp>
      <p:sp>
        <p:nvSpPr>
          <p:cNvPr id="53" name="Shape 51"/>
          <p:cNvSpPr/>
          <p:nvPr/>
        </p:nvSpPr>
        <p:spPr>
          <a:xfrm>
            <a:off x="777240" y="2395728"/>
            <a:ext cx="685800" cy="82296"/>
          </a:xfrm>
          <a:prstGeom prst="roundRect">
            <a:avLst>
              <a:gd name="adj" fmla="val 44444"/>
            </a:avLst>
          </a:prstGeom>
          <a:solidFill>
            <a:srgbClr val="E6E6E6"/>
          </a:solidFill>
          <a:ln w="12700">
            <a:solidFill>
              <a:srgbClr val="FFFFFF"/>
            </a:solidFill>
            <a:prstDash val="solid"/>
          </a:ln>
        </p:spPr>
        <p:txBody>
          <a:bodyPr/>
          <a:lstStyle/>
          <a:p>
            <a:endParaRPr lang="LID4096"/>
          </a:p>
        </p:txBody>
      </p:sp>
      <p:sp>
        <p:nvSpPr>
          <p:cNvPr id="54" name="Shape 52"/>
          <p:cNvSpPr/>
          <p:nvPr/>
        </p:nvSpPr>
        <p:spPr>
          <a:xfrm>
            <a:off x="777240" y="2651760"/>
            <a:ext cx="804672" cy="82296"/>
          </a:xfrm>
          <a:prstGeom prst="roundRect">
            <a:avLst>
              <a:gd name="adj" fmla="val 44444"/>
            </a:avLst>
          </a:prstGeom>
          <a:solidFill>
            <a:srgbClr val="E6E6E6"/>
          </a:solidFill>
          <a:ln w="12700">
            <a:solidFill>
              <a:srgbClr val="FFFFFF"/>
            </a:solidFill>
            <a:prstDash val="solid"/>
          </a:ln>
        </p:spPr>
        <p:txBody>
          <a:bodyPr/>
          <a:lstStyle/>
          <a:p>
            <a:endParaRPr lang="LID4096"/>
          </a:p>
        </p:txBody>
      </p:sp>
      <p:sp>
        <p:nvSpPr>
          <p:cNvPr id="55" name="Shape 53"/>
          <p:cNvSpPr/>
          <p:nvPr/>
        </p:nvSpPr>
        <p:spPr>
          <a:xfrm>
            <a:off x="777240" y="2907792"/>
            <a:ext cx="548640" cy="82296"/>
          </a:xfrm>
          <a:prstGeom prst="roundRect">
            <a:avLst>
              <a:gd name="adj" fmla="val 44444"/>
            </a:avLst>
          </a:prstGeom>
          <a:solidFill>
            <a:srgbClr val="E6E6E6"/>
          </a:solidFill>
          <a:ln w="12700">
            <a:solidFill>
              <a:srgbClr val="FFFFFF"/>
            </a:solidFill>
            <a:prstDash val="solid"/>
          </a:ln>
        </p:spPr>
        <p:txBody>
          <a:bodyPr/>
          <a:lstStyle/>
          <a:p>
            <a:endParaRPr lang="LID4096"/>
          </a:p>
        </p:txBody>
      </p:sp>
      <p:sp>
        <p:nvSpPr>
          <p:cNvPr id="56" name="Shape 54"/>
          <p:cNvSpPr/>
          <p:nvPr/>
        </p:nvSpPr>
        <p:spPr>
          <a:xfrm>
            <a:off x="3017520" y="1609344"/>
            <a:ext cx="2423160" cy="365760"/>
          </a:xfrm>
          <a:prstGeom prst="roundRect">
            <a:avLst>
              <a:gd name="adj" fmla="val 50000"/>
            </a:avLst>
          </a:prstGeom>
          <a:solidFill>
            <a:srgbClr val="F4F4F4"/>
          </a:solidFill>
          <a:ln w="12700">
            <a:solidFill>
              <a:srgbClr val="F4F4F4"/>
            </a:solidFill>
            <a:prstDash val="solid"/>
          </a:ln>
        </p:spPr>
        <p:txBody>
          <a:bodyPr/>
          <a:lstStyle/>
          <a:p>
            <a:endParaRPr lang="LID4096"/>
          </a:p>
        </p:txBody>
      </p:sp>
      <p:sp>
        <p:nvSpPr>
          <p:cNvPr id="57" name="Text 55"/>
          <p:cNvSpPr txBox="1"/>
          <p:nvPr/>
        </p:nvSpPr>
        <p:spPr>
          <a:xfrm>
            <a:off x="3044952" y="1609344"/>
            <a:ext cx="2377440" cy="365760"/>
          </a:xfrm>
          <a:prstGeom prst="rect">
            <a:avLst/>
          </a:prstGeom>
          <a:noFill/>
          <a:ln/>
        </p:spPr>
        <p:txBody>
          <a:bodyPr wrap="square" lIns="0" tIns="0" rIns="0" bIns="0" rtlCol="0" anchor="ctr"/>
          <a:lstStyle/>
          <a:p>
            <a:pPr marL="0" indent="0" algn="ctr">
              <a:buNone/>
            </a:pPr>
            <a:r>
              <a:rPr lang="en-US" sz="950" dirty="0">
                <a:solidFill>
                  <a:srgbClr val="0D0D0D"/>
                </a:solidFill>
                <a:latin typeface="Arial" pitchFamily="34" charset="0"/>
                <a:ea typeface="Arial" pitchFamily="34" charset="-122"/>
                <a:cs typeface="Arial" pitchFamily="34" charset="-120"/>
              </a:rPr>
              <a:t>Cheap flights from Melbourne to London?</a:t>
            </a:r>
            <a:endParaRPr lang="en-US" sz="950" dirty="0"/>
          </a:p>
        </p:txBody>
      </p:sp>
      <p:sp>
        <p:nvSpPr>
          <p:cNvPr id="58" name="Text 56"/>
          <p:cNvSpPr txBox="1"/>
          <p:nvPr/>
        </p:nvSpPr>
        <p:spPr>
          <a:xfrm>
            <a:off x="2011680" y="2112264"/>
            <a:ext cx="1828800" cy="201168"/>
          </a:xfrm>
          <a:prstGeom prst="rect">
            <a:avLst/>
          </a:prstGeom>
          <a:noFill/>
          <a:ln/>
        </p:spPr>
        <p:txBody>
          <a:bodyPr wrap="square" lIns="0" tIns="0" rIns="0" bIns="0" rtlCol="0" anchor="ctr"/>
          <a:lstStyle/>
          <a:p>
            <a:pPr marL="0" indent="0">
              <a:buNone/>
            </a:pPr>
            <a:r>
              <a:rPr lang="en-US" sz="850" dirty="0">
                <a:solidFill>
                  <a:srgbClr val="8E8E8E"/>
                </a:solidFill>
                <a:latin typeface="Arial" pitchFamily="34" charset="0"/>
                <a:ea typeface="Arial" pitchFamily="34" charset="-122"/>
                <a:cs typeface="Arial" pitchFamily="34" charset="-120"/>
              </a:rPr>
              <a:t>◎  Searched the web</a:t>
            </a:r>
            <a:endParaRPr lang="en-US" sz="850" dirty="0"/>
          </a:p>
        </p:txBody>
      </p:sp>
      <p:sp>
        <p:nvSpPr>
          <p:cNvPr id="59" name="Text 57"/>
          <p:cNvSpPr txBox="1"/>
          <p:nvPr/>
        </p:nvSpPr>
        <p:spPr>
          <a:xfrm>
            <a:off x="2011680" y="2340864"/>
            <a:ext cx="3429000" cy="566928"/>
          </a:xfrm>
          <a:prstGeom prst="rect">
            <a:avLst/>
          </a:prstGeom>
          <a:noFill/>
          <a:ln/>
        </p:spPr>
        <p:txBody>
          <a:bodyPr wrap="square" lIns="0" tIns="0" rIns="0" bIns="0" rtlCol="0" anchor="t"/>
          <a:lstStyle/>
          <a:p>
            <a:pPr marL="0" indent="0">
              <a:buNone/>
            </a:pPr>
            <a:r>
              <a:rPr lang="en-US" sz="950" dirty="0">
                <a:solidFill>
                  <a:srgbClr val="0D0D0D"/>
                </a:solidFill>
                <a:latin typeface="Arial" pitchFamily="34" charset="0"/>
                <a:ea typeface="Arial" pitchFamily="34" charset="-122"/>
                <a:cs typeface="Arial" pitchFamily="34" charset="-120"/>
              </a:rPr>
              <a:t>Most flights from Melbourne to London stop once, usually in Dubai, Singapore or Doha. Return fares often start around…</a:t>
            </a:r>
            <a:endParaRPr lang="en-US" sz="950" dirty="0"/>
          </a:p>
        </p:txBody>
      </p:sp>
      <p:sp>
        <p:nvSpPr>
          <p:cNvPr id="60" name="Shape 58"/>
          <p:cNvSpPr/>
          <p:nvPr/>
        </p:nvSpPr>
        <p:spPr>
          <a:xfrm>
            <a:off x="2011680" y="2962656"/>
            <a:ext cx="886968" cy="219456"/>
          </a:xfrm>
          <a:prstGeom prst="roundRect">
            <a:avLst>
              <a:gd name="adj" fmla="val 50000"/>
            </a:avLst>
          </a:prstGeom>
          <a:solidFill>
            <a:srgbClr val="F4F4F4"/>
          </a:solidFill>
          <a:ln w="6350">
            <a:solidFill>
              <a:srgbClr val="E3E3E3"/>
            </a:solidFill>
            <a:prstDash val="solid"/>
          </a:ln>
        </p:spPr>
        <p:txBody>
          <a:bodyPr/>
          <a:lstStyle/>
          <a:p>
            <a:endParaRPr lang="LID4096"/>
          </a:p>
        </p:txBody>
      </p:sp>
      <p:sp>
        <p:nvSpPr>
          <p:cNvPr id="61" name="Text 59"/>
          <p:cNvSpPr txBox="1"/>
          <p:nvPr/>
        </p:nvSpPr>
        <p:spPr>
          <a:xfrm>
            <a:off x="2011680" y="2962656"/>
            <a:ext cx="886968" cy="219456"/>
          </a:xfrm>
          <a:prstGeom prst="rect">
            <a:avLst/>
          </a:prstGeom>
          <a:noFill/>
          <a:ln/>
        </p:spPr>
        <p:txBody>
          <a:bodyPr wrap="square" lIns="0" tIns="0" rIns="0" bIns="0" rtlCol="0" anchor="ctr"/>
          <a:lstStyle/>
          <a:p>
            <a:pPr marL="0" indent="0" algn="ctr">
              <a:buNone/>
            </a:pPr>
            <a:r>
              <a:rPr lang="en-US" sz="750" dirty="0">
                <a:solidFill>
                  <a:srgbClr val="5D5D5D"/>
                </a:solidFill>
                <a:latin typeface="Arial" pitchFamily="34" charset="0"/>
                <a:ea typeface="Arial" pitchFamily="34" charset="-122"/>
                <a:cs typeface="Arial" pitchFamily="34" charset="-120"/>
              </a:rPr>
              <a:t>travel site A</a:t>
            </a:r>
            <a:endParaRPr lang="en-US" sz="750" dirty="0"/>
          </a:p>
        </p:txBody>
      </p:sp>
      <p:sp>
        <p:nvSpPr>
          <p:cNvPr id="62" name="Shape 60"/>
          <p:cNvSpPr/>
          <p:nvPr/>
        </p:nvSpPr>
        <p:spPr>
          <a:xfrm>
            <a:off x="2971800" y="2962656"/>
            <a:ext cx="886968" cy="219456"/>
          </a:xfrm>
          <a:prstGeom prst="roundRect">
            <a:avLst>
              <a:gd name="adj" fmla="val 50000"/>
            </a:avLst>
          </a:prstGeom>
          <a:solidFill>
            <a:srgbClr val="F4F4F4"/>
          </a:solidFill>
          <a:ln w="6350">
            <a:solidFill>
              <a:srgbClr val="E3E3E3"/>
            </a:solidFill>
            <a:prstDash val="solid"/>
          </a:ln>
        </p:spPr>
        <p:txBody>
          <a:bodyPr/>
          <a:lstStyle/>
          <a:p>
            <a:endParaRPr lang="LID4096"/>
          </a:p>
        </p:txBody>
      </p:sp>
      <p:sp>
        <p:nvSpPr>
          <p:cNvPr id="63" name="Text 61"/>
          <p:cNvSpPr txBox="1"/>
          <p:nvPr/>
        </p:nvSpPr>
        <p:spPr>
          <a:xfrm>
            <a:off x="2971800" y="2962656"/>
            <a:ext cx="886968" cy="219456"/>
          </a:xfrm>
          <a:prstGeom prst="rect">
            <a:avLst/>
          </a:prstGeom>
          <a:noFill/>
          <a:ln/>
        </p:spPr>
        <p:txBody>
          <a:bodyPr wrap="square" lIns="0" tIns="0" rIns="0" bIns="0" rtlCol="0" anchor="ctr"/>
          <a:lstStyle/>
          <a:p>
            <a:pPr marL="0" indent="0" algn="ctr">
              <a:buNone/>
            </a:pPr>
            <a:r>
              <a:rPr lang="en-US" sz="750" dirty="0">
                <a:solidFill>
                  <a:srgbClr val="5D5D5D"/>
                </a:solidFill>
                <a:latin typeface="Arial" pitchFamily="34" charset="0"/>
                <a:ea typeface="Arial" pitchFamily="34" charset="-122"/>
                <a:cs typeface="Arial" pitchFamily="34" charset="-120"/>
              </a:rPr>
              <a:t>travel site B</a:t>
            </a:r>
            <a:endParaRPr lang="en-US" sz="750" dirty="0"/>
          </a:p>
        </p:txBody>
      </p:sp>
      <p:sp>
        <p:nvSpPr>
          <p:cNvPr id="64" name="Shape 62"/>
          <p:cNvSpPr/>
          <p:nvPr/>
        </p:nvSpPr>
        <p:spPr>
          <a:xfrm>
            <a:off x="3931920" y="2962656"/>
            <a:ext cx="886968" cy="219456"/>
          </a:xfrm>
          <a:prstGeom prst="roundRect">
            <a:avLst>
              <a:gd name="adj" fmla="val 50000"/>
            </a:avLst>
          </a:prstGeom>
          <a:solidFill>
            <a:srgbClr val="F4F4F4"/>
          </a:solidFill>
          <a:ln w="6350">
            <a:solidFill>
              <a:srgbClr val="E3E3E3"/>
            </a:solidFill>
            <a:prstDash val="solid"/>
          </a:ln>
        </p:spPr>
        <p:txBody>
          <a:bodyPr/>
          <a:lstStyle/>
          <a:p>
            <a:endParaRPr lang="LID4096"/>
          </a:p>
        </p:txBody>
      </p:sp>
      <p:sp>
        <p:nvSpPr>
          <p:cNvPr id="65" name="Text 63"/>
          <p:cNvSpPr txBox="1"/>
          <p:nvPr/>
        </p:nvSpPr>
        <p:spPr>
          <a:xfrm>
            <a:off x="3931920" y="2962656"/>
            <a:ext cx="886968" cy="219456"/>
          </a:xfrm>
          <a:prstGeom prst="rect">
            <a:avLst/>
          </a:prstGeom>
          <a:noFill/>
          <a:ln/>
        </p:spPr>
        <p:txBody>
          <a:bodyPr wrap="square" lIns="0" tIns="0" rIns="0" bIns="0" rtlCol="0" anchor="ctr"/>
          <a:lstStyle/>
          <a:p>
            <a:pPr marL="0" indent="0" algn="ctr">
              <a:buNone/>
            </a:pPr>
            <a:r>
              <a:rPr lang="en-US" sz="750" dirty="0">
                <a:solidFill>
                  <a:srgbClr val="5D5D5D"/>
                </a:solidFill>
                <a:latin typeface="Arial" pitchFamily="34" charset="0"/>
                <a:ea typeface="Arial" pitchFamily="34" charset="-122"/>
                <a:cs typeface="Arial" pitchFamily="34" charset="-120"/>
              </a:rPr>
              <a:t>airline</a:t>
            </a:r>
            <a:endParaRPr lang="en-US" sz="750" dirty="0"/>
          </a:p>
        </p:txBody>
      </p:sp>
      <p:sp>
        <p:nvSpPr>
          <p:cNvPr id="66" name="Text 64"/>
          <p:cNvSpPr txBox="1"/>
          <p:nvPr/>
        </p:nvSpPr>
        <p:spPr>
          <a:xfrm>
            <a:off x="2011680" y="3209544"/>
            <a:ext cx="914400" cy="164592"/>
          </a:xfrm>
          <a:prstGeom prst="rect">
            <a:avLst/>
          </a:prstGeom>
          <a:noFill/>
          <a:ln/>
        </p:spPr>
        <p:txBody>
          <a:bodyPr wrap="square" lIns="0" tIns="0" rIns="0" bIns="0" rtlCol="0" anchor="ctr"/>
          <a:lstStyle/>
          <a:p>
            <a:pPr marL="0" indent="0">
              <a:buNone/>
            </a:pPr>
            <a:r>
              <a:rPr lang="en-US" sz="700" dirty="0">
                <a:solidFill>
                  <a:srgbClr val="8E8E8E"/>
                </a:solidFill>
                <a:latin typeface="Arial" pitchFamily="34" charset="0"/>
                <a:ea typeface="Arial" pitchFamily="34" charset="-122"/>
                <a:cs typeface="Arial" pitchFamily="34" charset="-120"/>
              </a:rPr>
              <a:t>Sources</a:t>
            </a:r>
            <a:endParaRPr lang="en-US" sz="700" dirty="0"/>
          </a:p>
        </p:txBody>
      </p:sp>
      <p:sp>
        <p:nvSpPr>
          <p:cNvPr id="67" name="Shape 65"/>
          <p:cNvSpPr/>
          <p:nvPr/>
        </p:nvSpPr>
        <p:spPr>
          <a:xfrm>
            <a:off x="2011680" y="3849624"/>
            <a:ext cx="3429000" cy="411480"/>
          </a:xfrm>
          <a:prstGeom prst="roundRect">
            <a:avLst>
              <a:gd name="adj" fmla="val 48889"/>
            </a:avLst>
          </a:prstGeom>
          <a:solidFill>
            <a:srgbClr val="FFFFFF"/>
          </a:solidFill>
          <a:ln w="9525">
            <a:solidFill>
              <a:srgbClr val="D9D9D9"/>
            </a:solidFill>
            <a:prstDash val="solid"/>
          </a:ln>
          <a:effectLst>
            <a:outerShdw blurRad="50800" dist="12700" dir="5400000" algn="bl" rotWithShape="0">
              <a:srgbClr val="BBBBBB">
                <a:alpha val="25000"/>
              </a:srgbClr>
            </a:outerShdw>
          </a:effectLst>
        </p:spPr>
        <p:txBody>
          <a:bodyPr/>
          <a:lstStyle/>
          <a:p>
            <a:endParaRPr lang="LID4096"/>
          </a:p>
        </p:txBody>
      </p:sp>
      <p:sp>
        <p:nvSpPr>
          <p:cNvPr id="68" name="Text 66"/>
          <p:cNvSpPr txBox="1"/>
          <p:nvPr/>
        </p:nvSpPr>
        <p:spPr>
          <a:xfrm>
            <a:off x="2176272" y="3849624"/>
            <a:ext cx="2286000" cy="411480"/>
          </a:xfrm>
          <a:prstGeom prst="rect">
            <a:avLst/>
          </a:prstGeom>
          <a:noFill/>
          <a:ln/>
        </p:spPr>
        <p:txBody>
          <a:bodyPr wrap="square" lIns="0" tIns="0" rIns="0" bIns="0" rtlCol="0" anchor="ctr"/>
          <a:lstStyle/>
          <a:p>
            <a:pPr marL="0" indent="0">
              <a:buNone/>
            </a:pPr>
            <a:r>
              <a:rPr lang="en-US" sz="950" dirty="0">
                <a:solidFill>
                  <a:srgbClr val="8E8E8E"/>
                </a:solidFill>
                <a:latin typeface="Arial" pitchFamily="34" charset="0"/>
                <a:ea typeface="Arial" pitchFamily="34" charset="-122"/>
                <a:cs typeface="Arial" pitchFamily="34" charset="-120"/>
              </a:rPr>
              <a:t>+   Ask anything</a:t>
            </a:r>
            <a:endParaRPr lang="en-US" sz="950" dirty="0"/>
          </a:p>
        </p:txBody>
      </p:sp>
      <p:sp>
        <p:nvSpPr>
          <p:cNvPr id="69" name="Shape 67"/>
          <p:cNvSpPr/>
          <p:nvPr/>
        </p:nvSpPr>
        <p:spPr>
          <a:xfrm>
            <a:off x="5056632" y="3913632"/>
            <a:ext cx="283464" cy="283464"/>
          </a:xfrm>
          <a:prstGeom prst="ellipse">
            <a:avLst/>
          </a:prstGeom>
          <a:solidFill>
            <a:srgbClr val="0D0D0D"/>
          </a:solidFill>
          <a:ln w="12700">
            <a:solidFill>
              <a:srgbClr val="0D0D0D"/>
            </a:solidFill>
            <a:prstDash val="solid"/>
          </a:ln>
        </p:spPr>
        <p:txBody>
          <a:bodyPr/>
          <a:lstStyle/>
          <a:p>
            <a:endParaRPr lang="LID4096"/>
          </a:p>
        </p:txBody>
      </p:sp>
      <p:sp>
        <p:nvSpPr>
          <p:cNvPr id="70" name="Text 68"/>
          <p:cNvSpPr txBox="1"/>
          <p:nvPr/>
        </p:nvSpPr>
        <p:spPr>
          <a:xfrm>
            <a:off x="5056632" y="3913632"/>
            <a:ext cx="283464" cy="28346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71" name="Text 69"/>
          <p:cNvSpPr txBox="1"/>
          <p:nvPr/>
        </p:nvSpPr>
        <p:spPr>
          <a:xfrm>
            <a:off x="1920240" y="4553712"/>
            <a:ext cx="3611880" cy="182880"/>
          </a:xfrm>
          <a:prstGeom prst="rect">
            <a:avLst/>
          </a:prstGeom>
          <a:noFill/>
          <a:ln/>
        </p:spPr>
        <p:txBody>
          <a:bodyPr wrap="square" lIns="0" tIns="0" rIns="0" bIns="0" rtlCol="0" anchor="ctr"/>
          <a:lstStyle/>
          <a:p>
            <a:pPr marL="0" indent="0" algn="r">
              <a:buNone/>
            </a:pPr>
            <a:r>
              <a:rPr lang="en-US" sz="750" i="1" dirty="0">
                <a:solidFill>
                  <a:srgbClr val="9AA3AE"/>
                </a:solidFill>
                <a:latin typeface="Arial" pitchFamily="34" charset="0"/>
                <a:ea typeface="Arial" pitchFamily="34" charset="-122"/>
                <a:cs typeface="Arial" pitchFamily="34" charset="-120"/>
              </a:rPr>
              <a:t>Illustration of the ChatGPT layout – not an actual answer</a:t>
            </a:r>
            <a:endParaRPr lang="en-US" sz="750" dirty="0"/>
          </a:p>
        </p:txBody>
      </p:sp>
      <p:sp>
        <p:nvSpPr>
          <p:cNvPr id="72" name="Shape 70"/>
          <p:cNvSpPr/>
          <p:nvPr/>
        </p:nvSpPr>
        <p:spPr>
          <a:xfrm>
            <a:off x="6519672" y="1097280"/>
            <a:ext cx="5029200" cy="3429000"/>
          </a:xfrm>
          <a:prstGeom prst="roundRect">
            <a:avLst>
              <a:gd name="adj" fmla="val 2133"/>
            </a:avLst>
          </a:prstGeom>
          <a:solidFill>
            <a:srgbClr val="FFFFFF"/>
          </a:solidFill>
          <a:ln w="25400">
            <a:solidFill>
              <a:srgbClr val="D7262E"/>
            </a:solidFill>
            <a:prstDash val="solid"/>
          </a:ln>
          <a:effectLst>
            <a:outerShdw blurRad="101600" dist="38100" dir="5400000" algn="bl" rotWithShape="0">
              <a:srgbClr val="9AA3AE">
                <a:alpha val="30000"/>
              </a:srgbClr>
            </a:outerShdw>
          </a:effectLst>
        </p:spPr>
        <p:txBody>
          <a:bodyPr/>
          <a:lstStyle/>
          <a:p>
            <a:endParaRPr lang="LID4096"/>
          </a:p>
        </p:txBody>
      </p:sp>
      <p:sp>
        <p:nvSpPr>
          <p:cNvPr id="73" name="Shape 71"/>
          <p:cNvSpPr/>
          <p:nvPr/>
        </p:nvSpPr>
        <p:spPr>
          <a:xfrm>
            <a:off x="6547104" y="1124712"/>
            <a:ext cx="4974336" cy="365760"/>
          </a:xfrm>
          <a:prstGeom prst="rect">
            <a:avLst/>
          </a:prstGeom>
          <a:solidFill>
            <a:srgbClr val="FCECEC"/>
          </a:solidFill>
          <a:ln w="12700">
            <a:solidFill>
              <a:srgbClr val="FCECEC"/>
            </a:solidFill>
            <a:prstDash val="solid"/>
          </a:ln>
        </p:spPr>
        <p:txBody>
          <a:bodyPr/>
          <a:lstStyle/>
          <a:p>
            <a:endParaRPr lang="LID4096"/>
          </a:p>
        </p:txBody>
      </p:sp>
      <p:sp>
        <p:nvSpPr>
          <p:cNvPr id="74" name="Text 72"/>
          <p:cNvSpPr txBox="1"/>
          <p:nvPr/>
        </p:nvSpPr>
        <p:spPr>
          <a:xfrm>
            <a:off x="6748272" y="1124712"/>
            <a:ext cx="4663440" cy="365760"/>
          </a:xfrm>
          <a:prstGeom prst="rect">
            <a:avLst/>
          </a:prstGeom>
          <a:noFill/>
          <a:ln/>
        </p:spPr>
        <p:txBody>
          <a:bodyPr wrap="square" lIns="0" tIns="0" rIns="0" bIns="0" rtlCol="0" anchor="ctr"/>
          <a:lstStyle/>
          <a:p>
            <a:pPr marL="0" indent="0">
              <a:buNone/>
            </a:pPr>
            <a:r>
              <a:rPr lang="en-US" sz="1400" b="1" dirty="0">
                <a:solidFill>
                  <a:srgbClr val="D7262E"/>
                </a:solidFill>
                <a:latin typeface="Arial" pitchFamily="34" charset="0"/>
                <a:ea typeface="Arial" pitchFamily="34" charset="-122"/>
                <a:cs typeface="Arial" pitchFamily="34" charset="-120"/>
              </a:rPr>
              <a:t>Our sandbox (lab copy)</a:t>
            </a:r>
            <a:endParaRPr lang="en-US" sz="1400" dirty="0"/>
          </a:p>
        </p:txBody>
      </p:sp>
      <p:sp>
        <p:nvSpPr>
          <p:cNvPr id="75" name="Shape 73"/>
          <p:cNvSpPr/>
          <p:nvPr/>
        </p:nvSpPr>
        <p:spPr>
          <a:xfrm>
            <a:off x="6793992" y="1664208"/>
            <a:ext cx="4480560" cy="512064"/>
          </a:xfrm>
          <a:prstGeom prst="roundRect">
            <a:avLst>
              <a:gd name="adj" fmla="val 14286"/>
            </a:avLst>
          </a:prstGeom>
          <a:solidFill>
            <a:srgbClr val="F5F6F8"/>
          </a:solidFill>
          <a:ln w="9525">
            <a:solidFill>
              <a:srgbClr val="D5DBE3"/>
            </a:solidFill>
            <a:prstDash val="solid"/>
          </a:ln>
        </p:spPr>
        <p:txBody>
          <a:bodyPr/>
          <a:lstStyle/>
          <a:p>
            <a:endParaRPr lang="LID4096"/>
          </a:p>
        </p:txBody>
      </p:sp>
      <p:sp>
        <p:nvSpPr>
          <p:cNvPr id="76" name="Shape 74"/>
          <p:cNvSpPr/>
          <p:nvPr/>
        </p:nvSpPr>
        <p:spPr>
          <a:xfrm>
            <a:off x="6903720" y="1773936"/>
            <a:ext cx="292608" cy="292608"/>
          </a:xfrm>
          <a:prstGeom prst="ellipse">
            <a:avLst/>
          </a:prstGeom>
          <a:solidFill>
            <a:srgbClr val="1F2A44"/>
          </a:solidFill>
          <a:ln w="12700">
            <a:solidFill>
              <a:srgbClr val="FFFFFF"/>
            </a:solidFill>
            <a:prstDash val="solid"/>
          </a:ln>
        </p:spPr>
        <p:txBody>
          <a:bodyPr/>
          <a:lstStyle/>
          <a:p>
            <a:endParaRPr lang="LID4096"/>
          </a:p>
        </p:txBody>
      </p:sp>
      <p:sp>
        <p:nvSpPr>
          <p:cNvPr id="77" name="Text 75"/>
          <p:cNvSpPr txBox="1"/>
          <p:nvPr/>
        </p:nvSpPr>
        <p:spPr>
          <a:xfrm>
            <a:off x="6903720" y="17739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8" name="Text 76"/>
          <p:cNvSpPr txBox="1"/>
          <p:nvPr/>
        </p:nvSpPr>
        <p:spPr>
          <a:xfrm>
            <a:off x="7342632" y="1664208"/>
            <a:ext cx="3840480" cy="512064"/>
          </a:xfrm>
          <a:prstGeom prst="rect">
            <a:avLst/>
          </a:prstGeom>
          <a:noFill/>
          <a:ln/>
        </p:spPr>
        <p:txBody>
          <a:bodyPr wrap="square" lIns="0" tIns="0" rIns="0" bIns="0" rtlCol="0" anchor="ctr"/>
          <a:lstStyle/>
          <a:p>
            <a:pPr marL="0" indent="0">
              <a:buNone/>
            </a:pPr>
            <a:r>
              <a:rPr lang="en-US" sz="1500" dirty="0">
                <a:solidFill>
                  <a:srgbClr val="1F2A44"/>
                </a:solidFill>
                <a:latin typeface="Arial" pitchFamily="34" charset="0"/>
                <a:ea typeface="Arial" pitchFamily="34" charset="-122"/>
                <a:cs typeface="Arial" pitchFamily="34" charset="-120"/>
              </a:rPr>
              <a:t>Same travel question</a:t>
            </a:r>
            <a:endParaRPr lang="en-US" sz="1500" dirty="0"/>
          </a:p>
        </p:txBody>
      </p:sp>
      <p:sp>
        <p:nvSpPr>
          <p:cNvPr id="79" name="Shape 77"/>
          <p:cNvSpPr/>
          <p:nvPr/>
        </p:nvSpPr>
        <p:spPr>
          <a:xfrm>
            <a:off x="6793992" y="2350008"/>
            <a:ext cx="4480560" cy="512064"/>
          </a:xfrm>
          <a:prstGeom prst="roundRect">
            <a:avLst>
              <a:gd name="adj" fmla="val 14286"/>
            </a:avLst>
          </a:prstGeom>
          <a:solidFill>
            <a:srgbClr val="F5F6F8"/>
          </a:solidFill>
          <a:ln w="9525">
            <a:solidFill>
              <a:srgbClr val="D5DBE3"/>
            </a:solidFill>
            <a:prstDash val="solid"/>
          </a:ln>
        </p:spPr>
        <p:txBody>
          <a:bodyPr/>
          <a:lstStyle/>
          <a:p>
            <a:endParaRPr lang="LID4096"/>
          </a:p>
        </p:txBody>
      </p:sp>
      <p:sp>
        <p:nvSpPr>
          <p:cNvPr id="80" name="Shape 78"/>
          <p:cNvSpPr/>
          <p:nvPr/>
        </p:nvSpPr>
        <p:spPr>
          <a:xfrm>
            <a:off x="6903720" y="2459736"/>
            <a:ext cx="292608" cy="292608"/>
          </a:xfrm>
          <a:prstGeom prst="ellipse">
            <a:avLst/>
          </a:prstGeom>
          <a:solidFill>
            <a:srgbClr val="1F2A44"/>
          </a:solidFill>
          <a:ln w="12700">
            <a:solidFill>
              <a:srgbClr val="FFFFFF"/>
            </a:solidFill>
            <a:prstDash val="solid"/>
          </a:ln>
        </p:spPr>
        <p:txBody>
          <a:bodyPr/>
          <a:lstStyle/>
          <a:p>
            <a:endParaRPr lang="LID4096"/>
          </a:p>
        </p:txBody>
      </p:sp>
      <p:sp>
        <p:nvSpPr>
          <p:cNvPr id="81" name="Text 79"/>
          <p:cNvSpPr txBox="1"/>
          <p:nvPr/>
        </p:nvSpPr>
        <p:spPr>
          <a:xfrm>
            <a:off x="6903720" y="24597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82" name="Text 80"/>
          <p:cNvSpPr txBox="1"/>
          <p:nvPr/>
        </p:nvSpPr>
        <p:spPr>
          <a:xfrm>
            <a:off x="7342632" y="2350008"/>
            <a:ext cx="3840480" cy="512064"/>
          </a:xfrm>
          <a:prstGeom prst="rect">
            <a:avLst/>
          </a:prstGeom>
          <a:noFill/>
          <a:ln/>
        </p:spPr>
        <p:txBody>
          <a:bodyPr wrap="square" lIns="0" tIns="0" rIns="0" bIns="0" rtlCol="0" anchor="ctr"/>
          <a:lstStyle/>
          <a:p>
            <a:pPr marL="0" indent="0">
              <a:buNone/>
            </a:pPr>
            <a:r>
              <a:rPr lang="en-US" sz="1500" dirty="0">
                <a:solidFill>
                  <a:srgbClr val="1F2A44"/>
                </a:solidFill>
                <a:latin typeface="Arial" pitchFamily="34" charset="0"/>
                <a:ea typeface="Arial" pitchFamily="34" charset="-122"/>
                <a:cs typeface="Arial" pitchFamily="34" charset="-120"/>
              </a:rPr>
              <a:t>Frozen copy of real search results</a:t>
            </a:r>
            <a:endParaRPr lang="en-US" sz="1500" dirty="0"/>
          </a:p>
        </p:txBody>
      </p:sp>
      <p:sp>
        <p:nvSpPr>
          <p:cNvPr id="83" name="Shape 81"/>
          <p:cNvSpPr/>
          <p:nvPr/>
        </p:nvSpPr>
        <p:spPr>
          <a:xfrm>
            <a:off x="6793992" y="3035808"/>
            <a:ext cx="4480560" cy="512064"/>
          </a:xfrm>
          <a:prstGeom prst="roundRect">
            <a:avLst>
              <a:gd name="adj" fmla="val 14286"/>
            </a:avLst>
          </a:prstGeom>
          <a:solidFill>
            <a:srgbClr val="F5F6F8"/>
          </a:solidFill>
          <a:ln w="9525">
            <a:solidFill>
              <a:srgbClr val="D5DBE3"/>
            </a:solidFill>
            <a:prstDash val="solid"/>
          </a:ln>
        </p:spPr>
        <p:txBody>
          <a:bodyPr/>
          <a:lstStyle/>
          <a:p>
            <a:endParaRPr lang="LID4096"/>
          </a:p>
        </p:txBody>
      </p:sp>
      <p:sp>
        <p:nvSpPr>
          <p:cNvPr id="84" name="Shape 82"/>
          <p:cNvSpPr/>
          <p:nvPr/>
        </p:nvSpPr>
        <p:spPr>
          <a:xfrm>
            <a:off x="6903720" y="3145536"/>
            <a:ext cx="292608" cy="292608"/>
          </a:xfrm>
          <a:prstGeom prst="ellipse">
            <a:avLst/>
          </a:prstGeom>
          <a:solidFill>
            <a:srgbClr val="1F2A44"/>
          </a:solidFill>
          <a:ln w="12700">
            <a:solidFill>
              <a:srgbClr val="FFFFFF"/>
            </a:solidFill>
            <a:prstDash val="solid"/>
          </a:ln>
        </p:spPr>
        <p:txBody>
          <a:bodyPr/>
          <a:lstStyle/>
          <a:p>
            <a:endParaRPr lang="LID4096"/>
          </a:p>
        </p:txBody>
      </p:sp>
      <p:sp>
        <p:nvSpPr>
          <p:cNvPr id="85" name="Text 83"/>
          <p:cNvSpPr txBox="1"/>
          <p:nvPr/>
        </p:nvSpPr>
        <p:spPr>
          <a:xfrm>
            <a:off x="6903720" y="31455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86" name="Text 84"/>
          <p:cNvSpPr txBox="1"/>
          <p:nvPr/>
        </p:nvSpPr>
        <p:spPr>
          <a:xfrm>
            <a:off x="7342632" y="3035808"/>
            <a:ext cx="3840480" cy="512064"/>
          </a:xfrm>
          <a:prstGeom prst="rect">
            <a:avLst/>
          </a:prstGeom>
          <a:noFill/>
          <a:ln/>
        </p:spPr>
        <p:txBody>
          <a:bodyPr wrap="square" lIns="0" tIns="0" rIns="0" bIns="0" rtlCol="0" anchor="ctr"/>
          <a:lstStyle/>
          <a:p>
            <a:pPr marL="0" indent="0">
              <a:buNone/>
            </a:pPr>
            <a:r>
              <a:rPr lang="en-US" sz="1500" dirty="0">
                <a:solidFill>
                  <a:srgbClr val="1F2A44"/>
                </a:solidFill>
                <a:latin typeface="Arial" pitchFamily="34" charset="0"/>
                <a:ea typeface="Arial" pitchFamily="34" charset="-122"/>
                <a:cs typeface="Arial" pitchFamily="34" charset="-120"/>
              </a:rPr>
              <a:t>Luna model (via OpenAI API)</a:t>
            </a:r>
            <a:endParaRPr lang="en-US" sz="1500" dirty="0"/>
          </a:p>
        </p:txBody>
      </p:sp>
      <p:sp>
        <p:nvSpPr>
          <p:cNvPr id="87" name="Shape 85"/>
          <p:cNvSpPr/>
          <p:nvPr/>
        </p:nvSpPr>
        <p:spPr>
          <a:xfrm>
            <a:off x="6793992" y="3721608"/>
            <a:ext cx="4480560" cy="512064"/>
          </a:xfrm>
          <a:prstGeom prst="roundRect">
            <a:avLst>
              <a:gd name="adj" fmla="val 14286"/>
            </a:avLst>
          </a:prstGeom>
          <a:solidFill>
            <a:srgbClr val="FCECEC"/>
          </a:solidFill>
          <a:ln w="19050">
            <a:solidFill>
              <a:srgbClr val="D7262E"/>
            </a:solidFill>
            <a:prstDash val="solid"/>
          </a:ln>
        </p:spPr>
        <p:txBody>
          <a:bodyPr/>
          <a:lstStyle/>
          <a:p>
            <a:endParaRPr lang="LID4096"/>
          </a:p>
        </p:txBody>
      </p:sp>
      <p:sp>
        <p:nvSpPr>
          <p:cNvPr id="88" name="Shape 86"/>
          <p:cNvSpPr/>
          <p:nvPr/>
        </p:nvSpPr>
        <p:spPr>
          <a:xfrm>
            <a:off x="6903720" y="3831336"/>
            <a:ext cx="292608" cy="292608"/>
          </a:xfrm>
          <a:prstGeom prst="ellipse">
            <a:avLst/>
          </a:prstGeom>
          <a:solidFill>
            <a:srgbClr val="D7262E"/>
          </a:solidFill>
          <a:ln w="12700">
            <a:solidFill>
              <a:srgbClr val="FFFFFF"/>
            </a:solidFill>
            <a:prstDash val="solid"/>
          </a:ln>
        </p:spPr>
        <p:txBody>
          <a:bodyPr/>
          <a:lstStyle/>
          <a:p>
            <a:endParaRPr lang="LID4096"/>
          </a:p>
        </p:txBody>
      </p:sp>
      <p:sp>
        <p:nvSpPr>
          <p:cNvPr id="89" name="Text 87"/>
          <p:cNvSpPr txBox="1"/>
          <p:nvPr/>
        </p:nvSpPr>
        <p:spPr>
          <a:xfrm>
            <a:off x="6903720" y="383133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90" name="Text 88"/>
          <p:cNvSpPr txBox="1"/>
          <p:nvPr/>
        </p:nvSpPr>
        <p:spPr>
          <a:xfrm>
            <a:off x="7342632" y="3721608"/>
            <a:ext cx="3840480" cy="512064"/>
          </a:xfrm>
          <a:prstGeom prst="rect">
            <a:avLst/>
          </a:prstGeom>
          <a:noFill/>
          <a:ln/>
        </p:spPr>
        <p:txBody>
          <a:bodyPr wrap="square" lIns="0" tIns="0" rIns="0" bIns="0" rtlCol="0" anchor="ctr"/>
          <a:lstStyle/>
          <a:p>
            <a:pPr marL="0" indent="0">
              <a:buNone/>
            </a:pPr>
            <a:r>
              <a:rPr lang="en-US" sz="1500" b="1" dirty="0">
                <a:solidFill>
                  <a:srgbClr val="D7262E"/>
                </a:solidFill>
                <a:latin typeface="Arial" pitchFamily="34" charset="0"/>
                <a:ea typeface="Arial" pitchFamily="34" charset="-122"/>
                <a:cs typeface="Arial" pitchFamily="34" charset="-120"/>
              </a:rPr>
              <a:t>Cites its sources: Flight Centre?</a:t>
            </a:r>
            <a:endParaRPr lang="en-US" sz="1500" dirty="0"/>
          </a:p>
        </p:txBody>
      </p:sp>
      <p:sp>
        <p:nvSpPr>
          <p:cNvPr id="91" name="Shape 89"/>
          <p:cNvSpPr/>
          <p:nvPr/>
        </p:nvSpPr>
        <p:spPr>
          <a:xfrm>
            <a:off x="914400" y="4946904"/>
            <a:ext cx="146304" cy="146304"/>
          </a:xfrm>
          <a:prstGeom prst="ellipse">
            <a:avLst/>
          </a:prstGeom>
          <a:solidFill>
            <a:srgbClr val="B8BFC8"/>
          </a:solidFill>
          <a:ln w="12700">
            <a:solidFill>
              <a:srgbClr val="FFFFFF"/>
            </a:solidFill>
            <a:prstDash val="solid"/>
          </a:ln>
        </p:spPr>
        <p:txBody>
          <a:bodyPr/>
          <a:lstStyle/>
          <a:p>
            <a:endParaRPr lang="LID4096"/>
          </a:p>
        </p:txBody>
      </p:sp>
      <p:sp>
        <p:nvSpPr>
          <p:cNvPr id="92" name="Text 90"/>
          <p:cNvSpPr txBox="1"/>
          <p:nvPr/>
        </p:nvSpPr>
        <p:spPr>
          <a:xfrm>
            <a:off x="1188720" y="4846320"/>
            <a:ext cx="4389120" cy="347472"/>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The web changes every day</a:t>
            </a:r>
            <a:endParaRPr lang="en-US" sz="1400" dirty="0"/>
          </a:p>
        </p:txBody>
      </p:sp>
      <p:sp>
        <p:nvSpPr>
          <p:cNvPr id="93" name="Shape 91"/>
          <p:cNvSpPr/>
          <p:nvPr/>
        </p:nvSpPr>
        <p:spPr>
          <a:xfrm>
            <a:off x="914400" y="5330952"/>
            <a:ext cx="146304" cy="146304"/>
          </a:xfrm>
          <a:prstGeom prst="ellipse">
            <a:avLst/>
          </a:prstGeom>
          <a:solidFill>
            <a:srgbClr val="B8BFC8"/>
          </a:solidFill>
          <a:ln w="12700">
            <a:solidFill>
              <a:srgbClr val="FFFFFF"/>
            </a:solidFill>
            <a:prstDash val="solid"/>
          </a:ln>
        </p:spPr>
        <p:txBody>
          <a:bodyPr/>
          <a:lstStyle/>
          <a:p>
            <a:endParaRPr lang="LID4096"/>
          </a:p>
        </p:txBody>
      </p:sp>
      <p:sp>
        <p:nvSpPr>
          <p:cNvPr id="94" name="Text 92"/>
          <p:cNvSpPr txBox="1"/>
          <p:nvPr/>
        </p:nvSpPr>
        <p:spPr>
          <a:xfrm>
            <a:off x="1188720" y="5230368"/>
            <a:ext cx="4389120" cy="347472"/>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We can’t see what it read</a:t>
            </a:r>
            <a:endParaRPr lang="en-US" sz="1400" dirty="0"/>
          </a:p>
        </p:txBody>
      </p:sp>
      <p:sp>
        <p:nvSpPr>
          <p:cNvPr id="95" name="Shape 93"/>
          <p:cNvSpPr/>
          <p:nvPr/>
        </p:nvSpPr>
        <p:spPr>
          <a:xfrm>
            <a:off x="914400" y="5715000"/>
            <a:ext cx="146304" cy="146304"/>
          </a:xfrm>
          <a:prstGeom prst="ellipse">
            <a:avLst/>
          </a:prstGeom>
          <a:solidFill>
            <a:srgbClr val="B8BFC8"/>
          </a:solidFill>
          <a:ln w="12700">
            <a:solidFill>
              <a:srgbClr val="FFFFFF"/>
            </a:solidFill>
            <a:prstDash val="solid"/>
          </a:ln>
        </p:spPr>
        <p:txBody>
          <a:bodyPr/>
          <a:lstStyle/>
          <a:p>
            <a:endParaRPr lang="LID4096"/>
          </a:p>
        </p:txBody>
      </p:sp>
      <p:sp>
        <p:nvSpPr>
          <p:cNvPr id="96" name="Text 94"/>
          <p:cNvSpPr txBox="1"/>
          <p:nvPr/>
        </p:nvSpPr>
        <p:spPr>
          <a:xfrm>
            <a:off x="1188720" y="5614416"/>
            <a:ext cx="4389120" cy="347472"/>
          </a:xfrm>
          <a:prstGeom prst="rect">
            <a:avLst/>
          </a:prstGeom>
          <a:noFill/>
          <a:ln/>
        </p:spPr>
        <p:txBody>
          <a:bodyPr wrap="square" lIns="0" tIns="0" rIns="0" bIns="0" rtlCol="0" anchor="ctr"/>
          <a:lstStyle/>
          <a:p>
            <a:pPr marL="0" indent="0">
              <a:buNone/>
            </a:pPr>
            <a:r>
              <a:rPr lang="en-US" sz="1400" dirty="0">
                <a:solidFill>
                  <a:srgbClr val="6B7280"/>
                </a:solidFill>
                <a:latin typeface="Arial" pitchFamily="34" charset="0"/>
                <a:ea typeface="Arial" pitchFamily="34" charset="-122"/>
                <a:cs typeface="Arial" pitchFamily="34" charset="-120"/>
              </a:rPr>
              <a:t>We can’t change Flight Centre’s page</a:t>
            </a:r>
            <a:endParaRPr lang="en-US" sz="1400" dirty="0"/>
          </a:p>
        </p:txBody>
      </p:sp>
      <p:sp>
        <p:nvSpPr>
          <p:cNvPr id="97" name="Shape 95"/>
          <p:cNvSpPr/>
          <p:nvPr/>
        </p:nvSpPr>
        <p:spPr>
          <a:xfrm>
            <a:off x="6793992" y="4946904"/>
            <a:ext cx="146304" cy="146304"/>
          </a:xfrm>
          <a:prstGeom prst="ellipse">
            <a:avLst/>
          </a:prstGeom>
          <a:solidFill>
            <a:srgbClr val="D7262E"/>
          </a:solidFill>
          <a:ln w="12700">
            <a:solidFill>
              <a:srgbClr val="FFFFFF"/>
            </a:solidFill>
            <a:prstDash val="solid"/>
          </a:ln>
        </p:spPr>
        <p:txBody>
          <a:bodyPr/>
          <a:lstStyle/>
          <a:p>
            <a:endParaRPr lang="LID4096"/>
          </a:p>
        </p:txBody>
      </p:sp>
      <p:sp>
        <p:nvSpPr>
          <p:cNvPr id="98" name="Text 96"/>
          <p:cNvSpPr txBox="1"/>
          <p:nvPr/>
        </p:nvSpPr>
        <p:spPr>
          <a:xfrm>
            <a:off x="7068312" y="4846320"/>
            <a:ext cx="4389120" cy="347472"/>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Pages never change</a:t>
            </a:r>
            <a:endParaRPr lang="en-US" sz="1400" dirty="0"/>
          </a:p>
        </p:txBody>
      </p:sp>
      <p:sp>
        <p:nvSpPr>
          <p:cNvPr id="99" name="Shape 97"/>
          <p:cNvSpPr/>
          <p:nvPr/>
        </p:nvSpPr>
        <p:spPr>
          <a:xfrm>
            <a:off x="6793992" y="5330952"/>
            <a:ext cx="146304" cy="146304"/>
          </a:xfrm>
          <a:prstGeom prst="ellipse">
            <a:avLst/>
          </a:prstGeom>
          <a:solidFill>
            <a:srgbClr val="D7262E"/>
          </a:solidFill>
          <a:ln w="12700">
            <a:solidFill>
              <a:srgbClr val="FFFFFF"/>
            </a:solidFill>
            <a:prstDash val="solid"/>
          </a:ln>
        </p:spPr>
        <p:txBody>
          <a:bodyPr/>
          <a:lstStyle/>
          <a:p>
            <a:endParaRPr lang="LID4096"/>
          </a:p>
        </p:txBody>
      </p:sp>
      <p:sp>
        <p:nvSpPr>
          <p:cNvPr id="100" name="Text 98"/>
          <p:cNvSpPr txBox="1"/>
          <p:nvPr/>
        </p:nvSpPr>
        <p:spPr>
          <a:xfrm>
            <a:off x="7068312" y="5230368"/>
            <a:ext cx="4389120" cy="347472"/>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We see every page it read</a:t>
            </a:r>
            <a:endParaRPr lang="en-US" sz="1400" dirty="0"/>
          </a:p>
        </p:txBody>
      </p:sp>
      <p:sp>
        <p:nvSpPr>
          <p:cNvPr id="101" name="Shape 99"/>
          <p:cNvSpPr/>
          <p:nvPr/>
        </p:nvSpPr>
        <p:spPr>
          <a:xfrm>
            <a:off x="6793992" y="5715000"/>
            <a:ext cx="146304" cy="146304"/>
          </a:xfrm>
          <a:prstGeom prst="ellipse">
            <a:avLst/>
          </a:prstGeom>
          <a:solidFill>
            <a:srgbClr val="D7262E"/>
          </a:solidFill>
          <a:ln w="12700">
            <a:solidFill>
              <a:srgbClr val="FFFFFF"/>
            </a:solidFill>
            <a:prstDash val="solid"/>
          </a:ln>
        </p:spPr>
        <p:txBody>
          <a:bodyPr/>
          <a:lstStyle/>
          <a:p>
            <a:endParaRPr lang="LID4096"/>
          </a:p>
        </p:txBody>
      </p:sp>
      <p:sp>
        <p:nvSpPr>
          <p:cNvPr id="102" name="Text 100"/>
          <p:cNvSpPr txBox="1"/>
          <p:nvPr/>
        </p:nvSpPr>
        <p:spPr>
          <a:xfrm>
            <a:off x="7068312" y="5614416"/>
            <a:ext cx="4389120" cy="347472"/>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Only Flight Centre’s page is swapped</a:t>
            </a:r>
            <a:endParaRPr lang="en-US" sz="1400" dirty="0"/>
          </a:p>
        </p:txBody>
      </p:sp>
      <p:sp>
        <p:nvSpPr>
          <p:cNvPr id="103" name="Shape 101"/>
          <p:cNvSpPr/>
          <p:nvPr/>
        </p:nvSpPr>
        <p:spPr>
          <a:xfrm>
            <a:off x="5815584" y="2528316"/>
            <a:ext cx="566928" cy="566928"/>
          </a:xfrm>
          <a:prstGeom prst="ellipse">
            <a:avLst/>
          </a:prstGeom>
          <a:solidFill>
            <a:srgbClr val="1F2A44"/>
          </a:solidFill>
          <a:ln w="25400">
            <a:solidFill>
              <a:srgbClr val="FFFFFF"/>
            </a:solidFill>
            <a:prstDash val="solid"/>
          </a:ln>
        </p:spPr>
        <p:txBody>
          <a:bodyPr/>
          <a:lstStyle/>
          <a:p>
            <a:endParaRPr lang="LID4096"/>
          </a:p>
        </p:txBody>
      </p:sp>
      <p:sp>
        <p:nvSpPr>
          <p:cNvPr id="104" name="Text 102"/>
          <p:cNvSpPr txBox="1"/>
          <p:nvPr/>
        </p:nvSpPr>
        <p:spPr>
          <a:xfrm>
            <a:off x="5815584" y="2528316"/>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vs</a:t>
            </a:r>
            <a:endParaRPr lang="en-US" sz="1600" dirty="0"/>
          </a:p>
        </p:txBody>
      </p:sp>
      <p:sp>
        <p:nvSpPr>
          <p:cNvPr id="105" name="Text 103"/>
          <p:cNvSpPr txBox="1"/>
          <p:nvPr/>
        </p:nvSpPr>
        <p:spPr>
          <a:xfrm>
            <a:off x="640080" y="6144768"/>
            <a:ext cx="10908792" cy="411480"/>
          </a:xfrm>
          <a:prstGeom prst="rect">
            <a:avLst/>
          </a:prstGeom>
          <a:noFill/>
          <a:ln/>
        </p:spPr>
        <p:txBody>
          <a:bodyPr wrap="square" lIns="0" tIns="0" rIns="0" bIns="0" rtlCol="0" anchor="ctr"/>
          <a:lstStyle/>
          <a:p>
            <a:pPr marL="0" indent="0" algn="ctr">
              <a:buNone/>
            </a:pPr>
            <a:r>
              <a:rPr lang="en-US" sz="1600" b="1" dirty="0">
                <a:solidFill>
                  <a:srgbClr val="D7262E"/>
                </a:solidFill>
                <a:latin typeface="Arial" pitchFamily="34" charset="0"/>
                <a:ea typeface="Arial" pitchFamily="34" charset="-122"/>
                <a:cs typeface="Arial" pitchFamily="34" charset="-120"/>
              </a:rPr>
              <a:t>Why: matched inputs improve comparison; historical controls and capture differences still limit causality.</a:t>
            </a:r>
            <a:endParaRPr lang="en-US" sz="1600" dirty="0"/>
          </a:p>
        </p:txBody>
      </p:sp>
      <p:sp>
        <p:nvSpPr>
          <p:cNvPr id="106" name="Text 104"/>
          <p:cNvSpPr txBox="1"/>
          <p:nvPr/>
        </p:nvSpPr>
        <p:spPr>
          <a:xfrm>
            <a:off x="10972800" y="6565392"/>
            <a:ext cx="1005840" cy="201168"/>
          </a:xfrm>
          <a:prstGeom prst="rect">
            <a:avLst/>
          </a:prstGeom>
          <a:noFill/>
          <a:ln/>
        </p:spPr>
        <p:txBody>
          <a:bodyPr wrap="square" lIns="0" tIns="0" rIns="0" bIns="0" rtlCol="0" anchor="ctr"/>
          <a:lstStyle/>
          <a:p>
            <a:pPr marL="0" indent="0" algn="r">
              <a:buNone/>
            </a:pPr>
            <a:r>
              <a:rPr lang="en-US" sz="800" dirty="0">
                <a:solidFill>
                  <a:srgbClr val="9AA3AE"/>
                </a:solidFill>
                <a:latin typeface="Arial" pitchFamily="34" charset="0"/>
                <a:ea typeface="Arial" pitchFamily="34" charset="-122"/>
                <a:cs typeface="Arial" pitchFamily="34" charset="-120"/>
              </a:rPr>
              <a:t>Option A</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54864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TECHNICAL DESIGN</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How the sandbox is built</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Six stages, each with its own tool. Every page and answer is saved.</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8" name="Shape 6"/>
          <p:cNvSpPr/>
          <p:nvPr/>
        </p:nvSpPr>
        <p:spPr>
          <a:xfrm>
            <a:off x="640080" y="1874520"/>
            <a:ext cx="1682496" cy="2377440"/>
          </a:xfrm>
          <a:prstGeom prst="roundRect">
            <a:avLst>
              <a:gd name="adj" fmla="val 6522"/>
            </a:avLst>
          </a:prstGeom>
          <a:solidFill>
            <a:srgbClr val="FFFFFF"/>
          </a:solidFill>
          <a:ln w="9525">
            <a:solidFill>
              <a:srgbClr val="DDE2E8"/>
            </a:solidFill>
            <a:prstDash val="solid"/>
          </a:ln>
          <a:effectLst>
            <a:outerShdw blurRad="127000" dist="38100" dir="5400000" algn="bl" rotWithShape="0">
              <a:srgbClr val="8E98A6">
                <a:alpha val="18000"/>
              </a:srgbClr>
            </a:outerShdw>
          </a:effectLst>
        </p:spPr>
        <p:txBody>
          <a:bodyPr/>
          <a:lstStyle/>
          <a:p>
            <a:endParaRPr lang="LID4096"/>
          </a:p>
        </p:txBody>
      </p:sp>
      <p:sp>
        <p:nvSpPr>
          <p:cNvPr id="9" name="Text 7"/>
          <p:cNvSpPr txBox="1"/>
          <p:nvPr/>
        </p:nvSpPr>
        <p:spPr>
          <a:xfrm>
            <a:off x="804672" y="2057400"/>
            <a:ext cx="548640" cy="292608"/>
          </a:xfrm>
          <a:prstGeom prst="rect">
            <a:avLst/>
          </a:prstGeom>
          <a:noFill/>
          <a:ln/>
        </p:spPr>
        <p:txBody>
          <a:bodyPr wrap="square" lIns="0" tIns="0" rIns="0" bIns="0" rtlCol="0" anchor="ctr"/>
          <a:lstStyle/>
          <a:p>
            <a:pPr marL="0" indent="0">
              <a:buNone/>
            </a:pPr>
            <a:r>
              <a:rPr lang="en-US" sz="1300" b="1" dirty="0">
                <a:solidFill>
                  <a:srgbClr val="9AA3AE"/>
                </a:solidFill>
                <a:latin typeface="Arial" pitchFamily="34" charset="0"/>
                <a:ea typeface="Arial" pitchFamily="34" charset="-122"/>
                <a:cs typeface="Arial" pitchFamily="34" charset="-120"/>
              </a:rPr>
              <a:t>01</a:t>
            </a:r>
            <a:endParaRPr lang="en-US" sz="1300" dirty="0"/>
          </a:p>
        </p:txBody>
      </p:sp>
      <p:sp>
        <p:nvSpPr>
          <p:cNvPr id="10" name="Text 8"/>
          <p:cNvSpPr txBox="1"/>
          <p:nvPr/>
        </p:nvSpPr>
        <p:spPr>
          <a:xfrm>
            <a:off x="804672" y="2377440"/>
            <a:ext cx="1353312" cy="548640"/>
          </a:xfrm>
          <a:prstGeom prst="rect">
            <a:avLst/>
          </a:prstGeom>
          <a:noFill/>
          <a:ln/>
        </p:spPr>
        <p:txBody>
          <a:bodyPr wrap="square" lIns="0" tIns="0" rIns="0" bIns="0" rtlCol="0" anchor="t"/>
          <a:lstStyle/>
          <a:p>
            <a:pPr marL="0" indent="0">
              <a:buNone/>
            </a:pPr>
            <a:r>
              <a:rPr lang="en-US" sz="1500" b="1" dirty="0">
                <a:solidFill>
                  <a:srgbClr val="1F2A44"/>
                </a:solidFill>
                <a:latin typeface="Arial" pitchFamily="34" charset="0"/>
                <a:ea typeface="Arial" pitchFamily="34" charset="-122"/>
                <a:cs typeface="Arial" pitchFamily="34" charset="-120"/>
              </a:rPr>
              <a:t>Search snapshot</a:t>
            </a:r>
            <a:endParaRPr lang="en-US" sz="1500" dirty="0"/>
          </a:p>
        </p:txBody>
      </p:sp>
      <p:sp>
        <p:nvSpPr>
          <p:cNvPr id="11" name="Shape 9"/>
          <p:cNvSpPr/>
          <p:nvPr/>
        </p:nvSpPr>
        <p:spPr>
          <a:xfrm>
            <a:off x="768096" y="2971800"/>
            <a:ext cx="1426464" cy="292608"/>
          </a:xfrm>
          <a:prstGeom prst="roundRect">
            <a:avLst>
              <a:gd name="adj" fmla="val 50000"/>
            </a:avLst>
          </a:prstGeom>
          <a:solidFill>
            <a:srgbClr val="1F2A44"/>
          </a:solidFill>
          <a:ln w="12700">
            <a:solidFill>
              <a:srgbClr val="FFFFFF"/>
            </a:solidFill>
            <a:prstDash val="solid"/>
          </a:ln>
        </p:spPr>
        <p:txBody>
          <a:bodyPr/>
          <a:lstStyle/>
          <a:p>
            <a:endParaRPr lang="LID4096"/>
          </a:p>
        </p:txBody>
      </p:sp>
      <p:sp>
        <p:nvSpPr>
          <p:cNvPr id="12" name="Text 10"/>
          <p:cNvSpPr txBox="1"/>
          <p:nvPr/>
        </p:nvSpPr>
        <p:spPr>
          <a:xfrm>
            <a:off x="768096" y="2971800"/>
            <a:ext cx="142646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Brave Search API</a:t>
            </a:r>
            <a:endParaRPr lang="en-US" sz="850" dirty="0"/>
          </a:p>
        </p:txBody>
      </p:sp>
      <p:sp>
        <p:nvSpPr>
          <p:cNvPr id="13" name="Text 11"/>
          <p:cNvSpPr txBox="1"/>
          <p:nvPr/>
        </p:nvSpPr>
        <p:spPr>
          <a:xfrm>
            <a:off x="804672" y="3383280"/>
            <a:ext cx="1353312" cy="73152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Real search results, frozen</a:t>
            </a:r>
            <a:endParaRPr lang="en-US" sz="1200" dirty="0"/>
          </a:p>
        </p:txBody>
      </p:sp>
      <p:sp>
        <p:nvSpPr>
          <p:cNvPr id="14" name="Shape 12"/>
          <p:cNvSpPr/>
          <p:nvPr/>
        </p:nvSpPr>
        <p:spPr>
          <a:xfrm rot="5400000">
            <a:off x="2345436" y="3003804"/>
            <a:ext cx="109728" cy="118872"/>
          </a:xfrm>
          <a:prstGeom prst="triangle">
            <a:avLst/>
          </a:prstGeom>
          <a:solidFill>
            <a:srgbClr val="AEB6C2"/>
          </a:solidFill>
          <a:ln w="12700">
            <a:solidFill>
              <a:srgbClr val="AEB6C2"/>
            </a:solidFill>
            <a:prstDash val="solid"/>
          </a:ln>
        </p:spPr>
        <p:txBody>
          <a:bodyPr/>
          <a:lstStyle/>
          <a:p>
            <a:endParaRPr lang="LID4096"/>
          </a:p>
        </p:txBody>
      </p:sp>
      <p:sp>
        <p:nvSpPr>
          <p:cNvPr id="15" name="Shape 13"/>
          <p:cNvSpPr/>
          <p:nvPr/>
        </p:nvSpPr>
        <p:spPr>
          <a:xfrm>
            <a:off x="2485339" y="1874520"/>
            <a:ext cx="1682496" cy="2377440"/>
          </a:xfrm>
          <a:prstGeom prst="roundRect">
            <a:avLst>
              <a:gd name="adj" fmla="val 6522"/>
            </a:avLst>
          </a:prstGeom>
          <a:solidFill>
            <a:srgbClr val="FFFFFF"/>
          </a:solidFill>
          <a:ln w="9525">
            <a:solidFill>
              <a:srgbClr val="DDE2E8"/>
            </a:solidFill>
            <a:prstDash val="solid"/>
          </a:ln>
          <a:effectLst>
            <a:outerShdw blurRad="127000" dist="38100" dir="5400000" algn="bl" rotWithShape="0">
              <a:srgbClr val="8E98A6">
                <a:alpha val="18000"/>
              </a:srgbClr>
            </a:outerShdw>
          </a:effectLst>
        </p:spPr>
        <p:txBody>
          <a:bodyPr/>
          <a:lstStyle/>
          <a:p>
            <a:endParaRPr lang="LID4096"/>
          </a:p>
        </p:txBody>
      </p:sp>
      <p:sp>
        <p:nvSpPr>
          <p:cNvPr id="16" name="Text 14"/>
          <p:cNvSpPr txBox="1"/>
          <p:nvPr/>
        </p:nvSpPr>
        <p:spPr>
          <a:xfrm>
            <a:off x="2649931" y="2057400"/>
            <a:ext cx="548640" cy="292608"/>
          </a:xfrm>
          <a:prstGeom prst="rect">
            <a:avLst/>
          </a:prstGeom>
          <a:noFill/>
          <a:ln/>
        </p:spPr>
        <p:txBody>
          <a:bodyPr wrap="square" lIns="0" tIns="0" rIns="0" bIns="0" rtlCol="0" anchor="ctr"/>
          <a:lstStyle/>
          <a:p>
            <a:pPr marL="0" indent="0">
              <a:buNone/>
            </a:pPr>
            <a:r>
              <a:rPr lang="en-US" sz="1300" b="1" dirty="0">
                <a:solidFill>
                  <a:srgbClr val="9AA3AE"/>
                </a:solidFill>
                <a:latin typeface="Arial" pitchFamily="34" charset="0"/>
                <a:ea typeface="Arial" pitchFamily="34" charset="-122"/>
                <a:cs typeface="Arial" pitchFamily="34" charset="-120"/>
              </a:rPr>
              <a:t>02</a:t>
            </a:r>
            <a:endParaRPr lang="en-US" sz="1300" dirty="0"/>
          </a:p>
        </p:txBody>
      </p:sp>
      <p:sp>
        <p:nvSpPr>
          <p:cNvPr id="17" name="Text 15"/>
          <p:cNvSpPr txBox="1"/>
          <p:nvPr/>
        </p:nvSpPr>
        <p:spPr>
          <a:xfrm>
            <a:off x="2649931" y="2377440"/>
            <a:ext cx="1353312" cy="548640"/>
          </a:xfrm>
          <a:prstGeom prst="rect">
            <a:avLst/>
          </a:prstGeom>
          <a:noFill/>
          <a:ln/>
        </p:spPr>
        <p:txBody>
          <a:bodyPr wrap="square" lIns="0" tIns="0" rIns="0" bIns="0" rtlCol="0" anchor="t"/>
          <a:lstStyle/>
          <a:p>
            <a:pPr marL="0" indent="0">
              <a:buNone/>
            </a:pPr>
            <a:r>
              <a:rPr lang="en-US" sz="1500" b="1" dirty="0">
                <a:solidFill>
                  <a:srgbClr val="1F2A44"/>
                </a:solidFill>
                <a:latin typeface="Arial" pitchFamily="34" charset="0"/>
                <a:ea typeface="Arial" pitchFamily="34" charset="-122"/>
                <a:cs typeface="Arial" pitchFamily="34" charset="-120"/>
              </a:rPr>
              <a:t>Capture &amp; clean</a:t>
            </a:r>
            <a:endParaRPr lang="en-US" sz="1500" dirty="0"/>
          </a:p>
        </p:txBody>
      </p:sp>
      <p:sp>
        <p:nvSpPr>
          <p:cNvPr id="18" name="Shape 16"/>
          <p:cNvSpPr/>
          <p:nvPr/>
        </p:nvSpPr>
        <p:spPr>
          <a:xfrm>
            <a:off x="2613355" y="2971800"/>
            <a:ext cx="1426464" cy="292608"/>
          </a:xfrm>
          <a:prstGeom prst="roundRect">
            <a:avLst>
              <a:gd name="adj" fmla="val 50000"/>
            </a:avLst>
          </a:prstGeom>
          <a:solidFill>
            <a:srgbClr val="1F2A44"/>
          </a:solidFill>
          <a:ln w="12700">
            <a:solidFill>
              <a:srgbClr val="FFFFFF"/>
            </a:solidFill>
            <a:prstDash val="solid"/>
          </a:ln>
        </p:spPr>
        <p:txBody>
          <a:bodyPr/>
          <a:lstStyle/>
          <a:p>
            <a:endParaRPr lang="LID4096"/>
          </a:p>
        </p:txBody>
      </p:sp>
      <p:sp>
        <p:nvSpPr>
          <p:cNvPr id="19" name="Text 17"/>
          <p:cNvSpPr txBox="1"/>
          <p:nvPr/>
        </p:nvSpPr>
        <p:spPr>
          <a:xfrm>
            <a:off x="2613355" y="2971800"/>
            <a:ext cx="142646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Python · BeautifulSoup</a:t>
            </a:r>
            <a:endParaRPr lang="en-US" sz="850" dirty="0"/>
          </a:p>
        </p:txBody>
      </p:sp>
      <p:sp>
        <p:nvSpPr>
          <p:cNvPr id="20" name="Text 18"/>
          <p:cNvSpPr txBox="1"/>
          <p:nvPr/>
        </p:nvSpPr>
        <p:spPr>
          <a:xfrm>
            <a:off x="2649931" y="3383280"/>
            <a:ext cx="1353312" cy="73152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Pages turned into plain text</a:t>
            </a:r>
            <a:endParaRPr lang="en-US" sz="1200" dirty="0"/>
          </a:p>
        </p:txBody>
      </p:sp>
      <p:sp>
        <p:nvSpPr>
          <p:cNvPr id="21" name="Shape 19"/>
          <p:cNvSpPr/>
          <p:nvPr/>
        </p:nvSpPr>
        <p:spPr>
          <a:xfrm rot="5400000">
            <a:off x="4190695" y="3003804"/>
            <a:ext cx="109728" cy="118872"/>
          </a:xfrm>
          <a:prstGeom prst="triangle">
            <a:avLst/>
          </a:prstGeom>
          <a:solidFill>
            <a:srgbClr val="AEB6C2"/>
          </a:solidFill>
          <a:ln w="12700">
            <a:solidFill>
              <a:srgbClr val="AEB6C2"/>
            </a:solidFill>
            <a:prstDash val="solid"/>
          </a:ln>
        </p:spPr>
        <p:txBody>
          <a:bodyPr/>
          <a:lstStyle/>
          <a:p>
            <a:endParaRPr lang="LID4096"/>
          </a:p>
        </p:txBody>
      </p:sp>
      <p:sp>
        <p:nvSpPr>
          <p:cNvPr id="22" name="Shape 20"/>
          <p:cNvSpPr/>
          <p:nvPr/>
        </p:nvSpPr>
        <p:spPr>
          <a:xfrm>
            <a:off x="4330598" y="1874520"/>
            <a:ext cx="1682496" cy="2377440"/>
          </a:xfrm>
          <a:prstGeom prst="roundRect">
            <a:avLst>
              <a:gd name="adj" fmla="val 6522"/>
            </a:avLst>
          </a:prstGeom>
          <a:solidFill>
            <a:srgbClr val="FDEDED"/>
          </a:solidFill>
          <a:ln w="19050">
            <a:solidFill>
              <a:srgbClr val="D7262E"/>
            </a:solidFill>
            <a:prstDash val="solid"/>
          </a:ln>
          <a:effectLst>
            <a:outerShdw blurRad="127000" dist="38100" dir="5400000" algn="bl" rotWithShape="0">
              <a:srgbClr val="8E98A6">
                <a:alpha val="18000"/>
              </a:srgbClr>
            </a:outerShdw>
          </a:effectLst>
        </p:spPr>
        <p:txBody>
          <a:bodyPr/>
          <a:lstStyle/>
          <a:p>
            <a:endParaRPr lang="LID4096"/>
          </a:p>
        </p:txBody>
      </p:sp>
      <p:sp>
        <p:nvSpPr>
          <p:cNvPr id="23" name="Text 21"/>
          <p:cNvSpPr txBox="1"/>
          <p:nvPr/>
        </p:nvSpPr>
        <p:spPr>
          <a:xfrm>
            <a:off x="4495190" y="2057400"/>
            <a:ext cx="548640" cy="292608"/>
          </a:xfrm>
          <a:prstGeom prst="rect">
            <a:avLst/>
          </a:prstGeom>
          <a:noFill/>
          <a:ln/>
        </p:spPr>
        <p:txBody>
          <a:bodyPr wrap="square" lIns="0" tIns="0" rIns="0" bIns="0" rtlCol="0" anchor="ctr"/>
          <a:lstStyle/>
          <a:p>
            <a:pPr marL="0" indent="0">
              <a:buNone/>
            </a:pPr>
            <a:r>
              <a:rPr lang="en-US" sz="1300" b="1" dirty="0">
                <a:solidFill>
                  <a:srgbClr val="D7262E"/>
                </a:solidFill>
                <a:latin typeface="Arial" pitchFamily="34" charset="0"/>
                <a:ea typeface="Arial" pitchFamily="34" charset="-122"/>
                <a:cs typeface="Arial" pitchFamily="34" charset="-120"/>
              </a:rPr>
              <a:t>03</a:t>
            </a:r>
            <a:endParaRPr lang="en-US" sz="1300" dirty="0"/>
          </a:p>
        </p:txBody>
      </p:sp>
      <p:sp>
        <p:nvSpPr>
          <p:cNvPr id="24" name="Text 22"/>
          <p:cNvSpPr txBox="1"/>
          <p:nvPr/>
        </p:nvSpPr>
        <p:spPr>
          <a:xfrm>
            <a:off x="4495190" y="2377440"/>
            <a:ext cx="1353312" cy="548640"/>
          </a:xfrm>
          <a:prstGeom prst="rect">
            <a:avLst/>
          </a:prstGeom>
          <a:noFill/>
          <a:ln/>
        </p:spPr>
        <p:txBody>
          <a:bodyPr wrap="square" lIns="0" tIns="0" rIns="0" bIns="0" rtlCol="0" anchor="t"/>
          <a:lstStyle/>
          <a:p>
            <a:pPr marL="0" indent="0">
              <a:buNone/>
            </a:pPr>
            <a:r>
              <a:rPr lang="en-US" sz="1500" b="1" dirty="0">
                <a:solidFill>
                  <a:srgbClr val="D7262E"/>
                </a:solidFill>
                <a:latin typeface="Arial" pitchFamily="34" charset="0"/>
                <a:ea typeface="Arial" pitchFamily="34" charset="-122"/>
                <a:cs typeface="Arial" pitchFamily="34" charset="-120"/>
              </a:rPr>
              <a:t>Page changes</a:t>
            </a:r>
            <a:endParaRPr lang="en-US" sz="1500" dirty="0"/>
          </a:p>
        </p:txBody>
      </p:sp>
      <p:sp>
        <p:nvSpPr>
          <p:cNvPr id="25" name="Shape 23"/>
          <p:cNvSpPr/>
          <p:nvPr/>
        </p:nvSpPr>
        <p:spPr>
          <a:xfrm>
            <a:off x="4458614" y="2971800"/>
            <a:ext cx="1426464" cy="292608"/>
          </a:xfrm>
          <a:prstGeom prst="roundRect">
            <a:avLst>
              <a:gd name="adj" fmla="val 50000"/>
            </a:avLst>
          </a:prstGeom>
          <a:solidFill>
            <a:srgbClr val="D7262E"/>
          </a:solidFill>
          <a:ln w="12700">
            <a:solidFill>
              <a:srgbClr val="FFFFFF"/>
            </a:solidFill>
            <a:prstDash val="solid"/>
          </a:ln>
        </p:spPr>
        <p:txBody>
          <a:bodyPr/>
          <a:lstStyle/>
          <a:p>
            <a:endParaRPr lang="LID4096"/>
          </a:p>
        </p:txBody>
      </p:sp>
      <p:sp>
        <p:nvSpPr>
          <p:cNvPr id="26" name="Text 24"/>
          <p:cNvSpPr txBox="1"/>
          <p:nvPr/>
        </p:nvSpPr>
        <p:spPr>
          <a:xfrm>
            <a:off x="4458614" y="2971800"/>
            <a:ext cx="142646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Our transformation code</a:t>
            </a:r>
            <a:endParaRPr lang="en-US" sz="850" dirty="0"/>
          </a:p>
        </p:txBody>
      </p:sp>
      <p:sp>
        <p:nvSpPr>
          <p:cNvPr id="27" name="Text 25"/>
          <p:cNvSpPr txBox="1"/>
          <p:nvPr/>
        </p:nvSpPr>
        <p:spPr>
          <a:xfrm>
            <a:off x="4495190" y="3383280"/>
            <a:ext cx="1353312" cy="73152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Improved Flight Centre pages only</a:t>
            </a:r>
            <a:endParaRPr lang="en-US" sz="1200" dirty="0"/>
          </a:p>
        </p:txBody>
      </p:sp>
      <p:sp>
        <p:nvSpPr>
          <p:cNvPr id="28" name="Shape 26"/>
          <p:cNvSpPr/>
          <p:nvPr/>
        </p:nvSpPr>
        <p:spPr>
          <a:xfrm rot="5400000">
            <a:off x="6035954" y="3003804"/>
            <a:ext cx="109728" cy="118872"/>
          </a:xfrm>
          <a:prstGeom prst="triangle">
            <a:avLst/>
          </a:prstGeom>
          <a:solidFill>
            <a:srgbClr val="AEB6C2"/>
          </a:solidFill>
          <a:ln w="12700">
            <a:solidFill>
              <a:srgbClr val="AEB6C2"/>
            </a:solidFill>
            <a:prstDash val="solid"/>
          </a:ln>
        </p:spPr>
        <p:txBody>
          <a:bodyPr/>
          <a:lstStyle/>
          <a:p>
            <a:endParaRPr lang="LID4096"/>
          </a:p>
        </p:txBody>
      </p:sp>
      <p:sp>
        <p:nvSpPr>
          <p:cNvPr id="29" name="Shape 27"/>
          <p:cNvSpPr/>
          <p:nvPr/>
        </p:nvSpPr>
        <p:spPr>
          <a:xfrm>
            <a:off x="6175858" y="1874520"/>
            <a:ext cx="1682496" cy="2377440"/>
          </a:xfrm>
          <a:prstGeom prst="roundRect">
            <a:avLst>
              <a:gd name="adj" fmla="val 6522"/>
            </a:avLst>
          </a:prstGeom>
          <a:solidFill>
            <a:srgbClr val="FFFFFF"/>
          </a:solidFill>
          <a:ln w="9525">
            <a:solidFill>
              <a:srgbClr val="DDE2E8"/>
            </a:solidFill>
            <a:prstDash val="solid"/>
          </a:ln>
          <a:effectLst>
            <a:outerShdw blurRad="127000" dist="38100" dir="5400000" algn="bl" rotWithShape="0">
              <a:srgbClr val="8E98A6">
                <a:alpha val="18000"/>
              </a:srgbClr>
            </a:outerShdw>
          </a:effectLst>
        </p:spPr>
        <p:txBody>
          <a:bodyPr/>
          <a:lstStyle/>
          <a:p>
            <a:endParaRPr lang="LID4096"/>
          </a:p>
        </p:txBody>
      </p:sp>
      <p:sp>
        <p:nvSpPr>
          <p:cNvPr id="30" name="Text 28"/>
          <p:cNvSpPr txBox="1"/>
          <p:nvPr/>
        </p:nvSpPr>
        <p:spPr>
          <a:xfrm>
            <a:off x="6340450" y="2057400"/>
            <a:ext cx="548640" cy="292608"/>
          </a:xfrm>
          <a:prstGeom prst="rect">
            <a:avLst/>
          </a:prstGeom>
          <a:noFill/>
          <a:ln/>
        </p:spPr>
        <p:txBody>
          <a:bodyPr wrap="square" lIns="0" tIns="0" rIns="0" bIns="0" rtlCol="0" anchor="ctr"/>
          <a:lstStyle/>
          <a:p>
            <a:pPr marL="0" indent="0">
              <a:buNone/>
            </a:pPr>
            <a:r>
              <a:rPr lang="en-US" sz="1300" b="1" dirty="0">
                <a:solidFill>
                  <a:srgbClr val="9AA3AE"/>
                </a:solidFill>
                <a:latin typeface="Arial" pitchFamily="34" charset="0"/>
                <a:ea typeface="Arial" pitchFamily="34" charset="-122"/>
                <a:cs typeface="Arial" pitchFamily="34" charset="-120"/>
              </a:rPr>
              <a:t>04</a:t>
            </a:r>
            <a:endParaRPr lang="en-US" sz="1300" dirty="0"/>
          </a:p>
        </p:txBody>
      </p:sp>
      <p:sp>
        <p:nvSpPr>
          <p:cNvPr id="31" name="Text 29"/>
          <p:cNvSpPr txBox="1"/>
          <p:nvPr/>
        </p:nvSpPr>
        <p:spPr>
          <a:xfrm>
            <a:off x="6340450" y="2377440"/>
            <a:ext cx="1353312" cy="548640"/>
          </a:xfrm>
          <a:prstGeom prst="rect">
            <a:avLst/>
          </a:prstGeom>
          <a:noFill/>
          <a:ln/>
        </p:spPr>
        <p:txBody>
          <a:bodyPr wrap="square" lIns="0" tIns="0" rIns="0" bIns="0" rtlCol="0" anchor="t"/>
          <a:lstStyle/>
          <a:p>
            <a:pPr marL="0" indent="0">
              <a:buNone/>
            </a:pPr>
            <a:r>
              <a:rPr lang="en-US" sz="1500" b="1" dirty="0">
                <a:solidFill>
                  <a:srgbClr val="1F2A44"/>
                </a:solidFill>
                <a:latin typeface="Arial" pitchFamily="34" charset="0"/>
                <a:ea typeface="Arial" pitchFamily="34" charset="-122"/>
                <a:cs typeface="Arial" pitchFamily="34" charset="-120"/>
              </a:rPr>
              <a:t>Source pack</a:t>
            </a:r>
            <a:endParaRPr lang="en-US" sz="1500" dirty="0"/>
          </a:p>
        </p:txBody>
      </p:sp>
      <p:sp>
        <p:nvSpPr>
          <p:cNvPr id="32" name="Shape 30"/>
          <p:cNvSpPr/>
          <p:nvPr/>
        </p:nvSpPr>
        <p:spPr>
          <a:xfrm>
            <a:off x="6303874" y="2971800"/>
            <a:ext cx="1426464" cy="292608"/>
          </a:xfrm>
          <a:prstGeom prst="roundRect">
            <a:avLst>
              <a:gd name="adj" fmla="val 50000"/>
            </a:avLst>
          </a:prstGeom>
          <a:solidFill>
            <a:srgbClr val="1F2A44"/>
          </a:solidFill>
          <a:ln w="12700">
            <a:solidFill>
              <a:srgbClr val="FFFFFF"/>
            </a:solidFill>
            <a:prstDash val="solid"/>
          </a:ln>
        </p:spPr>
        <p:txBody>
          <a:bodyPr/>
          <a:lstStyle/>
          <a:p>
            <a:endParaRPr lang="LID4096"/>
          </a:p>
        </p:txBody>
      </p:sp>
      <p:sp>
        <p:nvSpPr>
          <p:cNvPr id="33" name="Text 31"/>
          <p:cNvSpPr txBox="1"/>
          <p:nvPr/>
        </p:nvSpPr>
        <p:spPr>
          <a:xfrm>
            <a:off x="6303874" y="2971800"/>
            <a:ext cx="142646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Experiment runner</a:t>
            </a:r>
            <a:endParaRPr lang="en-US" sz="850" dirty="0"/>
          </a:p>
        </p:txBody>
      </p:sp>
      <p:sp>
        <p:nvSpPr>
          <p:cNvPr id="34" name="Text 32"/>
          <p:cNvSpPr txBox="1"/>
          <p:nvPr/>
        </p:nvSpPr>
        <p:spPr>
          <a:xfrm>
            <a:off x="6340450" y="3383280"/>
            <a:ext cx="1353312" cy="73152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5–10 numbered pages per question</a:t>
            </a:r>
            <a:endParaRPr lang="en-US" sz="1200" dirty="0"/>
          </a:p>
        </p:txBody>
      </p:sp>
      <p:sp>
        <p:nvSpPr>
          <p:cNvPr id="35" name="Shape 33"/>
          <p:cNvSpPr/>
          <p:nvPr/>
        </p:nvSpPr>
        <p:spPr>
          <a:xfrm rot="5400000">
            <a:off x="7881214" y="3003804"/>
            <a:ext cx="109728" cy="118872"/>
          </a:xfrm>
          <a:prstGeom prst="triangle">
            <a:avLst/>
          </a:prstGeom>
          <a:solidFill>
            <a:srgbClr val="AEB6C2"/>
          </a:solidFill>
          <a:ln w="12700">
            <a:solidFill>
              <a:srgbClr val="AEB6C2"/>
            </a:solidFill>
            <a:prstDash val="solid"/>
          </a:ln>
        </p:spPr>
        <p:txBody>
          <a:bodyPr/>
          <a:lstStyle/>
          <a:p>
            <a:endParaRPr lang="LID4096"/>
          </a:p>
        </p:txBody>
      </p:sp>
      <p:sp>
        <p:nvSpPr>
          <p:cNvPr id="36" name="Shape 34"/>
          <p:cNvSpPr/>
          <p:nvPr/>
        </p:nvSpPr>
        <p:spPr>
          <a:xfrm>
            <a:off x="8021117" y="1874520"/>
            <a:ext cx="1682496" cy="2377440"/>
          </a:xfrm>
          <a:prstGeom prst="roundRect">
            <a:avLst>
              <a:gd name="adj" fmla="val 6522"/>
            </a:avLst>
          </a:prstGeom>
          <a:solidFill>
            <a:srgbClr val="FFFFFF"/>
          </a:solidFill>
          <a:ln w="9525">
            <a:solidFill>
              <a:srgbClr val="DDE2E8"/>
            </a:solidFill>
            <a:prstDash val="solid"/>
          </a:ln>
          <a:effectLst>
            <a:outerShdw blurRad="127000" dist="38100" dir="5400000" algn="bl" rotWithShape="0">
              <a:srgbClr val="8E98A6">
                <a:alpha val="18000"/>
              </a:srgbClr>
            </a:outerShdw>
          </a:effectLst>
        </p:spPr>
        <p:txBody>
          <a:bodyPr/>
          <a:lstStyle/>
          <a:p>
            <a:endParaRPr lang="LID4096"/>
          </a:p>
        </p:txBody>
      </p:sp>
      <p:sp>
        <p:nvSpPr>
          <p:cNvPr id="37" name="Text 35"/>
          <p:cNvSpPr txBox="1"/>
          <p:nvPr/>
        </p:nvSpPr>
        <p:spPr>
          <a:xfrm>
            <a:off x="8185709" y="2057400"/>
            <a:ext cx="548640" cy="292608"/>
          </a:xfrm>
          <a:prstGeom prst="rect">
            <a:avLst/>
          </a:prstGeom>
          <a:noFill/>
          <a:ln/>
        </p:spPr>
        <p:txBody>
          <a:bodyPr wrap="square" lIns="0" tIns="0" rIns="0" bIns="0" rtlCol="0" anchor="ctr"/>
          <a:lstStyle/>
          <a:p>
            <a:pPr marL="0" indent="0">
              <a:buNone/>
            </a:pPr>
            <a:r>
              <a:rPr lang="en-US" sz="1300" b="1" dirty="0">
                <a:solidFill>
                  <a:srgbClr val="9AA3AE"/>
                </a:solidFill>
                <a:latin typeface="Arial" pitchFamily="34" charset="0"/>
                <a:ea typeface="Arial" pitchFamily="34" charset="-122"/>
                <a:cs typeface="Arial" pitchFamily="34" charset="-120"/>
              </a:rPr>
              <a:t>05</a:t>
            </a:r>
            <a:endParaRPr lang="en-US" sz="1300" dirty="0"/>
          </a:p>
        </p:txBody>
      </p:sp>
      <p:sp>
        <p:nvSpPr>
          <p:cNvPr id="38" name="Text 36"/>
          <p:cNvSpPr txBox="1"/>
          <p:nvPr/>
        </p:nvSpPr>
        <p:spPr>
          <a:xfrm>
            <a:off x="8185709" y="2377440"/>
            <a:ext cx="1353312" cy="548640"/>
          </a:xfrm>
          <a:prstGeom prst="rect">
            <a:avLst/>
          </a:prstGeom>
          <a:noFill/>
          <a:ln/>
        </p:spPr>
        <p:txBody>
          <a:bodyPr wrap="square" lIns="0" tIns="0" rIns="0" bIns="0" rtlCol="0" anchor="t"/>
          <a:lstStyle/>
          <a:p>
            <a:pPr marL="0" indent="0">
              <a:buNone/>
            </a:pPr>
            <a:r>
              <a:rPr lang="en-US" sz="1500" b="1" dirty="0">
                <a:solidFill>
                  <a:srgbClr val="1F2A44"/>
                </a:solidFill>
                <a:latin typeface="Arial" pitchFamily="34" charset="0"/>
                <a:ea typeface="Arial" pitchFamily="34" charset="-122"/>
                <a:cs typeface="Arial" pitchFamily="34" charset="-120"/>
              </a:rPr>
              <a:t>Answer engine</a:t>
            </a:r>
            <a:endParaRPr lang="en-US" sz="1500" dirty="0"/>
          </a:p>
        </p:txBody>
      </p:sp>
      <p:sp>
        <p:nvSpPr>
          <p:cNvPr id="39" name="Shape 37"/>
          <p:cNvSpPr/>
          <p:nvPr/>
        </p:nvSpPr>
        <p:spPr>
          <a:xfrm>
            <a:off x="8149133" y="2971800"/>
            <a:ext cx="1426464" cy="292608"/>
          </a:xfrm>
          <a:prstGeom prst="roundRect">
            <a:avLst>
              <a:gd name="adj" fmla="val 50000"/>
            </a:avLst>
          </a:prstGeom>
          <a:solidFill>
            <a:srgbClr val="1F2A44"/>
          </a:solidFill>
          <a:ln w="12700">
            <a:solidFill>
              <a:srgbClr val="FFFFFF"/>
            </a:solidFill>
            <a:prstDash val="solid"/>
          </a:ln>
        </p:spPr>
        <p:txBody>
          <a:bodyPr/>
          <a:lstStyle/>
          <a:p>
            <a:endParaRPr lang="LID4096"/>
          </a:p>
        </p:txBody>
      </p:sp>
      <p:sp>
        <p:nvSpPr>
          <p:cNvPr id="40" name="Text 38"/>
          <p:cNvSpPr txBox="1"/>
          <p:nvPr/>
        </p:nvSpPr>
        <p:spPr>
          <a:xfrm>
            <a:off x="8149133" y="2971800"/>
            <a:ext cx="142646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OpenAI API · gpt-5.6-luna</a:t>
            </a:r>
            <a:endParaRPr lang="en-US" sz="850" dirty="0"/>
          </a:p>
        </p:txBody>
      </p:sp>
      <p:sp>
        <p:nvSpPr>
          <p:cNvPr id="41" name="Text 39"/>
          <p:cNvSpPr txBox="1"/>
          <p:nvPr/>
        </p:nvSpPr>
        <p:spPr>
          <a:xfrm>
            <a:off x="8185709" y="3383280"/>
            <a:ext cx="1353312" cy="73152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Writes an answer citing [n]</a:t>
            </a:r>
            <a:endParaRPr lang="en-US" sz="1200" dirty="0"/>
          </a:p>
        </p:txBody>
      </p:sp>
      <p:sp>
        <p:nvSpPr>
          <p:cNvPr id="42" name="Shape 40"/>
          <p:cNvSpPr/>
          <p:nvPr/>
        </p:nvSpPr>
        <p:spPr>
          <a:xfrm rot="5400000">
            <a:off x="9726473" y="3003804"/>
            <a:ext cx="109728" cy="118872"/>
          </a:xfrm>
          <a:prstGeom prst="triangle">
            <a:avLst/>
          </a:prstGeom>
          <a:solidFill>
            <a:srgbClr val="AEB6C2"/>
          </a:solidFill>
          <a:ln w="12700">
            <a:solidFill>
              <a:srgbClr val="AEB6C2"/>
            </a:solidFill>
            <a:prstDash val="solid"/>
          </a:ln>
        </p:spPr>
        <p:txBody>
          <a:bodyPr/>
          <a:lstStyle/>
          <a:p>
            <a:endParaRPr lang="LID4096"/>
          </a:p>
        </p:txBody>
      </p:sp>
      <p:sp>
        <p:nvSpPr>
          <p:cNvPr id="43" name="Shape 41"/>
          <p:cNvSpPr/>
          <p:nvPr/>
        </p:nvSpPr>
        <p:spPr>
          <a:xfrm>
            <a:off x="9866376" y="1874520"/>
            <a:ext cx="1682496" cy="2377440"/>
          </a:xfrm>
          <a:prstGeom prst="roundRect">
            <a:avLst>
              <a:gd name="adj" fmla="val 6522"/>
            </a:avLst>
          </a:prstGeom>
          <a:solidFill>
            <a:srgbClr val="FFFFFF"/>
          </a:solidFill>
          <a:ln w="9525">
            <a:solidFill>
              <a:srgbClr val="DDE2E8"/>
            </a:solidFill>
            <a:prstDash val="solid"/>
          </a:ln>
          <a:effectLst>
            <a:outerShdw blurRad="127000" dist="38100" dir="5400000" algn="bl" rotWithShape="0">
              <a:srgbClr val="8E98A6">
                <a:alpha val="18000"/>
              </a:srgbClr>
            </a:outerShdw>
          </a:effectLst>
        </p:spPr>
        <p:txBody>
          <a:bodyPr/>
          <a:lstStyle/>
          <a:p>
            <a:endParaRPr lang="LID4096"/>
          </a:p>
        </p:txBody>
      </p:sp>
      <p:sp>
        <p:nvSpPr>
          <p:cNvPr id="44" name="Text 42"/>
          <p:cNvSpPr txBox="1"/>
          <p:nvPr/>
        </p:nvSpPr>
        <p:spPr>
          <a:xfrm>
            <a:off x="10030968" y="2057400"/>
            <a:ext cx="548640" cy="292608"/>
          </a:xfrm>
          <a:prstGeom prst="rect">
            <a:avLst/>
          </a:prstGeom>
          <a:noFill/>
          <a:ln/>
        </p:spPr>
        <p:txBody>
          <a:bodyPr wrap="square" lIns="0" tIns="0" rIns="0" bIns="0" rtlCol="0" anchor="ctr"/>
          <a:lstStyle/>
          <a:p>
            <a:pPr marL="0" indent="0">
              <a:buNone/>
            </a:pPr>
            <a:r>
              <a:rPr lang="en-US" sz="1300" b="1" dirty="0">
                <a:solidFill>
                  <a:srgbClr val="9AA3AE"/>
                </a:solidFill>
                <a:latin typeface="Arial" pitchFamily="34" charset="0"/>
                <a:ea typeface="Arial" pitchFamily="34" charset="-122"/>
                <a:cs typeface="Arial" pitchFamily="34" charset="-120"/>
              </a:rPr>
              <a:t>06</a:t>
            </a:r>
            <a:endParaRPr lang="en-US" sz="1300" dirty="0"/>
          </a:p>
        </p:txBody>
      </p:sp>
      <p:sp>
        <p:nvSpPr>
          <p:cNvPr id="45" name="Text 43"/>
          <p:cNvSpPr txBox="1"/>
          <p:nvPr/>
        </p:nvSpPr>
        <p:spPr>
          <a:xfrm>
            <a:off x="10030968" y="2377440"/>
            <a:ext cx="1353312" cy="548640"/>
          </a:xfrm>
          <a:prstGeom prst="rect">
            <a:avLst/>
          </a:prstGeom>
          <a:noFill/>
          <a:ln/>
        </p:spPr>
        <p:txBody>
          <a:bodyPr wrap="square" lIns="0" tIns="0" rIns="0" bIns="0" rtlCol="0" anchor="t"/>
          <a:lstStyle/>
          <a:p>
            <a:pPr marL="0" indent="0">
              <a:buNone/>
            </a:pPr>
            <a:r>
              <a:rPr lang="en-US" sz="1500" b="1" dirty="0">
                <a:solidFill>
                  <a:srgbClr val="1F2A44"/>
                </a:solidFill>
                <a:latin typeface="Arial" pitchFamily="34" charset="0"/>
                <a:ea typeface="Arial" pitchFamily="34" charset="-122"/>
                <a:cs typeface="Arial" pitchFamily="34" charset="-120"/>
              </a:rPr>
              <a:t>Citation check</a:t>
            </a:r>
            <a:endParaRPr lang="en-US" sz="1500" dirty="0"/>
          </a:p>
        </p:txBody>
      </p:sp>
      <p:sp>
        <p:nvSpPr>
          <p:cNvPr id="46" name="Shape 44"/>
          <p:cNvSpPr/>
          <p:nvPr/>
        </p:nvSpPr>
        <p:spPr>
          <a:xfrm>
            <a:off x="9994392" y="2971800"/>
            <a:ext cx="1426464" cy="292608"/>
          </a:xfrm>
          <a:prstGeom prst="roundRect">
            <a:avLst>
              <a:gd name="adj" fmla="val 50000"/>
            </a:avLst>
          </a:prstGeom>
          <a:solidFill>
            <a:srgbClr val="1F2A44"/>
          </a:solidFill>
          <a:ln w="12700">
            <a:solidFill>
              <a:srgbClr val="FFFFFF"/>
            </a:solidFill>
            <a:prstDash val="solid"/>
          </a:ln>
        </p:spPr>
        <p:txBody>
          <a:bodyPr/>
          <a:lstStyle/>
          <a:p>
            <a:endParaRPr lang="LID4096"/>
          </a:p>
        </p:txBody>
      </p:sp>
      <p:sp>
        <p:nvSpPr>
          <p:cNvPr id="47" name="Text 45"/>
          <p:cNvSpPr txBox="1"/>
          <p:nvPr/>
        </p:nvSpPr>
        <p:spPr>
          <a:xfrm>
            <a:off x="9994392" y="2971800"/>
            <a:ext cx="1426464"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Evaluation scripts</a:t>
            </a:r>
            <a:endParaRPr lang="en-US" sz="850" dirty="0"/>
          </a:p>
        </p:txBody>
      </p:sp>
      <p:sp>
        <p:nvSpPr>
          <p:cNvPr id="48" name="Text 46"/>
          <p:cNvSpPr txBox="1"/>
          <p:nvPr/>
        </p:nvSpPr>
        <p:spPr>
          <a:xfrm>
            <a:off x="10030968" y="3383280"/>
            <a:ext cx="1353312" cy="73152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Did any [n] point to Flight Centre?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DCE0F3-4611-81EC-1AA5-AC181E627FF6}"/>
              </a:ext>
            </a:extLst>
          </p:cNvPr>
          <p:cNvPicPr>
            <a:picLocks noChangeAspect="1"/>
          </p:cNvPicPr>
          <p:nvPr/>
        </p:nvPicPr>
        <p:blipFill>
          <a:blip r:embed="rId2"/>
          <a:stretch>
            <a:fillRect/>
          </a:stretch>
        </p:blipFill>
        <p:spPr>
          <a:xfrm>
            <a:off x="0" y="16749"/>
            <a:ext cx="12192000" cy="6804837"/>
          </a:xfrm>
          <a:prstGeom prst="rect">
            <a:avLst/>
          </a:prstGeom>
        </p:spPr>
      </p:pic>
      <p:pic>
        <p:nvPicPr>
          <p:cNvPr id="3" name="Picture 2">
            <a:extLst>
              <a:ext uri="{FF2B5EF4-FFF2-40B4-BE49-F238E27FC236}">
                <a16:creationId xmlns:a16="http://schemas.microsoft.com/office/drawing/2014/main" id="{BF08378D-6F7A-76C0-55CB-EDBC062F5D98}"/>
              </a:ext>
            </a:extLst>
          </p:cNvPr>
          <p:cNvPicPr>
            <a:picLocks noChangeAspect="1"/>
          </p:cNvPicPr>
          <p:nvPr/>
        </p:nvPicPr>
        <p:blipFill>
          <a:blip r:embed="rId3"/>
          <a:stretch>
            <a:fillRect/>
          </a:stretch>
        </p:blipFill>
        <p:spPr>
          <a:xfrm>
            <a:off x="0" y="26581"/>
            <a:ext cx="12192000" cy="6804837"/>
          </a:xfrm>
          <a:prstGeom prst="rect">
            <a:avLst/>
          </a:prstGeom>
        </p:spPr>
      </p:pic>
      <p:sp>
        <p:nvSpPr>
          <p:cNvPr id="2" name="TextBox 1">
            <a:extLst>
              <a:ext uri="{FF2B5EF4-FFF2-40B4-BE49-F238E27FC236}">
                <a16:creationId xmlns:a16="http://schemas.microsoft.com/office/drawing/2014/main" id="{64C17365-B2B6-FE77-8CC2-A2627B4F4B8C}"/>
              </a:ext>
            </a:extLst>
          </p:cNvPr>
          <p:cNvSpPr txBox="1"/>
          <p:nvPr/>
        </p:nvSpPr>
        <p:spPr>
          <a:xfrm>
            <a:off x="571500" y="1206499"/>
            <a:ext cx="11049000" cy="762000"/>
          </a:xfrm>
          <a:prstGeom prst="rect">
            <a:avLst/>
          </a:prstGeom>
          <a:solidFill>
            <a:srgbClr val="FFFFFF"/>
          </a:solidFill>
        </p:spPr>
        <p:txBody>
          <a:bodyPr vert="horz" rtlCol="0">
            <a:spAutoFit/>
          </a:bodyPr>
          <a:lstStyle/>
          <a:p>
            <a:r>
              <a:rPr lang="en-US" sz="1700">
                <a:latin typeface="Arial" panose="020B0604020202020204" pitchFamily="34" charset="0"/>
              </a:rPr>
              <a:t>Here we illustrate the selected stack: making saved FC information readable and useful. External facts were tested separately and were not included in this stack.</a:t>
            </a:r>
          </a:p>
        </p:txBody>
      </p:sp>
    </p:spTree>
    <p:extLst>
      <p:ext uri="{BB962C8B-B14F-4D97-AF65-F5344CB8AC3E}">
        <p14:creationId xmlns:p14="http://schemas.microsoft.com/office/powerpoint/2010/main" val="2691537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0"/>
            <a:ext cx="0" cy="6858000"/>
          </a:xfrm>
          <a:prstGeom prst="line">
            <a:avLst/>
          </a:prstGeom>
          <a:noFill/>
          <a:ln w="6350">
            <a:solidFill>
              <a:srgbClr val="E1E6EC"/>
            </a:solidFill>
            <a:prstDash val="solid"/>
          </a:ln>
        </p:spPr>
        <p:txBody>
          <a:bodyPr/>
          <a:lstStyle/>
          <a:p>
            <a:endParaRPr lang="LID4096"/>
          </a:p>
        </p:txBody>
      </p:sp>
      <p:sp>
        <p:nvSpPr>
          <p:cNvPr id="3" name="Shape 1"/>
          <p:cNvSpPr/>
          <p:nvPr/>
        </p:nvSpPr>
        <p:spPr>
          <a:xfrm>
            <a:off x="914400" y="0"/>
            <a:ext cx="0" cy="6858000"/>
          </a:xfrm>
          <a:prstGeom prst="line">
            <a:avLst/>
          </a:prstGeom>
          <a:noFill/>
          <a:ln w="6350">
            <a:solidFill>
              <a:srgbClr val="E1E6EC"/>
            </a:solidFill>
            <a:prstDash val="solid"/>
          </a:ln>
        </p:spPr>
        <p:txBody>
          <a:bodyPr/>
          <a:lstStyle/>
          <a:p>
            <a:endParaRPr lang="LID4096"/>
          </a:p>
        </p:txBody>
      </p:sp>
      <p:sp>
        <p:nvSpPr>
          <p:cNvPr id="4" name="Shape 2"/>
          <p:cNvSpPr/>
          <p:nvPr/>
        </p:nvSpPr>
        <p:spPr>
          <a:xfrm>
            <a:off x="1371600" y="0"/>
            <a:ext cx="0" cy="6858000"/>
          </a:xfrm>
          <a:prstGeom prst="line">
            <a:avLst/>
          </a:prstGeom>
          <a:noFill/>
          <a:ln w="6350">
            <a:solidFill>
              <a:srgbClr val="E1E6EC"/>
            </a:solidFill>
            <a:prstDash val="solid"/>
          </a:ln>
        </p:spPr>
        <p:txBody>
          <a:bodyPr/>
          <a:lstStyle/>
          <a:p>
            <a:endParaRPr lang="LID4096"/>
          </a:p>
        </p:txBody>
      </p:sp>
      <p:sp>
        <p:nvSpPr>
          <p:cNvPr id="5" name="Shape 3"/>
          <p:cNvSpPr/>
          <p:nvPr/>
        </p:nvSpPr>
        <p:spPr>
          <a:xfrm>
            <a:off x="1828800" y="0"/>
            <a:ext cx="0" cy="6858000"/>
          </a:xfrm>
          <a:prstGeom prst="line">
            <a:avLst/>
          </a:prstGeom>
          <a:noFill/>
          <a:ln w="6350">
            <a:solidFill>
              <a:srgbClr val="E1E6EC"/>
            </a:solidFill>
            <a:prstDash val="solid"/>
          </a:ln>
        </p:spPr>
        <p:txBody>
          <a:bodyPr/>
          <a:lstStyle/>
          <a:p>
            <a:endParaRPr lang="LID4096"/>
          </a:p>
        </p:txBody>
      </p:sp>
      <p:sp>
        <p:nvSpPr>
          <p:cNvPr id="6" name="Shape 4"/>
          <p:cNvSpPr/>
          <p:nvPr/>
        </p:nvSpPr>
        <p:spPr>
          <a:xfrm>
            <a:off x="2286000" y="0"/>
            <a:ext cx="0" cy="6858000"/>
          </a:xfrm>
          <a:prstGeom prst="line">
            <a:avLst/>
          </a:prstGeom>
          <a:noFill/>
          <a:ln w="6350">
            <a:solidFill>
              <a:srgbClr val="E1E6EC"/>
            </a:solidFill>
            <a:prstDash val="solid"/>
          </a:ln>
        </p:spPr>
        <p:txBody>
          <a:bodyPr/>
          <a:lstStyle/>
          <a:p>
            <a:endParaRPr lang="LID4096"/>
          </a:p>
        </p:txBody>
      </p:sp>
      <p:sp>
        <p:nvSpPr>
          <p:cNvPr id="7" name="Shape 5"/>
          <p:cNvSpPr/>
          <p:nvPr/>
        </p:nvSpPr>
        <p:spPr>
          <a:xfrm>
            <a:off x="2743200" y="0"/>
            <a:ext cx="0" cy="6858000"/>
          </a:xfrm>
          <a:prstGeom prst="line">
            <a:avLst/>
          </a:prstGeom>
          <a:noFill/>
          <a:ln w="6350">
            <a:solidFill>
              <a:srgbClr val="E1E6EC"/>
            </a:solidFill>
            <a:prstDash val="solid"/>
          </a:ln>
        </p:spPr>
        <p:txBody>
          <a:bodyPr/>
          <a:lstStyle/>
          <a:p>
            <a:endParaRPr lang="LID4096"/>
          </a:p>
        </p:txBody>
      </p:sp>
      <p:sp>
        <p:nvSpPr>
          <p:cNvPr id="8" name="Shape 6"/>
          <p:cNvSpPr/>
          <p:nvPr/>
        </p:nvSpPr>
        <p:spPr>
          <a:xfrm>
            <a:off x="3200400" y="0"/>
            <a:ext cx="0" cy="6858000"/>
          </a:xfrm>
          <a:prstGeom prst="line">
            <a:avLst/>
          </a:prstGeom>
          <a:noFill/>
          <a:ln w="6350">
            <a:solidFill>
              <a:srgbClr val="E1E6EC"/>
            </a:solidFill>
            <a:prstDash val="solid"/>
          </a:ln>
        </p:spPr>
        <p:txBody>
          <a:bodyPr/>
          <a:lstStyle/>
          <a:p>
            <a:endParaRPr lang="LID4096"/>
          </a:p>
        </p:txBody>
      </p:sp>
      <p:sp>
        <p:nvSpPr>
          <p:cNvPr id="9" name="Shape 7"/>
          <p:cNvSpPr/>
          <p:nvPr/>
        </p:nvSpPr>
        <p:spPr>
          <a:xfrm>
            <a:off x="3657600" y="0"/>
            <a:ext cx="0" cy="6858000"/>
          </a:xfrm>
          <a:prstGeom prst="line">
            <a:avLst/>
          </a:prstGeom>
          <a:noFill/>
          <a:ln w="6350">
            <a:solidFill>
              <a:srgbClr val="E1E6EC"/>
            </a:solidFill>
            <a:prstDash val="solid"/>
          </a:ln>
        </p:spPr>
        <p:txBody>
          <a:bodyPr/>
          <a:lstStyle/>
          <a:p>
            <a:endParaRPr lang="LID4096"/>
          </a:p>
        </p:txBody>
      </p:sp>
      <p:sp>
        <p:nvSpPr>
          <p:cNvPr id="10" name="Shape 8"/>
          <p:cNvSpPr/>
          <p:nvPr/>
        </p:nvSpPr>
        <p:spPr>
          <a:xfrm>
            <a:off x="4114800" y="0"/>
            <a:ext cx="0" cy="6858000"/>
          </a:xfrm>
          <a:prstGeom prst="line">
            <a:avLst/>
          </a:prstGeom>
          <a:noFill/>
          <a:ln w="6350">
            <a:solidFill>
              <a:srgbClr val="E1E6EC"/>
            </a:solidFill>
            <a:prstDash val="solid"/>
          </a:ln>
        </p:spPr>
        <p:txBody>
          <a:bodyPr/>
          <a:lstStyle/>
          <a:p>
            <a:endParaRPr lang="LID4096"/>
          </a:p>
        </p:txBody>
      </p:sp>
      <p:sp>
        <p:nvSpPr>
          <p:cNvPr id="11" name="Shape 9"/>
          <p:cNvSpPr/>
          <p:nvPr/>
        </p:nvSpPr>
        <p:spPr>
          <a:xfrm>
            <a:off x="4572000" y="0"/>
            <a:ext cx="0" cy="6858000"/>
          </a:xfrm>
          <a:prstGeom prst="line">
            <a:avLst/>
          </a:prstGeom>
          <a:noFill/>
          <a:ln w="6350">
            <a:solidFill>
              <a:srgbClr val="E1E6EC"/>
            </a:solidFill>
            <a:prstDash val="solid"/>
          </a:ln>
        </p:spPr>
        <p:txBody>
          <a:bodyPr/>
          <a:lstStyle/>
          <a:p>
            <a:endParaRPr lang="LID4096"/>
          </a:p>
        </p:txBody>
      </p:sp>
      <p:sp>
        <p:nvSpPr>
          <p:cNvPr id="12" name="Shape 10"/>
          <p:cNvSpPr/>
          <p:nvPr/>
        </p:nvSpPr>
        <p:spPr>
          <a:xfrm>
            <a:off x="5029200" y="0"/>
            <a:ext cx="0" cy="6858000"/>
          </a:xfrm>
          <a:prstGeom prst="line">
            <a:avLst/>
          </a:prstGeom>
          <a:noFill/>
          <a:ln w="6350">
            <a:solidFill>
              <a:srgbClr val="E1E6EC"/>
            </a:solidFill>
            <a:prstDash val="solid"/>
          </a:ln>
        </p:spPr>
        <p:txBody>
          <a:bodyPr/>
          <a:lstStyle/>
          <a:p>
            <a:endParaRPr lang="LID4096"/>
          </a:p>
        </p:txBody>
      </p:sp>
      <p:sp>
        <p:nvSpPr>
          <p:cNvPr id="13" name="Shape 11"/>
          <p:cNvSpPr/>
          <p:nvPr/>
        </p:nvSpPr>
        <p:spPr>
          <a:xfrm>
            <a:off x="5486400" y="0"/>
            <a:ext cx="0" cy="6858000"/>
          </a:xfrm>
          <a:prstGeom prst="line">
            <a:avLst/>
          </a:prstGeom>
          <a:noFill/>
          <a:ln w="6350">
            <a:solidFill>
              <a:srgbClr val="E1E6EC"/>
            </a:solidFill>
            <a:prstDash val="solid"/>
          </a:ln>
        </p:spPr>
        <p:txBody>
          <a:bodyPr/>
          <a:lstStyle/>
          <a:p>
            <a:endParaRPr lang="LID4096"/>
          </a:p>
        </p:txBody>
      </p:sp>
      <p:sp>
        <p:nvSpPr>
          <p:cNvPr id="14" name="Shape 12"/>
          <p:cNvSpPr/>
          <p:nvPr/>
        </p:nvSpPr>
        <p:spPr>
          <a:xfrm>
            <a:off x="5943600" y="0"/>
            <a:ext cx="0" cy="6858000"/>
          </a:xfrm>
          <a:prstGeom prst="line">
            <a:avLst/>
          </a:prstGeom>
          <a:noFill/>
          <a:ln w="6350">
            <a:solidFill>
              <a:srgbClr val="E1E6EC"/>
            </a:solidFill>
            <a:prstDash val="solid"/>
          </a:ln>
        </p:spPr>
        <p:txBody>
          <a:bodyPr/>
          <a:lstStyle/>
          <a:p>
            <a:endParaRPr lang="LID4096"/>
          </a:p>
        </p:txBody>
      </p:sp>
      <p:sp>
        <p:nvSpPr>
          <p:cNvPr id="15" name="Shape 13"/>
          <p:cNvSpPr/>
          <p:nvPr/>
        </p:nvSpPr>
        <p:spPr>
          <a:xfrm>
            <a:off x="6400800" y="0"/>
            <a:ext cx="0" cy="6858000"/>
          </a:xfrm>
          <a:prstGeom prst="line">
            <a:avLst/>
          </a:prstGeom>
          <a:noFill/>
          <a:ln w="6350">
            <a:solidFill>
              <a:srgbClr val="E1E6EC"/>
            </a:solidFill>
            <a:prstDash val="solid"/>
          </a:ln>
        </p:spPr>
        <p:txBody>
          <a:bodyPr/>
          <a:lstStyle/>
          <a:p>
            <a:endParaRPr lang="LID4096"/>
          </a:p>
        </p:txBody>
      </p:sp>
      <p:sp>
        <p:nvSpPr>
          <p:cNvPr id="16" name="Shape 14"/>
          <p:cNvSpPr/>
          <p:nvPr/>
        </p:nvSpPr>
        <p:spPr>
          <a:xfrm>
            <a:off x="6858000" y="0"/>
            <a:ext cx="0" cy="6858000"/>
          </a:xfrm>
          <a:prstGeom prst="line">
            <a:avLst/>
          </a:prstGeom>
          <a:noFill/>
          <a:ln w="6350">
            <a:solidFill>
              <a:srgbClr val="E1E6EC"/>
            </a:solidFill>
            <a:prstDash val="solid"/>
          </a:ln>
        </p:spPr>
        <p:txBody>
          <a:bodyPr/>
          <a:lstStyle/>
          <a:p>
            <a:endParaRPr lang="LID4096"/>
          </a:p>
        </p:txBody>
      </p:sp>
      <p:sp>
        <p:nvSpPr>
          <p:cNvPr id="17" name="Shape 15"/>
          <p:cNvSpPr/>
          <p:nvPr/>
        </p:nvSpPr>
        <p:spPr>
          <a:xfrm>
            <a:off x="7315200" y="0"/>
            <a:ext cx="0" cy="6858000"/>
          </a:xfrm>
          <a:prstGeom prst="line">
            <a:avLst/>
          </a:prstGeom>
          <a:noFill/>
          <a:ln w="6350">
            <a:solidFill>
              <a:srgbClr val="E1E6EC"/>
            </a:solidFill>
            <a:prstDash val="solid"/>
          </a:ln>
        </p:spPr>
        <p:txBody>
          <a:bodyPr/>
          <a:lstStyle/>
          <a:p>
            <a:endParaRPr lang="LID4096"/>
          </a:p>
        </p:txBody>
      </p:sp>
      <p:sp>
        <p:nvSpPr>
          <p:cNvPr id="18" name="Shape 16"/>
          <p:cNvSpPr/>
          <p:nvPr/>
        </p:nvSpPr>
        <p:spPr>
          <a:xfrm>
            <a:off x="7772400" y="0"/>
            <a:ext cx="0" cy="6858000"/>
          </a:xfrm>
          <a:prstGeom prst="line">
            <a:avLst/>
          </a:prstGeom>
          <a:noFill/>
          <a:ln w="6350">
            <a:solidFill>
              <a:srgbClr val="E1E6EC"/>
            </a:solidFill>
            <a:prstDash val="solid"/>
          </a:ln>
        </p:spPr>
        <p:txBody>
          <a:bodyPr/>
          <a:lstStyle/>
          <a:p>
            <a:endParaRPr lang="LID4096"/>
          </a:p>
        </p:txBody>
      </p:sp>
      <p:sp>
        <p:nvSpPr>
          <p:cNvPr id="19" name="Shape 17"/>
          <p:cNvSpPr/>
          <p:nvPr/>
        </p:nvSpPr>
        <p:spPr>
          <a:xfrm>
            <a:off x="8229600" y="0"/>
            <a:ext cx="0" cy="6858000"/>
          </a:xfrm>
          <a:prstGeom prst="line">
            <a:avLst/>
          </a:prstGeom>
          <a:noFill/>
          <a:ln w="6350">
            <a:solidFill>
              <a:srgbClr val="E1E6EC"/>
            </a:solidFill>
            <a:prstDash val="solid"/>
          </a:ln>
        </p:spPr>
        <p:txBody>
          <a:bodyPr/>
          <a:lstStyle/>
          <a:p>
            <a:endParaRPr lang="LID4096"/>
          </a:p>
        </p:txBody>
      </p:sp>
      <p:sp>
        <p:nvSpPr>
          <p:cNvPr id="20" name="Shape 18"/>
          <p:cNvSpPr/>
          <p:nvPr/>
        </p:nvSpPr>
        <p:spPr>
          <a:xfrm>
            <a:off x="8686800" y="0"/>
            <a:ext cx="0" cy="6858000"/>
          </a:xfrm>
          <a:prstGeom prst="line">
            <a:avLst/>
          </a:prstGeom>
          <a:noFill/>
          <a:ln w="6350">
            <a:solidFill>
              <a:srgbClr val="E1E6EC"/>
            </a:solidFill>
            <a:prstDash val="solid"/>
          </a:ln>
        </p:spPr>
        <p:txBody>
          <a:bodyPr/>
          <a:lstStyle/>
          <a:p>
            <a:endParaRPr lang="LID4096"/>
          </a:p>
        </p:txBody>
      </p:sp>
      <p:sp>
        <p:nvSpPr>
          <p:cNvPr id="21" name="Shape 19"/>
          <p:cNvSpPr/>
          <p:nvPr/>
        </p:nvSpPr>
        <p:spPr>
          <a:xfrm>
            <a:off x="9144000" y="0"/>
            <a:ext cx="0" cy="6858000"/>
          </a:xfrm>
          <a:prstGeom prst="line">
            <a:avLst/>
          </a:prstGeom>
          <a:noFill/>
          <a:ln w="6350">
            <a:solidFill>
              <a:srgbClr val="E1E6EC"/>
            </a:solidFill>
            <a:prstDash val="solid"/>
          </a:ln>
        </p:spPr>
        <p:txBody>
          <a:bodyPr/>
          <a:lstStyle/>
          <a:p>
            <a:endParaRPr lang="LID4096"/>
          </a:p>
        </p:txBody>
      </p:sp>
      <p:sp>
        <p:nvSpPr>
          <p:cNvPr id="22" name="Shape 20"/>
          <p:cNvSpPr/>
          <p:nvPr/>
        </p:nvSpPr>
        <p:spPr>
          <a:xfrm>
            <a:off x="9601200" y="0"/>
            <a:ext cx="0" cy="6858000"/>
          </a:xfrm>
          <a:prstGeom prst="line">
            <a:avLst/>
          </a:prstGeom>
          <a:noFill/>
          <a:ln w="6350">
            <a:solidFill>
              <a:srgbClr val="E1E6EC"/>
            </a:solidFill>
            <a:prstDash val="solid"/>
          </a:ln>
        </p:spPr>
        <p:txBody>
          <a:bodyPr/>
          <a:lstStyle/>
          <a:p>
            <a:endParaRPr lang="LID4096"/>
          </a:p>
        </p:txBody>
      </p:sp>
      <p:sp>
        <p:nvSpPr>
          <p:cNvPr id="23" name="Shape 21"/>
          <p:cNvSpPr/>
          <p:nvPr/>
        </p:nvSpPr>
        <p:spPr>
          <a:xfrm>
            <a:off x="10058400" y="0"/>
            <a:ext cx="0" cy="6858000"/>
          </a:xfrm>
          <a:prstGeom prst="line">
            <a:avLst/>
          </a:prstGeom>
          <a:noFill/>
          <a:ln w="6350">
            <a:solidFill>
              <a:srgbClr val="E1E6EC"/>
            </a:solidFill>
            <a:prstDash val="solid"/>
          </a:ln>
        </p:spPr>
        <p:txBody>
          <a:bodyPr/>
          <a:lstStyle/>
          <a:p>
            <a:endParaRPr lang="LID4096"/>
          </a:p>
        </p:txBody>
      </p:sp>
      <p:sp>
        <p:nvSpPr>
          <p:cNvPr id="24" name="Shape 22"/>
          <p:cNvSpPr/>
          <p:nvPr/>
        </p:nvSpPr>
        <p:spPr>
          <a:xfrm>
            <a:off x="10515600" y="0"/>
            <a:ext cx="0" cy="6858000"/>
          </a:xfrm>
          <a:prstGeom prst="line">
            <a:avLst/>
          </a:prstGeom>
          <a:noFill/>
          <a:ln w="6350">
            <a:solidFill>
              <a:srgbClr val="E1E6EC"/>
            </a:solidFill>
            <a:prstDash val="solid"/>
          </a:ln>
        </p:spPr>
        <p:txBody>
          <a:bodyPr/>
          <a:lstStyle/>
          <a:p>
            <a:endParaRPr lang="LID4096"/>
          </a:p>
        </p:txBody>
      </p:sp>
      <p:sp>
        <p:nvSpPr>
          <p:cNvPr id="25" name="Shape 23"/>
          <p:cNvSpPr/>
          <p:nvPr/>
        </p:nvSpPr>
        <p:spPr>
          <a:xfrm>
            <a:off x="10972800" y="0"/>
            <a:ext cx="0" cy="6858000"/>
          </a:xfrm>
          <a:prstGeom prst="line">
            <a:avLst/>
          </a:prstGeom>
          <a:noFill/>
          <a:ln w="6350">
            <a:solidFill>
              <a:srgbClr val="E1E6EC"/>
            </a:solidFill>
            <a:prstDash val="solid"/>
          </a:ln>
        </p:spPr>
        <p:txBody>
          <a:bodyPr/>
          <a:lstStyle/>
          <a:p>
            <a:endParaRPr lang="LID4096"/>
          </a:p>
        </p:txBody>
      </p:sp>
      <p:sp>
        <p:nvSpPr>
          <p:cNvPr id="26" name="Shape 24"/>
          <p:cNvSpPr/>
          <p:nvPr/>
        </p:nvSpPr>
        <p:spPr>
          <a:xfrm>
            <a:off x="11430000" y="0"/>
            <a:ext cx="0" cy="6858000"/>
          </a:xfrm>
          <a:prstGeom prst="line">
            <a:avLst/>
          </a:prstGeom>
          <a:noFill/>
          <a:ln w="6350">
            <a:solidFill>
              <a:srgbClr val="E1E6EC"/>
            </a:solidFill>
            <a:prstDash val="solid"/>
          </a:ln>
        </p:spPr>
        <p:txBody>
          <a:bodyPr/>
          <a:lstStyle/>
          <a:p>
            <a:endParaRPr lang="LID4096"/>
          </a:p>
        </p:txBody>
      </p:sp>
      <p:sp>
        <p:nvSpPr>
          <p:cNvPr id="27" name="Shape 25"/>
          <p:cNvSpPr/>
          <p:nvPr/>
        </p:nvSpPr>
        <p:spPr>
          <a:xfrm>
            <a:off x="11887200" y="0"/>
            <a:ext cx="0" cy="6858000"/>
          </a:xfrm>
          <a:prstGeom prst="line">
            <a:avLst/>
          </a:prstGeom>
          <a:noFill/>
          <a:ln w="6350">
            <a:solidFill>
              <a:srgbClr val="E1E6EC"/>
            </a:solidFill>
            <a:prstDash val="solid"/>
          </a:ln>
        </p:spPr>
        <p:txBody>
          <a:bodyPr/>
          <a:lstStyle/>
          <a:p>
            <a:endParaRPr lang="LID4096"/>
          </a:p>
        </p:txBody>
      </p:sp>
      <p:sp>
        <p:nvSpPr>
          <p:cNvPr id="28" name="Shape 26"/>
          <p:cNvSpPr/>
          <p:nvPr/>
        </p:nvSpPr>
        <p:spPr>
          <a:xfrm>
            <a:off x="0" y="457200"/>
            <a:ext cx="12188952" cy="0"/>
          </a:xfrm>
          <a:prstGeom prst="line">
            <a:avLst/>
          </a:prstGeom>
          <a:noFill/>
          <a:ln w="6350">
            <a:solidFill>
              <a:srgbClr val="E1E6EC"/>
            </a:solidFill>
            <a:prstDash val="solid"/>
          </a:ln>
        </p:spPr>
        <p:txBody>
          <a:bodyPr/>
          <a:lstStyle/>
          <a:p>
            <a:endParaRPr lang="LID4096"/>
          </a:p>
        </p:txBody>
      </p:sp>
      <p:sp>
        <p:nvSpPr>
          <p:cNvPr id="29" name="Shape 27"/>
          <p:cNvSpPr/>
          <p:nvPr/>
        </p:nvSpPr>
        <p:spPr>
          <a:xfrm>
            <a:off x="0" y="914400"/>
            <a:ext cx="12188952" cy="0"/>
          </a:xfrm>
          <a:prstGeom prst="line">
            <a:avLst/>
          </a:prstGeom>
          <a:noFill/>
          <a:ln w="6350">
            <a:solidFill>
              <a:srgbClr val="E1E6EC"/>
            </a:solidFill>
            <a:prstDash val="solid"/>
          </a:ln>
        </p:spPr>
        <p:txBody>
          <a:bodyPr/>
          <a:lstStyle/>
          <a:p>
            <a:endParaRPr lang="LID4096"/>
          </a:p>
        </p:txBody>
      </p:sp>
      <p:sp>
        <p:nvSpPr>
          <p:cNvPr id="30" name="Shape 28"/>
          <p:cNvSpPr/>
          <p:nvPr/>
        </p:nvSpPr>
        <p:spPr>
          <a:xfrm>
            <a:off x="0" y="1371600"/>
            <a:ext cx="12188952" cy="0"/>
          </a:xfrm>
          <a:prstGeom prst="line">
            <a:avLst/>
          </a:prstGeom>
          <a:noFill/>
          <a:ln w="6350">
            <a:solidFill>
              <a:srgbClr val="E1E6EC"/>
            </a:solidFill>
            <a:prstDash val="solid"/>
          </a:ln>
        </p:spPr>
        <p:txBody>
          <a:bodyPr/>
          <a:lstStyle/>
          <a:p>
            <a:endParaRPr lang="LID4096"/>
          </a:p>
        </p:txBody>
      </p:sp>
      <p:sp>
        <p:nvSpPr>
          <p:cNvPr id="31" name="Shape 29"/>
          <p:cNvSpPr/>
          <p:nvPr/>
        </p:nvSpPr>
        <p:spPr>
          <a:xfrm>
            <a:off x="0" y="1828800"/>
            <a:ext cx="12188952" cy="0"/>
          </a:xfrm>
          <a:prstGeom prst="line">
            <a:avLst/>
          </a:prstGeom>
          <a:noFill/>
          <a:ln w="6350">
            <a:solidFill>
              <a:srgbClr val="E1E6EC"/>
            </a:solidFill>
            <a:prstDash val="solid"/>
          </a:ln>
        </p:spPr>
        <p:txBody>
          <a:bodyPr/>
          <a:lstStyle/>
          <a:p>
            <a:endParaRPr lang="LID4096"/>
          </a:p>
        </p:txBody>
      </p:sp>
      <p:sp>
        <p:nvSpPr>
          <p:cNvPr id="32" name="Shape 30"/>
          <p:cNvSpPr/>
          <p:nvPr/>
        </p:nvSpPr>
        <p:spPr>
          <a:xfrm>
            <a:off x="0" y="2286000"/>
            <a:ext cx="12188952" cy="0"/>
          </a:xfrm>
          <a:prstGeom prst="line">
            <a:avLst/>
          </a:prstGeom>
          <a:noFill/>
          <a:ln w="6350">
            <a:solidFill>
              <a:srgbClr val="E1E6EC"/>
            </a:solidFill>
            <a:prstDash val="solid"/>
          </a:ln>
        </p:spPr>
        <p:txBody>
          <a:bodyPr/>
          <a:lstStyle/>
          <a:p>
            <a:endParaRPr lang="LID4096"/>
          </a:p>
        </p:txBody>
      </p:sp>
      <p:sp>
        <p:nvSpPr>
          <p:cNvPr id="33" name="Shape 31"/>
          <p:cNvSpPr/>
          <p:nvPr/>
        </p:nvSpPr>
        <p:spPr>
          <a:xfrm>
            <a:off x="0" y="2743200"/>
            <a:ext cx="12188952" cy="0"/>
          </a:xfrm>
          <a:prstGeom prst="line">
            <a:avLst/>
          </a:prstGeom>
          <a:noFill/>
          <a:ln w="6350">
            <a:solidFill>
              <a:srgbClr val="E1E6EC"/>
            </a:solidFill>
            <a:prstDash val="solid"/>
          </a:ln>
        </p:spPr>
        <p:txBody>
          <a:bodyPr/>
          <a:lstStyle/>
          <a:p>
            <a:endParaRPr lang="LID4096"/>
          </a:p>
        </p:txBody>
      </p:sp>
      <p:sp>
        <p:nvSpPr>
          <p:cNvPr id="34" name="Shape 32"/>
          <p:cNvSpPr/>
          <p:nvPr/>
        </p:nvSpPr>
        <p:spPr>
          <a:xfrm>
            <a:off x="0" y="3200400"/>
            <a:ext cx="12188952" cy="0"/>
          </a:xfrm>
          <a:prstGeom prst="line">
            <a:avLst/>
          </a:prstGeom>
          <a:noFill/>
          <a:ln w="6350">
            <a:solidFill>
              <a:srgbClr val="E1E6EC"/>
            </a:solidFill>
            <a:prstDash val="solid"/>
          </a:ln>
        </p:spPr>
        <p:txBody>
          <a:bodyPr/>
          <a:lstStyle/>
          <a:p>
            <a:endParaRPr lang="LID4096"/>
          </a:p>
        </p:txBody>
      </p:sp>
      <p:sp>
        <p:nvSpPr>
          <p:cNvPr id="35" name="Shape 33"/>
          <p:cNvSpPr/>
          <p:nvPr/>
        </p:nvSpPr>
        <p:spPr>
          <a:xfrm>
            <a:off x="0" y="3657600"/>
            <a:ext cx="12188952" cy="0"/>
          </a:xfrm>
          <a:prstGeom prst="line">
            <a:avLst/>
          </a:prstGeom>
          <a:noFill/>
          <a:ln w="6350">
            <a:solidFill>
              <a:srgbClr val="E1E6EC"/>
            </a:solidFill>
            <a:prstDash val="solid"/>
          </a:ln>
        </p:spPr>
        <p:txBody>
          <a:bodyPr/>
          <a:lstStyle/>
          <a:p>
            <a:endParaRPr lang="LID4096"/>
          </a:p>
        </p:txBody>
      </p:sp>
      <p:sp>
        <p:nvSpPr>
          <p:cNvPr id="36" name="Shape 34"/>
          <p:cNvSpPr/>
          <p:nvPr/>
        </p:nvSpPr>
        <p:spPr>
          <a:xfrm>
            <a:off x="0" y="4114800"/>
            <a:ext cx="12188952" cy="0"/>
          </a:xfrm>
          <a:prstGeom prst="line">
            <a:avLst/>
          </a:prstGeom>
          <a:noFill/>
          <a:ln w="6350">
            <a:solidFill>
              <a:srgbClr val="E1E6EC"/>
            </a:solidFill>
            <a:prstDash val="solid"/>
          </a:ln>
        </p:spPr>
        <p:txBody>
          <a:bodyPr/>
          <a:lstStyle/>
          <a:p>
            <a:endParaRPr lang="LID4096"/>
          </a:p>
        </p:txBody>
      </p:sp>
      <p:sp>
        <p:nvSpPr>
          <p:cNvPr id="37" name="Shape 35"/>
          <p:cNvSpPr/>
          <p:nvPr/>
        </p:nvSpPr>
        <p:spPr>
          <a:xfrm>
            <a:off x="0" y="4572000"/>
            <a:ext cx="12188952" cy="0"/>
          </a:xfrm>
          <a:prstGeom prst="line">
            <a:avLst/>
          </a:prstGeom>
          <a:noFill/>
          <a:ln w="6350">
            <a:solidFill>
              <a:srgbClr val="E1E6EC"/>
            </a:solidFill>
            <a:prstDash val="solid"/>
          </a:ln>
        </p:spPr>
        <p:txBody>
          <a:bodyPr/>
          <a:lstStyle/>
          <a:p>
            <a:endParaRPr lang="LID4096"/>
          </a:p>
        </p:txBody>
      </p:sp>
      <p:sp>
        <p:nvSpPr>
          <p:cNvPr id="38" name="Shape 36"/>
          <p:cNvSpPr/>
          <p:nvPr/>
        </p:nvSpPr>
        <p:spPr>
          <a:xfrm>
            <a:off x="0" y="5029200"/>
            <a:ext cx="12188952" cy="0"/>
          </a:xfrm>
          <a:prstGeom prst="line">
            <a:avLst/>
          </a:prstGeom>
          <a:noFill/>
          <a:ln w="6350">
            <a:solidFill>
              <a:srgbClr val="E1E6EC"/>
            </a:solidFill>
            <a:prstDash val="solid"/>
          </a:ln>
        </p:spPr>
        <p:txBody>
          <a:bodyPr/>
          <a:lstStyle/>
          <a:p>
            <a:endParaRPr lang="LID4096"/>
          </a:p>
        </p:txBody>
      </p:sp>
      <p:sp>
        <p:nvSpPr>
          <p:cNvPr id="39" name="Shape 37"/>
          <p:cNvSpPr/>
          <p:nvPr/>
        </p:nvSpPr>
        <p:spPr>
          <a:xfrm>
            <a:off x="0" y="5486400"/>
            <a:ext cx="12188952" cy="0"/>
          </a:xfrm>
          <a:prstGeom prst="line">
            <a:avLst/>
          </a:prstGeom>
          <a:noFill/>
          <a:ln w="6350">
            <a:solidFill>
              <a:srgbClr val="E1E6EC"/>
            </a:solidFill>
            <a:prstDash val="solid"/>
          </a:ln>
        </p:spPr>
        <p:txBody>
          <a:bodyPr/>
          <a:lstStyle/>
          <a:p>
            <a:endParaRPr lang="LID4096"/>
          </a:p>
        </p:txBody>
      </p:sp>
      <p:sp>
        <p:nvSpPr>
          <p:cNvPr id="40" name="Shape 38"/>
          <p:cNvSpPr/>
          <p:nvPr/>
        </p:nvSpPr>
        <p:spPr>
          <a:xfrm>
            <a:off x="0" y="5943600"/>
            <a:ext cx="12188952" cy="0"/>
          </a:xfrm>
          <a:prstGeom prst="line">
            <a:avLst/>
          </a:prstGeom>
          <a:noFill/>
          <a:ln w="6350">
            <a:solidFill>
              <a:srgbClr val="E1E6EC"/>
            </a:solidFill>
            <a:prstDash val="solid"/>
          </a:ln>
        </p:spPr>
        <p:txBody>
          <a:bodyPr/>
          <a:lstStyle/>
          <a:p>
            <a:endParaRPr lang="LID4096"/>
          </a:p>
        </p:txBody>
      </p:sp>
      <p:sp>
        <p:nvSpPr>
          <p:cNvPr id="41" name="Shape 39"/>
          <p:cNvSpPr/>
          <p:nvPr/>
        </p:nvSpPr>
        <p:spPr>
          <a:xfrm>
            <a:off x="0" y="6400800"/>
            <a:ext cx="12188952" cy="0"/>
          </a:xfrm>
          <a:prstGeom prst="line">
            <a:avLst/>
          </a:prstGeom>
          <a:noFill/>
          <a:ln w="6350">
            <a:solidFill>
              <a:srgbClr val="E1E6EC"/>
            </a:solidFill>
            <a:prstDash val="solid"/>
          </a:ln>
        </p:spPr>
        <p:txBody>
          <a:bodyPr/>
          <a:lstStyle/>
          <a:p>
            <a:endParaRPr lang="LID4096"/>
          </a:p>
        </p:txBody>
      </p:sp>
      <p:sp>
        <p:nvSpPr>
          <p:cNvPr id="42" name="Text 40"/>
          <p:cNvSpPr txBox="1"/>
          <p:nvPr/>
        </p:nvSpPr>
        <p:spPr>
          <a:xfrm>
            <a:off x="640080" y="320040"/>
            <a:ext cx="1097280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What we change on Flight Centre’s pages</a:t>
            </a:r>
            <a:endParaRPr lang="en-US" sz="2800" dirty="0"/>
          </a:p>
        </p:txBody>
      </p:sp>
      <p:sp>
        <p:nvSpPr>
          <p:cNvPr id="43" name="Text 41"/>
          <p:cNvSpPr txBox="1"/>
          <p:nvPr/>
        </p:nvSpPr>
        <p:spPr>
          <a:xfrm>
            <a:off x="640080" y="896112"/>
            <a:ext cx="10972800" cy="365760"/>
          </a:xfrm>
          <a:prstGeom prst="rect">
            <a:avLst/>
          </a:prstGeom>
          <a:noFill/>
          <a:ln/>
        </p:spPr>
        <p:txBody>
          <a:bodyPr wrap="square" lIns="0" tIns="0" rIns="0" bIns="0" rtlCol="0" anchor="ctr"/>
          <a:lstStyle/>
          <a:p>
            <a:pPr marL="0" indent="0">
              <a:buNone/>
            </a:pPr>
            <a:r>
              <a:rPr lang="en-US" sz="1500" b="1" dirty="0">
                <a:solidFill>
                  <a:srgbClr val="D7262E"/>
                </a:solidFill>
                <a:latin typeface="Arial" pitchFamily="34" charset="0"/>
                <a:ea typeface="Arial" pitchFamily="34" charset="-122"/>
                <a:cs typeface="Arial" pitchFamily="34" charset="-120"/>
              </a:rPr>
              <a:t>An AI can only cite what it can read. </a:t>
            </a:r>
            <a:r>
              <a:rPr lang="en-US" sz="1500" dirty="0">
                <a:solidFill>
                  <a:srgbClr val="1F2A44"/>
                </a:solidFill>
                <a:latin typeface="Arial" pitchFamily="34" charset="0"/>
                <a:ea typeface="Arial" pitchFamily="34" charset="-122"/>
                <a:cs typeface="Arial" pitchFamily="34" charset="-120"/>
              </a:rPr>
              <a:t>We don’t add new claims; we make existing information easier to read.</a:t>
            </a:r>
            <a:endParaRPr lang="en-US" sz="1500" dirty="0"/>
          </a:p>
        </p:txBody>
      </p:sp>
      <p:sp>
        <p:nvSpPr>
          <p:cNvPr id="44" name="Shape 42"/>
          <p:cNvSpPr/>
          <p:nvPr/>
        </p:nvSpPr>
        <p:spPr>
          <a:xfrm>
            <a:off x="640080" y="1508760"/>
            <a:ext cx="3611880" cy="3840480"/>
          </a:xfrm>
          <a:prstGeom prst="roundRect">
            <a:avLst>
              <a:gd name="adj" fmla="val 2025"/>
            </a:avLst>
          </a:prstGeom>
          <a:solidFill>
            <a:srgbClr val="FFFFFF"/>
          </a:solidFill>
          <a:ln w="12700">
            <a:solidFill>
              <a:srgbClr val="D5DBE3"/>
            </a:solidFill>
            <a:prstDash val="solid"/>
          </a:ln>
          <a:effectLst>
            <a:outerShdw blurRad="101600" dist="38100" dir="5400000" algn="bl" rotWithShape="0">
              <a:srgbClr val="9AA3AE">
                <a:alpha val="30000"/>
              </a:srgbClr>
            </a:outerShdw>
          </a:effectLst>
        </p:spPr>
        <p:txBody>
          <a:bodyPr/>
          <a:lstStyle/>
          <a:p>
            <a:endParaRPr lang="LID4096"/>
          </a:p>
        </p:txBody>
      </p:sp>
      <p:sp>
        <p:nvSpPr>
          <p:cNvPr id="45" name="Shape 43"/>
          <p:cNvSpPr/>
          <p:nvPr/>
        </p:nvSpPr>
        <p:spPr>
          <a:xfrm>
            <a:off x="667512" y="1536192"/>
            <a:ext cx="3557016" cy="365760"/>
          </a:xfrm>
          <a:prstGeom prst="rect">
            <a:avLst/>
          </a:prstGeom>
          <a:solidFill>
            <a:srgbClr val="F5F6F8"/>
          </a:solidFill>
          <a:ln w="12700">
            <a:solidFill>
              <a:srgbClr val="F5F6F8"/>
            </a:solidFill>
            <a:prstDash val="solid"/>
          </a:ln>
        </p:spPr>
        <p:txBody>
          <a:bodyPr/>
          <a:lstStyle/>
          <a:p>
            <a:endParaRPr lang="LID4096"/>
          </a:p>
        </p:txBody>
      </p:sp>
      <p:sp>
        <p:nvSpPr>
          <p:cNvPr id="46" name="Text 44"/>
          <p:cNvSpPr txBox="1"/>
          <p:nvPr/>
        </p:nvSpPr>
        <p:spPr>
          <a:xfrm>
            <a:off x="822960" y="1536192"/>
            <a:ext cx="3246120" cy="365760"/>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Original page</a:t>
            </a:r>
            <a:endParaRPr lang="en-US" sz="1400" dirty="0"/>
          </a:p>
        </p:txBody>
      </p:sp>
      <p:sp>
        <p:nvSpPr>
          <p:cNvPr id="47" name="Text 45"/>
          <p:cNvSpPr txBox="1"/>
          <p:nvPr/>
        </p:nvSpPr>
        <p:spPr>
          <a:xfrm>
            <a:off x="822960" y="2011680"/>
            <a:ext cx="3246120" cy="274320"/>
          </a:xfrm>
          <a:prstGeom prst="rect">
            <a:avLst/>
          </a:prstGeom>
          <a:noFill/>
          <a:ln/>
        </p:spPr>
        <p:txBody>
          <a:bodyPr wrap="square" lIns="0" tIns="0" rIns="0" bIns="0" rtlCol="0" anchor="ctr"/>
          <a:lstStyle/>
          <a:p>
            <a:pPr marL="0" indent="0">
              <a:buNone/>
            </a:pPr>
            <a:r>
              <a:rPr lang="en-US" sz="1200" b="1" dirty="0">
                <a:solidFill>
                  <a:srgbClr val="1F2A44"/>
                </a:solidFill>
                <a:latin typeface="Arial" pitchFamily="34" charset="0"/>
                <a:ea typeface="Arial" pitchFamily="34" charset="-122"/>
                <a:cs typeface="Arial" pitchFamily="34" charset="-120"/>
              </a:rPr>
              <a:t>Flights from Melbourne to London</a:t>
            </a:r>
            <a:endParaRPr lang="en-US" sz="1200" dirty="0"/>
          </a:p>
        </p:txBody>
      </p:sp>
      <p:sp>
        <p:nvSpPr>
          <p:cNvPr id="48" name="Shape 46"/>
          <p:cNvSpPr/>
          <p:nvPr/>
        </p:nvSpPr>
        <p:spPr>
          <a:xfrm>
            <a:off x="822960" y="2377440"/>
            <a:ext cx="3246120" cy="777240"/>
          </a:xfrm>
          <a:prstGeom prst="rect">
            <a:avLst/>
          </a:prstGeom>
          <a:solidFill>
            <a:srgbClr val="F5F6F8"/>
          </a:solidFill>
          <a:ln w="12700">
            <a:solidFill>
              <a:srgbClr val="9AA3AE"/>
            </a:solidFill>
            <a:prstDash val="dash"/>
          </a:ln>
        </p:spPr>
        <p:txBody>
          <a:bodyPr/>
          <a:lstStyle/>
          <a:p>
            <a:endParaRPr lang="LID4096"/>
          </a:p>
        </p:txBody>
      </p:sp>
      <p:sp>
        <p:nvSpPr>
          <p:cNvPr id="49" name="Text 47"/>
          <p:cNvSpPr txBox="1"/>
          <p:nvPr/>
        </p:nvSpPr>
        <p:spPr>
          <a:xfrm>
            <a:off x="914400" y="2404872"/>
            <a:ext cx="3063240" cy="731520"/>
          </a:xfrm>
          <a:prstGeom prst="rect">
            <a:avLst/>
          </a:prstGeom>
          <a:noFill/>
          <a:ln/>
        </p:spPr>
        <p:txBody>
          <a:bodyPr wrap="square" lIns="0" tIns="0" rIns="0" bIns="0" rtlCol="0" anchor="ctr"/>
          <a:lstStyle/>
          <a:p>
            <a:pPr marL="0" indent="0">
              <a:buNone/>
            </a:pPr>
            <a:r>
              <a:rPr lang="en-US" sz="1050" b="1" dirty="0">
                <a:solidFill>
                  <a:srgbClr val="9AA3AE"/>
                </a:solidFill>
                <a:latin typeface="Arial" pitchFamily="34" charset="0"/>
                <a:ea typeface="Arial" pitchFamily="34" charset="-122"/>
                <a:cs typeface="Arial" pitchFamily="34" charset="-120"/>
              </a:rPr>
              <a:t>Deal details</a:t>
            </a:r>
            <a:endParaRPr lang="en-US" sz="1050" dirty="0"/>
          </a:p>
          <a:p>
            <a:pPr marL="0" indent="0">
              <a:buNone/>
            </a:pPr>
            <a:r>
              <a:rPr lang="en-US" sz="1050" dirty="0">
                <a:solidFill>
                  <a:srgbClr val="9AA3AE"/>
                </a:solidFill>
                <a:latin typeface="Arial" pitchFamily="34" charset="0"/>
                <a:ea typeface="Arial" pitchFamily="34" charset="-122"/>
                <a:cs typeface="Arial" pitchFamily="34" charset="-120"/>
              </a:rPr>
              <a:t>only load with JavaScript, so the AI sees a blank</a:t>
            </a:r>
            <a:endParaRPr lang="en-US" sz="1050" dirty="0"/>
          </a:p>
        </p:txBody>
      </p:sp>
      <p:sp>
        <p:nvSpPr>
          <p:cNvPr id="50" name="Text 48"/>
          <p:cNvSpPr txBox="1"/>
          <p:nvPr/>
        </p:nvSpPr>
        <p:spPr>
          <a:xfrm>
            <a:off x="822960" y="3291840"/>
            <a:ext cx="3246120" cy="685800"/>
          </a:xfrm>
          <a:prstGeom prst="rect">
            <a:avLst/>
          </a:prstGeom>
          <a:noFill/>
          <a:ln/>
        </p:spPr>
        <p:txBody>
          <a:bodyPr wrap="square" lIns="0" tIns="0" rIns="0" bIns="0" rtlCol="0" anchor="ctr"/>
          <a:lstStyle/>
          <a:p>
            <a:pPr marL="0" indent="0">
              <a:buNone/>
            </a:pPr>
            <a:r>
              <a:rPr lang="en-US" sz="1050" dirty="0">
                <a:solidFill>
                  <a:srgbClr val="6B7280"/>
                </a:solidFill>
                <a:latin typeface="Arial" pitchFamily="34" charset="0"/>
                <a:ea typeface="Arial" pitchFamily="34" charset="-122"/>
                <a:cs typeface="Arial" pitchFamily="34" charset="-120"/>
              </a:rPr>
              <a:t>Fare… fees apply… return… airline… dates vary… conditions…</a:t>
            </a:r>
            <a:endParaRPr lang="en-US" sz="1050" dirty="0"/>
          </a:p>
        </p:txBody>
      </p:sp>
      <p:sp>
        <p:nvSpPr>
          <p:cNvPr id="51" name="Shape 49"/>
          <p:cNvSpPr/>
          <p:nvPr/>
        </p:nvSpPr>
        <p:spPr>
          <a:xfrm>
            <a:off x="822960" y="4114800"/>
            <a:ext cx="3246120" cy="347472"/>
          </a:xfrm>
          <a:prstGeom prst="roundRect">
            <a:avLst>
              <a:gd name="adj" fmla="val 13158"/>
            </a:avLst>
          </a:prstGeom>
          <a:solidFill>
            <a:srgbClr val="F5F6F8"/>
          </a:solidFill>
          <a:ln w="9525">
            <a:solidFill>
              <a:srgbClr val="D5DBE3"/>
            </a:solidFill>
            <a:prstDash val="solid"/>
          </a:ln>
        </p:spPr>
        <p:txBody>
          <a:bodyPr/>
          <a:lstStyle/>
          <a:p>
            <a:endParaRPr lang="LID4096"/>
          </a:p>
        </p:txBody>
      </p:sp>
      <p:sp>
        <p:nvSpPr>
          <p:cNvPr id="52" name="Text 50"/>
          <p:cNvSpPr txBox="1"/>
          <p:nvPr/>
        </p:nvSpPr>
        <p:spPr>
          <a:xfrm>
            <a:off x="914400" y="4114800"/>
            <a:ext cx="3063240" cy="347472"/>
          </a:xfrm>
          <a:prstGeom prst="rect">
            <a:avLst/>
          </a:prstGeom>
          <a:noFill/>
          <a:ln/>
        </p:spPr>
        <p:txBody>
          <a:bodyPr wrap="square" lIns="0" tIns="0" rIns="0" bIns="0" rtlCol="0" anchor="ctr"/>
          <a:lstStyle/>
          <a:p>
            <a:pPr marL="0" indent="0">
              <a:buNone/>
            </a:pPr>
            <a:r>
              <a:rPr lang="en-US" sz="1050" dirty="0">
                <a:solidFill>
                  <a:srgbClr val="9AA3AE"/>
                </a:solidFill>
                <a:latin typeface="Arial" pitchFamily="34" charset="0"/>
                <a:ea typeface="Arial" pitchFamily="34" charset="-122"/>
                <a:cs typeface="Arial" pitchFamily="34" charset="-120"/>
              </a:rPr>
              <a:t>▸  </a:t>
            </a:r>
            <a:r>
              <a:rPr lang="en-US" sz="1050" i="1" dirty="0">
                <a:solidFill>
                  <a:srgbClr val="9AA3AE"/>
                </a:solidFill>
                <a:latin typeface="Arial" pitchFamily="34" charset="0"/>
                <a:ea typeface="Arial" pitchFamily="34" charset="-122"/>
                <a:cs typeface="Arial" pitchFamily="34" charset="-120"/>
              </a:rPr>
              <a:t>[question hidden in a button]</a:t>
            </a:r>
            <a:endParaRPr lang="en-US" sz="1050" dirty="0"/>
          </a:p>
        </p:txBody>
      </p:sp>
      <p:sp>
        <p:nvSpPr>
          <p:cNvPr id="53" name="Shape 51"/>
          <p:cNvSpPr/>
          <p:nvPr/>
        </p:nvSpPr>
        <p:spPr>
          <a:xfrm>
            <a:off x="822960" y="4553712"/>
            <a:ext cx="3246120" cy="347472"/>
          </a:xfrm>
          <a:prstGeom prst="roundRect">
            <a:avLst>
              <a:gd name="adj" fmla="val 13158"/>
            </a:avLst>
          </a:prstGeom>
          <a:solidFill>
            <a:srgbClr val="F5F6F8"/>
          </a:solidFill>
          <a:ln w="9525">
            <a:solidFill>
              <a:srgbClr val="D5DBE3"/>
            </a:solidFill>
            <a:prstDash val="solid"/>
          </a:ln>
        </p:spPr>
        <p:txBody>
          <a:bodyPr/>
          <a:lstStyle/>
          <a:p>
            <a:endParaRPr lang="LID4096"/>
          </a:p>
        </p:txBody>
      </p:sp>
      <p:sp>
        <p:nvSpPr>
          <p:cNvPr id="54" name="Text 52"/>
          <p:cNvSpPr txBox="1"/>
          <p:nvPr/>
        </p:nvSpPr>
        <p:spPr>
          <a:xfrm>
            <a:off x="914400" y="4553712"/>
            <a:ext cx="3063240" cy="347472"/>
          </a:xfrm>
          <a:prstGeom prst="rect">
            <a:avLst/>
          </a:prstGeom>
          <a:noFill/>
          <a:ln/>
        </p:spPr>
        <p:txBody>
          <a:bodyPr wrap="square" lIns="0" tIns="0" rIns="0" bIns="0" rtlCol="0" anchor="ctr"/>
          <a:lstStyle/>
          <a:p>
            <a:pPr marL="0" indent="0">
              <a:buNone/>
            </a:pPr>
            <a:r>
              <a:rPr lang="en-US" sz="1050" dirty="0">
                <a:solidFill>
                  <a:srgbClr val="9AA3AE"/>
                </a:solidFill>
                <a:latin typeface="Arial" pitchFamily="34" charset="0"/>
                <a:ea typeface="Arial" pitchFamily="34" charset="-122"/>
                <a:cs typeface="Arial" pitchFamily="34" charset="-120"/>
              </a:rPr>
              <a:t>▸  </a:t>
            </a:r>
            <a:r>
              <a:rPr lang="en-US" sz="1050" i="1" dirty="0">
                <a:solidFill>
                  <a:srgbClr val="9AA3AE"/>
                </a:solidFill>
                <a:latin typeface="Arial" pitchFamily="34" charset="0"/>
                <a:ea typeface="Arial" pitchFamily="34" charset="-122"/>
                <a:cs typeface="Arial" pitchFamily="34" charset="-120"/>
              </a:rPr>
              <a:t>[question hidden in a button]</a:t>
            </a:r>
            <a:endParaRPr lang="en-US" sz="1050" dirty="0"/>
          </a:p>
        </p:txBody>
      </p:sp>
      <p:sp>
        <p:nvSpPr>
          <p:cNvPr id="55" name="Text 53"/>
          <p:cNvSpPr txBox="1"/>
          <p:nvPr/>
        </p:nvSpPr>
        <p:spPr>
          <a:xfrm>
            <a:off x="822960" y="4983480"/>
            <a:ext cx="3246120" cy="228600"/>
          </a:xfrm>
          <a:prstGeom prst="rect">
            <a:avLst/>
          </a:prstGeom>
          <a:noFill/>
          <a:ln/>
        </p:spPr>
        <p:txBody>
          <a:bodyPr wrap="square" lIns="0" tIns="0" rIns="0" bIns="0" rtlCol="0" anchor="ctr"/>
          <a:lstStyle/>
          <a:p>
            <a:pPr marL="0" indent="0">
              <a:buNone/>
            </a:pPr>
            <a:r>
              <a:rPr lang="en-US" sz="950" i="1" dirty="0">
                <a:solidFill>
                  <a:srgbClr val="6B7280"/>
                </a:solidFill>
                <a:latin typeface="Arial" pitchFamily="34" charset="0"/>
                <a:ea typeface="Arial" pitchFamily="34" charset="-122"/>
                <a:cs typeface="Arial" pitchFamily="34" charset="-120"/>
              </a:rPr>
              <a:t>Answers survive, but lose their question</a:t>
            </a:r>
            <a:endParaRPr lang="en-US" sz="950" dirty="0"/>
          </a:p>
        </p:txBody>
      </p:sp>
      <p:sp>
        <p:nvSpPr>
          <p:cNvPr id="56" name="Shape 54"/>
          <p:cNvSpPr/>
          <p:nvPr/>
        </p:nvSpPr>
        <p:spPr>
          <a:xfrm>
            <a:off x="4389120" y="3200400"/>
            <a:ext cx="502920" cy="457200"/>
          </a:xfrm>
          <a:prstGeom prst="rightArrow">
            <a:avLst/>
          </a:prstGeom>
          <a:solidFill>
            <a:srgbClr val="D7262E"/>
          </a:solidFill>
          <a:ln w="12700">
            <a:solidFill>
              <a:srgbClr val="D7262E"/>
            </a:solidFill>
            <a:prstDash val="solid"/>
          </a:ln>
        </p:spPr>
        <p:txBody>
          <a:bodyPr/>
          <a:lstStyle/>
          <a:p>
            <a:endParaRPr lang="LID4096"/>
          </a:p>
        </p:txBody>
      </p:sp>
      <p:sp>
        <p:nvSpPr>
          <p:cNvPr id="57" name="Shape 55"/>
          <p:cNvSpPr/>
          <p:nvPr/>
        </p:nvSpPr>
        <p:spPr>
          <a:xfrm>
            <a:off x="5029200" y="1508760"/>
            <a:ext cx="3886200" cy="3840480"/>
          </a:xfrm>
          <a:prstGeom prst="roundRect">
            <a:avLst>
              <a:gd name="adj" fmla="val 1905"/>
            </a:avLst>
          </a:prstGeom>
          <a:solidFill>
            <a:srgbClr val="FFFFFF"/>
          </a:solidFill>
          <a:ln w="25400">
            <a:solidFill>
              <a:srgbClr val="D7262E"/>
            </a:solidFill>
            <a:prstDash val="solid"/>
          </a:ln>
          <a:effectLst>
            <a:outerShdw blurRad="101600" dist="38100" dir="5400000" algn="bl" rotWithShape="0">
              <a:srgbClr val="9AA3AE">
                <a:alpha val="30000"/>
              </a:srgbClr>
            </a:outerShdw>
          </a:effectLst>
        </p:spPr>
        <p:txBody>
          <a:bodyPr/>
          <a:lstStyle/>
          <a:p>
            <a:endParaRPr lang="LID4096"/>
          </a:p>
        </p:txBody>
      </p:sp>
      <p:sp>
        <p:nvSpPr>
          <p:cNvPr id="58" name="Shape 56"/>
          <p:cNvSpPr/>
          <p:nvPr/>
        </p:nvSpPr>
        <p:spPr>
          <a:xfrm>
            <a:off x="5056632" y="1536192"/>
            <a:ext cx="3831336" cy="365760"/>
          </a:xfrm>
          <a:prstGeom prst="rect">
            <a:avLst/>
          </a:prstGeom>
          <a:solidFill>
            <a:srgbClr val="FCECEC"/>
          </a:solidFill>
          <a:ln w="12700">
            <a:solidFill>
              <a:srgbClr val="FCECEC"/>
            </a:solidFill>
            <a:prstDash val="solid"/>
          </a:ln>
        </p:spPr>
        <p:txBody>
          <a:bodyPr/>
          <a:lstStyle/>
          <a:p>
            <a:endParaRPr lang="LID4096"/>
          </a:p>
        </p:txBody>
      </p:sp>
      <p:sp>
        <p:nvSpPr>
          <p:cNvPr id="59" name="Text 57"/>
          <p:cNvSpPr txBox="1"/>
          <p:nvPr/>
        </p:nvSpPr>
        <p:spPr>
          <a:xfrm>
            <a:off x="5212080" y="1536192"/>
            <a:ext cx="3520440" cy="365760"/>
          </a:xfrm>
          <a:prstGeom prst="rect">
            <a:avLst/>
          </a:prstGeom>
          <a:noFill/>
          <a:ln/>
        </p:spPr>
        <p:txBody>
          <a:bodyPr wrap="square" lIns="0" tIns="0" rIns="0" bIns="0" rtlCol="0" anchor="ctr"/>
          <a:lstStyle/>
          <a:p>
            <a:pPr marL="0" indent="0">
              <a:buNone/>
            </a:pPr>
            <a:r>
              <a:rPr lang="en-US" sz="1400" b="1" dirty="0">
                <a:solidFill>
                  <a:srgbClr val="D7262E"/>
                </a:solidFill>
                <a:latin typeface="Arial" pitchFamily="34" charset="0"/>
                <a:ea typeface="Arial" pitchFamily="34" charset="-122"/>
                <a:cs typeface="Arial" pitchFamily="34" charset="-120"/>
              </a:rPr>
              <a:t>Improved page</a:t>
            </a:r>
            <a:endParaRPr lang="en-US" sz="1400" dirty="0"/>
          </a:p>
        </p:txBody>
      </p:sp>
      <p:sp>
        <p:nvSpPr>
          <p:cNvPr id="60" name="Text 58"/>
          <p:cNvSpPr txBox="1"/>
          <p:nvPr/>
        </p:nvSpPr>
        <p:spPr>
          <a:xfrm>
            <a:off x="5212080" y="2011680"/>
            <a:ext cx="3520440" cy="274320"/>
          </a:xfrm>
          <a:prstGeom prst="rect">
            <a:avLst/>
          </a:prstGeom>
          <a:noFill/>
          <a:ln/>
        </p:spPr>
        <p:txBody>
          <a:bodyPr wrap="square" lIns="0" tIns="0" rIns="0" bIns="0" rtlCol="0" anchor="ctr"/>
          <a:lstStyle/>
          <a:p>
            <a:pPr marL="0" indent="0">
              <a:buNone/>
            </a:pPr>
            <a:r>
              <a:rPr lang="en-US" sz="1200" b="1" dirty="0">
                <a:solidFill>
                  <a:srgbClr val="1F2A44"/>
                </a:solidFill>
                <a:latin typeface="Arial" pitchFamily="34" charset="0"/>
                <a:ea typeface="Arial" pitchFamily="34" charset="-122"/>
                <a:cs typeface="Arial" pitchFamily="34" charset="-120"/>
              </a:rPr>
              <a:t>Flights from Melbourne to London</a:t>
            </a:r>
            <a:endParaRPr lang="en-US" sz="1200" dirty="0"/>
          </a:p>
        </p:txBody>
      </p:sp>
      <p:sp>
        <p:nvSpPr>
          <p:cNvPr id="61" name="Shape 59"/>
          <p:cNvSpPr/>
          <p:nvPr/>
        </p:nvSpPr>
        <p:spPr>
          <a:xfrm>
            <a:off x="5212080" y="2377440"/>
            <a:ext cx="3520440" cy="777240"/>
          </a:xfrm>
          <a:prstGeom prst="rect">
            <a:avLst/>
          </a:prstGeom>
          <a:solidFill>
            <a:srgbClr val="FCECEC"/>
          </a:solidFill>
          <a:ln w="12700">
            <a:solidFill>
              <a:srgbClr val="D7262E"/>
            </a:solidFill>
            <a:prstDash val="solid"/>
          </a:ln>
        </p:spPr>
        <p:txBody>
          <a:bodyPr/>
          <a:lstStyle/>
          <a:p>
            <a:endParaRPr lang="LID4096"/>
          </a:p>
        </p:txBody>
      </p:sp>
      <p:sp>
        <p:nvSpPr>
          <p:cNvPr id="62" name="Text 60"/>
          <p:cNvSpPr txBox="1"/>
          <p:nvPr/>
        </p:nvSpPr>
        <p:spPr>
          <a:xfrm>
            <a:off x="5303520" y="2404872"/>
            <a:ext cx="3063240" cy="731520"/>
          </a:xfrm>
          <a:prstGeom prst="rect">
            <a:avLst/>
          </a:prstGeom>
          <a:noFill/>
          <a:ln/>
        </p:spPr>
        <p:txBody>
          <a:bodyPr wrap="square" lIns="0" tIns="0" rIns="0" bIns="0" rtlCol="0" anchor="ctr"/>
          <a:lstStyle/>
          <a:p>
            <a:pPr marL="0" indent="0">
              <a:buNone/>
            </a:pPr>
            <a:r>
              <a:rPr lang="en-US" sz="1050" b="1" dirty="0">
                <a:solidFill>
                  <a:srgbClr val="1F2A44"/>
                </a:solidFill>
                <a:latin typeface="Arial" pitchFamily="34" charset="0"/>
                <a:ea typeface="Arial" pitchFamily="34" charset="-122"/>
                <a:cs typeface="Arial" pitchFamily="34" charset="-120"/>
              </a:rPr>
              <a:t>Deal details now visible</a:t>
            </a:r>
            <a:endParaRPr lang="en-US" sz="1050" dirty="0"/>
          </a:p>
          <a:p>
            <a:pPr marL="0" indent="0">
              <a:buNone/>
            </a:pPr>
            <a:r>
              <a:rPr lang="en-US" sz="1050" dirty="0">
                <a:solidFill>
                  <a:srgbClr val="1F2A44"/>
                </a:solidFill>
                <a:latin typeface="Arial" pitchFamily="34" charset="0"/>
                <a:ea typeface="Arial" pitchFamily="34" charset="-122"/>
                <a:cs typeface="Arial" pitchFamily="34" charset="-120"/>
              </a:rPr>
              <a:t>Airline · Trip type · Travel dates · Fare</a:t>
            </a:r>
            <a:endParaRPr lang="en-US" sz="1050" dirty="0"/>
          </a:p>
        </p:txBody>
      </p:sp>
      <p:sp>
        <p:nvSpPr>
          <p:cNvPr id="63" name="Shape 61"/>
          <p:cNvSpPr/>
          <p:nvPr/>
        </p:nvSpPr>
        <p:spPr>
          <a:xfrm>
            <a:off x="8458200" y="2441448"/>
            <a:ext cx="274320" cy="274320"/>
          </a:xfrm>
          <a:prstGeom prst="ellipse">
            <a:avLst/>
          </a:prstGeom>
          <a:solidFill>
            <a:srgbClr val="D7262E"/>
          </a:solidFill>
          <a:ln w="12700">
            <a:solidFill>
              <a:srgbClr val="FFFFFF"/>
            </a:solidFill>
            <a:prstDash val="solid"/>
          </a:ln>
        </p:spPr>
        <p:txBody>
          <a:bodyPr/>
          <a:lstStyle/>
          <a:p>
            <a:endParaRPr lang="LID4096"/>
          </a:p>
        </p:txBody>
      </p:sp>
      <p:sp>
        <p:nvSpPr>
          <p:cNvPr id="64" name="Text 62"/>
          <p:cNvSpPr txBox="1"/>
          <p:nvPr/>
        </p:nvSpPr>
        <p:spPr>
          <a:xfrm>
            <a:off x="8458200" y="24414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65" name="Shape 63"/>
          <p:cNvSpPr/>
          <p:nvPr/>
        </p:nvSpPr>
        <p:spPr>
          <a:xfrm>
            <a:off x="5212080" y="3264408"/>
            <a:ext cx="3520440" cy="749808"/>
          </a:xfrm>
          <a:prstGeom prst="rect">
            <a:avLst/>
          </a:prstGeom>
          <a:solidFill>
            <a:srgbClr val="FFFFFF"/>
          </a:solidFill>
          <a:ln w="12700">
            <a:solidFill>
              <a:srgbClr val="D7262E"/>
            </a:solidFill>
            <a:prstDash val="solid"/>
          </a:ln>
        </p:spPr>
        <p:txBody>
          <a:bodyPr/>
          <a:lstStyle/>
          <a:p>
            <a:endParaRPr lang="LID4096"/>
          </a:p>
        </p:txBody>
      </p:sp>
      <p:sp>
        <p:nvSpPr>
          <p:cNvPr id="66" name="Text 64"/>
          <p:cNvSpPr txBox="1"/>
          <p:nvPr/>
        </p:nvSpPr>
        <p:spPr>
          <a:xfrm>
            <a:off x="5303520" y="3300984"/>
            <a:ext cx="1097280" cy="173736"/>
          </a:xfrm>
          <a:prstGeom prst="rect">
            <a:avLst/>
          </a:prstGeom>
          <a:noFill/>
          <a:ln/>
        </p:spPr>
        <p:txBody>
          <a:bodyPr wrap="square" lIns="0" tIns="0" rIns="0" bIns="0" rtlCol="0" anchor="ctr"/>
          <a:lstStyle/>
          <a:p>
            <a:pPr marL="0" indent="0">
              <a:buNone/>
            </a:pPr>
            <a:r>
              <a:rPr lang="en-US" sz="950" b="1" dirty="0">
                <a:solidFill>
                  <a:srgbClr val="1F2A44"/>
                </a:solidFill>
                <a:latin typeface="Arial" pitchFamily="34" charset="0"/>
                <a:ea typeface="Arial" pitchFamily="34" charset="-122"/>
                <a:cs typeface="Arial" pitchFamily="34" charset="-120"/>
              </a:rPr>
              <a:t>Departure</a:t>
            </a:r>
            <a:endParaRPr lang="en-US" sz="950" dirty="0"/>
          </a:p>
        </p:txBody>
      </p:sp>
      <p:sp>
        <p:nvSpPr>
          <p:cNvPr id="67" name="Text 65"/>
          <p:cNvSpPr txBox="1"/>
          <p:nvPr/>
        </p:nvSpPr>
        <p:spPr>
          <a:xfrm>
            <a:off x="6400800" y="3300984"/>
            <a:ext cx="1737360" cy="173736"/>
          </a:xfrm>
          <a:prstGeom prst="rect">
            <a:avLst/>
          </a:prstGeom>
          <a:noFill/>
          <a:ln/>
        </p:spPr>
        <p:txBody>
          <a:bodyPr wrap="square" lIns="0" tIns="0" rIns="0" bIns="0" rtlCol="0" anchor="ctr"/>
          <a:lstStyle/>
          <a:p>
            <a:pPr marL="0" indent="0">
              <a:buNone/>
            </a:pPr>
            <a:r>
              <a:rPr lang="en-US" sz="950" dirty="0">
                <a:solidFill>
                  <a:srgbClr val="1F2A44"/>
                </a:solidFill>
                <a:latin typeface="Arial" pitchFamily="34" charset="0"/>
                <a:ea typeface="Arial" pitchFamily="34" charset="-122"/>
                <a:cs typeface="Arial" pitchFamily="34" charset="-120"/>
              </a:rPr>
              <a:t>Melbourne</a:t>
            </a:r>
            <a:endParaRPr lang="en-US" sz="950" dirty="0"/>
          </a:p>
        </p:txBody>
      </p:sp>
      <p:sp>
        <p:nvSpPr>
          <p:cNvPr id="68" name="Text 66"/>
          <p:cNvSpPr txBox="1"/>
          <p:nvPr/>
        </p:nvSpPr>
        <p:spPr>
          <a:xfrm>
            <a:off x="5303520" y="3474720"/>
            <a:ext cx="1097280" cy="173736"/>
          </a:xfrm>
          <a:prstGeom prst="rect">
            <a:avLst/>
          </a:prstGeom>
          <a:noFill/>
          <a:ln/>
        </p:spPr>
        <p:txBody>
          <a:bodyPr wrap="square" lIns="0" tIns="0" rIns="0" bIns="0" rtlCol="0" anchor="ctr"/>
          <a:lstStyle/>
          <a:p>
            <a:pPr marL="0" indent="0">
              <a:buNone/>
            </a:pPr>
            <a:r>
              <a:rPr lang="en-US" sz="950" b="1" dirty="0">
                <a:solidFill>
                  <a:srgbClr val="1F2A44"/>
                </a:solidFill>
                <a:latin typeface="Arial" pitchFamily="34" charset="0"/>
                <a:ea typeface="Arial" pitchFamily="34" charset="-122"/>
                <a:cs typeface="Arial" pitchFamily="34" charset="-120"/>
              </a:rPr>
              <a:t>Destination</a:t>
            </a:r>
            <a:endParaRPr lang="en-US" sz="950" dirty="0"/>
          </a:p>
        </p:txBody>
      </p:sp>
      <p:sp>
        <p:nvSpPr>
          <p:cNvPr id="69" name="Text 67"/>
          <p:cNvSpPr txBox="1"/>
          <p:nvPr/>
        </p:nvSpPr>
        <p:spPr>
          <a:xfrm>
            <a:off x="6400800" y="3474720"/>
            <a:ext cx="1737360" cy="173736"/>
          </a:xfrm>
          <a:prstGeom prst="rect">
            <a:avLst/>
          </a:prstGeom>
          <a:noFill/>
          <a:ln/>
        </p:spPr>
        <p:txBody>
          <a:bodyPr wrap="square" lIns="0" tIns="0" rIns="0" bIns="0" rtlCol="0" anchor="ctr"/>
          <a:lstStyle/>
          <a:p>
            <a:pPr marL="0" indent="0">
              <a:buNone/>
            </a:pPr>
            <a:r>
              <a:rPr lang="en-US" sz="950" dirty="0">
                <a:solidFill>
                  <a:srgbClr val="1F2A44"/>
                </a:solidFill>
                <a:latin typeface="Arial" pitchFamily="34" charset="0"/>
                <a:ea typeface="Arial" pitchFamily="34" charset="-122"/>
                <a:cs typeface="Arial" pitchFamily="34" charset="-120"/>
              </a:rPr>
              <a:t>London</a:t>
            </a:r>
            <a:endParaRPr lang="en-US" sz="950" dirty="0"/>
          </a:p>
        </p:txBody>
      </p:sp>
      <p:sp>
        <p:nvSpPr>
          <p:cNvPr id="70" name="Text 68"/>
          <p:cNvSpPr txBox="1"/>
          <p:nvPr/>
        </p:nvSpPr>
        <p:spPr>
          <a:xfrm>
            <a:off x="5303520" y="3648456"/>
            <a:ext cx="1097280" cy="173736"/>
          </a:xfrm>
          <a:prstGeom prst="rect">
            <a:avLst/>
          </a:prstGeom>
          <a:noFill/>
          <a:ln/>
        </p:spPr>
        <p:txBody>
          <a:bodyPr wrap="square" lIns="0" tIns="0" rIns="0" bIns="0" rtlCol="0" anchor="ctr"/>
          <a:lstStyle/>
          <a:p>
            <a:pPr marL="0" indent="0">
              <a:buNone/>
            </a:pPr>
            <a:r>
              <a:rPr lang="en-US" sz="950" b="1" dirty="0">
                <a:solidFill>
                  <a:srgbClr val="1F2A44"/>
                </a:solidFill>
                <a:latin typeface="Arial" pitchFamily="34" charset="0"/>
                <a:ea typeface="Arial" pitchFamily="34" charset="-122"/>
                <a:cs typeface="Arial" pitchFamily="34" charset="-120"/>
              </a:rPr>
              <a:t>Starting fare</a:t>
            </a:r>
            <a:endParaRPr lang="en-US" sz="950" dirty="0"/>
          </a:p>
        </p:txBody>
      </p:sp>
      <p:sp>
        <p:nvSpPr>
          <p:cNvPr id="71" name="Text 69"/>
          <p:cNvSpPr txBox="1"/>
          <p:nvPr/>
        </p:nvSpPr>
        <p:spPr>
          <a:xfrm>
            <a:off x="6400800" y="3648456"/>
            <a:ext cx="1737360" cy="173736"/>
          </a:xfrm>
          <a:prstGeom prst="rect">
            <a:avLst/>
          </a:prstGeom>
          <a:noFill/>
          <a:ln/>
        </p:spPr>
        <p:txBody>
          <a:bodyPr wrap="square" lIns="0" tIns="0" rIns="0" bIns="0" rtlCol="0" anchor="ctr"/>
          <a:lstStyle/>
          <a:p>
            <a:pPr marL="0" indent="0">
              <a:buNone/>
            </a:pPr>
            <a:r>
              <a:rPr lang="en-US" sz="950" dirty="0">
                <a:solidFill>
                  <a:srgbClr val="1F2A44"/>
                </a:solidFill>
                <a:latin typeface="Arial" pitchFamily="34" charset="0"/>
                <a:ea typeface="Arial" pitchFamily="34" charset="-122"/>
                <a:cs typeface="Arial" pitchFamily="34" charset="-120"/>
              </a:rPr>
              <a:t>as stated on page</a:t>
            </a:r>
            <a:endParaRPr lang="en-US" sz="950" dirty="0"/>
          </a:p>
        </p:txBody>
      </p:sp>
      <p:sp>
        <p:nvSpPr>
          <p:cNvPr id="72" name="Text 70"/>
          <p:cNvSpPr txBox="1"/>
          <p:nvPr/>
        </p:nvSpPr>
        <p:spPr>
          <a:xfrm>
            <a:off x="5303520" y="3822192"/>
            <a:ext cx="1097280" cy="173736"/>
          </a:xfrm>
          <a:prstGeom prst="rect">
            <a:avLst/>
          </a:prstGeom>
          <a:noFill/>
          <a:ln/>
        </p:spPr>
        <p:txBody>
          <a:bodyPr wrap="square" lIns="0" tIns="0" rIns="0" bIns="0" rtlCol="0" anchor="ctr"/>
          <a:lstStyle/>
          <a:p>
            <a:pPr marL="0" indent="0">
              <a:buNone/>
            </a:pPr>
            <a:r>
              <a:rPr lang="en-US" sz="950" b="1" dirty="0">
                <a:solidFill>
                  <a:srgbClr val="1F2A44"/>
                </a:solidFill>
                <a:latin typeface="Arial" pitchFamily="34" charset="0"/>
                <a:ea typeface="Arial" pitchFamily="34" charset="-122"/>
                <a:cs typeface="Arial" pitchFamily="34" charset="-120"/>
              </a:rPr>
              <a:t>Fees</a:t>
            </a:r>
            <a:endParaRPr lang="en-US" sz="950" dirty="0"/>
          </a:p>
        </p:txBody>
      </p:sp>
      <p:sp>
        <p:nvSpPr>
          <p:cNvPr id="73" name="Text 71"/>
          <p:cNvSpPr txBox="1"/>
          <p:nvPr/>
        </p:nvSpPr>
        <p:spPr>
          <a:xfrm>
            <a:off x="6400800" y="3822192"/>
            <a:ext cx="1737360" cy="173736"/>
          </a:xfrm>
          <a:prstGeom prst="rect">
            <a:avLst/>
          </a:prstGeom>
          <a:noFill/>
          <a:ln/>
        </p:spPr>
        <p:txBody>
          <a:bodyPr wrap="square" lIns="0" tIns="0" rIns="0" bIns="0" rtlCol="0" anchor="ctr"/>
          <a:lstStyle/>
          <a:p>
            <a:pPr marL="0" indent="0">
              <a:buNone/>
            </a:pPr>
            <a:r>
              <a:rPr lang="en-US" sz="950" dirty="0">
                <a:solidFill>
                  <a:srgbClr val="1F2A44"/>
                </a:solidFill>
                <a:latin typeface="Arial" pitchFamily="34" charset="0"/>
                <a:ea typeface="Arial" pitchFamily="34" charset="-122"/>
                <a:cs typeface="Arial" pitchFamily="34" charset="-120"/>
              </a:rPr>
              <a:t>as stated on page</a:t>
            </a:r>
            <a:endParaRPr lang="en-US" sz="950" dirty="0"/>
          </a:p>
        </p:txBody>
      </p:sp>
      <p:sp>
        <p:nvSpPr>
          <p:cNvPr id="74" name="Shape 72"/>
          <p:cNvSpPr/>
          <p:nvPr/>
        </p:nvSpPr>
        <p:spPr>
          <a:xfrm>
            <a:off x="8458200" y="3337560"/>
            <a:ext cx="274320" cy="274320"/>
          </a:xfrm>
          <a:prstGeom prst="ellipse">
            <a:avLst/>
          </a:prstGeom>
          <a:solidFill>
            <a:srgbClr val="D7262E"/>
          </a:solidFill>
          <a:ln w="12700">
            <a:solidFill>
              <a:srgbClr val="FFFFFF"/>
            </a:solidFill>
            <a:prstDash val="solid"/>
          </a:ln>
        </p:spPr>
        <p:txBody>
          <a:bodyPr/>
          <a:lstStyle/>
          <a:p>
            <a:endParaRPr lang="LID4096"/>
          </a:p>
        </p:txBody>
      </p:sp>
      <p:sp>
        <p:nvSpPr>
          <p:cNvPr id="75" name="Text 73"/>
          <p:cNvSpPr txBox="1"/>
          <p:nvPr/>
        </p:nvSpPr>
        <p:spPr>
          <a:xfrm>
            <a:off x="8458200" y="333756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76" name="Shape 74"/>
          <p:cNvSpPr/>
          <p:nvPr/>
        </p:nvSpPr>
        <p:spPr>
          <a:xfrm>
            <a:off x="5212080" y="4114800"/>
            <a:ext cx="3520440" cy="822960"/>
          </a:xfrm>
          <a:prstGeom prst="rect">
            <a:avLst/>
          </a:prstGeom>
          <a:solidFill>
            <a:srgbClr val="FCECEC"/>
          </a:solidFill>
          <a:ln w="12700">
            <a:solidFill>
              <a:srgbClr val="D7262E"/>
            </a:solidFill>
            <a:prstDash val="solid"/>
          </a:ln>
        </p:spPr>
        <p:txBody>
          <a:bodyPr/>
          <a:lstStyle/>
          <a:p>
            <a:endParaRPr lang="LID4096"/>
          </a:p>
        </p:txBody>
      </p:sp>
      <p:sp>
        <p:nvSpPr>
          <p:cNvPr id="77" name="Text 75"/>
          <p:cNvSpPr txBox="1"/>
          <p:nvPr/>
        </p:nvSpPr>
        <p:spPr>
          <a:xfrm>
            <a:off x="5303520" y="4142232"/>
            <a:ext cx="3063240" cy="768096"/>
          </a:xfrm>
          <a:prstGeom prst="rect">
            <a:avLst/>
          </a:prstGeom>
          <a:noFill/>
          <a:ln/>
        </p:spPr>
        <p:txBody>
          <a:bodyPr wrap="square" lIns="0" tIns="0" rIns="0" bIns="0" rtlCol="0" anchor="ctr"/>
          <a:lstStyle/>
          <a:p>
            <a:pPr marL="0" indent="0">
              <a:buNone/>
            </a:pPr>
            <a:r>
              <a:rPr lang="en-US" sz="1050" b="1" dirty="0">
                <a:solidFill>
                  <a:srgbClr val="1F2A44"/>
                </a:solidFill>
                <a:latin typeface="Arial" pitchFamily="34" charset="0"/>
                <a:ea typeface="Arial" pitchFamily="34" charset="-122"/>
                <a:cs typeface="Arial" pitchFamily="34" charset="-120"/>
              </a:rPr>
              <a:t>Q: Why book with us?</a:t>
            </a:r>
            <a:endParaRPr lang="en-US" sz="1050" dirty="0"/>
          </a:p>
          <a:p>
            <a:pPr marL="0" indent="0">
              <a:buNone/>
            </a:pPr>
            <a:r>
              <a:rPr lang="en-US" sz="1050" dirty="0">
                <a:solidFill>
                  <a:srgbClr val="1F2A44"/>
                </a:solidFill>
                <a:latin typeface="Arial" pitchFamily="34" charset="0"/>
                <a:ea typeface="Arial" pitchFamily="34" charset="-122"/>
                <a:cs typeface="Arial" pitchFamily="34" charset="-120"/>
              </a:rPr>
              <a:t>A: …the original answer, now beside its question</a:t>
            </a:r>
            <a:endParaRPr lang="en-US" sz="1050" dirty="0"/>
          </a:p>
        </p:txBody>
      </p:sp>
      <p:sp>
        <p:nvSpPr>
          <p:cNvPr id="78" name="Shape 76"/>
          <p:cNvSpPr/>
          <p:nvPr/>
        </p:nvSpPr>
        <p:spPr>
          <a:xfrm>
            <a:off x="8458200" y="4206240"/>
            <a:ext cx="274320" cy="274320"/>
          </a:xfrm>
          <a:prstGeom prst="ellipse">
            <a:avLst/>
          </a:prstGeom>
          <a:solidFill>
            <a:srgbClr val="D7262E"/>
          </a:solidFill>
          <a:ln w="12700">
            <a:solidFill>
              <a:srgbClr val="FFFFFF"/>
            </a:solidFill>
            <a:prstDash val="solid"/>
          </a:ln>
        </p:spPr>
        <p:txBody>
          <a:bodyPr/>
          <a:lstStyle/>
          <a:p>
            <a:endParaRPr lang="LID4096"/>
          </a:p>
        </p:txBody>
      </p:sp>
      <p:sp>
        <p:nvSpPr>
          <p:cNvPr id="79" name="Text 77"/>
          <p:cNvSpPr txBox="1"/>
          <p:nvPr/>
        </p:nvSpPr>
        <p:spPr>
          <a:xfrm>
            <a:off x="8458200" y="42062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80" name="Text 78"/>
          <p:cNvSpPr txBox="1"/>
          <p:nvPr/>
        </p:nvSpPr>
        <p:spPr>
          <a:xfrm>
            <a:off x="5029200" y="5376672"/>
            <a:ext cx="3886200" cy="182880"/>
          </a:xfrm>
          <a:prstGeom prst="rect">
            <a:avLst/>
          </a:prstGeom>
          <a:noFill/>
          <a:ln/>
        </p:spPr>
        <p:txBody>
          <a:bodyPr wrap="square" lIns="0" tIns="0" rIns="0" bIns="0" rtlCol="0" anchor="ctr"/>
          <a:lstStyle/>
          <a:p>
            <a:pPr marL="0" indent="0" algn="r">
              <a:buNone/>
            </a:pPr>
            <a:r>
              <a:rPr lang="en-US" sz="800" i="1" dirty="0">
                <a:solidFill>
                  <a:srgbClr val="9AA3AE"/>
                </a:solidFill>
                <a:latin typeface="Arial" pitchFamily="34" charset="0"/>
                <a:ea typeface="Arial" pitchFamily="34" charset="-122"/>
                <a:cs typeface="Arial" pitchFamily="34" charset="-120"/>
              </a:rPr>
              <a:t>Illustration</a:t>
            </a:r>
            <a:endParaRPr lang="en-US" sz="800" dirty="0"/>
          </a:p>
        </p:txBody>
      </p:sp>
      <p:sp>
        <p:nvSpPr>
          <p:cNvPr id="86" name="Text 84"/>
          <p:cNvSpPr txBox="1"/>
          <p:nvPr/>
        </p:nvSpPr>
        <p:spPr>
          <a:xfrm>
            <a:off x="9189720" y="294436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0" name="Text 98"/>
          <p:cNvSpPr txBox="1"/>
          <p:nvPr/>
        </p:nvSpPr>
        <p:spPr>
          <a:xfrm>
            <a:off x="8275320" y="5806440"/>
            <a:ext cx="315468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Combine the </a:t>
            </a:r>
            <a:r>
              <a:rPr lang="en-US" sz="1200" b="1" dirty="0" err="1">
                <a:solidFill>
                  <a:srgbClr val="FFFFFF"/>
                </a:solidFill>
                <a:latin typeface="Arial" pitchFamily="34" charset="0"/>
                <a:ea typeface="Arial" pitchFamily="34" charset="-122"/>
                <a:cs typeface="Arial" pitchFamily="34" charset="-120"/>
              </a:rPr>
              <a:t>ms</a:t>
            </a:r>
            <a:r>
              <a:rPr lang="en-US" sz="1200" b="1" dirty="0">
                <a:solidFill>
                  <a:srgbClr val="FFFFFF"/>
                </a:solidFill>
                <a:latin typeface="Arial" pitchFamily="34" charset="0"/>
                <a:ea typeface="Arial" pitchFamily="34" charset="-122"/>
                <a:cs typeface="Arial" pitchFamily="34" charset="-120"/>
              </a:rPr>
              <a:t> promising changes into one final page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40"/>
          <p:cNvSpPr txBox="1"/>
          <p:nvPr/>
        </p:nvSpPr>
        <p:spPr>
          <a:xfrm>
            <a:off x="640080" y="320040"/>
            <a:ext cx="10972800" cy="54864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How we make it a fair test</a:t>
            </a:r>
            <a:endParaRPr lang="en-US" sz="2800" dirty="0"/>
          </a:p>
        </p:txBody>
      </p:sp>
      <p:pic>
        <p:nvPicPr>
          <p:cNvPr id="158" name="Picture 157">
            <a:extLst>
              <a:ext uri="{FF2B5EF4-FFF2-40B4-BE49-F238E27FC236}">
                <a16:creationId xmlns:a16="http://schemas.microsoft.com/office/drawing/2014/main" id="{11ACF596-AA88-00D0-8C2C-ADCC0632CC2E}"/>
              </a:ext>
            </a:extLst>
          </p:cNvPr>
          <p:cNvPicPr>
            <a:picLocks noChangeAspect="1"/>
          </p:cNvPicPr>
          <p:nvPr/>
        </p:nvPicPr>
        <p:blipFill>
          <a:blip r:embed="rId3"/>
          <a:srcRect b="3361"/>
          <a:stretch>
            <a:fillRect/>
          </a:stretch>
        </p:blipFill>
        <p:spPr>
          <a:xfrm>
            <a:off x="747251" y="819520"/>
            <a:ext cx="10510684" cy="5669280"/>
          </a:xfrm>
          <a:prstGeom prst="rect">
            <a:avLst/>
          </a:prstGeom>
        </p:spPr>
      </p:pic>
      <p:sp>
        <p:nvSpPr>
          <p:cNvPr id="2" name="TextBox 1">
            <a:extLst>
              <a:ext uri="{FF2B5EF4-FFF2-40B4-BE49-F238E27FC236}">
                <a16:creationId xmlns:a16="http://schemas.microsoft.com/office/drawing/2014/main" id="{809C8BA0-C767-963C-D018-0E5428076D81}"/>
              </a:ext>
            </a:extLst>
          </p:cNvPr>
          <p:cNvSpPr txBox="1"/>
          <p:nvPr/>
        </p:nvSpPr>
        <p:spPr>
          <a:xfrm>
            <a:off x="952500" y="914400"/>
            <a:ext cx="10287000" cy="276999"/>
          </a:xfrm>
          <a:prstGeom prst="rect">
            <a:avLst/>
          </a:prstGeom>
          <a:solidFill>
            <a:srgbClr val="FFFFFF"/>
          </a:solidFill>
        </p:spPr>
        <p:txBody>
          <a:bodyPr vert="horz" rtlCol="0">
            <a:spAutoFit/>
          </a:bodyPr>
          <a:lstStyle/>
          <a:p>
            <a:r>
              <a:rPr lang="en-US" sz="1200">
                <a:solidFill>
                  <a:srgbClr val="10243A"/>
                </a:solidFill>
                <a:latin typeface="Arial" panose="020B0604020202020204" pitchFamily="34" charset="0"/>
              </a:rPr>
              <a:t>Illustration: 40.0% and 52.4% are aggregate rates across 29 questions. Historical controls and capture differences limit causality.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METHOD 1  ·  USED IN THE FINAL PAGE</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Show the hidden deals</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The deals load with JavaScript, so the AI never saw them.</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640080" y="1828800"/>
            <a:ext cx="5074920" cy="3246120"/>
          </a:xfrm>
          <a:prstGeom prst="roundRect">
            <a:avLst>
              <a:gd name="adj" fmla="val 2817"/>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8" name="Text 6"/>
          <p:cNvSpPr txBox="1"/>
          <p:nvPr/>
        </p:nvSpPr>
        <p:spPr>
          <a:xfrm>
            <a:off x="960120" y="2011680"/>
            <a:ext cx="4434840" cy="256032"/>
          </a:xfrm>
          <a:prstGeom prst="rect">
            <a:avLst/>
          </a:prstGeom>
          <a:noFill/>
          <a:ln/>
        </p:spPr>
        <p:txBody>
          <a:bodyPr wrap="square" lIns="0" tIns="0" rIns="0" bIns="0" rtlCol="0" anchor="ctr"/>
          <a:lstStyle/>
          <a:p>
            <a:pPr marL="0" indent="0">
              <a:buNone/>
            </a:pPr>
            <a:r>
              <a:rPr lang="en-US" sz="1100" b="1" kern="0" spc="150" dirty="0">
                <a:solidFill>
                  <a:srgbClr val="5F6B7A"/>
                </a:solidFill>
                <a:latin typeface="Arial" pitchFamily="34" charset="0"/>
                <a:ea typeface="Arial" pitchFamily="34" charset="-122"/>
                <a:cs typeface="Arial" pitchFamily="34" charset="-120"/>
              </a:rPr>
              <a:t>BEFORE</a:t>
            </a:r>
            <a:r>
              <a:rPr lang="en-US" sz="1100" dirty="0">
                <a:solidFill>
                  <a:srgbClr val="9AA3AE"/>
                </a:solidFill>
                <a:latin typeface="Arial" pitchFamily="34" charset="0"/>
                <a:ea typeface="Arial" pitchFamily="34" charset="-122"/>
                <a:cs typeface="Arial" pitchFamily="34" charset="-120"/>
              </a:rPr>
              <a:t>   </a:t>
            </a:r>
            <a:endParaRPr lang="en-US" sz="1100" dirty="0"/>
          </a:p>
        </p:txBody>
      </p:sp>
      <p:sp>
        <p:nvSpPr>
          <p:cNvPr id="9" name="Text 7"/>
          <p:cNvSpPr txBox="1"/>
          <p:nvPr/>
        </p:nvSpPr>
        <p:spPr>
          <a:xfrm>
            <a:off x="960120" y="2423160"/>
            <a:ext cx="1828800" cy="228600"/>
          </a:xfrm>
          <a:prstGeom prst="rect">
            <a:avLst/>
          </a:prstGeom>
          <a:noFill/>
          <a:ln/>
        </p:spPr>
        <p:txBody>
          <a:bodyPr wrap="square" lIns="0" tIns="0" rIns="0" bIns="0" rtlCol="0" anchor="ctr"/>
          <a:lstStyle/>
          <a:p>
            <a:pPr marL="0" indent="0">
              <a:buNone/>
            </a:pPr>
            <a:r>
              <a:rPr lang="en-US" sz="1100" dirty="0">
                <a:solidFill>
                  <a:srgbClr val="9AA3AE"/>
                </a:solidFill>
                <a:latin typeface="Arial" pitchFamily="34" charset="0"/>
                <a:ea typeface="Arial" pitchFamily="34" charset="-122"/>
                <a:cs typeface="Arial" pitchFamily="34" charset="-120"/>
              </a:rPr>
              <a:t>People see:</a:t>
            </a:r>
            <a:endParaRPr lang="en-US" sz="1100" dirty="0"/>
          </a:p>
        </p:txBody>
      </p:sp>
      <p:pic>
        <p:nvPicPr>
          <p:cNvPr id="10" name="Image 0" descr="preencoded.png"/>
          <p:cNvPicPr>
            <a:picLocks noChangeAspect="1"/>
          </p:cNvPicPr>
          <p:nvPr/>
        </p:nvPicPr>
        <p:blipFill>
          <a:blip r:embed="rId3"/>
          <a:stretch>
            <a:fillRect/>
          </a:stretch>
        </p:blipFill>
        <p:spPr>
          <a:xfrm>
            <a:off x="960120" y="2697480"/>
            <a:ext cx="3017520" cy="1357884"/>
          </a:xfrm>
          <a:prstGeom prst="rect">
            <a:avLst/>
          </a:prstGeom>
        </p:spPr>
      </p:pic>
      <p:sp>
        <p:nvSpPr>
          <p:cNvPr id="11" name="Text 8"/>
          <p:cNvSpPr txBox="1"/>
          <p:nvPr/>
        </p:nvSpPr>
        <p:spPr>
          <a:xfrm>
            <a:off x="960120" y="4146804"/>
            <a:ext cx="1828800" cy="228600"/>
          </a:xfrm>
          <a:prstGeom prst="rect">
            <a:avLst/>
          </a:prstGeom>
          <a:noFill/>
          <a:ln/>
        </p:spPr>
        <p:txBody>
          <a:bodyPr wrap="square" lIns="0" tIns="0" rIns="0" bIns="0" rtlCol="0" anchor="ctr"/>
          <a:lstStyle/>
          <a:p>
            <a:pPr marL="0" indent="0">
              <a:buNone/>
            </a:pPr>
            <a:r>
              <a:rPr lang="en-US" sz="1100" dirty="0">
                <a:solidFill>
                  <a:srgbClr val="9AA3AE"/>
                </a:solidFill>
                <a:latin typeface="Arial" pitchFamily="34" charset="0"/>
                <a:ea typeface="Arial" pitchFamily="34" charset="-122"/>
                <a:cs typeface="Arial" pitchFamily="34" charset="-120"/>
              </a:rPr>
              <a:t>The AI reads:</a:t>
            </a:r>
            <a:endParaRPr lang="en-US" sz="1100" dirty="0"/>
          </a:p>
        </p:txBody>
      </p:sp>
      <p:sp>
        <p:nvSpPr>
          <p:cNvPr id="12" name="Shape 9"/>
          <p:cNvSpPr/>
          <p:nvPr/>
        </p:nvSpPr>
        <p:spPr>
          <a:xfrm>
            <a:off x="960120" y="4448556"/>
            <a:ext cx="4434840" cy="457200"/>
          </a:xfrm>
          <a:prstGeom prst="roundRect">
            <a:avLst>
              <a:gd name="adj" fmla="val 12000"/>
            </a:avLst>
          </a:prstGeom>
          <a:solidFill>
            <a:srgbClr val="FFFFFF"/>
          </a:solidFill>
          <a:ln w="19050">
            <a:solidFill>
              <a:srgbClr val="D7262E"/>
            </a:solidFill>
            <a:prstDash val="dash"/>
          </a:ln>
        </p:spPr>
        <p:txBody>
          <a:bodyPr/>
          <a:lstStyle/>
          <a:p>
            <a:endParaRPr lang="LID4096"/>
          </a:p>
        </p:txBody>
      </p:sp>
      <p:sp>
        <p:nvSpPr>
          <p:cNvPr id="13" name="Text 10"/>
          <p:cNvSpPr txBox="1"/>
          <p:nvPr/>
        </p:nvSpPr>
        <p:spPr>
          <a:xfrm>
            <a:off x="960120" y="4448556"/>
            <a:ext cx="4434840" cy="457200"/>
          </a:xfrm>
          <a:prstGeom prst="rect">
            <a:avLst/>
          </a:prstGeom>
          <a:noFill/>
          <a:ln/>
        </p:spPr>
        <p:txBody>
          <a:bodyPr wrap="square" lIns="0" tIns="0" rIns="0" bIns="0" rtlCol="0" anchor="ctr"/>
          <a:lstStyle/>
          <a:p>
            <a:pPr marL="0" indent="0" algn="ctr">
              <a:buNone/>
            </a:pPr>
            <a:r>
              <a:rPr lang="en-US" sz="1300" i="1" dirty="0">
                <a:solidFill>
                  <a:srgbClr val="D7262E"/>
                </a:solidFill>
                <a:latin typeface="Arial" pitchFamily="34" charset="0"/>
                <a:ea typeface="Arial" pitchFamily="34" charset="-122"/>
                <a:cs typeface="Arial" pitchFamily="34" charset="-120"/>
              </a:rPr>
              <a:t>no deals</a:t>
            </a:r>
            <a:endParaRPr lang="en-US" sz="1300" dirty="0"/>
          </a:p>
        </p:txBody>
      </p:sp>
      <p:sp>
        <p:nvSpPr>
          <p:cNvPr id="14" name="Shape 11"/>
          <p:cNvSpPr/>
          <p:nvPr/>
        </p:nvSpPr>
        <p:spPr>
          <a:xfrm>
            <a:off x="5870448" y="3223260"/>
            <a:ext cx="457200" cy="457200"/>
          </a:xfrm>
          <a:prstGeom prst="ellipse">
            <a:avLst/>
          </a:prstGeom>
          <a:solidFill>
            <a:srgbClr val="1F2A44"/>
          </a:solidFill>
          <a:ln w="25400">
            <a:solidFill>
              <a:srgbClr val="FFFFFF"/>
            </a:solidFill>
            <a:prstDash val="solid"/>
          </a:ln>
        </p:spPr>
        <p:txBody>
          <a:bodyPr/>
          <a:lstStyle/>
          <a:p>
            <a:endParaRPr lang="LID4096"/>
          </a:p>
        </p:txBody>
      </p:sp>
      <p:sp>
        <p:nvSpPr>
          <p:cNvPr id="15" name="Text 12"/>
          <p:cNvSpPr txBox="1"/>
          <p:nvPr/>
        </p:nvSpPr>
        <p:spPr>
          <a:xfrm>
            <a:off x="5870448" y="322326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6" name="Shape 13"/>
          <p:cNvSpPr/>
          <p:nvPr/>
        </p:nvSpPr>
        <p:spPr>
          <a:xfrm>
            <a:off x="6473952" y="1828800"/>
            <a:ext cx="5074920" cy="3246120"/>
          </a:xfrm>
          <a:prstGeom prst="roundRect">
            <a:avLst>
              <a:gd name="adj" fmla="val 2817"/>
            </a:avLst>
          </a:prstGeom>
          <a:solidFill>
            <a:srgbClr val="FFFFFF"/>
          </a:solidFill>
          <a:ln w="19050">
            <a:solidFill>
              <a:srgbClr val="D7262E"/>
            </a:solidFill>
            <a:prstDash val="solid"/>
          </a:ln>
          <a:effectLst>
            <a:outerShdw blurRad="127000" dist="38100" dir="5400000" algn="bl" rotWithShape="0">
              <a:srgbClr val="8E98A6">
                <a:alpha val="16000"/>
              </a:srgbClr>
            </a:outerShdw>
          </a:effectLst>
        </p:spPr>
        <p:txBody>
          <a:bodyPr/>
          <a:lstStyle/>
          <a:p>
            <a:endParaRPr lang="LID4096"/>
          </a:p>
        </p:txBody>
      </p:sp>
      <p:sp>
        <p:nvSpPr>
          <p:cNvPr id="17" name="Text 14"/>
          <p:cNvSpPr txBox="1"/>
          <p:nvPr/>
        </p:nvSpPr>
        <p:spPr>
          <a:xfrm>
            <a:off x="6793992" y="2011680"/>
            <a:ext cx="4434840" cy="256032"/>
          </a:xfrm>
          <a:prstGeom prst="rect">
            <a:avLst/>
          </a:prstGeom>
          <a:noFill/>
          <a:ln/>
        </p:spPr>
        <p:txBody>
          <a:bodyPr wrap="square" lIns="0" tIns="0" rIns="0" bIns="0" rtlCol="0" anchor="ctr"/>
          <a:lstStyle/>
          <a:p>
            <a:pPr marL="0" indent="0">
              <a:buNone/>
            </a:pPr>
            <a:r>
              <a:rPr lang="en-US" sz="1100" b="1" kern="0" spc="150" dirty="0">
                <a:solidFill>
                  <a:srgbClr val="D7262E"/>
                </a:solidFill>
                <a:latin typeface="Arial" pitchFamily="34" charset="0"/>
                <a:ea typeface="Arial" pitchFamily="34" charset="-122"/>
                <a:cs typeface="Arial" pitchFamily="34" charset="-120"/>
              </a:rPr>
              <a:t>AFTER</a:t>
            </a:r>
            <a:r>
              <a:rPr lang="en-US" sz="1100" dirty="0">
                <a:solidFill>
                  <a:srgbClr val="9AA3AE"/>
                </a:solidFill>
                <a:latin typeface="Arial" pitchFamily="34" charset="0"/>
                <a:ea typeface="Arial" pitchFamily="34" charset="-122"/>
                <a:cs typeface="Arial" pitchFamily="34" charset="-120"/>
              </a:rPr>
              <a:t>   what the AI read</a:t>
            </a:r>
            <a:endParaRPr lang="en-US" sz="1100" dirty="0"/>
          </a:p>
        </p:txBody>
      </p:sp>
      <p:sp>
        <p:nvSpPr>
          <p:cNvPr id="18" name="Shape 15"/>
          <p:cNvSpPr/>
          <p:nvPr/>
        </p:nvSpPr>
        <p:spPr>
          <a:xfrm>
            <a:off x="6793992" y="2468880"/>
            <a:ext cx="4434840" cy="1600200"/>
          </a:xfrm>
          <a:prstGeom prst="rect">
            <a:avLst/>
          </a:prstGeom>
          <a:solidFill>
            <a:srgbClr val="FDEDED"/>
          </a:solidFill>
          <a:ln w="12700">
            <a:solidFill>
              <a:srgbClr val="FDEDED"/>
            </a:solidFill>
            <a:prstDash val="solid"/>
          </a:ln>
        </p:spPr>
        <p:txBody>
          <a:bodyPr/>
          <a:lstStyle/>
          <a:p>
            <a:endParaRPr lang="LID4096"/>
          </a:p>
        </p:txBody>
      </p:sp>
      <p:sp>
        <p:nvSpPr>
          <p:cNvPr id="19" name="Shape 16"/>
          <p:cNvSpPr/>
          <p:nvPr/>
        </p:nvSpPr>
        <p:spPr>
          <a:xfrm>
            <a:off x="6793992" y="2468880"/>
            <a:ext cx="54864" cy="1600200"/>
          </a:xfrm>
          <a:prstGeom prst="rect">
            <a:avLst/>
          </a:prstGeom>
          <a:solidFill>
            <a:srgbClr val="D7262E"/>
          </a:solidFill>
          <a:ln w="12700">
            <a:solidFill>
              <a:srgbClr val="D7262E"/>
            </a:solidFill>
            <a:prstDash val="solid"/>
          </a:ln>
        </p:spPr>
        <p:txBody>
          <a:bodyPr/>
          <a:lstStyle/>
          <a:p>
            <a:endParaRPr lang="LID4096"/>
          </a:p>
        </p:txBody>
      </p:sp>
      <p:sp>
        <p:nvSpPr>
          <p:cNvPr id="20" name="Text 17"/>
          <p:cNvSpPr txBox="1"/>
          <p:nvPr/>
        </p:nvSpPr>
        <p:spPr>
          <a:xfrm>
            <a:off x="7068312" y="2578608"/>
            <a:ext cx="4069080" cy="1417320"/>
          </a:xfrm>
          <a:prstGeom prst="rect">
            <a:avLst/>
          </a:prstGeom>
          <a:noFill/>
          <a:ln/>
        </p:spPr>
        <p:txBody>
          <a:bodyPr wrap="square" lIns="0" tIns="0" rIns="0" bIns="0" rtlCol="0" anchor="t"/>
          <a:lstStyle/>
          <a:p>
            <a:pPr marL="0" indent="0">
              <a:spcAft>
                <a:spcPts val="500"/>
              </a:spcAft>
              <a:buNone/>
            </a:pPr>
            <a:r>
              <a:rPr lang="en-US" sz="1500" b="1" dirty="0">
                <a:solidFill>
                  <a:srgbClr val="1F2A44"/>
                </a:solidFill>
                <a:latin typeface="Arial" pitchFamily="34" charset="0"/>
                <a:ea typeface="Arial" pitchFamily="34" charset="-122"/>
                <a:cs typeface="Arial" pitchFamily="34" charset="-120"/>
              </a:rPr>
              <a:t>Melbourne (MEL) to London (LON)</a:t>
            </a:r>
            <a:endParaRPr lang="en-US" sz="1500" dirty="0"/>
          </a:p>
          <a:p>
            <a:pPr marL="0" indent="0">
              <a:spcAft>
                <a:spcPts val="500"/>
              </a:spcAft>
              <a:buNone/>
            </a:pPr>
            <a:r>
              <a:rPr lang="en-US" sz="1500" dirty="0">
                <a:solidFill>
                  <a:srgbClr val="1F2A44"/>
                </a:solidFill>
                <a:latin typeface="Arial" pitchFamily="34" charset="0"/>
                <a:ea typeface="Arial" pitchFamily="34" charset="-122"/>
                <a:cs typeface="Arial" pitchFamily="34" charset="-120"/>
              </a:rPr>
              <a:t>China Eastern</a:t>
            </a:r>
            <a:endParaRPr lang="en-US" sz="1500" dirty="0"/>
          </a:p>
          <a:p>
            <a:pPr marL="0" indent="0">
              <a:spcAft>
                <a:spcPts val="500"/>
              </a:spcAft>
              <a:buNone/>
            </a:pPr>
            <a:r>
              <a:rPr lang="en-US" sz="1500" dirty="0">
                <a:solidFill>
                  <a:srgbClr val="1F2A44"/>
                </a:solidFill>
                <a:latin typeface="Arial" pitchFamily="34" charset="0"/>
                <a:ea typeface="Arial" pitchFamily="34" charset="-122"/>
                <a:cs typeface="Arial" pitchFamily="34" charset="-120"/>
              </a:rPr>
              <a:t>$1387* Economy, Return</a:t>
            </a:r>
            <a:endParaRPr lang="en-US" sz="1500" dirty="0"/>
          </a:p>
          <a:p>
            <a:pPr marL="0" indent="0">
              <a:spcAft>
                <a:spcPts val="500"/>
              </a:spcAft>
              <a:buNone/>
            </a:pPr>
            <a:r>
              <a:rPr lang="en-US" sz="1500" dirty="0">
                <a:solidFill>
                  <a:srgbClr val="1F2A44"/>
                </a:solidFill>
                <a:latin typeface="Arial" pitchFamily="34" charset="0"/>
                <a:ea typeface="Arial" pitchFamily="34" charset="-122"/>
                <a:cs typeface="Arial" pitchFamily="34" charset="-120"/>
              </a:rPr>
              <a:t>08 Feb 27 – 11 Mar 27</a:t>
            </a:r>
            <a:endParaRPr lang="en-US" sz="1500" dirty="0"/>
          </a:p>
        </p:txBody>
      </p:sp>
      <p:sp>
        <p:nvSpPr>
          <p:cNvPr id="21" name="Text 18"/>
          <p:cNvSpPr txBox="1"/>
          <p:nvPr/>
        </p:nvSpPr>
        <p:spPr>
          <a:xfrm>
            <a:off x="6793992" y="4251960"/>
            <a:ext cx="4434840" cy="320040"/>
          </a:xfrm>
          <a:prstGeom prst="rect">
            <a:avLst/>
          </a:prstGeom>
          <a:noFill/>
          <a:ln/>
        </p:spPr>
        <p:txBody>
          <a:bodyPr wrap="square" lIns="0" tIns="0" rIns="0" bIns="0" rtlCol="0" anchor="ctr"/>
          <a:lstStyle/>
          <a:p>
            <a:pPr marL="0" indent="0">
              <a:buNone/>
            </a:pPr>
            <a:r>
              <a:rPr lang="en-US" sz="1250" i="1" dirty="0">
                <a:solidFill>
                  <a:srgbClr val="5F6B7A"/>
                </a:solidFill>
                <a:latin typeface="Arial" pitchFamily="34" charset="0"/>
                <a:ea typeface="Arial" pitchFamily="34" charset="-122"/>
                <a:cs typeface="Arial" pitchFamily="34" charset="-120"/>
              </a:rPr>
              <a:t>The same deal, now as text the AI can read.</a:t>
            </a:r>
            <a:endParaRPr lang="en-US" sz="1250" dirty="0"/>
          </a:p>
        </p:txBody>
      </p:sp>
      <p:sp>
        <p:nvSpPr>
          <p:cNvPr id="22" name="Text 19"/>
          <p:cNvSpPr txBox="1"/>
          <p:nvPr/>
        </p:nvSpPr>
        <p:spPr>
          <a:xfrm>
            <a:off x="640080" y="5321808"/>
            <a:ext cx="10908792" cy="566928"/>
          </a:xfrm>
          <a:prstGeom prst="rect">
            <a:avLst/>
          </a:prstGeom>
          <a:noFill/>
          <a:ln/>
        </p:spPr>
        <p:txBody>
          <a:bodyPr wrap="square" lIns="0" tIns="0" rIns="0" bIns="0" rtlCol="0" anchor="ctr"/>
          <a:lstStyle/>
          <a:p>
            <a:pPr marL="0" indent="0" algn="ctr">
              <a:buNone/>
            </a:pPr>
            <a:r>
              <a:rPr lang="en-US" sz="3200" b="1" dirty="0">
                <a:solidFill>
                  <a:srgbClr val="1F2A44"/>
                </a:solidFill>
                <a:latin typeface="Arial" pitchFamily="34" charset="0"/>
                <a:ea typeface="Arial" pitchFamily="34" charset="-122"/>
                <a:cs typeface="Arial" pitchFamily="34" charset="-120"/>
              </a:rPr>
              <a:t>39.3%</a:t>
            </a:r>
            <a:r>
              <a:rPr lang="en-US" sz="3200" b="1" dirty="0">
                <a:solidFill>
                  <a:srgbClr val="AEB6C2"/>
                </a:solidFill>
                <a:latin typeface="Arial" pitchFamily="34" charset="0"/>
                <a:ea typeface="Arial" pitchFamily="34" charset="-122"/>
                <a:cs typeface="Arial" pitchFamily="34" charset="-120"/>
              </a:rPr>
              <a:t>   →   </a:t>
            </a:r>
            <a:r>
              <a:rPr lang="en-US" sz="3200" b="1" dirty="0">
                <a:solidFill>
                  <a:srgbClr val="D7262E"/>
                </a:solidFill>
                <a:latin typeface="Arial" pitchFamily="34" charset="0"/>
                <a:ea typeface="Arial" pitchFamily="34" charset="-122"/>
                <a:cs typeface="Arial" pitchFamily="34" charset="-120"/>
              </a:rPr>
              <a:t>45.9%</a:t>
            </a:r>
            <a:endParaRPr lang="en-US" sz="3200" dirty="0"/>
          </a:p>
        </p:txBody>
      </p:sp>
      <p:sp>
        <p:nvSpPr>
          <p:cNvPr id="23" name="Text 20"/>
          <p:cNvSpPr txBox="1"/>
          <p:nvPr/>
        </p:nvSpPr>
        <p:spPr>
          <a:xfrm>
            <a:off x="640080" y="5888736"/>
            <a:ext cx="10908792" cy="292608"/>
          </a:xfrm>
          <a:prstGeom prst="rect">
            <a:avLst/>
          </a:prstGeom>
          <a:noFill/>
          <a:ln/>
        </p:spPr>
        <p:txBody>
          <a:bodyPr wrap="square" lIns="0" tIns="0" rIns="0" bIns="0" rtlCol="0" anchor="ctr"/>
          <a:lstStyle/>
          <a:p>
            <a:pPr marL="0" indent="0" algn="ctr">
              <a:buNone/>
            </a:pPr>
            <a:r>
              <a:rPr lang="en-US" sz="1300" dirty="0">
                <a:solidFill>
                  <a:srgbClr val="5F6B7A"/>
                </a:solidFill>
                <a:latin typeface="Arial" pitchFamily="34" charset="0"/>
                <a:ea typeface="Arial" pitchFamily="34" charset="-122"/>
                <a:cs typeface="Arial" pitchFamily="34" charset="-120"/>
              </a:rPr>
              <a:t>of answers cited Flight Centre  ·  +6.6 points (gain not certain)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METHOD 2  ·  USED IN THE FINAL PAGE</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Label the key facts</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The route, fare and fees were jumbled into one line.</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640080" y="1828800"/>
            <a:ext cx="5074920" cy="3246120"/>
          </a:xfrm>
          <a:prstGeom prst="roundRect">
            <a:avLst>
              <a:gd name="adj" fmla="val 2817"/>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8" name="Text 6"/>
          <p:cNvSpPr txBox="1"/>
          <p:nvPr/>
        </p:nvSpPr>
        <p:spPr>
          <a:xfrm>
            <a:off x="960120" y="2011680"/>
            <a:ext cx="4434840" cy="256032"/>
          </a:xfrm>
          <a:prstGeom prst="rect">
            <a:avLst/>
          </a:prstGeom>
          <a:noFill/>
          <a:ln/>
        </p:spPr>
        <p:txBody>
          <a:bodyPr wrap="square" lIns="0" tIns="0" rIns="0" bIns="0" rtlCol="0" anchor="ctr"/>
          <a:lstStyle/>
          <a:p>
            <a:pPr marL="0" indent="0">
              <a:buNone/>
            </a:pPr>
            <a:r>
              <a:rPr lang="en-US" sz="1100" b="1" kern="0" spc="150" dirty="0">
                <a:solidFill>
                  <a:srgbClr val="5F6B7A"/>
                </a:solidFill>
                <a:latin typeface="Arial" pitchFamily="34" charset="0"/>
                <a:ea typeface="Arial" pitchFamily="34" charset="-122"/>
                <a:cs typeface="Arial" pitchFamily="34" charset="-120"/>
              </a:rPr>
              <a:t>BEFORE</a:t>
            </a:r>
            <a:r>
              <a:rPr lang="en-US" sz="1100" dirty="0">
                <a:solidFill>
                  <a:srgbClr val="9AA3AE"/>
                </a:solidFill>
                <a:latin typeface="Arial" pitchFamily="34" charset="0"/>
                <a:ea typeface="Arial" pitchFamily="34" charset="-122"/>
                <a:cs typeface="Arial" pitchFamily="34" charset="-120"/>
              </a:rPr>
              <a:t>   what the AI read</a:t>
            </a:r>
            <a:endParaRPr lang="en-US" sz="1100" dirty="0"/>
          </a:p>
        </p:txBody>
      </p:sp>
      <p:sp>
        <p:nvSpPr>
          <p:cNvPr id="9" name="Text 7"/>
          <p:cNvSpPr txBox="1"/>
          <p:nvPr/>
        </p:nvSpPr>
        <p:spPr>
          <a:xfrm>
            <a:off x="960120" y="2468880"/>
            <a:ext cx="4434840" cy="2286000"/>
          </a:xfrm>
          <a:prstGeom prst="rect">
            <a:avLst/>
          </a:prstGeom>
          <a:noFill/>
          <a:ln/>
        </p:spPr>
        <p:txBody>
          <a:bodyPr wrap="square" lIns="0" tIns="0" rIns="0" bIns="0" rtlCol="0" anchor="t"/>
          <a:lstStyle/>
          <a:p>
            <a:pPr marL="0" indent="0">
              <a:buNone/>
            </a:pPr>
            <a:r>
              <a:rPr lang="en-US" sz="1500" dirty="0">
                <a:solidFill>
                  <a:srgbClr val="1F2A44"/>
                </a:solidFill>
                <a:latin typeface="Arial" pitchFamily="34" charset="0"/>
                <a:ea typeface="Arial" pitchFamily="34" charset="-122"/>
                <a:cs typeface="Arial" pitchFamily="34" charset="-120"/>
              </a:rPr>
              <a:t>Cheap Flights from Melbourne (MEL) to London (LON) from $1,434 Flights from Melbourne to London $1,434 ^ Hot deals for a London getaway! Displayed fares exclude Online Booking Fee &amp; Merchant Fee. Fees are applied once at checkout.</a:t>
            </a:r>
            <a:endParaRPr lang="en-US" sz="1500" dirty="0"/>
          </a:p>
        </p:txBody>
      </p:sp>
      <p:sp>
        <p:nvSpPr>
          <p:cNvPr id="10" name="Shape 8"/>
          <p:cNvSpPr/>
          <p:nvPr/>
        </p:nvSpPr>
        <p:spPr>
          <a:xfrm>
            <a:off x="5870448" y="3223260"/>
            <a:ext cx="457200" cy="457200"/>
          </a:xfrm>
          <a:prstGeom prst="ellipse">
            <a:avLst/>
          </a:prstGeom>
          <a:solidFill>
            <a:srgbClr val="1F2A44"/>
          </a:solidFill>
          <a:ln w="25400">
            <a:solidFill>
              <a:srgbClr val="FFFFFF"/>
            </a:solidFill>
            <a:prstDash val="solid"/>
          </a:ln>
        </p:spPr>
        <p:txBody>
          <a:bodyPr/>
          <a:lstStyle/>
          <a:p>
            <a:endParaRPr lang="LID4096"/>
          </a:p>
        </p:txBody>
      </p:sp>
      <p:sp>
        <p:nvSpPr>
          <p:cNvPr id="11" name="Text 9"/>
          <p:cNvSpPr txBox="1"/>
          <p:nvPr/>
        </p:nvSpPr>
        <p:spPr>
          <a:xfrm>
            <a:off x="5870448" y="322326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2" name="Shape 10"/>
          <p:cNvSpPr/>
          <p:nvPr/>
        </p:nvSpPr>
        <p:spPr>
          <a:xfrm>
            <a:off x="6473952" y="1828800"/>
            <a:ext cx="5074920" cy="3246120"/>
          </a:xfrm>
          <a:prstGeom prst="roundRect">
            <a:avLst>
              <a:gd name="adj" fmla="val 2817"/>
            </a:avLst>
          </a:prstGeom>
          <a:solidFill>
            <a:srgbClr val="FFFFFF"/>
          </a:solidFill>
          <a:ln w="19050">
            <a:solidFill>
              <a:srgbClr val="D7262E"/>
            </a:solidFill>
            <a:prstDash val="solid"/>
          </a:ln>
          <a:effectLst>
            <a:outerShdw blurRad="127000" dist="38100" dir="5400000" algn="bl" rotWithShape="0">
              <a:srgbClr val="8E98A6">
                <a:alpha val="16000"/>
              </a:srgbClr>
            </a:outerShdw>
          </a:effectLst>
        </p:spPr>
        <p:txBody>
          <a:bodyPr/>
          <a:lstStyle/>
          <a:p>
            <a:endParaRPr lang="LID4096"/>
          </a:p>
        </p:txBody>
      </p:sp>
      <p:sp>
        <p:nvSpPr>
          <p:cNvPr id="13" name="Text 11"/>
          <p:cNvSpPr txBox="1"/>
          <p:nvPr/>
        </p:nvSpPr>
        <p:spPr>
          <a:xfrm>
            <a:off x="6793992" y="2011680"/>
            <a:ext cx="4434840" cy="256032"/>
          </a:xfrm>
          <a:prstGeom prst="rect">
            <a:avLst/>
          </a:prstGeom>
          <a:noFill/>
          <a:ln/>
        </p:spPr>
        <p:txBody>
          <a:bodyPr wrap="square" lIns="0" tIns="0" rIns="0" bIns="0" rtlCol="0" anchor="ctr"/>
          <a:lstStyle/>
          <a:p>
            <a:pPr marL="0" indent="0">
              <a:buNone/>
            </a:pPr>
            <a:r>
              <a:rPr lang="en-US" sz="1100" b="1" kern="0" spc="150" dirty="0">
                <a:solidFill>
                  <a:srgbClr val="D7262E"/>
                </a:solidFill>
                <a:latin typeface="Arial" pitchFamily="34" charset="0"/>
                <a:ea typeface="Arial" pitchFamily="34" charset="-122"/>
                <a:cs typeface="Arial" pitchFamily="34" charset="-120"/>
              </a:rPr>
              <a:t>AFTER</a:t>
            </a:r>
            <a:r>
              <a:rPr lang="en-US" sz="1100" dirty="0">
                <a:solidFill>
                  <a:srgbClr val="9AA3AE"/>
                </a:solidFill>
                <a:latin typeface="Arial" pitchFamily="34" charset="0"/>
                <a:ea typeface="Arial" pitchFamily="34" charset="-122"/>
                <a:cs typeface="Arial" pitchFamily="34" charset="-120"/>
              </a:rPr>
              <a:t>   what the AI read</a:t>
            </a:r>
            <a:endParaRPr lang="en-US" sz="1100" dirty="0"/>
          </a:p>
        </p:txBody>
      </p:sp>
      <p:sp>
        <p:nvSpPr>
          <p:cNvPr id="14" name="Shape 12"/>
          <p:cNvSpPr/>
          <p:nvPr/>
        </p:nvSpPr>
        <p:spPr>
          <a:xfrm>
            <a:off x="6793992" y="2468880"/>
            <a:ext cx="4434840" cy="0"/>
          </a:xfrm>
          <a:prstGeom prst="line">
            <a:avLst/>
          </a:prstGeom>
          <a:noFill/>
          <a:ln w="12700">
            <a:solidFill>
              <a:srgbClr val="F2D3D4"/>
            </a:solidFill>
            <a:prstDash val="solid"/>
          </a:ln>
        </p:spPr>
        <p:txBody>
          <a:bodyPr/>
          <a:lstStyle/>
          <a:p>
            <a:endParaRPr lang="LID4096"/>
          </a:p>
        </p:txBody>
      </p:sp>
      <p:sp>
        <p:nvSpPr>
          <p:cNvPr id="15" name="Text 13"/>
          <p:cNvSpPr txBox="1"/>
          <p:nvPr/>
        </p:nvSpPr>
        <p:spPr>
          <a:xfrm>
            <a:off x="6793992" y="2523744"/>
            <a:ext cx="1645920" cy="420624"/>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Departure</a:t>
            </a:r>
            <a:endParaRPr lang="en-US" sz="1300" dirty="0"/>
          </a:p>
        </p:txBody>
      </p:sp>
      <p:sp>
        <p:nvSpPr>
          <p:cNvPr id="16" name="Text 14"/>
          <p:cNvSpPr txBox="1"/>
          <p:nvPr/>
        </p:nvSpPr>
        <p:spPr>
          <a:xfrm>
            <a:off x="8531352" y="2523744"/>
            <a:ext cx="2697480" cy="420624"/>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Melbourne (MEL)</a:t>
            </a:r>
            <a:endParaRPr lang="en-US" sz="1500" dirty="0"/>
          </a:p>
        </p:txBody>
      </p:sp>
      <p:sp>
        <p:nvSpPr>
          <p:cNvPr id="17" name="Shape 15"/>
          <p:cNvSpPr/>
          <p:nvPr/>
        </p:nvSpPr>
        <p:spPr>
          <a:xfrm>
            <a:off x="6793992" y="2999232"/>
            <a:ext cx="4434840" cy="0"/>
          </a:xfrm>
          <a:prstGeom prst="line">
            <a:avLst/>
          </a:prstGeom>
          <a:noFill/>
          <a:ln w="12700">
            <a:solidFill>
              <a:srgbClr val="F2D3D4"/>
            </a:solidFill>
            <a:prstDash val="solid"/>
          </a:ln>
        </p:spPr>
        <p:txBody>
          <a:bodyPr/>
          <a:lstStyle/>
          <a:p>
            <a:endParaRPr lang="LID4096"/>
          </a:p>
        </p:txBody>
      </p:sp>
      <p:sp>
        <p:nvSpPr>
          <p:cNvPr id="18" name="Text 16"/>
          <p:cNvSpPr txBox="1"/>
          <p:nvPr/>
        </p:nvSpPr>
        <p:spPr>
          <a:xfrm>
            <a:off x="6793992" y="3054096"/>
            <a:ext cx="1645920" cy="420624"/>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Destination</a:t>
            </a:r>
            <a:endParaRPr lang="en-US" sz="1300" dirty="0"/>
          </a:p>
        </p:txBody>
      </p:sp>
      <p:sp>
        <p:nvSpPr>
          <p:cNvPr id="19" name="Text 17"/>
          <p:cNvSpPr txBox="1"/>
          <p:nvPr/>
        </p:nvSpPr>
        <p:spPr>
          <a:xfrm>
            <a:off x="8531352" y="3054096"/>
            <a:ext cx="2697480" cy="420624"/>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London (LON)</a:t>
            </a:r>
            <a:endParaRPr lang="en-US" sz="1500" dirty="0"/>
          </a:p>
        </p:txBody>
      </p:sp>
      <p:sp>
        <p:nvSpPr>
          <p:cNvPr id="20" name="Shape 18"/>
          <p:cNvSpPr/>
          <p:nvPr/>
        </p:nvSpPr>
        <p:spPr>
          <a:xfrm>
            <a:off x="6793992" y="3529584"/>
            <a:ext cx="4434840" cy="0"/>
          </a:xfrm>
          <a:prstGeom prst="line">
            <a:avLst/>
          </a:prstGeom>
          <a:noFill/>
          <a:ln w="12700">
            <a:solidFill>
              <a:srgbClr val="F2D3D4"/>
            </a:solidFill>
            <a:prstDash val="solid"/>
          </a:ln>
        </p:spPr>
        <p:txBody>
          <a:bodyPr/>
          <a:lstStyle/>
          <a:p>
            <a:endParaRPr lang="LID4096"/>
          </a:p>
        </p:txBody>
      </p:sp>
      <p:sp>
        <p:nvSpPr>
          <p:cNvPr id="21" name="Text 19"/>
          <p:cNvSpPr txBox="1"/>
          <p:nvPr/>
        </p:nvSpPr>
        <p:spPr>
          <a:xfrm>
            <a:off x="6793992" y="3584448"/>
            <a:ext cx="1645920" cy="420624"/>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Starting fare</a:t>
            </a:r>
            <a:endParaRPr lang="en-US" sz="1300" dirty="0"/>
          </a:p>
        </p:txBody>
      </p:sp>
      <p:sp>
        <p:nvSpPr>
          <p:cNvPr id="22" name="Text 20"/>
          <p:cNvSpPr txBox="1"/>
          <p:nvPr/>
        </p:nvSpPr>
        <p:spPr>
          <a:xfrm>
            <a:off x="8531352" y="3584448"/>
            <a:ext cx="2697480" cy="420624"/>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from $1,434</a:t>
            </a:r>
            <a:endParaRPr lang="en-US" sz="1500" dirty="0"/>
          </a:p>
        </p:txBody>
      </p:sp>
      <p:sp>
        <p:nvSpPr>
          <p:cNvPr id="23" name="Shape 21"/>
          <p:cNvSpPr/>
          <p:nvPr/>
        </p:nvSpPr>
        <p:spPr>
          <a:xfrm>
            <a:off x="6793992" y="4059936"/>
            <a:ext cx="4434840" cy="0"/>
          </a:xfrm>
          <a:prstGeom prst="line">
            <a:avLst/>
          </a:prstGeom>
          <a:noFill/>
          <a:ln w="12700">
            <a:solidFill>
              <a:srgbClr val="F2D3D4"/>
            </a:solidFill>
            <a:prstDash val="solid"/>
          </a:ln>
        </p:spPr>
        <p:txBody>
          <a:bodyPr/>
          <a:lstStyle/>
          <a:p>
            <a:endParaRPr lang="LID4096"/>
          </a:p>
        </p:txBody>
      </p:sp>
      <p:sp>
        <p:nvSpPr>
          <p:cNvPr id="24" name="Text 22"/>
          <p:cNvSpPr txBox="1"/>
          <p:nvPr/>
        </p:nvSpPr>
        <p:spPr>
          <a:xfrm>
            <a:off x="6793992" y="4114800"/>
            <a:ext cx="1645920" cy="420624"/>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Fees</a:t>
            </a:r>
            <a:endParaRPr lang="en-US" sz="1300" dirty="0"/>
          </a:p>
        </p:txBody>
      </p:sp>
      <p:sp>
        <p:nvSpPr>
          <p:cNvPr id="25" name="Text 23"/>
          <p:cNvSpPr txBox="1"/>
          <p:nvPr/>
        </p:nvSpPr>
        <p:spPr>
          <a:xfrm>
            <a:off x="8531352" y="4114800"/>
            <a:ext cx="2697480" cy="420624"/>
          </a:xfrm>
          <a:prstGeom prst="rect">
            <a:avLst/>
          </a:prstGeom>
          <a:noFill/>
          <a:ln/>
        </p:spPr>
        <p:txBody>
          <a:bodyPr wrap="square" lIns="0" tIns="0" rIns="0" bIns="0" rtlCol="0" anchor="ctr"/>
          <a:lstStyle/>
          <a:p>
            <a:pPr marL="0" indent="0">
              <a:buNone/>
            </a:pPr>
            <a:r>
              <a:rPr lang="en-US" sz="1500" b="1" dirty="0">
                <a:solidFill>
                  <a:srgbClr val="1F2A44"/>
                </a:solidFill>
                <a:latin typeface="Arial" pitchFamily="34" charset="0"/>
                <a:ea typeface="Arial" pitchFamily="34" charset="-122"/>
                <a:cs typeface="Arial" pitchFamily="34" charset="-120"/>
              </a:rPr>
              <a:t>applied once at checkout</a:t>
            </a:r>
            <a:endParaRPr lang="en-US" sz="1500" dirty="0"/>
          </a:p>
        </p:txBody>
      </p:sp>
      <p:sp>
        <p:nvSpPr>
          <p:cNvPr id="26" name="Text 24"/>
          <p:cNvSpPr txBox="1"/>
          <p:nvPr/>
        </p:nvSpPr>
        <p:spPr>
          <a:xfrm>
            <a:off x="6793992" y="4709160"/>
            <a:ext cx="4434840" cy="320040"/>
          </a:xfrm>
          <a:prstGeom prst="rect">
            <a:avLst/>
          </a:prstGeom>
          <a:noFill/>
          <a:ln/>
        </p:spPr>
        <p:txBody>
          <a:bodyPr wrap="square" lIns="0" tIns="0" rIns="0" bIns="0" rtlCol="0" anchor="ctr"/>
          <a:lstStyle/>
          <a:p>
            <a:pPr marL="0" indent="0">
              <a:buNone/>
            </a:pPr>
            <a:r>
              <a:rPr lang="en-US" sz="1250" i="1" dirty="0">
                <a:solidFill>
                  <a:srgbClr val="5F6B7A"/>
                </a:solidFill>
                <a:latin typeface="Arial" pitchFamily="34" charset="0"/>
                <a:ea typeface="Arial" pitchFamily="34" charset="-122"/>
                <a:cs typeface="Arial" pitchFamily="34" charset="-120"/>
              </a:rPr>
              <a:t>Values copied from the same page. Nothing new added.</a:t>
            </a:r>
            <a:endParaRPr lang="en-US" sz="1250" dirty="0"/>
          </a:p>
        </p:txBody>
      </p:sp>
      <p:sp>
        <p:nvSpPr>
          <p:cNvPr id="27" name="Text 25"/>
          <p:cNvSpPr txBox="1"/>
          <p:nvPr/>
        </p:nvSpPr>
        <p:spPr>
          <a:xfrm>
            <a:off x="640080" y="5321808"/>
            <a:ext cx="10908792" cy="566928"/>
          </a:xfrm>
          <a:prstGeom prst="rect">
            <a:avLst/>
          </a:prstGeom>
          <a:noFill/>
          <a:ln/>
        </p:spPr>
        <p:txBody>
          <a:bodyPr wrap="square" lIns="0" tIns="0" rIns="0" bIns="0" rtlCol="0" anchor="ctr"/>
          <a:lstStyle/>
          <a:p>
            <a:pPr marL="0" indent="0" algn="ctr">
              <a:buNone/>
            </a:pPr>
            <a:r>
              <a:rPr lang="en-US" sz="3200" b="1" dirty="0">
                <a:solidFill>
                  <a:srgbClr val="1F2A44"/>
                </a:solidFill>
                <a:latin typeface="Arial" pitchFamily="34" charset="0"/>
                <a:ea typeface="Arial" pitchFamily="34" charset="-122"/>
                <a:cs typeface="Arial" pitchFamily="34" charset="-120"/>
              </a:rPr>
              <a:t>39.3%</a:t>
            </a:r>
            <a:r>
              <a:rPr lang="en-US" sz="3200" b="1" dirty="0">
                <a:solidFill>
                  <a:srgbClr val="AEB6C2"/>
                </a:solidFill>
                <a:latin typeface="Arial" pitchFamily="34" charset="0"/>
                <a:ea typeface="Arial" pitchFamily="34" charset="-122"/>
                <a:cs typeface="Arial" pitchFamily="34" charset="-120"/>
              </a:rPr>
              <a:t>   →   </a:t>
            </a:r>
            <a:r>
              <a:rPr lang="en-US" sz="3200" b="1" dirty="0">
                <a:solidFill>
                  <a:srgbClr val="D7262E"/>
                </a:solidFill>
                <a:latin typeface="Arial" pitchFamily="34" charset="0"/>
                <a:ea typeface="Arial" pitchFamily="34" charset="-122"/>
                <a:cs typeface="Arial" pitchFamily="34" charset="-120"/>
              </a:rPr>
              <a:t>46.9%</a:t>
            </a:r>
            <a:endParaRPr lang="en-US" sz="3200" dirty="0"/>
          </a:p>
        </p:txBody>
      </p:sp>
      <p:sp>
        <p:nvSpPr>
          <p:cNvPr id="28" name="Text 26"/>
          <p:cNvSpPr txBox="1"/>
          <p:nvPr/>
        </p:nvSpPr>
        <p:spPr>
          <a:xfrm>
            <a:off x="640080" y="5888736"/>
            <a:ext cx="10908792" cy="292608"/>
          </a:xfrm>
          <a:prstGeom prst="rect">
            <a:avLst/>
          </a:prstGeom>
          <a:noFill/>
          <a:ln/>
        </p:spPr>
        <p:txBody>
          <a:bodyPr wrap="square" lIns="0" tIns="0" rIns="0" bIns="0" rtlCol="0" anchor="ctr"/>
          <a:lstStyle/>
          <a:p>
            <a:pPr marL="0" indent="0" algn="ctr">
              <a:buNone/>
            </a:pPr>
            <a:r>
              <a:rPr lang="en-US" sz="1300" dirty="0">
                <a:solidFill>
                  <a:srgbClr val="5F6B7A"/>
                </a:solidFill>
                <a:latin typeface="Arial" pitchFamily="34" charset="0"/>
                <a:ea typeface="Arial" pitchFamily="34" charset="-122"/>
                <a:cs typeface="Arial" pitchFamily="34" charset="-120"/>
              </a:rPr>
              <a:t>of answers cited Flight Centre  ·  +7.6 points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METHOD 3  ·  USED IN THE FINAL PAGE</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Answer it as a question</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People ask AI questions, so we turned the page’s own facts into one.</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640080" y="1828800"/>
            <a:ext cx="5074920" cy="3246120"/>
          </a:xfrm>
          <a:prstGeom prst="roundRect">
            <a:avLst>
              <a:gd name="adj" fmla="val 2817"/>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8" name="Text 6"/>
          <p:cNvSpPr txBox="1"/>
          <p:nvPr/>
        </p:nvSpPr>
        <p:spPr>
          <a:xfrm>
            <a:off x="960120" y="2011680"/>
            <a:ext cx="4434840" cy="256032"/>
          </a:xfrm>
          <a:prstGeom prst="rect">
            <a:avLst/>
          </a:prstGeom>
          <a:noFill/>
          <a:ln/>
        </p:spPr>
        <p:txBody>
          <a:bodyPr wrap="square" lIns="0" tIns="0" rIns="0" bIns="0" rtlCol="0" anchor="ctr"/>
          <a:lstStyle/>
          <a:p>
            <a:pPr marL="0" indent="0">
              <a:buNone/>
            </a:pPr>
            <a:r>
              <a:rPr lang="en-US" sz="1100" b="1" kern="0" spc="150" dirty="0">
                <a:solidFill>
                  <a:srgbClr val="5F6B7A"/>
                </a:solidFill>
                <a:latin typeface="Arial" pitchFamily="34" charset="0"/>
                <a:ea typeface="Arial" pitchFamily="34" charset="-122"/>
                <a:cs typeface="Arial" pitchFamily="34" charset="-120"/>
              </a:rPr>
              <a:t>BEFORE</a:t>
            </a:r>
            <a:r>
              <a:rPr lang="en-US" sz="1100" dirty="0">
                <a:solidFill>
                  <a:srgbClr val="9AA3AE"/>
                </a:solidFill>
                <a:latin typeface="Arial" pitchFamily="34" charset="0"/>
                <a:ea typeface="Arial" pitchFamily="34" charset="-122"/>
                <a:cs typeface="Arial" pitchFamily="34" charset="-120"/>
              </a:rPr>
              <a:t>   what the AI read</a:t>
            </a:r>
            <a:endParaRPr lang="en-US" sz="1100" dirty="0"/>
          </a:p>
        </p:txBody>
      </p:sp>
      <p:sp>
        <p:nvSpPr>
          <p:cNvPr id="9" name="Text 7"/>
          <p:cNvSpPr txBox="1"/>
          <p:nvPr/>
        </p:nvSpPr>
        <p:spPr>
          <a:xfrm>
            <a:off x="960120" y="2468880"/>
            <a:ext cx="4434840" cy="2286000"/>
          </a:xfrm>
          <a:prstGeom prst="rect">
            <a:avLst/>
          </a:prstGeom>
          <a:noFill/>
          <a:ln/>
        </p:spPr>
        <p:txBody>
          <a:bodyPr wrap="square" lIns="0" tIns="0" rIns="0" bIns="0" rtlCol="0" anchor="t"/>
          <a:lstStyle/>
          <a:p>
            <a:pPr marL="0" indent="0">
              <a:buNone/>
            </a:pPr>
            <a:r>
              <a:rPr lang="en-US" sz="1500" dirty="0">
                <a:solidFill>
                  <a:srgbClr val="1F2A44"/>
                </a:solidFill>
                <a:latin typeface="Arial" pitchFamily="34" charset="0"/>
                <a:ea typeface="Arial" pitchFamily="34" charset="-122"/>
                <a:cs typeface="Arial" pitchFamily="34" charset="-120"/>
              </a:rPr>
              <a:t>Cheap Flights from Melbourne (MEL) to London (LON) from $1,434 Flights from Melbourne to London $1,434 ^ Hot deals for a London getaway! Displayed fares exclude Online Booking Fee &amp; Merchant Fee. Fees are applied once at checkout.</a:t>
            </a:r>
            <a:endParaRPr lang="en-US" sz="1500" dirty="0"/>
          </a:p>
        </p:txBody>
      </p:sp>
      <p:sp>
        <p:nvSpPr>
          <p:cNvPr id="10" name="Shape 8"/>
          <p:cNvSpPr/>
          <p:nvPr/>
        </p:nvSpPr>
        <p:spPr>
          <a:xfrm>
            <a:off x="5870448" y="3223260"/>
            <a:ext cx="457200" cy="457200"/>
          </a:xfrm>
          <a:prstGeom prst="ellipse">
            <a:avLst/>
          </a:prstGeom>
          <a:solidFill>
            <a:srgbClr val="1F2A44"/>
          </a:solidFill>
          <a:ln w="25400">
            <a:solidFill>
              <a:srgbClr val="FFFFFF"/>
            </a:solidFill>
            <a:prstDash val="solid"/>
          </a:ln>
        </p:spPr>
        <p:txBody>
          <a:bodyPr/>
          <a:lstStyle/>
          <a:p>
            <a:endParaRPr lang="LID4096"/>
          </a:p>
        </p:txBody>
      </p:sp>
      <p:sp>
        <p:nvSpPr>
          <p:cNvPr id="11" name="Text 9"/>
          <p:cNvSpPr txBox="1"/>
          <p:nvPr/>
        </p:nvSpPr>
        <p:spPr>
          <a:xfrm>
            <a:off x="5870448" y="322326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2" name="Shape 10"/>
          <p:cNvSpPr/>
          <p:nvPr/>
        </p:nvSpPr>
        <p:spPr>
          <a:xfrm>
            <a:off x="6473952" y="1828800"/>
            <a:ext cx="5074920" cy="3246120"/>
          </a:xfrm>
          <a:prstGeom prst="roundRect">
            <a:avLst>
              <a:gd name="adj" fmla="val 2817"/>
            </a:avLst>
          </a:prstGeom>
          <a:solidFill>
            <a:srgbClr val="FFFFFF"/>
          </a:solidFill>
          <a:ln w="19050">
            <a:solidFill>
              <a:srgbClr val="D7262E"/>
            </a:solidFill>
            <a:prstDash val="solid"/>
          </a:ln>
          <a:effectLst>
            <a:outerShdw blurRad="127000" dist="38100" dir="5400000" algn="bl" rotWithShape="0">
              <a:srgbClr val="8E98A6">
                <a:alpha val="16000"/>
              </a:srgbClr>
            </a:outerShdw>
          </a:effectLst>
        </p:spPr>
        <p:txBody>
          <a:bodyPr/>
          <a:lstStyle/>
          <a:p>
            <a:endParaRPr lang="LID4096"/>
          </a:p>
        </p:txBody>
      </p:sp>
      <p:sp>
        <p:nvSpPr>
          <p:cNvPr id="13" name="Text 11"/>
          <p:cNvSpPr txBox="1"/>
          <p:nvPr/>
        </p:nvSpPr>
        <p:spPr>
          <a:xfrm>
            <a:off x="6793992" y="2011680"/>
            <a:ext cx="4434840" cy="256032"/>
          </a:xfrm>
          <a:prstGeom prst="rect">
            <a:avLst/>
          </a:prstGeom>
          <a:noFill/>
          <a:ln/>
        </p:spPr>
        <p:txBody>
          <a:bodyPr wrap="square" lIns="0" tIns="0" rIns="0" bIns="0" rtlCol="0" anchor="ctr"/>
          <a:lstStyle/>
          <a:p>
            <a:pPr marL="0" indent="0">
              <a:buNone/>
            </a:pPr>
            <a:r>
              <a:rPr lang="en-US" sz="1100" b="1" kern="0" spc="150" dirty="0">
                <a:solidFill>
                  <a:srgbClr val="D7262E"/>
                </a:solidFill>
                <a:latin typeface="Arial" pitchFamily="34" charset="0"/>
                <a:ea typeface="Arial" pitchFamily="34" charset="-122"/>
                <a:cs typeface="Arial" pitchFamily="34" charset="-120"/>
              </a:rPr>
              <a:t>AFTER</a:t>
            </a:r>
            <a:r>
              <a:rPr lang="en-US" sz="1100" dirty="0">
                <a:solidFill>
                  <a:srgbClr val="9AA3AE"/>
                </a:solidFill>
                <a:latin typeface="Arial" pitchFamily="34" charset="0"/>
                <a:ea typeface="Arial" pitchFamily="34" charset="-122"/>
                <a:cs typeface="Arial" pitchFamily="34" charset="-120"/>
              </a:rPr>
              <a:t>   what the AI read</a:t>
            </a:r>
            <a:endParaRPr lang="en-US" sz="1100" dirty="0"/>
          </a:p>
        </p:txBody>
      </p:sp>
      <p:sp>
        <p:nvSpPr>
          <p:cNvPr id="14" name="Text 12"/>
          <p:cNvSpPr txBox="1"/>
          <p:nvPr/>
        </p:nvSpPr>
        <p:spPr>
          <a:xfrm>
            <a:off x="6793992" y="2468880"/>
            <a:ext cx="4434840" cy="822960"/>
          </a:xfrm>
          <a:prstGeom prst="rect">
            <a:avLst/>
          </a:prstGeom>
          <a:noFill/>
          <a:ln/>
        </p:spPr>
        <p:txBody>
          <a:bodyPr wrap="square" lIns="0" tIns="0" rIns="0" bIns="0" rtlCol="0" anchor="t"/>
          <a:lstStyle/>
          <a:p>
            <a:pPr marL="0" indent="0">
              <a:buNone/>
            </a:pPr>
            <a:r>
              <a:rPr lang="en-US" sz="1600" b="1" dirty="0">
                <a:solidFill>
                  <a:srgbClr val="D7262E"/>
                </a:solidFill>
                <a:latin typeface="Arial" pitchFamily="34" charset="0"/>
                <a:ea typeface="Arial" pitchFamily="34" charset="-122"/>
                <a:cs typeface="Arial" pitchFamily="34" charset="-120"/>
              </a:rPr>
              <a:t>What fare and fees does this page state for flights from Melbourne to London?</a:t>
            </a:r>
            <a:endParaRPr lang="en-US" sz="1600" dirty="0"/>
          </a:p>
        </p:txBody>
      </p:sp>
      <p:sp>
        <p:nvSpPr>
          <p:cNvPr id="15" name="Shape 13"/>
          <p:cNvSpPr/>
          <p:nvPr/>
        </p:nvSpPr>
        <p:spPr>
          <a:xfrm>
            <a:off x="6793992" y="3429000"/>
            <a:ext cx="4434840" cy="960120"/>
          </a:xfrm>
          <a:prstGeom prst="rect">
            <a:avLst/>
          </a:prstGeom>
          <a:solidFill>
            <a:srgbClr val="FDEDED"/>
          </a:solidFill>
          <a:ln w="12700">
            <a:solidFill>
              <a:srgbClr val="FDEDED"/>
            </a:solidFill>
            <a:prstDash val="solid"/>
          </a:ln>
        </p:spPr>
        <p:txBody>
          <a:bodyPr/>
          <a:lstStyle/>
          <a:p>
            <a:endParaRPr lang="LID4096"/>
          </a:p>
        </p:txBody>
      </p:sp>
      <p:sp>
        <p:nvSpPr>
          <p:cNvPr id="16" name="Shape 14"/>
          <p:cNvSpPr/>
          <p:nvPr/>
        </p:nvSpPr>
        <p:spPr>
          <a:xfrm>
            <a:off x="6793992" y="3429000"/>
            <a:ext cx="54864" cy="960120"/>
          </a:xfrm>
          <a:prstGeom prst="rect">
            <a:avLst/>
          </a:prstGeom>
          <a:solidFill>
            <a:srgbClr val="D7262E"/>
          </a:solidFill>
          <a:ln w="12700">
            <a:solidFill>
              <a:srgbClr val="D7262E"/>
            </a:solidFill>
            <a:prstDash val="solid"/>
          </a:ln>
        </p:spPr>
        <p:txBody>
          <a:bodyPr/>
          <a:lstStyle/>
          <a:p>
            <a:endParaRPr lang="LID4096"/>
          </a:p>
        </p:txBody>
      </p:sp>
      <p:sp>
        <p:nvSpPr>
          <p:cNvPr id="17" name="Text 15"/>
          <p:cNvSpPr txBox="1"/>
          <p:nvPr/>
        </p:nvSpPr>
        <p:spPr>
          <a:xfrm>
            <a:off x="7068312" y="3474720"/>
            <a:ext cx="4069080" cy="868680"/>
          </a:xfrm>
          <a:prstGeom prst="rect">
            <a:avLst/>
          </a:prstGeom>
          <a:noFill/>
          <a:ln/>
        </p:spPr>
        <p:txBody>
          <a:bodyPr wrap="square" lIns="0" tIns="0" rIns="0" bIns="0" rtlCol="0" anchor="ctr"/>
          <a:lstStyle/>
          <a:p>
            <a:pPr marL="0" indent="0">
              <a:buNone/>
            </a:pPr>
            <a:r>
              <a:rPr lang="en-US" sz="1300" dirty="0">
                <a:solidFill>
                  <a:srgbClr val="1F2A44"/>
                </a:solidFill>
                <a:latin typeface="Arial" pitchFamily="34" charset="0"/>
                <a:ea typeface="Arial" pitchFamily="34" charset="-122"/>
                <a:cs typeface="Arial" pitchFamily="34" charset="-120"/>
              </a:rPr>
              <a:t>“Cheap Flights from Melbourne (MEL) to London (LON) from $1,434 … Fees are applied once at checkout.”</a:t>
            </a:r>
            <a:endParaRPr lang="en-US" sz="1300" dirty="0"/>
          </a:p>
        </p:txBody>
      </p:sp>
      <p:sp>
        <p:nvSpPr>
          <p:cNvPr id="18" name="Text 16"/>
          <p:cNvSpPr txBox="1"/>
          <p:nvPr/>
        </p:nvSpPr>
        <p:spPr>
          <a:xfrm>
            <a:off x="6793992" y="4572000"/>
            <a:ext cx="4434840" cy="320040"/>
          </a:xfrm>
          <a:prstGeom prst="rect">
            <a:avLst/>
          </a:prstGeom>
          <a:noFill/>
          <a:ln/>
        </p:spPr>
        <p:txBody>
          <a:bodyPr wrap="square" lIns="0" tIns="0" rIns="0" bIns="0" rtlCol="0" anchor="ctr"/>
          <a:lstStyle/>
          <a:p>
            <a:pPr marL="0" indent="0">
              <a:buNone/>
            </a:pPr>
            <a:r>
              <a:rPr lang="en-US" sz="1250" i="1" dirty="0">
                <a:solidFill>
                  <a:srgbClr val="5F6B7A"/>
                </a:solidFill>
                <a:latin typeface="Arial" pitchFamily="34" charset="0"/>
                <a:ea typeface="Arial" pitchFamily="34" charset="-122"/>
                <a:cs typeface="Arial" pitchFamily="34" charset="-120"/>
              </a:rPr>
              <a:t>The answer is an exact quote from the same page.</a:t>
            </a:r>
            <a:endParaRPr lang="en-US" sz="1250" dirty="0"/>
          </a:p>
        </p:txBody>
      </p:sp>
      <p:sp>
        <p:nvSpPr>
          <p:cNvPr id="19" name="Text 17"/>
          <p:cNvSpPr txBox="1"/>
          <p:nvPr/>
        </p:nvSpPr>
        <p:spPr>
          <a:xfrm>
            <a:off x="640080" y="5321808"/>
            <a:ext cx="10908792" cy="566928"/>
          </a:xfrm>
          <a:prstGeom prst="rect">
            <a:avLst/>
          </a:prstGeom>
          <a:noFill/>
          <a:ln/>
        </p:spPr>
        <p:txBody>
          <a:bodyPr wrap="square" lIns="0" tIns="0" rIns="0" bIns="0" rtlCol="0" anchor="ctr"/>
          <a:lstStyle/>
          <a:p>
            <a:pPr marL="0" indent="0" algn="ctr">
              <a:buNone/>
            </a:pPr>
            <a:r>
              <a:rPr lang="en-US" sz="3200" b="1" dirty="0">
                <a:solidFill>
                  <a:srgbClr val="1F2A44"/>
                </a:solidFill>
                <a:latin typeface="Arial" pitchFamily="34" charset="0"/>
                <a:ea typeface="Arial" pitchFamily="34" charset="-122"/>
                <a:cs typeface="Arial" pitchFamily="34" charset="-120"/>
              </a:rPr>
              <a:t>39.3%</a:t>
            </a:r>
            <a:r>
              <a:rPr lang="en-US" sz="3200" b="1" dirty="0">
                <a:solidFill>
                  <a:srgbClr val="AEB6C2"/>
                </a:solidFill>
                <a:latin typeface="Arial" pitchFamily="34" charset="0"/>
                <a:ea typeface="Arial" pitchFamily="34" charset="-122"/>
                <a:cs typeface="Arial" pitchFamily="34" charset="-120"/>
              </a:rPr>
              <a:t>   →   </a:t>
            </a:r>
            <a:r>
              <a:rPr lang="en-US" sz="3200" b="1" dirty="0">
                <a:solidFill>
                  <a:srgbClr val="D7262E"/>
                </a:solidFill>
                <a:latin typeface="Arial" pitchFamily="34" charset="0"/>
                <a:ea typeface="Arial" pitchFamily="34" charset="-122"/>
                <a:cs typeface="Arial" pitchFamily="34" charset="-120"/>
              </a:rPr>
              <a:t>46.2%</a:t>
            </a:r>
            <a:endParaRPr lang="en-US" sz="3200" dirty="0"/>
          </a:p>
        </p:txBody>
      </p:sp>
      <p:sp>
        <p:nvSpPr>
          <p:cNvPr id="20" name="Text 18"/>
          <p:cNvSpPr txBox="1"/>
          <p:nvPr/>
        </p:nvSpPr>
        <p:spPr>
          <a:xfrm>
            <a:off x="640080" y="5888736"/>
            <a:ext cx="10908792" cy="292608"/>
          </a:xfrm>
          <a:prstGeom prst="rect">
            <a:avLst/>
          </a:prstGeom>
          <a:noFill/>
          <a:ln/>
        </p:spPr>
        <p:txBody>
          <a:bodyPr wrap="square" lIns="0" tIns="0" rIns="0" bIns="0" rtlCol="0" anchor="ctr"/>
          <a:lstStyle/>
          <a:p>
            <a:pPr marL="0" indent="0" algn="ctr">
              <a:buNone/>
            </a:pPr>
            <a:r>
              <a:rPr lang="en-US" sz="1300" dirty="0">
                <a:solidFill>
                  <a:srgbClr val="5F6B7A"/>
                </a:solidFill>
                <a:latin typeface="Arial" pitchFamily="34" charset="0"/>
                <a:ea typeface="Arial" pitchFamily="34" charset="-122"/>
                <a:cs typeface="Arial" pitchFamily="34" charset="-120"/>
              </a:rPr>
              <a:t>of answers cited Flight Centre  ·  +6.9 points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FINAL PAGE  ·  TWO FAQ FIXES</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Fix the FAQ section</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Questions were hidden in buttons, and the FAQ sat below a long travel guide.</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640080" y="1828800"/>
            <a:ext cx="5074920" cy="3246120"/>
          </a:xfrm>
          <a:prstGeom prst="roundRect">
            <a:avLst>
              <a:gd name="adj" fmla="val 2817"/>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8" name="Text 6"/>
          <p:cNvSpPr txBox="1"/>
          <p:nvPr/>
        </p:nvSpPr>
        <p:spPr>
          <a:xfrm>
            <a:off x="960120" y="2011680"/>
            <a:ext cx="4434840" cy="256032"/>
          </a:xfrm>
          <a:prstGeom prst="rect">
            <a:avLst/>
          </a:prstGeom>
          <a:noFill/>
          <a:ln/>
        </p:spPr>
        <p:txBody>
          <a:bodyPr wrap="square" lIns="0" tIns="0" rIns="0" bIns="0" rtlCol="0" anchor="ctr"/>
          <a:lstStyle/>
          <a:p>
            <a:pPr marL="0" indent="0">
              <a:buNone/>
            </a:pPr>
            <a:r>
              <a:rPr lang="en-US" sz="1100" b="1" kern="0" spc="150" dirty="0">
                <a:solidFill>
                  <a:srgbClr val="5F6B7A"/>
                </a:solidFill>
                <a:latin typeface="Arial" pitchFamily="34" charset="0"/>
                <a:ea typeface="Arial" pitchFamily="34" charset="-122"/>
                <a:cs typeface="Arial" pitchFamily="34" charset="-120"/>
              </a:rPr>
              <a:t>BEFORE</a:t>
            </a:r>
            <a:r>
              <a:rPr lang="en-US" sz="1100" dirty="0">
                <a:solidFill>
                  <a:srgbClr val="9AA3AE"/>
                </a:solidFill>
                <a:latin typeface="Arial" pitchFamily="34" charset="0"/>
                <a:ea typeface="Arial" pitchFamily="34" charset="-122"/>
                <a:cs typeface="Arial" pitchFamily="34" charset="-120"/>
              </a:rPr>
              <a:t>   order of the page</a:t>
            </a:r>
            <a:endParaRPr lang="en-US" sz="1100" dirty="0"/>
          </a:p>
        </p:txBody>
      </p:sp>
      <p:sp>
        <p:nvSpPr>
          <p:cNvPr id="9" name="Shape 7"/>
          <p:cNvSpPr/>
          <p:nvPr/>
        </p:nvSpPr>
        <p:spPr>
          <a:xfrm>
            <a:off x="960120" y="2377440"/>
            <a:ext cx="4434840" cy="384048"/>
          </a:xfrm>
          <a:prstGeom prst="roundRect">
            <a:avLst>
              <a:gd name="adj" fmla="val 11905"/>
            </a:avLst>
          </a:prstGeom>
          <a:solidFill>
            <a:srgbClr val="F2F4F7"/>
          </a:solidFill>
          <a:ln w="6350">
            <a:solidFill>
              <a:srgbClr val="DDE2E8"/>
            </a:solidFill>
            <a:prstDash val="solid"/>
          </a:ln>
        </p:spPr>
        <p:txBody>
          <a:bodyPr/>
          <a:lstStyle/>
          <a:p>
            <a:endParaRPr lang="LID4096"/>
          </a:p>
        </p:txBody>
      </p:sp>
      <p:sp>
        <p:nvSpPr>
          <p:cNvPr id="10" name="Text 8"/>
          <p:cNvSpPr txBox="1"/>
          <p:nvPr/>
        </p:nvSpPr>
        <p:spPr>
          <a:xfrm>
            <a:off x="1143000" y="2377440"/>
            <a:ext cx="4160520" cy="384048"/>
          </a:xfrm>
          <a:prstGeom prst="rect">
            <a:avLst/>
          </a:prstGeom>
          <a:noFill/>
          <a:ln/>
        </p:spPr>
        <p:txBody>
          <a:bodyPr wrap="square" lIns="0" tIns="0" rIns="0" bIns="0" rtlCol="0" anchor="ctr"/>
          <a:lstStyle/>
          <a:p>
            <a:pPr marL="0" indent="0">
              <a:buNone/>
            </a:pPr>
            <a:r>
              <a:rPr lang="en-US" sz="1250" dirty="0">
                <a:solidFill>
                  <a:srgbClr val="5F6B7A"/>
                </a:solidFill>
                <a:latin typeface="Arial" pitchFamily="34" charset="0"/>
                <a:ea typeface="Arial" pitchFamily="34" charset="-122"/>
                <a:cs typeface="Arial" pitchFamily="34" charset="-120"/>
              </a:rPr>
              <a:t>Hot deals</a:t>
            </a:r>
            <a:endParaRPr lang="en-US" sz="1250" dirty="0"/>
          </a:p>
        </p:txBody>
      </p:sp>
      <p:sp>
        <p:nvSpPr>
          <p:cNvPr id="11" name="Shape 9"/>
          <p:cNvSpPr/>
          <p:nvPr/>
        </p:nvSpPr>
        <p:spPr>
          <a:xfrm>
            <a:off x="960120" y="2852928"/>
            <a:ext cx="4434840" cy="822960"/>
          </a:xfrm>
          <a:prstGeom prst="roundRect">
            <a:avLst>
              <a:gd name="adj" fmla="val 5556"/>
            </a:avLst>
          </a:prstGeom>
          <a:solidFill>
            <a:srgbClr val="F2F4F7"/>
          </a:solidFill>
          <a:ln w="6350">
            <a:solidFill>
              <a:srgbClr val="DDE2E8"/>
            </a:solidFill>
            <a:prstDash val="solid"/>
          </a:ln>
        </p:spPr>
        <p:txBody>
          <a:bodyPr/>
          <a:lstStyle/>
          <a:p>
            <a:endParaRPr lang="LID4096"/>
          </a:p>
        </p:txBody>
      </p:sp>
      <p:sp>
        <p:nvSpPr>
          <p:cNvPr id="12" name="Text 10"/>
          <p:cNvSpPr txBox="1"/>
          <p:nvPr/>
        </p:nvSpPr>
        <p:spPr>
          <a:xfrm>
            <a:off x="1143000" y="2852928"/>
            <a:ext cx="4160520" cy="822960"/>
          </a:xfrm>
          <a:prstGeom prst="rect">
            <a:avLst/>
          </a:prstGeom>
          <a:noFill/>
          <a:ln/>
        </p:spPr>
        <p:txBody>
          <a:bodyPr wrap="square" lIns="0" tIns="0" rIns="0" bIns="0" rtlCol="0" anchor="ctr"/>
          <a:lstStyle/>
          <a:p>
            <a:pPr marL="0" indent="0">
              <a:buNone/>
            </a:pPr>
            <a:r>
              <a:rPr lang="en-US" sz="1250" dirty="0">
                <a:solidFill>
                  <a:srgbClr val="5F6B7A"/>
                </a:solidFill>
                <a:latin typeface="Arial" pitchFamily="34" charset="0"/>
                <a:ea typeface="Arial" pitchFamily="34" charset="-122"/>
                <a:cs typeface="Arial" pitchFamily="34" charset="-120"/>
              </a:rPr>
              <a:t>Explore [destination]  ·  long travel guide</a:t>
            </a:r>
            <a:endParaRPr lang="en-US" sz="1250" dirty="0"/>
          </a:p>
        </p:txBody>
      </p:sp>
      <p:sp>
        <p:nvSpPr>
          <p:cNvPr id="13" name="Shape 11"/>
          <p:cNvSpPr/>
          <p:nvPr/>
        </p:nvSpPr>
        <p:spPr>
          <a:xfrm>
            <a:off x="960120" y="3767328"/>
            <a:ext cx="4434840" cy="1170432"/>
          </a:xfrm>
          <a:prstGeom prst="roundRect">
            <a:avLst>
              <a:gd name="adj" fmla="val 3906"/>
            </a:avLst>
          </a:prstGeom>
          <a:solidFill>
            <a:srgbClr val="FFFFFF"/>
          </a:solidFill>
          <a:ln w="15875">
            <a:solidFill>
              <a:srgbClr val="D7262E"/>
            </a:solidFill>
            <a:prstDash val="solid"/>
          </a:ln>
        </p:spPr>
        <p:txBody>
          <a:bodyPr/>
          <a:lstStyle/>
          <a:p>
            <a:endParaRPr lang="LID4096"/>
          </a:p>
        </p:txBody>
      </p:sp>
      <p:sp>
        <p:nvSpPr>
          <p:cNvPr id="14" name="Text 12"/>
          <p:cNvSpPr txBox="1"/>
          <p:nvPr/>
        </p:nvSpPr>
        <p:spPr>
          <a:xfrm>
            <a:off x="1143000" y="3840480"/>
            <a:ext cx="914400" cy="237744"/>
          </a:xfrm>
          <a:prstGeom prst="rect">
            <a:avLst/>
          </a:prstGeom>
          <a:noFill/>
          <a:ln/>
        </p:spPr>
        <p:txBody>
          <a:bodyPr wrap="square" lIns="0" tIns="0" rIns="0" bIns="0" rtlCol="0" anchor="ctr"/>
          <a:lstStyle/>
          <a:p>
            <a:pPr marL="0" indent="0">
              <a:buNone/>
            </a:pPr>
            <a:r>
              <a:rPr lang="en-US" sz="1100" b="1" dirty="0">
                <a:solidFill>
                  <a:srgbClr val="D7262E"/>
                </a:solidFill>
                <a:latin typeface="Arial" pitchFamily="34" charset="0"/>
                <a:ea typeface="Arial" pitchFamily="34" charset="-122"/>
                <a:cs typeface="Arial" pitchFamily="34" charset="-120"/>
              </a:rPr>
              <a:t>FAQ</a:t>
            </a:r>
            <a:endParaRPr lang="en-US" sz="1100" dirty="0"/>
          </a:p>
        </p:txBody>
      </p:sp>
      <p:sp>
        <p:nvSpPr>
          <p:cNvPr id="15" name="Shape 13"/>
          <p:cNvSpPr/>
          <p:nvPr/>
        </p:nvSpPr>
        <p:spPr>
          <a:xfrm>
            <a:off x="1143000" y="4105656"/>
            <a:ext cx="4069080" cy="256032"/>
          </a:xfrm>
          <a:prstGeom prst="roundRect">
            <a:avLst>
              <a:gd name="adj" fmla="val 14286"/>
            </a:avLst>
          </a:prstGeom>
          <a:solidFill>
            <a:srgbClr val="FFFFFF"/>
          </a:solidFill>
          <a:ln w="12700">
            <a:solidFill>
              <a:srgbClr val="D7262E"/>
            </a:solidFill>
            <a:prstDash val="dash"/>
          </a:ln>
        </p:spPr>
        <p:txBody>
          <a:bodyPr/>
          <a:lstStyle/>
          <a:p>
            <a:endParaRPr lang="LID4096"/>
          </a:p>
        </p:txBody>
      </p:sp>
      <p:sp>
        <p:nvSpPr>
          <p:cNvPr id="16" name="Text 14"/>
          <p:cNvSpPr txBox="1"/>
          <p:nvPr/>
        </p:nvSpPr>
        <p:spPr>
          <a:xfrm>
            <a:off x="1143000" y="4105656"/>
            <a:ext cx="4069080" cy="256032"/>
          </a:xfrm>
          <a:prstGeom prst="rect">
            <a:avLst/>
          </a:prstGeom>
          <a:noFill/>
          <a:ln/>
        </p:spPr>
        <p:txBody>
          <a:bodyPr wrap="square" lIns="0" tIns="0" rIns="0" bIns="0" rtlCol="0" anchor="ctr"/>
          <a:lstStyle/>
          <a:p>
            <a:pPr marL="0" indent="0" algn="ctr">
              <a:buNone/>
            </a:pPr>
            <a:r>
              <a:rPr lang="en-US" sz="1100" i="1" dirty="0">
                <a:solidFill>
                  <a:srgbClr val="D7262E"/>
                </a:solidFill>
                <a:latin typeface="Arial" pitchFamily="34" charset="0"/>
                <a:ea typeface="Arial" pitchFamily="34" charset="-122"/>
                <a:cs typeface="Arial" pitchFamily="34" charset="-120"/>
              </a:rPr>
              <a:t>question missing</a:t>
            </a:r>
            <a:endParaRPr lang="en-US" sz="1100" dirty="0"/>
          </a:p>
        </p:txBody>
      </p:sp>
      <p:sp>
        <p:nvSpPr>
          <p:cNvPr id="17" name="Text 15"/>
          <p:cNvSpPr txBox="1"/>
          <p:nvPr/>
        </p:nvSpPr>
        <p:spPr>
          <a:xfrm>
            <a:off x="1143000" y="4572000"/>
            <a:ext cx="4114800" cy="274320"/>
          </a:xfrm>
          <a:prstGeom prst="rect">
            <a:avLst/>
          </a:prstGeom>
          <a:noFill/>
          <a:ln/>
        </p:spPr>
        <p:txBody>
          <a:bodyPr wrap="square" lIns="0" tIns="0" rIns="0" bIns="0" rtlCol="0" anchor="ctr"/>
          <a:lstStyle/>
          <a:p>
            <a:pPr marL="0" indent="0">
              <a:buNone/>
            </a:pPr>
            <a:r>
              <a:rPr lang="en-US" sz="1200" dirty="0">
                <a:solidFill>
                  <a:srgbClr val="1F2A44"/>
                </a:solidFill>
                <a:latin typeface="Arial" pitchFamily="34" charset="0"/>
                <a:ea typeface="Arial" pitchFamily="34" charset="-122"/>
                <a:cs typeface="Arial" pitchFamily="34" charset="-120"/>
              </a:rPr>
              <a:t>We make travel easy with excellent service…</a:t>
            </a:r>
            <a:endParaRPr lang="en-US" sz="1200" dirty="0"/>
          </a:p>
        </p:txBody>
      </p:sp>
      <p:sp>
        <p:nvSpPr>
          <p:cNvPr id="18" name="Shape 16"/>
          <p:cNvSpPr/>
          <p:nvPr/>
        </p:nvSpPr>
        <p:spPr>
          <a:xfrm>
            <a:off x="5870448" y="3223260"/>
            <a:ext cx="457200" cy="457200"/>
          </a:xfrm>
          <a:prstGeom prst="ellipse">
            <a:avLst/>
          </a:prstGeom>
          <a:solidFill>
            <a:srgbClr val="1F2A44"/>
          </a:solidFill>
          <a:ln w="25400">
            <a:solidFill>
              <a:srgbClr val="FFFFFF"/>
            </a:solidFill>
            <a:prstDash val="solid"/>
          </a:ln>
        </p:spPr>
        <p:txBody>
          <a:bodyPr/>
          <a:lstStyle/>
          <a:p>
            <a:endParaRPr lang="LID4096"/>
          </a:p>
        </p:txBody>
      </p:sp>
      <p:sp>
        <p:nvSpPr>
          <p:cNvPr id="19" name="Text 17"/>
          <p:cNvSpPr txBox="1"/>
          <p:nvPr/>
        </p:nvSpPr>
        <p:spPr>
          <a:xfrm>
            <a:off x="5870448" y="322326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20" name="Shape 18"/>
          <p:cNvSpPr/>
          <p:nvPr/>
        </p:nvSpPr>
        <p:spPr>
          <a:xfrm>
            <a:off x="6473952" y="1828800"/>
            <a:ext cx="5074920" cy="3246120"/>
          </a:xfrm>
          <a:prstGeom prst="roundRect">
            <a:avLst>
              <a:gd name="adj" fmla="val 2817"/>
            </a:avLst>
          </a:prstGeom>
          <a:solidFill>
            <a:srgbClr val="FFFFFF"/>
          </a:solidFill>
          <a:ln w="19050">
            <a:solidFill>
              <a:srgbClr val="D7262E"/>
            </a:solidFill>
            <a:prstDash val="solid"/>
          </a:ln>
          <a:effectLst>
            <a:outerShdw blurRad="127000" dist="38100" dir="5400000" algn="bl" rotWithShape="0">
              <a:srgbClr val="8E98A6">
                <a:alpha val="16000"/>
              </a:srgbClr>
            </a:outerShdw>
          </a:effectLst>
        </p:spPr>
        <p:txBody>
          <a:bodyPr/>
          <a:lstStyle/>
          <a:p>
            <a:endParaRPr lang="LID4096"/>
          </a:p>
        </p:txBody>
      </p:sp>
      <p:sp>
        <p:nvSpPr>
          <p:cNvPr id="21" name="Text 19"/>
          <p:cNvSpPr txBox="1"/>
          <p:nvPr/>
        </p:nvSpPr>
        <p:spPr>
          <a:xfrm>
            <a:off x="6793992" y="2011680"/>
            <a:ext cx="4434840" cy="256032"/>
          </a:xfrm>
          <a:prstGeom prst="rect">
            <a:avLst/>
          </a:prstGeom>
          <a:noFill/>
          <a:ln/>
        </p:spPr>
        <p:txBody>
          <a:bodyPr wrap="square" lIns="0" tIns="0" rIns="0" bIns="0" rtlCol="0" anchor="ctr"/>
          <a:lstStyle/>
          <a:p>
            <a:pPr marL="0" indent="0">
              <a:buNone/>
            </a:pPr>
            <a:r>
              <a:rPr lang="en-US" sz="1100" b="1" kern="0" spc="150" dirty="0">
                <a:solidFill>
                  <a:srgbClr val="D7262E"/>
                </a:solidFill>
                <a:latin typeface="Arial" pitchFamily="34" charset="0"/>
                <a:ea typeface="Arial" pitchFamily="34" charset="-122"/>
                <a:cs typeface="Arial" pitchFamily="34" charset="-120"/>
              </a:rPr>
              <a:t>AFTER</a:t>
            </a:r>
            <a:r>
              <a:rPr lang="en-US" sz="1100" dirty="0">
                <a:solidFill>
                  <a:srgbClr val="9AA3AE"/>
                </a:solidFill>
                <a:latin typeface="Arial" pitchFamily="34" charset="0"/>
                <a:ea typeface="Arial" pitchFamily="34" charset="-122"/>
                <a:cs typeface="Arial" pitchFamily="34" charset="-120"/>
              </a:rPr>
              <a:t>   order of the page</a:t>
            </a:r>
            <a:endParaRPr lang="en-US" sz="1100" dirty="0"/>
          </a:p>
        </p:txBody>
      </p:sp>
      <p:sp>
        <p:nvSpPr>
          <p:cNvPr id="22" name="Shape 20"/>
          <p:cNvSpPr/>
          <p:nvPr/>
        </p:nvSpPr>
        <p:spPr>
          <a:xfrm>
            <a:off x="6793992" y="2377440"/>
            <a:ext cx="3886200" cy="384048"/>
          </a:xfrm>
          <a:prstGeom prst="roundRect">
            <a:avLst>
              <a:gd name="adj" fmla="val 11905"/>
            </a:avLst>
          </a:prstGeom>
          <a:solidFill>
            <a:srgbClr val="F2F4F7"/>
          </a:solidFill>
          <a:ln w="6350">
            <a:solidFill>
              <a:srgbClr val="DDE2E8"/>
            </a:solidFill>
            <a:prstDash val="solid"/>
          </a:ln>
        </p:spPr>
        <p:txBody>
          <a:bodyPr/>
          <a:lstStyle/>
          <a:p>
            <a:endParaRPr lang="LID4096"/>
          </a:p>
        </p:txBody>
      </p:sp>
      <p:sp>
        <p:nvSpPr>
          <p:cNvPr id="23" name="Text 21"/>
          <p:cNvSpPr txBox="1"/>
          <p:nvPr/>
        </p:nvSpPr>
        <p:spPr>
          <a:xfrm>
            <a:off x="6976872" y="2377440"/>
            <a:ext cx="3611880" cy="384048"/>
          </a:xfrm>
          <a:prstGeom prst="rect">
            <a:avLst/>
          </a:prstGeom>
          <a:noFill/>
          <a:ln/>
        </p:spPr>
        <p:txBody>
          <a:bodyPr wrap="square" lIns="0" tIns="0" rIns="0" bIns="0" rtlCol="0" anchor="ctr"/>
          <a:lstStyle/>
          <a:p>
            <a:pPr marL="0" indent="0">
              <a:buNone/>
            </a:pPr>
            <a:r>
              <a:rPr lang="en-US" sz="1250" dirty="0">
                <a:solidFill>
                  <a:srgbClr val="5F6B7A"/>
                </a:solidFill>
                <a:latin typeface="Arial" pitchFamily="34" charset="0"/>
                <a:ea typeface="Arial" pitchFamily="34" charset="-122"/>
                <a:cs typeface="Arial" pitchFamily="34" charset="-120"/>
              </a:rPr>
              <a:t>Hot deals</a:t>
            </a:r>
            <a:endParaRPr lang="en-US" sz="1250" dirty="0"/>
          </a:p>
        </p:txBody>
      </p:sp>
      <p:sp>
        <p:nvSpPr>
          <p:cNvPr id="24" name="Shape 22"/>
          <p:cNvSpPr/>
          <p:nvPr/>
        </p:nvSpPr>
        <p:spPr>
          <a:xfrm>
            <a:off x="6793992" y="2852928"/>
            <a:ext cx="3886200" cy="1170432"/>
          </a:xfrm>
          <a:prstGeom prst="roundRect">
            <a:avLst>
              <a:gd name="adj" fmla="val 3906"/>
            </a:avLst>
          </a:prstGeom>
          <a:solidFill>
            <a:srgbClr val="FDEDED"/>
          </a:solidFill>
          <a:ln w="15875">
            <a:solidFill>
              <a:srgbClr val="D7262E"/>
            </a:solidFill>
            <a:prstDash val="solid"/>
          </a:ln>
        </p:spPr>
        <p:txBody>
          <a:bodyPr/>
          <a:lstStyle/>
          <a:p>
            <a:endParaRPr lang="LID4096"/>
          </a:p>
        </p:txBody>
      </p:sp>
      <p:sp>
        <p:nvSpPr>
          <p:cNvPr id="25" name="Text 23"/>
          <p:cNvSpPr txBox="1"/>
          <p:nvPr/>
        </p:nvSpPr>
        <p:spPr>
          <a:xfrm>
            <a:off x="6976872" y="2926080"/>
            <a:ext cx="914400" cy="237744"/>
          </a:xfrm>
          <a:prstGeom prst="rect">
            <a:avLst/>
          </a:prstGeom>
          <a:noFill/>
          <a:ln/>
        </p:spPr>
        <p:txBody>
          <a:bodyPr wrap="square" lIns="0" tIns="0" rIns="0" bIns="0" rtlCol="0" anchor="ctr"/>
          <a:lstStyle/>
          <a:p>
            <a:pPr marL="0" indent="0">
              <a:buNone/>
            </a:pPr>
            <a:r>
              <a:rPr lang="en-US" sz="1100" b="1" dirty="0">
                <a:solidFill>
                  <a:srgbClr val="D7262E"/>
                </a:solidFill>
                <a:latin typeface="Arial" pitchFamily="34" charset="0"/>
                <a:ea typeface="Arial" pitchFamily="34" charset="-122"/>
                <a:cs typeface="Arial" pitchFamily="34" charset="-120"/>
              </a:rPr>
              <a:t>FAQ</a:t>
            </a:r>
            <a:endParaRPr lang="en-US" sz="1100" dirty="0"/>
          </a:p>
        </p:txBody>
      </p:sp>
      <p:sp>
        <p:nvSpPr>
          <p:cNvPr id="26" name="Text 24"/>
          <p:cNvSpPr txBox="1"/>
          <p:nvPr/>
        </p:nvSpPr>
        <p:spPr>
          <a:xfrm>
            <a:off x="6976872" y="3163824"/>
            <a:ext cx="3566160" cy="438912"/>
          </a:xfrm>
          <a:prstGeom prst="rect">
            <a:avLst/>
          </a:prstGeom>
          <a:noFill/>
          <a:ln/>
        </p:spPr>
        <p:txBody>
          <a:bodyPr wrap="square" lIns="0" tIns="0" rIns="0" bIns="0" rtlCol="0" anchor="ctr"/>
          <a:lstStyle/>
          <a:p>
            <a:pPr marL="0" indent="0">
              <a:buNone/>
            </a:pPr>
            <a:r>
              <a:rPr lang="en-US" sz="1250" b="1" dirty="0">
                <a:solidFill>
                  <a:srgbClr val="D7262E"/>
                </a:solidFill>
                <a:latin typeface="Arial" pitchFamily="34" charset="0"/>
                <a:ea typeface="Arial" pitchFamily="34" charset="-122"/>
                <a:cs typeface="Arial" pitchFamily="34" charset="-120"/>
              </a:rPr>
              <a:t>Why should I book a flight through Flight Centre?</a:t>
            </a:r>
            <a:endParaRPr lang="en-US" sz="1250" dirty="0"/>
          </a:p>
        </p:txBody>
      </p:sp>
      <p:sp>
        <p:nvSpPr>
          <p:cNvPr id="27" name="Text 25"/>
          <p:cNvSpPr txBox="1"/>
          <p:nvPr/>
        </p:nvSpPr>
        <p:spPr>
          <a:xfrm>
            <a:off x="6976872" y="3657600"/>
            <a:ext cx="3566160" cy="274320"/>
          </a:xfrm>
          <a:prstGeom prst="rect">
            <a:avLst/>
          </a:prstGeom>
          <a:noFill/>
          <a:ln/>
        </p:spPr>
        <p:txBody>
          <a:bodyPr wrap="square" lIns="0" tIns="0" rIns="0" bIns="0" rtlCol="0" anchor="ctr"/>
          <a:lstStyle/>
          <a:p>
            <a:pPr marL="0" indent="0">
              <a:buNone/>
            </a:pPr>
            <a:r>
              <a:rPr lang="en-US" sz="1200" dirty="0">
                <a:solidFill>
                  <a:srgbClr val="1F2A44"/>
                </a:solidFill>
                <a:latin typeface="Arial" pitchFamily="34" charset="0"/>
                <a:ea typeface="Arial" pitchFamily="34" charset="-122"/>
                <a:cs typeface="Arial" pitchFamily="34" charset="-120"/>
              </a:rPr>
              <a:t>We make travel easy with excellent service…</a:t>
            </a:r>
            <a:endParaRPr lang="en-US" sz="1200" dirty="0"/>
          </a:p>
        </p:txBody>
      </p:sp>
      <p:sp>
        <p:nvSpPr>
          <p:cNvPr id="28" name="Shape 26"/>
          <p:cNvSpPr/>
          <p:nvPr/>
        </p:nvSpPr>
        <p:spPr>
          <a:xfrm>
            <a:off x="6793992" y="4114800"/>
            <a:ext cx="3886200" cy="822960"/>
          </a:xfrm>
          <a:prstGeom prst="roundRect">
            <a:avLst>
              <a:gd name="adj" fmla="val 5556"/>
            </a:avLst>
          </a:prstGeom>
          <a:solidFill>
            <a:srgbClr val="F2F4F7"/>
          </a:solidFill>
          <a:ln w="6350">
            <a:solidFill>
              <a:srgbClr val="DDE2E8"/>
            </a:solidFill>
            <a:prstDash val="solid"/>
          </a:ln>
        </p:spPr>
        <p:txBody>
          <a:bodyPr/>
          <a:lstStyle/>
          <a:p>
            <a:endParaRPr lang="LID4096"/>
          </a:p>
        </p:txBody>
      </p:sp>
      <p:sp>
        <p:nvSpPr>
          <p:cNvPr id="29" name="Text 27"/>
          <p:cNvSpPr txBox="1"/>
          <p:nvPr/>
        </p:nvSpPr>
        <p:spPr>
          <a:xfrm>
            <a:off x="6976872" y="4114800"/>
            <a:ext cx="3611880" cy="822960"/>
          </a:xfrm>
          <a:prstGeom prst="rect">
            <a:avLst/>
          </a:prstGeom>
          <a:noFill/>
          <a:ln/>
        </p:spPr>
        <p:txBody>
          <a:bodyPr wrap="square" lIns="0" tIns="0" rIns="0" bIns="0" rtlCol="0" anchor="ctr"/>
          <a:lstStyle/>
          <a:p>
            <a:pPr marL="0" indent="0">
              <a:buNone/>
            </a:pPr>
            <a:r>
              <a:rPr lang="en-US" sz="1250" dirty="0">
                <a:solidFill>
                  <a:srgbClr val="5F6B7A"/>
                </a:solidFill>
                <a:latin typeface="Arial" pitchFamily="34" charset="0"/>
                <a:ea typeface="Arial" pitchFamily="34" charset="-122"/>
                <a:cs typeface="Arial" pitchFamily="34" charset="-120"/>
              </a:rPr>
              <a:t>Explore [destination]  ·  long travel guide</a:t>
            </a:r>
            <a:endParaRPr lang="en-US" sz="1250" dirty="0"/>
          </a:p>
        </p:txBody>
      </p:sp>
      <p:sp>
        <p:nvSpPr>
          <p:cNvPr id="30" name="Shape 28"/>
          <p:cNvSpPr/>
          <p:nvPr/>
        </p:nvSpPr>
        <p:spPr>
          <a:xfrm>
            <a:off x="10835640" y="2880360"/>
            <a:ext cx="292608" cy="1005840"/>
          </a:xfrm>
          <a:prstGeom prst="upArrow">
            <a:avLst/>
          </a:prstGeom>
          <a:solidFill>
            <a:srgbClr val="D7262E"/>
          </a:solidFill>
          <a:ln w="12700">
            <a:solidFill>
              <a:srgbClr val="D7262E"/>
            </a:solidFill>
            <a:prstDash val="solid"/>
          </a:ln>
        </p:spPr>
        <p:txBody>
          <a:bodyPr/>
          <a:lstStyle/>
          <a:p>
            <a:endParaRPr lang="LID4096"/>
          </a:p>
        </p:txBody>
      </p:sp>
      <p:sp>
        <p:nvSpPr>
          <p:cNvPr id="31" name="Text 29"/>
          <p:cNvSpPr txBox="1"/>
          <p:nvPr/>
        </p:nvSpPr>
        <p:spPr>
          <a:xfrm>
            <a:off x="640080" y="5321808"/>
            <a:ext cx="10908792" cy="566928"/>
          </a:xfrm>
          <a:prstGeom prst="rect">
            <a:avLst/>
          </a:prstGeom>
          <a:noFill/>
          <a:ln/>
        </p:spPr>
        <p:txBody>
          <a:bodyPr wrap="square" lIns="0" tIns="0" rIns="0" bIns="0" rtlCol="0" anchor="ctr"/>
          <a:lstStyle/>
          <a:p>
            <a:pPr marL="0" indent="0" algn="ctr">
              <a:buNone/>
            </a:pPr>
            <a:r>
              <a:rPr lang="en-US" sz="3200" b="1" dirty="0">
                <a:solidFill>
                  <a:srgbClr val="1F2A44"/>
                </a:solidFill>
                <a:latin typeface="Arial" pitchFamily="34" charset="0"/>
                <a:ea typeface="Arial" pitchFamily="34" charset="-122"/>
                <a:cs typeface="Arial" pitchFamily="34" charset="-120"/>
              </a:rPr>
              <a:t>40.0%</a:t>
            </a:r>
            <a:r>
              <a:rPr lang="en-US" sz="3200" b="1" dirty="0">
                <a:solidFill>
                  <a:srgbClr val="AEB6C2"/>
                </a:solidFill>
                <a:latin typeface="Arial" pitchFamily="34" charset="0"/>
                <a:ea typeface="Arial" pitchFamily="34" charset="-122"/>
                <a:cs typeface="Arial" pitchFamily="34" charset="-120"/>
              </a:rPr>
              <a:t>   →   </a:t>
            </a:r>
            <a:r>
              <a:rPr lang="en-US" sz="3200" b="1" dirty="0">
                <a:solidFill>
                  <a:srgbClr val="D7262E"/>
                </a:solidFill>
                <a:latin typeface="Arial" pitchFamily="34" charset="0"/>
                <a:ea typeface="Arial" pitchFamily="34" charset="-122"/>
                <a:cs typeface="Arial" pitchFamily="34" charset="-120"/>
              </a:rPr>
              <a:t>49.3% / 52.4%</a:t>
            </a:r>
            <a:endParaRPr lang="en-US" sz="3200" dirty="0"/>
          </a:p>
        </p:txBody>
      </p:sp>
      <p:sp>
        <p:nvSpPr>
          <p:cNvPr id="32" name="Text 30"/>
          <p:cNvSpPr txBox="1"/>
          <p:nvPr/>
        </p:nvSpPr>
        <p:spPr>
          <a:xfrm>
            <a:off x="640080" y="5888736"/>
            <a:ext cx="10908792" cy="292608"/>
          </a:xfrm>
          <a:prstGeom prst="rect">
            <a:avLst/>
          </a:prstGeom>
          <a:noFill/>
          <a:ln/>
        </p:spPr>
        <p:txBody>
          <a:bodyPr wrap="square" lIns="0" tIns="0" rIns="0" bIns="0" rtlCol="0" anchor="ctr"/>
          <a:lstStyle/>
          <a:p>
            <a:pPr marL="0" indent="0" algn="ctr">
              <a:buNone/>
            </a:pPr>
            <a:r>
              <a:rPr lang="en-US" sz="1300" dirty="0">
                <a:solidFill>
                  <a:srgbClr val="5F6B7A"/>
                </a:solidFill>
                <a:latin typeface="Arial" pitchFamily="34" charset="0"/>
                <a:ea typeface="Arial" pitchFamily="34" charset="-122"/>
                <a:cs typeface="Arial" pitchFamily="34" charset="-120"/>
              </a:rPr>
              <a:t>whole final page, two runs  ·  these fixes were not tested on their own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41CADD-792B-4408-8B8A-87C0FFF08DA8}"/>
              </a:ext>
            </a:extLst>
          </p:cNvPr>
          <p:cNvSpPr>
            <a:spLocks noGrp="1"/>
          </p:cNvSpPr>
          <p:nvPr/>
        </p:nvSpPr>
        <p:spPr>
          <a:xfrm>
            <a:off x="609600" y="209550"/>
            <a:ext cx="10972800" cy="552450"/>
          </a:xfrm>
          <a:prstGeom prst="rect">
            <a:avLst/>
          </a:prstGeom>
          <a:noFill/>
          <a:ln w="0">
            <a:noFill/>
          </a:ln>
        </p:spPr>
        <p:txBody>
          <a:bodyPr>
            <a:noAutofit/>
          </a:bodyPr>
          <a:lstStyle>
            <a:defPPr>
              <a:defRPr sz="2700" b="1">
                <a:solidFill>
                  <a:srgbClr val="202B47"/>
                </a:solidFill>
                <a:latin typeface="Arial"/>
                <a:ea typeface="Arial"/>
                <a:cs typeface="Arial"/>
              </a:defRPr>
            </a:defPPr>
            <a:lvl1pPr>
              <a:defRPr sz="2700" b="1">
                <a:solidFill>
                  <a:srgbClr val="202B47"/>
                </a:solidFill>
                <a:latin typeface="Arial"/>
                <a:ea typeface="Arial"/>
                <a:cs typeface="Arial"/>
              </a:defRPr>
            </a:lvl1pPr>
            <a:lvl2pPr>
              <a:defRPr sz="2700" b="1">
                <a:solidFill>
                  <a:srgbClr val="202B47"/>
                </a:solidFill>
                <a:latin typeface="Arial"/>
                <a:ea typeface="Arial"/>
                <a:cs typeface="Arial"/>
              </a:defRPr>
            </a:lvl2pPr>
            <a:lvl3pPr>
              <a:defRPr sz="2700" b="1">
                <a:solidFill>
                  <a:srgbClr val="202B47"/>
                </a:solidFill>
                <a:latin typeface="Arial"/>
                <a:ea typeface="Arial"/>
                <a:cs typeface="Arial"/>
              </a:defRPr>
            </a:lvl3pPr>
            <a:lvl4pPr>
              <a:defRPr sz="2700" b="1">
                <a:solidFill>
                  <a:srgbClr val="202B47"/>
                </a:solidFill>
                <a:latin typeface="Arial"/>
                <a:ea typeface="Arial"/>
                <a:cs typeface="Arial"/>
              </a:defRPr>
            </a:lvl4pPr>
            <a:lvl5pPr>
              <a:defRPr sz="2700" b="1">
                <a:solidFill>
                  <a:srgbClr val="202B47"/>
                </a:solidFill>
                <a:latin typeface="Arial"/>
                <a:ea typeface="Arial"/>
                <a:cs typeface="Arial"/>
              </a:defRPr>
            </a:lvl5pPr>
            <a:lvl6pPr>
              <a:defRPr sz="2700" b="1">
                <a:solidFill>
                  <a:srgbClr val="202B47"/>
                </a:solidFill>
                <a:latin typeface="Arial"/>
                <a:ea typeface="Arial"/>
                <a:cs typeface="Arial"/>
              </a:defRPr>
            </a:lvl6pPr>
            <a:lvl7pPr>
              <a:defRPr sz="2700" b="1">
                <a:solidFill>
                  <a:srgbClr val="202B47"/>
                </a:solidFill>
                <a:latin typeface="Arial"/>
                <a:ea typeface="Arial"/>
                <a:cs typeface="Arial"/>
              </a:defRPr>
            </a:lvl7pPr>
            <a:lvl8pPr>
              <a:defRPr sz="2700" b="1">
                <a:solidFill>
                  <a:srgbClr val="202B47"/>
                </a:solidFill>
                <a:latin typeface="Arial"/>
                <a:ea typeface="Arial"/>
                <a:cs typeface="Arial"/>
              </a:defRPr>
            </a:lvl8pPr>
            <a:lvl9pPr>
              <a:defRPr sz="2700" b="1">
                <a:solidFill>
                  <a:srgbClr val="202B47"/>
                </a:solidFill>
                <a:latin typeface="Arial"/>
                <a:ea typeface="Arial"/>
                <a:cs typeface="Arial"/>
              </a:defRPr>
            </a:lvl9pPr>
          </a:lstStyle>
          <a:p>
            <a:pPr>
              <a:defRPr sz="2700" b="1">
                <a:solidFill>
                  <a:srgbClr val="202B47"/>
                </a:solidFill>
                <a:latin typeface="Arial"/>
                <a:ea typeface="Arial"/>
                <a:cs typeface="Arial"/>
              </a:defRPr>
            </a:pPr>
            <a:r>
              <a:rPr sz="2700" b="1">
                <a:solidFill>
                  <a:srgbClr val="202B47"/>
                </a:solidFill>
                <a:latin typeface="Arial"/>
                <a:ea typeface="Arial"/>
                <a:cs typeface="Arial"/>
              </a:rPr>
              <a:t>Working demo: checking one saved answer pair</a:t>
            </a:r>
          </a:p>
        </p:txBody>
      </p:sp>
      <p:sp>
        <p:nvSpPr>
          <p:cNvPr id="2" name="Rectangle 1">
            <a:extLst>
              <a:ext uri="{FF2B5EF4-FFF2-40B4-BE49-F238E27FC236}">
                <a16:creationId xmlns:a16="http://schemas.microsoft.com/office/drawing/2014/main" id="{8AD6EDD6-0DF2-469E-BDD1-F2519DD0B546}"/>
              </a:ext>
            </a:extLst>
          </p:cNvPr>
          <p:cNvSpPr>
            <a:spLocks noGrp="1"/>
          </p:cNvSpPr>
          <p:nvPr/>
        </p:nvSpPr>
        <p:spPr>
          <a:xfrm>
            <a:off x="857250" y="857250"/>
            <a:ext cx="10477500" cy="5893594"/>
          </a:xfrm>
          <a:prstGeom prst="rect">
            <a:avLst/>
          </a:prstGeom>
          <a:solidFill>
            <a:srgbClr val="202B47"/>
          </a:solidFill>
          <a:ln w="0">
            <a:noFill/>
          </a:ln>
        </p:spPr>
      </p:sp>
      <p:pic>
        <p:nvPicPr>
          <p:cNvPr id="4" name="Working citation calculator recording">
            <a:hlinkClick r:id="" action="ppaction://media"/>
            <a:extLst>
              <a:ext uri="{FF2B5EF4-FFF2-40B4-BE49-F238E27FC236}">
                <a16:creationId xmlns:a16="http://schemas.microsoft.com/office/drawing/2014/main" id="{79A54234-355C-57B6-1460-0C8B2473364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57250" y="857250"/>
            <a:ext cx="10477500" cy="5893594"/>
          </a:xfrm>
          <a:prstGeom prst="rect">
            <a:avLst/>
          </a:prstGeom>
        </p:spPr>
      </p:pic>
    </p:spTree>
    <p:extLst>
      <p:ext uri="{BB962C8B-B14F-4D97-AF65-F5344CB8AC3E}">
        <p14:creationId xmlns:p14="http://schemas.microsoft.com/office/powerpoint/2010/main" val="22441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1BFDC6B-59D2-4802-9121-DF70DA27D479}"/>
              </a:ext>
            </a:extLst>
          </p:cNvPr>
          <p:cNvSpPr>
            <a:spLocks noGrp="1"/>
          </p:cNvSpPr>
          <p:nvPr/>
        </p:nvSpPr>
        <p:spPr>
          <a:xfrm>
            <a:off x="609600" y="266700"/>
            <a:ext cx="10972800" cy="238125"/>
          </a:xfrm>
          <a:prstGeom prst="rect">
            <a:avLst/>
          </a:prstGeom>
          <a:noFill/>
          <a:ln w="0">
            <a:noFill/>
          </a:ln>
        </p:spPr>
        <p:txBody>
          <a:bodyPr>
            <a:noAutofit/>
          </a:bodyPr>
          <a:lstStyle>
            <a:defPPr>
              <a:defRPr sz="1200" b="1">
                <a:solidFill>
                  <a:srgbClr val="E51D2A"/>
                </a:solidFill>
                <a:latin typeface="Arial"/>
                <a:ea typeface="Arial"/>
                <a:cs typeface="Arial"/>
              </a:defRPr>
            </a:defPPr>
            <a:lvl1pPr>
              <a:defRPr sz="1200" b="1">
                <a:solidFill>
                  <a:srgbClr val="E51D2A"/>
                </a:solidFill>
                <a:latin typeface="Arial"/>
                <a:ea typeface="Arial"/>
                <a:cs typeface="Arial"/>
              </a:defRPr>
            </a:lvl1pPr>
            <a:lvl2pPr>
              <a:defRPr sz="1200" b="1">
                <a:solidFill>
                  <a:srgbClr val="E51D2A"/>
                </a:solidFill>
                <a:latin typeface="Arial"/>
                <a:ea typeface="Arial"/>
                <a:cs typeface="Arial"/>
              </a:defRPr>
            </a:lvl2pPr>
            <a:lvl3pPr>
              <a:defRPr sz="1200" b="1">
                <a:solidFill>
                  <a:srgbClr val="E51D2A"/>
                </a:solidFill>
                <a:latin typeface="Arial"/>
                <a:ea typeface="Arial"/>
                <a:cs typeface="Arial"/>
              </a:defRPr>
            </a:lvl3pPr>
            <a:lvl4pPr>
              <a:defRPr sz="1200" b="1">
                <a:solidFill>
                  <a:srgbClr val="E51D2A"/>
                </a:solidFill>
                <a:latin typeface="Arial"/>
                <a:ea typeface="Arial"/>
                <a:cs typeface="Arial"/>
              </a:defRPr>
            </a:lvl4pPr>
            <a:lvl5pPr>
              <a:defRPr sz="1200" b="1">
                <a:solidFill>
                  <a:srgbClr val="E51D2A"/>
                </a:solidFill>
                <a:latin typeface="Arial"/>
                <a:ea typeface="Arial"/>
                <a:cs typeface="Arial"/>
              </a:defRPr>
            </a:lvl5pPr>
            <a:lvl6pPr>
              <a:defRPr sz="1200" b="1">
                <a:solidFill>
                  <a:srgbClr val="E51D2A"/>
                </a:solidFill>
                <a:latin typeface="Arial"/>
                <a:ea typeface="Arial"/>
                <a:cs typeface="Arial"/>
              </a:defRPr>
            </a:lvl6pPr>
            <a:lvl7pPr>
              <a:defRPr sz="1200" b="1">
                <a:solidFill>
                  <a:srgbClr val="E51D2A"/>
                </a:solidFill>
                <a:latin typeface="Arial"/>
                <a:ea typeface="Arial"/>
                <a:cs typeface="Arial"/>
              </a:defRPr>
            </a:lvl7pPr>
            <a:lvl8pPr>
              <a:defRPr sz="1200" b="1">
                <a:solidFill>
                  <a:srgbClr val="E51D2A"/>
                </a:solidFill>
                <a:latin typeface="Arial"/>
                <a:ea typeface="Arial"/>
                <a:cs typeface="Arial"/>
              </a:defRPr>
            </a:lvl8pPr>
            <a:lvl9pPr>
              <a:defRPr sz="1200" b="1">
                <a:solidFill>
                  <a:srgbClr val="E51D2A"/>
                </a:solidFill>
                <a:latin typeface="Arial"/>
                <a:ea typeface="Arial"/>
                <a:cs typeface="Arial"/>
              </a:defRPr>
            </a:lvl9pPr>
          </a:lstStyle>
          <a:p>
            <a:pPr>
              <a:defRPr sz="1200" b="1">
                <a:solidFill>
                  <a:srgbClr val="E51D2A"/>
                </a:solidFill>
                <a:latin typeface="Arial"/>
                <a:ea typeface="Arial"/>
                <a:cs typeface="Arial"/>
              </a:defRPr>
            </a:pPr>
            <a:r>
              <a:rPr sz="1200" b="1">
                <a:solidFill>
                  <a:srgbClr val="E51D2A"/>
                </a:solidFill>
                <a:latin typeface="Arial"/>
                <a:ea typeface="Arial"/>
                <a:cs typeface="Arial"/>
              </a:rPr>
              <a:t>MEASUREMENT</a:t>
            </a:r>
          </a:p>
        </p:txBody>
      </p:sp>
      <p:sp>
        <p:nvSpPr>
          <p:cNvPr id="2" name="Rectangle 1">
            <a:extLst>
              <a:ext uri="{FF2B5EF4-FFF2-40B4-BE49-F238E27FC236}">
                <a16:creationId xmlns:a16="http://schemas.microsoft.com/office/drawing/2014/main" id="{5E34C513-6F31-48C6-BA8D-A88C148C4425}"/>
              </a:ext>
            </a:extLst>
          </p:cNvPr>
          <p:cNvSpPr>
            <a:spLocks noGrp="1"/>
          </p:cNvSpPr>
          <p:nvPr/>
        </p:nvSpPr>
        <p:spPr>
          <a:xfrm>
            <a:off x="609600" y="666750"/>
            <a:ext cx="10972800" cy="571500"/>
          </a:xfrm>
          <a:prstGeom prst="rect">
            <a:avLst/>
          </a:prstGeom>
          <a:noFill/>
          <a:ln w="0">
            <a:noFill/>
          </a:ln>
        </p:spPr>
        <p:txBody>
          <a:bodyPr>
            <a:noAutofit/>
          </a:bodyPr>
          <a:lstStyle>
            <a:defPPr>
              <a:defRPr sz="2775" b="1">
                <a:solidFill>
                  <a:srgbClr val="202B47"/>
                </a:solidFill>
                <a:latin typeface="Arial"/>
                <a:ea typeface="Arial"/>
                <a:cs typeface="Arial"/>
              </a:defRPr>
            </a:defPPr>
            <a:lvl1pPr>
              <a:defRPr sz="2775" b="1">
                <a:solidFill>
                  <a:srgbClr val="202B47"/>
                </a:solidFill>
                <a:latin typeface="Arial"/>
                <a:ea typeface="Arial"/>
                <a:cs typeface="Arial"/>
              </a:defRPr>
            </a:lvl1pPr>
            <a:lvl2pPr>
              <a:defRPr sz="2775" b="1">
                <a:solidFill>
                  <a:srgbClr val="202B47"/>
                </a:solidFill>
                <a:latin typeface="Arial"/>
                <a:ea typeface="Arial"/>
                <a:cs typeface="Arial"/>
              </a:defRPr>
            </a:lvl2pPr>
            <a:lvl3pPr>
              <a:defRPr sz="2775" b="1">
                <a:solidFill>
                  <a:srgbClr val="202B47"/>
                </a:solidFill>
                <a:latin typeface="Arial"/>
                <a:ea typeface="Arial"/>
                <a:cs typeface="Arial"/>
              </a:defRPr>
            </a:lvl3pPr>
            <a:lvl4pPr>
              <a:defRPr sz="2775" b="1">
                <a:solidFill>
                  <a:srgbClr val="202B47"/>
                </a:solidFill>
                <a:latin typeface="Arial"/>
                <a:ea typeface="Arial"/>
                <a:cs typeface="Arial"/>
              </a:defRPr>
            </a:lvl4pPr>
            <a:lvl5pPr>
              <a:defRPr sz="2775" b="1">
                <a:solidFill>
                  <a:srgbClr val="202B47"/>
                </a:solidFill>
                <a:latin typeface="Arial"/>
                <a:ea typeface="Arial"/>
                <a:cs typeface="Arial"/>
              </a:defRPr>
            </a:lvl5pPr>
            <a:lvl6pPr>
              <a:defRPr sz="2775" b="1">
                <a:solidFill>
                  <a:srgbClr val="202B47"/>
                </a:solidFill>
                <a:latin typeface="Arial"/>
                <a:ea typeface="Arial"/>
                <a:cs typeface="Arial"/>
              </a:defRPr>
            </a:lvl6pPr>
            <a:lvl7pPr>
              <a:defRPr sz="2775" b="1">
                <a:solidFill>
                  <a:srgbClr val="202B47"/>
                </a:solidFill>
                <a:latin typeface="Arial"/>
                <a:ea typeface="Arial"/>
                <a:cs typeface="Arial"/>
              </a:defRPr>
            </a:lvl7pPr>
            <a:lvl8pPr>
              <a:defRPr sz="2775" b="1">
                <a:solidFill>
                  <a:srgbClr val="202B47"/>
                </a:solidFill>
                <a:latin typeface="Arial"/>
                <a:ea typeface="Arial"/>
                <a:cs typeface="Arial"/>
              </a:defRPr>
            </a:lvl8pPr>
            <a:lvl9pPr>
              <a:defRPr sz="2775" b="1">
                <a:solidFill>
                  <a:srgbClr val="202B47"/>
                </a:solidFill>
                <a:latin typeface="Arial"/>
                <a:ea typeface="Arial"/>
                <a:cs typeface="Arial"/>
              </a:defRPr>
            </a:lvl9pPr>
          </a:lstStyle>
          <a:p>
            <a:pPr>
              <a:defRPr sz="2775" b="1">
                <a:solidFill>
                  <a:srgbClr val="202B47"/>
                </a:solidFill>
                <a:latin typeface="Arial"/>
                <a:ea typeface="Arial"/>
                <a:cs typeface="Arial"/>
              </a:defRPr>
            </a:pPr>
            <a:r>
              <a:rPr sz="2775" b="1">
                <a:solidFill>
                  <a:srgbClr val="202B47"/>
                </a:solidFill>
                <a:latin typeface="Arial"/>
                <a:ea typeface="Arial"/>
                <a:cs typeface="Arial"/>
              </a:rPr>
              <a:t>What the demonstration verifies</a:t>
            </a:r>
          </a:p>
        </p:txBody>
      </p:sp>
      <p:sp>
        <p:nvSpPr>
          <p:cNvPr id="3" name="Rectangle 2">
            <a:extLst>
              <a:ext uri="{FF2B5EF4-FFF2-40B4-BE49-F238E27FC236}">
                <a16:creationId xmlns:a16="http://schemas.microsoft.com/office/drawing/2014/main" id="{6FC868D9-DEBE-4FDE-95F2-357453EB3A7D}"/>
              </a:ext>
            </a:extLst>
          </p:cNvPr>
          <p:cNvSpPr>
            <a:spLocks noGrp="1"/>
          </p:cNvSpPr>
          <p:nvPr/>
        </p:nvSpPr>
        <p:spPr>
          <a:xfrm>
            <a:off x="609600" y="1257300"/>
            <a:ext cx="10972800" cy="428625"/>
          </a:xfrm>
          <a:prstGeom prst="rect">
            <a:avLst/>
          </a:prstGeom>
          <a:noFill/>
          <a:ln w="0">
            <a:noFill/>
          </a:ln>
        </p:spPr>
        <p:txBody>
          <a:bodyPr>
            <a:noAutofit/>
          </a:bodyPr>
          <a:lstStyle>
            <a:defPPr>
              <a:defRPr sz="1575" b="0">
                <a:solidFill>
                  <a:srgbClr val="607083"/>
                </a:solidFill>
                <a:latin typeface="Arial"/>
                <a:ea typeface="Arial"/>
                <a:cs typeface="Arial"/>
              </a:defRPr>
            </a:defPPr>
            <a:lvl1pPr>
              <a:defRPr sz="1575" b="0">
                <a:solidFill>
                  <a:srgbClr val="607083"/>
                </a:solidFill>
                <a:latin typeface="Arial"/>
                <a:ea typeface="Arial"/>
                <a:cs typeface="Arial"/>
              </a:defRPr>
            </a:lvl1pPr>
            <a:lvl2pPr>
              <a:defRPr sz="1575" b="0">
                <a:solidFill>
                  <a:srgbClr val="607083"/>
                </a:solidFill>
                <a:latin typeface="Arial"/>
                <a:ea typeface="Arial"/>
                <a:cs typeface="Arial"/>
              </a:defRPr>
            </a:lvl2pPr>
            <a:lvl3pPr>
              <a:defRPr sz="1575" b="0">
                <a:solidFill>
                  <a:srgbClr val="607083"/>
                </a:solidFill>
                <a:latin typeface="Arial"/>
                <a:ea typeface="Arial"/>
                <a:cs typeface="Arial"/>
              </a:defRPr>
            </a:lvl3pPr>
            <a:lvl4pPr>
              <a:defRPr sz="1575" b="0">
                <a:solidFill>
                  <a:srgbClr val="607083"/>
                </a:solidFill>
                <a:latin typeface="Arial"/>
                <a:ea typeface="Arial"/>
                <a:cs typeface="Arial"/>
              </a:defRPr>
            </a:lvl4pPr>
            <a:lvl5pPr>
              <a:defRPr sz="1575" b="0">
                <a:solidFill>
                  <a:srgbClr val="607083"/>
                </a:solidFill>
                <a:latin typeface="Arial"/>
                <a:ea typeface="Arial"/>
                <a:cs typeface="Arial"/>
              </a:defRPr>
            </a:lvl5pPr>
            <a:lvl6pPr>
              <a:defRPr sz="1575" b="0">
                <a:solidFill>
                  <a:srgbClr val="607083"/>
                </a:solidFill>
                <a:latin typeface="Arial"/>
                <a:ea typeface="Arial"/>
                <a:cs typeface="Arial"/>
              </a:defRPr>
            </a:lvl6pPr>
            <a:lvl7pPr>
              <a:defRPr sz="1575" b="0">
                <a:solidFill>
                  <a:srgbClr val="607083"/>
                </a:solidFill>
                <a:latin typeface="Arial"/>
                <a:ea typeface="Arial"/>
                <a:cs typeface="Arial"/>
              </a:defRPr>
            </a:lvl7pPr>
            <a:lvl8pPr>
              <a:defRPr sz="1575" b="0">
                <a:solidFill>
                  <a:srgbClr val="607083"/>
                </a:solidFill>
                <a:latin typeface="Arial"/>
                <a:ea typeface="Arial"/>
                <a:cs typeface="Arial"/>
              </a:defRPr>
            </a:lvl8pPr>
            <a:lvl9pPr>
              <a:defRPr sz="1575" b="0">
                <a:solidFill>
                  <a:srgbClr val="607083"/>
                </a:solidFill>
                <a:latin typeface="Arial"/>
                <a:ea typeface="Arial"/>
                <a:cs typeface="Arial"/>
              </a:defRPr>
            </a:lvl9pPr>
          </a:lstStyle>
          <a:p>
            <a:pPr>
              <a:defRPr sz="1575" b="0">
                <a:solidFill>
                  <a:srgbClr val="607083"/>
                </a:solidFill>
                <a:latin typeface="Arial"/>
                <a:ea typeface="Arial"/>
                <a:cs typeface="Arial"/>
              </a:defRPr>
            </a:pPr>
            <a:r>
              <a:rPr sz="1575" b="0">
                <a:solidFill>
                  <a:srgbClr val="607083"/>
                </a:solidFill>
                <a:latin typeface="Arial"/>
                <a:ea typeface="Arial"/>
                <a:cs typeface="Arial"/>
              </a:rPr>
              <a:t>The model supplied the answer. Our code checks its source references.</a:t>
            </a:r>
          </a:p>
        </p:txBody>
      </p:sp>
      <p:sp>
        <p:nvSpPr>
          <p:cNvPr id="4" name="Rectangle 3">
            <a:extLst>
              <a:ext uri="{FF2B5EF4-FFF2-40B4-BE49-F238E27FC236}">
                <a16:creationId xmlns:a16="http://schemas.microsoft.com/office/drawing/2014/main" id="{8DCF9C4E-6D5D-485E-A802-E1B07EAD60E1}"/>
              </a:ext>
            </a:extLst>
          </p:cNvPr>
          <p:cNvSpPr>
            <a:spLocks noGrp="1"/>
          </p:cNvSpPr>
          <p:nvPr/>
        </p:nvSpPr>
        <p:spPr>
          <a:xfrm>
            <a:off x="609600" y="6543675"/>
            <a:ext cx="10972800" cy="190500"/>
          </a:xfrm>
          <a:prstGeom prst="rect">
            <a:avLst/>
          </a:prstGeom>
          <a:noFill/>
          <a:ln w="0">
            <a:noFill/>
          </a:ln>
        </p:spPr>
        <p:txBody>
          <a:bodyPr>
            <a:noAutofit/>
          </a:bodyPr>
          <a:lstStyle>
            <a:defPPr>
              <a:defRPr sz="900" b="0">
                <a:solidFill>
                  <a:srgbClr val="607083"/>
                </a:solidFill>
                <a:latin typeface="Arial"/>
                <a:ea typeface="Arial"/>
                <a:cs typeface="Arial"/>
              </a:defRPr>
            </a:defPPr>
            <a:lvl1pPr>
              <a:defRPr sz="900" b="0">
                <a:solidFill>
                  <a:srgbClr val="607083"/>
                </a:solidFill>
                <a:latin typeface="Arial"/>
                <a:ea typeface="Arial"/>
                <a:cs typeface="Arial"/>
              </a:defRPr>
            </a:lvl1pPr>
            <a:lvl2pPr>
              <a:defRPr sz="900" b="0">
                <a:solidFill>
                  <a:srgbClr val="607083"/>
                </a:solidFill>
                <a:latin typeface="Arial"/>
                <a:ea typeface="Arial"/>
                <a:cs typeface="Arial"/>
              </a:defRPr>
            </a:lvl2pPr>
            <a:lvl3pPr>
              <a:defRPr sz="900" b="0">
                <a:solidFill>
                  <a:srgbClr val="607083"/>
                </a:solidFill>
                <a:latin typeface="Arial"/>
                <a:ea typeface="Arial"/>
                <a:cs typeface="Arial"/>
              </a:defRPr>
            </a:lvl3pPr>
            <a:lvl4pPr>
              <a:defRPr sz="900" b="0">
                <a:solidFill>
                  <a:srgbClr val="607083"/>
                </a:solidFill>
                <a:latin typeface="Arial"/>
                <a:ea typeface="Arial"/>
                <a:cs typeface="Arial"/>
              </a:defRPr>
            </a:lvl4pPr>
            <a:lvl5pPr>
              <a:defRPr sz="900" b="0">
                <a:solidFill>
                  <a:srgbClr val="607083"/>
                </a:solidFill>
                <a:latin typeface="Arial"/>
                <a:ea typeface="Arial"/>
                <a:cs typeface="Arial"/>
              </a:defRPr>
            </a:lvl5pPr>
            <a:lvl6pPr>
              <a:defRPr sz="900" b="0">
                <a:solidFill>
                  <a:srgbClr val="607083"/>
                </a:solidFill>
                <a:latin typeface="Arial"/>
                <a:ea typeface="Arial"/>
                <a:cs typeface="Arial"/>
              </a:defRPr>
            </a:lvl6pPr>
            <a:lvl7pPr>
              <a:defRPr sz="900" b="0">
                <a:solidFill>
                  <a:srgbClr val="607083"/>
                </a:solidFill>
                <a:latin typeface="Arial"/>
                <a:ea typeface="Arial"/>
                <a:cs typeface="Arial"/>
              </a:defRPr>
            </a:lvl7pPr>
            <a:lvl8pPr>
              <a:defRPr sz="900" b="0">
                <a:solidFill>
                  <a:srgbClr val="607083"/>
                </a:solidFill>
                <a:latin typeface="Arial"/>
                <a:ea typeface="Arial"/>
                <a:cs typeface="Arial"/>
              </a:defRPr>
            </a:lvl8pPr>
            <a:lvl9pPr>
              <a:defRPr sz="900" b="0">
                <a:solidFill>
                  <a:srgbClr val="607083"/>
                </a:solidFill>
                <a:latin typeface="Arial"/>
                <a:ea typeface="Arial"/>
                <a:cs typeface="Arial"/>
              </a:defRPr>
            </a:lvl9pPr>
          </a:lstStyle>
          <a:p>
            <a:pPr>
              <a:defRPr sz="900" b="0">
                <a:solidFill>
                  <a:srgbClr val="607083"/>
                </a:solidFill>
                <a:latin typeface="Arial"/>
                <a:ea typeface="Arial"/>
                <a:cs typeface="Arial"/>
              </a:defRPr>
            </a:pPr>
            <a:r>
              <a:rPr sz="900" b="0">
                <a:solidFill>
                  <a:srgbClr val="607083"/>
                </a:solidFill>
                <a:latin typeface="Arial"/>
                <a:ea typeface="Arial"/>
                <a:cs typeface="Arial"/>
              </a:rPr>
              <a:t>Team 62 · Generative AI Optimisation for Flight Centre</a:t>
            </a:r>
          </a:p>
        </p:txBody>
      </p:sp>
      <p:sp>
        <p:nvSpPr>
          <p:cNvPr id="5" name="Rectangle 4">
            <a:extLst>
              <a:ext uri="{FF2B5EF4-FFF2-40B4-BE49-F238E27FC236}">
                <a16:creationId xmlns:a16="http://schemas.microsoft.com/office/drawing/2014/main" id="{C3893515-B232-4C3B-90BC-B252DEEF7C3B}"/>
              </a:ext>
            </a:extLst>
          </p:cNvPr>
          <p:cNvSpPr>
            <a:spLocks noGrp="1"/>
          </p:cNvSpPr>
          <p:nvPr/>
        </p:nvSpPr>
        <p:spPr>
          <a:xfrm>
            <a:off x="609600" y="1952625"/>
            <a:ext cx="5143500" cy="428625"/>
          </a:xfrm>
          <a:prstGeom prst="rect">
            <a:avLst/>
          </a:prstGeom>
          <a:noFill/>
          <a:ln w="0">
            <a:noFill/>
          </a:ln>
        </p:spPr>
        <p:txBody>
          <a:bodyPr>
            <a:noAutofit/>
          </a:bodyPr>
          <a:lstStyle>
            <a:defPPr>
              <a:defRPr sz="2325" b="1">
                <a:solidFill>
                  <a:srgbClr val="202B47"/>
                </a:solidFill>
                <a:latin typeface="Arial"/>
                <a:ea typeface="Arial"/>
                <a:cs typeface="Arial"/>
              </a:defRPr>
            </a:defPPr>
            <a:lvl1pPr>
              <a:defRPr sz="2325" b="1">
                <a:solidFill>
                  <a:srgbClr val="202B47"/>
                </a:solidFill>
                <a:latin typeface="Arial"/>
                <a:ea typeface="Arial"/>
                <a:cs typeface="Arial"/>
              </a:defRPr>
            </a:lvl1pPr>
            <a:lvl2pPr>
              <a:defRPr sz="2325" b="1">
                <a:solidFill>
                  <a:srgbClr val="202B47"/>
                </a:solidFill>
                <a:latin typeface="Arial"/>
                <a:ea typeface="Arial"/>
                <a:cs typeface="Arial"/>
              </a:defRPr>
            </a:lvl2pPr>
            <a:lvl3pPr>
              <a:defRPr sz="2325" b="1">
                <a:solidFill>
                  <a:srgbClr val="202B47"/>
                </a:solidFill>
                <a:latin typeface="Arial"/>
                <a:ea typeface="Arial"/>
                <a:cs typeface="Arial"/>
              </a:defRPr>
            </a:lvl3pPr>
            <a:lvl4pPr>
              <a:defRPr sz="2325" b="1">
                <a:solidFill>
                  <a:srgbClr val="202B47"/>
                </a:solidFill>
                <a:latin typeface="Arial"/>
                <a:ea typeface="Arial"/>
                <a:cs typeface="Arial"/>
              </a:defRPr>
            </a:lvl4pPr>
            <a:lvl5pPr>
              <a:defRPr sz="2325" b="1">
                <a:solidFill>
                  <a:srgbClr val="202B47"/>
                </a:solidFill>
                <a:latin typeface="Arial"/>
                <a:ea typeface="Arial"/>
                <a:cs typeface="Arial"/>
              </a:defRPr>
            </a:lvl5pPr>
            <a:lvl6pPr>
              <a:defRPr sz="2325" b="1">
                <a:solidFill>
                  <a:srgbClr val="202B47"/>
                </a:solidFill>
                <a:latin typeface="Arial"/>
                <a:ea typeface="Arial"/>
                <a:cs typeface="Arial"/>
              </a:defRPr>
            </a:lvl6pPr>
            <a:lvl7pPr>
              <a:defRPr sz="2325" b="1">
                <a:solidFill>
                  <a:srgbClr val="202B47"/>
                </a:solidFill>
                <a:latin typeface="Arial"/>
                <a:ea typeface="Arial"/>
                <a:cs typeface="Arial"/>
              </a:defRPr>
            </a:lvl7pPr>
            <a:lvl8pPr>
              <a:defRPr sz="2325" b="1">
                <a:solidFill>
                  <a:srgbClr val="202B47"/>
                </a:solidFill>
                <a:latin typeface="Arial"/>
                <a:ea typeface="Arial"/>
                <a:cs typeface="Arial"/>
              </a:defRPr>
            </a:lvl8pPr>
            <a:lvl9pPr>
              <a:defRPr sz="2325" b="1">
                <a:solidFill>
                  <a:srgbClr val="202B47"/>
                </a:solidFill>
                <a:latin typeface="Arial"/>
                <a:ea typeface="Arial"/>
                <a:cs typeface="Arial"/>
              </a:defRPr>
            </a:lvl9pPr>
          </a:lstStyle>
          <a:p>
            <a:pPr>
              <a:defRPr sz="2325" b="1">
                <a:solidFill>
                  <a:srgbClr val="202B47"/>
                </a:solidFill>
                <a:latin typeface="Arial"/>
                <a:ea typeface="Arial"/>
                <a:cs typeface="Arial"/>
              </a:defRPr>
            </a:pPr>
            <a:r>
              <a:rPr sz="2325" b="1">
                <a:solidFill>
                  <a:srgbClr val="202B47"/>
                </a:solidFill>
                <a:latin typeface="Arial"/>
                <a:ea typeface="Arial"/>
                <a:cs typeface="Arial"/>
              </a:rPr>
              <a:t>The counting rule</a:t>
            </a:r>
          </a:p>
        </p:txBody>
      </p:sp>
      <p:sp>
        <p:nvSpPr>
          <p:cNvPr id="6" name="Rectangle 5">
            <a:extLst>
              <a:ext uri="{FF2B5EF4-FFF2-40B4-BE49-F238E27FC236}">
                <a16:creationId xmlns:a16="http://schemas.microsoft.com/office/drawing/2014/main" id="{2B822DE2-DA77-4909-B320-48978AD861A8}"/>
              </a:ext>
            </a:extLst>
          </p:cNvPr>
          <p:cNvSpPr>
            <a:spLocks noGrp="1"/>
          </p:cNvSpPr>
          <p:nvPr/>
        </p:nvSpPr>
        <p:spPr>
          <a:xfrm>
            <a:off x="609600" y="2571750"/>
            <a:ext cx="5095875" cy="666750"/>
          </a:xfrm>
          <a:prstGeom prst="rect">
            <a:avLst/>
          </a:prstGeom>
          <a:noFill/>
          <a:ln w="0">
            <a:noFill/>
          </a:ln>
        </p:spPr>
        <p:txBody>
          <a:bodyPr>
            <a:noAutofit/>
          </a:bodyPr>
          <a:lstStyle>
            <a:defPPr>
              <a:defRPr sz="2100" b="0">
                <a:solidFill>
                  <a:srgbClr val="202B47"/>
                </a:solidFill>
                <a:latin typeface="Arial"/>
                <a:ea typeface="Arial"/>
                <a:cs typeface="Arial"/>
              </a:defRPr>
            </a:defPPr>
            <a:lvl1pPr>
              <a:defRPr sz="2100" b="0">
                <a:solidFill>
                  <a:srgbClr val="202B47"/>
                </a:solidFill>
                <a:latin typeface="Arial"/>
                <a:ea typeface="Arial"/>
                <a:cs typeface="Arial"/>
              </a:defRPr>
            </a:lvl1pPr>
            <a:lvl2pPr>
              <a:defRPr sz="2100" b="0">
                <a:solidFill>
                  <a:srgbClr val="202B47"/>
                </a:solidFill>
                <a:latin typeface="Arial"/>
                <a:ea typeface="Arial"/>
                <a:cs typeface="Arial"/>
              </a:defRPr>
            </a:lvl2pPr>
            <a:lvl3pPr>
              <a:defRPr sz="2100" b="0">
                <a:solidFill>
                  <a:srgbClr val="202B47"/>
                </a:solidFill>
                <a:latin typeface="Arial"/>
                <a:ea typeface="Arial"/>
                <a:cs typeface="Arial"/>
              </a:defRPr>
            </a:lvl3pPr>
            <a:lvl4pPr>
              <a:defRPr sz="2100" b="0">
                <a:solidFill>
                  <a:srgbClr val="202B47"/>
                </a:solidFill>
                <a:latin typeface="Arial"/>
                <a:ea typeface="Arial"/>
                <a:cs typeface="Arial"/>
              </a:defRPr>
            </a:lvl4pPr>
            <a:lvl5pPr>
              <a:defRPr sz="2100" b="0">
                <a:solidFill>
                  <a:srgbClr val="202B47"/>
                </a:solidFill>
                <a:latin typeface="Arial"/>
                <a:ea typeface="Arial"/>
                <a:cs typeface="Arial"/>
              </a:defRPr>
            </a:lvl5pPr>
            <a:lvl6pPr>
              <a:defRPr sz="2100" b="0">
                <a:solidFill>
                  <a:srgbClr val="202B47"/>
                </a:solidFill>
                <a:latin typeface="Arial"/>
                <a:ea typeface="Arial"/>
                <a:cs typeface="Arial"/>
              </a:defRPr>
            </a:lvl6pPr>
            <a:lvl7pPr>
              <a:defRPr sz="2100" b="0">
                <a:solidFill>
                  <a:srgbClr val="202B47"/>
                </a:solidFill>
                <a:latin typeface="Arial"/>
                <a:ea typeface="Arial"/>
                <a:cs typeface="Arial"/>
              </a:defRPr>
            </a:lvl7pPr>
            <a:lvl8pPr>
              <a:defRPr sz="2100" b="0">
                <a:solidFill>
                  <a:srgbClr val="202B47"/>
                </a:solidFill>
                <a:latin typeface="Arial"/>
                <a:ea typeface="Arial"/>
                <a:cs typeface="Arial"/>
              </a:defRPr>
            </a:lvl8pPr>
            <a:lvl9pPr>
              <a:defRPr sz="2100" b="0">
                <a:solidFill>
                  <a:srgbClr val="202B47"/>
                </a:solidFill>
                <a:latin typeface="Arial"/>
                <a:ea typeface="Arial"/>
                <a:cs typeface="Arial"/>
              </a:defRPr>
            </a:lvl9pPr>
          </a:lstStyle>
          <a:p>
            <a:pPr>
              <a:defRPr sz="2100" b="0">
                <a:solidFill>
                  <a:srgbClr val="202B47"/>
                </a:solidFill>
                <a:latin typeface="Arial"/>
                <a:ea typeface="Arial"/>
                <a:cs typeface="Arial"/>
              </a:defRPr>
            </a:pPr>
            <a:r>
              <a:rPr sz="2100" b="0">
                <a:solidFill>
                  <a:srgbClr val="202B47"/>
                </a:solidFill>
                <a:latin typeface="Arial"/>
                <a:ea typeface="Arial"/>
                <a:cs typeface="Arial"/>
              </a:rPr>
              <a:t>Read every [number] in the complete answer.</a:t>
            </a:r>
          </a:p>
        </p:txBody>
      </p:sp>
      <p:sp>
        <p:nvSpPr>
          <p:cNvPr id="7" name="Rectangle 6">
            <a:extLst>
              <a:ext uri="{FF2B5EF4-FFF2-40B4-BE49-F238E27FC236}">
                <a16:creationId xmlns:a16="http://schemas.microsoft.com/office/drawing/2014/main" id="{C17D6911-403B-4740-8D8A-D71A7B861AB4}"/>
              </a:ext>
            </a:extLst>
          </p:cNvPr>
          <p:cNvSpPr>
            <a:spLocks noGrp="1"/>
          </p:cNvSpPr>
          <p:nvPr/>
        </p:nvSpPr>
        <p:spPr>
          <a:xfrm>
            <a:off x="609600" y="3381375"/>
            <a:ext cx="5095875" cy="666750"/>
          </a:xfrm>
          <a:prstGeom prst="rect">
            <a:avLst/>
          </a:prstGeom>
          <a:noFill/>
          <a:ln w="0">
            <a:noFill/>
          </a:ln>
        </p:spPr>
        <p:txBody>
          <a:bodyPr>
            <a:noAutofit/>
          </a:bodyPr>
          <a:lstStyle>
            <a:defPPr>
              <a:defRPr sz="2100" b="0">
                <a:solidFill>
                  <a:srgbClr val="202B47"/>
                </a:solidFill>
                <a:latin typeface="Arial"/>
                <a:ea typeface="Arial"/>
                <a:cs typeface="Arial"/>
              </a:defRPr>
            </a:defPPr>
            <a:lvl1pPr>
              <a:defRPr sz="2100" b="0">
                <a:solidFill>
                  <a:srgbClr val="202B47"/>
                </a:solidFill>
                <a:latin typeface="Arial"/>
                <a:ea typeface="Arial"/>
                <a:cs typeface="Arial"/>
              </a:defRPr>
            </a:lvl1pPr>
            <a:lvl2pPr>
              <a:defRPr sz="2100" b="0">
                <a:solidFill>
                  <a:srgbClr val="202B47"/>
                </a:solidFill>
                <a:latin typeface="Arial"/>
                <a:ea typeface="Arial"/>
                <a:cs typeface="Arial"/>
              </a:defRPr>
            </a:lvl2pPr>
            <a:lvl3pPr>
              <a:defRPr sz="2100" b="0">
                <a:solidFill>
                  <a:srgbClr val="202B47"/>
                </a:solidFill>
                <a:latin typeface="Arial"/>
                <a:ea typeface="Arial"/>
                <a:cs typeface="Arial"/>
              </a:defRPr>
            </a:lvl3pPr>
            <a:lvl4pPr>
              <a:defRPr sz="2100" b="0">
                <a:solidFill>
                  <a:srgbClr val="202B47"/>
                </a:solidFill>
                <a:latin typeface="Arial"/>
                <a:ea typeface="Arial"/>
                <a:cs typeface="Arial"/>
              </a:defRPr>
            </a:lvl4pPr>
            <a:lvl5pPr>
              <a:defRPr sz="2100" b="0">
                <a:solidFill>
                  <a:srgbClr val="202B47"/>
                </a:solidFill>
                <a:latin typeface="Arial"/>
                <a:ea typeface="Arial"/>
                <a:cs typeface="Arial"/>
              </a:defRPr>
            </a:lvl5pPr>
            <a:lvl6pPr>
              <a:defRPr sz="2100" b="0">
                <a:solidFill>
                  <a:srgbClr val="202B47"/>
                </a:solidFill>
                <a:latin typeface="Arial"/>
                <a:ea typeface="Arial"/>
                <a:cs typeface="Arial"/>
              </a:defRPr>
            </a:lvl6pPr>
            <a:lvl7pPr>
              <a:defRPr sz="2100" b="0">
                <a:solidFill>
                  <a:srgbClr val="202B47"/>
                </a:solidFill>
                <a:latin typeface="Arial"/>
                <a:ea typeface="Arial"/>
                <a:cs typeface="Arial"/>
              </a:defRPr>
            </a:lvl7pPr>
            <a:lvl8pPr>
              <a:defRPr sz="2100" b="0">
                <a:solidFill>
                  <a:srgbClr val="202B47"/>
                </a:solidFill>
                <a:latin typeface="Arial"/>
                <a:ea typeface="Arial"/>
                <a:cs typeface="Arial"/>
              </a:defRPr>
            </a:lvl8pPr>
            <a:lvl9pPr>
              <a:defRPr sz="2100" b="0">
                <a:solidFill>
                  <a:srgbClr val="202B47"/>
                </a:solidFill>
                <a:latin typeface="Arial"/>
                <a:ea typeface="Arial"/>
                <a:cs typeface="Arial"/>
              </a:defRPr>
            </a:lvl9pPr>
          </a:lstStyle>
          <a:p>
            <a:pPr>
              <a:defRPr sz="2100" b="0">
                <a:solidFill>
                  <a:srgbClr val="202B47"/>
                </a:solidFill>
                <a:latin typeface="Arial"/>
                <a:ea typeface="Arial"/>
                <a:cs typeface="Arial"/>
              </a:defRPr>
            </a:pPr>
            <a:r>
              <a:rPr sz="2100" b="0">
                <a:solidFill>
                  <a:srgbClr val="202B47"/>
                </a:solidFill>
                <a:latin typeface="Arial"/>
                <a:ea typeface="Arial"/>
                <a:cs typeface="Arial"/>
              </a:rPr>
              <a:t>Match that number to the saved source list.</a:t>
            </a:r>
          </a:p>
        </p:txBody>
      </p:sp>
      <p:sp>
        <p:nvSpPr>
          <p:cNvPr id="8" name="Rectangle 7">
            <a:extLst>
              <a:ext uri="{FF2B5EF4-FFF2-40B4-BE49-F238E27FC236}">
                <a16:creationId xmlns:a16="http://schemas.microsoft.com/office/drawing/2014/main" id="{7A5CF929-AC21-4A91-A765-B8B5FA54AB13}"/>
              </a:ext>
            </a:extLst>
          </p:cNvPr>
          <p:cNvSpPr>
            <a:spLocks noGrp="1"/>
          </p:cNvSpPr>
          <p:nvPr/>
        </p:nvSpPr>
        <p:spPr>
          <a:xfrm>
            <a:off x="609600" y="4191000"/>
            <a:ext cx="5095875" cy="1028700"/>
          </a:xfrm>
          <a:prstGeom prst="rect">
            <a:avLst/>
          </a:prstGeom>
          <a:noFill/>
          <a:ln w="0">
            <a:noFill/>
          </a:ln>
        </p:spPr>
        <p:txBody>
          <a:bodyPr>
            <a:noAutofit/>
          </a:bodyPr>
          <a:lstStyle>
            <a:defPPr>
              <a:defRPr sz="2100" b="0">
                <a:solidFill>
                  <a:srgbClr val="202B47"/>
                </a:solidFill>
                <a:latin typeface="Arial"/>
                <a:ea typeface="Arial"/>
                <a:cs typeface="Arial"/>
              </a:defRPr>
            </a:defPPr>
            <a:lvl1pPr>
              <a:defRPr sz="2100" b="0">
                <a:solidFill>
                  <a:srgbClr val="202B47"/>
                </a:solidFill>
                <a:latin typeface="Arial"/>
                <a:ea typeface="Arial"/>
                <a:cs typeface="Arial"/>
              </a:defRPr>
            </a:lvl1pPr>
            <a:lvl2pPr>
              <a:defRPr sz="2100" b="0">
                <a:solidFill>
                  <a:srgbClr val="202B47"/>
                </a:solidFill>
                <a:latin typeface="Arial"/>
                <a:ea typeface="Arial"/>
                <a:cs typeface="Arial"/>
              </a:defRPr>
            </a:lvl2pPr>
            <a:lvl3pPr>
              <a:defRPr sz="2100" b="0">
                <a:solidFill>
                  <a:srgbClr val="202B47"/>
                </a:solidFill>
                <a:latin typeface="Arial"/>
                <a:ea typeface="Arial"/>
                <a:cs typeface="Arial"/>
              </a:defRPr>
            </a:lvl3pPr>
            <a:lvl4pPr>
              <a:defRPr sz="2100" b="0">
                <a:solidFill>
                  <a:srgbClr val="202B47"/>
                </a:solidFill>
                <a:latin typeface="Arial"/>
                <a:ea typeface="Arial"/>
                <a:cs typeface="Arial"/>
              </a:defRPr>
            </a:lvl4pPr>
            <a:lvl5pPr>
              <a:defRPr sz="2100" b="0">
                <a:solidFill>
                  <a:srgbClr val="202B47"/>
                </a:solidFill>
                <a:latin typeface="Arial"/>
                <a:ea typeface="Arial"/>
                <a:cs typeface="Arial"/>
              </a:defRPr>
            </a:lvl5pPr>
            <a:lvl6pPr>
              <a:defRPr sz="2100" b="0">
                <a:solidFill>
                  <a:srgbClr val="202B47"/>
                </a:solidFill>
                <a:latin typeface="Arial"/>
                <a:ea typeface="Arial"/>
                <a:cs typeface="Arial"/>
              </a:defRPr>
            </a:lvl6pPr>
            <a:lvl7pPr>
              <a:defRPr sz="2100" b="0">
                <a:solidFill>
                  <a:srgbClr val="202B47"/>
                </a:solidFill>
                <a:latin typeface="Arial"/>
                <a:ea typeface="Arial"/>
                <a:cs typeface="Arial"/>
              </a:defRPr>
            </a:lvl7pPr>
            <a:lvl8pPr>
              <a:defRPr sz="2100" b="0">
                <a:solidFill>
                  <a:srgbClr val="202B47"/>
                </a:solidFill>
                <a:latin typeface="Arial"/>
                <a:ea typeface="Arial"/>
                <a:cs typeface="Arial"/>
              </a:defRPr>
            </a:lvl8pPr>
            <a:lvl9pPr>
              <a:defRPr sz="2100" b="0">
                <a:solidFill>
                  <a:srgbClr val="202B47"/>
                </a:solidFill>
                <a:latin typeface="Arial"/>
                <a:ea typeface="Arial"/>
                <a:cs typeface="Arial"/>
              </a:defRPr>
            </a:lvl9pPr>
          </a:lstStyle>
          <a:p>
            <a:pPr>
              <a:defRPr sz="2100" b="0">
                <a:solidFill>
                  <a:srgbClr val="202B47"/>
                </a:solidFill>
                <a:latin typeface="Arial"/>
                <a:ea typeface="Arial"/>
                <a:cs typeface="Arial"/>
              </a:defRPr>
            </a:pPr>
            <a:r>
              <a:rPr sz="2100" b="0">
                <a:solidFill>
                  <a:srgbClr val="202B47"/>
                </a:solidFill>
                <a:latin typeface="Arial"/>
                <a:ea typeface="Arial"/>
                <a:cs typeface="Arial"/>
              </a:rPr>
              <a:t>Count 1 if any valid reference identifies Flight Centre. Otherwise count 0.</a:t>
            </a:r>
          </a:p>
        </p:txBody>
      </p:sp>
      <p:sp>
        <p:nvSpPr>
          <p:cNvPr id="9" name="Rectangle 8">
            <a:extLst>
              <a:ext uri="{FF2B5EF4-FFF2-40B4-BE49-F238E27FC236}">
                <a16:creationId xmlns:a16="http://schemas.microsoft.com/office/drawing/2014/main" id="{149EE58C-6D40-4C35-B032-C3CE343F529F}"/>
              </a:ext>
            </a:extLst>
          </p:cNvPr>
          <p:cNvSpPr>
            <a:spLocks noGrp="1"/>
          </p:cNvSpPr>
          <p:nvPr/>
        </p:nvSpPr>
        <p:spPr>
          <a:xfrm>
            <a:off x="6477000" y="1952625"/>
            <a:ext cx="5105400" cy="428625"/>
          </a:xfrm>
          <a:prstGeom prst="rect">
            <a:avLst/>
          </a:prstGeom>
          <a:noFill/>
          <a:ln w="0">
            <a:noFill/>
          </a:ln>
        </p:spPr>
        <p:txBody>
          <a:bodyPr>
            <a:noAutofit/>
          </a:bodyPr>
          <a:lstStyle>
            <a:defPPr>
              <a:defRPr sz="2325" b="1">
                <a:solidFill>
                  <a:srgbClr val="202B47"/>
                </a:solidFill>
                <a:latin typeface="Arial"/>
                <a:ea typeface="Arial"/>
                <a:cs typeface="Arial"/>
              </a:defRPr>
            </a:defPPr>
            <a:lvl1pPr>
              <a:defRPr sz="2325" b="1">
                <a:solidFill>
                  <a:srgbClr val="202B47"/>
                </a:solidFill>
                <a:latin typeface="Arial"/>
                <a:ea typeface="Arial"/>
                <a:cs typeface="Arial"/>
              </a:defRPr>
            </a:lvl1pPr>
            <a:lvl2pPr>
              <a:defRPr sz="2325" b="1">
                <a:solidFill>
                  <a:srgbClr val="202B47"/>
                </a:solidFill>
                <a:latin typeface="Arial"/>
                <a:ea typeface="Arial"/>
                <a:cs typeface="Arial"/>
              </a:defRPr>
            </a:lvl2pPr>
            <a:lvl3pPr>
              <a:defRPr sz="2325" b="1">
                <a:solidFill>
                  <a:srgbClr val="202B47"/>
                </a:solidFill>
                <a:latin typeface="Arial"/>
                <a:ea typeface="Arial"/>
                <a:cs typeface="Arial"/>
              </a:defRPr>
            </a:lvl3pPr>
            <a:lvl4pPr>
              <a:defRPr sz="2325" b="1">
                <a:solidFill>
                  <a:srgbClr val="202B47"/>
                </a:solidFill>
                <a:latin typeface="Arial"/>
                <a:ea typeface="Arial"/>
                <a:cs typeface="Arial"/>
              </a:defRPr>
            </a:lvl4pPr>
            <a:lvl5pPr>
              <a:defRPr sz="2325" b="1">
                <a:solidFill>
                  <a:srgbClr val="202B47"/>
                </a:solidFill>
                <a:latin typeface="Arial"/>
                <a:ea typeface="Arial"/>
                <a:cs typeface="Arial"/>
              </a:defRPr>
            </a:lvl5pPr>
            <a:lvl6pPr>
              <a:defRPr sz="2325" b="1">
                <a:solidFill>
                  <a:srgbClr val="202B47"/>
                </a:solidFill>
                <a:latin typeface="Arial"/>
                <a:ea typeface="Arial"/>
                <a:cs typeface="Arial"/>
              </a:defRPr>
            </a:lvl6pPr>
            <a:lvl7pPr>
              <a:defRPr sz="2325" b="1">
                <a:solidFill>
                  <a:srgbClr val="202B47"/>
                </a:solidFill>
                <a:latin typeface="Arial"/>
                <a:ea typeface="Arial"/>
                <a:cs typeface="Arial"/>
              </a:defRPr>
            </a:lvl7pPr>
            <a:lvl8pPr>
              <a:defRPr sz="2325" b="1">
                <a:solidFill>
                  <a:srgbClr val="202B47"/>
                </a:solidFill>
                <a:latin typeface="Arial"/>
                <a:ea typeface="Arial"/>
                <a:cs typeface="Arial"/>
              </a:defRPr>
            </a:lvl8pPr>
            <a:lvl9pPr>
              <a:defRPr sz="2325" b="1">
                <a:solidFill>
                  <a:srgbClr val="202B47"/>
                </a:solidFill>
                <a:latin typeface="Arial"/>
                <a:ea typeface="Arial"/>
                <a:cs typeface="Arial"/>
              </a:defRPr>
            </a:lvl9pPr>
          </a:lstStyle>
          <a:p>
            <a:pPr>
              <a:defRPr sz="2325" b="1">
                <a:solidFill>
                  <a:srgbClr val="202B47"/>
                </a:solidFill>
                <a:latin typeface="Arial"/>
                <a:ea typeface="Arial"/>
                <a:cs typeface="Arial"/>
              </a:defRPr>
            </a:pPr>
            <a:r>
              <a:rPr sz="2325" b="1">
                <a:solidFill>
                  <a:srgbClr val="202B47"/>
                </a:solidFill>
                <a:latin typeface="Arial"/>
                <a:ea typeface="Arial"/>
                <a:cs typeface="Arial"/>
              </a:rPr>
              <a:t>What the checks establish</a:t>
            </a:r>
          </a:p>
        </p:txBody>
      </p:sp>
      <p:sp>
        <p:nvSpPr>
          <p:cNvPr id="10" name="Rectangle 9">
            <a:extLst>
              <a:ext uri="{FF2B5EF4-FFF2-40B4-BE49-F238E27FC236}">
                <a16:creationId xmlns:a16="http://schemas.microsoft.com/office/drawing/2014/main" id="{1A2D6D5E-FAD5-4027-BCD3-35DC41EE8FFD}"/>
              </a:ext>
            </a:extLst>
          </p:cNvPr>
          <p:cNvSpPr>
            <a:spLocks noGrp="1"/>
          </p:cNvSpPr>
          <p:nvPr/>
        </p:nvSpPr>
        <p:spPr>
          <a:xfrm>
            <a:off x="6477000" y="2571750"/>
            <a:ext cx="5105400" cy="1009650"/>
          </a:xfrm>
          <a:prstGeom prst="rect">
            <a:avLst/>
          </a:prstGeom>
          <a:noFill/>
          <a:ln w="0">
            <a:noFill/>
          </a:ln>
        </p:spPr>
        <p:txBody>
          <a:bodyPr>
            <a:noAutofit/>
          </a:bodyPr>
          <a:lstStyle>
            <a:defPPr>
              <a:defRPr sz="2025" b="0">
                <a:solidFill>
                  <a:srgbClr val="202B47"/>
                </a:solidFill>
                <a:latin typeface="Arial"/>
                <a:ea typeface="Arial"/>
                <a:cs typeface="Arial"/>
              </a:defRPr>
            </a:defPPr>
            <a:lvl1pPr>
              <a:defRPr sz="2025" b="0">
                <a:solidFill>
                  <a:srgbClr val="202B47"/>
                </a:solidFill>
                <a:latin typeface="Arial"/>
                <a:ea typeface="Arial"/>
                <a:cs typeface="Arial"/>
              </a:defRPr>
            </a:lvl1pPr>
            <a:lvl2pPr>
              <a:defRPr sz="2025" b="0">
                <a:solidFill>
                  <a:srgbClr val="202B47"/>
                </a:solidFill>
                <a:latin typeface="Arial"/>
                <a:ea typeface="Arial"/>
                <a:cs typeface="Arial"/>
              </a:defRPr>
            </a:lvl2pPr>
            <a:lvl3pPr>
              <a:defRPr sz="2025" b="0">
                <a:solidFill>
                  <a:srgbClr val="202B47"/>
                </a:solidFill>
                <a:latin typeface="Arial"/>
                <a:ea typeface="Arial"/>
                <a:cs typeface="Arial"/>
              </a:defRPr>
            </a:lvl3pPr>
            <a:lvl4pPr>
              <a:defRPr sz="2025" b="0">
                <a:solidFill>
                  <a:srgbClr val="202B47"/>
                </a:solidFill>
                <a:latin typeface="Arial"/>
                <a:ea typeface="Arial"/>
                <a:cs typeface="Arial"/>
              </a:defRPr>
            </a:lvl4pPr>
            <a:lvl5pPr>
              <a:defRPr sz="2025" b="0">
                <a:solidFill>
                  <a:srgbClr val="202B47"/>
                </a:solidFill>
                <a:latin typeface="Arial"/>
                <a:ea typeface="Arial"/>
                <a:cs typeface="Arial"/>
              </a:defRPr>
            </a:lvl5pPr>
            <a:lvl6pPr>
              <a:defRPr sz="2025" b="0">
                <a:solidFill>
                  <a:srgbClr val="202B47"/>
                </a:solidFill>
                <a:latin typeface="Arial"/>
                <a:ea typeface="Arial"/>
                <a:cs typeface="Arial"/>
              </a:defRPr>
            </a:lvl6pPr>
            <a:lvl7pPr>
              <a:defRPr sz="2025" b="0">
                <a:solidFill>
                  <a:srgbClr val="202B47"/>
                </a:solidFill>
                <a:latin typeface="Arial"/>
                <a:ea typeface="Arial"/>
                <a:cs typeface="Arial"/>
              </a:defRPr>
            </a:lvl7pPr>
            <a:lvl8pPr>
              <a:defRPr sz="2025" b="0">
                <a:solidFill>
                  <a:srgbClr val="202B47"/>
                </a:solidFill>
                <a:latin typeface="Arial"/>
                <a:ea typeface="Arial"/>
                <a:cs typeface="Arial"/>
              </a:defRPr>
            </a:lvl8pPr>
            <a:lvl9pPr>
              <a:defRPr sz="2025" b="0">
                <a:solidFill>
                  <a:srgbClr val="202B47"/>
                </a:solidFill>
                <a:latin typeface="Arial"/>
                <a:ea typeface="Arial"/>
                <a:cs typeface="Arial"/>
              </a:defRPr>
            </a:lvl9pPr>
          </a:lstStyle>
          <a:p>
            <a:pPr>
              <a:defRPr sz="2025" b="0">
                <a:solidFill>
                  <a:srgbClr val="202B47"/>
                </a:solidFill>
                <a:latin typeface="Arial"/>
                <a:ea typeface="Arial"/>
                <a:cs typeface="Arial"/>
              </a:defRPr>
            </a:pPr>
            <a:r>
              <a:rPr sz="2025" b="0">
                <a:solidFill>
                  <a:srgbClr val="202B47"/>
                </a:solidFill>
                <a:latin typeface="Arial"/>
                <a:ea typeface="Arial"/>
                <a:cs typeface="Arial"/>
              </a:rPr>
              <a:t>Both answers received the same question and the same source URLs in the same order.</a:t>
            </a:r>
          </a:p>
        </p:txBody>
      </p:sp>
      <p:sp>
        <p:nvSpPr>
          <p:cNvPr id="11" name="Rectangle 10">
            <a:extLst>
              <a:ext uri="{FF2B5EF4-FFF2-40B4-BE49-F238E27FC236}">
                <a16:creationId xmlns:a16="http://schemas.microsoft.com/office/drawing/2014/main" id="{86D5B566-E092-4BCA-A7AB-EEB2EE417BCB}"/>
              </a:ext>
            </a:extLst>
          </p:cNvPr>
          <p:cNvSpPr>
            <a:spLocks noGrp="1"/>
          </p:cNvSpPr>
          <p:nvPr/>
        </p:nvSpPr>
        <p:spPr>
          <a:xfrm>
            <a:off x="6477000" y="3695700"/>
            <a:ext cx="5105400" cy="838200"/>
          </a:xfrm>
          <a:prstGeom prst="rect">
            <a:avLst/>
          </a:prstGeom>
          <a:noFill/>
          <a:ln w="0">
            <a:noFill/>
          </a:ln>
        </p:spPr>
        <p:txBody>
          <a:bodyPr>
            <a:noAutofit/>
          </a:bodyPr>
          <a:lstStyle>
            <a:defPPr>
              <a:defRPr sz="2025" b="0">
                <a:solidFill>
                  <a:srgbClr val="202B47"/>
                </a:solidFill>
                <a:latin typeface="Arial"/>
                <a:ea typeface="Arial"/>
                <a:cs typeface="Arial"/>
              </a:defRPr>
            </a:defPPr>
            <a:lvl1pPr>
              <a:defRPr sz="2025" b="0">
                <a:solidFill>
                  <a:srgbClr val="202B47"/>
                </a:solidFill>
                <a:latin typeface="Arial"/>
                <a:ea typeface="Arial"/>
                <a:cs typeface="Arial"/>
              </a:defRPr>
            </a:lvl1pPr>
            <a:lvl2pPr>
              <a:defRPr sz="2025" b="0">
                <a:solidFill>
                  <a:srgbClr val="202B47"/>
                </a:solidFill>
                <a:latin typeface="Arial"/>
                <a:ea typeface="Arial"/>
                <a:cs typeface="Arial"/>
              </a:defRPr>
            </a:lvl2pPr>
            <a:lvl3pPr>
              <a:defRPr sz="2025" b="0">
                <a:solidFill>
                  <a:srgbClr val="202B47"/>
                </a:solidFill>
                <a:latin typeface="Arial"/>
                <a:ea typeface="Arial"/>
                <a:cs typeface="Arial"/>
              </a:defRPr>
            </a:lvl3pPr>
            <a:lvl4pPr>
              <a:defRPr sz="2025" b="0">
                <a:solidFill>
                  <a:srgbClr val="202B47"/>
                </a:solidFill>
                <a:latin typeface="Arial"/>
                <a:ea typeface="Arial"/>
                <a:cs typeface="Arial"/>
              </a:defRPr>
            </a:lvl4pPr>
            <a:lvl5pPr>
              <a:defRPr sz="2025" b="0">
                <a:solidFill>
                  <a:srgbClr val="202B47"/>
                </a:solidFill>
                <a:latin typeface="Arial"/>
                <a:ea typeface="Arial"/>
                <a:cs typeface="Arial"/>
              </a:defRPr>
            </a:lvl5pPr>
            <a:lvl6pPr>
              <a:defRPr sz="2025" b="0">
                <a:solidFill>
                  <a:srgbClr val="202B47"/>
                </a:solidFill>
                <a:latin typeface="Arial"/>
                <a:ea typeface="Arial"/>
                <a:cs typeface="Arial"/>
              </a:defRPr>
            </a:lvl6pPr>
            <a:lvl7pPr>
              <a:defRPr sz="2025" b="0">
                <a:solidFill>
                  <a:srgbClr val="202B47"/>
                </a:solidFill>
                <a:latin typeface="Arial"/>
                <a:ea typeface="Arial"/>
                <a:cs typeface="Arial"/>
              </a:defRPr>
            </a:lvl7pPr>
            <a:lvl8pPr>
              <a:defRPr sz="2025" b="0">
                <a:solidFill>
                  <a:srgbClr val="202B47"/>
                </a:solidFill>
                <a:latin typeface="Arial"/>
                <a:ea typeface="Arial"/>
                <a:cs typeface="Arial"/>
              </a:defRPr>
            </a:lvl8pPr>
            <a:lvl9pPr>
              <a:defRPr sz="2025" b="0">
                <a:solidFill>
                  <a:srgbClr val="202B47"/>
                </a:solidFill>
                <a:latin typeface="Arial"/>
                <a:ea typeface="Arial"/>
                <a:cs typeface="Arial"/>
              </a:defRPr>
            </a:lvl9pPr>
          </a:lstStyle>
          <a:p>
            <a:pPr>
              <a:defRPr sz="2025" b="0">
                <a:solidFill>
                  <a:srgbClr val="202B47"/>
                </a:solidFill>
                <a:latin typeface="Arial"/>
                <a:ea typeface="Arial"/>
                <a:cs typeface="Arial"/>
              </a:defRPr>
            </a:pPr>
            <a:r>
              <a:rPr sz="2025" b="0">
                <a:solidFill>
                  <a:srgbClr val="202B47"/>
                </a:solidFill>
                <a:latin typeface="Arial"/>
                <a:ea typeface="Arial"/>
                <a:cs typeface="Arial"/>
              </a:rPr>
              <a:t>Competitor text stayed unchanged. Flight Centre page text changed.</a:t>
            </a:r>
          </a:p>
        </p:txBody>
      </p:sp>
      <p:sp>
        <p:nvSpPr>
          <p:cNvPr id="12" name="Rectangle 11">
            <a:extLst>
              <a:ext uri="{FF2B5EF4-FFF2-40B4-BE49-F238E27FC236}">
                <a16:creationId xmlns:a16="http://schemas.microsoft.com/office/drawing/2014/main" id="{B7DD170A-B8DB-4713-A7A6-86BDA59E122D}"/>
              </a:ext>
            </a:extLst>
          </p:cNvPr>
          <p:cNvSpPr>
            <a:spLocks noGrp="1"/>
          </p:cNvSpPr>
          <p:nvPr/>
        </p:nvSpPr>
        <p:spPr>
          <a:xfrm>
            <a:off x="6477000" y="4667250"/>
            <a:ext cx="5105400" cy="1047750"/>
          </a:xfrm>
          <a:prstGeom prst="rect">
            <a:avLst/>
          </a:prstGeom>
          <a:noFill/>
          <a:ln w="0">
            <a:noFill/>
          </a:ln>
        </p:spPr>
        <p:txBody>
          <a:bodyPr>
            <a:noAutofit/>
          </a:bodyPr>
          <a:lstStyle>
            <a:defPPr>
              <a:defRPr sz="2025" b="1">
                <a:solidFill>
                  <a:srgbClr val="E51D2A"/>
                </a:solidFill>
                <a:latin typeface="Arial"/>
                <a:ea typeface="Arial"/>
                <a:cs typeface="Arial"/>
              </a:defRPr>
            </a:defPPr>
            <a:lvl1pPr>
              <a:defRPr sz="2025" b="1">
                <a:solidFill>
                  <a:srgbClr val="E51D2A"/>
                </a:solidFill>
                <a:latin typeface="Arial"/>
                <a:ea typeface="Arial"/>
                <a:cs typeface="Arial"/>
              </a:defRPr>
            </a:lvl1pPr>
            <a:lvl2pPr>
              <a:defRPr sz="2025" b="1">
                <a:solidFill>
                  <a:srgbClr val="E51D2A"/>
                </a:solidFill>
                <a:latin typeface="Arial"/>
                <a:ea typeface="Arial"/>
                <a:cs typeface="Arial"/>
              </a:defRPr>
            </a:lvl2pPr>
            <a:lvl3pPr>
              <a:defRPr sz="2025" b="1">
                <a:solidFill>
                  <a:srgbClr val="E51D2A"/>
                </a:solidFill>
                <a:latin typeface="Arial"/>
                <a:ea typeface="Arial"/>
                <a:cs typeface="Arial"/>
              </a:defRPr>
            </a:lvl3pPr>
            <a:lvl4pPr>
              <a:defRPr sz="2025" b="1">
                <a:solidFill>
                  <a:srgbClr val="E51D2A"/>
                </a:solidFill>
                <a:latin typeface="Arial"/>
                <a:ea typeface="Arial"/>
                <a:cs typeface="Arial"/>
              </a:defRPr>
            </a:lvl4pPr>
            <a:lvl5pPr>
              <a:defRPr sz="2025" b="1">
                <a:solidFill>
                  <a:srgbClr val="E51D2A"/>
                </a:solidFill>
                <a:latin typeface="Arial"/>
                <a:ea typeface="Arial"/>
                <a:cs typeface="Arial"/>
              </a:defRPr>
            </a:lvl5pPr>
            <a:lvl6pPr>
              <a:defRPr sz="2025" b="1">
                <a:solidFill>
                  <a:srgbClr val="E51D2A"/>
                </a:solidFill>
                <a:latin typeface="Arial"/>
                <a:ea typeface="Arial"/>
                <a:cs typeface="Arial"/>
              </a:defRPr>
            </a:lvl6pPr>
            <a:lvl7pPr>
              <a:defRPr sz="2025" b="1">
                <a:solidFill>
                  <a:srgbClr val="E51D2A"/>
                </a:solidFill>
                <a:latin typeface="Arial"/>
                <a:ea typeface="Arial"/>
                <a:cs typeface="Arial"/>
              </a:defRPr>
            </a:lvl7pPr>
            <a:lvl8pPr>
              <a:defRPr sz="2025" b="1">
                <a:solidFill>
                  <a:srgbClr val="E51D2A"/>
                </a:solidFill>
                <a:latin typeface="Arial"/>
                <a:ea typeface="Arial"/>
                <a:cs typeface="Arial"/>
              </a:defRPr>
            </a:lvl8pPr>
            <a:lvl9pPr>
              <a:defRPr sz="2025" b="1">
                <a:solidFill>
                  <a:srgbClr val="E51D2A"/>
                </a:solidFill>
                <a:latin typeface="Arial"/>
                <a:ea typeface="Arial"/>
                <a:cs typeface="Arial"/>
              </a:defRPr>
            </a:lvl9pPr>
          </a:lstStyle>
          <a:p>
            <a:pPr>
              <a:defRPr sz="2025" b="1">
                <a:solidFill>
                  <a:srgbClr val="E51D2A"/>
                </a:solidFill>
                <a:latin typeface="Arial"/>
                <a:ea typeface="Arial"/>
                <a:cs typeface="Arial"/>
              </a:defRPr>
            </a:pPr>
            <a:r>
              <a:rPr sz="2025" b="1">
                <a:solidFill>
                  <a:srgbClr val="E51D2A"/>
                </a:solidFill>
                <a:latin typeface="Arial"/>
                <a:ea typeface="Arial"/>
                <a:cs typeface="Arial"/>
              </a:rPr>
              <a:t>The score measures citation visibility. It does not verify advice quality or a booking recommendation.</a:t>
            </a:r>
          </a:p>
        </p:txBody>
      </p:sp>
      <p:sp>
        <p:nvSpPr>
          <p:cNvPr id="13" name="Rectangle 12">
            <a:extLst>
              <a:ext uri="{FF2B5EF4-FFF2-40B4-BE49-F238E27FC236}">
                <a16:creationId xmlns:a16="http://schemas.microsoft.com/office/drawing/2014/main" id="{47EC4ABF-8FC8-44E3-87B4-5DBA0A94CFE1}"/>
              </a:ext>
            </a:extLst>
          </p:cNvPr>
          <p:cNvSpPr>
            <a:spLocks noGrp="1"/>
          </p:cNvSpPr>
          <p:nvPr/>
        </p:nvSpPr>
        <p:spPr>
          <a:xfrm>
            <a:off x="609600" y="6019800"/>
            <a:ext cx="10972800" cy="400050"/>
          </a:xfrm>
          <a:prstGeom prst="rect">
            <a:avLst/>
          </a:prstGeom>
          <a:noFill/>
          <a:ln w="0">
            <a:noFill/>
          </a:ln>
        </p:spPr>
        <p:txBody>
          <a:bodyPr>
            <a:noAutofit/>
          </a:bodyPr>
          <a:lstStyle>
            <a:defPPr>
              <a:defRPr sz="1575" b="0">
                <a:solidFill>
                  <a:srgbClr val="607083"/>
                </a:solidFill>
                <a:latin typeface="Arial"/>
                <a:ea typeface="Arial"/>
                <a:cs typeface="Arial"/>
              </a:defRPr>
            </a:defPPr>
            <a:lvl1pPr>
              <a:defRPr sz="1575" b="0">
                <a:solidFill>
                  <a:srgbClr val="607083"/>
                </a:solidFill>
                <a:latin typeface="Arial"/>
                <a:ea typeface="Arial"/>
                <a:cs typeface="Arial"/>
              </a:defRPr>
            </a:lvl1pPr>
            <a:lvl2pPr>
              <a:defRPr sz="1575" b="0">
                <a:solidFill>
                  <a:srgbClr val="607083"/>
                </a:solidFill>
                <a:latin typeface="Arial"/>
                <a:ea typeface="Arial"/>
                <a:cs typeface="Arial"/>
              </a:defRPr>
            </a:lvl2pPr>
            <a:lvl3pPr>
              <a:defRPr sz="1575" b="0">
                <a:solidFill>
                  <a:srgbClr val="607083"/>
                </a:solidFill>
                <a:latin typeface="Arial"/>
                <a:ea typeface="Arial"/>
                <a:cs typeface="Arial"/>
              </a:defRPr>
            </a:lvl3pPr>
            <a:lvl4pPr>
              <a:defRPr sz="1575" b="0">
                <a:solidFill>
                  <a:srgbClr val="607083"/>
                </a:solidFill>
                <a:latin typeface="Arial"/>
                <a:ea typeface="Arial"/>
                <a:cs typeface="Arial"/>
              </a:defRPr>
            </a:lvl4pPr>
            <a:lvl5pPr>
              <a:defRPr sz="1575" b="0">
                <a:solidFill>
                  <a:srgbClr val="607083"/>
                </a:solidFill>
                <a:latin typeface="Arial"/>
                <a:ea typeface="Arial"/>
                <a:cs typeface="Arial"/>
              </a:defRPr>
            </a:lvl5pPr>
            <a:lvl6pPr>
              <a:defRPr sz="1575" b="0">
                <a:solidFill>
                  <a:srgbClr val="607083"/>
                </a:solidFill>
                <a:latin typeface="Arial"/>
                <a:ea typeface="Arial"/>
                <a:cs typeface="Arial"/>
              </a:defRPr>
            </a:lvl6pPr>
            <a:lvl7pPr>
              <a:defRPr sz="1575" b="0">
                <a:solidFill>
                  <a:srgbClr val="607083"/>
                </a:solidFill>
                <a:latin typeface="Arial"/>
                <a:ea typeface="Arial"/>
                <a:cs typeface="Arial"/>
              </a:defRPr>
            </a:lvl7pPr>
            <a:lvl8pPr>
              <a:defRPr sz="1575" b="0">
                <a:solidFill>
                  <a:srgbClr val="607083"/>
                </a:solidFill>
                <a:latin typeface="Arial"/>
                <a:ea typeface="Arial"/>
                <a:cs typeface="Arial"/>
              </a:defRPr>
            </a:lvl8pPr>
            <a:lvl9pPr>
              <a:defRPr sz="1575" b="0">
                <a:solidFill>
                  <a:srgbClr val="607083"/>
                </a:solidFill>
                <a:latin typeface="Arial"/>
                <a:ea typeface="Arial"/>
                <a:cs typeface="Arial"/>
              </a:defRPr>
            </a:lvl9pPr>
          </a:lstStyle>
          <a:p>
            <a:pPr>
              <a:defRPr sz="1575" b="0">
                <a:solidFill>
                  <a:srgbClr val="607083"/>
                </a:solidFill>
                <a:latin typeface="Arial"/>
                <a:ea typeface="Arial"/>
                <a:cs typeface="Arial"/>
              </a:defRPr>
            </a:pPr>
            <a:r>
              <a:rPr sz="1575" b="0">
                <a:solidFill>
                  <a:srgbClr val="607083"/>
                </a:solidFill>
                <a:latin typeface="Arial"/>
                <a:ea typeface="Arial"/>
                <a:cs typeface="Arial"/>
              </a:rPr>
              <a:t>The example illustrates scoring. It cannot prove that one page edit caused the difference.</a:t>
            </a:r>
          </a:p>
        </p:txBody>
      </p:sp>
    </p:spTree>
    <p:extLst>
      <p:ext uri="{BB962C8B-B14F-4D97-AF65-F5344CB8AC3E}">
        <p14:creationId xmlns:p14="http://schemas.microsoft.com/office/powerpoint/2010/main" val="2833112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18FD3EB-BC8D-4491-B03B-BE13A492017F}"/>
              </a:ext>
            </a:extLst>
          </p:cNvPr>
          <p:cNvSpPr>
            <a:spLocks noGrp="1"/>
          </p:cNvSpPr>
          <p:nvPr/>
        </p:nvSpPr>
        <p:spPr>
          <a:xfrm>
            <a:off x="609600" y="266700"/>
            <a:ext cx="10972800" cy="238125"/>
          </a:xfrm>
          <a:prstGeom prst="rect">
            <a:avLst/>
          </a:prstGeom>
          <a:noFill/>
          <a:ln w="0">
            <a:noFill/>
          </a:ln>
        </p:spPr>
        <p:txBody>
          <a:bodyPr>
            <a:noAutofit/>
          </a:bodyPr>
          <a:lstStyle>
            <a:defPPr>
              <a:defRPr sz="1200" b="1">
                <a:solidFill>
                  <a:srgbClr val="E51D2A"/>
                </a:solidFill>
                <a:latin typeface="Arial"/>
                <a:ea typeface="Arial"/>
                <a:cs typeface="Arial"/>
              </a:defRPr>
            </a:defPPr>
            <a:lvl1pPr>
              <a:defRPr sz="1200" b="1">
                <a:solidFill>
                  <a:srgbClr val="E51D2A"/>
                </a:solidFill>
                <a:latin typeface="Arial"/>
                <a:ea typeface="Arial"/>
                <a:cs typeface="Arial"/>
              </a:defRPr>
            </a:lvl1pPr>
            <a:lvl2pPr>
              <a:defRPr sz="1200" b="1">
                <a:solidFill>
                  <a:srgbClr val="E51D2A"/>
                </a:solidFill>
                <a:latin typeface="Arial"/>
                <a:ea typeface="Arial"/>
                <a:cs typeface="Arial"/>
              </a:defRPr>
            </a:lvl2pPr>
            <a:lvl3pPr>
              <a:defRPr sz="1200" b="1">
                <a:solidFill>
                  <a:srgbClr val="E51D2A"/>
                </a:solidFill>
                <a:latin typeface="Arial"/>
                <a:ea typeface="Arial"/>
                <a:cs typeface="Arial"/>
              </a:defRPr>
            </a:lvl3pPr>
            <a:lvl4pPr>
              <a:defRPr sz="1200" b="1">
                <a:solidFill>
                  <a:srgbClr val="E51D2A"/>
                </a:solidFill>
                <a:latin typeface="Arial"/>
                <a:ea typeface="Arial"/>
                <a:cs typeface="Arial"/>
              </a:defRPr>
            </a:lvl4pPr>
            <a:lvl5pPr>
              <a:defRPr sz="1200" b="1">
                <a:solidFill>
                  <a:srgbClr val="E51D2A"/>
                </a:solidFill>
                <a:latin typeface="Arial"/>
                <a:ea typeface="Arial"/>
                <a:cs typeface="Arial"/>
              </a:defRPr>
            </a:lvl5pPr>
            <a:lvl6pPr>
              <a:defRPr sz="1200" b="1">
                <a:solidFill>
                  <a:srgbClr val="E51D2A"/>
                </a:solidFill>
                <a:latin typeface="Arial"/>
                <a:ea typeface="Arial"/>
                <a:cs typeface="Arial"/>
              </a:defRPr>
            </a:lvl6pPr>
            <a:lvl7pPr>
              <a:defRPr sz="1200" b="1">
                <a:solidFill>
                  <a:srgbClr val="E51D2A"/>
                </a:solidFill>
                <a:latin typeface="Arial"/>
                <a:ea typeface="Arial"/>
                <a:cs typeface="Arial"/>
              </a:defRPr>
            </a:lvl7pPr>
            <a:lvl8pPr>
              <a:defRPr sz="1200" b="1">
                <a:solidFill>
                  <a:srgbClr val="E51D2A"/>
                </a:solidFill>
                <a:latin typeface="Arial"/>
                <a:ea typeface="Arial"/>
                <a:cs typeface="Arial"/>
              </a:defRPr>
            </a:lvl8pPr>
            <a:lvl9pPr>
              <a:defRPr sz="1200" b="1">
                <a:solidFill>
                  <a:srgbClr val="E51D2A"/>
                </a:solidFill>
                <a:latin typeface="Arial"/>
                <a:ea typeface="Arial"/>
                <a:cs typeface="Arial"/>
              </a:defRPr>
            </a:lvl9pPr>
          </a:lstStyle>
          <a:p>
            <a:pPr>
              <a:defRPr sz="1200" b="1">
                <a:solidFill>
                  <a:srgbClr val="E51D2A"/>
                </a:solidFill>
                <a:latin typeface="Arial"/>
                <a:ea typeface="Arial"/>
                <a:cs typeface="Arial"/>
              </a:defRPr>
            </a:pPr>
            <a:r>
              <a:rPr sz="1200" b="1">
                <a:solidFill>
                  <a:srgbClr val="E51D2A"/>
                </a:solidFill>
                <a:latin typeface="Arial"/>
                <a:ea typeface="Arial"/>
                <a:cs typeface="Arial"/>
              </a:rPr>
              <a:t>RESULT VERIFICATION</a:t>
            </a:r>
          </a:p>
        </p:txBody>
      </p:sp>
      <p:sp>
        <p:nvSpPr>
          <p:cNvPr id="2" name="Rectangle 1">
            <a:extLst>
              <a:ext uri="{FF2B5EF4-FFF2-40B4-BE49-F238E27FC236}">
                <a16:creationId xmlns:a16="http://schemas.microsoft.com/office/drawing/2014/main" id="{5106575E-AEFA-4150-A002-6A7CCE2C0F9D}"/>
              </a:ext>
            </a:extLst>
          </p:cNvPr>
          <p:cNvSpPr>
            <a:spLocks noGrp="1"/>
          </p:cNvSpPr>
          <p:nvPr/>
        </p:nvSpPr>
        <p:spPr>
          <a:xfrm>
            <a:off x="609600" y="666750"/>
            <a:ext cx="10972800" cy="571500"/>
          </a:xfrm>
          <a:prstGeom prst="rect">
            <a:avLst/>
          </a:prstGeom>
          <a:noFill/>
          <a:ln w="0">
            <a:noFill/>
          </a:ln>
        </p:spPr>
        <p:txBody>
          <a:bodyPr>
            <a:noAutofit/>
          </a:bodyPr>
          <a:lstStyle>
            <a:defPPr>
              <a:defRPr sz="2775" b="1">
                <a:solidFill>
                  <a:srgbClr val="202B47"/>
                </a:solidFill>
                <a:latin typeface="Arial"/>
                <a:ea typeface="Arial"/>
                <a:cs typeface="Arial"/>
              </a:defRPr>
            </a:defPPr>
            <a:lvl1pPr>
              <a:defRPr sz="2775" b="1">
                <a:solidFill>
                  <a:srgbClr val="202B47"/>
                </a:solidFill>
                <a:latin typeface="Arial"/>
                <a:ea typeface="Arial"/>
                <a:cs typeface="Arial"/>
              </a:defRPr>
            </a:lvl1pPr>
            <a:lvl2pPr>
              <a:defRPr sz="2775" b="1">
                <a:solidFill>
                  <a:srgbClr val="202B47"/>
                </a:solidFill>
                <a:latin typeface="Arial"/>
                <a:ea typeface="Arial"/>
                <a:cs typeface="Arial"/>
              </a:defRPr>
            </a:lvl2pPr>
            <a:lvl3pPr>
              <a:defRPr sz="2775" b="1">
                <a:solidFill>
                  <a:srgbClr val="202B47"/>
                </a:solidFill>
                <a:latin typeface="Arial"/>
                <a:ea typeface="Arial"/>
                <a:cs typeface="Arial"/>
              </a:defRPr>
            </a:lvl3pPr>
            <a:lvl4pPr>
              <a:defRPr sz="2775" b="1">
                <a:solidFill>
                  <a:srgbClr val="202B47"/>
                </a:solidFill>
                <a:latin typeface="Arial"/>
                <a:ea typeface="Arial"/>
                <a:cs typeface="Arial"/>
              </a:defRPr>
            </a:lvl4pPr>
            <a:lvl5pPr>
              <a:defRPr sz="2775" b="1">
                <a:solidFill>
                  <a:srgbClr val="202B47"/>
                </a:solidFill>
                <a:latin typeface="Arial"/>
                <a:ea typeface="Arial"/>
                <a:cs typeface="Arial"/>
              </a:defRPr>
            </a:lvl5pPr>
            <a:lvl6pPr>
              <a:defRPr sz="2775" b="1">
                <a:solidFill>
                  <a:srgbClr val="202B47"/>
                </a:solidFill>
                <a:latin typeface="Arial"/>
                <a:ea typeface="Arial"/>
                <a:cs typeface="Arial"/>
              </a:defRPr>
            </a:lvl6pPr>
            <a:lvl7pPr>
              <a:defRPr sz="2775" b="1">
                <a:solidFill>
                  <a:srgbClr val="202B47"/>
                </a:solidFill>
                <a:latin typeface="Arial"/>
                <a:ea typeface="Arial"/>
                <a:cs typeface="Arial"/>
              </a:defRPr>
            </a:lvl7pPr>
            <a:lvl8pPr>
              <a:defRPr sz="2775" b="1">
                <a:solidFill>
                  <a:srgbClr val="202B47"/>
                </a:solidFill>
                <a:latin typeface="Arial"/>
                <a:ea typeface="Arial"/>
                <a:cs typeface="Arial"/>
              </a:defRPr>
            </a:lvl8pPr>
            <a:lvl9pPr>
              <a:defRPr sz="2775" b="1">
                <a:solidFill>
                  <a:srgbClr val="202B47"/>
                </a:solidFill>
                <a:latin typeface="Arial"/>
                <a:ea typeface="Arial"/>
                <a:cs typeface="Arial"/>
              </a:defRPr>
            </a:lvl9pPr>
          </a:lstStyle>
          <a:p>
            <a:pPr>
              <a:defRPr sz="2775" b="1">
                <a:solidFill>
                  <a:srgbClr val="202B47"/>
                </a:solidFill>
                <a:latin typeface="Arial"/>
                <a:ea typeface="Arial"/>
                <a:cs typeface="Arial"/>
              </a:defRPr>
            </a:pPr>
            <a:r>
              <a:rPr sz="2775" b="1">
                <a:solidFill>
                  <a:srgbClr val="202B47"/>
                </a:solidFill>
                <a:latin typeface="Arial"/>
                <a:ea typeface="Arial"/>
                <a:cs typeface="Arial"/>
              </a:rPr>
              <a:t>Saved-record verification of the final result</a:t>
            </a:r>
          </a:p>
        </p:txBody>
      </p:sp>
      <p:sp>
        <p:nvSpPr>
          <p:cNvPr id="3" name="Rectangle 2">
            <a:extLst>
              <a:ext uri="{FF2B5EF4-FFF2-40B4-BE49-F238E27FC236}">
                <a16:creationId xmlns:a16="http://schemas.microsoft.com/office/drawing/2014/main" id="{CBB17B46-0554-4D99-8EFD-187A18145666}"/>
              </a:ext>
            </a:extLst>
          </p:cNvPr>
          <p:cNvSpPr>
            <a:spLocks noGrp="1"/>
          </p:cNvSpPr>
          <p:nvPr/>
        </p:nvSpPr>
        <p:spPr>
          <a:xfrm>
            <a:off x="609600" y="1257300"/>
            <a:ext cx="10972800" cy="428625"/>
          </a:xfrm>
          <a:prstGeom prst="rect">
            <a:avLst/>
          </a:prstGeom>
          <a:noFill/>
          <a:ln w="0">
            <a:noFill/>
          </a:ln>
        </p:spPr>
        <p:txBody>
          <a:bodyPr>
            <a:noAutofit/>
          </a:bodyPr>
          <a:lstStyle>
            <a:defPPr>
              <a:defRPr sz="1575" b="0">
                <a:solidFill>
                  <a:srgbClr val="607083"/>
                </a:solidFill>
                <a:latin typeface="Arial"/>
                <a:ea typeface="Arial"/>
                <a:cs typeface="Arial"/>
              </a:defRPr>
            </a:defPPr>
            <a:lvl1pPr>
              <a:defRPr sz="1575" b="0">
                <a:solidFill>
                  <a:srgbClr val="607083"/>
                </a:solidFill>
                <a:latin typeface="Arial"/>
                <a:ea typeface="Arial"/>
                <a:cs typeface="Arial"/>
              </a:defRPr>
            </a:lvl1pPr>
            <a:lvl2pPr>
              <a:defRPr sz="1575" b="0">
                <a:solidFill>
                  <a:srgbClr val="607083"/>
                </a:solidFill>
                <a:latin typeface="Arial"/>
                <a:ea typeface="Arial"/>
                <a:cs typeface="Arial"/>
              </a:defRPr>
            </a:lvl2pPr>
            <a:lvl3pPr>
              <a:defRPr sz="1575" b="0">
                <a:solidFill>
                  <a:srgbClr val="607083"/>
                </a:solidFill>
                <a:latin typeface="Arial"/>
                <a:ea typeface="Arial"/>
                <a:cs typeface="Arial"/>
              </a:defRPr>
            </a:lvl3pPr>
            <a:lvl4pPr>
              <a:defRPr sz="1575" b="0">
                <a:solidFill>
                  <a:srgbClr val="607083"/>
                </a:solidFill>
                <a:latin typeface="Arial"/>
                <a:ea typeface="Arial"/>
                <a:cs typeface="Arial"/>
              </a:defRPr>
            </a:lvl4pPr>
            <a:lvl5pPr>
              <a:defRPr sz="1575" b="0">
                <a:solidFill>
                  <a:srgbClr val="607083"/>
                </a:solidFill>
                <a:latin typeface="Arial"/>
                <a:ea typeface="Arial"/>
                <a:cs typeface="Arial"/>
              </a:defRPr>
            </a:lvl5pPr>
            <a:lvl6pPr>
              <a:defRPr sz="1575" b="0">
                <a:solidFill>
                  <a:srgbClr val="607083"/>
                </a:solidFill>
                <a:latin typeface="Arial"/>
                <a:ea typeface="Arial"/>
                <a:cs typeface="Arial"/>
              </a:defRPr>
            </a:lvl6pPr>
            <a:lvl7pPr>
              <a:defRPr sz="1575" b="0">
                <a:solidFill>
                  <a:srgbClr val="607083"/>
                </a:solidFill>
                <a:latin typeface="Arial"/>
                <a:ea typeface="Arial"/>
                <a:cs typeface="Arial"/>
              </a:defRPr>
            </a:lvl7pPr>
            <a:lvl8pPr>
              <a:defRPr sz="1575" b="0">
                <a:solidFill>
                  <a:srgbClr val="607083"/>
                </a:solidFill>
                <a:latin typeface="Arial"/>
                <a:ea typeface="Arial"/>
                <a:cs typeface="Arial"/>
              </a:defRPr>
            </a:lvl8pPr>
            <a:lvl9pPr>
              <a:defRPr sz="1575" b="0">
                <a:solidFill>
                  <a:srgbClr val="607083"/>
                </a:solidFill>
                <a:latin typeface="Arial"/>
                <a:ea typeface="Arial"/>
                <a:cs typeface="Arial"/>
              </a:defRPr>
            </a:lvl9pPr>
          </a:lstStyle>
          <a:p>
            <a:pPr>
              <a:defRPr sz="1575" b="0">
                <a:solidFill>
                  <a:srgbClr val="607083"/>
                </a:solidFill>
                <a:latin typeface="Arial"/>
                <a:ea typeface="Arial"/>
                <a:cs typeface="Arial"/>
              </a:defRPr>
            </a:pPr>
            <a:r>
              <a:rPr sz="1575" b="0">
                <a:solidFill>
                  <a:srgbClr val="607083"/>
                </a:solidFill>
                <a:latin typeface="Arial"/>
                <a:ea typeface="Arial"/>
                <a:cs typeface="Arial"/>
              </a:rPr>
              <a:t>The full comparison contains 29 questions and 290 answers per condition</a:t>
            </a:r>
          </a:p>
        </p:txBody>
      </p:sp>
      <p:sp>
        <p:nvSpPr>
          <p:cNvPr id="4" name="Rectangle 3">
            <a:extLst>
              <a:ext uri="{FF2B5EF4-FFF2-40B4-BE49-F238E27FC236}">
                <a16:creationId xmlns:a16="http://schemas.microsoft.com/office/drawing/2014/main" id="{F20F91B5-E74E-4129-93B4-5DEB1C87606F}"/>
              </a:ext>
            </a:extLst>
          </p:cNvPr>
          <p:cNvSpPr>
            <a:spLocks noGrp="1"/>
          </p:cNvSpPr>
          <p:nvPr/>
        </p:nvSpPr>
        <p:spPr>
          <a:xfrm>
            <a:off x="609600" y="6543675"/>
            <a:ext cx="10972800" cy="190500"/>
          </a:xfrm>
          <a:prstGeom prst="rect">
            <a:avLst/>
          </a:prstGeom>
          <a:noFill/>
          <a:ln w="0">
            <a:noFill/>
          </a:ln>
        </p:spPr>
        <p:txBody>
          <a:bodyPr>
            <a:noAutofit/>
          </a:bodyPr>
          <a:lstStyle>
            <a:defPPr>
              <a:defRPr sz="900" b="0">
                <a:solidFill>
                  <a:srgbClr val="607083"/>
                </a:solidFill>
                <a:latin typeface="Arial"/>
                <a:ea typeface="Arial"/>
                <a:cs typeface="Arial"/>
              </a:defRPr>
            </a:defPPr>
            <a:lvl1pPr>
              <a:defRPr sz="900" b="0">
                <a:solidFill>
                  <a:srgbClr val="607083"/>
                </a:solidFill>
                <a:latin typeface="Arial"/>
                <a:ea typeface="Arial"/>
                <a:cs typeface="Arial"/>
              </a:defRPr>
            </a:lvl1pPr>
            <a:lvl2pPr>
              <a:defRPr sz="900" b="0">
                <a:solidFill>
                  <a:srgbClr val="607083"/>
                </a:solidFill>
                <a:latin typeface="Arial"/>
                <a:ea typeface="Arial"/>
                <a:cs typeface="Arial"/>
              </a:defRPr>
            </a:lvl2pPr>
            <a:lvl3pPr>
              <a:defRPr sz="900" b="0">
                <a:solidFill>
                  <a:srgbClr val="607083"/>
                </a:solidFill>
                <a:latin typeface="Arial"/>
                <a:ea typeface="Arial"/>
                <a:cs typeface="Arial"/>
              </a:defRPr>
            </a:lvl3pPr>
            <a:lvl4pPr>
              <a:defRPr sz="900" b="0">
                <a:solidFill>
                  <a:srgbClr val="607083"/>
                </a:solidFill>
                <a:latin typeface="Arial"/>
                <a:ea typeface="Arial"/>
                <a:cs typeface="Arial"/>
              </a:defRPr>
            </a:lvl4pPr>
            <a:lvl5pPr>
              <a:defRPr sz="900" b="0">
                <a:solidFill>
                  <a:srgbClr val="607083"/>
                </a:solidFill>
                <a:latin typeface="Arial"/>
                <a:ea typeface="Arial"/>
                <a:cs typeface="Arial"/>
              </a:defRPr>
            </a:lvl5pPr>
            <a:lvl6pPr>
              <a:defRPr sz="900" b="0">
                <a:solidFill>
                  <a:srgbClr val="607083"/>
                </a:solidFill>
                <a:latin typeface="Arial"/>
                <a:ea typeface="Arial"/>
                <a:cs typeface="Arial"/>
              </a:defRPr>
            </a:lvl6pPr>
            <a:lvl7pPr>
              <a:defRPr sz="900" b="0">
                <a:solidFill>
                  <a:srgbClr val="607083"/>
                </a:solidFill>
                <a:latin typeface="Arial"/>
                <a:ea typeface="Arial"/>
                <a:cs typeface="Arial"/>
              </a:defRPr>
            </a:lvl7pPr>
            <a:lvl8pPr>
              <a:defRPr sz="900" b="0">
                <a:solidFill>
                  <a:srgbClr val="607083"/>
                </a:solidFill>
                <a:latin typeface="Arial"/>
                <a:ea typeface="Arial"/>
                <a:cs typeface="Arial"/>
              </a:defRPr>
            </a:lvl8pPr>
            <a:lvl9pPr>
              <a:defRPr sz="900" b="0">
                <a:solidFill>
                  <a:srgbClr val="607083"/>
                </a:solidFill>
                <a:latin typeface="Arial"/>
                <a:ea typeface="Arial"/>
                <a:cs typeface="Arial"/>
              </a:defRPr>
            </a:lvl9pPr>
          </a:lstStyle>
          <a:p>
            <a:pPr>
              <a:defRPr sz="900" b="0">
                <a:solidFill>
                  <a:srgbClr val="607083"/>
                </a:solidFill>
                <a:latin typeface="Arial"/>
                <a:ea typeface="Arial"/>
                <a:cs typeface="Arial"/>
              </a:defRPr>
            </a:pPr>
            <a:r>
              <a:rPr sz="900" b="0">
                <a:solidFill>
                  <a:srgbClr val="607083"/>
                </a:solidFill>
                <a:latin typeface="Arial"/>
                <a:ea typeface="Arial"/>
                <a:cs typeface="Arial"/>
              </a:rPr>
              <a:t>Team 62 · Generative AI Optimisation for Flight Centre</a:t>
            </a:r>
          </a:p>
        </p:txBody>
      </p:sp>
      <p:pic>
        <p:nvPicPr>
          <p:cNvPr id="5" name="Picture 4">
            <a:extLst>
              <a:ext uri="{FF2B5EF4-FFF2-40B4-BE49-F238E27FC236}">
                <a16:creationId xmlns:a16="http://schemas.microsoft.com/office/drawing/2014/main" id="{B49E23A0-EB44-46B0-8FB2-F30480A32928}"/>
              </a:ext>
            </a:extLst>
          </p:cNvPr>
          <p:cNvPicPr>
            <a:picLocks noChangeAspect="1"/>
          </p:cNvPicPr>
          <p:nvPr/>
        </p:nvPicPr>
        <p:blipFill>
          <a:blip r:embed="rId3"/>
          <a:stretch/>
        </p:blipFill>
        <p:spPr>
          <a:xfrm>
            <a:off x="950302" y="1790700"/>
            <a:ext cx="5509846" cy="4476750"/>
          </a:xfrm>
          <a:prstGeom prst="rect">
            <a:avLst/>
          </a:prstGeom>
        </p:spPr>
      </p:pic>
      <p:sp>
        <p:nvSpPr>
          <p:cNvPr id="6" name="Rectangle 5">
            <a:extLst>
              <a:ext uri="{FF2B5EF4-FFF2-40B4-BE49-F238E27FC236}">
                <a16:creationId xmlns:a16="http://schemas.microsoft.com/office/drawing/2014/main" id="{9A49E6A7-E68B-4C92-8EA1-BB4B0BAD4910}"/>
              </a:ext>
            </a:extLst>
          </p:cNvPr>
          <p:cNvSpPr>
            <a:spLocks noGrp="1"/>
          </p:cNvSpPr>
          <p:nvPr/>
        </p:nvSpPr>
        <p:spPr>
          <a:xfrm>
            <a:off x="7143750" y="1857375"/>
            <a:ext cx="4286250" cy="285750"/>
          </a:xfrm>
          <a:prstGeom prst="rect">
            <a:avLst/>
          </a:prstGeom>
          <a:noFill/>
          <a:ln w="0">
            <a:noFill/>
          </a:ln>
        </p:spPr>
        <p:txBody>
          <a:bodyPr>
            <a:noAutofit/>
          </a:bodyPr>
          <a:lstStyle>
            <a:defPPr>
              <a:defRPr sz="1500" b="1">
                <a:solidFill>
                  <a:srgbClr val="607083"/>
                </a:solidFill>
                <a:latin typeface="Arial"/>
                <a:ea typeface="Arial"/>
                <a:cs typeface="Arial"/>
              </a:defRPr>
            </a:defPPr>
            <a:lvl1pPr>
              <a:defRPr sz="1500" b="1">
                <a:solidFill>
                  <a:srgbClr val="607083"/>
                </a:solidFill>
                <a:latin typeface="Arial"/>
                <a:ea typeface="Arial"/>
                <a:cs typeface="Arial"/>
              </a:defRPr>
            </a:lvl1pPr>
            <a:lvl2pPr>
              <a:defRPr sz="1500" b="1">
                <a:solidFill>
                  <a:srgbClr val="607083"/>
                </a:solidFill>
                <a:latin typeface="Arial"/>
                <a:ea typeface="Arial"/>
                <a:cs typeface="Arial"/>
              </a:defRPr>
            </a:lvl2pPr>
            <a:lvl3pPr>
              <a:defRPr sz="1500" b="1">
                <a:solidFill>
                  <a:srgbClr val="607083"/>
                </a:solidFill>
                <a:latin typeface="Arial"/>
                <a:ea typeface="Arial"/>
                <a:cs typeface="Arial"/>
              </a:defRPr>
            </a:lvl3pPr>
            <a:lvl4pPr>
              <a:defRPr sz="1500" b="1">
                <a:solidFill>
                  <a:srgbClr val="607083"/>
                </a:solidFill>
                <a:latin typeface="Arial"/>
                <a:ea typeface="Arial"/>
                <a:cs typeface="Arial"/>
              </a:defRPr>
            </a:lvl4pPr>
            <a:lvl5pPr>
              <a:defRPr sz="1500" b="1">
                <a:solidFill>
                  <a:srgbClr val="607083"/>
                </a:solidFill>
                <a:latin typeface="Arial"/>
                <a:ea typeface="Arial"/>
                <a:cs typeface="Arial"/>
              </a:defRPr>
            </a:lvl5pPr>
            <a:lvl6pPr>
              <a:defRPr sz="1500" b="1">
                <a:solidFill>
                  <a:srgbClr val="607083"/>
                </a:solidFill>
                <a:latin typeface="Arial"/>
                <a:ea typeface="Arial"/>
                <a:cs typeface="Arial"/>
              </a:defRPr>
            </a:lvl6pPr>
            <a:lvl7pPr>
              <a:defRPr sz="1500" b="1">
                <a:solidFill>
                  <a:srgbClr val="607083"/>
                </a:solidFill>
                <a:latin typeface="Arial"/>
                <a:ea typeface="Arial"/>
                <a:cs typeface="Arial"/>
              </a:defRPr>
            </a:lvl7pPr>
            <a:lvl8pPr>
              <a:defRPr sz="1500" b="1">
                <a:solidFill>
                  <a:srgbClr val="607083"/>
                </a:solidFill>
                <a:latin typeface="Arial"/>
                <a:ea typeface="Arial"/>
                <a:cs typeface="Arial"/>
              </a:defRPr>
            </a:lvl8pPr>
            <a:lvl9pPr>
              <a:defRPr sz="1500" b="1">
                <a:solidFill>
                  <a:srgbClr val="607083"/>
                </a:solidFill>
                <a:latin typeface="Arial"/>
                <a:ea typeface="Arial"/>
                <a:cs typeface="Arial"/>
              </a:defRPr>
            </a:lvl9pPr>
          </a:lstStyle>
          <a:p>
            <a:pPr>
              <a:defRPr sz="1500" b="1">
                <a:solidFill>
                  <a:srgbClr val="607083"/>
                </a:solidFill>
                <a:latin typeface="Arial"/>
                <a:ea typeface="Arial"/>
                <a:cs typeface="Arial"/>
              </a:defRPr>
            </a:pPr>
            <a:r>
              <a:rPr sz="1500" b="1">
                <a:solidFill>
                  <a:srgbClr val="607083"/>
                </a:solidFill>
                <a:latin typeface="Arial"/>
                <a:ea typeface="Arial"/>
                <a:cs typeface="Arial"/>
              </a:rPr>
              <a:t>BASELINE</a:t>
            </a:r>
          </a:p>
        </p:txBody>
      </p:sp>
      <p:sp>
        <p:nvSpPr>
          <p:cNvPr id="7" name="Rectangle 6">
            <a:extLst>
              <a:ext uri="{FF2B5EF4-FFF2-40B4-BE49-F238E27FC236}">
                <a16:creationId xmlns:a16="http://schemas.microsoft.com/office/drawing/2014/main" id="{1E956373-09B7-4247-AAE5-474A27A391F4}"/>
              </a:ext>
            </a:extLst>
          </p:cNvPr>
          <p:cNvSpPr>
            <a:spLocks noGrp="1"/>
          </p:cNvSpPr>
          <p:nvPr/>
        </p:nvSpPr>
        <p:spPr>
          <a:xfrm>
            <a:off x="7143750" y="2257425"/>
            <a:ext cx="4286250" cy="409575"/>
          </a:xfrm>
          <a:prstGeom prst="rect">
            <a:avLst/>
          </a:prstGeom>
          <a:noFill/>
          <a:ln w="0">
            <a:noFill/>
          </a:ln>
        </p:spPr>
        <p:txBody>
          <a:bodyPr>
            <a:noAutofit/>
          </a:bodyPr>
          <a:lstStyle>
            <a:defPPr>
              <a:defRPr sz="2400" b="1">
                <a:solidFill>
                  <a:srgbClr val="202B47"/>
                </a:solidFill>
                <a:latin typeface="Arial"/>
                <a:ea typeface="Arial"/>
                <a:cs typeface="Arial"/>
              </a:defRPr>
            </a:defPPr>
            <a:lvl1pPr>
              <a:defRPr sz="2400" b="1">
                <a:solidFill>
                  <a:srgbClr val="202B47"/>
                </a:solidFill>
                <a:latin typeface="Arial"/>
                <a:ea typeface="Arial"/>
                <a:cs typeface="Arial"/>
              </a:defRPr>
            </a:lvl1pPr>
            <a:lvl2pPr>
              <a:defRPr sz="2400" b="1">
                <a:solidFill>
                  <a:srgbClr val="202B47"/>
                </a:solidFill>
                <a:latin typeface="Arial"/>
                <a:ea typeface="Arial"/>
                <a:cs typeface="Arial"/>
              </a:defRPr>
            </a:lvl2pPr>
            <a:lvl3pPr>
              <a:defRPr sz="2400" b="1">
                <a:solidFill>
                  <a:srgbClr val="202B47"/>
                </a:solidFill>
                <a:latin typeface="Arial"/>
                <a:ea typeface="Arial"/>
                <a:cs typeface="Arial"/>
              </a:defRPr>
            </a:lvl3pPr>
            <a:lvl4pPr>
              <a:defRPr sz="2400" b="1">
                <a:solidFill>
                  <a:srgbClr val="202B47"/>
                </a:solidFill>
                <a:latin typeface="Arial"/>
                <a:ea typeface="Arial"/>
                <a:cs typeface="Arial"/>
              </a:defRPr>
            </a:lvl4pPr>
            <a:lvl5pPr>
              <a:defRPr sz="2400" b="1">
                <a:solidFill>
                  <a:srgbClr val="202B47"/>
                </a:solidFill>
                <a:latin typeface="Arial"/>
                <a:ea typeface="Arial"/>
                <a:cs typeface="Arial"/>
              </a:defRPr>
            </a:lvl5pPr>
            <a:lvl6pPr>
              <a:defRPr sz="2400" b="1">
                <a:solidFill>
                  <a:srgbClr val="202B47"/>
                </a:solidFill>
                <a:latin typeface="Arial"/>
                <a:ea typeface="Arial"/>
                <a:cs typeface="Arial"/>
              </a:defRPr>
            </a:lvl6pPr>
            <a:lvl7pPr>
              <a:defRPr sz="2400" b="1">
                <a:solidFill>
                  <a:srgbClr val="202B47"/>
                </a:solidFill>
                <a:latin typeface="Arial"/>
                <a:ea typeface="Arial"/>
                <a:cs typeface="Arial"/>
              </a:defRPr>
            </a:lvl7pPr>
            <a:lvl8pPr>
              <a:defRPr sz="2400" b="1">
                <a:solidFill>
                  <a:srgbClr val="202B47"/>
                </a:solidFill>
                <a:latin typeface="Arial"/>
                <a:ea typeface="Arial"/>
                <a:cs typeface="Arial"/>
              </a:defRPr>
            </a:lvl8pPr>
            <a:lvl9pPr>
              <a:defRPr sz="2400" b="1">
                <a:solidFill>
                  <a:srgbClr val="202B47"/>
                </a:solidFill>
                <a:latin typeface="Arial"/>
                <a:ea typeface="Arial"/>
                <a:cs typeface="Arial"/>
              </a:defRPr>
            </a:lvl9pPr>
          </a:lstStyle>
          <a:p>
            <a:pPr>
              <a:defRPr sz="2400" b="1">
                <a:solidFill>
                  <a:srgbClr val="202B47"/>
                </a:solidFill>
                <a:latin typeface="Arial"/>
                <a:ea typeface="Arial"/>
                <a:cs typeface="Arial"/>
              </a:defRPr>
            </a:pPr>
            <a:r>
              <a:rPr sz="2400" b="1">
                <a:solidFill>
                  <a:srgbClr val="202B47"/>
                </a:solidFill>
                <a:latin typeface="Arial"/>
                <a:ea typeface="Arial"/>
                <a:cs typeface="Arial"/>
              </a:rPr>
              <a:t>116 / 290</a:t>
            </a:r>
          </a:p>
        </p:txBody>
      </p:sp>
      <p:sp>
        <p:nvSpPr>
          <p:cNvPr id="8" name="Rectangle 7">
            <a:extLst>
              <a:ext uri="{FF2B5EF4-FFF2-40B4-BE49-F238E27FC236}">
                <a16:creationId xmlns:a16="http://schemas.microsoft.com/office/drawing/2014/main" id="{3F2BFB57-C023-496E-AA86-A41E5422F3C5}"/>
              </a:ext>
            </a:extLst>
          </p:cNvPr>
          <p:cNvSpPr>
            <a:spLocks noGrp="1"/>
          </p:cNvSpPr>
          <p:nvPr/>
        </p:nvSpPr>
        <p:spPr>
          <a:xfrm>
            <a:off x="7143750" y="2714625"/>
            <a:ext cx="4286250" cy="571500"/>
          </a:xfrm>
          <a:prstGeom prst="rect">
            <a:avLst/>
          </a:prstGeom>
          <a:noFill/>
          <a:ln w="0">
            <a:noFill/>
          </a:ln>
        </p:spPr>
        <p:txBody>
          <a:bodyPr>
            <a:noAutofit/>
          </a:bodyPr>
          <a:lstStyle>
            <a:defPPr>
              <a:defRPr sz="3450" b="1">
                <a:solidFill>
                  <a:srgbClr val="202B47"/>
                </a:solidFill>
                <a:latin typeface="Arial"/>
                <a:ea typeface="Arial"/>
                <a:cs typeface="Arial"/>
              </a:defRPr>
            </a:defPPr>
            <a:lvl1pPr>
              <a:defRPr sz="3450" b="1">
                <a:solidFill>
                  <a:srgbClr val="202B47"/>
                </a:solidFill>
                <a:latin typeface="Arial"/>
                <a:ea typeface="Arial"/>
                <a:cs typeface="Arial"/>
              </a:defRPr>
            </a:lvl1pPr>
            <a:lvl2pPr>
              <a:defRPr sz="3450" b="1">
                <a:solidFill>
                  <a:srgbClr val="202B47"/>
                </a:solidFill>
                <a:latin typeface="Arial"/>
                <a:ea typeface="Arial"/>
                <a:cs typeface="Arial"/>
              </a:defRPr>
            </a:lvl2pPr>
            <a:lvl3pPr>
              <a:defRPr sz="3450" b="1">
                <a:solidFill>
                  <a:srgbClr val="202B47"/>
                </a:solidFill>
                <a:latin typeface="Arial"/>
                <a:ea typeface="Arial"/>
                <a:cs typeface="Arial"/>
              </a:defRPr>
            </a:lvl3pPr>
            <a:lvl4pPr>
              <a:defRPr sz="3450" b="1">
                <a:solidFill>
                  <a:srgbClr val="202B47"/>
                </a:solidFill>
                <a:latin typeface="Arial"/>
                <a:ea typeface="Arial"/>
                <a:cs typeface="Arial"/>
              </a:defRPr>
            </a:lvl4pPr>
            <a:lvl5pPr>
              <a:defRPr sz="3450" b="1">
                <a:solidFill>
                  <a:srgbClr val="202B47"/>
                </a:solidFill>
                <a:latin typeface="Arial"/>
                <a:ea typeface="Arial"/>
                <a:cs typeface="Arial"/>
              </a:defRPr>
            </a:lvl5pPr>
            <a:lvl6pPr>
              <a:defRPr sz="3450" b="1">
                <a:solidFill>
                  <a:srgbClr val="202B47"/>
                </a:solidFill>
                <a:latin typeface="Arial"/>
                <a:ea typeface="Arial"/>
                <a:cs typeface="Arial"/>
              </a:defRPr>
            </a:lvl6pPr>
            <a:lvl7pPr>
              <a:defRPr sz="3450" b="1">
                <a:solidFill>
                  <a:srgbClr val="202B47"/>
                </a:solidFill>
                <a:latin typeface="Arial"/>
                <a:ea typeface="Arial"/>
                <a:cs typeface="Arial"/>
              </a:defRPr>
            </a:lvl7pPr>
            <a:lvl8pPr>
              <a:defRPr sz="3450" b="1">
                <a:solidFill>
                  <a:srgbClr val="202B47"/>
                </a:solidFill>
                <a:latin typeface="Arial"/>
                <a:ea typeface="Arial"/>
                <a:cs typeface="Arial"/>
              </a:defRPr>
            </a:lvl8pPr>
            <a:lvl9pPr>
              <a:defRPr sz="3450" b="1">
                <a:solidFill>
                  <a:srgbClr val="202B47"/>
                </a:solidFill>
                <a:latin typeface="Arial"/>
                <a:ea typeface="Arial"/>
                <a:cs typeface="Arial"/>
              </a:defRPr>
            </a:lvl9pPr>
          </a:lstStyle>
          <a:p>
            <a:pPr>
              <a:defRPr sz="3450" b="1">
                <a:solidFill>
                  <a:srgbClr val="202B47"/>
                </a:solidFill>
                <a:latin typeface="Arial"/>
                <a:ea typeface="Arial"/>
                <a:cs typeface="Arial"/>
              </a:defRPr>
            </a:pPr>
            <a:r>
              <a:rPr sz="3450" b="1">
                <a:solidFill>
                  <a:srgbClr val="202B47"/>
                </a:solidFill>
                <a:latin typeface="Arial"/>
                <a:ea typeface="Arial"/>
                <a:cs typeface="Arial"/>
              </a:rPr>
              <a:t>40.0%</a:t>
            </a:r>
          </a:p>
        </p:txBody>
      </p:sp>
      <p:sp>
        <p:nvSpPr>
          <p:cNvPr id="9" name="Rectangle 8">
            <a:extLst>
              <a:ext uri="{FF2B5EF4-FFF2-40B4-BE49-F238E27FC236}">
                <a16:creationId xmlns:a16="http://schemas.microsoft.com/office/drawing/2014/main" id="{25E077E4-DC82-4A75-8CB3-3F1BDE5813FA}"/>
              </a:ext>
            </a:extLst>
          </p:cNvPr>
          <p:cNvSpPr>
            <a:spLocks noGrp="1"/>
          </p:cNvSpPr>
          <p:nvPr/>
        </p:nvSpPr>
        <p:spPr>
          <a:xfrm>
            <a:off x="7143750" y="3476625"/>
            <a:ext cx="4286250" cy="285750"/>
          </a:xfrm>
          <a:prstGeom prst="rect">
            <a:avLst/>
          </a:prstGeom>
          <a:noFill/>
          <a:ln w="0">
            <a:noFill/>
          </a:ln>
        </p:spPr>
        <p:txBody>
          <a:bodyPr>
            <a:noAutofit/>
          </a:bodyPr>
          <a:lstStyle>
            <a:defPPr>
              <a:defRPr sz="1500" b="1">
                <a:solidFill>
                  <a:srgbClr val="E51D2A"/>
                </a:solidFill>
                <a:latin typeface="Arial"/>
                <a:ea typeface="Arial"/>
                <a:cs typeface="Arial"/>
              </a:defRPr>
            </a:defPPr>
            <a:lvl1pPr>
              <a:defRPr sz="1500" b="1">
                <a:solidFill>
                  <a:srgbClr val="E51D2A"/>
                </a:solidFill>
                <a:latin typeface="Arial"/>
                <a:ea typeface="Arial"/>
                <a:cs typeface="Arial"/>
              </a:defRPr>
            </a:lvl1pPr>
            <a:lvl2pPr>
              <a:defRPr sz="1500" b="1">
                <a:solidFill>
                  <a:srgbClr val="E51D2A"/>
                </a:solidFill>
                <a:latin typeface="Arial"/>
                <a:ea typeface="Arial"/>
                <a:cs typeface="Arial"/>
              </a:defRPr>
            </a:lvl2pPr>
            <a:lvl3pPr>
              <a:defRPr sz="1500" b="1">
                <a:solidFill>
                  <a:srgbClr val="E51D2A"/>
                </a:solidFill>
                <a:latin typeface="Arial"/>
                <a:ea typeface="Arial"/>
                <a:cs typeface="Arial"/>
              </a:defRPr>
            </a:lvl3pPr>
            <a:lvl4pPr>
              <a:defRPr sz="1500" b="1">
                <a:solidFill>
                  <a:srgbClr val="E51D2A"/>
                </a:solidFill>
                <a:latin typeface="Arial"/>
                <a:ea typeface="Arial"/>
                <a:cs typeface="Arial"/>
              </a:defRPr>
            </a:lvl4pPr>
            <a:lvl5pPr>
              <a:defRPr sz="1500" b="1">
                <a:solidFill>
                  <a:srgbClr val="E51D2A"/>
                </a:solidFill>
                <a:latin typeface="Arial"/>
                <a:ea typeface="Arial"/>
                <a:cs typeface="Arial"/>
              </a:defRPr>
            </a:lvl5pPr>
            <a:lvl6pPr>
              <a:defRPr sz="1500" b="1">
                <a:solidFill>
                  <a:srgbClr val="E51D2A"/>
                </a:solidFill>
                <a:latin typeface="Arial"/>
                <a:ea typeface="Arial"/>
                <a:cs typeface="Arial"/>
              </a:defRPr>
            </a:lvl6pPr>
            <a:lvl7pPr>
              <a:defRPr sz="1500" b="1">
                <a:solidFill>
                  <a:srgbClr val="E51D2A"/>
                </a:solidFill>
                <a:latin typeface="Arial"/>
                <a:ea typeface="Arial"/>
                <a:cs typeface="Arial"/>
              </a:defRPr>
            </a:lvl7pPr>
            <a:lvl8pPr>
              <a:defRPr sz="1500" b="1">
                <a:solidFill>
                  <a:srgbClr val="E51D2A"/>
                </a:solidFill>
                <a:latin typeface="Arial"/>
                <a:ea typeface="Arial"/>
                <a:cs typeface="Arial"/>
              </a:defRPr>
            </a:lvl8pPr>
            <a:lvl9pPr>
              <a:defRPr sz="1500" b="1">
                <a:solidFill>
                  <a:srgbClr val="E51D2A"/>
                </a:solidFill>
                <a:latin typeface="Arial"/>
                <a:ea typeface="Arial"/>
                <a:cs typeface="Arial"/>
              </a:defRPr>
            </a:lvl9pPr>
          </a:lstStyle>
          <a:p>
            <a:pPr>
              <a:defRPr sz="1500" b="1">
                <a:solidFill>
                  <a:srgbClr val="E51D2A"/>
                </a:solidFill>
                <a:latin typeface="Arial"/>
                <a:ea typeface="Arial"/>
                <a:cs typeface="Arial"/>
              </a:defRPr>
            </a:pPr>
            <a:r>
              <a:rPr sz="1500" b="1">
                <a:solidFill>
                  <a:srgbClr val="E51D2A"/>
                </a:solidFill>
                <a:latin typeface="Arial"/>
                <a:ea typeface="Arial"/>
                <a:cs typeface="Arial"/>
              </a:rPr>
              <a:t>OPTIMISED</a:t>
            </a:r>
          </a:p>
        </p:txBody>
      </p:sp>
      <p:sp>
        <p:nvSpPr>
          <p:cNvPr id="10" name="Rectangle 9">
            <a:extLst>
              <a:ext uri="{FF2B5EF4-FFF2-40B4-BE49-F238E27FC236}">
                <a16:creationId xmlns:a16="http://schemas.microsoft.com/office/drawing/2014/main" id="{5BCC537B-6527-455B-9E5D-4374241C60E4}"/>
              </a:ext>
            </a:extLst>
          </p:cNvPr>
          <p:cNvSpPr>
            <a:spLocks noGrp="1"/>
          </p:cNvSpPr>
          <p:nvPr/>
        </p:nvSpPr>
        <p:spPr>
          <a:xfrm>
            <a:off x="7143750" y="3876675"/>
            <a:ext cx="4286250" cy="409575"/>
          </a:xfrm>
          <a:prstGeom prst="rect">
            <a:avLst/>
          </a:prstGeom>
          <a:noFill/>
          <a:ln w="0">
            <a:noFill/>
          </a:ln>
        </p:spPr>
        <p:txBody>
          <a:bodyPr>
            <a:noAutofit/>
          </a:bodyPr>
          <a:lstStyle>
            <a:defPPr>
              <a:defRPr sz="2400" b="1">
                <a:solidFill>
                  <a:srgbClr val="E51D2A"/>
                </a:solidFill>
                <a:latin typeface="Arial"/>
                <a:ea typeface="Arial"/>
                <a:cs typeface="Arial"/>
              </a:defRPr>
            </a:defPPr>
            <a:lvl1pPr>
              <a:defRPr sz="2400" b="1">
                <a:solidFill>
                  <a:srgbClr val="E51D2A"/>
                </a:solidFill>
                <a:latin typeface="Arial"/>
                <a:ea typeface="Arial"/>
                <a:cs typeface="Arial"/>
              </a:defRPr>
            </a:lvl1pPr>
            <a:lvl2pPr>
              <a:defRPr sz="2400" b="1">
                <a:solidFill>
                  <a:srgbClr val="E51D2A"/>
                </a:solidFill>
                <a:latin typeface="Arial"/>
                <a:ea typeface="Arial"/>
                <a:cs typeface="Arial"/>
              </a:defRPr>
            </a:lvl2pPr>
            <a:lvl3pPr>
              <a:defRPr sz="2400" b="1">
                <a:solidFill>
                  <a:srgbClr val="E51D2A"/>
                </a:solidFill>
                <a:latin typeface="Arial"/>
                <a:ea typeface="Arial"/>
                <a:cs typeface="Arial"/>
              </a:defRPr>
            </a:lvl3pPr>
            <a:lvl4pPr>
              <a:defRPr sz="2400" b="1">
                <a:solidFill>
                  <a:srgbClr val="E51D2A"/>
                </a:solidFill>
                <a:latin typeface="Arial"/>
                <a:ea typeface="Arial"/>
                <a:cs typeface="Arial"/>
              </a:defRPr>
            </a:lvl4pPr>
            <a:lvl5pPr>
              <a:defRPr sz="2400" b="1">
                <a:solidFill>
                  <a:srgbClr val="E51D2A"/>
                </a:solidFill>
                <a:latin typeface="Arial"/>
                <a:ea typeface="Arial"/>
                <a:cs typeface="Arial"/>
              </a:defRPr>
            </a:lvl5pPr>
            <a:lvl6pPr>
              <a:defRPr sz="2400" b="1">
                <a:solidFill>
                  <a:srgbClr val="E51D2A"/>
                </a:solidFill>
                <a:latin typeface="Arial"/>
                <a:ea typeface="Arial"/>
                <a:cs typeface="Arial"/>
              </a:defRPr>
            </a:lvl6pPr>
            <a:lvl7pPr>
              <a:defRPr sz="2400" b="1">
                <a:solidFill>
                  <a:srgbClr val="E51D2A"/>
                </a:solidFill>
                <a:latin typeface="Arial"/>
                <a:ea typeface="Arial"/>
                <a:cs typeface="Arial"/>
              </a:defRPr>
            </a:lvl7pPr>
            <a:lvl8pPr>
              <a:defRPr sz="2400" b="1">
                <a:solidFill>
                  <a:srgbClr val="E51D2A"/>
                </a:solidFill>
                <a:latin typeface="Arial"/>
                <a:ea typeface="Arial"/>
                <a:cs typeface="Arial"/>
              </a:defRPr>
            </a:lvl8pPr>
            <a:lvl9pPr>
              <a:defRPr sz="2400" b="1">
                <a:solidFill>
                  <a:srgbClr val="E51D2A"/>
                </a:solidFill>
                <a:latin typeface="Arial"/>
                <a:ea typeface="Arial"/>
                <a:cs typeface="Arial"/>
              </a:defRPr>
            </a:lvl9pPr>
          </a:lstStyle>
          <a:p>
            <a:pPr>
              <a:defRPr sz="2400" b="1">
                <a:solidFill>
                  <a:srgbClr val="E51D2A"/>
                </a:solidFill>
                <a:latin typeface="Arial"/>
                <a:ea typeface="Arial"/>
                <a:cs typeface="Arial"/>
              </a:defRPr>
            </a:pPr>
            <a:r>
              <a:rPr sz="2400" b="1">
                <a:solidFill>
                  <a:srgbClr val="E51D2A"/>
                </a:solidFill>
                <a:latin typeface="Arial"/>
                <a:ea typeface="Arial"/>
                <a:cs typeface="Arial"/>
              </a:rPr>
              <a:t>152 / 290</a:t>
            </a:r>
          </a:p>
        </p:txBody>
      </p:sp>
      <p:sp>
        <p:nvSpPr>
          <p:cNvPr id="11" name="Rectangle 10">
            <a:extLst>
              <a:ext uri="{FF2B5EF4-FFF2-40B4-BE49-F238E27FC236}">
                <a16:creationId xmlns:a16="http://schemas.microsoft.com/office/drawing/2014/main" id="{512529C2-89AE-4EC0-8C97-E368F2FEB359}"/>
              </a:ext>
            </a:extLst>
          </p:cNvPr>
          <p:cNvSpPr>
            <a:spLocks noGrp="1"/>
          </p:cNvSpPr>
          <p:nvPr/>
        </p:nvSpPr>
        <p:spPr>
          <a:xfrm>
            <a:off x="7143750" y="4333875"/>
            <a:ext cx="4286250" cy="571500"/>
          </a:xfrm>
          <a:prstGeom prst="rect">
            <a:avLst/>
          </a:prstGeom>
          <a:noFill/>
          <a:ln w="0">
            <a:noFill/>
          </a:ln>
        </p:spPr>
        <p:txBody>
          <a:bodyPr>
            <a:noAutofit/>
          </a:bodyPr>
          <a:lstStyle>
            <a:defPPr>
              <a:defRPr sz="3450" b="1">
                <a:solidFill>
                  <a:srgbClr val="E51D2A"/>
                </a:solidFill>
                <a:latin typeface="Arial"/>
                <a:ea typeface="Arial"/>
                <a:cs typeface="Arial"/>
              </a:defRPr>
            </a:defPPr>
            <a:lvl1pPr>
              <a:defRPr sz="3450" b="1">
                <a:solidFill>
                  <a:srgbClr val="E51D2A"/>
                </a:solidFill>
                <a:latin typeface="Arial"/>
                <a:ea typeface="Arial"/>
                <a:cs typeface="Arial"/>
              </a:defRPr>
            </a:lvl1pPr>
            <a:lvl2pPr>
              <a:defRPr sz="3450" b="1">
                <a:solidFill>
                  <a:srgbClr val="E51D2A"/>
                </a:solidFill>
                <a:latin typeface="Arial"/>
                <a:ea typeface="Arial"/>
                <a:cs typeface="Arial"/>
              </a:defRPr>
            </a:lvl2pPr>
            <a:lvl3pPr>
              <a:defRPr sz="3450" b="1">
                <a:solidFill>
                  <a:srgbClr val="E51D2A"/>
                </a:solidFill>
                <a:latin typeface="Arial"/>
                <a:ea typeface="Arial"/>
                <a:cs typeface="Arial"/>
              </a:defRPr>
            </a:lvl3pPr>
            <a:lvl4pPr>
              <a:defRPr sz="3450" b="1">
                <a:solidFill>
                  <a:srgbClr val="E51D2A"/>
                </a:solidFill>
                <a:latin typeface="Arial"/>
                <a:ea typeface="Arial"/>
                <a:cs typeface="Arial"/>
              </a:defRPr>
            </a:lvl4pPr>
            <a:lvl5pPr>
              <a:defRPr sz="3450" b="1">
                <a:solidFill>
                  <a:srgbClr val="E51D2A"/>
                </a:solidFill>
                <a:latin typeface="Arial"/>
                <a:ea typeface="Arial"/>
                <a:cs typeface="Arial"/>
              </a:defRPr>
            </a:lvl5pPr>
            <a:lvl6pPr>
              <a:defRPr sz="3450" b="1">
                <a:solidFill>
                  <a:srgbClr val="E51D2A"/>
                </a:solidFill>
                <a:latin typeface="Arial"/>
                <a:ea typeface="Arial"/>
                <a:cs typeface="Arial"/>
              </a:defRPr>
            </a:lvl6pPr>
            <a:lvl7pPr>
              <a:defRPr sz="3450" b="1">
                <a:solidFill>
                  <a:srgbClr val="E51D2A"/>
                </a:solidFill>
                <a:latin typeface="Arial"/>
                <a:ea typeface="Arial"/>
                <a:cs typeface="Arial"/>
              </a:defRPr>
            </a:lvl7pPr>
            <a:lvl8pPr>
              <a:defRPr sz="3450" b="1">
                <a:solidFill>
                  <a:srgbClr val="E51D2A"/>
                </a:solidFill>
                <a:latin typeface="Arial"/>
                <a:ea typeface="Arial"/>
                <a:cs typeface="Arial"/>
              </a:defRPr>
            </a:lvl8pPr>
            <a:lvl9pPr>
              <a:defRPr sz="3450" b="1">
                <a:solidFill>
                  <a:srgbClr val="E51D2A"/>
                </a:solidFill>
                <a:latin typeface="Arial"/>
                <a:ea typeface="Arial"/>
                <a:cs typeface="Arial"/>
              </a:defRPr>
            </a:lvl9pPr>
          </a:lstStyle>
          <a:p>
            <a:pPr>
              <a:defRPr sz="3450" b="1">
                <a:solidFill>
                  <a:srgbClr val="E51D2A"/>
                </a:solidFill>
                <a:latin typeface="Arial"/>
                <a:ea typeface="Arial"/>
                <a:cs typeface="Arial"/>
              </a:defRPr>
            </a:pPr>
            <a:r>
              <a:rPr sz="3450" b="1">
                <a:solidFill>
                  <a:srgbClr val="E51D2A"/>
                </a:solidFill>
                <a:latin typeface="Arial"/>
                <a:ea typeface="Arial"/>
                <a:cs typeface="Arial"/>
              </a:rPr>
              <a:t>52.4%</a:t>
            </a:r>
          </a:p>
        </p:txBody>
      </p:sp>
      <p:sp>
        <p:nvSpPr>
          <p:cNvPr id="12" name="Rectangle 11">
            <a:extLst>
              <a:ext uri="{FF2B5EF4-FFF2-40B4-BE49-F238E27FC236}">
                <a16:creationId xmlns:a16="http://schemas.microsoft.com/office/drawing/2014/main" id="{B44DD6AF-D149-4663-8C1F-9753E0DC6CFB}"/>
              </a:ext>
            </a:extLst>
          </p:cNvPr>
          <p:cNvSpPr>
            <a:spLocks noGrp="1"/>
          </p:cNvSpPr>
          <p:nvPr/>
        </p:nvSpPr>
        <p:spPr>
          <a:xfrm>
            <a:off x="7143750" y="5124450"/>
            <a:ext cx="4286250" cy="381000"/>
          </a:xfrm>
          <a:prstGeom prst="rect">
            <a:avLst/>
          </a:prstGeom>
          <a:noFill/>
          <a:ln w="0">
            <a:noFill/>
          </a:ln>
        </p:spPr>
        <p:txBody>
          <a:bodyPr>
            <a:noAutofit/>
          </a:bodyPr>
          <a:lstStyle>
            <a:defPPr>
              <a:defRPr sz="2025" b="1">
                <a:solidFill>
                  <a:srgbClr val="087D82"/>
                </a:solidFill>
                <a:latin typeface="Arial"/>
                <a:ea typeface="Arial"/>
                <a:cs typeface="Arial"/>
              </a:defRPr>
            </a:defPPr>
            <a:lvl1pPr>
              <a:defRPr sz="2025" b="1">
                <a:solidFill>
                  <a:srgbClr val="087D82"/>
                </a:solidFill>
                <a:latin typeface="Arial"/>
                <a:ea typeface="Arial"/>
                <a:cs typeface="Arial"/>
              </a:defRPr>
            </a:lvl1pPr>
            <a:lvl2pPr>
              <a:defRPr sz="2025" b="1">
                <a:solidFill>
                  <a:srgbClr val="087D82"/>
                </a:solidFill>
                <a:latin typeface="Arial"/>
                <a:ea typeface="Arial"/>
                <a:cs typeface="Arial"/>
              </a:defRPr>
            </a:lvl2pPr>
            <a:lvl3pPr>
              <a:defRPr sz="2025" b="1">
                <a:solidFill>
                  <a:srgbClr val="087D82"/>
                </a:solidFill>
                <a:latin typeface="Arial"/>
                <a:ea typeface="Arial"/>
                <a:cs typeface="Arial"/>
              </a:defRPr>
            </a:lvl3pPr>
            <a:lvl4pPr>
              <a:defRPr sz="2025" b="1">
                <a:solidFill>
                  <a:srgbClr val="087D82"/>
                </a:solidFill>
                <a:latin typeface="Arial"/>
                <a:ea typeface="Arial"/>
                <a:cs typeface="Arial"/>
              </a:defRPr>
            </a:lvl4pPr>
            <a:lvl5pPr>
              <a:defRPr sz="2025" b="1">
                <a:solidFill>
                  <a:srgbClr val="087D82"/>
                </a:solidFill>
                <a:latin typeface="Arial"/>
                <a:ea typeface="Arial"/>
                <a:cs typeface="Arial"/>
              </a:defRPr>
            </a:lvl5pPr>
            <a:lvl6pPr>
              <a:defRPr sz="2025" b="1">
                <a:solidFill>
                  <a:srgbClr val="087D82"/>
                </a:solidFill>
                <a:latin typeface="Arial"/>
                <a:ea typeface="Arial"/>
                <a:cs typeface="Arial"/>
              </a:defRPr>
            </a:lvl6pPr>
            <a:lvl7pPr>
              <a:defRPr sz="2025" b="1">
                <a:solidFill>
                  <a:srgbClr val="087D82"/>
                </a:solidFill>
                <a:latin typeface="Arial"/>
                <a:ea typeface="Arial"/>
                <a:cs typeface="Arial"/>
              </a:defRPr>
            </a:lvl7pPr>
            <a:lvl8pPr>
              <a:defRPr sz="2025" b="1">
                <a:solidFill>
                  <a:srgbClr val="087D82"/>
                </a:solidFill>
                <a:latin typeface="Arial"/>
                <a:ea typeface="Arial"/>
                <a:cs typeface="Arial"/>
              </a:defRPr>
            </a:lvl8pPr>
            <a:lvl9pPr>
              <a:defRPr sz="2025" b="1">
                <a:solidFill>
                  <a:srgbClr val="087D82"/>
                </a:solidFill>
                <a:latin typeface="Arial"/>
                <a:ea typeface="Arial"/>
                <a:cs typeface="Arial"/>
              </a:defRPr>
            </a:lvl9pPr>
          </a:lstStyle>
          <a:p>
            <a:pPr>
              <a:defRPr sz="2025" b="1">
                <a:solidFill>
                  <a:srgbClr val="087D82"/>
                </a:solidFill>
                <a:latin typeface="Arial"/>
                <a:ea typeface="Arial"/>
                <a:cs typeface="Arial"/>
              </a:defRPr>
            </a:pPr>
            <a:r>
              <a:rPr sz="2025" b="1">
                <a:solidFill>
                  <a:srgbClr val="087D82"/>
                </a:solidFill>
                <a:latin typeface="Arial"/>
                <a:ea typeface="Arial"/>
                <a:cs typeface="Arial"/>
              </a:rPr>
              <a:t>36 more citing answers</a:t>
            </a:r>
          </a:p>
        </p:txBody>
      </p:sp>
      <p:sp>
        <p:nvSpPr>
          <p:cNvPr id="13" name="Rectangle 12">
            <a:extLst>
              <a:ext uri="{FF2B5EF4-FFF2-40B4-BE49-F238E27FC236}">
                <a16:creationId xmlns:a16="http://schemas.microsoft.com/office/drawing/2014/main" id="{77B412C3-A663-43FA-89CF-50D92825AF57}"/>
              </a:ext>
            </a:extLst>
          </p:cNvPr>
          <p:cNvSpPr>
            <a:spLocks noGrp="1"/>
          </p:cNvSpPr>
          <p:nvPr/>
        </p:nvSpPr>
        <p:spPr>
          <a:xfrm>
            <a:off x="7143750" y="5534025"/>
            <a:ext cx="4381500" cy="571500"/>
          </a:xfrm>
          <a:prstGeom prst="rect">
            <a:avLst/>
          </a:prstGeom>
          <a:noFill/>
          <a:ln w="0">
            <a:noFill/>
          </a:ln>
        </p:spPr>
        <p:txBody>
          <a:bodyPr>
            <a:noAutofit/>
          </a:bodyPr>
          <a:lstStyle>
            <a:defPPr>
              <a:defRPr sz="1800" b="1">
                <a:solidFill>
                  <a:srgbClr val="087D82"/>
                </a:solidFill>
                <a:latin typeface="Arial"/>
                <a:ea typeface="Arial"/>
                <a:cs typeface="Arial"/>
              </a:defRPr>
            </a:defPPr>
            <a:lvl1pPr>
              <a:defRPr sz="1800" b="1">
                <a:solidFill>
                  <a:srgbClr val="087D82"/>
                </a:solidFill>
                <a:latin typeface="Arial"/>
                <a:ea typeface="Arial"/>
                <a:cs typeface="Arial"/>
              </a:defRPr>
            </a:lvl1pPr>
            <a:lvl2pPr>
              <a:defRPr sz="1800" b="1">
                <a:solidFill>
                  <a:srgbClr val="087D82"/>
                </a:solidFill>
                <a:latin typeface="Arial"/>
                <a:ea typeface="Arial"/>
                <a:cs typeface="Arial"/>
              </a:defRPr>
            </a:lvl2pPr>
            <a:lvl3pPr>
              <a:defRPr sz="1800" b="1">
                <a:solidFill>
                  <a:srgbClr val="087D82"/>
                </a:solidFill>
                <a:latin typeface="Arial"/>
                <a:ea typeface="Arial"/>
                <a:cs typeface="Arial"/>
              </a:defRPr>
            </a:lvl3pPr>
            <a:lvl4pPr>
              <a:defRPr sz="1800" b="1">
                <a:solidFill>
                  <a:srgbClr val="087D82"/>
                </a:solidFill>
                <a:latin typeface="Arial"/>
                <a:ea typeface="Arial"/>
                <a:cs typeface="Arial"/>
              </a:defRPr>
            </a:lvl4pPr>
            <a:lvl5pPr>
              <a:defRPr sz="1800" b="1">
                <a:solidFill>
                  <a:srgbClr val="087D82"/>
                </a:solidFill>
                <a:latin typeface="Arial"/>
                <a:ea typeface="Arial"/>
                <a:cs typeface="Arial"/>
              </a:defRPr>
            </a:lvl5pPr>
            <a:lvl6pPr>
              <a:defRPr sz="1800" b="1">
                <a:solidFill>
                  <a:srgbClr val="087D82"/>
                </a:solidFill>
                <a:latin typeface="Arial"/>
                <a:ea typeface="Arial"/>
                <a:cs typeface="Arial"/>
              </a:defRPr>
            </a:lvl6pPr>
            <a:lvl7pPr>
              <a:defRPr sz="1800" b="1">
                <a:solidFill>
                  <a:srgbClr val="087D82"/>
                </a:solidFill>
                <a:latin typeface="Arial"/>
                <a:ea typeface="Arial"/>
                <a:cs typeface="Arial"/>
              </a:defRPr>
            </a:lvl7pPr>
            <a:lvl8pPr>
              <a:defRPr sz="1800" b="1">
                <a:solidFill>
                  <a:srgbClr val="087D82"/>
                </a:solidFill>
                <a:latin typeface="Arial"/>
                <a:ea typeface="Arial"/>
                <a:cs typeface="Arial"/>
              </a:defRPr>
            </a:lvl8pPr>
            <a:lvl9pPr>
              <a:defRPr sz="1800" b="1">
                <a:solidFill>
                  <a:srgbClr val="087D82"/>
                </a:solidFill>
                <a:latin typeface="Arial"/>
                <a:ea typeface="Arial"/>
                <a:cs typeface="Arial"/>
              </a:defRPr>
            </a:lvl9pPr>
          </a:lstStyle>
          <a:p>
            <a:pPr>
              <a:defRPr sz="1800" b="1">
                <a:solidFill>
                  <a:srgbClr val="087D82"/>
                </a:solidFill>
                <a:latin typeface="Arial"/>
                <a:ea typeface="Arial"/>
                <a:cs typeface="Arial"/>
              </a:defRPr>
            </a:pPr>
            <a:r>
              <a:rPr sz="1800" b="1">
                <a:solidFill>
                  <a:srgbClr val="087D82"/>
                </a:solidFill>
                <a:latin typeface="Arial"/>
                <a:ea typeface="Arial"/>
                <a:cs typeface="Arial"/>
              </a:rPr>
              <a:t>12.4 percentage-point difference</a:t>
            </a:r>
          </a:p>
        </p:txBody>
      </p:sp>
    </p:spTree>
    <p:extLst>
      <p:ext uri="{BB962C8B-B14F-4D97-AF65-F5344CB8AC3E}">
        <p14:creationId xmlns:p14="http://schemas.microsoft.com/office/powerpoint/2010/main" val="206319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METHODS</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Methods at a glance</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Each change tested alone against the same original page (39.3%).</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4983480" y="1920240"/>
            <a:ext cx="0" cy="3776472"/>
          </a:xfrm>
          <a:prstGeom prst="line">
            <a:avLst/>
          </a:prstGeom>
          <a:noFill/>
          <a:ln w="12700">
            <a:solidFill>
              <a:srgbClr val="1F2A44"/>
            </a:solidFill>
            <a:prstDash val="solid"/>
          </a:ln>
        </p:spPr>
        <p:txBody>
          <a:bodyPr/>
          <a:lstStyle/>
          <a:p>
            <a:endParaRPr lang="LID4096"/>
          </a:p>
        </p:txBody>
      </p:sp>
      <p:sp>
        <p:nvSpPr>
          <p:cNvPr id="8" name="Text 6"/>
          <p:cNvSpPr txBox="1"/>
          <p:nvPr/>
        </p:nvSpPr>
        <p:spPr>
          <a:xfrm>
            <a:off x="640080" y="2011680"/>
            <a:ext cx="2743200" cy="384048"/>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Label the key facts</a:t>
            </a:r>
            <a:endParaRPr lang="en-US" sz="1400" dirty="0"/>
          </a:p>
        </p:txBody>
      </p:sp>
      <p:sp>
        <p:nvSpPr>
          <p:cNvPr id="9" name="Shape 7"/>
          <p:cNvSpPr/>
          <p:nvPr/>
        </p:nvSpPr>
        <p:spPr>
          <a:xfrm>
            <a:off x="4983480" y="2075688"/>
            <a:ext cx="2084832" cy="256032"/>
          </a:xfrm>
          <a:prstGeom prst="rect">
            <a:avLst/>
          </a:prstGeom>
          <a:solidFill>
            <a:srgbClr val="D7262E"/>
          </a:solidFill>
          <a:ln w="12700">
            <a:solidFill>
              <a:srgbClr val="D7262E"/>
            </a:solidFill>
            <a:prstDash val="solid"/>
          </a:ln>
        </p:spPr>
        <p:txBody>
          <a:bodyPr/>
          <a:lstStyle/>
          <a:p>
            <a:endParaRPr lang="LID4096"/>
          </a:p>
        </p:txBody>
      </p:sp>
      <p:sp>
        <p:nvSpPr>
          <p:cNvPr id="10" name="Text 8"/>
          <p:cNvSpPr txBox="1"/>
          <p:nvPr/>
        </p:nvSpPr>
        <p:spPr>
          <a:xfrm>
            <a:off x="7159752" y="2011680"/>
            <a:ext cx="685800" cy="384048"/>
          </a:xfrm>
          <a:prstGeom prst="rect">
            <a:avLst/>
          </a:prstGeom>
          <a:noFill/>
          <a:ln/>
        </p:spPr>
        <p:txBody>
          <a:bodyPr wrap="square" lIns="0" tIns="0" rIns="0" bIns="0" rtlCol="0" anchor="ctr"/>
          <a:lstStyle/>
          <a:p>
            <a:pPr marL="0" indent="0">
              <a:buNone/>
            </a:pPr>
            <a:r>
              <a:rPr lang="en-US" sz="1400" b="1" dirty="0">
                <a:solidFill>
                  <a:srgbClr val="D7262E"/>
                </a:solidFill>
                <a:latin typeface="Arial" pitchFamily="34" charset="0"/>
                <a:ea typeface="Arial" pitchFamily="34" charset="-122"/>
                <a:cs typeface="Arial" pitchFamily="34" charset="-120"/>
              </a:rPr>
              <a:t>+7.6</a:t>
            </a:r>
            <a:endParaRPr lang="en-US" sz="1400" dirty="0"/>
          </a:p>
        </p:txBody>
      </p:sp>
      <p:sp>
        <p:nvSpPr>
          <p:cNvPr id="11" name="Shape 9"/>
          <p:cNvSpPr/>
          <p:nvPr/>
        </p:nvSpPr>
        <p:spPr>
          <a:xfrm>
            <a:off x="7726680" y="2066544"/>
            <a:ext cx="914400" cy="274320"/>
          </a:xfrm>
          <a:prstGeom prst="roundRect">
            <a:avLst>
              <a:gd name="adj" fmla="val 50000"/>
            </a:avLst>
          </a:prstGeom>
          <a:solidFill>
            <a:srgbClr val="D7262E"/>
          </a:solidFill>
          <a:ln w="12700">
            <a:solidFill>
              <a:srgbClr val="D7262E"/>
            </a:solidFill>
            <a:prstDash val="solid"/>
          </a:ln>
        </p:spPr>
        <p:txBody>
          <a:bodyPr/>
          <a:lstStyle/>
          <a:p>
            <a:endParaRPr lang="LID4096"/>
          </a:p>
        </p:txBody>
      </p:sp>
      <p:sp>
        <p:nvSpPr>
          <p:cNvPr id="12" name="Text 10"/>
          <p:cNvSpPr txBox="1"/>
          <p:nvPr/>
        </p:nvSpPr>
        <p:spPr>
          <a:xfrm>
            <a:off x="7726680" y="2066544"/>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Kept</a:t>
            </a:r>
            <a:endParaRPr lang="en-US" sz="1000" dirty="0"/>
          </a:p>
        </p:txBody>
      </p:sp>
      <p:sp>
        <p:nvSpPr>
          <p:cNvPr id="13" name="Text 11"/>
          <p:cNvSpPr txBox="1"/>
          <p:nvPr/>
        </p:nvSpPr>
        <p:spPr>
          <a:xfrm>
            <a:off x="640080" y="2633472"/>
            <a:ext cx="2743200" cy="384048"/>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Answer it as a question</a:t>
            </a:r>
            <a:endParaRPr lang="en-US" sz="1400" dirty="0"/>
          </a:p>
        </p:txBody>
      </p:sp>
      <p:sp>
        <p:nvSpPr>
          <p:cNvPr id="14" name="Shape 12"/>
          <p:cNvSpPr/>
          <p:nvPr/>
        </p:nvSpPr>
        <p:spPr>
          <a:xfrm>
            <a:off x="4983480" y="2697480"/>
            <a:ext cx="1892808" cy="256032"/>
          </a:xfrm>
          <a:prstGeom prst="rect">
            <a:avLst/>
          </a:prstGeom>
          <a:solidFill>
            <a:srgbClr val="D7262E"/>
          </a:solidFill>
          <a:ln w="12700">
            <a:solidFill>
              <a:srgbClr val="D7262E"/>
            </a:solidFill>
            <a:prstDash val="solid"/>
          </a:ln>
        </p:spPr>
        <p:txBody>
          <a:bodyPr/>
          <a:lstStyle/>
          <a:p>
            <a:endParaRPr lang="LID4096"/>
          </a:p>
        </p:txBody>
      </p:sp>
      <p:sp>
        <p:nvSpPr>
          <p:cNvPr id="15" name="Text 13"/>
          <p:cNvSpPr txBox="1"/>
          <p:nvPr/>
        </p:nvSpPr>
        <p:spPr>
          <a:xfrm>
            <a:off x="6967728" y="2633472"/>
            <a:ext cx="685800" cy="384048"/>
          </a:xfrm>
          <a:prstGeom prst="rect">
            <a:avLst/>
          </a:prstGeom>
          <a:noFill/>
          <a:ln/>
        </p:spPr>
        <p:txBody>
          <a:bodyPr wrap="square" lIns="0" tIns="0" rIns="0" bIns="0" rtlCol="0" anchor="ctr"/>
          <a:lstStyle/>
          <a:p>
            <a:pPr marL="0" indent="0">
              <a:buNone/>
            </a:pPr>
            <a:r>
              <a:rPr lang="en-US" sz="1400" b="1" dirty="0">
                <a:solidFill>
                  <a:srgbClr val="D7262E"/>
                </a:solidFill>
                <a:latin typeface="Arial" pitchFamily="34" charset="0"/>
                <a:ea typeface="Arial" pitchFamily="34" charset="-122"/>
                <a:cs typeface="Arial" pitchFamily="34" charset="-120"/>
              </a:rPr>
              <a:t>+6.9</a:t>
            </a:r>
            <a:endParaRPr lang="en-US" sz="1400" dirty="0"/>
          </a:p>
        </p:txBody>
      </p:sp>
      <p:sp>
        <p:nvSpPr>
          <p:cNvPr id="16" name="Shape 14"/>
          <p:cNvSpPr/>
          <p:nvPr/>
        </p:nvSpPr>
        <p:spPr>
          <a:xfrm>
            <a:off x="7726680" y="2688336"/>
            <a:ext cx="914400" cy="274320"/>
          </a:xfrm>
          <a:prstGeom prst="roundRect">
            <a:avLst>
              <a:gd name="adj" fmla="val 50000"/>
            </a:avLst>
          </a:prstGeom>
          <a:solidFill>
            <a:srgbClr val="D7262E"/>
          </a:solidFill>
          <a:ln w="12700">
            <a:solidFill>
              <a:srgbClr val="D7262E"/>
            </a:solidFill>
            <a:prstDash val="solid"/>
          </a:ln>
        </p:spPr>
        <p:txBody>
          <a:bodyPr/>
          <a:lstStyle/>
          <a:p>
            <a:endParaRPr lang="LID4096"/>
          </a:p>
        </p:txBody>
      </p:sp>
      <p:sp>
        <p:nvSpPr>
          <p:cNvPr id="17" name="Text 15"/>
          <p:cNvSpPr txBox="1"/>
          <p:nvPr/>
        </p:nvSpPr>
        <p:spPr>
          <a:xfrm>
            <a:off x="7726680" y="2688336"/>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Kept</a:t>
            </a:r>
            <a:endParaRPr lang="en-US" sz="1000" dirty="0"/>
          </a:p>
        </p:txBody>
      </p:sp>
      <p:sp>
        <p:nvSpPr>
          <p:cNvPr id="18" name="Text 16"/>
          <p:cNvSpPr txBox="1"/>
          <p:nvPr/>
        </p:nvSpPr>
        <p:spPr>
          <a:xfrm>
            <a:off x="640080" y="3255264"/>
            <a:ext cx="2743200" cy="384048"/>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Show the hidden deals*</a:t>
            </a:r>
            <a:endParaRPr lang="en-US" sz="1400" dirty="0"/>
          </a:p>
        </p:txBody>
      </p:sp>
      <p:sp>
        <p:nvSpPr>
          <p:cNvPr id="19" name="Shape 17"/>
          <p:cNvSpPr/>
          <p:nvPr/>
        </p:nvSpPr>
        <p:spPr>
          <a:xfrm>
            <a:off x="4983480" y="3319272"/>
            <a:ext cx="1810512" cy="256032"/>
          </a:xfrm>
          <a:prstGeom prst="rect">
            <a:avLst/>
          </a:prstGeom>
          <a:solidFill>
            <a:srgbClr val="D7262E"/>
          </a:solidFill>
          <a:ln w="12700">
            <a:solidFill>
              <a:srgbClr val="D7262E"/>
            </a:solidFill>
            <a:prstDash val="solid"/>
          </a:ln>
        </p:spPr>
        <p:txBody>
          <a:bodyPr/>
          <a:lstStyle/>
          <a:p>
            <a:endParaRPr lang="LID4096"/>
          </a:p>
        </p:txBody>
      </p:sp>
      <p:sp>
        <p:nvSpPr>
          <p:cNvPr id="20" name="Text 18"/>
          <p:cNvSpPr txBox="1"/>
          <p:nvPr/>
        </p:nvSpPr>
        <p:spPr>
          <a:xfrm>
            <a:off x="6885432" y="3255264"/>
            <a:ext cx="685800" cy="384048"/>
          </a:xfrm>
          <a:prstGeom prst="rect">
            <a:avLst/>
          </a:prstGeom>
          <a:noFill/>
          <a:ln/>
        </p:spPr>
        <p:txBody>
          <a:bodyPr wrap="square" lIns="0" tIns="0" rIns="0" bIns="0" rtlCol="0" anchor="ctr"/>
          <a:lstStyle/>
          <a:p>
            <a:pPr marL="0" indent="0">
              <a:buNone/>
            </a:pPr>
            <a:r>
              <a:rPr lang="en-US" sz="1400" b="1" dirty="0">
                <a:solidFill>
                  <a:srgbClr val="D7262E"/>
                </a:solidFill>
                <a:latin typeface="Arial" pitchFamily="34" charset="0"/>
                <a:ea typeface="Arial" pitchFamily="34" charset="-122"/>
                <a:cs typeface="Arial" pitchFamily="34" charset="-120"/>
              </a:rPr>
              <a:t>+6.6</a:t>
            </a:r>
            <a:endParaRPr lang="en-US" sz="1400" dirty="0"/>
          </a:p>
        </p:txBody>
      </p:sp>
      <p:sp>
        <p:nvSpPr>
          <p:cNvPr id="21" name="Shape 19"/>
          <p:cNvSpPr/>
          <p:nvPr/>
        </p:nvSpPr>
        <p:spPr>
          <a:xfrm>
            <a:off x="7726680" y="3310128"/>
            <a:ext cx="914400" cy="274320"/>
          </a:xfrm>
          <a:prstGeom prst="roundRect">
            <a:avLst>
              <a:gd name="adj" fmla="val 50000"/>
            </a:avLst>
          </a:prstGeom>
          <a:solidFill>
            <a:srgbClr val="D7262E"/>
          </a:solidFill>
          <a:ln w="12700">
            <a:solidFill>
              <a:srgbClr val="D7262E"/>
            </a:solidFill>
            <a:prstDash val="solid"/>
          </a:ln>
        </p:spPr>
        <p:txBody>
          <a:bodyPr/>
          <a:lstStyle/>
          <a:p>
            <a:endParaRPr lang="LID4096"/>
          </a:p>
        </p:txBody>
      </p:sp>
      <p:sp>
        <p:nvSpPr>
          <p:cNvPr id="22" name="Text 20"/>
          <p:cNvSpPr txBox="1"/>
          <p:nvPr/>
        </p:nvSpPr>
        <p:spPr>
          <a:xfrm>
            <a:off x="7726680" y="3310128"/>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Kept</a:t>
            </a:r>
            <a:endParaRPr lang="en-US" sz="1000" dirty="0"/>
          </a:p>
        </p:txBody>
      </p:sp>
      <p:sp>
        <p:nvSpPr>
          <p:cNvPr id="23" name="Text 21"/>
          <p:cNvSpPr txBox="1"/>
          <p:nvPr/>
        </p:nvSpPr>
        <p:spPr>
          <a:xfrm>
            <a:off x="640080" y="3877056"/>
            <a:ext cx="2743200" cy="384048"/>
          </a:xfrm>
          <a:prstGeom prst="rect">
            <a:avLst/>
          </a:prstGeom>
          <a:noFill/>
          <a:ln/>
        </p:spPr>
        <p:txBody>
          <a:bodyPr wrap="square" lIns="0" tIns="0" rIns="0" bIns="0" rtlCol="0" anchor="ctr"/>
          <a:lstStyle/>
          <a:p>
            <a:pPr marL="0" indent="0">
              <a:buNone/>
            </a:pPr>
            <a:r>
              <a:rPr lang="en-US" sz="1400" dirty="0">
                <a:solidFill>
                  <a:srgbClr val="1F2A44"/>
                </a:solidFill>
                <a:latin typeface="Arial" pitchFamily="34" charset="0"/>
                <a:ea typeface="Arial" pitchFamily="34" charset="-122"/>
                <a:cs typeface="Arial" pitchFamily="34" charset="-120"/>
              </a:rPr>
              <a:t>Schema + visible text</a:t>
            </a:r>
            <a:endParaRPr lang="en-US" sz="1400" dirty="0"/>
          </a:p>
        </p:txBody>
      </p:sp>
      <p:sp>
        <p:nvSpPr>
          <p:cNvPr id="24" name="Shape 22"/>
          <p:cNvSpPr/>
          <p:nvPr/>
        </p:nvSpPr>
        <p:spPr>
          <a:xfrm>
            <a:off x="4983480" y="3941064"/>
            <a:ext cx="1700784" cy="256032"/>
          </a:xfrm>
          <a:prstGeom prst="rect">
            <a:avLst/>
          </a:prstGeom>
          <a:solidFill>
            <a:srgbClr val="AEB6C2"/>
          </a:solidFill>
          <a:ln w="12700">
            <a:solidFill>
              <a:srgbClr val="AEB6C2"/>
            </a:solidFill>
            <a:prstDash val="solid"/>
          </a:ln>
        </p:spPr>
        <p:txBody>
          <a:bodyPr/>
          <a:lstStyle/>
          <a:p>
            <a:endParaRPr lang="LID4096"/>
          </a:p>
        </p:txBody>
      </p:sp>
      <p:sp>
        <p:nvSpPr>
          <p:cNvPr id="25" name="Text 23"/>
          <p:cNvSpPr txBox="1"/>
          <p:nvPr/>
        </p:nvSpPr>
        <p:spPr>
          <a:xfrm>
            <a:off x="6775704" y="3877056"/>
            <a:ext cx="685800" cy="384048"/>
          </a:xfrm>
          <a:prstGeom prst="rect">
            <a:avLst/>
          </a:prstGeom>
          <a:noFill/>
          <a:ln/>
        </p:spPr>
        <p:txBody>
          <a:bodyPr wrap="square" lIns="0" tIns="0" rIns="0" bIns="0" rtlCol="0" anchor="ctr"/>
          <a:lstStyle/>
          <a:p>
            <a:pPr marL="0" indent="0">
              <a:buNone/>
            </a:pPr>
            <a:r>
              <a:rPr lang="en-US" sz="1400" b="1" dirty="0">
                <a:solidFill>
                  <a:srgbClr val="6B7585"/>
                </a:solidFill>
                <a:latin typeface="Arial" pitchFamily="34" charset="0"/>
                <a:ea typeface="Arial" pitchFamily="34" charset="-122"/>
                <a:cs typeface="Arial" pitchFamily="34" charset="-120"/>
              </a:rPr>
              <a:t>+6.2</a:t>
            </a:r>
            <a:endParaRPr lang="en-US" sz="1400" dirty="0"/>
          </a:p>
        </p:txBody>
      </p:sp>
      <p:sp>
        <p:nvSpPr>
          <p:cNvPr id="26" name="Shape 24"/>
          <p:cNvSpPr/>
          <p:nvPr/>
        </p:nvSpPr>
        <p:spPr>
          <a:xfrm>
            <a:off x="7726680" y="3931920"/>
            <a:ext cx="914400" cy="274320"/>
          </a:xfrm>
          <a:prstGeom prst="roundRect">
            <a:avLst>
              <a:gd name="adj" fmla="val 50000"/>
            </a:avLst>
          </a:prstGeom>
          <a:solidFill>
            <a:srgbClr val="FFFFFF"/>
          </a:solidFill>
          <a:ln w="12700">
            <a:solidFill>
              <a:srgbClr val="AEB6C2"/>
            </a:solidFill>
            <a:prstDash val="solid"/>
          </a:ln>
        </p:spPr>
        <p:txBody>
          <a:bodyPr/>
          <a:lstStyle/>
          <a:p>
            <a:endParaRPr lang="LID4096"/>
          </a:p>
        </p:txBody>
      </p:sp>
      <p:sp>
        <p:nvSpPr>
          <p:cNvPr id="27" name="Text 25"/>
          <p:cNvSpPr txBox="1"/>
          <p:nvPr/>
        </p:nvSpPr>
        <p:spPr>
          <a:xfrm>
            <a:off x="7726680" y="3931920"/>
            <a:ext cx="914400" cy="274320"/>
          </a:xfrm>
          <a:prstGeom prst="rect">
            <a:avLst/>
          </a:prstGeom>
          <a:noFill/>
          <a:ln/>
        </p:spPr>
        <p:txBody>
          <a:bodyPr wrap="square" lIns="0" tIns="0" rIns="0" bIns="0" rtlCol="0" anchor="ctr"/>
          <a:lstStyle/>
          <a:p>
            <a:pPr marL="0" indent="0" algn="ctr">
              <a:buNone/>
            </a:pPr>
            <a:r>
              <a:rPr lang="en-US" sz="1000" b="1" dirty="0">
                <a:solidFill>
                  <a:srgbClr val="6B7585"/>
                </a:solidFill>
                <a:latin typeface="Arial" pitchFamily="34" charset="0"/>
                <a:ea typeface="Arial" pitchFamily="34" charset="-122"/>
                <a:cs typeface="Arial" pitchFamily="34" charset="-120"/>
              </a:rPr>
              <a:t>Not used</a:t>
            </a:r>
            <a:endParaRPr lang="en-US" sz="1000" dirty="0"/>
          </a:p>
        </p:txBody>
      </p:sp>
      <p:sp>
        <p:nvSpPr>
          <p:cNvPr id="28" name="Text 26"/>
          <p:cNvSpPr txBox="1"/>
          <p:nvPr/>
        </p:nvSpPr>
        <p:spPr>
          <a:xfrm>
            <a:off x="640080" y="4498848"/>
            <a:ext cx="2743200" cy="384048"/>
          </a:xfrm>
          <a:prstGeom prst="rect">
            <a:avLst/>
          </a:prstGeom>
          <a:noFill/>
          <a:ln/>
        </p:spPr>
        <p:txBody>
          <a:bodyPr wrap="square" lIns="0" tIns="0" rIns="0" bIns="0" rtlCol="0" anchor="ctr"/>
          <a:lstStyle/>
          <a:p>
            <a:pPr marL="0" indent="0">
              <a:buNone/>
            </a:pPr>
            <a:r>
              <a:rPr lang="en-US" sz="1400" dirty="0">
                <a:solidFill>
                  <a:srgbClr val="1F2A44"/>
                </a:solidFill>
                <a:latin typeface="Arial" pitchFamily="34" charset="0"/>
                <a:ea typeface="Arial" pitchFamily="34" charset="-122"/>
                <a:cs typeface="Arial" pitchFamily="34" charset="-120"/>
              </a:rPr>
              <a:t>Outside facts + source*</a:t>
            </a:r>
            <a:endParaRPr lang="en-US" sz="1400" dirty="0"/>
          </a:p>
        </p:txBody>
      </p:sp>
      <p:sp>
        <p:nvSpPr>
          <p:cNvPr id="29" name="Shape 27"/>
          <p:cNvSpPr/>
          <p:nvPr/>
        </p:nvSpPr>
        <p:spPr>
          <a:xfrm>
            <a:off x="4983480" y="4562856"/>
            <a:ext cx="932688" cy="256032"/>
          </a:xfrm>
          <a:prstGeom prst="rect">
            <a:avLst/>
          </a:prstGeom>
          <a:solidFill>
            <a:srgbClr val="AEB6C2"/>
          </a:solidFill>
          <a:ln w="12700">
            <a:solidFill>
              <a:srgbClr val="AEB6C2"/>
            </a:solidFill>
            <a:prstDash val="solid"/>
          </a:ln>
        </p:spPr>
        <p:txBody>
          <a:bodyPr/>
          <a:lstStyle/>
          <a:p>
            <a:endParaRPr lang="LID4096"/>
          </a:p>
        </p:txBody>
      </p:sp>
      <p:sp>
        <p:nvSpPr>
          <p:cNvPr id="30" name="Text 28"/>
          <p:cNvSpPr txBox="1"/>
          <p:nvPr/>
        </p:nvSpPr>
        <p:spPr>
          <a:xfrm>
            <a:off x="6007608" y="4498848"/>
            <a:ext cx="685800" cy="384048"/>
          </a:xfrm>
          <a:prstGeom prst="rect">
            <a:avLst/>
          </a:prstGeom>
          <a:noFill/>
          <a:ln/>
        </p:spPr>
        <p:txBody>
          <a:bodyPr wrap="square" lIns="0" tIns="0" rIns="0" bIns="0" rtlCol="0" anchor="ctr"/>
          <a:lstStyle/>
          <a:p>
            <a:pPr marL="0" indent="0">
              <a:buNone/>
            </a:pPr>
            <a:r>
              <a:rPr lang="en-US" sz="1400" b="1" dirty="0">
                <a:solidFill>
                  <a:srgbClr val="6B7585"/>
                </a:solidFill>
                <a:latin typeface="Arial" pitchFamily="34" charset="0"/>
                <a:ea typeface="Arial" pitchFamily="34" charset="-122"/>
                <a:cs typeface="Arial" pitchFamily="34" charset="-120"/>
              </a:rPr>
              <a:t>+3.4</a:t>
            </a:r>
            <a:endParaRPr lang="en-US" sz="1400" dirty="0"/>
          </a:p>
        </p:txBody>
      </p:sp>
      <p:sp>
        <p:nvSpPr>
          <p:cNvPr id="31" name="Shape 29"/>
          <p:cNvSpPr/>
          <p:nvPr/>
        </p:nvSpPr>
        <p:spPr>
          <a:xfrm>
            <a:off x="7726680" y="4553712"/>
            <a:ext cx="914400" cy="274320"/>
          </a:xfrm>
          <a:prstGeom prst="roundRect">
            <a:avLst>
              <a:gd name="adj" fmla="val 50000"/>
            </a:avLst>
          </a:prstGeom>
          <a:solidFill>
            <a:srgbClr val="FFFFFF"/>
          </a:solidFill>
          <a:ln w="12700">
            <a:solidFill>
              <a:srgbClr val="AEB6C2"/>
            </a:solidFill>
            <a:prstDash val="solid"/>
          </a:ln>
        </p:spPr>
        <p:txBody>
          <a:bodyPr/>
          <a:lstStyle/>
          <a:p>
            <a:endParaRPr lang="LID4096"/>
          </a:p>
        </p:txBody>
      </p:sp>
      <p:sp>
        <p:nvSpPr>
          <p:cNvPr id="32" name="Text 30"/>
          <p:cNvSpPr txBox="1"/>
          <p:nvPr/>
        </p:nvSpPr>
        <p:spPr>
          <a:xfrm>
            <a:off x="7726680" y="4553712"/>
            <a:ext cx="914400" cy="274320"/>
          </a:xfrm>
          <a:prstGeom prst="rect">
            <a:avLst/>
          </a:prstGeom>
          <a:noFill/>
          <a:ln/>
        </p:spPr>
        <p:txBody>
          <a:bodyPr wrap="square" lIns="0" tIns="0" rIns="0" bIns="0" rtlCol="0" anchor="ctr"/>
          <a:lstStyle/>
          <a:p>
            <a:pPr marL="0" indent="0" algn="ctr">
              <a:buNone/>
            </a:pPr>
            <a:r>
              <a:rPr lang="en-US" sz="1000" b="1" dirty="0">
                <a:solidFill>
                  <a:srgbClr val="6B7585"/>
                </a:solidFill>
                <a:latin typeface="Arial" pitchFamily="34" charset="0"/>
                <a:ea typeface="Arial" pitchFamily="34" charset="-122"/>
                <a:cs typeface="Arial" pitchFamily="34" charset="-120"/>
              </a:rPr>
              <a:t>Not used</a:t>
            </a:r>
            <a:endParaRPr lang="en-US" sz="1000" dirty="0"/>
          </a:p>
        </p:txBody>
      </p:sp>
      <p:sp>
        <p:nvSpPr>
          <p:cNvPr id="33" name="Text 31"/>
          <p:cNvSpPr txBox="1"/>
          <p:nvPr/>
        </p:nvSpPr>
        <p:spPr>
          <a:xfrm>
            <a:off x="640080" y="5120640"/>
            <a:ext cx="2743200" cy="384048"/>
          </a:xfrm>
          <a:prstGeom prst="rect">
            <a:avLst/>
          </a:prstGeom>
          <a:noFill/>
          <a:ln/>
        </p:spPr>
        <p:txBody>
          <a:bodyPr wrap="square" lIns="0" tIns="0" rIns="0" bIns="0" rtlCol="0" anchor="ctr"/>
          <a:lstStyle/>
          <a:p>
            <a:pPr marL="0" indent="0">
              <a:buNone/>
            </a:pPr>
            <a:r>
              <a:rPr lang="en-US" sz="1400" dirty="0">
                <a:solidFill>
                  <a:srgbClr val="1F2A44"/>
                </a:solidFill>
                <a:latin typeface="Arial" pitchFamily="34" charset="0"/>
                <a:ea typeface="Arial" pitchFamily="34" charset="-122"/>
                <a:cs typeface="Arial" pitchFamily="34" charset="-120"/>
              </a:rPr>
              <a:t>AI rewriting</a:t>
            </a:r>
            <a:endParaRPr lang="en-US" sz="1400" dirty="0"/>
          </a:p>
        </p:txBody>
      </p:sp>
      <p:sp>
        <p:nvSpPr>
          <p:cNvPr id="34" name="Shape 32"/>
          <p:cNvSpPr/>
          <p:nvPr/>
        </p:nvSpPr>
        <p:spPr>
          <a:xfrm>
            <a:off x="3474720" y="5184648"/>
            <a:ext cx="1508760" cy="256032"/>
          </a:xfrm>
          <a:prstGeom prst="rect">
            <a:avLst/>
          </a:prstGeom>
          <a:solidFill>
            <a:srgbClr val="1F2A44"/>
          </a:solidFill>
          <a:ln w="12700">
            <a:solidFill>
              <a:srgbClr val="1F2A44"/>
            </a:solidFill>
            <a:prstDash val="solid"/>
          </a:ln>
        </p:spPr>
        <p:txBody>
          <a:bodyPr/>
          <a:lstStyle/>
          <a:p>
            <a:endParaRPr lang="LID4096"/>
          </a:p>
        </p:txBody>
      </p:sp>
      <p:sp>
        <p:nvSpPr>
          <p:cNvPr id="35" name="Text 33"/>
          <p:cNvSpPr txBox="1"/>
          <p:nvPr/>
        </p:nvSpPr>
        <p:spPr>
          <a:xfrm>
            <a:off x="5074920" y="5120640"/>
            <a:ext cx="685800" cy="384048"/>
          </a:xfrm>
          <a:prstGeom prst="rect">
            <a:avLst/>
          </a:prstGeom>
          <a:noFill/>
          <a:ln/>
        </p:spPr>
        <p:txBody>
          <a:bodyPr wrap="square" lIns="0" tIns="0" rIns="0" bIns="0" rtlCol="0" anchor="ctr"/>
          <a:lstStyle/>
          <a:p>
            <a:pPr marL="0" indent="0">
              <a:buNone/>
            </a:pPr>
            <a:r>
              <a:rPr lang="en-US" sz="1400" b="1" dirty="0">
                <a:solidFill>
                  <a:srgbClr val="1F2A44"/>
                </a:solidFill>
                <a:latin typeface="Arial" pitchFamily="34" charset="0"/>
                <a:ea typeface="Arial" pitchFamily="34" charset="-122"/>
                <a:cs typeface="Arial" pitchFamily="34" charset="-120"/>
              </a:rPr>
              <a:t>−5.5</a:t>
            </a:r>
            <a:endParaRPr lang="en-US" sz="1400" dirty="0"/>
          </a:p>
        </p:txBody>
      </p:sp>
      <p:sp>
        <p:nvSpPr>
          <p:cNvPr id="36" name="Shape 34"/>
          <p:cNvSpPr/>
          <p:nvPr/>
        </p:nvSpPr>
        <p:spPr>
          <a:xfrm>
            <a:off x="7726680" y="5175504"/>
            <a:ext cx="914400" cy="274320"/>
          </a:xfrm>
          <a:prstGeom prst="roundRect">
            <a:avLst>
              <a:gd name="adj" fmla="val 50000"/>
            </a:avLst>
          </a:prstGeom>
          <a:solidFill>
            <a:srgbClr val="FFFFFF"/>
          </a:solidFill>
          <a:ln w="12700">
            <a:solidFill>
              <a:srgbClr val="AEB6C2"/>
            </a:solidFill>
            <a:prstDash val="solid"/>
          </a:ln>
        </p:spPr>
        <p:txBody>
          <a:bodyPr/>
          <a:lstStyle/>
          <a:p>
            <a:endParaRPr lang="LID4096"/>
          </a:p>
        </p:txBody>
      </p:sp>
      <p:sp>
        <p:nvSpPr>
          <p:cNvPr id="37" name="Text 35"/>
          <p:cNvSpPr txBox="1"/>
          <p:nvPr/>
        </p:nvSpPr>
        <p:spPr>
          <a:xfrm>
            <a:off x="7726680" y="5175504"/>
            <a:ext cx="914400" cy="274320"/>
          </a:xfrm>
          <a:prstGeom prst="rect">
            <a:avLst/>
          </a:prstGeom>
          <a:noFill/>
          <a:ln/>
        </p:spPr>
        <p:txBody>
          <a:bodyPr wrap="square" lIns="0" tIns="0" rIns="0" bIns="0" rtlCol="0" anchor="ctr"/>
          <a:lstStyle/>
          <a:p>
            <a:pPr marL="0" indent="0" algn="ctr">
              <a:buNone/>
            </a:pPr>
            <a:r>
              <a:rPr lang="en-US" sz="1000" b="1" dirty="0">
                <a:solidFill>
                  <a:srgbClr val="6B7585"/>
                </a:solidFill>
                <a:latin typeface="Arial" pitchFamily="34" charset="0"/>
                <a:ea typeface="Arial" pitchFamily="34" charset="-122"/>
                <a:cs typeface="Arial" pitchFamily="34" charset="-120"/>
              </a:rPr>
              <a:t>Not used</a:t>
            </a:r>
            <a:endParaRPr lang="en-US" sz="1000" dirty="0"/>
          </a:p>
        </p:txBody>
      </p:sp>
      <p:sp>
        <p:nvSpPr>
          <p:cNvPr id="38" name="Text 36"/>
          <p:cNvSpPr txBox="1"/>
          <p:nvPr/>
        </p:nvSpPr>
        <p:spPr>
          <a:xfrm>
            <a:off x="640080" y="5879592"/>
            <a:ext cx="8046720" cy="274320"/>
          </a:xfrm>
          <a:prstGeom prst="rect">
            <a:avLst/>
          </a:prstGeom>
          <a:noFill/>
          <a:ln/>
        </p:spPr>
        <p:txBody>
          <a:bodyPr wrap="square" lIns="0" tIns="0" rIns="0" bIns="0" rtlCol="0" anchor="ctr"/>
          <a:lstStyle/>
          <a:p>
            <a:pPr marL="0" indent="0">
              <a:buNone/>
            </a:pPr>
            <a:r>
              <a:rPr lang="en-US" sz="1100" i="1" dirty="0">
                <a:solidFill>
                  <a:srgbClr val="5F6B7A"/>
                </a:solidFill>
                <a:latin typeface="Arial" pitchFamily="34" charset="0"/>
                <a:ea typeface="Arial" pitchFamily="34" charset="-122"/>
                <a:cs typeface="Arial" pitchFamily="34" charset="-120"/>
              </a:rPr>
              <a:t>* gain not certain (95% range includes zero)   ·   points can’t be added together</a:t>
            </a:r>
            <a:endParaRPr lang="en-US" sz="1100" dirty="0"/>
          </a:p>
        </p:txBody>
      </p:sp>
      <p:sp>
        <p:nvSpPr>
          <p:cNvPr id="39" name="Shape 37"/>
          <p:cNvSpPr/>
          <p:nvPr/>
        </p:nvSpPr>
        <p:spPr>
          <a:xfrm>
            <a:off x="8915400" y="1828800"/>
            <a:ext cx="2633472" cy="3931920"/>
          </a:xfrm>
          <a:prstGeom prst="roundRect">
            <a:avLst>
              <a:gd name="adj" fmla="val 3472"/>
            </a:avLst>
          </a:prstGeom>
          <a:solidFill>
            <a:srgbClr val="FFFFFF"/>
          </a:solidFill>
          <a:ln w="19050">
            <a:solidFill>
              <a:srgbClr val="D7262E"/>
            </a:solidFill>
            <a:prstDash val="solid"/>
          </a:ln>
          <a:effectLst>
            <a:outerShdw blurRad="127000" dist="38100" dir="5400000" algn="bl" rotWithShape="0">
              <a:srgbClr val="8E98A6">
                <a:alpha val="16000"/>
              </a:srgbClr>
            </a:outerShdw>
          </a:effectLst>
        </p:spPr>
        <p:txBody>
          <a:bodyPr/>
          <a:lstStyle/>
          <a:p>
            <a:endParaRPr lang="LID4096"/>
          </a:p>
        </p:txBody>
      </p:sp>
      <p:sp>
        <p:nvSpPr>
          <p:cNvPr id="40" name="Text 38"/>
          <p:cNvSpPr txBox="1"/>
          <p:nvPr/>
        </p:nvSpPr>
        <p:spPr>
          <a:xfrm>
            <a:off x="9125712" y="2029968"/>
            <a:ext cx="2286000" cy="237744"/>
          </a:xfrm>
          <a:prstGeom prst="rect">
            <a:avLst/>
          </a:prstGeom>
          <a:noFill/>
          <a:ln/>
        </p:spPr>
        <p:txBody>
          <a:bodyPr wrap="square" lIns="0" tIns="0" rIns="0" bIns="0" rtlCol="0" anchor="ctr"/>
          <a:lstStyle/>
          <a:p>
            <a:pPr marL="0" indent="0">
              <a:buNone/>
            </a:pPr>
            <a:r>
              <a:rPr lang="en-US" sz="1050" b="1" kern="0" spc="200" dirty="0">
                <a:solidFill>
                  <a:srgbClr val="9AA3AE"/>
                </a:solidFill>
                <a:latin typeface="Arial" pitchFamily="34" charset="0"/>
                <a:ea typeface="Arial" pitchFamily="34" charset="-122"/>
                <a:cs typeface="Arial" pitchFamily="34" charset="-120"/>
              </a:rPr>
              <a:t>FINAL PAGE</a:t>
            </a:r>
            <a:endParaRPr lang="en-US" sz="1050" dirty="0"/>
          </a:p>
        </p:txBody>
      </p:sp>
      <p:sp>
        <p:nvSpPr>
          <p:cNvPr id="41" name="Text 39"/>
          <p:cNvSpPr txBox="1"/>
          <p:nvPr/>
        </p:nvSpPr>
        <p:spPr>
          <a:xfrm>
            <a:off x="9125712" y="2304288"/>
            <a:ext cx="2286000" cy="45720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Kept changes + 2 FAQ fixes</a:t>
            </a:r>
            <a:endParaRPr lang="en-US" sz="1250" dirty="0"/>
          </a:p>
        </p:txBody>
      </p:sp>
      <p:sp>
        <p:nvSpPr>
          <p:cNvPr id="42" name="Text 40"/>
          <p:cNvSpPr txBox="1"/>
          <p:nvPr/>
        </p:nvSpPr>
        <p:spPr>
          <a:xfrm>
            <a:off x="9125712" y="2788920"/>
            <a:ext cx="2286000" cy="502920"/>
          </a:xfrm>
          <a:prstGeom prst="rect">
            <a:avLst/>
          </a:prstGeom>
          <a:noFill/>
          <a:ln/>
        </p:spPr>
        <p:txBody>
          <a:bodyPr wrap="square" lIns="0" tIns="0" rIns="0" bIns="0" rtlCol="0" anchor="ctr"/>
          <a:lstStyle/>
          <a:p>
            <a:pPr marL="0" indent="0">
              <a:buNone/>
            </a:pPr>
            <a:r>
              <a:rPr lang="en-US" sz="2800" b="1" dirty="0">
                <a:solidFill>
                  <a:srgbClr val="1F2A44"/>
                </a:solidFill>
                <a:latin typeface="Arial" pitchFamily="34" charset="0"/>
                <a:ea typeface="Arial" pitchFamily="34" charset="-122"/>
                <a:cs typeface="Arial" pitchFamily="34" charset="-120"/>
              </a:rPr>
              <a:t>40.0%</a:t>
            </a:r>
            <a:endParaRPr lang="en-US" sz="2800" dirty="0"/>
          </a:p>
        </p:txBody>
      </p:sp>
      <p:sp>
        <p:nvSpPr>
          <p:cNvPr id="43" name="Shape 41"/>
          <p:cNvSpPr/>
          <p:nvPr/>
        </p:nvSpPr>
        <p:spPr>
          <a:xfrm rot="10800000">
            <a:off x="9189720" y="3383280"/>
            <a:ext cx="219456" cy="146304"/>
          </a:xfrm>
          <a:prstGeom prst="triangle">
            <a:avLst/>
          </a:prstGeom>
          <a:solidFill>
            <a:srgbClr val="AEB6C2"/>
          </a:solidFill>
          <a:ln w="12700">
            <a:solidFill>
              <a:srgbClr val="AEB6C2"/>
            </a:solidFill>
            <a:prstDash val="solid"/>
          </a:ln>
        </p:spPr>
        <p:txBody>
          <a:bodyPr/>
          <a:lstStyle/>
          <a:p>
            <a:endParaRPr lang="LID4096"/>
          </a:p>
        </p:txBody>
      </p:sp>
      <p:sp>
        <p:nvSpPr>
          <p:cNvPr id="44" name="Text 42"/>
          <p:cNvSpPr txBox="1"/>
          <p:nvPr/>
        </p:nvSpPr>
        <p:spPr>
          <a:xfrm>
            <a:off x="9125712" y="3611880"/>
            <a:ext cx="2377440" cy="502920"/>
          </a:xfrm>
          <a:prstGeom prst="rect">
            <a:avLst/>
          </a:prstGeom>
          <a:noFill/>
          <a:ln/>
        </p:spPr>
        <p:txBody>
          <a:bodyPr wrap="square" lIns="0" tIns="0" rIns="0" bIns="0" rtlCol="0" anchor="ctr"/>
          <a:lstStyle/>
          <a:p>
            <a:pPr marL="0" indent="0">
              <a:buNone/>
            </a:pPr>
            <a:r>
              <a:rPr lang="en-US" sz="2400" b="1" dirty="0">
                <a:solidFill>
                  <a:srgbClr val="D7262E"/>
                </a:solidFill>
                <a:latin typeface="Arial" pitchFamily="34" charset="0"/>
                <a:ea typeface="Arial" pitchFamily="34" charset="-122"/>
                <a:cs typeface="Arial" pitchFamily="34" charset="-120"/>
              </a:rPr>
              <a:t>49.3% / 52.4%</a:t>
            </a:r>
            <a:endParaRPr lang="en-US" sz="2400" dirty="0"/>
          </a:p>
        </p:txBody>
      </p:sp>
      <p:sp>
        <p:nvSpPr>
          <p:cNvPr id="45" name="Text 43"/>
          <p:cNvSpPr txBox="1"/>
          <p:nvPr/>
        </p:nvSpPr>
        <p:spPr>
          <a:xfrm>
            <a:off x="9125712" y="4096512"/>
            <a:ext cx="2286000" cy="237744"/>
          </a:xfrm>
          <a:prstGeom prst="rect">
            <a:avLst/>
          </a:prstGeom>
          <a:noFill/>
          <a:ln/>
        </p:spPr>
        <p:txBody>
          <a:bodyPr wrap="square" lIns="0" tIns="0" rIns="0" bIns="0" rtlCol="0" anchor="ctr"/>
          <a:lstStyle/>
          <a:p>
            <a:pPr marL="0" indent="0">
              <a:buNone/>
            </a:pPr>
            <a:r>
              <a:rPr lang="en-US" sz="1100" dirty="0">
                <a:solidFill>
                  <a:srgbClr val="5F6B7A"/>
                </a:solidFill>
                <a:latin typeface="Arial" pitchFamily="34" charset="0"/>
                <a:ea typeface="Arial" pitchFamily="34" charset="-122"/>
                <a:cs typeface="Arial" pitchFamily="34" charset="-120"/>
              </a:rPr>
              <a:t>two runs of the same pages</a:t>
            </a:r>
            <a:endParaRPr lang="en-US" sz="1100" dirty="0"/>
          </a:p>
        </p:txBody>
      </p:sp>
      <p:sp>
        <p:nvSpPr>
          <p:cNvPr id="46" name="Text 44"/>
          <p:cNvSpPr txBox="1"/>
          <p:nvPr/>
        </p:nvSpPr>
        <p:spPr>
          <a:xfrm>
            <a:off x="9125712" y="4846320"/>
            <a:ext cx="2286000" cy="365760"/>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+9 to +12 points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RESULTS</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Is +9 to +12 points enough?</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It depends on the question we ask of it.</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640080" y="1828800"/>
            <a:ext cx="5349240" cy="3154680"/>
          </a:xfrm>
          <a:prstGeom prst="roundRect">
            <a:avLst>
              <a:gd name="adj" fmla="val 2899"/>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8" name="Text 6"/>
          <p:cNvSpPr txBox="1"/>
          <p:nvPr/>
        </p:nvSpPr>
        <p:spPr>
          <a:xfrm>
            <a:off x="960120" y="2029968"/>
            <a:ext cx="4709160" cy="256032"/>
          </a:xfrm>
          <a:prstGeom prst="rect">
            <a:avLst/>
          </a:prstGeom>
          <a:noFill/>
          <a:ln/>
        </p:spPr>
        <p:txBody>
          <a:bodyPr wrap="square" lIns="0" tIns="0" rIns="0" bIns="0" rtlCol="0" anchor="ctr"/>
          <a:lstStyle/>
          <a:p>
            <a:pPr marL="0" indent="0">
              <a:buNone/>
            </a:pPr>
            <a:r>
              <a:rPr lang="en-US" sz="1100" b="1" kern="0" spc="150" dirty="0">
                <a:solidFill>
                  <a:srgbClr val="1F2A44"/>
                </a:solidFill>
                <a:latin typeface="Arial" pitchFamily="34" charset="0"/>
                <a:ea typeface="Arial" pitchFamily="34" charset="-122"/>
                <a:cs typeface="Arial" pitchFamily="34" charset="-120"/>
              </a:rPr>
              <a:t>WHAT WE OBSERVED</a:t>
            </a:r>
            <a:endParaRPr lang="en-US" sz="1100" dirty="0"/>
          </a:p>
        </p:txBody>
      </p:sp>
      <p:pic>
        <p:nvPicPr>
          <p:cNvPr id="9" name="Image 0" descr="preencoded.png"/>
          <p:cNvPicPr>
            <a:picLocks noChangeAspect="1"/>
          </p:cNvPicPr>
          <p:nvPr/>
        </p:nvPicPr>
        <p:blipFill>
          <a:blip r:embed="rId3"/>
          <a:stretch>
            <a:fillRect/>
          </a:stretch>
        </p:blipFill>
        <p:spPr>
          <a:xfrm>
            <a:off x="960120" y="2505456"/>
            <a:ext cx="384048" cy="384048"/>
          </a:xfrm>
          <a:prstGeom prst="rect">
            <a:avLst/>
          </a:prstGeom>
        </p:spPr>
      </p:pic>
      <p:sp>
        <p:nvSpPr>
          <p:cNvPr id="10" name="Text 7"/>
          <p:cNvSpPr txBox="1"/>
          <p:nvPr/>
        </p:nvSpPr>
        <p:spPr>
          <a:xfrm>
            <a:off x="1508760" y="2468880"/>
            <a:ext cx="4206240" cy="310896"/>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Positive estimates</a:t>
            </a:r>
            <a:endParaRPr lang="en-US" sz="1600" dirty="0"/>
          </a:p>
        </p:txBody>
      </p:sp>
      <p:sp>
        <p:nvSpPr>
          <p:cNvPr id="11" name="Text 8"/>
          <p:cNvSpPr txBox="1"/>
          <p:nvPr/>
        </p:nvSpPr>
        <p:spPr>
          <a:xfrm>
            <a:off x="1508760" y="2779776"/>
            <a:ext cx="4206240" cy="45720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Both exploratory 95% ranges exceed zero</a:t>
            </a:r>
            <a:endParaRPr lang="en-US" sz="1250" dirty="0"/>
          </a:p>
        </p:txBody>
      </p:sp>
      <p:pic>
        <p:nvPicPr>
          <p:cNvPr id="12" name="Image 1" descr="preencoded.png"/>
          <p:cNvPicPr>
            <a:picLocks noChangeAspect="1"/>
          </p:cNvPicPr>
          <p:nvPr/>
        </p:nvPicPr>
        <p:blipFill>
          <a:blip r:embed="rId3"/>
          <a:stretch>
            <a:fillRect/>
          </a:stretch>
        </p:blipFill>
        <p:spPr>
          <a:xfrm>
            <a:off x="960120" y="3328416"/>
            <a:ext cx="384048" cy="384048"/>
          </a:xfrm>
          <a:prstGeom prst="rect">
            <a:avLst/>
          </a:prstGeom>
        </p:spPr>
      </p:pic>
      <p:sp>
        <p:nvSpPr>
          <p:cNvPr id="13" name="Text 9"/>
          <p:cNvSpPr txBox="1"/>
          <p:nvPr/>
        </p:nvSpPr>
        <p:spPr>
          <a:xfrm>
            <a:off x="1508760" y="3291840"/>
            <a:ext cx="4206240" cy="310896"/>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Mixed across questions</a:t>
            </a:r>
            <a:endParaRPr lang="en-US" sz="1600" dirty="0"/>
          </a:p>
        </p:txBody>
      </p:sp>
      <p:sp>
        <p:nvSpPr>
          <p:cNvPr id="14" name="Text 10"/>
          <p:cNvSpPr txBox="1"/>
          <p:nvPr/>
        </p:nvSpPr>
        <p:spPr>
          <a:xfrm>
            <a:off x="1508760" y="3602736"/>
            <a:ext cx="4206240" cy="45720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21 of 29 questions improved</a:t>
            </a:r>
            <a:endParaRPr lang="en-US" sz="1250" dirty="0"/>
          </a:p>
        </p:txBody>
      </p:sp>
      <p:pic>
        <p:nvPicPr>
          <p:cNvPr id="15" name="Image 2" descr="preencoded.png"/>
          <p:cNvPicPr>
            <a:picLocks noChangeAspect="1"/>
          </p:cNvPicPr>
          <p:nvPr/>
        </p:nvPicPr>
        <p:blipFill>
          <a:blip r:embed="rId3"/>
          <a:stretch>
            <a:fillRect/>
          </a:stretch>
        </p:blipFill>
        <p:spPr>
          <a:xfrm>
            <a:off x="960120" y="4151376"/>
            <a:ext cx="384048" cy="384048"/>
          </a:xfrm>
          <a:prstGeom prst="rect">
            <a:avLst/>
          </a:prstGeom>
        </p:spPr>
      </p:pic>
      <p:sp>
        <p:nvSpPr>
          <p:cNvPr id="16" name="Text 11"/>
          <p:cNvSpPr txBox="1"/>
          <p:nvPr/>
        </p:nvSpPr>
        <p:spPr>
          <a:xfrm>
            <a:off x="1508760" y="4114800"/>
            <a:ext cx="4206240" cy="310896"/>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Behaves like the research</a:t>
            </a:r>
            <a:endParaRPr lang="en-US" sz="1600" dirty="0"/>
          </a:p>
        </p:txBody>
      </p:sp>
      <p:sp>
        <p:nvSpPr>
          <p:cNvPr id="17" name="Text 12"/>
          <p:cNvSpPr txBox="1"/>
          <p:nvPr/>
        </p:nvSpPr>
        <p:spPr>
          <a:xfrm>
            <a:off x="1508760" y="4425696"/>
            <a:ext cx="4206240" cy="45720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Position (+18) and AI rewriting (−5.5) match published studies</a:t>
            </a:r>
            <a:endParaRPr lang="en-US" sz="1250" dirty="0"/>
          </a:p>
        </p:txBody>
      </p:sp>
      <p:sp>
        <p:nvSpPr>
          <p:cNvPr id="18" name="Shape 13"/>
          <p:cNvSpPr/>
          <p:nvPr/>
        </p:nvSpPr>
        <p:spPr>
          <a:xfrm>
            <a:off x="6199632" y="1828800"/>
            <a:ext cx="5349240" cy="3154680"/>
          </a:xfrm>
          <a:prstGeom prst="roundRect">
            <a:avLst>
              <a:gd name="adj" fmla="val 2899"/>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19" name="Text 14"/>
          <p:cNvSpPr txBox="1"/>
          <p:nvPr/>
        </p:nvSpPr>
        <p:spPr>
          <a:xfrm>
            <a:off x="6519672" y="2029968"/>
            <a:ext cx="4709160" cy="256032"/>
          </a:xfrm>
          <a:prstGeom prst="rect">
            <a:avLst/>
          </a:prstGeom>
          <a:noFill/>
          <a:ln/>
        </p:spPr>
        <p:txBody>
          <a:bodyPr wrap="square" lIns="0" tIns="0" rIns="0" bIns="0" rtlCol="0" anchor="ctr"/>
          <a:lstStyle/>
          <a:p>
            <a:pPr marL="0" indent="0">
              <a:buNone/>
            </a:pPr>
            <a:r>
              <a:rPr lang="en-US" sz="1100" b="1" kern="0" spc="150" dirty="0">
                <a:solidFill>
                  <a:srgbClr val="6B7585"/>
                </a:solidFill>
                <a:latin typeface="Arial" pitchFamily="34" charset="0"/>
                <a:ea typeface="Arial" pitchFamily="34" charset="-122"/>
                <a:cs typeface="Arial" pitchFamily="34" charset="-120"/>
              </a:rPr>
              <a:t>WHAT IT DOESN’T PROVE YET</a:t>
            </a:r>
            <a:endParaRPr lang="en-US" sz="1100" dirty="0"/>
          </a:p>
        </p:txBody>
      </p:sp>
      <p:pic>
        <p:nvPicPr>
          <p:cNvPr id="20" name="Image 3" descr="preencoded.png"/>
          <p:cNvPicPr>
            <a:picLocks noChangeAspect="1"/>
          </p:cNvPicPr>
          <p:nvPr/>
        </p:nvPicPr>
        <p:blipFill>
          <a:blip r:embed="rId4"/>
          <a:stretch>
            <a:fillRect/>
          </a:stretch>
        </p:blipFill>
        <p:spPr>
          <a:xfrm>
            <a:off x="6519672" y="2505456"/>
            <a:ext cx="384048" cy="384048"/>
          </a:xfrm>
          <a:prstGeom prst="rect">
            <a:avLst/>
          </a:prstGeom>
        </p:spPr>
      </p:pic>
      <p:sp>
        <p:nvSpPr>
          <p:cNvPr id="21" name="Text 15"/>
          <p:cNvSpPr txBox="1"/>
          <p:nvPr/>
        </p:nvSpPr>
        <p:spPr>
          <a:xfrm>
            <a:off x="7068312" y="2468880"/>
            <a:ext cx="4206240" cy="310896"/>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Not live</a:t>
            </a:r>
            <a:endParaRPr lang="en-US" sz="1600" dirty="0"/>
          </a:p>
        </p:txBody>
      </p:sp>
      <p:sp>
        <p:nvSpPr>
          <p:cNvPr id="22" name="Text 16"/>
          <p:cNvSpPr txBox="1"/>
          <p:nvPr/>
        </p:nvSpPr>
        <p:spPr>
          <a:xfrm>
            <a:off x="7068312" y="2779776"/>
            <a:ext cx="4206240" cy="45720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No live AI engines, traffic or bookings yet</a:t>
            </a:r>
            <a:endParaRPr lang="en-US" sz="1250" dirty="0"/>
          </a:p>
        </p:txBody>
      </p:sp>
      <p:pic>
        <p:nvPicPr>
          <p:cNvPr id="23" name="Image 4" descr="preencoded.png"/>
          <p:cNvPicPr>
            <a:picLocks noChangeAspect="1"/>
          </p:cNvPicPr>
          <p:nvPr/>
        </p:nvPicPr>
        <p:blipFill>
          <a:blip r:embed="rId4"/>
          <a:stretch>
            <a:fillRect/>
          </a:stretch>
        </p:blipFill>
        <p:spPr>
          <a:xfrm>
            <a:off x="6519672" y="3328416"/>
            <a:ext cx="384048" cy="384048"/>
          </a:xfrm>
          <a:prstGeom prst="rect">
            <a:avLst/>
          </a:prstGeom>
        </p:spPr>
      </p:pic>
      <p:sp>
        <p:nvSpPr>
          <p:cNvPr id="24" name="Text 17"/>
          <p:cNvSpPr txBox="1"/>
          <p:nvPr/>
        </p:nvSpPr>
        <p:spPr>
          <a:xfrm>
            <a:off x="7068312" y="3291840"/>
            <a:ext cx="4206240" cy="310896"/>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Not discovery</a:t>
            </a:r>
            <a:endParaRPr lang="en-US" sz="1600" dirty="0"/>
          </a:p>
        </p:txBody>
      </p:sp>
      <p:sp>
        <p:nvSpPr>
          <p:cNvPr id="25" name="Text 18"/>
          <p:cNvSpPr txBox="1"/>
          <p:nvPr/>
        </p:nvSpPr>
        <p:spPr>
          <a:xfrm>
            <a:off x="7068312" y="3602736"/>
            <a:ext cx="4206240" cy="45720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No clear gain when retrieval selected passages</a:t>
            </a:r>
            <a:endParaRPr lang="en-US" sz="1250" dirty="0"/>
          </a:p>
        </p:txBody>
      </p:sp>
      <p:pic>
        <p:nvPicPr>
          <p:cNvPr id="26" name="Image 5" descr="preencoded.png"/>
          <p:cNvPicPr>
            <a:picLocks noChangeAspect="1"/>
          </p:cNvPicPr>
          <p:nvPr/>
        </p:nvPicPr>
        <p:blipFill>
          <a:blip r:embed="rId4"/>
          <a:stretch>
            <a:fillRect/>
          </a:stretch>
        </p:blipFill>
        <p:spPr>
          <a:xfrm>
            <a:off x="6519672" y="4151376"/>
            <a:ext cx="384048" cy="384048"/>
          </a:xfrm>
          <a:prstGeom prst="rect">
            <a:avLst/>
          </a:prstGeom>
        </p:spPr>
      </p:pic>
      <p:sp>
        <p:nvSpPr>
          <p:cNvPr id="27" name="Text 19"/>
          <p:cNvSpPr txBox="1"/>
          <p:nvPr/>
        </p:nvSpPr>
        <p:spPr>
          <a:xfrm>
            <a:off x="7068312" y="4114800"/>
            <a:ext cx="4206240" cy="310896"/>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Below our target</a:t>
            </a:r>
            <a:endParaRPr lang="en-US" sz="1600" dirty="0"/>
          </a:p>
        </p:txBody>
      </p:sp>
      <p:sp>
        <p:nvSpPr>
          <p:cNvPr id="28" name="Text 20"/>
          <p:cNvSpPr txBox="1"/>
          <p:nvPr/>
        </p:nvSpPr>
        <p:spPr>
          <a:xfrm>
            <a:off x="7068312" y="4425696"/>
            <a:ext cx="4206240" cy="45720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Best run 52.4%, against a 60% goal</a:t>
            </a:r>
            <a:endParaRPr lang="en-US" sz="1250" dirty="0"/>
          </a:p>
        </p:txBody>
      </p:sp>
      <p:sp>
        <p:nvSpPr>
          <p:cNvPr id="29" name="Shape 21"/>
          <p:cNvSpPr/>
          <p:nvPr/>
        </p:nvSpPr>
        <p:spPr>
          <a:xfrm>
            <a:off x="640080" y="5257800"/>
            <a:ext cx="10908792" cy="731520"/>
          </a:xfrm>
          <a:prstGeom prst="roundRect">
            <a:avLst>
              <a:gd name="adj" fmla="val 12500"/>
            </a:avLst>
          </a:prstGeom>
          <a:solidFill>
            <a:srgbClr val="1F2A44"/>
          </a:solidFill>
          <a:ln w="12700">
            <a:solidFill>
              <a:srgbClr val="1F2A44"/>
            </a:solidFill>
            <a:prstDash val="solid"/>
          </a:ln>
        </p:spPr>
        <p:txBody>
          <a:bodyPr/>
          <a:lstStyle/>
          <a:p>
            <a:endParaRPr lang="LID4096"/>
          </a:p>
        </p:txBody>
      </p:sp>
      <p:sp>
        <p:nvSpPr>
          <p:cNvPr id="30" name="Text 22"/>
          <p:cNvSpPr txBox="1"/>
          <p:nvPr/>
        </p:nvSpPr>
        <p:spPr>
          <a:xfrm>
            <a:off x="914400" y="5257800"/>
            <a:ext cx="10424160" cy="731520"/>
          </a:xfrm>
          <a:prstGeom prst="rect">
            <a:avLst/>
          </a:prstGeom>
          <a:noFill/>
          <a:ln/>
        </p:spPr>
        <p:txBody>
          <a:bodyPr wrap="square" lIns="0" tIns="0" rIns="0" bIns="0" rtlCol="0" anchor="ctr"/>
          <a:lstStyle/>
          <a:p>
            <a:pPr marL="0" indent="0">
              <a:buNone/>
            </a:pPr>
            <a:r>
              <a:rPr lang="en-US" sz="1800" b="1" dirty="0">
                <a:solidFill>
                  <a:srgbClr val="F2A6A9"/>
                </a:solidFill>
                <a:latin typeface="Arial" pitchFamily="34" charset="0"/>
                <a:ea typeface="Arial" pitchFamily="34" charset="-122"/>
                <a:cs typeface="Arial" pitchFamily="34" charset="-120"/>
              </a:rPr>
              <a:t>Verdict:  supports content improvement; live business gains remain unproven.</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RESULTS</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What we learned</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These findings apply to the saved model, pages and questions.</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640080" y="1828800"/>
            <a:ext cx="10908792" cy="713232"/>
          </a:xfrm>
          <a:prstGeom prst="roundRect">
            <a:avLst>
              <a:gd name="adj" fmla="val 12821"/>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8" name="Shape 6"/>
          <p:cNvSpPr/>
          <p:nvPr/>
        </p:nvSpPr>
        <p:spPr>
          <a:xfrm>
            <a:off x="868680" y="1947672"/>
            <a:ext cx="475488" cy="475488"/>
          </a:xfrm>
          <a:prstGeom prst="ellipse">
            <a:avLst/>
          </a:prstGeom>
          <a:solidFill>
            <a:srgbClr val="FDEDED"/>
          </a:solidFill>
          <a:ln w="12700">
            <a:solidFill>
              <a:srgbClr val="FDEDED"/>
            </a:solidFill>
            <a:prstDash val="solid"/>
          </a:ln>
        </p:spPr>
        <p:txBody>
          <a:bodyPr/>
          <a:lstStyle/>
          <a:p>
            <a:endParaRPr lang="LID4096"/>
          </a:p>
        </p:txBody>
      </p:sp>
      <p:pic>
        <p:nvPicPr>
          <p:cNvPr id="9" name="Image 0" descr="preencoded.png"/>
          <p:cNvPicPr>
            <a:picLocks noChangeAspect="1"/>
          </p:cNvPicPr>
          <p:nvPr/>
        </p:nvPicPr>
        <p:blipFill>
          <a:blip r:embed="rId3"/>
          <a:stretch>
            <a:fillRect/>
          </a:stretch>
        </p:blipFill>
        <p:spPr>
          <a:xfrm>
            <a:off x="987552" y="2066544"/>
            <a:ext cx="237744" cy="237744"/>
          </a:xfrm>
          <a:prstGeom prst="rect">
            <a:avLst/>
          </a:prstGeom>
        </p:spPr>
      </p:pic>
      <p:sp>
        <p:nvSpPr>
          <p:cNvPr id="10" name="Text 7"/>
          <p:cNvSpPr txBox="1"/>
          <p:nvPr/>
        </p:nvSpPr>
        <p:spPr>
          <a:xfrm>
            <a:off x="1600200" y="1828800"/>
            <a:ext cx="3657600" cy="713232"/>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AI can only cite what it can read</a:t>
            </a:r>
            <a:endParaRPr lang="en-US" sz="1600" dirty="0"/>
          </a:p>
        </p:txBody>
      </p:sp>
      <p:sp>
        <p:nvSpPr>
          <p:cNvPr id="11" name="Text 8"/>
          <p:cNvSpPr txBox="1"/>
          <p:nvPr/>
        </p:nvSpPr>
        <p:spPr>
          <a:xfrm>
            <a:off x="5303520" y="1828800"/>
            <a:ext cx="4572000" cy="713232"/>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The combined representation received more citations.</a:t>
            </a:r>
            <a:endParaRPr lang="en-US" sz="1300" dirty="0"/>
          </a:p>
        </p:txBody>
      </p:sp>
      <p:sp>
        <p:nvSpPr>
          <p:cNvPr id="12" name="Text 9"/>
          <p:cNvSpPr txBox="1"/>
          <p:nvPr/>
        </p:nvSpPr>
        <p:spPr>
          <a:xfrm>
            <a:off x="9921240" y="1828800"/>
            <a:ext cx="1417320" cy="713232"/>
          </a:xfrm>
          <a:prstGeom prst="rect">
            <a:avLst/>
          </a:prstGeom>
          <a:noFill/>
          <a:ln/>
        </p:spPr>
        <p:txBody>
          <a:bodyPr wrap="square" lIns="0" tIns="0" rIns="0" bIns="0" rtlCol="0" anchor="ctr"/>
          <a:lstStyle/>
          <a:p>
            <a:pPr marL="0" indent="0" algn="r">
              <a:buNone/>
            </a:pPr>
            <a:r>
              <a:rPr lang="en-US" sz="1000" i="1" dirty="0">
                <a:solidFill>
                  <a:srgbClr val="9AA3AE"/>
                </a:solidFill>
                <a:latin typeface="Arial" pitchFamily="34" charset="0"/>
                <a:ea typeface="Arial" pitchFamily="34" charset="-122"/>
                <a:cs typeface="Arial" pitchFamily="34" charset="-120"/>
              </a:rPr>
              <a:t>Vercel, 2024</a:t>
            </a:r>
            <a:endParaRPr lang="en-US" sz="1000" dirty="0"/>
          </a:p>
        </p:txBody>
      </p:sp>
      <p:sp>
        <p:nvSpPr>
          <p:cNvPr id="13" name="Shape 10"/>
          <p:cNvSpPr/>
          <p:nvPr/>
        </p:nvSpPr>
        <p:spPr>
          <a:xfrm>
            <a:off x="640080" y="2670048"/>
            <a:ext cx="10908792" cy="713232"/>
          </a:xfrm>
          <a:prstGeom prst="roundRect">
            <a:avLst>
              <a:gd name="adj" fmla="val 12821"/>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14" name="Shape 11"/>
          <p:cNvSpPr/>
          <p:nvPr/>
        </p:nvSpPr>
        <p:spPr>
          <a:xfrm>
            <a:off x="868680" y="2788920"/>
            <a:ext cx="475488" cy="475488"/>
          </a:xfrm>
          <a:prstGeom prst="ellipse">
            <a:avLst/>
          </a:prstGeom>
          <a:solidFill>
            <a:srgbClr val="FDEDED"/>
          </a:solidFill>
          <a:ln w="12700">
            <a:solidFill>
              <a:srgbClr val="FDEDED"/>
            </a:solidFill>
            <a:prstDash val="solid"/>
          </a:ln>
        </p:spPr>
        <p:txBody>
          <a:bodyPr/>
          <a:lstStyle/>
          <a:p>
            <a:endParaRPr lang="LID4096"/>
          </a:p>
        </p:txBody>
      </p:sp>
      <p:pic>
        <p:nvPicPr>
          <p:cNvPr id="15" name="Image 1" descr="preencoded.png"/>
          <p:cNvPicPr>
            <a:picLocks noChangeAspect="1"/>
          </p:cNvPicPr>
          <p:nvPr/>
        </p:nvPicPr>
        <p:blipFill>
          <a:blip r:embed="rId4"/>
          <a:stretch>
            <a:fillRect/>
          </a:stretch>
        </p:blipFill>
        <p:spPr>
          <a:xfrm>
            <a:off x="987552" y="2907792"/>
            <a:ext cx="237744" cy="237744"/>
          </a:xfrm>
          <a:prstGeom prst="rect">
            <a:avLst/>
          </a:prstGeom>
        </p:spPr>
      </p:pic>
      <p:sp>
        <p:nvSpPr>
          <p:cNvPr id="16" name="Text 12"/>
          <p:cNvSpPr txBox="1"/>
          <p:nvPr/>
        </p:nvSpPr>
        <p:spPr>
          <a:xfrm>
            <a:off x="1600200" y="2670048"/>
            <a:ext cx="3657600" cy="713232"/>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Substance beats style</a:t>
            </a:r>
            <a:endParaRPr lang="en-US" sz="1600" dirty="0"/>
          </a:p>
        </p:txBody>
      </p:sp>
      <p:sp>
        <p:nvSpPr>
          <p:cNvPr id="17" name="Text 13"/>
          <p:cNvSpPr txBox="1"/>
          <p:nvPr/>
        </p:nvSpPr>
        <p:spPr>
          <a:xfrm>
            <a:off x="5303520" y="2670048"/>
            <a:ext cx="4572000" cy="713232"/>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Real, labelled facts helped. AI rewriting hurt (−5.5).</a:t>
            </a:r>
            <a:endParaRPr lang="en-US" sz="1300" dirty="0"/>
          </a:p>
        </p:txBody>
      </p:sp>
      <p:sp>
        <p:nvSpPr>
          <p:cNvPr id="18" name="Text 14"/>
          <p:cNvSpPr txBox="1"/>
          <p:nvPr/>
        </p:nvSpPr>
        <p:spPr>
          <a:xfrm>
            <a:off x="9921240" y="2670048"/>
            <a:ext cx="1417320" cy="713232"/>
          </a:xfrm>
          <a:prstGeom prst="rect">
            <a:avLst/>
          </a:prstGeom>
          <a:noFill/>
          <a:ln/>
        </p:spPr>
        <p:txBody>
          <a:bodyPr wrap="square" lIns="0" tIns="0" rIns="0" bIns="0" rtlCol="0" anchor="ctr"/>
          <a:lstStyle/>
          <a:p>
            <a:pPr marL="0" indent="0" algn="r">
              <a:buNone/>
            </a:pPr>
            <a:r>
              <a:rPr lang="en-US" sz="1000" i="1" dirty="0">
                <a:solidFill>
                  <a:srgbClr val="9AA3AE"/>
                </a:solidFill>
                <a:latin typeface="Arial" pitchFamily="34" charset="0"/>
                <a:ea typeface="Arial" pitchFamily="34" charset="-122"/>
                <a:cs typeface="Arial" pitchFamily="34" charset="-120"/>
              </a:rPr>
              <a:t>Google guidance, 2026</a:t>
            </a:r>
            <a:endParaRPr lang="en-US" sz="1000" dirty="0"/>
          </a:p>
        </p:txBody>
      </p:sp>
      <p:sp>
        <p:nvSpPr>
          <p:cNvPr id="19" name="Shape 15"/>
          <p:cNvSpPr/>
          <p:nvPr/>
        </p:nvSpPr>
        <p:spPr>
          <a:xfrm>
            <a:off x="640080" y="3511296"/>
            <a:ext cx="10908792" cy="713232"/>
          </a:xfrm>
          <a:prstGeom prst="roundRect">
            <a:avLst>
              <a:gd name="adj" fmla="val 12821"/>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20" name="Shape 16"/>
          <p:cNvSpPr/>
          <p:nvPr/>
        </p:nvSpPr>
        <p:spPr>
          <a:xfrm>
            <a:off x="868680" y="3630168"/>
            <a:ext cx="475488" cy="475488"/>
          </a:xfrm>
          <a:prstGeom prst="ellipse">
            <a:avLst/>
          </a:prstGeom>
          <a:solidFill>
            <a:srgbClr val="FDEDED"/>
          </a:solidFill>
          <a:ln w="12700">
            <a:solidFill>
              <a:srgbClr val="FDEDED"/>
            </a:solidFill>
            <a:prstDash val="solid"/>
          </a:ln>
        </p:spPr>
        <p:txBody>
          <a:bodyPr/>
          <a:lstStyle/>
          <a:p>
            <a:endParaRPr lang="LID4096"/>
          </a:p>
        </p:txBody>
      </p:sp>
      <p:pic>
        <p:nvPicPr>
          <p:cNvPr id="21" name="Image 2" descr="preencoded.png"/>
          <p:cNvPicPr>
            <a:picLocks noChangeAspect="1"/>
          </p:cNvPicPr>
          <p:nvPr/>
        </p:nvPicPr>
        <p:blipFill>
          <a:blip r:embed="rId5"/>
          <a:stretch>
            <a:fillRect/>
          </a:stretch>
        </p:blipFill>
        <p:spPr>
          <a:xfrm>
            <a:off x="987552" y="3749040"/>
            <a:ext cx="237744" cy="237744"/>
          </a:xfrm>
          <a:prstGeom prst="rect">
            <a:avLst/>
          </a:prstGeom>
        </p:spPr>
      </p:pic>
      <p:sp>
        <p:nvSpPr>
          <p:cNvPr id="22" name="Text 17"/>
          <p:cNvSpPr txBox="1"/>
          <p:nvPr/>
        </p:nvSpPr>
        <p:spPr>
          <a:xfrm>
            <a:off x="1600200" y="3511296"/>
            <a:ext cx="3657600" cy="713232"/>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Getting into the list matters most</a:t>
            </a:r>
            <a:endParaRPr lang="en-US" sz="1600" dirty="0"/>
          </a:p>
        </p:txBody>
      </p:sp>
      <p:sp>
        <p:nvSpPr>
          <p:cNvPr id="23" name="Text 18"/>
          <p:cNvSpPr txBox="1"/>
          <p:nvPr/>
        </p:nvSpPr>
        <p:spPr>
          <a:xfrm>
            <a:off x="5303520" y="3511296"/>
            <a:ext cx="4572000" cy="713232"/>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Position alone added +18 points. Discovery is the next step.</a:t>
            </a:r>
            <a:endParaRPr lang="en-US" sz="1300" dirty="0"/>
          </a:p>
        </p:txBody>
      </p:sp>
      <p:sp>
        <p:nvSpPr>
          <p:cNvPr id="24" name="Text 19"/>
          <p:cNvSpPr txBox="1"/>
          <p:nvPr/>
        </p:nvSpPr>
        <p:spPr>
          <a:xfrm>
            <a:off x="9921240" y="3511296"/>
            <a:ext cx="1417320" cy="713232"/>
          </a:xfrm>
          <a:prstGeom prst="rect">
            <a:avLst/>
          </a:prstGeom>
          <a:noFill/>
          <a:ln/>
        </p:spPr>
        <p:txBody>
          <a:bodyPr wrap="square" lIns="0" tIns="0" rIns="0" bIns="0" rtlCol="0" anchor="ctr"/>
          <a:lstStyle/>
          <a:p>
            <a:pPr marL="0" indent="0" algn="r">
              <a:buNone/>
            </a:pPr>
            <a:r>
              <a:rPr lang="en-US" sz="1000" i="1" dirty="0">
                <a:solidFill>
                  <a:srgbClr val="9AA3AE"/>
                </a:solidFill>
                <a:latin typeface="Arial" pitchFamily="34" charset="0"/>
                <a:ea typeface="Arial" pitchFamily="34" charset="-122"/>
                <a:cs typeface="Arial" pitchFamily="34" charset="-120"/>
              </a:rPr>
              <a:t>C-SEO Bench, 2025</a:t>
            </a:r>
            <a:endParaRPr lang="en-US" sz="1000" dirty="0"/>
          </a:p>
        </p:txBody>
      </p:sp>
      <p:sp>
        <p:nvSpPr>
          <p:cNvPr id="25" name="Shape 20"/>
          <p:cNvSpPr/>
          <p:nvPr/>
        </p:nvSpPr>
        <p:spPr>
          <a:xfrm>
            <a:off x="640080" y="4352544"/>
            <a:ext cx="10908792" cy="713232"/>
          </a:xfrm>
          <a:prstGeom prst="roundRect">
            <a:avLst>
              <a:gd name="adj" fmla="val 12821"/>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26" name="Shape 21"/>
          <p:cNvSpPr/>
          <p:nvPr/>
        </p:nvSpPr>
        <p:spPr>
          <a:xfrm>
            <a:off x="868680" y="4471416"/>
            <a:ext cx="475488" cy="475488"/>
          </a:xfrm>
          <a:prstGeom prst="ellipse">
            <a:avLst/>
          </a:prstGeom>
          <a:solidFill>
            <a:srgbClr val="FDEDED"/>
          </a:solidFill>
          <a:ln w="12700">
            <a:solidFill>
              <a:srgbClr val="FDEDED"/>
            </a:solidFill>
            <a:prstDash val="solid"/>
          </a:ln>
        </p:spPr>
        <p:txBody>
          <a:bodyPr/>
          <a:lstStyle/>
          <a:p>
            <a:endParaRPr lang="LID4096"/>
          </a:p>
        </p:txBody>
      </p:sp>
      <p:pic>
        <p:nvPicPr>
          <p:cNvPr id="27" name="Image 3" descr="preencoded.png"/>
          <p:cNvPicPr>
            <a:picLocks noChangeAspect="1"/>
          </p:cNvPicPr>
          <p:nvPr/>
        </p:nvPicPr>
        <p:blipFill>
          <a:blip r:embed="rId6"/>
          <a:stretch>
            <a:fillRect/>
          </a:stretch>
        </p:blipFill>
        <p:spPr>
          <a:xfrm>
            <a:off x="987552" y="4590288"/>
            <a:ext cx="237744" cy="237744"/>
          </a:xfrm>
          <a:prstGeom prst="rect">
            <a:avLst/>
          </a:prstGeom>
        </p:spPr>
      </p:pic>
      <p:sp>
        <p:nvSpPr>
          <p:cNvPr id="28" name="Text 22"/>
          <p:cNvSpPr txBox="1"/>
          <p:nvPr/>
        </p:nvSpPr>
        <p:spPr>
          <a:xfrm>
            <a:off x="1600200" y="4352544"/>
            <a:ext cx="3657600" cy="713232"/>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Measure how often, not where</a:t>
            </a:r>
            <a:endParaRPr lang="en-US" sz="1600" dirty="0"/>
          </a:p>
        </p:txBody>
      </p:sp>
      <p:sp>
        <p:nvSpPr>
          <p:cNvPr id="29" name="Text 23"/>
          <p:cNvSpPr txBox="1"/>
          <p:nvPr/>
        </p:nvSpPr>
        <p:spPr>
          <a:xfrm>
            <a:off x="5303520" y="4352544"/>
            <a:ext cx="4572000" cy="713232"/>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Answers can vary, so evaluate repeated outputs.</a:t>
            </a:r>
            <a:endParaRPr lang="en-US" sz="1300" dirty="0"/>
          </a:p>
        </p:txBody>
      </p:sp>
      <p:sp>
        <p:nvSpPr>
          <p:cNvPr id="30" name="Text 24"/>
          <p:cNvSpPr txBox="1"/>
          <p:nvPr/>
        </p:nvSpPr>
        <p:spPr>
          <a:xfrm>
            <a:off x="9921240" y="4352544"/>
            <a:ext cx="1417320" cy="713232"/>
          </a:xfrm>
          <a:prstGeom prst="rect">
            <a:avLst/>
          </a:prstGeom>
          <a:noFill/>
          <a:ln/>
        </p:spPr>
        <p:txBody>
          <a:bodyPr wrap="square" lIns="0" tIns="0" rIns="0" bIns="0" rtlCol="0" anchor="ctr"/>
          <a:lstStyle/>
          <a:p>
            <a:pPr marL="0" indent="0" algn="r">
              <a:buNone/>
            </a:pPr>
            <a:r>
              <a:rPr lang="en-US" sz="1000" i="1" dirty="0">
                <a:solidFill>
                  <a:srgbClr val="9AA3AE"/>
                </a:solidFill>
                <a:latin typeface="Arial" pitchFamily="34" charset="0"/>
                <a:ea typeface="Arial" pitchFamily="34" charset="-122"/>
                <a:cs typeface="Arial" pitchFamily="34" charset="-120"/>
              </a:rPr>
              <a:t>SparkToro, 2026</a:t>
            </a:r>
            <a:endParaRPr lang="en-US" sz="1000" dirty="0"/>
          </a:p>
        </p:txBody>
      </p:sp>
      <p:sp>
        <p:nvSpPr>
          <p:cNvPr id="31" name="Shape 25"/>
          <p:cNvSpPr/>
          <p:nvPr/>
        </p:nvSpPr>
        <p:spPr>
          <a:xfrm>
            <a:off x="640080" y="5193792"/>
            <a:ext cx="10908792" cy="713232"/>
          </a:xfrm>
          <a:prstGeom prst="roundRect">
            <a:avLst>
              <a:gd name="adj" fmla="val 12821"/>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32" name="Shape 26"/>
          <p:cNvSpPr/>
          <p:nvPr/>
        </p:nvSpPr>
        <p:spPr>
          <a:xfrm>
            <a:off x="868680" y="5312664"/>
            <a:ext cx="475488" cy="475488"/>
          </a:xfrm>
          <a:prstGeom prst="ellipse">
            <a:avLst/>
          </a:prstGeom>
          <a:solidFill>
            <a:srgbClr val="FDEDED"/>
          </a:solidFill>
          <a:ln w="12700">
            <a:solidFill>
              <a:srgbClr val="FDEDED"/>
            </a:solidFill>
            <a:prstDash val="solid"/>
          </a:ln>
        </p:spPr>
        <p:txBody>
          <a:bodyPr/>
          <a:lstStyle/>
          <a:p>
            <a:endParaRPr lang="LID4096"/>
          </a:p>
        </p:txBody>
      </p:sp>
      <p:pic>
        <p:nvPicPr>
          <p:cNvPr id="33" name="Image 4" descr="preencoded.png"/>
          <p:cNvPicPr>
            <a:picLocks noChangeAspect="1"/>
          </p:cNvPicPr>
          <p:nvPr/>
        </p:nvPicPr>
        <p:blipFill>
          <a:blip r:embed="rId7"/>
          <a:stretch>
            <a:fillRect/>
          </a:stretch>
        </p:blipFill>
        <p:spPr>
          <a:xfrm>
            <a:off x="987552" y="5431536"/>
            <a:ext cx="237744" cy="237744"/>
          </a:xfrm>
          <a:prstGeom prst="rect">
            <a:avLst/>
          </a:prstGeom>
        </p:spPr>
      </p:pic>
      <p:sp>
        <p:nvSpPr>
          <p:cNvPr id="34" name="Text 27"/>
          <p:cNvSpPr txBox="1"/>
          <p:nvPr/>
        </p:nvSpPr>
        <p:spPr>
          <a:xfrm>
            <a:off x="1600200" y="5193792"/>
            <a:ext cx="3657600" cy="713232"/>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Re-test when models change</a:t>
            </a:r>
            <a:endParaRPr lang="en-US" sz="1600" dirty="0"/>
          </a:p>
        </p:txBody>
      </p:sp>
      <p:sp>
        <p:nvSpPr>
          <p:cNvPr id="35" name="Text 28"/>
          <p:cNvSpPr txBox="1"/>
          <p:nvPr/>
        </p:nvSpPr>
        <p:spPr>
          <a:xfrm>
            <a:off x="5303520" y="5193792"/>
            <a:ext cx="4572000" cy="713232"/>
          </a:xfrm>
          <a:prstGeom prst="rect">
            <a:avLst/>
          </a:prstGeom>
          <a:noFill/>
          <a:ln/>
        </p:spPr>
        <p:txBody>
          <a:bodyPr wrap="square" lIns="0" tIns="0" rIns="0" bIns="0" rtlCol="0" anchor="ctr"/>
          <a:lstStyle/>
          <a:p>
            <a:pPr marL="0" indent="0">
              <a:buNone/>
            </a:pPr>
            <a:r>
              <a:rPr lang="en-US" sz="1300" dirty="0">
                <a:solidFill>
                  <a:srgbClr val="5F6B7A"/>
                </a:solidFill>
                <a:latin typeface="Arial" pitchFamily="34" charset="0"/>
                <a:ea typeface="Arial" pitchFamily="34" charset="-122"/>
                <a:cs typeface="Arial" pitchFamily="34" charset="-120"/>
              </a:rPr>
              <a:t>Future studies should generate matched fresh controls.</a:t>
            </a:r>
            <a:endParaRPr lang="en-US" sz="1300" dirty="0"/>
          </a:p>
        </p:txBody>
      </p:sp>
      <p:sp>
        <p:nvSpPr>
          <p:cNvPr id="36" name="Text 29"/>
          <p:cNvSpPr txBox="1"/>
          <p:nvPr/>
        </p:nvSpPr>
        <p:spPr>
          <a:xfrm>
            <a:off x="9921240" y="5193792"/>
            <a:ext cx="1417320" cy="713232"/>
          </a:xfrm>
          <a:prstGeom prst="rect">
            <a:avLst/>
          </a:prstGeom>
          <a:noFill/>
          <a:ln/>
        </p:spPr>
        <p:txBody>
          <a:bodyPr wrap="square" lIns="0" tIns="0" rIns="0" bIns="0" rtlCol="0" anchor="ctr"/>
          <a:lstStyle/>
          <a:p>
            <a:pPr marL="0" indent="0" algn="r">
              <a:buNone/>
            </a:pPr>
            <a:r>
              <a:rPr lang="en-US" sz="1000" i="1" dirty="0">
                <a:solidFill>
                  <a:srgbClr val="9AA3AE"/>
                </a:solidFill>
                <a:latin typeface="Arial" pitchFamily="34" charset="0"/>
                <a:ea typeface="Arial" pitchFamily="34" charset="-122"/>
                <a:cs typeface="Arial" pitchFamily="34" charset="-120"/>
              </a:rPr>
              <a:t>Our sandbox</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256032" cy="45720"/>
          </a:xfrm>
          <a:prstGeom prst="rect">
            <a:avLst/>
          </a:prstGeom>
          <a:solidFill>
            <a:srgbClr val="D7262E"/>
          </a:solidFill>
          <a:ln w="12700">
            <a:solidFill>
              <a:srgbClr val="D7262E"/>
            </a:solidFill>
            <a:prstDash val="solid"/>
          </a:ln>
        </p:spPr>
        <p:txBody>
          <a:bodyPr/>
          <a:lstStyle/>
          <a:p>
            <a:endParaRPr lang="LID4096"/>
          </a:p>
        </p:txBody>
      </p:sp>
      <p:sp>
        <p:nvSpPr>
          <p:cNvPr id="3" name="Text 1"/>
          <p:cNvSpPr txBox="1"/>
          <p:nvPr/>
        </p:nvSpPr>
        <p:spPr>
          <a:xfrm>
            <a:off x="987552" y="347472"/>
            <a:ext cx="7315200" cy="256032"/>
          </a:xfrm>
          <a:prstGeom prst="rect">
            <a:avLst/>
          </a:prstGeom>
          <a:noFill/>
          <a:ln/>
        </p:spPr>
        <p:txBody>
          <a:bodyPr wrap="square" lIns="0" tIns="0" rIns="0" bIns="0" rtlCol="0" anchor="ctr"/>
          <a:lstStyle/>
          <a:p>
            <a:pPr marL="0" indent="0">
              <a:buNone/>
            </a:pPr>
            <a:r>
              <a:rPr lang="en-US" sz="1050" b="1" kern="0" spc="200" dirty="0">
                <a:solidFill>
                  <a:srgbClr val="D7262E"/>
                </a:solidFill>
                <a:latin typeface="Arial" pitchFamily="34" charset="0"/>
                <a:ea typeface="Arial" pitchFamily="34" charset="-122"/>
                <a:cs typeface="Arial" pitchFamily="34" charset="-120"/>
              </a:rPr>
              <a:t>VALUE FOR FLIGHT CENTRE</a:t>
            </a:r>
            <a:endParaRPr lang="en-US" sz="1050" dirty="0"/>
          </a:p>
        </p:txBody>
      </p:sp>
      <p:sp>
        <p:nvSpPr>
          <p:cNvPr id="4" name="Text 2"/>
          <p:cNvSpPr txBox="1"/>
          <p:nvPr/>
        </p:nvSpPr>
        <p:spPr>
          <a:xfrm>
            <a:off x="640080" y="658368"/>
            <a:ext cx="10881360" cy="566928"/>
          </a:xfrm>
          <a:prstGeom prst="rect">
            <a:avLst/>
          </a:prstGeom>
          <a:noFill/>
          <a:ln/>
        </p:spPr>
        <p:txBody>
          <a:bodyPr wrap="square" lIns="0" tIns="0" rIns="0" bIns="0" rtlCol="0" anchor="ctr"/>
          <a:lstStyle/>
          <a:p>
            <a:pPr marL="0" indent="0">
              <a:buNone/>
            </a:pPr>
            <a:r>
              <a:rPr lang="en-US" sz="3000" b="1" dirty="0">
                <a:solidFill>
                  <a:srgbClr val="1F2A44"/>
                </a:solidFill>
                <a:latin typeface="Arial" pitchFamily="34" charset="0"/>
                <a:ea typeface="Arial" pitchFamily="34" charset="-122"/>
                <a:cs typeface="Arial" pitchFamily="34" charset="-120"/>
              </a:rPr>
              <a:t>What Flight Centre gets from us</a:t>
            </a:r>
            <a:endParaRPr lang="en-US" sz="3000" dirty="0"/>
          </a:p>
        </p:txBody>
      </p:sp>
      <p:sp>
        <p:nvSpPr>
          <p:cNvPr id="5" name="Text 3"/>
          <p:cNvSpPr txBox="1"/>
          <p:nvPr/>
        </p:nvSpPr>
        <p:spPr>
          <a:xfrm>
            <a:off x="640080" y="1243584"/>
            <a:ext cx="10881360" cy="365760"/>
          </a:xfrm>
          <a:prstGeom prst="rect">
            <a:avLst/>
          </a:prstGeom>
          <a:noFill/>
          <a:ln/>
        </p:spPr>
        <p:txBody>
          <a:bodyPr wrap="square" lIns="0" tIns="0" rIns="0" bIns="0" rtlCol="0" anchor="ctr"/>
          <a:lstStyle/>
          <a:p>
            <a:pPr marL="0" indent="0">
              <a:buNone/>
            </a:pPr>
            <a:r>
              <a:rPr lang="en-US" sz="1600" dirty="0">
                <a:solidFill>
                  <a:srgbClr val="5F6B7A"/>
                </a:solidFill>
                <a:latin typeface="Arial" pitchFamily="34" charset="0"/>
                <a:ea typeface="Arial" pitchFamily="34" charset="-122"/>
                <a:cs typeface="Arial" pitchFamily="34" charset="-120"/>
              </a:rPr>
              <a:t>The selected saved-source comparison improved citation inclusion; evidence is handed over.</a:t>
            </a:r>
            <a:endParaRPr lang="en-US" sz="1600" dirty="0"/>
          </a:p>
        </p:txBody>
      </p:sp>
      <p:sp>
        <p:nvSpPr>
          <p:cNvPr id="6" name="Text 4"/>
          <p:cNvSpPr txBox="1"/>
          <p:nvPr/>
        </p:nvSpPr>
        <p:spPr>
          <a:xfrm>
            <a:off x="640080" y="6446520"/>
            <a:ext cx="5486400" cy="228600"/>
          </a:xfrm>
          <a:prstGeom prst="rect">
            <a:avLst/>
          </a:prstGeom>
          <a:noFill/>
          <a:ln/>
        </p:spPr>
        <p:txBody>
          <a:bodyPr wrap="square" lIns="0" tIns="0" rIns="0" bIns="0" rtlCol="0" anchor="ctr"/>
          <a:lstStyle/>
          <a:p>
            <a:pPr marL="0" indent="0">
              <a:buNone/>
            </a:pPr>
            <a:r>
              <a:rPr lang="en-US" sz="900" dirty="0">
                <a:solidFill>
                  <a:srgbClr val="9AA3AE"/>
                </a:solidFill>
                <a:latin typeface="Arial" pitchFamily="34" charset="0"/>
                <a:ea typeface="Arial" pitchFamily="34" charset="-122"/>
                <a:cs typeface="Arial" pitchFamily="34" charset="-120"/>
              </a:rPr>
              <a:t>Team 62 · Generative AI Optimisation for Flight Centre</a:t>
            </a:r>
            <a:endParaRPr lang="en-US" sz="900" dirty="0"/>
          </a:p>
        </p:txBody>
      </p:sp>
      <p:sp>
        <p:nvSpPr>
          <p:cNvPr id="7" name="Shape 5"/>
          <p:cNvSpPr/>
          <p:nvPr/>
        </p:nvSpPr>
        <p:spPr>
          <a:xfrm>
            <a:off x="640080" y="1828800"/>
            <a:ext cx="4343400" cy="3749040"/>
          </a:xfrm>
          <a:prstGeom prst="roundRect">
            <a:avLst>
              <a:gd name="adj" fmla="val 2439"/>
            </a:avLst>
          </a:prstGeom>
          <a:solidFill>
            <a:srgbClr val="FFFFFF"/>
          </a:solidFill>
          <a:ln w="19050">
            <a:solidFill>
              <a:srgbClr val="D7262E"/>
            </a:solidFill>
            <a:prstDash val="solid"/>
          </a:ln>
          <a:effectLst>
            <a:outerShdw blurRad="127000" dist="38100" dir="5400000" algn="bl" rotWithShape="0">
              <a:srgbClr val="8E98A6">
                <a:alpha val="16000"/>
              </a:srgbClr>
            </a:outerShdw>
          </a:effectLst>
        </p:spPr>
        <p:txBody>
          <a:bodyPr/>
          <a:lstStyle/>
          <a:p>
            <a:endParaRPr lang="LID4096"/>
          </a:p>
        </p:txBody>
      </p:sp>
      <p:sp>
        <p:nvSpPr>
          <p:cNvPr id="8" name="Text 6"/>
          <p:cNvSpPr txBox="1"/>
          <p:nvPr/>
        </p:nvSpPr>
        <p:spPr>
          <a:xfrm>
            <a:off x="914400" y="2011680"/>
            <a:ext cx="3794760" cy="237744"/>
          </a:xfrm>
          <a:prstGeom prst="rect">
            <a:avLst/>
          </a:prstGeom>
          <a:noFill/>
          <a:ln/>
        </p:spPr>
        <p:txBody>
          <a:bodyPr wrap="square" lIns="0" tIns="0" rIns="0" bIns="0" rtlCol="0" anchor="ctr"/>
          <a:lstStyle/>
          <a:p>
            <a:pPr marL="0" indent="0">
              <a:buNone/>
            </a:pPr>
            <a:r>
              <a:rPr lang="en-US" sz="1050" b="1" kern="0" spc="150" dirty="0">
                <a:solidFill>
                  <a:srgbClr val="D7262E"/>
                </a:solidFill>
                <a:latin typeface="Arial" pitchFamily="34" charset="0"/>
                <a:ea typeface="Arial" pitchFamily="34" charset="-122"/>
                <a:cs typeface="Arial" pitchFamily="34" charset="-120"/>
              </a:rPr>
              <a:t>THE RESULT</a:t>
            </a:r>
            <a:endParaRPr lang="en-US" sz="1050" dirty="0"/>
          </a:p>
        </p:txBody>
      </p:sp>
      <p:sp>
        <p:nvSpPr>
          <p:cNvPr id="9" name="Text 7"/>
          <p:cNvSpPr txBox="1"/>
          <p:nvPr/>
        </p:nvSpPr>
        <p:spPr>
          <a:xfrm>
            <a:off x="914400" y="2304288"/>
            <a:ext cx="3794760" cy="274320"/>
          </a:xfrm>
          <a:prstGeom prst="rect">
            <a:avLst/>
          </a:prstGeom>
          <a:noFill/>
          <a:ln/>
        </p:spPr>
        <p:txBody>
          <a:bodyPr wrap="square" lIns="0" tIns="0" rIns="0" bIns="0" rtlCol="0" anchor="ctr"/>
          <a:lstStyle/>
          <a:p>
            <a:pPr marL="0" indent="0">
              <a:buNone/>
            </a:pPr>
            <a:r>
              <a:rPr lang="en-US" sz="1200" dirty="0">
                <a:solidFill>
                  <a:srgbClr val="5F6B7A"/>
                </a:solidFill>
                <a:latin typeface="Arial" pitchFamily="34" charset="0"/>
                <a:ea typeface="Arial" pitchFamily="34" charset="-122"/>
                <a:cs typeface="Arial" pitchFamily="34" charset="-120"/>
              </a:rPr>
              <a:t>Visibility = how often AI answers cite Flight Centre</a:t>
            </a:r>
            <a:endParaRPr lang="en-US" sz="1200" dirty="0"/>
          </a:p>
        </p:txBody>
      </p:sp>
      <p:sp>
        <p:nvSpPr>
          <p:cNvPr id="10" name="Text 8"/>
          <p:cNvSpPr txBox="1"/>
          <p:nvPr/>
        </p:nvSpPr>
        <p:spPr>
          <a:xfrm>
            <a:off x="914400" y="2743200"/>
            <a:ext cx="1097280" cy="274320"/>
          </a:xfrm>
          <a:prstGeom prst="rect">
            <a:avLst/>
          </a:prstGeom>
          <a:noFill/>
          <a:ln/>
        </p:spPr>
        <p:txBody>
          <a:bodyPr wrap="square" lIns="0" tIns="0" rIns="0" bIns="0" rtlCol="0" anchor="ctr"/>
          <a:lstStyle/>
          <a:p>
            <a:pPr marL="0" indent="0">
              <a:buNone/>
            </a:pPr>
            <a:r>
              <a:rPr lang="en-US" sz="1300" b="1" dirty="0">
                <a:solidFill>
                  <a:srgbClr val="1F2A44"/>
                </a:solidFill>
                <a:latin typeface="Arial" pitchFamily="34" charset="0"/>
                <a:ea typeface="Arial" pitchFamily="34" charset="-122"/>
                <a:cs typeface="Arial" pitchFamily="34" charset="-120"/>
              </a:rPr>
              <a:t>Before</a:t>
            </a:r>
            <a:endParaRPr lang="en-US" sz="1300" dirty="0"/>
          </a:p>
        </p:txBody>
      </p:sp>
      <p:sp>
        <p:nvSpPr>
          <p:cNvPr id="11" name="Shape 9"/>
          <p:cNvSpPr/>
          <p:nvPr/>
        </p:nvSpPr>
        <p:spPr>
          <a:xfrm>
            <a:off x="914400" y="3072384"/>
            <a:ext cx="192024" cy="173736"/>
          </a:xfrm>
          <a:prstGeom prst="roundRect">
            <a:avLst>
              <a:gd name="adj" fmla="val 26316"/>
            </a:avLst>
          </a:prstGeom>
          <a:solidFill>
            <a:srgbClr val="1F2A44"/>
          </a:solidFill>
          <a:ln w="12700">
            <a:solidFill>
              <a:srgbClr val="1F2A44"/>
            </a:solidFill>
            <a:prstDash val="solid"/>
          </a:ln>
        </p:spPr>
        <p:txBody>
          <a:bodyPr/>
          <a:lstStyle/>
          <a:p>
            <a:endParaRPr lang="LID4096"/>
          </a:p>
        </p:txBody>
      </p:sp>
      <p:sp>
        <p:nvSpPr>
          <p:cNvPr id="12" name="Shape 10"/>
          <p:cNvSpPr/>
          <p:nvPr/>
        </p:nvSpPr>
        <p:spPr>
          <a:xfrm>
            <a:off x="1161288" y="3072384"/>
            <a:ext cx="192024" cy="173736"/>
          </a:xfrm>
          <a:prstGeom prst="roundRect">
            <a:avLst>
              <a:gd name="adj" fmla="val 26316"/>
            </a:avLst>
          </a:prstGeom>
          <a:solidFill>
            <a:srgbClr val="1F2A44"/>
          </a:solidFill>
          <a:ln w="12700">
            <a:solidFill>
              <a:srgbClr val="1F2A44"/>
            </a:solidFill>
            <a:prstDash val="solid"/>
          </a:ln>
        </p:spPr>
        <p:txBody>
          <a:bodyPr/>
          <a:lstStyle/>
          <a:p>
            <a:endParaRPr lang="LID4096"/>
          </a:p>
        </p:txBody>
      </p:sp>
      <p:sp>
        <p:nvSpPr>
          <p:cNvPr id="13" name="Shape 11"/>
          <p:cNvSpPr/>
          <p:nvPr/>
        </p:nvSpPr>
        <p:spPr>
          <a:xfrm>
            <a:off x="1408176" y="3072384"/>
            <a:ext cx="192024" cy="173736"/>
          </a:xfrm>
          <a:prstGeom prst="roundRect">
            <a:avLst>
              <a:gd name="adj" fmla="val 26316"/>
            </a:avLst>
          </a:prstGeom>
          <a:solidFill>
            <a:srgbClr val="1F2A44"/>
          </a:solidFill>
          <a:ln w="12700">
            <a:solidFill>
              <a:srgbClr val="1F2A44"/>
            </a:solidFill>
            <a:prstDash val="solid"/>
          </a:ln>
        </p:spPr>
        <p:txBody>
          <a:bodyPr/>
          <a:lstStyle/>
          <a:p>
            <a:endParaRPr lang="LID4096"/>
          </a:p>
        </p:txBody>
      </p:sp>
      <p:sp>
        <p:nvSpPr>
          <p:cNvPr id="14" name="Shape 12"/>
          <p:cNvSpPr/>
          <p:nvPr/>
        </p:nvSpPr>
        <p:spPr>
          <a:xfrm>
            <a:off x="1655064" y="3072384"/>
            <a:ext cx="192024" cy="173736"/>
          </a:xfrm>
          <a:prstGeom prst="roundRect">
            <a:avLst>
              <a:gd name="adj" fmla="val 26316"/>
            </a:avLst>
          </a:prstGeom>
          <a:solidFill>
            <a:srgbClr val="1F2A44"/>
          </a:solidFill>
          <a:ln w="12700">
            <a:solidFill>
              <a:srgbClr val="1F2A44"/>
            </a:solidFill>
            <a:prstDash val="solid"/>
          </a:ln>
        </p:spPr>
        <p:txBody>
          <a:bodyPr/>
          <a:lstStyle/>
          <a:p>
            <a:endParaRPr lang="LID4096"/>
          </a:p>
        </p:txBody>
      </p:sp>
      <p:sp>
        <p:nvSpPr>
          <p:cNvPr id="15" name="Shape 13"/>
          <p:cNvSpPr/>
          <p:nvPr/>
        </p:nvSpPr>
        <p:spPr>
          <a:xfrm>
            <a:off x="1901952" y="307238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16" name="Shape 14"/>
          <p:cNvSpPr/>
          <p:nvPr/>
        </p:nvSpPr>
        <p:spPr>
          <a:xfrm>
            <a:off x="2148840" y="307238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17" name="Shape 15"/>
          <p:cNvSpPr/>
          <p:nvPr/>
        </p:nvSpPr>
        <p:spPr>
          <a:xfrm>
            <a:off x="2395728" y="307238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18" name="Shape 16"/>
          <p:cNvSpPr/>
          <p:nvPr/>
        </p:nvSpPr>
        <p:spPr>
          <a:xfrm>
            <a:off x="2642616" y="307238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19" name="Shape 17"/>
          <p:cNvSpPr/>
          <p:nvPr/>
        </p:nvSpPr>
        <p:spPr>
          <a:xfrm>
            <a:off x="2889504" y="307238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20" name="Shape 18"/>
          <p:cNvSpPr/>
          <p:nvPr/>
        </p:nvSpPr>
        <p:spPr>
          <a:xfrm>
            <a:off x="3136392" y="307238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21" name="Text 19"/>
          <p:cNvSpPr txBox="1"/>
          <p:nvPr/>
        </p:nvSpPr>
        <p:spPr>
          <a:xfrm>
            <a:off x="3429000" y="2944368"/>
            <a:ext cx="1280160" cy="411480"/>
          </a:xfrm>
          <a:prstGeom prst="rect">
            <a:avLst/>
          </a:prstGeom>
          <a:noFill/>
          <a:ln/>
        </p:spPr>
        <p:txBody>
          <a:bodyPr wrap="square" lIns="0" tIns="0" rIns="0" bIns="0" rtlCol="0" anchor="ctr"/>
          <a:lstStyle/>
          <a:p>
            <a:pPr marL="0" indent="0" algn="r">
              <a:buNone/>
            </a:pPr>
            <a:r>
              <a:rPr lang="en-US" sz="2200" b="1" dirty="0">
                <a:solidFill>
                  <a:srgbClr val="1F2A44"/>
                </a:solidFill>
                <a:latin typeface="Arial" pitchFamily="34" charset="0"/>
                <a:ea typeface="Arial" pitchFamily="34" charset="-122"/>
                <a:cs typeface="Arial" pitchFamily="34" charset="-120"/>
              </a:rPr>
              <a:t>40%</a:t>
            </a:r>
            <a:endParaRPr lang="en-US" sz="2200" dirty="0"/>
          </a:p>
        </p:txBody>
      </p:sp>
      <p:sp>
        <p:nvSpPr>
          <p:cNvPr id="22" name="Text 20"/>
          <p:cNvSpPr txBox="1"/>
          <p:nvPr/>
        </p:nvSpPr>
        <p:spPr>
          <a:xfrm>
            <a:off x="914400" y="3520440"/>
            <a:ext cx="1097280" cy="274320"/>
          </a:xfrm>
          <a:prstGeom prst="rect">
            <a:avLst/>
          </a:prstGeom>
          <a:noFill/>
          <a:ln/>
        </p:spPr>
        <p:txBody>
          <a:bodyPr wrap="square" lIns="0" tIns="0" rIns="0" bIns="0" rtlCol="0" anchor="ctr"/>
          <a:lstStyle/>
          <a:p>
            <a:pPr marL="0" indent="0">
              <a:buNone/>
            </a:pPr>
            <a:r>
              <a:rPr lang="en-US" sz="1300" b="1" dirty="0">
                <a:solidFill>
                  <a:srgbClr val="D7262E"/>
                </a:solidFill>
                <a:latin typeface="Arial" pitchFamily="34" charset="0"/>
                <a:ea typeface="Arial" pitchFamily="34" charset="-122"/>
                <a:cs typeface="Arial" pitchFamily="34" charset="-120"/>
              </a:rPr>
              <a:t>After</a:t>
            </a:r>
            <a:endParaRPr lang="en-US" sz="1300" dirty="0"/>
          </a:p>
        </p:txBody>
      </p:sp>
      <p:sp>
        <p:nvSpPr>
          <p:cNvPr id="23" name="Shape 21"/>
          <p:cNvSpPr/>
          <p:nvPr/>
        </p:nvSpPr>
        <p:spPr>
          <a:xfrm>
            <a:off x="914400" y="3849624"/>
            <a:ext cx="192024" cy="173736"/>
          </a:xfrm>
          <a:prstGeom prst="roundRect">
            <a:avLst>
              <a:gd name="adj" fmla="val 26316"/>
            </a:avLst>
          </a:prstGeom>
          <a:solidFill>
            <a:srgbClr val="D7262E"/>
          </a:solidFill>
          <a:ln w="12700">
            <a:solidFill>
              <a:srgbClr val="D7262E"/>
            </a:solidFill>
            <a:prstDash val="solid"/>
          </a:ln>
        </p:spPr>
        <p:txBody>
          <a:bodyPr/>
          <a:lstStyle/>
          <a:p>
            <a:endParaRPr lang="LID4096"/>
          </a:p>
        </p:txBody>
      </p:sp>
      <p:sp>
        <p:nvSpPr>
          <p:cNvPr id="24" name="Shape 22"/>
          <p:cNvSpPr/>
          <p:nvPr/>
        </p:nvSpPr>
        <p:spPr>
          <a:xfrm>
            <a:off x="1161288" y="3849624"/>
            <a:ext cx="192024" cy="173736"/>
          </a:xfrm>
          <a:prstGeom prst="roundRect">
            <a:avLst>
              <a:gd name="adj" fmla="val 26316"/>
            </a:avLst>
          </a:prstGeom>
          <a:solidFill>
            <a:srgbClr val="D7262E"/>
          </a:solidFill>
          <a:ln w="12700">
            <a:solidFill>
              <a:srgbClr val="D7262E"/>
            </a:solidFill>
            <a:prstDash val="solid"/>
          </a:ln>
        </p:spPr>
        <p:txBody>
          <a:bodyPr/>
          <a:lstStyle/>
          <a:p>
            <a:endParaRPr lang="LID4096"/>
          </a:p>
        </p:txBody>
      </p:sp>
      <p:sp>
        <p:nvSpPr>
          <p:cNvPr id="25" name="Shape 23"/>
          <p:cNvSpPr/>
          <p:nvPr/>
        </p:nvSpPr>
        <p:spPr>
          <a:xfrm>
            <a:off x="1408176" y="3849624"/>
            <a:ext cx="192024" cy="173736"/>
          </a:xfrm>
          <a:prstGeom prst="roundRect">
            <a:avLst>
              <a:gd name="adj" fmla="val 26316"/>
            </a:avLst>
          </a:prstGeom>
          <a:solidFill>
            <a:srgbClr val="D7262E"/>
          </a:solidFill>
          <a:ln w="12700">
            <a:solidFill>
              <a:srgbClr val="D7262E"/>
            </a:solidFill>
            <a:prstDash val="solid"/>
          </a:ln>
        </p:spPr>
        <p:txBody>
          <a:bodyPr/>
          <a:lstStyle/>
          <a:p>
            <a:endParaRPr lang="LID4096"/>
          </a:p>
        </p:txBody>
      </p:sp>
      <p:sp>
        <p:nvSpPr>
          <p:cNvPr id="26" name="Shape 24"/>
          <p:cNvSpPr/>
          <p:nvPr/>
        </p:nvSpPr>
        <p:spPr>
          <a:xfrm>
            <a:off x="1655064" y="3849624"/>
            <a:ext cx="192024" cy="173736"/>
          </a:xfrm>
          <a:prstGeom prst="roundRect">
            <a:avLst>
              <a:gd name="adj" fmla="val 26316"/>
            </a:avLst>
          </a:prstGeom>
          <a:solidFill>
            <a:srgbClr val="D7262E"/>
          </a:solidFill>
          <a:ln w="12700">
            <a:solidFill>
              <a:srgbClr val="D7262E"/>
            </a:solidFill>
            <a:prstDash val="solid"/>
          </a:ln>
        </p:spPr>
        <p:txBody>
          <a:bodyPr/>
          <a:lstStyle/>
          <a:p>
            <a:endParaRPr lang="LID4096"/>
          </a:p>
        </p:txBody>
      </p:sp>
      <p:sp>
        <p:nvSpPr>
          <p:cNvPr id="27" name="Shape 25"/>
          <p:cNvSpPr/>
          <p:nvPr/>
        </p:nvSpPr>
        <p:spPr>
          <a:xfrm>
            <a:off x="1901952" y="3849624"/>
            <a:ext cx="192024" cy="173736"/>
          </a:xfrm>
          <a:prstGeom prst="roundRect">
            <a:avLst>
              <a:gd name="adj" fmla="val 26316"/>
            </a:avLst>
          </a:prstGeom>
          <a:solidFill>
            <a:srgbClr val="D7262E"/>
          </a:solidFill>
          <a:ln w="12700">
            <a:solidFill>
              <a:srgbClr val="D7262E"/>
            </a:solidFill>
            <a:prstDash val="solid"/>
          </a:ln>
        </p:spPr>
        <p:txBody>
          <a:bodyPr/>
          <a:lstStyle/>
          <a:p>
            <a:endParaRPr lang="LID4096"/>
          </a:p>
        </p:txBody>
      </p:sp>
      <p:sp>
        <p:nvSpPr>
          <p:cNvPr id="28" name="Shape 26"/>
          <p:cNvSpPr/>
          <p:nvPr/>
        </p:nvSpPr>
        <p:spPr>
          <a:xfrm>
            <a:off x="2148840" y="384962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29" name="Shape 27"/>
          <p:cNvSpPr/>
          <p:nvPr/>
        </p:nvSpPr>
        <p:spPr>
          <a:xfrm>
            <a:off x="2395728" y="384962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30" name="Shape 28"/>
          <p:cNvSpPr/>
          <p:nvPr/>
        </p:nvSpPr>
        <p:spPr>
          <a:xfrm>
            <a:off x="2642616" y="384962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31" name="Shape 29"/>
          <p:cNvSpPr/>
          <p:nvPr/>
        </p:nvSpPr>
        <p:spPr>
          <a:xfrm>
            <a:off x="2889504" y="384962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32" name="Shape 30"/>
          <p:cNvSpPr/>
          <p:nvPr/>
        </p:nvSpPr>
        <p:spPr>
          <a:xfrm>
            <a:off x="3136392" y="3849624"/>
            <a:ext cx="192024" cy="173736"/>
          </a:xfrm>
          <a:prstGeom prst="roundRect">
            <a:avLst>
              <a:gd name="adj" fmla="val 26316"/>
            </a:avLst>
          </a:prstGeom>
          <a:solidFill>
            <a:srgbClr val="FFFFFF"/>
          </a:solidFill>
          <a:ln w="12700">
            <a:solidFill>
              <a:srgbClr val="DDE2E8"/>
            </a:solidFill>
            <a:prstDash val="solid"/>
          </a:ln>
        </p:spPr>
        <p:txBody>
          <a:bodyPr/>
          <a:lstStyle/>
          <a:p>
            <a:endParaRPr lang="LID4096"/>
          </a:p>
        </p:txBody>
      </p:sp>
      <p:sp>
        <p:nvSpPr>
          <p:cNvPr id="33" name="Text 31"/>
          <p:cNvSpPr txBox="1"/>
          <p:nvPr/>
        </p:nvSpPr>
        <p:spPr>
          <a:xfrm>
            <a:off x="3429000" y="3721608"/>
            <a:ext cx="1280160" cy="411480"/>
          </a:xfrm>
          <a:prstGeom prst="rect">
            <a:avLst/>
          </a:prstGeom>
          <a:noFill/>
          <a:ln/>
        </p:spPr>
        <p:txBody>
          <a:bodyPr wrap="square" lIns="0" tIns="0" rIns="0" bIns="0" rtlCol="0" anchor="ctr"/>
          <a:lstStyle/>
          <a:p>
            <a:pPr marL="0" indent="0" algn="r">
              <a:buNone/>
            </a:pPr>
            <a:r>
              <a:rPr lang="en-US" sz="2200" b="1" dirty="0">
                <a:solidFill>
                  <a:srgbClr val="D7262E"/>
                </a:solidFill>
                <a:latin typeface="Arial" pitchFamily="34" charset="0"/>
                <a:ea typeface="Arial" pitchFamily="34" charset="-122"/>
                <a:cs typeface="Arial" pitchFamily="34" charset="-120"/>
              </a:rPr>
              <a:t>49–52%</a:t>
            </a:r>
            <a:endParaRPr lang="en-US" sz="2200" dirty="0"/>
          </a:p>
        </p:txBody>
      </p:sp>
      <p:sp>
        <p:nvSpPr>
          <p:cNvPr id="34" name="Shape 32"/>
          <p:cNvSpPr/>
          <p:nvPr/>
        </p:nvSpPr>
        <p:spPr>
          <a:xfrm>
            <a:off x="914400" y="4434840"/>
            <a:ext cx="3794760" cy="0"/>
          </a:xfrm>
          <a:prstGeom prst="line">
            <a:avLst/>
          </a:prstGeom>
          <a:noFill/>
          <a:ln w="9525">
            <a:solidFill>
              <a:srgbClr val="DDE2E8"/>
            </a:solidFill>
            <a:prstDash val="solid"/>
          </a:ln>
        </p:spPr>
        <p:txBody>
          <a:bodyPr/>
          <a:lstStyle/>
          <a:p>
            <a:endParaRPr lang="LID4096"/>
          </a:p>
        </p:txBody>
      </p:sp>
      <p:sp>
        <p:nvSpPr>
          <p:cNvPr id="35" name="Text 33"/>
          <p:cNvSpPr txBox="1"/>
          <p:nvPr/>
        </p:nvSpPr>
        <p:spPr>
          <a:xfrm>
            <a:off x="914400" y="4572000"/>
            <a:ext cx="3794760" cy="777240"/>
          </a:xfrm>
          <a:prstGeom prst="rect">
            <a:avLst/>
          </a:prstGeom>
          <a:noFill/>
          <a:ln/>
        </p:spPr>
        <p:txBody>
          <a:bodyPr wrap="square" lIns="0" tIns="0" rIns="0" bIns="0" rtlCol="0" anchor="ctr"/>
          <a:lstStyle/>
          <a:p>
            <a:pPr marL="0" indent="0">
              <a:spcAft>
                <a:spcPts val="400"/>
              </a:spcAft>
              <a:buNone/>
            </a:pPr>
            <a:r>
              <a:rPr lang="en-US" sz="1350" b="1" dirty="0">
                <a:solidFill>
                  <a:srgbClr val="1F2A44"/>
                </a:solidFill>
                <a:latin typeface="Arial" pitchFamily="34" charset="0"/>
                <a:ea typeface="Arial" pitchFamily="34" charset="-122"/>
                <a:cs typeface="Arial" pitchFamily="34" charset="-120"/>
              </a:rPr>
              <a:t>Each method alone: </a:t>
            </a:r>
            <a:r>
              <a:rPr lang="en-US" sz="1350" dirty="0">
                <a:solidFill>
                  <a:srgbClr val="1F2A44"/>
                </a:solidFill>
                <a:latin typeface="Arial" pitchFamily="34" charset="0"/>
                <a:ea typeface="Arial" pitchFamily="34" charset="-122"/>
                <a:cs typeface="Arial" pitchFamily="34" charset="-120"/>
              </a:rPr>
              <a:t>up to +7.6 points</a:t>
            </a:r>
            <a:endParaRPr lang="en-US" sz="1350" dirty="0"/>
          </a:p>
          <a:p>
            <a:pPr marL="0" indent="0">
              <a:spcAft>
                <a:spcPts val="400"/>
              </a:spcAft>
              <a:buNone/>
            </a:pPr>
            <a:r>
              <a:rPr lang="en-US" sz="1350" b="1" dirty="0">
                <a:solidFill>
                  <a:srgbClr val="D7262E"/>
                </a:solidFill>
                <a:latin typeface="Arial" pitchFamily="34" charset="0"/>
                <a:ea typeface="Arial" pitchFamily="34" charset="-122"/>
                <a:cs typeface="Arial" pitchFamily="34" charset="-120"/>
              </a:rPr>
              <a:t>Selected stack: +9 to +12 points, in two runs</a:t>
            </a:r>
            <a:endParaRPr lang="en-US" sz="1350" dirty="0"/>
          </a:p>
        </p:txBody>
      </p:sp>
      <p:sp>
        <p:nvSpPr>
          <p:cNvPr id="36" name="Shape 34"/>
          <p:cNvSpPr/>
          <p:nvPr/>
        </p:nvSpPr>
        <p:spPr>
          <a:xfrm>
            <a:off x="5257800" y="1828800"/>
            <a:ext cx="3008376" cy="1737360"/>
          </a:xfrm>
          <a:prstGeom prst="roundRect">
            <a:avLst>
              <a:gd name="adj" fmla="val 5263"/>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37" name="Shape 35"/>
          <p:cNvSpPr/>
          <p:nvPr/>
        </p:nvSpPr>
        <p:spPr>
          <a:xfrm>
            <a:off x="5532120" y="2084832"/>
            <a:ext cx="566928" cy="566928"/>
          </a:xfrm>
          <a:prstGeom prst="ellipse">
            <a:avLst/>
          </a:prstGeom>
          <a:solidFill>
            <a:srgbClr val="FDEDED"/>
          </a:solidFill>
          <a:ln w="12700">
            <a:solidFill>
              <a:srgbClr val="FDEDED"/>
            </a:solidFill>
            <a:prstDash val="solid"/>
          </a:ln>
        </p:spPr>
        <p:txBody>
          <a:bodyPr/>
          <a:lstStyle/>
          <a:p>
            <a:endParaRPr lang="LID4096"/>
          </a:p>
        </p:txBody>
      </p:sp>
      <p:pic>
        <p:nvPicPr>
          <p:cNvPr id="38" name="Image 0" descr="preencoded.png"/>
          <p:cNvPicPr>
            <a:picLocks noChangeAspect="1"/>
          </p:cNvPicPr>
          <p:nvPr/>
        </p:nvPicPr>
        <p:blipFill>
          <a:blip r:embed="rId3"/>
          <a:stretch>
            <a:fillRect/>
          </a:stretch>
        </p:blipFill>
        <p:spPr>
          <a:xfrm>
            <a:off x="5678424" y="2231136"/>
            <a:ext cx="274320" cy="274320"/>
          </a:xfrm>
          <a:prstGeom prst="rect">
            <a:avLst/>
          </a:prstGeom>
        </p:spPr>
      </p:pic>
      <p:sp>
        <p:nvSpPr>
          <p:cNvPr id="39" name="Text 36"/>
          <p:cNvSpPr txBox="1"/>
          <p:nvPr/>
        </p:nvSpPr>
        <p:spPr>
          <a:xfrm>
            <a:off x="6245352" y="2084832"/>
            <a:ext cx="1819656" cy="566928"/>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The sandbox</a:t>
            </a:r>
            <a:endParaRPr lang="en-US" sz="1600" dirty="0"/>
          </a:p>
        </p:txBody>
      </p:sp>
      <p:sp>
        <p:nvSpPr>
          <p:cNvPr id="40" name="Text 37"/>
          <p:cNvSpPr txBox="1"/>
          <p:nvPr/>
        </p:nvSpPr>
        <p:spPr>
          <a:xfrm>
            <a:off x="5532120" y="2788920"/>
            <a:ext cx="2505456" cy="59436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Test any page change safely before it goes live.</a:t>
            </a:r>
            <a:endParaRPr lang="en-US" sz="1250" dirty="0"/>
          </a:p>
        </p:txBody>
      </p:sp>
      <p:sp>
        <p:nvSpPr>
          <p:cNvPr id="41" name="Shape 38"/>
          <p:cNvSpPr/>
          <p:nvPr/>
        </p:nvSpPr>
        <p:spPr>
          <a:xfrm>
            <a:off x="8540496" y="1828800"/>
            <a:ext cx="3008376" cy="1737360"/>
          </a:xfrm>
          <a:prstGeom prst="roundRect">
            <a:avLst>
              <a:gd name="adj" fmla="val 5263"/>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42" name="Shape 39"/>
          <p:cNvSpPr/>
          <p:nvPr/>
        </p:nvSpPr>
        <p:spPr>
          <a:xfrm>
            <a:off x="8814816" y="2084832"/>
            <a:ext cx="566928" cy="566928"/>
          </a:xfrm>
          <a:prstGeom prst="ellipse">
            <a:avLst/>
          </a:prstGeom>
          <a:solidFill>
            <a:srgbClr val="FDEDED"/>
          </a:solidFill>
          <a:ln w="12700">
            <a:solidFill>
              <a:srgbClr val="FDEDED"/>
            </a:solidFill>
            <a:prstDash val="solid"/>
          </a:ln>
        </p:spPr>
        <p:txBody>
          <a:bodyPr/>
          <a:lstStyle/>
          <a:p>
            <a:endParaRPr lang="LID4096"/>
          </a:p>
        </p:txBody>
      </p:sp>
      <p:pic>
        <p:nvPicPr>
          <p:cNvPr id="43" name="Image 1" descr="preencoded.png"/>
          <p:cNvPicPr>
            <a:picLocks noChangeAspect="1"/>
          </p:cNvPicPr>
          <p:nvPr/>
        </p:nvPicPr>
        <p:blipFill>
          <a:blip r:embed="rId4"/>
          <a:stretch>
            <a:fillRect/>
          </a:stretch>
        </p:blipFill>
        <p:spPr>
          <a:xfrm>
            <a:off x="8961120" y="2231136"/>
            <a:ext cx="274320" cy="274320"/>
          </a:xfrm>
          <a:prstGeom prst="rect">
            <a:avLst/>
          </a:prstGeom>
        </p:spPr>
      </p:pic>
      <p:sp>
        <p:nvSpPr>
          <p:cNvPr id="44" name="Text 40"/>
          <p:cNvSpPr txBox="1"/>
          <p:nvPr/>
        </p:nvSpPr>
        <p:spPr>
          <a:xfrm>
            <a:off x="9528048" y="2084832"/>
            <a:ext cx="1819656" cy="566928"/>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Detailed report</a:t>
            </a:r>
            <a:endParaRPr lang="en-US" sz="1600" dirty="0"/>
          </a:p>
        </p:txBody>
      </p:sp>
      <p:sp>
        <p:nvSpPr>
          <p:cNvPr id="45" name="Text 41"/>
          <p:cNvSpPr txBox="1"/>
          <p:nvPr/>
        </p:nvSpPr>
        <p:spPr>
          <a:xfrm>
            <a:off x="8814816" y="2788920"/>
            <a:ext cx="2505456" cy="59436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Our methods, findings, limits and how to rerun them.</a:t>
            </a:r>
            <a:endParaRPr lang="en-US" sz="1250" dirty="0"/>
          </a:p>
        </p:txBody>
      </p:sp>
      <p:sp>
        <p:nvSpPr>
          <p:cNvPr id="46" name="Shape 42"/>
          <p:cNvSpPr/>
          <p:nvPr/>
        </p:nvSpPr>
        <p:spPr>
          <a:xfrm>
            <a:off x="5257800" y="3840480"/>
            <a:ext cx="3008376" cy="1737360"/>
          </a:xfrm>
          <a:prstGeom prst="roundRect">
            <a:avLst>
              <a:gd name="adj" fmla="val 5263"/>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47" name="Shape 43"/>
          <p:cNvSpPr/>
          <p:nvPr/>
        </p:nvSpPr>
        <p:spPr>
          <a:xfrm>
            <a:off x="5532120" y="4096512"/>
            <a:ext cx="566928" cy="566928"/>
          </a:xfrm>
          <a:prstGeom prst="ellipse">
            <a:avLst/>
          </a:prstGeom>
          <a:solidFill>
            <a:srgbClr val="FDEDED"/>
          </a:solidFill>
          <a:ln w="12700">
            <a:solidFill>
              <a:srgbClr val="FDEDED"/>
            </a:solidFill>
            <a:prstDash val="solid"/>
          </a:ln>
        </p:spPr>
        <p:txBody>
          <a:bodyPr/>
          <a:lstStyle/>
          <a:p>
            <a:endParaRPr lang="LID4096"/>
          </a:p>
        </p:txBody>
      </p:sp>
      <p:pic>
        <p:nvPicPr>
          <p:cNvPr id="48" name="Image 2" descr="preencoded.png"/>
          <p:cNvPicPr>
            <a:picLocks noChangeAspect="1"/>
          </p:cNvPicPr>
          <p:nvPr/>
        </p:nvPicPr>
        <p:blipFill>
          <a:blip r:embed="rId5"/>
          <a:stretch>
            <a:fillRect/>
          </a:stretch>
        </p:blipFill>
        <p:spPr>
          <a:xfrm>
            <a:off x="5678424" y="4242816"/>
            <a:ext cx="274320" cy="274320"/>
          </a:xfrm>
          <a:prstGeom prst="rect">
            <a:avLst/>
          </a:prstGeom>
        </p:spPr>
      </p:pic>
      <p:sp>
        <p:nvSpPr>
          <p:cNvPr id="49" name="Text 44"/>
          <p:cNvSpPr txBox="1"/>
          <p:nvPr/>
        </p:nvSpPr>
        <p:spPr>
          <a:xfrm>
            <a:off x="6245352" y="4096512"/>
            <a:ext cx="1819656" cy="566928"/>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52 improved pages</a:t>
            </a:r>
            <a:endParaRPr lang="en-US" sz="1600" dirty="0"/>
          </a:p>
        </p:txBody>
      </p:sp>
      <p:sp>
        <p:nvSpPr>
          <p:cNvPr id="50" name="Text 45"/>
          <p:cNvSpPr txBox="1"/>
          <p:nvPr/>
        </p:nvSpPr>
        <p:spPr>
          <a:xfrm>
            <a:off x="5532120" y="4800600"/>
            <a:ext cx="2505456" cy="59436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Before-and-after examples your team can copy.</a:t>
            </a:r>
            <a:endParaRPr lang="en-US" sz="1250" dirty="0"/>
          </a:p>
        </p:txBody>
      </p:sp>
      <p:sp>
        <p:nvSpPr>
          <p:cNvPr id="51" name="Shape 46"/>
          <p:cNvSpPr/>
          <p:nvPr/>
        </p:nvSpPr>
        <p:spPr>
          <a:xfrm>
            <a:off x="8540496" y="3840480"/>
            <a:ext cx="3008376" cy="1737360"/>
          </a:xfrm>
          <a:prstGeom prst="roundRect">
            <a:avLst>
              <a:gd name="adj" fmla="val 5263"/>
            </a:avLst>
          </a:prstGeom>
          <a:solidFill>
            <a:srgbClr val="FFFFFF"/>
          </a:solidFill>
          <a:ln w="9525">
            <a:solidFill>
              <a:srgbClr val="DDE2E8"/>
            </a:solidFill>
            <a:prstDash val="solid"/>
          </a:ln>
          <a:effectLst>
            <a:outerShdw blurRad="127000" dist="38100" dir="5400000" algn="bl" rotWithShape="0">
              <a:srgbClr val="8E98A6">
                <a:alpha val="16000"/>
              </a:srgbClr>
            </a:outerShdw>
          </a:effectLst>
        </p:spPr>
        <p:txBody>
          <a:bodyPr/>
          <a:lstStyle/>
          <a:p>
            <a:endParaRPr lang="LID4096"/>
          </a:p>
        </p:txBody>
      </p:sp>
      <p:sp>
        <p:nvSpPr>
          <p:cNvPr id="52" name="Shape 47"/>
          <p:cNvSpPr/>
          <p:nvPr/>
        </p:nvSpPr>
        <p:spPr>
          <a:xfrm>
            <a:off x="8814816" y="4096512"/>
            <a:ext cx="566928" cy="566928"/>
          </a:xfrm>
          <a:prstGeom prst="ellipse">
            <a:avLst/>
          </a:prstGeom>
          <a:solidFill>
            <a:srgbClr val="FDEDED"/>
          </a:solidFill>
          <a:ln w="12700">
            <a:solidFill>
              <a:srgbClr val="FDEDED"/>
            </a:solidFill>
            <a:prstDash val="solid"/>
          </a:ln>
        </p:spPr>
        <p:txBody>
          <a:bodyPr/>
          <a:lstStyle/>
          <a:p>
            <a:endParaRPr lang="LID4096"/>
          </a:p>
        </p:txBody>
      </p:sp>
      <p:pic>
        <p:nvPicPr>
          <p:cNvPr id="53" name="Image 3" descr="preencoded.png"/>
          <p:cNvPicPr>
            <a:picLocks noChangeAspect="1"/>
          </p:cNvPicPr>
          <p:nvPr/>
        </p:nvPicPr>
        <p:blipFill>
          <a:blip r:embed="rId6"/>
          <a:stretch>
            <a:fillRect/>
          </a:stretch>
        </p:blipFill>
        <p:spPr>
          <a:xfrm>
            <a:off x="8961120" y="4242816"/>
            <a:ext cx="274320" cy="274320"/>
          </a:xfrm>
          <a:prstGeom prst="rect">
            <a:avLst/>
          </a:prstGeom>
        </p:spPr>
      </p:pic>
      <p:sp>
        <p:nvSpPr>
          <p:cNvPr id="54" name="Text 48"/>
          <p:cNvSpPr txBox="1"/>
          <p:nvPr/>
        </p:nvSpPr>
        <p:spPr>
          <a:xfrm>
            <a:off x="9528048" y="4096512"/>
            <a:ext cx="1819656" cy="566928"/>
          </a:xfrm>
          <a:prstGeom prst="rect">
            <a:avLst/>
          </a:prstGeom>
          <a:noFill/>
          <a:ln/>
        </p:spPr>
        <p:txBody>
          <a:bodyPr wrap="square" lIns="0" tIns="0" rIns="0" bIns="0" rtlCol="0" anchor="ctr"/>
          <a:lstStyle/>
          <a:p>
            <a:pPr marL="0" indent="0">
              <a:buNone/>
            </a:pPr>
            <a:r>
              <a:rPr lang="en-US" sz="1600" b="1" dirty="0">
                <a:solidFill>
                  <a:srgbClr val="1F2A44"/>
                </a:solidFill>
                <a:latin typeface="Arial" pitchFamily="34" charset="0"/>
                <a:ea typeface="Arial" pitchFamily="34" charset="-122"/>
                <a:cs typeface="Arial" pitchFamily="34" charset="-120"/>
              </a:rPr>
              <a:t>Results pack</a:t>
            </a:r>
            <a:endParaRPr lang="en-US" sz="1600" dirty="0"/>
          </a:p>
        </p:txBody>
      </p:sp>
      <p:sp>
        <p:nvSpPr>
          <p:cNvPr id="55" name="Text 49"/>
          <p:cNvSpPr txBox="1"/>
          <p:nvPr/>
        </p:nvSpPr>
        <p:spPr>
          <a:xfrm>
            <a:off x="8814816" y="4800600"/>
            <a:ext cx="2505456" cy="594360"/>
          </a:xfrm>
          <a:prstGeom prst="rect">
            <a:avLst/>
          </a:prstGeom>
          <a:noFill/>
          <a:ln/>
        </p:spPr>
        <p:txBody>
          <a:bodyPr wrap="square" lIns="0" tIns="0" rIns="0" bIns="0" rtlCol="0" anchor="t"/>
          <a:lstStyle/>
          <a:p>
            <a:pPr marL="0" indent="0">
              <a:buNone/>
            </a:pPr>
            <a:r>
              <a:rPr lang="en-US" sz="1250" dirty="0">
                <a:solidFill>
                  <a:srgbClr val="5F6B7A"/>
                </a:solidFill>
                <a:latin typeface="Arial" pitchFamily="34" charset="0"/>
                <a:ea typeface="Arial" pitchFamily="34" charset="-122"/>
                <a:cs typeface="Arial" pitchFamily="34" charset="-120"/>
              </a:rPr>
              <a:t>Every answer and count, checkable without an API key.</a:t>
            </a:r>
            <a:endParaRPr lang="en-US" sz="1250" dirty="0"/>
          </a:p>
        </p:txBody>
      </p:sp>
      <p:sp>
        <p:nvSpPr>
          <p:cNvPr id="56" name="Text 50"/>
          <p:cNvSpPr txBox="1"/>
          <p:nvPr/>
        </p:nvSpPr>
        <p:spPr>
          <a:xfrm>
            <a:off x="640080" y="5760720"/>
            <a:ext cx="10908792" cy="274320"/>
          </a:xfrm>
          <a:prstGeom prst="rect">
            <a:avLst/>
          </a:prstGeom>
          <a:noFill/>
          <a:ln/>
        </p:spPr>
        <p:txBody>
          <a:bodyPr wrap="square" lIns="0" tIns="0" rIns="0" bIns="0" rtlCol="0" anchor="ctr"/>
          <a:lstStyle/>
          <a:p>
            <a:pPr marL="0" indent="0" algn="ctr">
              <a:buNone/>
            </a:pPr>
            <a:r>
              <a:rPr lang="en-US" sz="1250" dirty="0">
                <a:solidFill>
                  <a:srgbClr val="5F6B7A"/>
                </a:solidFill>
                <a:latin typeface="Arial" pitchFamily="34" charset="0"/>
                <a:ea typeface="Arial" pitchFamily="34" charset="-122"/>
                <a:cs typeface="Arial" pitchFamily="34" charset="-120"/>
              </a:rPr>
              <a:t>Handed over through our GitHub repository and an evidence package.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4286</Words>
  <Application>Microsoft Office PowerPoint</Application>
  <PresentationFormat>Widescreen</PresentationFormat>
  <Paragraphs>311</Paragraphs>
  <Slides>20</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Mubbashar</dc:creator>
  <cp:lastModifiedBy>Muhammad Mubbashar</cp:lastModifiedBy>
  <cp:revision>5</cp:revision>
  <dcterms:created xsi:type="dcterms:W3CDTF">2026-10-20T15:16:59Z</dcterms:created>
  <dcterms:modified xsi:type="dcterms:W3CDTF">2026-10-24T21:22:27Z</dcterms:modified>
</cp:coreProperties>
</file>