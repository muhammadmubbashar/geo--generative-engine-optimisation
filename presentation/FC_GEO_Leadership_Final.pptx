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9" r:id="rId4"/>
    <p:sldId id="287" r:id="rId5"/>
    <p:sldId id="261" r:id="rId6"/>
    <p:sldId id="274" r:id="rId7"/>
    <p:sldId id="288" r:id="rId8"/>
    <p:sldId id="276" r:id="rId9"/>
    <p:sldId id="277" r:id="rId10"/>
    <p:sldId id="260" r:id="rId11"/>
    <p:sldId id="266" r:id="rId12"/>
    <p:sldId id="268" r:id="rId13"/>
    <p:sldId id="269" r:id="rId14"/>
    <p:sldId id="267" r:id="rId15"/>
    <p:sldId id="270" r:id="rId16"/>
    <p:sldId id="271" r:id="rId17"/>
    <p:sldId id="275" r:id="rId18"/>
    <p:sldId id="289" r:id="rId19"/>
    <p:sldId id="278" r:id="rId20"/>
    <p:sldId id="279" r:id="rId21"/>
    <p:sldId id="280" r:id="rId22"/>
    <p:sldId id="281" r:id="rId23"/>
    <p:sldId id="258" r:id="rId24"/>
    <p:sldId id="262" r:id="rId25"/>
    <p:sldId id="263" r:id="rId26"/>
    <p:sldId id="264" r:id="rId27"/>
    <p:sldId id="265" r:id="rId28"/>
    <p:sldId id="272" r:id="rId29"/>
    <p:sldId id="273" r:id="rId30"/>
    <p:sldId id="282" r:id="rId31"/>
    <p:sldId id="283" r:id="rId32"/>
    <p:sldId id="284" r:id="rId33"/>
    <p:sldId id="285" r:id="rId34"/>
    <p:sldId id="286"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100" b="1" i="0">
                <a:solidFill>
                  <a:srgbClr val="0B2240"/>
                </a:solidFill>
                <a:latin typeface="Calibri"/>
              </a:rPr>
              <a:t>Change vs original pages (114 of 290 citing in the method round), percentage points</a:t>
            </a:r>
          </a:p>
        </c:rich>
      </c:tx>
      <c:overlay val="0"/>
    </c:title>
    <c:autoTitleDeleted val="0"/>
    <c:plotArea>
      <c:layout/>
      <c:barChart>
        <c:barDir val="bar"/>
        <c:grouping val="clustered"/>
        <c:varyColors val="1"/>
        <c:ser>
          <c:idx val="0"/>
          <c:order val="0"/>
          <c:tx>
            <c:strRef>
              <c:f>Sheet1!$B$1</c:f>
              <c:strCache>
                <c:ptCount val="1"/>
                <c:pt idx="0">
                  <c:v>Change in answers citing FC (percentage points)</c:v>
                </c:pt>
              </c:strCache>
            </c:strRef>
          </c:tx>
          <c:invertIfNegative val="0"/>
          <c:dPt>
            <c:idx val="0"/>
            <c:invertIfNegative val="0"/>
            <c:bubble3D val="0"/>
            <c:spPr>
              <a:solidFill>
                <a:srgbClr val="C8102E"/>
              </a:solidFill>
            </c:spPr>
            <c:extLst>
              <c:ext xmlns:c16="http://schemas.microsoft.com/office/drawing/2014/chart" uri="{C3380CC4-5D6E-409C-BE32-E72D297353CC}">
                <c16:uniqueId val="{00000001-EDCC-4224-BEEB-E529985EA06C}"/>
              </c:ext>
            </c:extLst>
          </c:dPt>
          <c:dPt>
            <c:idx val="1"/>
            <c:invertIfNegative val="0"/>
            <c:bubble3D val="0"/>
            <c:spPr>
              <a:solidFill>
                <a:srgbClr val="9FB3CC"/>
              </a:solidFill>
            </c:spPr>
            <c:extLst>
              <c:ext xmlns:c16="http://schemas.microsoft.com/office/drawing/2014/chart" uri="{C3380CC4-5D6E-409C-BE32-E72D297353CC}">
                <c16:uniqueId val="{00000003-EDCC-4224-BEEB-E529985EA06C}"/>
              </c:ext>
            </c:extLst>
          </c:dPt>
          <c:dPt>
            <c:idx val="2"/>
            <c:invertIfNegative val="0"/>
            <c:bubble3D val="0"/>
            <c:spPr>
              <a:solidFill>
                <a:srgbClr val="9FB3CC"/>
              </a:solidFill>
            </c:spPr>
            <c:extLst>
              <c:ext xmlns:c16="http://schemas.microsoft.com/office/drawing/2014/chart" uri="{C3380CC4-5D6E-409C-BE32-E72D297353CC}">
                <c16:uniqueId val="{00000005-EDCC-4224-BEEB-E529985EA06C}"/>
              </c:ext>
            </c:extLst>
          </c:dPt>
          <c:dPt>
            <c:idx val="3"/>
            <c:invertIfNegative val="0"/>
            <c:bubble3D val="0"/>
            <c:spPr>
              <a:solidFill>
                <a:srgbClr val="0B2240"/>
              </a:solidFill>
            </c:spPr>
            <c:extLst>
              <c:ext xmlns:c16="http://schemas.microsoft.com/office/drawing/2014/chart" uri="{C3380CC4-5D6E-409C-BE32-E72D297353CC}">
                <c16:uniqueId val="{00000007-EDCC-4224-BEEB-E529985EA06C}"/>
              </c:ext>
            </c:extLst>
          </c:dPt>
          <c:dPt>
            <c:idx val="4"/>
            <c:invertIfNegative val="0"/>
            <c:bubble3D val="0"/>
            <c:spPr>
              <a:solidFill>
                <a:srgbClr val="0B2240"/>
              </a:solidFill>
            </c:spPr>
            <c:extLst>
              <c:ext xmlns:c16="http://schemas.microsoft.com/office/drawing/2014/chart" uri="{C3380CC4-5D6E-409C-BE32-E72D297353CC}">
                <c16:uniqueId val="{00000009-EDCC-4224-BEEB-E529985EA06C}"/>
              </c:ext>
            </c:extLst>
          </c:dPt>
          <c:dPt>
            <c:idx val="5"/>
            <c:invertIfNegative val="0"/>
            <c:bubble3D val="0"/>
            <c:spPr>
              <a:solidFill>
                <a:srgbClr val="0B2240"/>
              </a:solidFill>
            </c:spPr>
            <c:extLst>
              <c:ext xmlns:c16="http://schemas.microsoft.com/office/drawing/2014/chart" uri="{C3380CC4-5D6E-409C-BE32-E72D297353CC}">
                <c16:uniqueId val="{0000000B-EDCC-4224-BEEB-E529985EA06C}"/>
              </c:ext>
            </c:extLst>
          </c:dPt>
          <c:dPt>
            <c:idx val="6"/>
            <c:invertIfNegative val="0"/>
            <c:bubble3D val="0"/>
            <c:spPr>
              <a:solidFill>
                <a:srgbClr val="5B6573"/>
              </a:solidFill>
            </c:spPr>
            <c:extLst>
              <c:ext xmlns:c16="http://schemas.microsoft.com/office/drawing/2014/chart" uri="{C3380CC4-5D6E-409C-BE32-E72D297353CC}">
                <c16:uniqueId val="{0000000D-EDCC-4224-BEEB-E529985EA06C}"/>
              </c:ext>
            </c:extLst>
          </c:dPt>
          <c:dLbls>
            <c:numFmt formatCode="\+0.0;\-0.0" sourceLinked="0"/>
            <c:spPr>
              <a:noFill/>
              <a:ln>
                <a:noFill/>
              </a:ln>
              <a:effectLst/>
            </c:spPr>
            <c:txPr>
              <a:bodyPr/>
              <a:lstStyle/>
              <a:p>
                <a:pPr>
                  <a:defRPr sz="1100" b="1">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Automatic AI rewriting</c:v>
                </c:pt>
                <c:pt idx="1">
                  <c:v>External facts + attribution</c:v>
                </c:pt>
                <c:pt idx="2">
                  <c:v>Schema + visible structure</c:v>
                </c:pt>
                <c:pt idx="3">
                  <c:v>Rendered content + cleanup</c:v>
                </c:pt>
                <c:pt idx="4">
                  <c:v>Grounded FAQ</c:v>
                </c:pt>
                <c:pt idx="5">
                  <c:v>Structured facts</c:v>
                </c:pt>
                <c:pt idx="6">
                  <c:v>Source position (benchmark only)</c:v>
                </c:pt>
              </c:strCache>
            </c:strRef>
          </c:cat>
          <c:val>
            <c:numRef>
              <c:f>Sheet1!$B$2:$B$8</c:f>
              <c:numCache>
                <c:formatCode>General</c:formatCode>
                <c:ptCount val="7"/>
                <c:pt idx="0">
                  <c:v>-5.5</c:v>
                </c:pt>
                <c:pt idx="1">
                  <c:v>3.4</c:v>
                </c:pt>
                <c:pt idx="2">
                  <c:v>6.2</c:v>
                </c:pt>
                <c:pt idx="3">
                  <c:v>6.6</c:v>
                </c:pt>
                <c:pt idx="4">
                  <c:v>6.9</c:v>
                </c:pt>
                <c:pt idx="5">
                  <c:v>7.6</c:v>
                </c:pt>
                <c:pt idx="6">
                  <c:v>18.3</c:v>
                </c:pt>
              </c:numCache>
            </c:numRef>
          </c:val>
          <c:extLst>
            <c:ext xmlns:c16="http://schemas.microsoft.com/office/drawing/2014/chart" uri="{C3380CC4-5D6E-409C-BE32-E72D297353CC}">
              <c16:uniqueId val="{0000000E-EDCC-4224-BEEB-E529985EA06C}"/>
            </c:ext>
          </c:extLst>
        </c:ser>
        <c:dLbls>
          <c:dLblPos val="outEnd"/>
          <c:showLegendKey val="0"/>
          <c:showVal val="1"/>
          <c:showCatName val="0"/>
          <c:showSerName val="0"/>
          <c:showPercent val="0"/>
          <c:showBubbleSize val="0"/>
        </c:dLbls>
        <c:gapWidth val="60"/>
        <c:axId val="1000"/>
        <c:axId val="1001"/>
      </c:barChart>
      <c:catAx>
        <c:axId val="1000"/>
        <c:scaling>
          <c:orientation val="minMax"/>
        </c:scaling>
        <c:delete val="0"/>
        <c:axPos val="l"/>
        <c:numFmt formatCode="General" sourceLinked="0"/>
        <c:majorTickMark val="out"/>
        <c:minorTickMark val="none"/>
        <c:tickLblPos val="low"/>
        <c:spPr>
          <a:ln>
            <a:solidFill>
              <a:srgbClr val="D9DEE5"/>
            </a:solidFill>
          </a:ln>
        </c:spPr>
        <c:txPr>
          <a:bodyPr/>
          <a:lstStyle/>
          <a:p>
            <a:pPr>
              <a:defRPr sz="1100">
                <a:latin typeface="Calibri"/>
              </a:defRPr>
            </a:pPr>
            <a:endParaRPr lang="en-US"/>
          </a:p>
        </c:txPr>
        <c:crossAx val="1001"/>
        <c:crosses val="autoZero"/>
        <c:auto val="1"/>
        <c:lblAlgn val="ctr"/>
        <c:lblOffset val="100"/>
        <c:noMultiLvlLbl val="0"/>
      </c:catAx>
      <c:valAx>
        <c:axId val="1001"/>
        <c:scaling>
          <c:orientation val="minMax"/>
          <c:max val="25"/>
          <c:min val="-10"/>
        </c:scaling>
        <c:delete val="0"/>
        <c:axPos val="b"/>
        <c:majorGridlines>
          <c:spPr>
            <a:ln>
              <a:solidFill>
                <a:srgbClr val="D9DEE5"/>
              </a:solidFill>
            </a:ln>
          </c:spPr>
        </c:majorGridlines>
        <c:numFmt formatCode="0" sourceLinked="0"/>
        <c:majorTickMark val="out"/>
        <c:minorTickMark val="none"/>
        <c:tickLblPos val="nextTo"/>
        <c:spPr>
          <a:ln>
            <a:solidFill>
              <a:srgbClr val="D9DEE5"/>
            </a:solidFill>
          </a:ln>
        </c:spPr>
        <c:txPr>
          <a:bodyPr/>
          <a:lstStyle/>
          <a:p>
            <a:pPr>
              <a:defRPr sz="1000">
                <a:latin typeface="Calibri"/>
              </a:defRPr>
            </a:pPr>
            <a:endParaRPr lang="en-US"/>
          </a:p>
        </c:txPr>
        <c:crossAx val="1000"/>
        <c:crosses val="autoZero"/>
        <c:crossBetween val="between"/>
        <c:majorUnit val="5"/>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100" b="1" i="0">
                <a:solidFill>
                  <a:srgbClr val="0B2240"/>
                </a:solidFill>
                <a:latin typeface="Calibri"/>
              </a:rPr>
              <a:t>Share of 290 answers citing Flight Centre (%)</a:t>
            </a:r>
          </a:p>
        </c:rich>
      </c:tx>
      <c:overlay val="0"/>
    </c:title>
    <c:autoTitleDeleted val="0"/>
    <c:plotArea>
      <c:layout/>
      <c:barChart>
        <c:barDir val="col"/>
        <c:grouping val="clustered"/>
        <c:varyColors val="1"/>
        <c:ser>
          <c:idx val="0"/>
          <c:order val="0"/>
          <c:tx>
            <c:strRef>
              <c:f>Sheet1!$B$1</c:f>
              <c:strCache>
                <c:ptCount val="1"/>
                <c:pt idx="0">
                  <c:v>Share of 290 answers citing Flight Centre</c:v>
                </c:pt>
              </c:strCache>
            </c:strRef>
          </c:tx>
          <c:invertIfNegative val="1"/>
          <c:dPt>
            <c:idx val="0"/>
            <c:invertIfNegative val="1"/>
            <c:bubble3D val="0"/>
            <c:spPr>
              <a:solidFill>
                <a:srgbClr val="5B6573"/>
              </a:solidFill>
            </c:spPr>
            <c:extLst>
              <c:ext xmlns:c16="http://schemas.microsoft.com/office/drawing/2014/chart" uri="{C3380CC4-5D6E-409C-BE32-E72D297353CC}">
                <c16:uniqueId val="{00000001-8509-40D3-B8A8-DFE76FB6DA3D}"/>
              </c:ext>
            </c:extLst>
          </c:dPt>
          <c:dPt>
            <c:idx val="1"/>
            <c:invertIfNegative val="1"/>
            <c:bubble3D val="0"/>
            <c:spPr>
              <a:solidFill>
                <a:srgbClr val="1E7A46"/>
              </a:solidFill>
            </c:spPr>
            <c:extLst>
              <c:ext xmlns:c16="http://schemas.microsoft.com/office/drawing/2014/chart" uri="{C3380CC4-5D6E-409C-BE32-E72D297353CC}">
                <c16:uniqueId val="{00000003-8509-40D3-B8A8-DFE76FB6DA3D}"/>
              </c:ext>
            </c:extLst>
          </c:dPt>
          <c:dLbls>
            <c:numFmt formatCode="0.0&quot;%&quot;" sourceLinked="0"/>
            <c:spPr>
              <a:noFill/>
              <a:ln>
                <a:noFill/>
              </a:ln>
              <a:effectLst/>
            </c:spPr>
            <c:txPr>
              <a:bodyPr/>
              <a:lstStyle/>
              <a:p>
                <a:pPr>
                  <a:defRPr sz="1600" b="1">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Baseline FC pages</c:v>
                </c:pt>
                <c:pt idx="1">
                  <c:v>Optimised FC pages</c:v>
                </c:pt>
              </c:strCache>
            </c:strRef>
          </c:cat>
          <c:val>
            <c:numRef>
              <c:f>Sheet1!$B$2:$B$3</c:f>
              <c:numCache>
                <c:formatCode>General</c:formatCode>
                <c:ptCount val="2"/>
                <c:pt idx="0">
                  <c:v>40</c:v>
                </c:pt>
                <c:pt idx="1">
                  <c:v>52.4</c:v>
                </c:pt>
              </c:numCache>
            </c:numRef>
          </c:val>
          <c:extLst>
            <c:ext xmlns:c16="http://schemas.microsoft.com/office/drawing/2014/chart" uri="{C3380CC4-5D6E-409C-BE32-E72D297353CC}">
              <c16:uniqueId val="{00000004-8509-40D3-B8A8-DFE76FB6DA3D}"/>
            </c:ext>
          </c:extLst>
        </c:ser>
        <c:dLbls>
          <c:dLblPos val="outEnd"/>
          <c:showLegendKey val="0"/>
          <c:showVal val="1"/>
          <c:showCatName val="0"/>
          <c:showSerName val="0"/>
          <c:showPercent val="0"/>
          <c:showBubbleSize val="0"/>
        </c:dLbls>
        <c:gapWidth val="90"/>
        <c:axId val="1000"/>
        <c:axId val="1001"/>
      </c:barChart>
      <c:catAx>
        <c:axId val="1000"/>
        <c:scaling>
          <c:orientation val="minMax"/>
        </c:scaling>
        <c:delete val="0"/>
        <c:axPos val="b"/>
        <c:numFmt formatCode="General" sourceLinked="0"/>
        <c:majorTickMark val="out"/>
        <c:minorTickMark val="none"/>
        <c:tickLblPos val="nextTo"/>
        <c:spPr>
          <a:ln>
            <a:solidFill>
              <a:srgbClr val="D9DEE5"/>
            </a:solidFill>
          </a:ln>
        </c:spPr>
        <c:txPr>
          <a:bodyPr/>
          <a:lstStyle/>
          <a:p>
            <a:pPr>
              <a:defRPr sz="1200">
                <a:latin typeface="Calibri"/>
              </a:defRPr>
            </a:pPr>
            <a:endParaRPr lang="en-US"/>
          </a:p>
        </c:txPr>
        <c:crossAx val="1001"/>
        <c:crosses val="autoZero"/>
        <c:auto val="1"/>
        <c:lblAlgn val="ctr"/>
        <c:lblOffset val="100"/>
        <c:noMultiLvlLbl val="0"/>
      </c:catAx>
      <c:valAx>
        <c:axId val="1001"/>
        <c:scaling>
          <c:orientation val="minMax"/>
          <c:max val="70"/>
          <c:min val="0"/>
        </c:scaling>
        <c:delete val="0"/>
        <c:axPos val="l"/>
        <c:majorGridlines>
          <c:spPr>
            <a:ln>
              <a:solidFill>
                <a:srgbClr val="D9DEE5"/>
              </a:solidFill>
            </a:ln>
          </c:spPr>
        </c:majorGridlines>
        <c:numFmt formatCode="General" sourceLinked="1"/>
        <c:majorTickMark val="out"/>
        <c:minorTickMark val="none"/>
        <c:tickLblPos val="nextTo"/>
        <c:spPr>
          <a:ln>
            <a:solidFill>
              <a:srgbClr val="D9DEE5"/>
            </a:solidFill>
          </a:ln>
        </c:spPr>
        <c:txPr>
          <a:bodyPr/>
          <a:lstStyle/>
          <a:p>
            <a:pPr>
              <a:defRPr sz="1000">
                <a:latin typeface="Calibri"/>
              </a:defRPr>
            </a:pPr>
            <a:endParaRPr lang="en-US"/>
          </a:p>
        </c:txPr>
        <c:crossAx val="1000"/>
        <c:crosses val="autoZero"/>
        <c:crossBetween val="between"/>
        <c:majorUnit val="10"/>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21010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00:00-00:25 (25 seconds).</a:t>
            </a:r>
          </a:p>
          <a:p>
            <a:r>
              <a:rPr lang="en-US"/>
              <a:t>Transition: Why does this matter commercially?</a:t>
            </a:r>
          </a:p>
          <a:p>
            <a:endParaRPr lang="en-US"/>
          </a:p>
          <a:p>
            <a:r>
              <a:rPr lang="en-US"/>
              <a:t>[0:00–0:30] Open with one sentence: 'Customers are starting to ask an assistant instead of a search box, and today the assistant rarely names Flight Centre unless the customer does. We measured why, we fixed one part of it in a controlled test, and we have a programme to do the rest.'</a:t>
            </a:r>
          </a:p>
          <a:p>
            <a:r>
              <a:rPr lang="en-US"/>
              <a:t>Then go straight to slide 2.</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00:25-01:00 (35 seconds).</a:t>
            </a:r>
          </a:p>
          <a:p>
            <a:r>
              <a:rPr lang="en-US"/>
              <a:t>Transition: First, the change in customer behaviour.</a:t>
            </a:r>
          </a:p>
          <a:p>
            <a:endParaRPr lang="en-US"/>
          </a:p>
          <a:p>
            <a:r>
              <a:rPr lang="en-US"/>
              <a:t>Two priorities: improve discovery coverage and improve the content an engine can read. The selected saved-source comparison increased citation inclusion from 116 to 152 of 290 answers. This is exploratory evidence, not a live business forecast. Implementation owners are proposals.</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01:00-02:05 (65 seconds).</a:t>
            </a:r>
          </a:p>
          <a:p>
            <a:r>
              <a:rPr lang="en-US"/>
              <a:t>Transition: Here is how that customer question turns into an answer.</a:t>
            </a:r>
          </a:p>
          <a:p>
            <a:endParaRPr lang="en-US"/>
          </a:p>
          <a:p>
            <a:r>
              <a:rPr lang="en-US"/>
              <a:t>The Phocuswright 56% figure refers to reported use on at least one trip in the preceding 12 months, not solely during H1 2026. Adoption and referral studies use different populations and denominators. Pew measures observed click differences, not our causal effect. Sources: https://www.phocuswright.com/Travel-Research/Research-Updates/2026/The-fastest-shift-in-travel-behavior-just-became-the-default ; https://business.adobe.com/resources/sdk/ai-traffic-trends-report-august-2026.html</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Presentation timing: 02:05-03:35 (90 seconds).</a:t>
            </a:r>
          </a:p>
          <a:p>
            <a:r>
              <a:rPr lang="en-US"/>
              <a:t>Transition: Now map FC evidence to this journey.</a:t>
            </a:r>
          </a:p>
          <a:p>
            <a:endParaRPr lang="en-US"/>
          </a:p>
          <a:p>
            <a:r>
              <a:rPr lang="en-US"/>
              <a:t>Sources checked 25 October 2026: https://developers.google.com/search/docs/appearance/ai-features ; https://developers.openai.com/api/docs/bots ; https://developers.openai.com/plugins . Google documents query fan-out; behaviour varies across engines. An assistant may answer without browsing. The arrows simplify the web-grounded case. Apps are an alternative information/action route, not proof that a website is bypassed every time.</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87252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03:35-04:45 (70 seconds).</a:t>
            </a:r>
          </a:p>
          <a:p>
            <a:r>
              <a:rPr lang="en-US"/>
              <a:t>Transition: Start with access and readable information.</a:t>
            </a:r>
          </a:p>
          <a:p>
            <a:endParaRPr lang="en-US"/>
          </a:p>
          <a:p>
            <a:r>
              <a:rPr lang="en-US"/>
              <a:t>These are dated samples, not proof of universal brand absence. The May score is a word-share measure, not our answer-level citation metric. Best rank across query wordings is not an organic production ranking. Robots permissions do not establish successful crawler access.</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04:45-06:15 (90 seconds).</a:t>
            </a:r>
          </a:p>
          <a:p>
            <a:r>
              <a:rPr lang="en-US"/>
              <a:t>Transition: Next, the page must be discoverable for the right question.</a:t>
            </a:r>
          </a:p>
          <a:p>
            <a:endParaRPr lang="en-US"/>
          </a:p>
          <a:p>
            <a:r>
              <a:rPr lang="en-US"/>
              <a:t>The evidence shows a JavaScript-dependent difference in sampled browser captures. A curl request with an OAI-SearchBot label is not a verified bot request. Check actual extracted facts and authenticated requests in logs. Historical crawler studies do not establish every current capability.</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Presentation timing: 06:15-07:20 (65 seconds).</a:t>
            </a:r>
          </a:p>
          <a:p>
            <a:r>
              <a:rPr lang="en-US"/>
              <a:t>Transition: Destination coverage is one concrete example.</a:t>
            </a:r>
          </a:p>
          <a:p>
            <a:endParaRPr lang="en-US"/>
          </a:p>
          <a:p>
            <a:r>
              <a:rPr lang="en-US"/>
              <a:t>Saved search evidence: Q23–Q30, August 2026 Brave AU snapshot, best FC rank across query wordings. No FC URL in saved top 10 for these eight. Sources: https://developers.google.com/search/docs/appearance/ai-features ; https://developers.google.com/search/docs/crawling-indexing/javascript/javascript-seo-basics ; https://developers.google.com/search/docs/appearance/page-experience ; https://blogs.bing.com/webmaster/2026/2/Introducing-AI-Performance-in-Bing-Webmaster-Tools-Public-Preview/ . Treat speed, mobile experience, canonicalisation and index submission as standard technical work, not measured GEO effects. Do not promise an indexing time or top rank. Check field data before claiming FC is slow today.</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2021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07:20-08:25 (65 seconds).</a:t>
            </a:r>
          </a:p>
          <a:p>
            <a:r>
              <a:rPr lang="en-US"/>
              <a:t>Transition: Trust also depends on reliable offers and credible expertise.</a:t>
            </a:r>
          </a:p>
          <a:p>
            <a:endParaRPr lang="en-US"/>
          </a:p>
          <a:p>
            <a:r>
              <a:rPr lang="en-US"/>
              <a:t>The competitive audit is dated May 2026. The sample destination record is illustrative; verify official travel requirements before publishing and record the actual review date. It is a content governance design, not a ready-to-publish travel advice record.</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08:25-09:40 (75 seconds).</a:t>
            </a:r>
          </a:p>
          <a:p>
            <a:r>
              <a:rPr lang="en-US"/>
              <a:t>Transition: Apps provide another route alongside the website.</a:t>
            </a:r>
          </a:p>
          <a:p>
            <a:endParaRPr lang="en-US"/>
          </a:p>
          <a:p>
            <a:r>
              <a:rPr lang="en-US"/>
              <a:t>Different fares on different dates do not establish an error. Compare equivalent dates, cabin, fees and availability. Review counts are from the dated audit. Improve customer contact routes without claiming every existing route is unreadable.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09:40-10:50 (70 seconds).</a:t>
            </a:r>
          </a:p>
          <a:p>
            <a:r>
              <a:rPr lang="en-US"/>
              <a:t>Transition: We then tested the content step in a controlled setting.</a:t>
            </a:r>
          </a:p>
          <a:p>
            <a:endParaRPr lang="en-US"/>
          </a:p>
          <a:p>
            <a:r>
              <a:rPr lang="en-US"/>
              <a:t>Explain direct apps as an additional distribution route. Public crawling is not a prerequisite for a direct API integration. FC has online booking as well as human advice; we have not established that all current customer paths are inaccessible to assistants. Availability varies by market.</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10:50-12:25 (95 seconds).</a:t>
            </a:r>
          </a:p>
          <a:p>
            <a:r>
              <a:rPr lang="en-US"/>
              <a:t>Transition: Here is what we changed on the saved FC page.</a:t>
            </a:r>
          </a:p>
          <a:p>
            <a:endParaRPr lang="en-US"/>
          </a:p>
          <a:p>
            <a:r>
              <a:rPr lang="en-US"/>
              <a:t>The pipeline controlled saved source content and order. The model chose answer wording and citations. Repeated outputs are grouped within 29 questions; 290 answers are not 290 independent questions. Power depends on assumptions, so no universal 60-question prescription is made.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12:25-13:40 (75 seconds).</a:t>
            </a:r>
          </a:p>
          <a:p>
            <a:r>
              <a:rPr lang="en-US"/>
              <a:t>Transition: Now see what changed in an actual saved answer.</a:t>
            </a:r>
          </a:p>
          <a:p>
            <a:endParaRPr lang="en-US"/>
          </a:p>
          <a:p>
            <a:r>
              <a:rPr lang="en-US"/>
              <a:t>Explain the actual saved before/after page. Different capture dates and fares remain a limitation. The 27-of-52 count refers to the joint block, not all transformations. The selected pipeline uses saved FC text; external-facts experiments are separate.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13:40-15:10 (90 seconds).</a:t>
            </a:r>
          </a:p>
          <a:p>
            <a:r>
              <a:rPr lang="en-US"/>
              <a:t>Transition: One example is not the whole result; we also tested methods individually.</a:t>
            </a:r>
          </a:p>
          <a:p>
            <a:endParaRPr lang="en-US"/>
          </a:p>
          <a:p>
            <a:r>
              <a:rPr lang="en-US"/>
              <a:t>Read the saved fare sentence and explain that [7] identifies FC in this source list. A reference marker alone does not verify sentence-level factual support. This is citation inclusion, not proof of a booking recommendation.</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15:10-16:30 (80 seconds).</a:t>
            </a:r>
          </a:p>
          <a:p>
            <a:r>
              <a:rPr lang="en-US"/>
              <a:t>Transition: The selected combined comparison is the main result.</a:t>
            </a:r>
          </a:p>
          <a:p>
            <a:endParaRPr lang="en-US"/>
          </a:p>
          <a:p>
            <a:r>
              <a:rPr lang="en-US"/>
              <a:t>Point estimates are not all conclusive effects. Rendered content and external facts have intervals crossing zero. Position is a diagnostic intervention, not a page change FC can force on an external engine. The final implementation is not the sum of the individual estimates.</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16:30-18:00 (90 seconds).</a:t>
            </a:r>
          </a:p>
          <a:p>
            <a:r>
              <a:rPr lang="en-US"/>
              <a:t>Transition: The unsuccessful and uncertain methods matter too.</a:t>
            </a:r>
          </a:p>
          <a:p>
            <a:endParaRPr lang="en-US"/>
          </a:p>
          <a:p>
            <a:r>
              <a:rPr lang="en-US"/>
              <a:t>State 116/290 versus 152/290, +12.4 percentage points, or about +31% relative. The interval is exploratory. A reused baseline, capture differences and iterative selection constrain causality. The first same-page run was 143/290 (49.3%). The selected repeat is 152/290 (52.4%).</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18:00-18:50 (50 seconds).</a:t>
            </a:r>
          </a:p>
          <a:p>
            <a:r>
              <a:rPr lang="en-US"/>
              <a:t>Transition: These findings inform a practical page template.</a:t>
            </a:r>
          </a:p>
          <a:p>
            <a:endParaRPr lang="en-US"/>
          </a:p>
          <a:p>
            <a:r>
              <a:rPr lang="en-US"/>
              <a:t>The automatic rewrite tested here declined. Do not generalise that finding to every AI writing system. The external-facts overall estimate was positive but uncertain, with no net gain in its affected subset. We did not experimentally measure earned third-party coverage.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18:50-20:15 (85 seconds).</a:t>
            </a:r>
          </a:p>
          <a:p>
            <a:r>
              <a:rPr lang="en-US"/>
              <a:t>Transition: Business measures must distinguish visibility from customer outcomes.</a:t>
            </a:r>
          </a:p>
          <a:p>
            <a:endParaRPr lang="en-US"/>
          </a:p>
          <a:p>
            <a:r>
              <a:rPr lang="en-US"/>
              <a:t>This is a proposed production template. Placeholders must be populated with current approved data. Historical experiment fares are not newly validated offers. LON is a city code, not a specific arrival airport; use Flight schema only for a real itinerary. The displayed individual-arm gains cannot be assigned to one combined block.</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Presentation timing: 20:15-21:20 (65 seconds).</a:t>
            </a:r>
          </a:p>
          <a:p>
            <a:r>
              <a:rPr lang="en-US"/>
              <a:t>Transition: Here is how FC can implement this through normal operations.</a:t>
            </a:r>
          </a:p>
          <a:p>
            <a:endParaRPr lang="en-US"/>
          </a:p>
          <a:p>
            <a:r>
              <a:rPr lang="en-US"/>
              <a:t>Source https://blogs.bing.com/webmaster/2026/2/Introducing-AI-Performance-in-Bing-Webmaster-Tools-Public-Preview/ describes citation counts and cited URLs, not recommendation or conversion. Google AI feature traffic is included within overall Search Console reporting; do not promise an independent Google citation-rate dashboard. Our metric = answers with at least one valid FC citation / answers generated. Platform/vendor metrics require their own denominator. A live monitoring trend is not a causal experiment.</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50024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21:20-22:40 (80 seconds).</a:t>
            </a:r>
          </a:p>
          <a:p>
            <a:r>
              <a:rPr lang="en-US"/>
              <a:t>Transition: These changes create opportunities, with clear limits.</a:t>
            </a:r>
          </a:p>
          <a:p>
            <a:endParaRPr lang="en-US"/>
          </a:p>
          <a:p>
            <a:r>
              <a:rPr lang="en-US"/>
              <a:t>This replaces the previously proposed experimental pilot. The completed sandbox is our evidence. FC can prioritise templates, publish approved facts and monitor business outcomes through its normal processes. No frozen control group, repeated sandbox generation or experimental gate is required by this recommendation.</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22:40-23:35 (55 seconds).</a:t>
            </a:r>
          </a:p>
          <a:p>
            <a:r>
              <a:rPr lang="en-US"/>
              <a:t>Transition: Here are the decisions we propose.</a:t>
            </a:r>
          </a:p>
          <a:p>
            <a:endParaRPr lang="en-US"/>
          </a:p>
          <a:p>
            <a:r>
              <a:rPr lang="en-US"/>
              <a:t>The 36 extra citing answers are an observation in our selected comparison. Do not extrapolate them into future traffic, citations or revenue. Implementation is a supported opportunity; actual business performance remains to be measured.</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23:35-24:30 (55 seconds).</a:t>
            </a:r>
          </a:p>
          <a:p>
            <a:r>
              <a:rPr lang="en-US"/>
              <a:t>Transition: The closing message.</a:t>
            </a:r>
          </a:p>
          <a:p>
            <a:endParaRPr lang="en-US"/>
          </a:p>
          <a:p>
            <a:r>
              <a:rPr lang="en-US"/>
              <a:t>Ask for owners, content implementation, offer integrity and business reporting. Do not make other investment decisions conditional on reproducing our sandbox. The full research handover is separate from this presentation-only submission ZIP.</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Presentation timing: 24:30-24:55 (25 seconds).</a:t>
            </a:r>
          </a:p>
          <a:p>
            <a:r>
              <a:rPr lang="en-US"/>
              <a:t>Transition: Questions and discussion.</a:t>
            </a:r>
          </a:p>
          <a:p>
            <a:endParaRPr lang="en-US"/>
          </a:p>
          <a:p>
            <a:r>
              <a:rPr lang="en-US"/>
              <a:t>Close with the measured citation result and practical work. Readability improves the opportunity to be cited; it does not guarantee selection or establish a booking outcome.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Separate being retrieved from being cited. This selected question illustrates the saved-source comparison. The external 252,000-trial study measures first citation in a two-document test, not any FC citation across our source set. https://arxiv.org/abs/2605.25517</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individual estimates were positive; two intervals include zero. The rewrite conclusion applies to the tested implementation. JSON-LD and visible structure were changed together. Third-party authority and external facts on our own page are different interventions.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Platform guidance is specific to its own engine. No special AI file or schema guarantees visibility. AI-assisted writing is not automatically spam; manipulative and low-value content are the issue. Check current product controls before implementation. https://developers.google.com/search/docs/fundamentals/ai-optimization-guide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workstreams, not universal mandatory stages. Access checks preserve path-specific restrictions. Appropriate structured data must match visible facts; special AI schema and llms.txt are not requirements. Customer and platform outcomes are monitored separately.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saved experimental statistics. Individual and selected-combined baselines differ (114 versus 116). Matching checks establish record integrity, not truth, citation entailment or causal identification.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Engineering Q&amp;A.</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Sources Q&amp;A.</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Vendor Q&amp;A.</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Glossary.</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Coverage source map: Google AI features https://developers.google.com/search/docs/appearance/ai-features ; JavaScript SEO https://developers.google.com/search/docs/crawling-indexing/javascript/javascript-seo-basics ; page experience https://developers.google.com/search/docs/appearance/page-experience ; OpenAI bots https://developers.openai.com/api/docs/bots ; app/plugin documentation https://developers.openai.com/plugins ; Bing AI Performance https://blogs.bing.com/webmaster/2026/2/Introducing-AI-Performance-in-Bing-Webmaster-Tools-Public-Preview/ ; GEO paper https://arxiv.org/abs/2311.09735 ; C-SEO https://arxiv.org/abs/2506.11097 . Additional channels are recommendations, not measured effects. Wikipedia edits must follow conflict-of-interest and sourcing rules; do not manufacture third-party endorsements. No evidence establishes every listed intervention is necessary for every engine.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550544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640080"/>
            <a:ext cx="5486400" cy="365760"/>
          </a:xfrm>
          <a:prstGeom prst="rect">
            <a:avLst/>
          </a:prstGeom>
          <a:noFill/>
        </p:spPr>
        <p:txBody>
          <a:bodyPr wrap="square" lIns="45720" rIns="45720" anchor="t">
            <a:spAutoFit/>
          </a:bodyPr>
          <a:lstStyle/>
          <a:p>
            <a:pPr algn="l">
              <a:lnSpc>
                <a:spcPct val="108000"/>
              </a:lnSpc>
              <a:spcAft>
                <a:spcPts val="400"/>
              </a:spcAft>
            </a:pPr>
            <a:r>
              <a:rPr sz="1200" b="1" i="0">
                <a:solidFill>
                  <a:srgbClr val="FF8A99"/>
                </a:solidFill>
                <a:latin typeface="Calibri"/>
              </a:rPr>
              <a:t>FLIGHT CENTRE TRAVEL GROUP  ·  TEAM 62, QUT</a:t>
            </a:r>
          </a:p>
        </p:txBody>
      </p:sp>
      <p:sp>
        <p:nvSpPr>
          <p:cNvPr id="4" name="TextBox 3"/>
          <p:cNvSpPr txBox="1"/>
          <p:nvPr/>
        </p:nvSpPr>
        <p:spPr>
          <a:xfrm>
            <a:off x="822960" y="1371600"/>
            <a:ext cx="10515600" cy="2194560"/>
          </a:xfrm>
          <a:prstGeom prst="rect">
            <a:avLst/>
          </a:prstGeom>
          <a:noFill/>
        </p:spPr>
        <p:txBody>
          <a:bodyPr wrap="square" lIns="45720" rIns="45720" anchor="t">
            <a:spAutoFit/>
          </a:bodyPr>
          <a:lstStyle/>
          <a:p>
            <a:pPr algn="l">
              <a:lnSpc>
                <a:spcPct val="100000"/>
              </a:lnSpc>
              <a:spcAft>
                <a:spcPts val="400"/>
              </a:spcAft>
            </a:pPr>
            <a:r>
              <a:rPr sz="4600" b="1" i="0">
                <a:solidFill>
                  <a:srgbClr val="FFFFFF"/>
                </a:solidFill>
                <a:latin typeface="Calibri"/>
              </a:rPr>
              <a:t>Being the answer:</a:t>
            </a:r>
          </a:p>
          <a:p>
            <a:pPr algn="l">
              <a:lnSpc>
                <a:spcPct val="100000"/>
              </a:lnSpc>
              <a:spcAft>
                <a:spcPts val="400"/>
              </a:spcAft>
            </a:pPr>
            <a:r>
              <a:rPr sz="4000" b="1" i="0">
                <a:solidFill>
                  <a:srgbClr val="FF8A99"/>
                </a:solidFill>
                <a:latin typeface="Calibri"/>
              </a:rPr>
              <a:t>Generative Engine Optimisation for FC.com</a:t>
            </a:r>
          </a:p>
        </p:txBody>
      </p:sp>
      <p:sp>
        <p:nvSpPr>
          <p:cNvPr id="5" name="TextBox 4"/>
          <p:cNvSpPr txBox="1"/>
          <p:nvPr/>
        </p:nvSpPr>
        <p:spPr>
          <a:xfrm>
            <a:off x="822960" y="3749039"/>
            <a:ext cx="10332720" cy="1188720"/>
          </a:xfrm>
          <a:prstGeom prst="rect">
            <a:avLst/>
          </a:prstGeom>
          <a:noFill/>
        </p:spPr>
        <p:txBody>
          <a:bodyPr wrap="square" lIns="45720" rIns="45720" anchor="t">
            <a:spAutoFit/>
          </a:bodyPr>
          <a:lstStyle/>
          <a:p>
            <a:pPr algn="l">
              <a:lnSpc>
                <a:spcPct val="108000"/>
              </a:lnSpc>
              <a:spcAft>
                <a:spcPts val="400"/>
              </a:spcAft>
            </a:pPr>
            <a:r>
              <a:rPr sz="1800" b="0" i="0">
                <a:solidFill>
                  <a:srgbClr val="C9D6EA"/>
                </a:solidFill>
                <a:latin typeface="Calibri"/>
              </a:rPr>
              <a:t>Why agentic commerce changes where customers find us, what the published evidence and our own controlled test show, and what FC.com should change first.</a:t>
            </a:r>
          </a:p>
        </p:txBody>
      </p:sp>
      <p:sp>
        <p:nvSpPr>
          <p:cNvPr id="6" name="TextBox 5"/>
          <p:cNvSpPr txBox="1"/>
          <p:nvPr/>
        </p:nvSpPr>
        <p:spPr>
          <a:xfrm>
            <a:off x="822960" y="5257800"/>
            <a:ext cx="10515600" cy="822960"/>
          </a:xfrm>
          <a:prstGeom prst="rect">
            <a:avLst/>
          </a:prstGeom>
          <a:noFill/>
        </p:spPr>
        <p:txBody>
          <a:bodyPr wrap="square" lIns="45720" rIns="45720" anchor="t">
            <a:spAutoFit/>
          </a:bodyPr>
          <a:lstStyle/>
          <a:p>
            <a:pPr algn="l">
              <a:lnSpc>
                <a:spcPct val="108000"/>
              </a:lnSpc>
              <a:spcAft>
                <a:spcPts val="400"/>
              </a:spcAft>
            </a:pPr>
            <a:r>
              <a:rPr sz="1300" b="0" i="0">
                <a:solidFill>
                  <a:srgbClr val="FFFFFF"/>
                </a:solidFill>
                <a:latin typeface="Calibri"/>
              </a:rPr>
              <a:t>Senior leadership briefing  ·  25 October 2026  ·  25 minutes + Q&amp;A</a:t>
            </a:r>
          </a:p>
          <a:p>
            <a:pPr algn="l">
              <a:lnSpc>
                <a:spcPct val="108000"/>
              </a:lnSpc>
              <a:spcAft>
                <a:spcPts val="400"/>
              </a:spcAft>
            </a:pPr>
            <a:r>
              <a:rPr sz="1100" b="0" i="0">
                <a:solidFill>
                  <a:srgbClr val="9FB3CC"/>
                </a:solidFill>
                <a:latin typeface="Calibri"/>
              </a:rPr>
              <a:t>Evidence: peer-reviewed and preprint GEO research (2024–2026); Google, OpenAI and Bing documentation; live checks of flightcentre.com.au and competitors (25 Oct 2026); Semester 1 website audit (May 2026); controlled sandbox experiment, 290 answers per version (Aug–Sep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WHY · WHAT · HOW · WHAT IF</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The decision: how FC can become easier to find and cite</a:t>
            </a:r>
          </a:p>
        </p:txBody>
      </p:sp>
      <p:sp>
        <p:nvSpPr>
          <p:cNvPr id="4" name="Rounded Rectangle 3"/>
          <p:cNvSpPr/>
          <p:nvPr/>
        </p:nvSpPr>
        <p:spPr>
          <a:xfrm>
            <a:off x="548640" y="1600200"/>
            <a:ext cx="5440680" cy="416052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13232" y="1764792"/>
            <a:ext cx="5111496" cy="365760"/>
          </a:xfrm>
          <a:prstGeom prst="rect">
            <a:avLst/>
          </a:prstGeom>
          <a:noFill/>
        </p:spPr>
        <p:txBody>
          <a:bodyPr wrap="square" lIns="45720" rIns="45720" anchor="t">
            <a:spAutoFit/>
          </a:bodyPr>
          <a:lstStyle/>
          <a:p>
            <a:pPr algn="l">
              <a:spcBef>
                <a:spcPts val="0"/>
              </a:spcBef>
              <a:spcAft>
                <a:spcPts val="300"/>
              </a:spcAft>
            </a:pPr>
            <a:r>
              <a:rPr sz="1400" b="1" i="0">
                <a:solidFill>
                  <a:srgbClr val="0B2240"/>
                </a:solidFill>
                <a:latin typeface="Calibri"/>
              </a:rPr>
              <a:t>1. Understand the whole customer journey</a:t>
            </a:r>
          </a:p>
        </p:txBody>
      </p:sp>
      <p:sp>
        <p:nvSpPr>
          <p:cNvPr id="6" name="TextBox 5"/>
          <p:cNvSpPr txBox="1"/>
          <p:nvPr/>
        </p:nvSpPr>
        <p:spPr>
          <a:xfrm>
            <a:off x="713232" y="2148840"/>
            <a:ext cx="5111496" cy="3447287"/>
          </a:xfrm>
          <a:prstGeom prst="rect">
            <a:avLst/>
          </a:prstGeom>
          <a:noFill/>
        </p:spPr>
        <p:txBody>
          <a:bodyPr wrap="square" lIns="45720" rIns="45720" anchor="t">
            <a:spAutoFit/>
          </a:bodyPr>
          <a:lstStyle/>
          <a:p>
            <a:pPr algn="l">
              <a:spcBef>
                <a:spcPts val="0"/>
              </a:spcBef>
              <a:spcAft>
                <a:spcPts val="300"/>
              </a:spcAft>
            </a:pPr>
            <a:r>
              <a:rPr sz="2100" b="0" i="0">
                <a:solidFill>
                  <a:srgbClr val="1F2937"/>
                </a:solidFill>
                <a:latin typeface="Calibri"/>
              </a:rPr>
              <a:t>We will show how an assistant finds information, where our FC audits found gaps, and what each finding suggests FC should change.</a:t>
            </a:r>
          </a:p>
          <a:p>
            <a:pPr algn="l">
              <a:spcBef>
                <a:spcPts val="0"/>
              </a:spcBef>
              <a:spcAft>
                <a:spcPts val="300"/>
              </a:spcAft>
            </a:pPr>
            <a:r>
              <a:rPr sz="2100" b="0" i="0">
                <a:solidFill>
                  <a:srgbClr val="1F2937"/>
                </a:solidFill>
                <a:latin typeface="Calibri"/>
              </a:rPr>
              <a:t>Website improvements and app integrations are different ways to participate.</a:t>
            </a:r>
          </a:p>
        </p:txBody>
      </p:sp>
      <p:sp>
        <p:nvSpPr>
          <p:cNvPr id="7" name="Rounded Rectangle 6"/>
          <p:cNvSpPr/>
          <p:nvPr/>
        </p:nvSpPr>
        <p:spPr>
          <a:xfrm>
            <a:off x="6217920" y="1600200"/>
            <a:ext cx="5440680" cy="416052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382512" y="1764792"/>
            <a:ext cx="5111496" cy="365760"/>
          </a:xfrm>
          <a:prstGeom prst="rect">
            <a:avLst/>
          </a:prstGeom>
          <a:noFill/>
        </p:spPr>
        <p:txBody>
          <a:bodyPr wrap="square" lIns="45720" rIns="45720" anchor="t">
            <a:spAutoFit/>
          </a:bodyPr>
          <a:lstStyle/>
          <a:p>
            <a:pPr algn="l">
              <a:spcBef>
                <a:spcPts val="0"/>
              </a:spcBef>
              <a:spcAft>
                <a:spcPts val="300"/>
              </a:spcAft>
            </a:pPr>
            <a:r>
              <a:rPr sz="1400" b="1" i="0">
                <a:solidFill>
                  <a:srgbClr val="0B2240"/>
                </a:solidFill>
                <a:latin typeface="Calibri"/>
              </a:rPr>
              <a:t>2. Turn the evidence into an owned plan</a:t>
            </a:r>
          </a:p>
        </p:txBody>
      </p:sp>
      <p:sp>
        <p:nvSpPr>
          <p:cNvPr id="9" name="TextBox 8"/>
          <p:cNvSpPr txBox="1"/>
          <p:nvPr/>
        </p:nvSpPr>
        <p:spPr>
          <a:xfrm>
            <a:off x="6382512" y="2148840"/>
            <a:ext cx="5111496" cy="3447287"/>
          </a:xfrm>
          <a:prstGeom prst="rect">
            <a:avLst/>
          </a:prstGeom>
          <a:noFill/>
        </p:spPr>
        <p:txBody>
          <a:bodyPr wrap="square" lIns="45720" rIns="45720" anchor="t">
            <a:spAutoFit/>
          </a:bodyPr>
          <a:lstStyle/>
          <a:p>
            <a:pPr algn="l">
              <a:spcBef>
                <a:spcPts val="0"/>
              </a:spcBef>
              <a:spcAft>
                <a:spcPts val="300"/>
              </a:spcAft>
            </a:pPr>
            <a:r>
              <a:rPr sz="2100" b="0" i="0">
                <a:solidFill>
                  <a:srgbClr val="1F2937"/>
                </a:solidFill>
                <a:latin typeface="Calibri"/>
              </a:rPr>
              <a:t>Our completed experiment tests whether improved FC pages receive more citations once the model reads them.</a:t>
            </a:r>
          </a:p>
          <a:p>
            <a:pPr algn="l">
              <a:spcBef>
                <a:spcPts val="0"/>
              </a:spcBef>
              <a:spcAft>
                <a:spcPts val="300"/>
              </a:spcAft>
            </a:pPr>
            <a:r>
              <a:rPr sz="2100" b="0" i="0">
                <a:solidFill>
                  <a:srgbClr val="1F2937"/>
                </a:solidFill>
                <a:latin typeface="Calibri"/>
              </a:rPr>
              <a:t>We will show the page changes, the answers and the results, then finish with implementation owners and business measures.</a:t>
            </a:r>
          </a:p>
        </p:txBody>
      </p:sp>
      <p:sp>
        <p:nvSpPr>
          <p:cNvPr id="10" name="TextBox 9"/>
          <p:cNvSpPr txBox="1"/>
          <p:nvPr/>
        </p:nvSpPr>
        <p:spPr>
          <a:xfrm>
            <a:off x="548640" y="5897880"/>
            <a:ext cx="10972800" cy="365760"/>
          </a:xfrm>
          <a:prstGeom prst="rect">
            <a:avLst/>
          </a:prstGeom>
          <a:noFill/>
        </p:spPr>
        <p:txBody>
          <a:bodyPr wrap="square" lIns="45720" rIns="45720" anchor="t">
            <a:spAutoFit/>
          </a:bodyPr>
          <a:lstStyle/>
          <a:p>
            <a:pPr algn="l">
              <a:spcBef>
                <a:spcPts val="0"/>
              </a:spcBef>
              <a:spcAft>
                <a:spcPts val="300"/>
              </a:spcAft>
            </a:pPr>
            <a:r>
              <a:rPr sz="1200" b="0" i="0">
                <a:solidFill>
                  <a:srgbClr val="5B6573"/>
                </a:solidFill>
                <a:latin typeface="Calibri"/>
              </a:rPr>
              <a:t>Purpose: agree priorities for FC.com. Proposed owners and actions require FC decisions; no budget or approval is assumed.</a:t>
            </a:r>
          </a:p>
        </p:txBody>
      </p:sp>
      <p:sp>
        <p:nvSpPr>
          <p:cNvPr id="11" name="TextBox 10"/>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2</a:t>
            </a:r>
            <a:endParaRPr sz="900" b="0" i="0">
              <a:solidFill>
                <a:srgbClr val="5B6573"/>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Why AI discovery matters to Flight Centre</a:t>
            </a:r>
          </a:p>
        </p:txBody>
      </p:sp>
      <p:sp>
        <p:nvSpPr>
          <p:cNvPr id="4" name="Rounded Rectangle 3"/>
          <p:cNvSpPr/>
          <p:nvPr/>
        </p:nvSpPr>
        <p:spPr>
          <a:xfrm>
            <a:off x="10049256" y="329184"/>
            <a:ext cx="1609344"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External signals</a:t>
            </a:r>
          </a:p>
        </p:txBody>
      </p:sp>
      <p:sp>
        <p:nvSpPr>
          <p:cNvPr id="5" name="Rounded Rectangle 4"/>
          <p:cNvSpPr/>
          <p:nvPr/>
        </p:nvSpPr>
        <p:spPr>
          <a:xfrm>
            <a:off x="548640" y="1645920"/>
            <a:ext cx="2697480" cy="1600200"/>
          </a:xfrm>
          <a:prstGeom prst="roundRect">
            <a:avLst>
              <a:gd name="adj" fmla="val 6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85800" y="1755648"/>
            <a:ext cx="2423160" cy="80010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56%</a:t>
            </a:r>
          </a:p>
        </p:txBody>
      </p:sp>
      <p:sp>
        <p:nvSpPr>
          <p:cNvPr id="7" name="TextBox 6"/>
          <p:cNvSpPr txBox="1"/>
          <p:nvPr/>
        </p:nvSpPr>
        <p:spPr>
          <a:xfrm>
            <a:off x="685800" y="2478024"/>
            <a:ext cx="2423160" cy="828112"/>
          </a:xfrm>
          <a:prstGeom prst="rect">
            <a:avLst/>
          </a:prstGeom>
          <a:noFill/>
        </p:spPr>
        <p:txBody>
          <a:bodyPr wrap="square" lIns="45720" rIns="45720" anchor="t">
            <a:spAutoFit/>
          </a:bodyPr>
          <a:lstStyle/>
          <a:p>
            <a:pPr algn="l">
              <a:lnSpc>
                <a:spcPct val="105000"/>
              </a:lnSpc>
            </a:pPr>
            <a:r>
              <a:rPr sz="1150" b="0" i="0">
                <a:solidFill>
                  <a:srgbClr val="FFFFFF"/>
                </a:solidFill>
                <a:latin typeface="Calibri"/>
              </a:rPr>
              <a:t>of US travellers reported AI use for at least one trip in the previous 12 months, up from 33% in H1 2025 (Phocuswright, The AI Surge)</a:t>
            </a:r>
          </a:p>
        </p:txBody>
      </p:sp>
      <p:sp>
        <p:nvSpPr>
          <p:cNvPr id="8" name="Rounded Rectangle 7"/>
          <p:cNvSpPr/>
          <p:nvPr/>
        </p:nvSpPr>
        <p:spPr>
          <a:xfrm>
            <a:off x="3401568" y="1645920"/>
            <a:ext cx="2697480" cy="1600200"/>
          </a:xfrm>
          <a:prstGeom prst="roundRect">
            <a:avLst>
              <a:gd name="adj" fmla="val 6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538728" y="1755648"/>
            <a:ext cx="2423160" cy="80010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33%</a:t>
            </a:r>
          </a:p>
        </p:txBody>
      </p:sp>
      <p:sp>
        <p:nvSpPr>
          <p:cNvPr id="10" name="TextBox 9"/>
          <p:cNvSpPr txBox="1"/>
          <p:nvPr/>
        </p:nvSpPr>
        <p:spPr>
          <a:xfrm>
            <a:off x="3538728" y="2478024"/>
            <a:ext cx="2423160" cy="736092"/>
          </a:xfrm>
          <a:prstGeom prst="rect">
            <a:avLst/>
          </a:prstGeom>
          <a:noFill/>
        </p:spPr>
        <p:txBody>
          <a:bodyPr wrap="square" lIns="45720" rIns="45720" anchor="t">
            <a:spAutoFit/>
          </a:bodyPr>
          <a:lstStyle/>
          <a:p>
            <a:pPr algn="l">
              <a:lnSpc>
                <a:spcPct val="105000"/>
              </a:lnSpc>
              <a:spcAft>
                <a:spcPts val="400"/>
              </a:spcAft>
            </a:pPr>
            <a:r>
              <a:rPr sz="1150" b="0" i="0">
                <a:solidFill>
                  <a:srgbClr val="FFFFFF"/>
                </a:solidFill>
                <a:latin typeface="Calibri"/>
              </a:rPr>
              <a:t>of US travellers now research trips with generative AI, level with general search engines at 35% (Phocuswright)</a:t>
            </a:r>
          </a:p>
        </p:txBody>
      </p:sp>
      <p:sp>
        <p:nvSpPr>
          <p:cNvPr id="11" name="Rounded Rectangle 10"/>
          <p:cNvSpPr/>
          <p:nvPr/>
        </p:nvSpPr>
        <p:spPr>
          <a:xfrm>
            <a:off x="6254496" y="1645920"/>
            <a:ext cx="2697480" cy="1600200"/>
          </a:xfrm>
          <a:prstGeom prst="roundRect">
            <a:avLst>
              <a:gd name="adj" fmla="val 6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91656" y="1755648"/>
            <a:ext cx="2423160" cy="80010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28.8%</a:t>
            </a:r>
          </a:p>
        </p:txBody>
      </p:sp>
      <p:sp>
        <p:nvSpPr>
          <p:cNvPr id="13" name="TextBox 12"/>
          <p:cNvSpPr txBox="1"/>
          <p:nvPr/>
        </p:nvSpPr>
        <p:spPr>
          <a:xfrm>
            <a:off x="6391656" y="2478024"/>
            <a:ext cx="2423160" cy="828112"/>
          </a:xfrm>
          <a:prstGeom prst="rect">
            <a:avLst/>
          </a:prstGeom>
          <a:noFill/>
        </p:spPr>
        <p:txBody>
          <a:bodyPr wrap="square" lIns="45720" rIns="45720" anchor="t">
            <a:spAutoFit/>
          </a:bodyPr>
          <a:lstStyle/>
          <a:p>
            <a:pPr algn="l">
              <a:lnSpc>
                <a:spcPct val="105000"/>
              </a:lnSpc>
            </a:pPr>
            <a:r>
              <a:rPr sz="1150" b="0" i="0">
                <a:solidFill>
                  <a:srgbClr val="FFFFFF"/>
                </a:solidFill>
                <a:latin typeface="Calibri"/>
              </a:rPr>
              <a:t>of Australian travellers used generative AI to find deals, research destinations or build itineraries (Compare the Market survey, 2026)</a:t>
            </a:r>
          </a:p>
        </p:txBody>
      </p:sp>
      <p:sp>
        <p:nvSpPr>
          <p:cNvPr id="14" name="Rounded Rectangle 13"/>
          <p:cNvSpPr/>
          <p:nvPr/>
        </p:nvSpPr>
        <p:spPr>
          <a:xfrm>
            <a:off x="9107424" y="1645920"/>
            <a:ext cx="2560320" cy="1600200"/>
          </a:xfrm>
          <a:prstGeom prst="roundRect">
            <a:avLst>
              <a:gd name="adj" fmla="val 6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244584" y="1755648"/>
            <a:ext cx="2286000" cy="80010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+119%</a:t>
            </a:r>
          </a:p>
        </p:txBody>
      </p:sp>
      <p:sp>
        <p:nvSpPr>
          <p:cNvPr id="16" name="TextBox 15"/>
          <p:cNvSpPr txBox="1"/>
          <p:nvPr/>
        </p:nvSpPr>
        <p:spPr>
          <a:xfrm>
            <a:off x="9244584" y="2478024"/>
            <a:ext cx="2286000" cy="828112"/>
          </a:xfrm>
          <a:prstGeom prst="rect">
            <a:avLst/>
          </a:prstGeom>
          <a:noFill/>
        </p:spPr>
        <p:txBody>
          <a:bodyPr wrap="square" lIns="45720" rIns="45720" anchor="t">
            <a:spAutoFit/>
          </a:bodyPr>
          <a:lstStyle/>
          <a:p>
            <a:pPr algn="l">
              <a:lnSpc>
                <a:spcPct val="105000"/>
              </a:lnSpc>
            </a:pPr>
            <a:r>
              <a:rPr sz="1150" b="0" i="0">
                <a:solidFill>
                  <a:srgbClr val="FFFFFF"/>
                </a:solidFill>
                <a:latin typeface="Calibri"/>
              </a:rPr>
              <a:t>year-on-year growth in AI-referred visits to travel websites, July 2026; they convert within 1% of other traffic (Adobe Digital Insights)</a:t>
            </a:r>
          </a:p>
        </p:txBody>
      </p:sp>
      <p:sp>
        <p:nvSpPr>
          <p:cNvPr id="17" name="Rounded Rectangle 16"/>
          <p:cNvSpPr/>
          <p:nvPr/>
        </p:nvSpPr>
        <p:spPr>
          <a:xfrm>
            <a:off x="548640" y="3520440"/>
            <a:ext cx="5486400" cy="2606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13232" y="3685032"/>
            <a:ext cx="515721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Fewer clicks when an AI answer appears</a:t>
            </a:r>
          </a:p>
        </p:txBody>
      </p:sp>
      <p:sp>
        <p:nvSpPr>
          <p:cNvPr id="19" name="TextBox 18"/>
          <p:cNvSpPr txBox="1"/>
          <p:nvPr/>
        </p:nvSpPr>
        <p:spPr>
          <a:xfrm>
            <a:off x="713232" y="4069080"/>
            <a:ext cx="5157216" cy="1892807"/>
          </a:xfrm>
          <a:prstGeom prst="rect">
            <a:avLst/>
          </a:prstGeom>
          <a:noFill/>
        </p:spPr>
        <p:txBody>
          <a:bodyPr wrap="square" lIns="45720" rIns="45720" anchor="t">
            <a:spAutoFit/>
          </a:bodyPr>
          <a:lstStyle/>
          <a:p>
            <a:pPr algn="l">
              <a:spcBef>
                <a:spcPts val="0"/>
              </a:spcBef>
              <a:spcAft>
                <a:spcPts val="300"/>
              </a:spcAft>
            </a:pPr>
            <a:r>
              <a:rPr sz="1800" b="0" i="0">
                <a:solidFill>
                  <a:srgbClr val="1F2937"/>
                </a:solidFill>
                <a:latin typeface="Calibri"/>
              </a:rPr>
              <a:t>Google users clicked a traditional result in 8% of visits with an AI summary, versus 15% without one in the Pew study.</a:t>
            </a:r>
          </a:p>
          <a:p>
            <a:pPr algn="l">
              <a:spcBef>
                <a:spcPts val="0"/>
              </a:spcBef>
              <a:spcAft>
                <a:spcPts val="300"/>
              </a:spcAft>
            </a:pPr>
            <a:r>
              <a:rPr sz="1800" b="0" i="0">
                <a:solidFill>
                  <a:srgbClr val="1F2937"/>
                </a:solidFill>
                <a:latin typeface="Calibri"/>
              </a:rPr>
              <a:t>Business implication: the answer itself can influence consideration before a website visit.</a:t>
            </a:r>
          </a:p>
        </p:txBody>
      </p:sp>
      <p:sp>
        <p:nvSpPr>
          <p:cNvPr id="20" name="Rounded Rectangle 19"/>
          <p:cNvSpPr/>
          <p:nvPr/>
        </p:nvSpPr>
        <p:spPr>
          <a:xfrm>
            <a:off x="6217920" y="3520440"/>
            <a:ext cx="5440680" cy="2606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382512" y="368503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Discovery moves faster than booking</a:t>
            </a:r>
          </a:p>
        </p:txBody>
      </p:sp>
      <p:sp>
        <p:nvSpPr>
          <p:cNvPr id="22" name="TextBox 21"/>
          <p:cNvSpPr txBox="1"/>
          <p:nvPr/>
        </p:nvSpPr>
        <p:spPr>
          <a:xfrm>
            <a:off x="6382512" y="4069080"/>
            <a:ext cx="5111496" cy="1892807"/>
          </a:xfrm>
          <a:prstGeom prst="rect">
            <a:avLst/>
          </a:prstGeom>
          <a:noFill/>
        </p:spPr>
        <p:txBody>
          <a:bodyPr wrap="square" lIns="45720" rIns="45720" anchor="t">
            <a:spAutoFit/>
          </a:bodyPr>
          <a:lstStyle/>
          <a:p>
            <a:pPr algn="l">
              <a:spcBef>
                <a:spcPts val="0"/>
              </a:spcBef>
              <a:spcAft>
                <a:spcPts val="300"/>
              </a:spcAft>
            </a:pPr>
            <a:r>
              <a:rPr sz="1800" b="0" i="0">
                <a:solidFill>
                  <a:srgbClr val="1F2937"/>
                </a:solidFill>
                <a:latin typeface="Calibri"/>
              </a:rPr>
              <a:t>Travel research is moving into assistants, while booking often finishes on a website or with an expert.</a:t>
            </a:r>
          </a:p>
          <a:p>
            <a:pPr algn="l">
              <a:spcBef>
                <a:spcPts val="0"/>
              </a:spcBef>
              <a:spcAft>
                <a:spcPts val="300"/>
              </a:spcAft>
            </a:pPr>
            <a:r>
              <a:rPr sz="1800" b="0" i="0">
                <a:solidFill>
                  <a:srgbClr val="1F2937"/>
                </a:solidFill>
                <a:latin typeface="Calibri"/>
              </a:rPr>
              <a:t>FC needs its information and customer pathways to be visible during that research.</a:t>
            </a:r>
          </a:p>
        </p:txBody>
      </p:sp>
      <p:sp>
        <p:nvSpPr>
          <p:cNvPr id="23" name="TextBox 22"/>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Phocuswright, The AI Surge (2026) as reported by ITB Berlin and Travel Weekly; Compare the Market Australian traveller survey (2026, via ITBrief); Adobe Digital Insights AI Traffic Trends (19 Aug 2026); Chapekis &amp; Lieb, Pew Research Center (22 Jul 2025); FCTG FY26 ASX results (26 Aug 2026).</a:t>
            </a:r>
          </a:p>
        </p:txBody>
      </p:sp>
      <p:sp>
        <p:nvSpPr>
          <p:cNvPr id="24" name="TextBox 23"/>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3</a:t>
            </a:r>
            <a:endParaRPr sz="900" b="0" i="0">
              <a:solidFill>
                <a:srgbClr val="5B6573"/>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518B0C27-16DE-485C-965C-40256E794335}"/>
              </a:ext>
            </a:extLst>
          </p:cNvPr>
          <p:cNvSpPr>
            <a:spLocks noGrp="1"/>
          </p:cNvSpPr>
          <p:nvPr/>
        </p:nvSpPr>
        <p:spPr>
          <a:xfrm>
            <a:off x="457200" y="247650"/>
            <a:ext cx="11277600" cy="285750"/>
          </a:xfrm>
          <a:prstGeom prst="rect">
            <a:avLst/>
          </a:prstGeom>
          <a:noFill/>
          <a:ln w="0">
            <a:noFill/>
          </a:ln>
        </p:spPr>
        <p:txBody>
          <a:bodyPr anchor="ctr"/>
          <a:lstStyle>
            <a:defPPr>
              <a:defRPr sz="1200" b="1">
                <a:solidFill>
                  <a:srgbClr val="ED193A"/>
                </a:solidFill>
              </a:defRPr>
            </a:defPPr>
            <a:lvl1pPr>
              <a:defRPr sz="1200" b="1">
                <a:solidFill>
                  <a:srgbClr val="ED193A"/>
                </a:solidFill>
              </a:defRPr>
            </a:lvl1pPr>
            <a:lvl2pPr>
              <a:defRPr sz="1200" b="1">
                <a:solidFill>
                  <a:srgbClr val="ED193A"/>
                </a:solidFill>
              </a:defRPr>
            </a:lvl2pPr>
            <a:lvl3pPr>
              <a:defRPr sz="1200" b="1">
                <a:solidFill>
                  <a:srgbClr val="ED193A"/>
                </a:solidFill>
              </a:defRPr>
            </a:lvl3pPr>
            <a:lvl4pPr>
              <a:defRPr sz="1200" b="1">
                <a:solidFill>
                  <a:srgbClr val="ED193A"/>
                </a:solidFill>
              </a:defRPr>
            </a:lvl4pPr>
            <a:lvl5pPr>
              <a:defRPr sz="1200" b="1">
                <a:solidFill>
                  <a:srgbClr val="ED193A"/>
                </a:solidFill>
              </a:defRPr>
            </a:lvl5pPr>
            <a:lvl6pPr>
              <a:defRPr sz="1200" b="1">
                <a:solidFill>
                  <a:srgbClr val="ED193A"/>
                </a:solidFill>
              </a:defRPr>
            </a:lvl6pPr>
            <a:lvl7pPr>
              <a:defRPr sz="1200" b="1">
                <a:solidFill>
                  <a:srgbClr val="ED193A"/>
                </a:solidFill>
              </a:defRPr>
            </a:lvl7pPr>
            <a:lvl8pPr>
              <a:defRPr sz="1200" b="1">
                <a:solidFill>
                  <a:srgbClr val="ED193A"/>
                </a:solidFill>
              </a:defRPr>
            </a:lvl8pPr>
            <a:lvl9pPr>
              <a:defRPr sz="1200" b="1">
                <a:solidFill>
                  <a:srgbClr val="ED193A"/>
                </a:solidFill>
              </a:defRPr>
            </a:lvl9pPr>
          </a:lstStyle>
          <a:p>
            <a:pPr>
              <a:defRPr sz="1200" b="1">
                <a:solidFill>
                  <a:srgbClr val="ED193A"/>
                </a:solidFill>
              </a:defRPr>
            </a:pPr>
            <a:r>
              <a:rPr sz="1200" b="1">
                <a:solidFill>
                  <a:srgbClr val="ED193A"/>
                </a:solidFill>
              </a:rPr>
              <a:t>THE CUSTOMER JOURNEY</a:t>
            </a:r>
          </a:p>
        </p:txBody>
      </p:sp>
      <p:sp>
        <p:nvSpPr>
          <p:cNvPr id="2" name="Rectangle 1">
            <a:extLst>
              <a:ext uri="{FF2B5EF4-FFF2-40B4-BE49-F238E27FC236}">
                <a16:creationId xmlns:a16="http://schemas.microsoft.com/office/drawing/2014/main" id="{DAF86F41-C5C1-4141-8849-09A5446D6A3F}"/>
              </a:ext>
            </a:extLst>
          </p:cNvPr>
          <p:cNvSpPr>
            <a:spLocks noGrp="1"/>
          </p:cNvSpPr>
          <p:nvPr/>
        </p:nvSpPr>
        <p:spPr>
          <a:xfrm>
            <a:off x="457200" y="733425"/>
            <a:ext cx="11277600" cy="857250"/>
          </a:xfrm>
          <a:prstGeom prst="rect">
            <a:avLst/>
          </a:prstGeom>
          <a:noFill/>
          <a:ln w="0">
            <a:noFill/>
          </a:ln>
        </p:spPr>
        <p:txBody>
          <a:bodyPr anchor="ctr"/>
          <a:lstStyle>
            <a:defPPr>
              <a:defRPr sz="3000" b="1">
                <a:solidFill>
                  <a:srgbClr val="10253F"/>
                </a:solidFill>
              </a:defRPr>
            </a:defPPr>
            <a:lvl1pPr>
              <a:defRPr sz="3000" b="1">
                <a:solidFill>
                  <a:srgbClr val="10253F"/>
                </a:solidFill>
              </a:defRPr>
            </a:lvl1pPr>
            <a:lvl2pPr>
              <a:defRPr sz="3000" b="1">
                <a:solidFill>
                  <a:srgbClr val="10253F"/>
                </a:solidFill>
              </a:defRPr>
            </a:lvl2pPr>
            <a:lvl3pPr>
              <a:defRPr sz="3000" b="1">
                <a:solidFill>
                  <a:srgbClr val="10253F"/>
                </a:solidFill>
              </a:defRPr>
            </a:lvl3pPr>
            <a:lvl4pPr>
              <a:defRPr sz="3000" b="1">
                <a:solidFill>
                  <a:srgbClr val="10253F"/>
                </a:solidFill>
              </a:defRPr>
            </a:lvl4pPr>
            <a:lvl5pPr>
              <a:defRPr sz="3000" b="1">
                <a:solidFill>
                  <a:srgbClr val="10253F"/>
                </a:solidFill>
              </a:defRPr>
            </a:lvl5pPr>
            <a:lvl6pPr>
              <a:defRPr sz="3000" b="1">
                <a:solidFill>
                  <a:srgbClr val="10253F"/>
                </a:solidFill>
              </a:defRPr>
            </a:lvl6pPr>
            <a:lvl7pPr>
              <a:defRPr sz="3000" b="1">
                <a:solidFill>
                  <a:srgbClr val="10253F"/>
                </a:solidFill>
              </a:defRPr>
            </a:lvl7pPr>
            <a:lvl8pPr>
              <a:defRPr sz="3000" b="1">
                <a:solidFill>
                  <a:srgbClr val="10253F"/>
                </a:solidFill>
              </a:defRPr>
            </a:lvl8pPr>
            <a:lvl9pPr>
              <a:defRPr sz="3000" b="1">
                <a:solidFill>
                  <a:srgbClr val="10253F"/>
                </a:solidFill>
              </a:defRPr>
            </a:lvl9pPr>
          </a:lstStyle>
          <a:p>
            <a:pPr>
              <a:defRPr sz="3000" b="1">
                <a:solidFill>
                  <a:srgbClr val="10253F"/>
                </a:solidFill>
              </a:defRPr>
            </a:pPr>
            <a:r>
              <a:rPr sz="3000" b="1">
                <a:solidFill>
                  <a:srgbClr val="10253F"/>
                </a:solidFill>
              </a:rPr>
              <a:t>How a travel question becomes an AI answer</a:t>
            </a:r>
          </a:p>
        </p:txBody>
      </p:sp>
      <p:sp>
        <p:nvSpPr>
          <p:cNvPr id="3" name="Rectangle 2">
            <a:extLst>
              <a:ext uri="{FF2B5EF4-FFF2-40B4-BE49-F238E27FC236}">
                <a16:creationId xmlns:a16="http://schemas.microsoft.com/office/drawing/2014/main" id="{1A31FA8F-0C70-4CFF-BEC6-A6229AD2AFF7}"/>
              </a:ext>
            </a:extLst>
          </p:cNvPr>
          <p:cNvSpPr>
            <a:spLocks noGrp="1"/>
          </p:cNvSpPr>
          <p:nvPr/>
        </p:nvSpPr>
        <p:spPr>
          <a:xfrm>
            <a:off x="457200" y="6305550"/>
            <a:ext cx="11049000" cy="361950"/>
          </a:xfrm>
          <a:prstGeom prst="rect">
            <a:avLst/>
          </a:prstGeom>
          <a:noFill/>
          <a:ln w="0">
            <a:noFill/>
          </a:ln>
        </p:spPr>
        <p:txBody>
          <a:bodyPr anchor="ctr"/>
          <a:lstStyle>
            <a:defPPr>
              <a:defRPr sz="1050" b="0">
                <a:solidFill>
                  <a:srgbClr val="566B82"/>
                </a:solidFill>
              </a:defRPr>
            </a:defPPr>
            <a:lvl1pPr>
              <a:defRPr sz="1050" b="0">
                <a:solidFill>
                  <a:srgbClr val="566B82"/>
                </a:solidFill>
              </a:defRPr>
            </a:lvl1pPr>
            <a:lvl2pPr>
              <a:defRPr sz="1050" b="0">
                <a:solidFill>
                  <a:srgbClr val="566B82"/>
                </a:solidFill>
              </a:defRPr>
            </a:lvl2pPr>
            <a:lvl3pPr>
              <a:defRPr sz="1050" b="0">
                <a:solidFill>
                  <a:srgbClr val="566B82"/>
                </a:solidFill>
              </a:defRPr>
            </a:lvl3pPr>
            <a:lvl4pPr>
              <a:defRPr sz="1050" b="0">
                <a:solidFill>
                  <a:srgbClr val="566B82"/>
                </a:solidFill>
              </a:defRPr>
            </a:lvl4pPr>
            <a:lvl5pPr>
              <a:defRPr sz="1050" b="0">
                <a:solidFill>
                  <a:srgbClr val="566B82"/>
                </a:solidFill>
              </a:defRPr>
            </a:lvl5pPr>
            <a:lvl6pPr>
              <a:defRPr sz="1050" b="0">
                <a:solidFill>
                  <a:srgbClr val="566B82"/>
                </a:solidFill>
              </a:defRPr>
            </a:lvl6pPr>
            <a:lvl7pPr>
              <a:defRPr sz="1050" b="0">
                <a:solidFill>
                  <a:srgbClr val="566B82"/>
                </a:solidFill>
              </a:defRPr>
            </a:lvl7pPr>
            <a:lvl8pPr>
              <a:defRPr sz="1050" b="0">
                <a:solidFill>
                  <a:srgbClr val="566B82"/>
                </a:solidFill>
              </a:defRPr>
            </a:lvl8pPr>
            <a:lvl9pPr>
              <a:defRPr sz="1050" b="0">
                <a:solidFill>
                  <a:srgbClr val="566B82"/>
                </a:solidFill>
              </a:defRPr>
            </a:lvl9pPr>
          </a:lstStyle>
          <a:p>
            <a:pPr>
              <a:defRPr sz="1050" b="0">
                <a:solidFill>
                  <a:srgbClr val="566B82"/>
                </a:solidFill>
              </a:defRPr>
            </a:pPr>
            <a:r>
              <a:rPr sz="1050" b="0">
                <a:solidFill>
                  <a:srgbClr val="566B82"/>
                </a:solidFill>
              </a:rPr>
              <a:t>Conceptual map, not a universal engine specification. Sources: Google Search Central; OpenAI crawler and app documentation.</a:t>
            </a:r>
          </a:p>
        </p:txBody>
      </p:sp>
      <p:sp>
        <p:nvSpPr>
          <p:cNvPr id="4" name="Rectangle 3">
            <a:extLst>
              <a:ext uri="{FF2B5EF4-FFF2-40B4-BE49-F238E27FC236}">
                <a16:creationId xmlns:a16="http://schemas.microsoft.com/office/drawing/2014/main" id="{878A5AF8-75BB-414C-B8C1-B9B3AC83E9B1}"/>
              </a:ext>
            </a:extLst>
          </p:cNvPr>
          <p:cNvSpPr>
            <a:spLocks noGrp="1"/>
          </p:cNvSpPr>
          <p:nvPr/>
        </p:nvSpPr>
        <p:spPr>
          <a:xfrm>
            <a:off x="457200" y="1676400"/>
            <a:ext cx="11239500" cy="476250"/>
          </a:xfrm>
          <a:prstGeom prst="rect">
            <a:avLst/>
          </a:prstGeom>
          <a:noFill/>
          <a:ln w="0">
            <a:noFill/>
          </a:ln>
        </p:spPr>
        <p:txBody>
          <a:bodyPr anchor="ctr"/>
          <a:lstStyle>
            <a:defPPr>
              <a:defRPr sz="2175" b="1">
                <a:solidFill>
                  <a:srgbClr val="21354D"/>
                </a:solidFill>
              </a:defRPr>
            </a:defPPr>
            <a:lvl1pPr>
              <a:defRPr sz="2175" b="1">
                <a:solidFill>
                  <a:srgbClr val="21354D"/>
                </a:solidFill>
              </a:defRPr>
            </a:lvl1pPr>
            <a:lvl2pPr>
              <a:defRPr sz="2175" b="1">
                <a:solidFill>
                  <a:srgbClr val="21354D"/>
                </a:solidFill>
              </a:defRPr>
            </a:lvl2pPr>
            <a:lvl3pPr>
              <a:defRPr sz="2175" b="1">
                <a:solidFill>
                  <a:srgbClr val="21354D"/>
                </a:solidFill>
              </a:defRPr>
            </a:lvl3pPr>
            <a:lvl4pPr>
              <a:defRPr sz="2175" b="1">
                <a:solidFill>
                  <a:srgbClr val="21354D"/>
                </a:solidFill>
              </a:defRPr>
            </a:lvl4pPr>
            <a:lvl5pPr>
              <a:defRPr sz="2175" b="1">
                <a:solidFill>
                  <a:srgbClr val="21354D"/>
                </a:solidFill>
              </a:defRPr>
            </a:lvl5pPr>
            <a:lvl6pPr>
              <a:defRPr sz="2175" b="1">
                <a:solidFill>
                  <a:srgbClr val="21354D"/>
                </a:solidFill>
              </a:defRPr>
            </a:lvl6pPr>
            <a:lvl7pPr>
              <a:defRPr sz="2175" b="1">
                <a:solidFill>
                  <a:srgbClr val="21354D"/>
                </a:solidFill>
              </a:defRPr>
            </a:lvl7pPr>
            <a:lvl8pPr>
              <a:defRPr sz="2175" b="1">
                <a:solidFill>
                  <a:srgbClr val="21354D"/>
                </a:solidFill>
              </a:defRPr>
            </a:lvl8pPr>
            <a:lvl9pPr>
              <a:defRPr sz="2175" b="1">
                <a:solidFill>
                  <a:srgbClr val="21354D"/>
                </a:solidFill>
              </a:defRPr>
            </a:lvl9pPr>
          </a:lstStyle>
          <a:p>
            <a:pPr>
              <a:defRPr sz="2175" b="1">
                <a:solidFill>
                  <a:srgbClr val="21354D"/>
                </a:solidFill>
              </a:defRPr>
            </a:pPr>
            <a:r>
              <a:rPr sz="2175" b="1">
                <a:solidFill>
                  <a:srgbClr val="21354D"/>
                </a:solidFill>
              </a:rPr>
              <a:t>“Where should I book a family holiday to Bali?”</a:t>
            </a:r>
          </a:p>
        </p:txBody>
      </p:sp>
      <p:sp>
        <p:nvSpPr>
          <p:cNvPr id="5" name="Rectangle 4">
            <a:extLst>
              <a:ext uri="{FF2B5EF4-FFF2-40B4-BE49-F238E27FC236}">
                <a16:creationId xmlns:a16="http://schemas.microsoft.com/office/drawing/2014/main" id="{9CFC350D-7C44-4533-B90F-08C53415E37D}"/>
              </a:ext>
            </a:extLst>
          </p:cNvPr>
          <p:cNvSpPr>
            <a:spLocks noGrp="1"/>
          </p:cNvSpPr>
          <p:nvPr/>
        </p:nvSpPr>
        <p:spPr>
          <a:xfrm>
            <a:off x="457200" y="2486025"/>
            <a:ext cx="2114550" cy="657225"/>
          </a:xfrm>
          <a:prstGeom prst="rect">
            <a:avLst/>
          </a:prstGeom>
          <a:solidFill>
            <a:srgbClr val="EDF3F8"/>
          </a:solidFill>
          <a:ln w="9525">
            <a:solidFill>
              <a:srgbClr val="10253F"/>
            </a:solidFill>
          </a:ln>
        </p:spPr>
        <p:txBody>
          <a:bodyPr anchor="ctr"/>
          <a:lstStyle>
            <a:defPPr algn="ctr">
              <a:defRPr sz="1725" b="1">
                <a:solidFill>
                  <a:srgbClr val="10253F"/>
                </a:solidFill>
              </a:defRPr>
            </a:defPPr>
            <a:lvl1pPr algn="ctr">
              <a:defRPr sz="1725" b="1">
                <a:solidFill>
                  <a:srgbClr val="10253F"/>
                </a:solidFill>
              </a:defRPr>
            </a:lvl1pPr>
            <a:lvl2pPr algn="ctr">
              <a:defRPr sz="1725" b="1">
                <a:solidFill>
                  <a:srgbClr val="10253F"/>
                </a:solidFill>
              </a:defRPr>
            </a:lvl2pPr>
            <a:lvl3pPr algn="ctr">
              <a:defRPr sz="1725" b="1">
                <a:solidFill>
                  <a:srgbClr val="10253F"/>
                </a:solidFill>
              </a:defRPr>
            </a:lvl3pPr>
            <a:lvl4pPr algn="ctr">
              <a:defRPr sz="1725" b="1">
                <a:solidFill>
                  <a:srgbClr val="10253F"/>
                </a:solidFill>
              </a:defRPr>
            </a:lvl4pPr>
            <a:lvl5pPr algn="ctr">
              <a:defRPr sz="1725" b="1">
                <a:solidFill>
                  <a:srgbClr val="10253F"/>
                </a:solidFill>
              </a:defRPr>
            </a:lvl5pPr>
            <a:lvl6pPr algn="ctr">
              <a:defRPr sz="1725" b="1">
                <a:solidFill>
                  <a:srgbClr val="10253F"/>
                </a:solidFill>
              </a:defRPr>
            </a:lvl6pPr>
            <a:lvl7pPr algn="ctr">
              <a:defRPr sz="1725" b="1">
                <a:solidFill>
                  <a:srgbClr val="10253F"/>
                </a:solidFill>
              </a:defRPr>
            </a:lvl7pPr>
            <a:lvl8pPr algn="ctr">
              <a:defRPr sz="1725" b="1">
                <a:solidFill>
                  <a:srgbClr val="10253F"/>
                </a:solidFill>
              </a:defRPr>
            </a:lvl8pPr>
            <a:lvl9pPr algn="ctr">
              <a:defRPr sz="1725" b="1">
                <a:solidFill>
                  <a:srgbClr val="10253F"/>
                </a:solidFill>
              </a:defRPr>
            </a:lvl9pPr>
          </a:lstStyle>
          <a:p>
            <a:pPr algn="ctr">
              <a:defRPr sz="1725" b="1">
                <a:solidFill>
                  <a:srgbClr val="10253F"/>
                </a:solidFill>
              </a:defRPr>
            </a:pPr>
            <a:r>
              <a:rPr sz="1725" b="1">
                <a:solidFill>
                  <a:srgbClr val="10253F"/>
                </a:solidFill>
              </a:rPr>
              <a:t>1  Understand</a:t>
            </a:r>
          </a:p>
        </p:txBody>
      </p:sp>
      <p:sp>
        <p:nvSpPr>
          <p:cNvPr id="6" name="Rectangle 5">
            <a:extLst>
              <a:ext uri="{FF2B5EF4-FFF2-40B4-BE49-F238E27FC236}">
                <a16:creationId xmlns:a16="http://schemas.microsoft.com/office/drawing/2014/main" id="{39E772D7-BCB4-45D7-A7D1-2EAEB852C19C}"/>
              </a:ext>
            </a:extLst>
          </p:cNvPr>
          <p:cNvSpPr>
            <a:spLocks noGrp="1"/>
          </p:cNvSpPr>
          <p:nvPr/>
        </p:nvSpPr>
        <p:spPr>
          <a:xfrm>
            <a:off x="457200" y="3343275"/>
            <a:ext cx="2114550" cy="1171575"/>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Identify the traveller’s need.</a:t>
            </a:r>
          </a:p>
          <a:p>
            <a:pPr>
              <a:defRPr sz="1725" b="0">
                <a:solidFill>
                  <a:srgbClr val="21354D"/>
                </a:solidFill>
              </a:defRPr>
            </a:pPr>
            <a:r>
              <a:rPr sz="1725" b="0">
                <a:solidFill>
                  <a:srgbClr val="21354D"/>
                </a:solidFill>
              </a:rPr>
              <a:t>Some engines issue related searches.</a:t>
            </a:r>
          </a:p>
        </p:txBody>
      </p:sp>
      <p:sp>
        <p:nvSpPr>
          <p:cNvPr id="7" name="Arrow: Right 6">
            <a:extLst>
              <a:ext uri="{FF2B5EF4-FFF2-40B4-BE49-F238E27FC236}">
                <a16:creationId xmlns:a16="http://schemas.microsoft.com/office/drawing/2014/main" id="{4320AFA9-7DBC-4DCE-A418-F4057C0E1431}"/>
              </a:ext>
            </a:extLst>
          </p:cNvPr>
          <p:cNvSpPr>
            <a:spLocks noGrp="1"/>
          </p:cNvSpPr>
          <p:nvPr/>
        </p:nvSpPr>
        <p:spPr>
          <a:xfrm>
            <a:off x="2590800" y="2686050"/>
            <a:ext cx="142875" cy="209550"/>
          </a:xfrm>
          <a:prstGeom prst="rightArrow">
            <a:avLst/>
          </a:prstGeom>
          <a:solidFill>
            <a:srgbClr val="ED193A"/>
          </a:solidFill>
          <a:ln w="0">
            <a:noFill/>
          </a:ln>
        </p:spPr>
      </p:sp>
      <p:sp>
        <p:nvSpPr>
          <p:cNvPr id="8" name="Rectangle 7">
            <a:extLst>
              <a:ext uri="{FF2B5EF4-FFF2-40B4-BE49-F238E27FC236}">
                <a16:creationId xmlns:a16="http://schemas.microsoft.com/office/drawing/2014/main" id="{C94ED10C-58ED-4CA5-ABC2-A4797659260B}"/>
              </a:ext>
            </a:extLst>
          </p:cNvPr>
          <p:cNvSpPr>
            <a:spLocks noGrp="1"/>
          </p:cNvSpPr>
          <p:nvPr/>
        </p:nvSpPr>
        <p:spPr>
          <a:xfrm>
            <a:off x="2762250" y="2486025"/>
            <a:ext cx="2114550" cy="657225"/>
          </a:xfrm>
          <a:prstGeom prst="rect">
            <a:avLst/>
          </a:prstGeom>
          <a:solidFill>
            <a:srgbClr val="EDF3F8"/>
          </a:solidFill>
          <a:ln w="9525">
            <a:solidFill>
              <a:srgbClr val="10253F"/>
            </a:solidFill>
          </a:ln>
        </p:spPr>
        <p:txBody>
          <a:bodyPr anchor="ctr"/>
          <a:lstStyle>
            <a:defPPr algn="ctr">
              <a:defRPr sz="1725" b="1">
                <a:solidFill>
                  <a:srgbClr val="10253F"/>
                </a:solidFill>
              </a:defRPr>
            </a:defPPr>
            <a:lvl1pPr algn="ctr">
              <a:defRPr sz="1725" b="1">
                <a:solidFill>
                  <a:srgbClr val="10253F"/>
                </a:solidFill>
              </a:defRPr>
            </a:lvl1pPr>
            <a:lvl2pPr algn="ctr">
              <a:defRPr sz="1725" b="1">
                <a:solidFill>
                  <a:srgbClr val="10253F"/>
                </a:solidFill>
              </a:defRPr>
            </a:lvl2pPr>
            <a:lvl3pPr algn="ctr">
              <a:defRPr sz="1725" b="1">
                <a:solidFill>
                  <a:srgbClr val="10253F"/>
                </a:solidFill>
              </a:defRPr>
            </a:lvl3pPr>
            <a:lvl4pPr algn="ctr">
              <a:defRPr sz="1725" b="1">
                <a:solidFill>
                  <a:srgbClr val="10253F"/>
                </a:solidFill>
              </a:defRPr>
            </a:lvl4pPr>
            <a:lvl5pPr algn="ctr">
              <a:defRPr sz="1725" b="1">
                <a:solidFill>
                  <a:srgbClr val="10253F"/>
                </a:solidFill>
              </a:defRPr>
            </a:lvl5pPr>
            <a:lvl6pPr algn="ctr">
              <a:defRPr sz="1725" b="1">
                <a:solidFill>
                  <a:srgbClr val="10253F"/>
                </a:solidFill>
              </a:defRPr>
            </a:lvl6pPr>
            <a:lvl7pPr algn="ctr">
              <a:defRPr sz="1725" b="1">
                <a:solidFill>
                  <a:srgbClr val="10253F"/>
                </a:solidFill>
              </a:defRPr>
            </a:lvl7pPr>
            <a:lvl8pPr algn="ctr">
              <a:defRPr sz="1725" b="1">
                <a:solidFill>
                  <a:srgbClr val="10253F"/>
                </a:solidFill>
              </a:defRPr>
            </a:lvl8pPr>
            <a:lvl9pPr algn="ctr">
              <a:defRPr sz="1725" b="1">
                <a:solidFill>
                  <a:srgbClr val="10253F"/>
                </a:solidFill>
              </a:defRPr>
            </a:lvl9pPr>
          </a:lstStyle>
          <a:p>
            <a:pPr algn="ctr">
              <a:defRPr sz="1725" b="1">
                <a:solidFill>
                  <a:srgbClr val="10253F"/>
                </a:solidFill>
              </a:defRPr>
            </a:pPr>
            <a:r>
              <a:rPr sz="1725" b="1">
                <a:solidFill>
                  <a:srgbClr val="10253F"/>
                </a:solidFill>
              </a:rPr>
              <a:t>2  Find information</a:t>
            </a:r>
          </a:p>
        </p:txBody>
      </p:sp>
      <p:sp>
        <p:nvSpPr>
          <p:cNvPr id="9" name="Rectangle 8">
            <a:extLst>
              <a:ext uri="{FF2B5EF4-FFF2-40B4-BE49-F238E27FC236}">
                <a16:creationId xmlns:a16="http://schemas.microsoft.com/office/drawing/2014/main" id="{AAE7150D-F8A2-4B73-B79F-2366233900FF}"/>
              </a:ext>
            </a:extLst>
          </p:cNvPr>
          <p:cNvSpPr>
            <a:spLocks noGrp="1"/>
          </p:cNvSpPr>
          <p:nvPr/>
        </p:nvSpPr>
        <p:spPr>
          <a:xfrm>
            <a:off x="2762250" y="3343275"/>
            <a:ext cx="2114550" cy="1171575"/>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Search indexed pages, or use</a:t>
            </a:r>
          </a:p>
          <a:p>
            <a:pPr>
              <a:defRPr sz="1725" b="0">
                <a:solidFill>
                  <a:srgbClr val="21354D"/>
                </a:solidFill>
              </a:defRPr>
            </a:pPr>
            <a:r>
              <a:rPr sz="1725" b="0">
                <a:solidFill>
                  <a:srgbClr val="21354D"/>
                </a:solidFill>
              </a:rPr>
              <a:t>an available app / data service.</a:t>
            </a:r>
          </a:p>
        </p:txBody>
      </p:sp>
      <p:sp>
        <p:nvSpPr>
          <p:cNvPr id="10" name="Arrow: Right 9">
            <a:extLst>
              <a:ext uri="{FF2B5EF4-FFF2-40B4-BE49-F238E27FC236}">
                <a16:creationId xmlns:a16="http://schemas.microsoft.com/office/drawing/2014/main" id="{E997D906-A69A-41AF-B455-D80852F69C3E}"/>
              </a:ext>
            </a:extLst>
          </p:cNvPr>
          <p:cNvSpPr>
            <a:spLocks noGrp="1"/>
          </p:cNvSpPr>
          <p:nvPr/>
        </p:nvSpPr>
        <p:spPr>
          <a:xfrm>
            <a:off x="4895850" y="2686050"/>
            <a:ext cx="142875" cy="209550"/>
          </a:xfrm>
          <a:prstGeom prst="rightArrow">
            <a:avLst/>
          </a:prstGeom>
          <a:solidFill>
            <a:srgbClr val="ED193A"/>
          </a:solidFill>
          <a:ln w="0">
            <a:noFill/>
          </a:ln>
        </p:spPr>
      </p:sp>
      <p:sp>
        <p:nvSpPr>
          <p:cNvPr id="11" name="Rectangle 10">
            <a:extLst>
              <a:ext uri="{FF2B5EF4-FFF2-40B4-BE49-F238E27FC236}">
                <a16:creationId xmlns:a16="http://schemas.microsoft.com/office/drawing/2014/main" id="{E1C8D821-E935-436F-974A-FF0A17F90151}"/>
              </a:ext>
            </a:extLst>
          </p:cNvPr>
          <p:cNvSpPr>
            <a:spLocks noGrp="1"/>
          </p:cNvSpPr>
          <p:nvPr/>
        </p:nvSpPr>
        <p:spPr>
          <a:xfrm>
            <a:off x="5067300" y="2486025"/>
            <a:ext cx="2114550" cy="657225"/>
          </a:xfrm>
          <a:prstGeom prst="rect">
            <a:avLst/>
          </a:prstGeom>
          <a:solidFill>
            <a:srgbClr val="EDF3F8"/>
          </a:solidFill>
          <a:ln w="9525">
            <a:solidFill>
              <a:srgbClr val="10253F"/>
            </a:solidFill>
          </a:ln>
        </p:spPr>
        <p:txBody>
          <a:bodyPr anchor="ctr"/>
          <a:lstStyle>
            <a:defPPr algn="ctr">
              <a:defRPr sz="1725" b="1">
                <a:solidFill>
                  <a:srgbClr val="10253F"/>
                </a:solidFill>
              </a:defRPr>
            </a:defPPr>
            <a:lvl1pPr algn="ctr">
              <a:defRPr sz="1725" b="1">
                <a:solidFill>
                  <a:srgbClr val="10253F"/>
                </a:solidFill>
              </a:defRPr>
            </a:lvl1pPr>
            <a:lvl2pPr algn="ctr">
              <a:defRPr sz="1725" b="1">
                <a:solidFill>
                  <a:srgbClr val="10253F"/>
                </a:solidFill>
              </a:defRPr>
            </a:lvl2pPr>
            <a:lvl3pPr algn="ctr">
              <a:defRPr sz="1725" b="1">
                <a:solidFill>
                  <a:srgbClr val="10253F"/>
                </a:solidFill>
              </a:defRPr>
            </a:lvl3pPr>
            <a:lvl4pPr algn="ctr">
              <a:defRPr sz="1725" b="1">
                <a:solidFill>
                  <a:srgbClr val="10253F"/>
                </a:solidFill>
              </a:defRPr>
            </a:lvl4pPr>
            <a:lvl5pPr algn="ctr">
              <a:defRPr sz="1725" b="1">
                <a:solidFill>
                  <a:srgbClr val="10253F"/>
                </a:solidFill>
              </a:defRPr>
            </a:lvl5pPr>
            <a:lvl6pPr algn="ctr">
              <a:defRPr sz="1725" b="1">
                <a:solidFill>
                  <a:srgbClr val="10253F"/>
                </a:solidFill>
              </a:defRPr>
            </a:lvl6pPr>
            <a:lvl7pPr algn="ctr">
              <a:defRPr sz="1725" b="1">
                <a:solidFill>
                  <a:srgbClr val="10253F"/>
                </a:solidFill>
              </a:defRPr>
            </a:lvl7pPr>
            <a:lvl8pPr algn="ctr">
              <a:defRPr sz="1725" b="1">
                <a:solidFill>
                  <a:srgbClr val="10253F"/>
                </a:solidFill>
              </a:defRPr>
            </a:lvl8pPr>
            <a:lvl9pPr algn="ctr">
              <a:defRPr sz="1725" b="1">
                <a:solidFill>
                  <a:srgbClr val="10253F"/>
                </a:solidFill>
              </a:defRPr>
            </a:lvl9pPr>
          </a:lstStyle>
          <a:p>
            <a:pPr algn="ctr">
              <a:defRPr sz="1725" b="1">
                <a:solidFill>
                  <a:srgbClr val="10253F"/>
                </a:solidFill>
              </a:defRPr>
            </a:pPr>
            <a:r>
              <a:rPr sz="1725" b="1">
                <a:solidFill>
                  <a:srgbClr val="10253F"/>
                </a:solidFill>
              </a:rPr>
              <a:t>3  Read and compare</a:t>
            </a:r>
          </a:p>
        </p:txBody>
      </p:sp>
      <p:sp>
        <p:nvSpPr>
          <p:cNvPr id="12" name="Rectangle 11">
            <a:extLst>
              <a:ext uri="{FF2B5EF4-FFF2-40B4-BE49-F238E27FC236}">
                <a16:creationId xmlns:a16="http://schemas.microsoft.com/office/drawing/2014/main" id="{BAF657C8-1E61-4C38-B831-33484A626D41}"/>
              </a:ext>
            </a:extLst>
          </p:cNvPr>
          <p:cNvSpPr>
            <a:spLocks noGrp="1"/>
          </p:cNvSpPr>
          <p:nvPr/>
        </p:nvSpPr>
        <p:spPr>
          <a:xfrm>
            <a:off x="5067300" y="3343275"/>
            <a:ext cx="2114550" cy="1171575"/>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Select relevant evidence.</a:t>
            </a:r>
          </a:p>
          <a:p>
            <a:pPr>
              <a:defRPr sz="1725" b="0">
                <a:solidFill>
                  <a:srgbClr val="21354D"/>
                </a:solidFill>
              </a:defRPr>
            </a:pPr>
            <a:r>
              <a:rPr sz="1725" b="0">
                <a:solidFill>
                  <a:srgbClr val="21354D"/>
                </a:solidFill>
              </a:rPr>
              <a:t>Content access varies by engine.</a:t>
            </a:r>
          </a:p>
        </p:txBody>
      </p:sp>
      <p:sp>
        <p:nvSpPr>
          <p:cNvPr id="13" name="Arrow: Right 12">
            <a:extLst>
              <a:ext uri="{FF2B5EF4-FFF2-40B4-BE49-F238E27FC236}">
                <a16:creationId xmlns:a16="http://schemas.microsoft.com/office/drawing/2014/main" id="{25E32B6A-5B1B-4C3B-ACB1-7DE4DD77BBDA}"/>
              </a:ext>
            </a:extLst>
          </p:cNvPr>
          <p:cNvSpPr>
            <a:spLocks noGrp="1"/>
          </p:cNvSpPr>
          <p:nvPr/>
        </p:nvSpPr>
        <p:spPr>
          <a:xfrm>
            <a:off x="7200900" y="2686050"/>
            <a:ext cx="142875" cy="209550"/>
          </a:xfrm>
          <a:prstGeom prst="rightArrow">
            <a:avLst/>
          </a:prstGeom>
          <a:solidFill>
            <a:srgbClr val="ED193A"/>
          </a:solidFill>
          <a:ln w="0">
            <a:noFill/>
          </a:ln>
        </p:spPr>
      </p:sp>
      <p:sp>
        <p:nvSpPr>
          <p:cNvPr id="14" name="Rectangle 13">
            <a:extLst>
              <a:ext uri="{FF2B5EF4-FFF2-40B4-BE49-F238E27FC236}">
                <a16:creationId xmlns:a16="http://schemas.microsoft.com/office/drawing/2014/main" id="{A3AF7F6A-55D3-4972-9FAD-7911FF295C9D}"/>
              </a:ext>
            </a:extLst>
          </p:cNvPr>
          <p:cNvSpPr>
            <a:spLocks noGrp="1"/>
          </p:cNvSpPr>
          <p:nvPr/>
        </p:nvSpPr>
        <p:spPr>
          <a:xfrm>
            <a:off x="7372350" y="2486025"/>
            <a:ext cx="2114550" cy="657225"/>
          </a:xfrm>
          <a:prstGeom prst="rect">
            <a:avLst/>
          </a:prstGeom>
          <a:solidFill>
            <a:srgbClr val="EDF3F8"/>
          </a:solidFill>
          <a:ln w="9525">
            <a:solidFill>
              <a:srgbClr val="10253F"/>
            </a:solidFill>
          </a:ln>
        </p:spPr>
        <p:txBody>
          <a:bodyPr anchor="ctr"/>
          <a:lstStyle>
            <a:defPPr algn="ctr">
              <a:defRPr sz="1725" b="1">
                <a:solidFill>
                  <a:srgbClr val="10253F"/>
                </a:solidFill>
              </a:defRPr>
            </a:defPPr>
            <a:lvl1pPr algn="ctr">
              <a:defRPr sz="1725" b="1">
                <a:solidFill>
                  <a:srgbClr val="10253F"/>
                </a:solidFill>
              </a:defRPr>
            </a:lvl1pPr>
            <a:lvl2pPr algn="ctr">
              <a:defRPr sz="1725" b="1">
                <a:solidFill>
                  <a:srgbClr val="10253F"/>
                </a:solidFill>
              </a:defRPr>
            </a:lvl2pPr>
            <a:lvl3pPr algn="ctr">
              <a:defRPr sz="1725" b="1">
                <a:solidFill>
                  <a:srgbClr val="10253F"/>
                </a:solidFill>
              </a:defRPr>
            </a:lvl3pPr>
            <a:lvl4pPr algn="ctr">
              <a:defRPr sz="1725" b="1">
                <a:solidFill>
                  <a:srgbClr val="10253F"/>
                </a:solidFill>
              </a:defRPr>
            </a:lvl4pPr>
            <a:lvl5pPr algn="ctr">
              <a:defRPr sz="1725" b="1">
                <a:solidFill>
                  <a:srgbClr val="10253F"/>
                </a:solidFill>
              </a:defRPr>
            </a:lvl5pPr>
            <a:lvl6pPr algn="ctr">
              <a:defRPr sz="1725" b="1">
                <a:solidFill>
                  <a:srgbClr val="10253F"/>
                </a:solidFill>
              </a:defRPr>
            </a:lvl6pPr>
            <a:lvl7pPr algn="ctr">
              <a:defRPr sz="1725" b="1">
                <a:solidFill>
                  <a:srgbClr val="10253F"/>
                </a:solidFill>
              </a:defRPr>
            </a:lvl7pPr>
            <a:lvl8pPr algn="ctr">
              <a:defRPr sz="1725" b="1">
                <a:solidFill>
                  <a:srgbClr val="10253F"/>
                </a:solidFill>
              </a:defRPr>
            </a:lvl8pPr>
            <a:lvl9pPr algn="ctr">
              <a:defRPr sz="1725" b="1">
                <a:solidFill>
                  <a:srgbClr val="10253F"/>
                </a:solidFill>
              </a:defRPr>
            </a:lvl9pPr>
          </a:lstStyle>
          <a:p>
            <a:pPr algn="ctr">
              <a:defRPr sz="1725" b="1">
                <a:solidFill>
                  <a:srgbClr val="10253F"/>
                </a:solidFill>
              </a:defRPr>
            </a:pPr>
            <a:r>
              <a:rPr sz="1725" b="1">
                <a:solidFill>
                  <a:srgbClr val="10253F"/>
                </a:solidFill>
              </a:rPr>
              <a:t>4  Write the answer</a:t>
            </a:r>
          </a:p>
        </p:txBody>
      </p:sp>
      <p:sp>
        <p:nvSpPr>
          <p:cNvPr id="15" name="Rectangle 14">
            <a:extLst>
              <a:ext uri="{FF2B5EF4-FFF2-40B4-BE49-F238E27FC236}">
                <a16:creationId xmlns:a16="http://schemas.microsoft.com/office/drawing/2014/main" id="{1EEC2385-E9BC-4EEB-8578-29D912C9A460}"/>
              </a:ext>
            </a:extLst>
          </p:cNvPr>
          <p:cNvSpPr>
            <a:spLocks noGrp="1"/>
          </p:cNvSpPr>
          <p:nvPr/>
        </p:nvSpPr>
        <p:spPr>
          <a:xfrm>
            <a:off x="7372350" y="3343275"/>
            <a:ext cx="2114550" cy="1171575"/>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Choose facts and sources to cite.</a:t>
            </a:r>
          </a:p>
          <a:p>
            <a:pPr>
              <a:defRPr sz="1725" b="0">
                <a:solidFill>
                  <a:srgbClr val="21354D"/>
                </a:solidFill>
              </a:defRPr>
            </a:pPr>
            <a:r>
              <a:rPr sz="1725" b="0">
                <a:solidFill>
                  <a:srgbClr val="21354D"/>
                </a:solidFill>
              </a:rPr>
              <a:t>A citation is not a recommendation.</a:t>
            </a:r>
          </a:p>
        </p:txBody>
      </p:sp>
      <p:sp>
        <p:nvSpPr>
          <p:cNvPr id="16" name="Arrow: Right 15">
            <a:extLst>
              <a:ext uri="{FF2B5EF4-FFF2-40B4-BE49-F238E27FC236}">
                <a16:creationId xmlns:a16="http://schemas.microsoft.com/office/drawing/2014/main" id="{4CC9EB07-0E87-45A1-9AA4-BC6B707DBFF3}"/>
              </a:ext>
            </a:extLst>
          </p:cNvPr>
          <p:cNvSpPr>
            <a:spLocks noGrp="1"/>
          </p:cNvSpPr>
          <p:nvPr/>
        </p:nvSpPr>
        <p:spPr>
          <a:xfrm>
            <a:off x="9505950" y="2686050"/>
            <a:ext cx="142875" cy="209550"/>
          </a:xfrm>
          <a:prstGeom prst="rightArrow">
            <a:avLst/>
          </a:prstGeom>
          <a:solidFill>
            <a:srgbClr val="ED193A"/>
          </a:solidFill>
          <a:ln w="0">
            <a:noFill/>
          </a:ln>
        </p:spPr>
      </p:sp>
      <p:sp>
        <p:nvSpPr>
          <p:cNvPr id="17" name="Rectangle 16">
            <a:extLst>
              <a:ext uri="{FF2B5EF4-FFF2-40B4-BE49-F238E27FC236}">
                <a16:creationId xmlns:a16="http://schemas.microsoft.com/office/drawing/2014/main" id="{5FC9D263-BED1-4C80-9FB7-FD32F0D1538B}"/>
              </a:ext>
            </a:extLst>
          </p:cNvPr>
          <p:cNvSpPr>
            <a:spLocks noGrp="1"/>
          </p:cNvSpPr>
          <p:nvPr/>
        </p:nvSpPr>
        <p:spPr>
          <a:xfrm>
            <a:off x="9677400" y="2486025"/>
            <a:ext cx="2114550" cy="657225"/>
          </a:xfrm>
          <a:prstGeom prst="rect">
            <a:avLst/>
          </a:prstGeom>
          <a:solidFill>
            <a:srgbClr val="EDF3F8"/>
          </a:solidFill>
          <a:ln w="9525">
            <a:solidFill>
              <a:srgbClr val="10253F"/>
            </a:solidFill>
          </a:ln>
        </p:spPr>
        <p:txBody>
          <a:bodyPr anchor="ctr"/>
          <a:lstStyle>
            <a:defPPr algn="ctr">
              <a:defRPr sz="1725" b="1">
                <a:solidFill>
                  <a:srgbClr val="10253F"/>
                </a:solidFill>
              </a:defRPr>
            </a:defPPr>
            <a:lvl1pPr algn="ctr">
              <a:defRPr sz="1725" b="1">
                <a:solidFill>
                  <a:srgbClr val="10253F"/>
                </a:solidFill>
              </a:defRPr>
            </a:lvl1pPr>
            <a:lvl2pPr algn="ctr">
              <a:defRPr sz="1725" b="1">
                <a:solidFill>
                  <a:srgbClr val="10253F"/>
                </a:solidFill>
              </a:defRPr>
            </a:lvl2pPr>
            <a:lvl3pPr algn="ctr">
              <a:defRPr sz="1725" b="1">
                <a:solidFill>
                  <a:srgbClr val="10253F"/>
                </a:solidFill>
              </a:defRPr>
            </a:lvl3pPr>
            <a:lvl4pPr algn="ctr">
              <a:defRPr sz="1725" b="1">
                <a:solidFill>
                  <a:srgbClr val="10253F"/>
                </a:solidFill>
              </a:defRPr>
            </a:lvl4pPr>
            <a:lvl5pPr algn="ctr">
              <a:defRPr sz="1725" b="1">
                <a:solidFill>
                  <a:srgbClr val="10253F"/>
                </a:solidFill>
              </a:defRPr>
            </a:lvl5pPr>
            <a:lvl6pPr algn="ctr">
              <a:defRPr sz="1725" b="1">
                <a:solidFill>
                  <a:srgbClr val="10253F"/>
                </a:solidFill>
              </a:defRPr>
            </a:lvl6pPr>
            <a:lvl7pPr algn="ctr">
              <a:defRPr sz="1725" b="1">
                <a:solidFill>
                  <a:srgbClr val="10253F"/>
                </a:solidFill>
              </a:defRPr>
            </a:lvl7pPr>
            <a:lvl8pPr algn="ctr">
              <a:defRPr sz="1725" b="1">
                <a:solidFill>
                  <a:srgbClr val="10253F"/>
                </a:solidFill>
              </a:defRPr>
            </a:lvl8pPr>
            <a:lvl9pPr algn="ctr">
              <a:defRPr sz="1725" b="1">
                <a:solidFill>
                  <a:srgbClr val="10253F"/>
                </a:solidFill>
              </a:defRPr>
            </a:lvl9pPr>
          </a:lstStyle>
          <a:p>
            <a:pPr algn="ctr">
              <a:defRPr sz="1725" b="1">
                <a:solidFill>
                  <a:srgbClr val="10253F"/>
                </a:solidFill>
              </a:defRPr>
            </a:pPr>
            <a:r>
              <a:rPr sz="1725" b="1">
                <a:solidFill>
                  <a:srgbClr val="10253F"/>
                </a:solidFill>
              </a:rPr>
              <a:t>5  Help the customer act</a:t>
            </a:r>
          </a:p>
        </p:txBody>
      </p:sp>
      <p:sp>
        <p:nvSpPr>
          <p:cNvPr id="18" name="Rectangle 17">
            <a:extLst>
              <a:ext uri="{FF2B5EF4-FFF2-40B4-BE49-F238E27FC236}">
                <a16:creationId xmlns:a16="http://schemas.microsoft.com/office/drawing/2014/main" id="{EA7EA613-395E-4A67-A1EE-E70BD6B4969B}"/>
              </a:ext>
            </a:extLst>
          </p:cNvPr>
          <p:cNvSpPr>
            <a:spLocks noGrp="1"/>
          </p:cNvSpPr>
          <p:nvPr/>
        </p:nvSpPr>
        <p:spPr>
          <a:xfrm>
            <a:off x="9677400" y="3343275"/>
            <a:ext cx="2114550" cy="1171575"/>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Visit a site, request a quote,</a:t>
            </a:r>
          </a:p>
          <a:p>
            <a:pPr>
              <a:defRPr sz="1725" b="0">
                <a:solidFill>
                  <a:srgbClr val="21354D"/>
                </a:solidFill>
              </a:defRPr>
            </a:pPr>
            <a:r>
              <a:rPr sz="1725" b="0">
                <a:solidFill>
                  <a:srgbClr val="21354D"/>
                </a:solidFill>
              </a:rPr>
              <a:t>contact an expert or book.</a:t>
            </a:r>
          </a:p>
        </p:txBody>
      </p:sp>
      <p:sp>
        <p:nvSpPr>
          <p:cNvPr id="19" name="Rectangle 18">
            <a:extLst>
              <a:ext uri="{FF2B5EF4-FFF2-40B4-BE49-F238E27FC236}">
                <a16:creationId xmlns:a16="http://schemas.microsoft.com/office/drawing/2014/main" id="{6F2C0383-4F8E-415B-9E3D-B2EA056CC37F}"/>
              </a:ext>
            </a:extLst>
          </p:cNvPr>
          <p:cNvSpPr>
            <a:spLocks noGrp="1"/>
          </p:cNvSpPr>
          <p:nvPr/>
        </p:nvSpPr>
        <p:spPr>
          <a:xfrm>
            <a:off x="457200" y="4933950"/>
            <a:ext cx="11239500" cy="609600"/>
          </a:xfrm>
          <a:prstGeom prst="rect">
            <a:avLst/>
          </a:prstGeom>
          <a:noFill/>
          <a:ln w="0">
            <a:noFill/>
          </a:ln>
        </p:spPr>
        <p:txBody>
          <a:bodyPr anchor="ctr"/>
          <a:lstStyle>
            <a:defPPr>
              <a:defRPr sz="2175" b="1">
                <a:solidFill>
                  <a:srgbClr val="10253F"/>
                </a:solidFill>
              </a:defRPr>
            </a:defPPr>
            <a:lvl1pPr>
              <a:defRPr sz="2175" b="1">
                <a:solidFill>
                  <a:srgbClr val="10253F"/>
                </a:solidFill>
              </a:defRPr>
            </a:lvl1pPr>
            <a:lvl2pPr>
              <a:defRPr sz="2175" b="1">
                <a:solidFill>
                  <a:srgbClr val="10253F"/>
                </a:solidFill>
              </a:defRPr>
            </a:lvl2pPr>
            <a:lvl3pPr>
              <a:defRPr sz="2175" b="1">
                <a:solidFill>
                  <a:srgbClr val="10253F"/>
                </a:solidFill>
              </a:defRPr>
            </a:lvl3pPr>
            <a:lvl4pPr>
              <a:defRPr sz="2175" b="1">
                <a:solidFill>
                  <a:srgbClr val="10253F"/>
                </a:solidFill>
              </a:defRPr>
            </a:lvl4pPr>
            <a:lvl5pPr>
              <a:defRPr sz="2175" b="1">
                <a:solidFill>
                  <a:srgbClr val="10253F"/>
                </a:solidFill>
              </a:defRPr>
            </a:lvl5pPr>
            <a:lvl6pPr>
              <a:defRPr sz="2175" b="1">
                <a:solidFill>
                  <a:srgbClr val="10253F"/>
                </a:solidFill>
              </a:defRPr>
            </a:lvl6pPr>
            <a:lvl7pPr>
              <a:defRPr sz="2175" b="1">
                <a:solidFill>
                  <a:srgbClr val="10253F"/>
                </a:solidFill>
              </a:defRPr>
            </a:lvl7pPr>
            <a:lvl8pPr>
              <a:defRPr sz="2175" b="1">
                <a:solidFill>
                  <a:srgbClr val="10253F"/>
                </a:solidFill>
              </a:defRPr>
            </a:lvl8pPr>
            <a:lvl9pPr>
              <a:defRPr sz="2175" b="1">
                <a:solidFill>
                  <a:srgbClr val="10253F"/>
                </a:solidFill>
              </a:defRPr>
            </a:lvl9pPr>
          </a:lstStyle>
          <a:p>
            <a:pPr>
              <a:defRPr sz="2175" b="1">
                <a:solidFill>
                  <a:srgbClr val="10253F"/>
                </a:solidFill>
              </a:defRPr>
            </a:pPr>
            <a:r>
              <a:rPr sz="1875" b="1">
                <a:solidFill>
                  <a:srgbClr val="10253F"/>
                </a:solidFill>
              </a:rPr>
              <a:t>FC’s website work supports discovery and readable evidence. App/API integration provides an additional route.</a:t>
            </a:r>
          </a:p>
        </p:txBody>
      </p:sp>
      <p:sp>
        <p:nvSpPr>
          <p:cNvPr id="20" name="Rectangle 19">
            <a:extLst>
              <a:ext uri="{FF2B5EF4-FFF2-40B4-BE49-F238E27FC236}">
                <a16:creationId xmlns:a16="http://schemas.microsoft.com/office/drawing/2014/main" id="{32D90612-2137-4F9B-8C7D-806D03A841B5}"/>
              </a:ext>
            </a:extLst>
          </p:cNvPr>
          <p:cNvSpPr>
            <a:spLocks noGrp="1"/>
          </p:cNvSpPr>
          <p:nvPr/>
        </p:nvSpPr>
        <p:spPr>
          <a:xfrm>
            <a:off x="457200" y="5657850"/>
            <a:ext cx="11239500" cy="400050"/>
          </a:xfrm>
          <a:prstGeom prst="rect">
            <a:avLst/>
          </a:prstGeom>
          <a:noFill/>
          <a:ln w="0">
            <a:noFill/>
          </a:ln>
        </p:spPr>
        <p:txBody>
          <a:bodyPr anchor="ctr"/>
          <a:lstStyle>
            <a:defPPr>
              <a:defRPr sz="1800" b="0">
                <a:solidFill>
                  <a:srgbClr val="ED193A"/>
                </a:solidFill>
              </a:defRPr>
            </a:defPPr>
            <a:lvl1pPr>
              <a:defRPr sz="1800" b="0">
                <a:solidFill>
                  <a:srgbClr val="ED193A"/>
                </a:solidFill>
              </a:defRPr>
            </a:lvl1pPr>
            <a:lvl2pPr>
              <a:defRPr sz="1800" b="0">
                <a:solidFill>
                  <a:srgbClr val="ED193A"/>
                </a:solidFill>
              </a:defRPr>
            </a:lvl2pPr>
            <a:lvl3pPr>
              <a:defRPr sz="1800" b="0">
                <a:solidFill>
                  <a:srgbClr val="ED193A"/>
                </a:solidFill>
              </a:defRPr>
            </a:lvl3pPr>
            <a:lvl4pPr>
              <a:defRPr sz="1800" b="0">
                <a:solidFill>
                  <a:srgbClr val="ED193A"/>
                </a:solidFill>
              </a:defRPr>
            </a:lvl4pPr>
            <a:lvl5pPr>
              <a:defRPr sz="1800" b="0">
                <a:solidFill>
                  <a:srgbClr val="ED193A"/>
                </a:solidFill>
              </a:defRPr>
            </a:lvl5pPr>
            <a:lvl6pPr>
              <a:defRPr sz="1800" b="0">
                <a:solidFill>
                  <a:srgbClr val="ED193A"/>
                </a:solidFill>
              </a:defRPr>
            </a:lvl6pPr>
            <a:lvl7pPr>
              <a:defRPr sz="1800" b="0">
                <a:solidFill>
                  <a:srgbClr val="ED193A"/>
                </a:solidFill>
              </a:defRPr>
            </a:lvl7pPr>
            <a:lvl8pPr>
              <a:defRPr sz="1800" b="0">
                <a:solidFill>
                  <a:srgbClr val="ED193A"/>
                </a:solidFill>
              </a:defRPr>
            </a:lvl8pPr>
            <a:lvl9pPr>
              <a:defRPr sz="1800" b="0">
                <a:solidFill>
                  <a:srgbClr val="ED193A"/>
                </a:solidFill>
              </a:defRPr>
            </a:lvl9pPr>
          </a:lstStyle>
          <a:p>
            <a:pPr>
              <a:defRPr sz="1800" b="0">
                <a:solidFill>
                  <a:srgbClr val="ED193A"/>
                </a:solidFill>
              </a:defRPr>
            </a:pPr>
            <a:r>
              <a:rPr sz="1800" b="0">
                <a:solidFill>
                  <a:srgbClr val="ED193A"/>
                </a:solidFill>
              </a:rPr>
              <a:t>Our experiment tests step 4 after the sources have been supplied. It does not test this whole journey.</a:t>
            </a:r>
          </a:p>
        </p:txBody>
      </p:sp>
    </p:spTree>
    <p:extLst>
      <p:ext uri="{BB962C8B-B14F-4D97-AF65-F5344CB8AC3E}">
        <p14:creationId xmlns:p14="http://schemas.microsoft.com/office/powerpoint/2010/main" val="28442976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Our audits found gaps at different stages</a:t>
            </a:r>
          </a:p>
        </p:txBody>
      </p:sp>
      <p:sp>
        <p:nvSpPr>
          <p:cNvPr id="4" name="Rounded Rectangle 3"/>
          <p:cNvSpPr/>
          <p:nvPr/>
        </p:nvSpPr>
        <p:spPr>
          <a:xfrm>
            <a:off x="9582912" y="329184"/>
            <a:ext cx="207568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Live check 25 Oct 2026</a:t>
            </a:r>
          </a:p>
        </p:txBody>
      </p:sp>
      <p:sp>
        <p:nvSpPr>
          <p:cNvPr id="5" name="Rounded Rectangle 4"/>
          <p:cNvSpPr/>
          <p:nvPr/>
        </p:nvSpPr>
        <p:spPr>
          <a:xfrm>
            <a:off x="7008876" y="329184"/>
            <a:ext cx="2464308"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Semester 1 audit (May 2026)</a:t>
            </a:r>
          </a:p>
        </p:txBody>
      </p:sp>
      <p:pic>
        <p:nvPicPr>
          <p:cNvPr id="6" name="Picture 5" descr="hist_chatgpt_unbranded_answer_202605.png"/>
          <p:cNvPicPr>
            <a:picLocks noChangeAspect="1"/>
          </p:cNvPicPr>
          <p:nvPr/>
        </p:nvPicPr>
        <p:blipFill>
          <a:blip r:embed="rId3"/>
          <a:stretch>
            <a:fillRect/>
          </a:stretch>
        </p:blipFill>
        <p:spPr>
          <a:xfrm>
            <a:off x="548640" y="1600200"/>
            <a:ext cx="3931920" cy="3001734"/>
          </a:xfrm>
          <a:prstGeom prst="rect">
            <a:avLst/>
          </a:prstGeom>
        </p:spPr>
      </p:pic>
      <p:sp>
        <p:nvSpPr>
          <p:cNvPr id="7" name="TextBox 6"/>
          <p:cNvSpPr txBox="1"/>
          <p:nvPr/>
        </p:nvSpPr>
        <p:spPr>
          <a:xfrm>
            <a:off x="548640" y="4663440"/>
            <a:ext cx="3931920" cy="530915"/>
          </a:xfrm>
          <a:prstGeom prst="rect">
            <a:avLst/>
          </a:prstGeom>
          <a:noFill/>
        </p:spPr>
        <p:txBody>
          <a:bodyPr wrap="square" lIns="45720" rIns="45720" anchor="t">
            <a:spAutoFit/>
          </a:bodyPr>
          <a:lstStyle/>
          <a:p>
            <a:pPr algn="l">
              <a:lnSpc>
                <a:spcPct val="100000"/>
              </a:lnSpc>
            </a:pPr>
            <a:r>
              <a:rPr sz="950" b="0" i="1">
                <a:solidFill>
                  <a:srgbClr val="5B6573"/>
                </a:solidFill>
                <a:latin typeface="Calibri"/>
              </a:rPr>
              <a:t>ChatGPT, May 2026: 'Best travel agent for booking international package holidays from Australia'. Agencies named; Flight Centre absent; sources were forums and review sites.</a:t>
            </a:r>
          </a:p>
        </p:txBody>
      </p:sp>
      <p:graphicFrame>
        <p:nvGraphicFramePr>
          <p:cNvPr id="8" name="Table 7"/>
          <p:cNvGraphicFramePr>
            <a:graphicFrameLocks noGrp="1"/>
          </p:cNvGraphicFramePr>
          <p:nvPr/>
        </p:nvGraphicFramePr>
        <p:xfrm>
          <a:off x="4709160" y="1600200"/>
          <a:ext cx="6949440" cy="214884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58140">
                <a:tc>
                  <a:txBody>
                    <a:bodyPr/>
                    <a:lstStyle/>
                    <a:p>
                      <a:r>
                        <a:rPr sz="1000" b="1" i="0">
                          <a:solidFill>
                            <a:srgbClr val="FFFFFF"/>
                          </a:solidFill>
                          <a:latin typeface="Calibri"/>
                        </a:rPr>
                        <a:t>Unbranded question class (May 2026 panel)</a:t>
                      </a:r>
                    </a:p>
                  </a:txBody>
                  <a:tcPr marL="64008" marR="64008" marT="36576" marB="36576" anchor="ctr">
                    <a:solidFill>
                      <a:srgbClr val="0B2240"/>
                    </a:solidFill>
                  </a:tcPr>
                </a:tc>
                <a:tc>
                  <a:txBody>
                    <a:bodyPr/>
                    <a:lstStyle/>
                    <a:p>
                      <a:r>
                        <a:rPr sz="1000" b="1" i="0">
                          <a:solidFill>
                            <a:srgbClr val="FFFFFF"/>
                          </a:solidFill>
                          <a:latin typeface="Calibri"/>
                        </a:rPr>
                        <a:t>FC impression score</a:t>
                      </a:r>
                    </a:p>
                  </a:txBody>
                  <a:tcPr marL="64008" marR="64008" marT="36576" marB="36576" anchor="ctr">
                    <a:solidFill>
                      <a:srgbClr val="0B2240"/>
                    </a:solidFill>
                  </a:tcPr>
                </a:tc>
                <a:tc>
                  <a:txBody>
                    <a:bodyPr/>
                    <a:lstStyle/>
                    <a:p>
                      <a:r>
                        <a:rPr sz="1000" b="1" i="0">
                          <a:solidFill>
                            <a:srgbClr val="FFFFFF"/>
                          </a:solidFill>
                          <a:latin typeface="Calibri"/>
                        </a:rPr>
                        <a:t>Reading</a:t>
                      </a:r>
                    </a:p>
                  </a:txBody>
                  <a:tcPr marL="64008" marR="64008" marT="36576" marB="36576" anchor="ctr">
                    <a:solidFill>
                      <a:srgbClr val="0B2240"/>
                    </a:solidFill>
                  </a:tcPr>
                </a:tc>
                <a:extLst>
                  <a:ext uri="{0D108BD9-81ED-4DB2-BD59-A6C34878D82A}">
                    <a16:rowId xmlns:a16="http://schemas.microsoft.com/office/drawing/2014/main" val="10000"/>
                  </a:ext>
                </a:extLst>
              </a:tr>
              <a:tr h="358140">
                <a:tc>
                  <a:txBody>
                    <a:bodyPr/>
                    <a:lstStyle/>
                    <a:p>
                      <a:r>
                        <a:rPr sz="1000" b="0" i="0">
                          <a:solidFill>
                            <a:srgbClr val="1F2937"/>
                          </a:solidFill>
                          <a:latin typeface="Calibri"/>
                        </a:rPr>
                        <a:t>Commercial investigation</a:t>
                      </a:r>
                    </a:p>
                  </a:txBody>
                  <a:tcPr marL="64008" marR="64008" marT="36576" marB="36576">
                    <a:solidFill>
                      <a:srgbClr val="FFFFFF"/>
                    </a:solidFill>
                  </a:tcPr>
                </a:tc>
                <a:tc>
                  <a:txBody>
                    <a:bodyPr/>
                    <a:lstStyle/>
                    <a:p>
                      <a:r>
                        <a:rPr sz="1000" b="0" i="0">
                          <a:solidFill>
                            <a:srgbClr val="1F2937"/>
                          </a:solidFill>
                          <a:latin typeface="Calibri"/>
                        </a:rPr>
                        <a:t>2.34%</a:t>
                      </a:r>
                    </a:p>
                  </a:txBody>
                  <a:tcPr marL="64008" marR="64008" marT="36576" marB="36576">
                    <a:solidFill>
                      <a:srgbClr val="FFFFFF"/>
                    </a:solidFill>
                  </a:tcPr>
                </a:tc>
                <a:tc>
                  <a:txBody>
                    <a:bodyPr/>
                    <a:lstStyle/>
                    <a:p>
                      <a:r>
                        <a:rPr sz="1000" b="0" i="0">
                          <a:solidFill>
                            <a:srgbClr val="1F2937"/>
                          </a:solidFill>
                          <a:latin typeface="Calibri"/>
                        </a:rPr>
                        <a:t>FC's strongest unbranded class</a:t>
                      </a:r>
                    </a:p>
                  </a:txBody>
                  <a:tcPr marL="64008" marR="64008" marT="36576" marB="36576">
                    <a:solidFill>
                      <a:srgbClr val="FFFFFF"/>
                    </a:solidFill>
                  </a:tcPr>
                </a:tc>
                <a:extLst>
                  <a:ext uri="{0D108BD9-81ED-4DB2-BD59-A6C34878D82A}">
                    <a16:rowId xmlns:a16="http://schemas.microsoft.com/office/drawing/2014/main" val="10001"/>
                  </a:ext>
                </a:extLst>
              </a:tr>
              <a:tr h="358140">
                <a:tc>
                  <a:txBody>
                    <a:bodyPr/>
                    <a:lstStyle/>
                    <a:p>
                      <a:r>
                        <a:rPr sz="1000" b="0" i="0">
                          <a:solidFill>
                            <a:srgbClr val="1F2937"/>
                          </a:solidFill>
                          <a:latin typeface="Calibri"/>
                        </a:rPr>
                        <a:t>Navigational ('travel agency near Brisbane')</a:t>
                      </a:r>
                    </a:p>
                  </a:txBody>
                  <a:tcPr marL="64008" marR="64008" marT="36576" marB="36576">
                    <a:solidFill>
                      <a:srgbClr val="F3F5F8"/>
                    </a:solidFill>
                  </a:tcPr>
                </a:tc>
                <a:tc>
                  <a:txBody>
                    <a:bodyPr/>
                    <a:lstStyle/>
                    <a:p>
                      <a:r>
                        <a:rPr sz="1000" b="0" i="0">
                          <a:solidFill>
                            <a:srgbClr val="1F2937"/>
                          </a:solidFill>
                          <a:latin typeface="Calibri"/>
                        </a:rPr>
                        <a:t>1.75%</a:t>
                      </a:r>
                    </a:p>
                  </a:txBody>
                  <a:tcPr marL="64008" marR="64008" marT="36576" marB="36576">
                    <a:solidFill>
                      <a:srgbClr val="F3F5F8"/>
                    </a:solidFill>
                  </a:tcPr>
                </a:tc>
                <a:tc>
                  <a:txBody>
                    <a:bodyPr/>
                    <a:lstStyle/>
                    <a:p>
                      <a:r>
                        <a:rPr sz="1000" b="0" i="0">
                          <a:solidFill>
                            <a:srgbClr val="1F2937"/>
                          </a:solidFill>
                          <a:latin typeface="Calibri"/>
                        </a:rPr>
                        <a:t>Small sample, directional</a:t>
                      </a:r>
                    </a:p>
                  </a:txBody>
                  <a:tcPr marL="64008" marR="64008" marT="36576" marB="36576">
                    <a:solidFill>
                      <a:srgbClr val="F3F5F8"/>
                    </a:solidFill>
                  </a:tcPr>
                </a:tc>
                <a:extLst>
                  <a:ext uri="{0D108BD9-81ED-4DB2-BD59-A6C34878D82A}">
                    <a16:rowId xmlns:a16="http://schemas.microsoft.com/office/drawing/2014/main" val="10002"/>
                  </a:ext>
                </a:extLst>
              </a:tr>
              <a:tr h="358140">
                <a:tc>
                  <a:txBody>
                    <a:bodyPr/>
                    <a:lstStyle/>
                    <a:p>
                      <a:r>
                        <a:rPr sz="1000" b="0" i="0">
                          <a:solidFill>
                            <a:srgbClr val="1F2937"/>
                          </a:solidFill>
                          <a:latin typeface="Calibri"/>
                        </a:rPr>
                        <a:t>Informational</a:t>
                      </a:r>
                    </a:p>
                  </a:txBody>
                  <a:tcPr marL="64008" marR="64008" marT="36576" marB="36576">
                    <a:solidFill>
                      <a:srgbClr val="FFFFFF"/>
                    </a:solidFill>
                  </a:tcPr>
                </a:tc>
                <a:tc>
                  <a:txBody>
                    <a:bodyPr/>
                    <a:lstStyle/>
                    <a:p>
                      <a:r>
                        <a:rPr sz="1000" b="0" i="0">
                          <a:solidFill>
                            <a:srgbClr val="1F2937"/>
                          </a:solidFill>
                          <a:latin typeface="Calibri"/>
                        </a:rPr>
                        <a:t>0.00%</a:t>
                      </a:r>
                    </a:p>
                  </a:txBody>
                  <a:tcPr marL="64008" marR="64008" marT="36576" marB="36576">
                    <a:solidFill>
                      <a:srgbClr val="FFFFFF"/>
                    </a:solidFill>
                  </a:tcPr>
                </a:tc>
                <a:tc>
                  <a:txBody>
                    <a:bodyPr/>
                    <a:lstStyle/>
                    <a:p>
                      <a:r>
                        <a:rPr sz="1000" b="0" i="0">
                          <a:solidFill>
                            <a:srgbClr val="1F2937"/>
                          </a:solidFill>
                          <a:latin typeface="Calibri"/>
                        </a:rPr>
                        <a:t>FC did not surface on any platform</a:t>
                      </a:r>
                    </a:p>
                  </a:txBody>
                  <a:tcPr marL="64008" marR="64008" marT="36576" marB="36576">
                    <a:solidFill>
                      <a:srgbClr val="FFFFFF"/>
                    </a:solidFill>
                  </a:tcPr>
                </a:tc>
                <a:extLst>
                  <a:ext uri="{0D108BD9-81ED-4DB2-BD59-A6C34878D82A}">
                    <a16:rowId xmlns:a16="http://schemas.microsoft.com/office/drawing/2014/main" val="10003"/>
                  </a:ext>
                </a:extLst>
              </a:tr>
              <a:tr h="358140">
                <a:tc>
                  <a:txBody>
                    <a:bodyPr/>
                    <a:lstStyle/>
                    <a:p>
                      <a:r>
                        <a:rPr sz="1000" b="0" i="0">
                          <a:solidFill>
                            <a:srgbClr val="1F2937"/>
                          </a:solidFill>
                          <a:latin typeface="Calibri"/>
                        </a:rPr>
                        <a:t>Transactional</a:t>
                      </a:r>
                    </a:p>
                  </a:txBody>
                  <a:tcPr marL="64008" marR="64008" marT="36576" marB="36576">
                    <a:solidFill>
                      <a:srgbClr val="F3F5F8"/>
                    </a:solidFill>
                  </a:tcPr>
                </a:tc>
                <a:tc>
                  <a:txBody>
                    <a:bodyPr/>
                    <a:lstStyle/>
                    <a:p>
                      <a:r>
                        <a:rPr sz="1000" b="0" i="0">
                          <a:solidFill>
                            <a:srgbClr val="1F2937"/>
                          </a:solidFill>
                          <a:latin typeface="Calibri"/>
                        </a:rPr>
                        <a:t>0.00%</a:t>
                      </a:r>
                    </a:p>
                  </a:txBody>
                  <a:tcPr marL="64008" marR="64008" marT="36576" marB="36576">
                    <a:solidFill>
                      <a:srgbClr val="F3F5F8"/>
                    </a:solidFill>
                  </a:tcPr>
                </a:tc>
                <a:tc>
                  <a:txBody>
                    <a:bodyPr/>
                    <a:lstStyle/>
                    <a:p>
                      <a:r>
                        <a:rPr sz="1000" b="0" i="0">
                          <a:solidFill>
                            <a:srgbClr val="1F2937"/>
                          </a:solidFill>
                          <a:latin typeface="Calibri"/>
                        </a:rPr>
                        <a:t>Aggregators dominate (Google Flights, Kayak)</a:t>
                      </a:r>
                    </a:p>
                  </a:txBody>
                  <a:tcPr marL="64008" marR="64008" marT="36576" marB="36576">
                    <a:solidFill>
                      <a:srgbClr val="F3F5F8"/>
                    </a:solidFill>
                  </a:tcPr>
                </a:tc>
                <a:extLst>
                  <a:ext uri="{0D108BD9-81ED-4DB2-BD59-A6C34878D82A}">
                    <a16:rowId xmlns:a16="http://schemas.microsoft.com/office/drawing/2014/main" val="10004"/>
                  </a:ext>
                </a:extLst>
              </a:tr>
              <a:tr h="358140">
                <a:tc>
                  <a:txBody>
                    <a:bodyPr/>
                    <a:lstStyle/>
                    <a:p>
                      <a:r>
                        <a:rPr sz="1000" b="0" i="0">
                          <a:solidFill>
                            <a:srgbClr val="1F2937"/>
                          </a:solidFill>
                          <a:latin typeface="Calibri"/>
                        </a:rPr>
                        <a:t>Branded ('Flight Centre Bali')</a:t>
                      </a:r>
                    </a:p>
                  </a:txBody>
                  <a:tcPr marL="64008" marR="64008" marT="36576" marB="36576">
                    <a:solidFill>
                      <a:srgbClr val="FFFFFF"/>
                    </a:solidFill>
                  </a:tcPr>
                </a:tc>
                <a:tc>
                  <a:txBody>
                    <a:bodyPr/>
                    <a:lstStyle/>
                    <a:p>
                      <a:r>
                        <a:rPr sz="1000" b="0" i="0">
                          <a:solidFill>
                            <a:srgbClr val="1F2937"/>
                          </a:solidFill>
                          <a:latin typeface="Calibri"/>
                        </a:rPr>
                        <a:t>~100%</a:t>
                      </a:r>
                    </a:p>
                  </a:txBody>
                  <a:tcPr marL="64008" marR="64008" marT="36576" marB="36576">
                    <a:solidFill>
                      <a:srgbClr val="FFFFFF"/>
                    </a:solidFill>
                  </a:tcPr>
                </a:tc>
                <a:tc>
                  <a:txBody>
                    <a:bodyPr/>
                    <a:lstStyle/>
                    <a:p>
                      <a:r>
                        <a:rPr sz="1000" b="0" i="0">
                          <a:solidFill>
                            <a:srgbClr val="1F2937"/>
                          </a:solidFill>
                          <a:latin typeface="Calibri"/>
                        </a:rPr>
                        <a:t>Strong in this branded sample; unbranded gaps remain</a:t>
                      </a:r>
                    </a:p>
                  </a:txBody>
                  <a:tcPr marL="64008" marR="64008" marT="36576" marB="36576">
                    <a:solidFill>
                      <a:srgbClr val="FFFFFF"/>
                    </a:solidFill>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nvGraphicFramePr>
        <p:xfrm>
          <a:off x="4709160" y="3931920"/>
          <a:ext cx="6949440" cy="2240280"/>
        </p:xfrm>
        <a:graphic>
          <a:graphicData uri="http://schemas.openxmlformats.org/drawingml/2006/table">
            <a:tbl>
              <a:tblPr/>
              <a:tblGrid>
                <a:gridCol w="54864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373380">
                <a:tc>
                  <a:txBody>
                    <a:bodyPr/>
                    <a:lstStyle/>
                    <a:p>
                      <a:r>
                        <a:rPr sz="1000" b="1" i="0">
                          <a:solidFill>
                            <a:srgbClr val="FFFFFF"/>
                          </a:solidFill>
                          <a:latin typeface="Calibri"/>
                        </a:rPr>
                        <a:t>Live check, 25 Oct 2026 (no JavaScript)</a:t>
                      </a:r>
                    </a:p>
                  </a:txBody>
                  <a:tcPr marL="64008" marR="64008" marT="36576" marB="36576" anchor="ctr">
                    <a:solidFill>
                      <a:srgbClr val="0B2240"/>
                    </a:solidFill>
                  </a:tcPr>
                </a:tc>
                <a:tc>
                  <a:txBody>
                    <a:bodyPr/>
                    <a:lstStyle/>
                    <a:p>
                      <a:r>
                        <a:rPr sz="1000" b="1" i="0">
                          <a:solidFill>
                            <a:srgbClr val="FFFFFF"/>
                          </a:solidFill>
                          <a:latin typeface="Calibri"/>
                        </a:rPr>
                        <a:t>Found</a:t>
                      </a:r>
                    </a:p>
                  </a:txBody>
                  <a:tcPr marL="64008" marR="64008" marT="36576" marB="36576" anchor="ctr">
                    <a:solidFill>
                      <a:srgbClr val="0B2240"/>
                    </a:solidFill>
                  </a:tcPr>
                </a:tc>
                <a:extLst>
                  <a:ext uri="{0D108BD9-81ED-4DB2-BD59-A6C34878D82A}">
                    <a16:rowId xmlns:a16="http://schemas.microsoft.com/office/drawing/2014/main" val="10000"/>
                  </a:ext>
                </a:extLst>
              </a:tr>
              <a:tr h="373380">
                <a:tc>
                  <a:txBody>
                    <a:bodyPr/>
                    <a:lstStyle/>
                    <a:p>
                      <a:r>
                        <a:rPr sz="1000" b="0" i="0">
                          <a:solidFill>
                            <a:srgbClr val="1F2937"/>
                          </a:solidFill>
                          <a:latin typeface="Calibri"/>
                        </a:rPr>
                        <a:t>Route pages (Melbourne–London, Brisbane–Bali): FAQ text and one JSON-LD block (FAQPage, Flight, Offer)</a:t>
                      </a:r>
                    </a:p>
                  </a:txBody>
                  <a:tcPr marL="64008" marR="64008" marT="36576" marB="36576">
                    <a:solidFill>
                      <a:srgbClr val="FFFFFF"/>
                    </a:solidFill>
                  </a:tcPr>
                </a:tc>
                <a:tc>
                  <a:txBody>
                    <a:bodyPr/>
                    <a:lstStyle/>
                    <a:p>
                      <a:r>
                        <a:rPr sz="1000" b="0" i="0">
                          <a:solidFill>
                            <a:srgbClr val="1F2937"/>
                          </a:solidFill>
                          <a:latin typeface="Calibri"/>
                        </a:rPr>
                        <a:t>Yes</a:t>
                      </a:r>
                    </a:p>
                  </a:txBody>
                  <a:tcPr marL="64008" marR="64008" marT="36576" marB="36576">
                    <a:solidFill>
                      <a:srgbClr val="E4F1E8"/>
                    </a:solidFill>
                  </a:tcPr>
                </a:tc>
                <a:extLst>
                  <a:ext uri="{0D108BD9-81ED-4DB2-BD59-A6C34878D82A}">
                    <a16:rowId xmlns:a16="http://schemas.microsoft.com/office/drawing/2014/main" val="10001"/>
                  </a:ext>
                </a:extLst>
              </a:tr>
              <a:tr h="373380">
                <a:tc>
                  <a:txBody>
                    <a:bodyPr/>
                    <a:lstStyle/>
                    <a:p>
                      <a:r>
                        <a:rPr sz="1000" b="0" i="0">
                          <a:solidFill>
                            <a:srgbClr val="1F2937"/>
                          </a:solidFill>
                          <a:latin typeface="Calibri"/>
                        </a:rPr>
                        <a:t>Route pages: dated deal cards (airline, dates, cabin, price) in the HTML</a:t>
                      </a:r>
                    </a:p>
                  </a:txBody>
                  <a:tcPr marL="64008" marR="64008" marT="36576" marB="36576">
                    <a:solidFill>
                      <a:srgbClr val="F3F5F8"/>
                    </a:solidFill>
                  </a:tcPr>
                </a:tc>
                <a:tc>
                  <a:txBody>
                    <a:bodyPr/>
                    <a:lstStyle/>
                    <a:p>
                      <a:r>
                        <a:rPr sz="1000" b="0" i="0">
                          <a:solidFill>
                            <a:srgbClr val="1F2937"/>
                          </a:solidFill>
                          <a:latin typeface="Calibri"/>
                        </a:rPr>
                        <a:t>No</a:t>
                      </a:r>
                    </a:p>
                  </a:txBody>
                  <a:tcPr marL="64008" marR="64008" marT="36576" marB="36576">
                    <a:solidFill>
                      <a:srgbClr val="FBE8EA"/>
                    </a:solidFill>
                  </a:tcPr>
                </a:tc>
                <a:extLst>
                  <a:ext uri="{0D108BD9-81ED-4DB2-BD59-A6C34878D82A}">
                    <a16:rowId xmlns:a16="http://schemas.microsoft.com/office/drawing/2014/main" val="10002"/>
                  </a:ext>
                </a:extLst>
              </a:tr>
              <a:tr h="373380">
                <a:tc>
                  <a:txBody>
                    <a:bodyPr/>
                    <a:lstStyle/>
                    <a:p>
                      <a:r>
                        <a:rPr sz="1000" b="0" i="0">
                          <a:solidFill>
                            <a:srgbClr val="1F2937"/>
                          </a:solidFill>
                          <a:latin typeface="Calibri"/>
                        </a:rPr>
                        <a:t>Holiday pages (Bali, Fiji): any JSON-LD (FAQ questions are now in the text, an improvement since August)</a:t>
                      </a:r>
                    </a:p>
                  </a:txBody>
                  <a:tcPr marL="64008" marR="64008" marT="36576" marB="36576">
                    <a:solidFill>
                      <a:srgbClr val="FFFFFF"/>
                    </a:solidFill>
                  </a:tcPr>
                </a:tc>
                <a:tc>
                  <a:txBody>
                    <a:bodyPr/>
                    <a:lstStyle/>
                    <a:p>
                      <a:r>
                        <a:rPr sz="1000" b="0" i="0">
                          <a:solidFill>
                            <a:srgbClr val="1F2937"/>
                          </a:solidFill>
                          <a:latin typeface="Calibri"/>
                        </a:rPr>
                        <a:t>No</a:t>
                      </a:r>
                    </a:p>
                  </a:txBody>
                  <a:tcPr marL="64008" marR="64008" marT="36576" marB="36576">
                    <a:solidFill>
                      <a:srgbClr val="FBE8EA"/>
                    </a:solidFill>
                  </a:tcPr>
                </a:tc>
                <a:extLst>
                  <a:ext uri="{0D108BD9-81ED-4DB2-BD59-A6C34878D82A}">
                    <a16:rowId xmlns:a16="http://schemas.microsoft.com/office/drawing/2014/main" val="10003"/>
                  </a:ext>
                </a:extLst>
              </a:tr>
              <a:tr h="373380">
                <a:tc>
                  <a:txBody>
                    <a:bodyPr/>
                    <a:lstStyle/>
                    <a:p>
                      <a:r>
                        <a:rPr sz="1000" b="0" i="0">
                          <a:solidFill>
                            <a:srgbClr val="1F2937"/>
                          </a:solidFill>
                          <a:latin typeface="Calibri"/>
                        </a:rPr>
                        <a:t>/llms.txt (Expedia publishes one; Google ignores it)</a:t>
                      </a:r>
                    </a:p>
                  </a:txBody>
                  <a:tcPr marL="64008" marR="64008" marT="36576" marB="36576">
                    <a:solidFill>
                      <a:srgbClr val="F3F5F8"/>
                    </a:solidFill>
                  </a:tcPr>
                </a:tc>
                <a:tc>
                  <a:txBody>
                    <a:bodyPr/>
                    <a:lstStyle/>
                    <a:p>
                      <a:r>
                        <a:rPr sz="1000" b="0" i="0">
                          <a:solidFill>
                            <a:srgbClr val="1F2937"/>
                          </a:solidFill>
                          <a:latin typeface="Calibri"/>
                        </a:rPr>
                        <a:t>404</a:t>
                      </a:r>
                    </a:p>
                  </a:txBody>
                  <a:tcPr marL="64008" marR="64008" marT="36576" marB="36576">
                    <a:solidFill>
                      <a:srgbClr val="FFF3DC"/>
                    </a:solidFill>
                  </a:tcPr>
                </a:tc>
                <a:extLst>
                  <a:ext uri="{0D108BD9-81ED-4DB2-BD59-A6C34878D82A}">
                    <a16:rowId xmlns:a16="http://schemas.microsoft.com/office/drawing/2014/main" val="10004"/>
                  </a:ext>
                </a:extLst>
              </a:tr>
              <a:tr h="373380">
                <a:tc>
                  <a:txBody>
                    <a:bodyPr/>
                    <a:lstStyle/>
                    <a:p>
                      <a:r>
                        <a:rPr sz="1000" b="0" i="0">
                          <a:solidFill>
                            <a:srgbClr val="1F2937"/>
                          </a:solidFill>
                          <a:latin typeface="Calibri"/>
                        </a:rPr>
                        <a:t>robots.txt allows AI search and training bots (wildcard Allow, plus GPTBot, PerplexityBot, AnthropicBot named)</a:t>
                      </a:r>
                    </a:p>
                  </a:txBody>
                  <a:tcPr marL="64008" marR="64008" marT="36576" marB="36576">
                    <a:solidFill>
                      <a:srgbClr val="FFFFFF"/>
                    </a:solidFill>
                  </a:tcPr>
                </a:tc>
                <a:tc>
                  <a:txBody>
                    <a:bodyPr/>
                    <a:lstStyle/>
                    <a:p>
                      <a:r>
                        <a:rPr sz="1000" b="0" i="0">
                          <a:solidFill>
                            <a:srgbClr val="1F2937"/>
                          </a:solidFill>
                          <a:latin typeface="Calibri"/>
                        </a:rPr>
                        <a:t>Yes</a:t>
                      </a:r>
                    </a:p>
                  </a:txBody>
                  <a:tcPr marL="64008" marR="64008" marT="36576" marB="36576">
                    <a:solidFill>
                      <a:srgbClr val="E4F1E8"/>
                    </a:solidFill>
                  </a:tcPr>
                </a:tc>
                <a:extLst>
                  <a:ext uri="{0D108BD9-81ED-4DB2-BD59-A6C34878D82A}">
                    <a16:rowId xmlns:a16="http://schemas.microsoft.com/office/drawing/2014/main" val="10005"/>
                  </a:ext>
                </a:extLst>
              </a:tr>
            </a:tbl>
          </a:graphicData>
        </a:graphic>
      </p:graphicFrame>
      <p:sp>
        <p:nvSpPr>
          <p:cNvPr id="10" name="TextBox 9"/>
          <p:cNvSpPr txBox="1"/>
          <p:nvPr/>
        </p:nvSpPr>
        <p:spPr>
          <a:xfrm>
            <a:off x="548640" y="5349240"/>
            <a:ext cx="4023360" cy="1077218"/>
          </a:xfrm>
          <a:prstGeom prst="rect">
            <a:avLst/>
          </a:prstGeom>
          <a:noFill/>
        </p:spPr>
        <p:txBody>
          <a:bodyPr wrap="square" lIns="45720" rIns="45720" anchor="t">
            <a:spAutoFit/>
          </a:bodyPr>
          <a:lstStyle/>
          <a:p>
            <a:pPr algn="l"/>
            <a:r>
              <a:rPr sz="1600" b="0" i="0">
                <a:solidFill>
                  <a:srgbClr val="0B2240"/>
                </a:solidFill>
                <a:latin typeface="Calibri"/>
              </a:rPr>
              <a:t>Saved search audit: FC appeared in the top 10 for 30 of 50 questions, but none of eight agent-value questions. These are dated samples, not universal absence.</a:t>
            </a:r>
          </a:p>
        </p:txBody>
      </p:sp>
      <p:sp>
        <p:nvSpPr>
          <p:cNvPr id="11" name="TextBox 10"/>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Pillar 2 audit §10.3 (impression score = FC-related words as % of answer words; single run per cell; directional). Live fetches of flightcentre.com.au 25 Oct 2026 with JavaScript off (counts of application/ld+json, FAQPage, 'Available between'). Brave Search AU snapshot, Aug 2026 (fc_search_rank = best rank across three wordings; questions Q23–Q30). Not 'zero everywhere': a documented subset.</a:t>
            </a:r>
          </a:p>
        </p:txBody>
      </p:sp>
      <p:sp>
        <p:nvSpPr>
          <p:cNvPr id="12" name="TextBox 11"/>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5</a:t>
            </a:r>
            <a:endParaRPr sz="900" b="0" i="0">
              <a:solidFill>
                <a:srgbClr val="5B6573"/>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Accessible pages must also contain readable information</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8485632" y="329184"/>
            <a:ext cx="207568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Live check 25 Oct 2026</a:t>
            </a:r>
          </a:p>
        </p:txBody>
      </p:sp>
      <p:sp>
        <p:nvSpPr>
          <p:cNvPr id="6" name="Rounded Rectangle 5"/>
          <p:cNvSpPr/>
          <p:nvPr/>
        </p:nvSpPr>
        <p:spPr>
          <a:xfrm>
            <a:off x="548640" y="1600200"/>
            <a:ext cx="4754880" cy="2514600"/>
          </a:xfrm>
          <a:prstGeom prst="roundRect">
            <a:avLst>
              <a:gd name="adj" fmla="val 4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13232" y="1709928"/>
            <a:ext cx="4425696" cy="2313432"/>
          </a:xfrm>
          <a:prstGeom prst="rect">
            <a:avLst/>
          </a:prstGeom>
          <a:noFill/>
        </p:spPr>
        <p:txBody>
          <a:bodyPr wrap="square" lIns="45720" rIns="45720" anchor="t">
            <a:spAutoFit/>
          </a:bodyPr>
          <a:lstStyle/>
          <a:p>
            <a:pPr algn="l">
              <a:spcBef>
                <a:spcPts val="0"/>
              </a:spcBef>
              <a:spcAft>
                <a:spcPts val="300"/>
              </a:spcAft>
            </a:pPr>
            <a:r>
              <a:rPr sz="1700" b="0" i="0">
                <a:solidFill>
                  <a:srgbClr val="9FB3CC"/>
                </a:solidFill>
                <a:latin typeface="Calibri"/>
              </a:rPr>
              <a:t>Robots permission is present.</a:t>
            </a:r>
          </a:p>
          <a:p>
            <a:pPr algn="l">
              <a:spcBef>
                <a:spcPts val="0"/>
              </a:spcBef>
              <a:spcAft>
                <a:spcPts val="300"/>
              </a:spcAft>
            </a:pPr>
            <a:r>
              <a:rPr sz="1700" b="0" i="0">
                <a:solidFill>
                  <a:srgbClr val="9FB3CC"/>
                </a:solidFill>
                <a:latin typeface="Calibri"/>
              </a:rPr>
              <a:t>CDN rules can still block access.</a:t>
            </a:r>
          </a:p>
          <a:p>
            <a:pPr algn="l">
              <a:spcBef>
                <a:spcPts val="0"/>
              </a:spcBef>
              <a:spcAft>
                <a:spcPts val="300"/>
              </a:spcAft>
            </a:pPr>
            <a:r>
              <a:rPr sz="1700" b="0" i="0">
                <a:solidFill>
                  <a:srgbClr val="9FB3CC"/>
                </a:solidFill>
                <a:latin typeface="Calibri"/>
              </a:rPr>
              <a:t>Verify genuine crawler requests.</a:t>
            </a:r>
          </a:p>
        </p:txBody>
      </p:sp>
      <p:sp>
        <p:nvSpPr>
          <p:cNvPr id="8" name="Rounded Rectangle 7"/>
          <p:cNvSpPr/>
          <p:nvPr/>
        </p:nvSpPr>
        <p:spPr>
          <a:xfrm>
            <a:off x="548640" y="4251960"/>
            <a:ext cx="4754880" cy="192024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13232" y="4416552"/>
            <a:ext cx="4425696" cy="298415"/>
          </a:xfrm>
          <a:prstGeom prst="rect">
            <a:avLst/>
          </a:prstGeom>
          <a:noFill/>
        </p:spPr>
        <p:txBody>
          <a:bodyPr wrap="square" lIns="45720" rIns="45720" anchor="t">
            <a:spAutoFit/>
          </a:bodyPr>
          <a:lstStyle/>
          <a:p>
            <a:pPr algn="l">
              <a:lnSpc>
                <a:spcPct val="108000"/>
              </a:lnSpc>
              <a:spcAft>
                <a:spcPts val="400"/>
              </a:spcAft>
            </a:pPr>
            <a:r>
              <a:rPr lang="en-US" sz="1300" b="1" i="0">
                <a:solidFill>
                  <a:srgbClr val="0B2240"/>
                </a:solidFill>
                <a:latin typeface="Calibri"/>
              </a:rPr>
              <a:t>FC action: make key content readable</a:t>
            </a:r>
            <a:endParaRPr sz="1300" b="1" i="0">
              <a:solidFill>
                <a:srgbClr val="0B2240"/>
              </a:solidFill>
              <a:latin typeface="Calibri"/>
            </a:endParaRPr>
          </a:p>
        </p:txBody>
      </p:sp>
      <p:sp>
        <p:nvSpPr>
          <p:cNvPr id="10" name="TextBox 9"/>
          <p:cNvSpPr txBox="1"/>
          <p:nvPr/>
        </p:nvSpPr>
        <p:spPr>
          <a:xfrm>
            <a:off x="713232" y="4800600"/>
            <a:ext cx="4425696" cy="1207008"/>
          </a:xfrm>
          <a:prstGeom prst="rect">
            <a:avLst/>
          </a:prstGeom>
          <a:noFill/>
        </p:spPr>
        <p:txBody>
          <a:bodyPr wrap="square" lIns="45720" rIns="45720" anchor="t">
            <a:spAutoFit/>
          </a:bodyPr>
          <a:lstStyle/>
          <a:p>
            <a:pPr algn="l">
              <a:spcBef>
                <a:spcPts val="0"/>
              </a:spcBef>
              <a:spcAft>
                <a:spcPts val="300"/>
              </a:spcAft>
            </a:pPr>
            <a:r>
              <a:rPr sz="1700" b="0" i="0">
                <a:solidFill>
                  <a:srgbClr val="1F2937"/>
                </a:solidFill>
                <a:latin typeface="Calibri"/>
              </a:rPr>
              <a:t>Serve key offer and FAQ facts in the initial HTML. Keep them consistent with the customer page.</a:t>
            </a:r>
          </a:p>
        </p:txBody>
      </p:sp>
      <p:pic>
        <p:nvPicPr>
          <p:cNvPr id="11" name="Picture 10" descr="fc_mel_lon_js_deals.png"/>
          <p:cNvPicPr>
            <a:picLocks noChangeAspect="1"/>
          </p:cNvPicPr>
          <p:nvPr/>
        </p:nvPicPr>
        <p:blipFill>
          <a:blip r:embed="rId3"/>
          <a:stretch>
            <a:fillRect/>
          </a:stretch>
        </p:blipFill>
        <p:spPr>
          <a:xfrm>
            <a:off x="5532120" y="1600200"/>
            <a:ext cx="3017520" cy="1899756"/>
          </a:xfrm>
          <a:prstGeom prst="rect">
            <a:avLst/>
          </a:prstGeom>
          <a:ln w="9525">
            <a:solidFill>
              <a:srgbClr val="D9DEE5"/>
            </a:solidFill>
          </a:ln>
        </p:spPr>
      </p:pic>
      <p:pic>
        <p:nvPicPr>
          <p:cNvPr id="12" name="Picture 11" descr="fc_mel_lon_nojs_deals.png"/>
          <p:cNvPicPr>
            <a:picLocks noChangeAspect="1"/>
          </p:cNvPicPr>
          <p:nvPr/>
        </p:nvPicPr>
        <p:blipFill>
          <a:blip r:embed="rId4"/>
          <a:stretch>
            <a:fillRect/>
          </a:stretch>
        </p:blipFill>
        <p:spPr>
          <a:xfrm>
            <a:off x="8641080" y="1600200"/>
            <a:ext cx="3017520" cy="1899756"/>
          </a:xfrm>
          <a:prstGeom prst="rect">
            <a:avLst/>
          </a:prstGeom>
          <a:ln w="9525">
            <a:solidFill>
              <a:srgbClr val="D9DEE5"/>
            </a:solidFill>
          </a:ln>
        </p:spPr>
      </p:pic>
      <p:sp>
        <p:nvSpPr>
          <p:cNvPr id="13" name="TextBox 12"/>
          <p:cNvSpPr txBox="1"/>
          <p:nvPr/>
        </p:nvSpPr>
        <p:spPr>
          <a:xfrm>
            <a:off x="5532120" y="3520440"/>
            <a:ext cx="6126480" cy="548640"/>
          </a:xfrm>
          <a:prstGeom prst="rect">
            <a:avLst/>
          </a:prstGeom>
          <a:noFill/>
        </p:spPr>
        <p:txBody>
          <a:bodyPr wrap="square" lIns="45720" rIns="45720" anchor="t">
            <a:spAutoFit/>
          </a:bodyPr>
          <a:lstStyle/>
          <a:p>
            <a:pPr algn="l">
              <a:spcBef>
                <a:spcPts val="0"/>
              </a:spcBef>
              <a:spcAft>
                <a:spcPts val="300"/>
              </a:spcAft>
            </a:pPr>
            <a:r>
              <a:rPr sz="1400" b="0" i="1">
                <a:solidFill>
                  <a:srgbClr val="5B6573"/>
                </a:solidFill>
                <a:latin typeface="Calibri"/>
              </a:rPr>
              <a:t>Same FC page, 25 October: six dated deal cards with JavaScript; empty placeholders without it. This is sample evidence. Crawler rendering capabilities vary.</a:t>
            </a:r>
          </a:p>
        </p:txBody>
      </p:sp>
      <p:sp>
        <p:nvSpPr>
          <p:cNvPr id="14" name="Rounded Rectangle 13"/>
          <p:cNvSpPr/>
          <p:nvPr/>
        </p:nvSpPr>
        <p:spPr>
          <a:xfrm>
            <a:off x="5532120" y="4114800"/>
            <a:ext cx="6126480" cy="2057400"/>
          </a:xfrm>
          <a:prstGeom prst="roundRect">
            <a:avLst>
              <a:gd name="adj" fmla="val 4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696712" y="4224528"/>
            <a:ext cx="5797296" cy="1856231"/>
          </a:xfrm>
          <a:prstGeom prst="rect">
            <a:avLst/>
          </a:prstGeom>
          <a:noFill/>
        </p:spPr>
        <p:txBody>
          <a:bodyPr wrap="square" lIns="45720" rIns="45720" anchor="t">
            <a:spAutoFit/>
          </a:bodyPr>
          <a:lstStyle/>
          <a:p>
            <a:pPr algn="l">
              <a:spcBef>
                <a:spcPts val="0"/>
              </a:spcBef>
              <a:spcAft>
                <a:spcPts val="300"/>
              </a:spcAft>
            </a:pPr>
            <a:r>
              <a:rPr sz="1600" b="0" i="0">
                <a:solidFill>
                  <a:srgbClr val="9FB3CC"/>
                </a:solidFill>
                <a:latin typeface="Calibri"/>
              </a:rPr>
              <a:t>Compare initial HTML with the browser view.</a:t>
            </a:r>
          </a:p>
          <a:p>
            <a:pPr algn="l">
              <a:spcBef>
                <a:spcPts val="0"/>
              </a:spcBef>
              <a:spcAft>
                <a:spcPts val="300"/>
              </a:spcAft>
            </a:pPr>
            <a:r>
              <a:rPr sz="1600" b="0" i="0">
                <a:solidFill>
                  <a:srgbClr val="9FB3CC"/>
                </a:solidFill>
                <a:latin typeface="Calibri"/>
              </a:rPr>
              <a:t>Check fare, dates, cabin, fees and FAQs.</a:t>
            </a:r>
          </a:p>
          <a:p>
            <a:pPr algn="l">
              <a:spcBef>
                <a:spcPts val="0"/>
              </a:spcBef>
              <a:spcAft>
                <a:spcPts val="300"/>
              </a:spcAft>
            </a:pPr>
            <a:r>
              <a:rPr sz="1600" b="0" i="0">
                <a:solidFill>
                  <a:srgbClr val="9FB3CC"/>
                </a:solidFill>
                <a:latin typeface="Calibri"/>
              </a:rPr>
              <a:t>Verify actual crawler access separately.</a:t>
            </a:r>
          </a:p>
        </p:txBody>
      </p:sp>
      <p:sp>
        <p:nvSpPr>
          <p:cNvPr id="16" name="TextBox 1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live fetches 25 Oct 2026 of flightcentre.com.au, webjet.com.au and expedia.com.au (robots.txt, llms.txt; Playwright captures with JavaScript on and off, evidence/capture_log.json); OpenAI crawler documentation; Vercel/MERJ crawler study (Dec 2024); Pillar 1 audit §2 (May 2026). Robots permission is not proof of crawling: confirm in logs.</a:t>
            </a:r>
          </a:p>
        </p:txBody>
      </p:sp>
      <p:sp>
        <p:nvSpPr>
          <p:cNvPr id="17" name="TextBox 16"/>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6</a:t>
            </a:r>
            <a:endParaRPr sz="900" b="0" i="0">
              <a:solidFill>
                <a:srgbClr val="5B6573"/>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203B83A-CB02-4744-9DC7-722BCEDEDBFD}"/>
              </a:ext>
            </a:extLst>
          </p:cNvPr>
          <p:cNvSpPr>
            <a:spLocks noGrp="1"/>
          </p:cNvSpPr>
          <p:nvPr/>
        </p:nvSpPr>
        <p:spPr>
          <a:xfrm>
            <a:off x="457200" y="247650"/>
            <a:ext cx="11277600" cy="285750"/>
          </a:xfrm>
          <a:prstGeom prst="rect">
            <a:avLst/>
          </a:prstGeom>
          <a:noFill/>
          <a:ln w="0">
            <a:noFill/>
          </a:ln>
        </p:spPr>
        <p:txBody>
          <a:bodyPr anchor="ctr"/>
          <a:lstStyle>
            <a:defPPr>
              <a:defRPr sz="1200" b="1">
                <a:solidFill>
                  <a:srgbClr val="ED193A"/>
                </a:solidFill>
              </a:defRPr>
            </a:defPPr>
            <a:lvl1pPr>
              <a:defRPr sz="1200" b="1">
                <a:solidFill>
                  <a:srgbClr val="ED193A"/>
                </a:solidFill>
              </a:defRPr>
            </a:lvl1pPr>
            <a:lvl2pPr>
              <a:defRPr sz="1200" b="1">
                <a:solidFill>
                  <a:srgbClr val="ED193A"/>
                </a:solidFill>
              </a:defRPr>
            </a:lvl2pPr>
            <a:lvl3pPr>
              <a:defRPr sz="1200" b="1">
                <a:solidFill>
                  <a:srgbClr val="ED193A"/>
                </a:solidFill>
              </a:defRPr>
            </a:lvl3pPr>
            <a:lvl4pPr>
              <a:defRPr sz="1200" b="1">
                <a:solidFill>
                  <a:srgbClr val="ED193A"/>
                </a:solidFill>
              </a:defRPr>
            </a:lvl4pPr>
            <a:lvl5pPr>
              <a:defRPr sz="1200" b="1">
                <a:solidFill>
                  <a:srgbClr val="ED193A"/>
                </a:solidFill>
              </a:defRPr>
            </a:lvl5pPr>
            <a:lvl6pPr>
              <a:defRPr sz="1200" b="1">
                <a:solidFill>
                  <a:srgbClr val="ED193A"/>
                </a:solidFill>
              </a:defRPr>
            </a:lvl6pPr>
            <a:lvl7pPr>
              <a:defRPr sz="1200" b="1">
                <a:solidFill>
                  <a:srgbClr val="ED193A"/>
                </a:solidFill>
              </a:defRPr>
            </a:lvl7pPr>
            <a:lvl8pPr>
              <a:defRPr sz="1200" b="1">
                <a:solidFill>
                  <a:srgbClr val="ED193A"/>
                </a:solidFill>
              </a:defRPr>
            </a:lvl8pPr>
            <a:lvl9pPr>
              <a:defRPr sz="1200" b="1">
                <a:solidFill>
                  <a:srgbClr val="ED193A"/>
                </a:solidFill>
              </a:defRPr>
            </a:lvl9pPr>
          </a:lstStyle>
          <a:p>
            <a:pPr>
              <a:defRPr sz="1200" b="1">
                <a:solidFill>
                  <a:srgbClr val="ED193A"/>
                </a:solidFill>
              </a:defRPr>
            </a:pPr>
            <a:r>
              <a:rPr sz="1200" b="1">
                <a:solidFill>
                  <a:srgbClr val="ED193A"/>
                </a:solidFill>
              </a:rPr>
              <a:t>WEBSITE DISCOVERY</a:t>
            </a:r>
          </a:p>
        </p:txBody>
      </p:sp>
      <p:sp>
        <p:nvSpPr>
          <p:cNvPr id="2" name="Rectangle 1">
            <a:extLst>
              <a:ext uri="{FF2B5EF4-FFF2-40B4-BE49-F238E27FC236}">
                <a16:creationId xmlns:a16="http://schemas.microsoft.com/office/drawing/2014/main" id="{B043EFD6-9227-43FC-983A-F38E0DAB5993}"/>
              </a:ext>
            </a:extLst>
          </p:cNvPr>
          <p:cNvSpPr>
            <a:spLocks noGrp="1"/>
          </p:cNvSpPr>
          <p:nvPr/>
        </p:nvSpPr>
        <p:spPr>
          <a:xfrm>
            <a:off x="457200" y="733425"/>
            <a:ext cx="11277600" cy="857250"/>
          </a:xfrm>
          <a:prstGeom prst="rect">
            <a:avLst/>
          </a:prstGeom>
          <a:noFill/>
          <a:ln w="0">
            <a:noFill/>
          </a:ln>
        </p:spPr>
        <p:txBody>
          <a:bodyPr anchor="ctr"/>
          <a:lstStyle>
            <a:defPPr>
              <a:defRPr sz="3000" b="1">
                <a:solidFill>
                  <a:srgbClr val="10253F"/>
                </a:solidFill>
              </a:defRPr>
            </a:defPPr>
            <a:lvl1pPr>
              <a:defRPr sz="3000" b="1">
                <a:solidFill>
                  <a:srgbClr val="10253F"/>
                </a:solidFill>
              </a:defRPr>
            </a:lvl1pPr>
            <a:lvl2pPr>
              <a:defRPr sz="3000" b="1">
                <a:solidFill>
                  <a:srgbClr val="10253F"/>
                </a:solidFill>
              </a:defRPr>
            </a:lvl2pPr>
            <a:lvl3pPr>
              <a:defRPr sz="3000" b="1">
                <a:solidFill>
                  <a:srgbClr val="10253F"/>
                </a:solidFill>
              </a:defRPr>
            </a:lvl3pPr>
            <a:lvl4pPr>
              <a:defRPr sz="3000" b="1">
                <a:solidFill>
                  <a:srgbClr val="10253F"/>
                </a:solidFill>
              </a:defRPr>
            </a:lvl4pPr>
            <a:lvl5pPr>
              <a:defRPr sz="3000" b="1">
                <a:solidFill>
                  <a:srgbClr val="10253F"/>
                </a:solidFill>
              </a:defRPr>
            </a:lvl5pPr>
            <a:lvl6pPr>
              <a:defRPr sz="3000" b="1">
                <a:solidFill>
                  <a:srgbClr val="10253F"/>
                </a:solidFill>
              </a:defRPr>
            </a:lvl6pPr>
            <a:lvl7pPr>
              <a:defRPr sz="3000" b="1">
                <a:solidFill>
                  <a:srgbClr val="10253F"/>
                </a:solidFill>
              </a:defRPr>
            </a:lvl7pPr>
            <a:lvl8pPr>
              <a:defRPr sz="3000" b="1">
                <a:solidFill>
                  <a:srgbClr val="10253F"/>
                </a:solidFill>
              </a:defRPr>
            </a:lvl8pPr>
            <a:lvl9pPr>
              <a:defRPr sz="3000" b="1">
                <a:solidFill>
                  <a:srgbClr val="10253F"/>
                </a:solidFill>
              </a:defRPr>
            </a:lvl9pPr>
          </a:lstStyle>
          <a:p>
            <a:pPr>
              <a:defRPr sz="3000" b="1">
                <a:solidFill>
                  <a:srgbClr val="10253F"/>
                </a:solidFill>
              </a:defRPr>
            </a:pPr>
            <a:r>
              <a:rPr sz="3000" b="1">
                <a:solidFill>
                  <a:srgbClr val="10253F"/>
                </a:solidFill>
              </a:rPr>
              <a:t>Relevant FC pages need to be easy to find</a:t>
            </a:r>
          </a:p>
        </p:txBody>
      </p:sp>
      <p:sp>
        <p:nvSpPr>
          <p:cNvPr id="3" name="Rectangle 2">
            <a:extLst>
              <a:ext uri="{FF2B5EF4-FFF2-40B4-BE49-F238E27FC236}">
                <a16:creationId xmlns:a16="http://schemas.microsoft.com/office/drawing/2014/main" id="{BAA74507-2F4A-41F2-9E48-C26235EDCC63}"/>
              </a:ext>
            </a:extLst>
          </p:cNvPr>
          <p:cNvSpPr>
            <a:spLocks noGrp="1"/>
          </p:cNvSpPr>
          <p:nvPr/>
        </p:nvSpPr>
        <p:spPr>
          <a:xfrm>
            <a:off x="457200" y="6305550"/>
            <a:ext cx="11049000" cy="361950"/>
          </a:xfrm>
          <a:prstGeom prst="rect">
            <a:avLst/>
          </a:prstGeom>
          <a:noFill/>
          <a:ln w="0">
            <a:noFill/>
          </a:ln>
        </p:spPr>
        <p:txBody>
          <a:bodyPr anchor="ctr"/>
          <a:lstStyle>
            <a:defPPr>
              <a:defRPr sz="1050" b="0">
                <a:solidFill>
                  <a:srgbClr val="566B82"/>
                </a:solidFill>
              </a:defRPr>
            </a:defPPr>
            <a:lvl1pPr>
              <a:defRPr sz="1050" b="0">
                <a:solidFill>
                  <a:srgbClr val="566B82"/>
                </a:solidFill>
              </a:defRPr>
            </a:lvl1pPr>
            <a:lvl2pPr>
              <a:defRPr sz="1050" b="0">
                <a:solidFill>
                  <a:srgbClr val="566B82"/>
                </a:solidFill>
              </a:defRPr>
            </a:lvl2pPr>
            <a:lvl3pPr>
              <a:defRPr sz="1050" b="0">
                <a:solidFill>
                  <a:srgbClr val="566B82"/>
                </a:solidFill>
              </a:defRPr>
            </a:lvl3pPr>
            <a:lvl4pPr>
              <a:defRPr sz="1050" b="0">
                <a:solidFill>
                  <a:srgbClr val="566B82"/>
                </a:solidFill>
              </a:defRPr>
            </a:lvl4pPr>
            <a:lvl5pPr>
              <a:defRPr sz="1050" b="0">
                <a:solidFill>
                  <a:srgbClr val="566B82"/>
                </a:solidFill>
              </a:defRPr>
            </a:lvl5pPr>
            <a:lvl6pPr>
              <a:defRPr sz="1050" b="0">
                <a:solidFill>
                  <a:srgbClr val="566B82"/>
                </a:solidFill>
              </a:defRPr>
            </a:lvl6pPr>
            <a:lvl7pPr>
              <a:defRPr sz="1050" b="0">
                <a:solidFill>
                  <a:srgbClr val="566B82"/>
                </a:solidFill>
              </a:defRPr>
            </a:lvl7pPr>
            <a:lvl8pPr>
              <a:defRPr sz="1050" b="0">
                <a:solidFill>
                  <a:srgbClr val="566B82"/>
                </a:solidFill>
              </a:defRPr>
            </a:lvl8pPr>
            <a:lvl9pPr>
              <a:defRPr sz="1050" b="0">
                <a:solidFill>
                  <a:srgbClr val="566B82"/>
                </a:solidFill>
              </a:defRPr>
            </a:lvl9pPr>
          </a:lstStyle>
          <a:p>
            <a:pPr>
              <a:defRPr sz="1050" b="0">
                <a:solidFill>
                  <a:srgbClr val="566B82"/>
                </a:solidFill>
              </a:defRPr>
            </a:pPr>
            <a:r>
              <a:rPr sz="1050" b="0">
                <a:solidFill>
                  <a:srgbClr val="566B82"/>
                </a:solidFill>
              </a:rPr>
              <a:t>Sources: Google AI features and JavaScript SEO guidance; Bing IndexNow guidance. These actions were not measured by the content experiment.</a:t>
            </a:r>
          </a:p>
        </p:txBody>
      </p:sp>
      <p:sp>
        <p:nvSpPr>
          <p:cNvPr id="4" name="Rectangle 3">
            <a:extLst>
              <a:ext uri="{FF2B5EF4-FFF2-40B4-BE49-F238E27FC236}">
                <a16:creationId xmlns:a16="http://schemas.microsoft.com/office/drawing/2014/main" id="{AED676F8-1207-4060-89D9-F2CDF7864993}"/>
              </a:ext>
            </a:extLst>
          </p:cNvPr>
          <p:cNvSpPr>
            <a:spLocks noGrp="1"/>
          </p:cNvSpPr>
          <p:nvPr/>
        </p:nvSpPr>
        <p:spPr>
          <a:xfrm>
            <a:off x="457200" y="1733550"/>
            <a:ext cx="4762500" cy="428625"/>
          </a:xfrm>
          <a:prstGeom prst="rect">
            <a:avLst/>
          </a:prstGeom>
          <a:noFill/>
          <a:ln w="0">
            <a:noFill/>
          </a:ln>
        </p:spPr>
        <p:txBody>
          <a:bodyPr anchor="ctr"/>
          <a:lstStyle>
            <a:defPPr>
              <a:defRPr sz="2100" b="1">
                <a:solidFill>
                  <a:srgbClr val="ED193A"/>
                </a:solidFill>
              </a:defRPr>
            </a:defPPr>
            <a:lvl1pPr>
              <a:defRPr sz="2100" b="1">
                <a:solidFill>
                  <a:srgbClr val="ED193A"/>
                </a:solidFill>
              </a:defRPr>
            </a:lvl1pPr>
            <a:lvl2pPr>
              <a:defRPr sz="2100" b="1">
                <a:solidFill>
                  <a:srgbClr val="ED193A"/>
                </a:solidFill>
              </a:defRPr>
            </a:lvl2pPr>
            <a:lvl3pPr>
              <a:defRPr sz="2100" b="1">
                <a:solidFill>
                  <a:srgbClr val="ED193A"/>
                </a:solidFill>
              </a:defRPr>
            </a:lvl3pPr>
            <a:lvl4pPr>
              <a:defRPr sz="2100" b="1">
                <a:solidFill>
                  <a:srgbClr val="ED193A"/>
                </a:solidFill>
              </a:defRPr>
            </a:lvl4pPr>
            <a:lvl5pPr>
              <a:defRPr sz="2100" b="1">
                <a:solidFill>
                  <a:srgbClr val="ED193A"/>
                </a:solidFill>
              </a:defRPr>
            </a:lvl5pPr>
            <a:lvl6pPr>
              <a:defRPr sz="2100" b="1">
                <a:solidFill>
                  <a:srgbClr val="ED193A"/>
                </a:solidFill>
              </a:defRPr>
            </a:lvl6pPr>
            <a:lvl7pPr>
              <a:defRPr sz="2100" b="1">
                <a:solidFill>
                  <a:srgbClr val="ED193A"/>
                </a:solidFill>
              </a:defRPr>
            </a:lvl7pPr>
            <a:lvl8pPr>
              <a:defRPr sz="2100" b="1">
                <a:solidFill>
                  <a:srgbClr val="ED193A"/>
                </a:solidFill>
              </a:defRPr>
            </a:lvl8pPr>
            <a:lvl9pPr>
              <a:defRPr sz="2100" b="1">
                <a:solidFill>
                  <a:srgbClr val="ED193A"/>
                </a:solidFill>
              </a:defRPr>
            </a:lvl9pPr>
          </a:lstStyle>
          <a:p>
            <a:pPr>
              <a:defRPr sz="2100" b="1">
                <a:solidFill>
                  <a:srgbClr val="ED193A"/>
                </a:solidFill>
              </a:defRPr>
            </a:pPr>
            <a:r>
              <a:rPr sz="2100" b="1">
                <a:solidFill>
                  <a:srgbClr val="ED193A"/>
                </a:solidFill>
              </a:rPr>
              <a:t>Observed gap</a:t>
            </a:r>
          </a:p>
        </p:txBody>
      </p:sp>
      <p:sp>
        <p:nvSpPr>
          <p:cNvPr id="5" name="Rectangle 4">
            <a:extLst>
              <a:ext uri="{FF2B5EF4-FFF2-40B4-BE49-F238E27FC236}">
                <a16:creationId xmlns:a16="http://schemas.microsoft.com/office/drawing/2014/main" id="{FC3A9559-E517-4090-9CB8-5AFDB954587E}"/>
              </a:ext>
            </a:extLst>
          </p:cNvPr>
          <p:cNvSpPr>
            <a:spLocks noGrp="1"/>
          </p:cNvSpPr>
          <p:nvPr/>
        </p:nvSpPr>
        <p:spPr>
          <a:xfrm>
            <a:off x="457200" y="2276475"/>
            <a:ext cx="5048250" cy="1095375"/>
          </a:xfrm>
          <a:prstGeom prst="rect">
            <a:avLst/>
          </a:prstGeom>
          <a:noFill/>
          <a:ln w="0">
            <a:noFill/>
          </a:ln>
        </p:spPr>
        <p:txBody>
          <a:bodyPr anchor="ctr"/>
          <a:lstStyle>
            <a:defPPr>
              <a:defRPr sz="2550" b="1">
                <a:solidFill>
                  <a:srgbClr val="21354D"/>
                </a:solidFill>
              </a:defRPr>
            </a:defPPr>
            <a:lvl1pPr>
              <a:defRPr sz="2550" b="1">
                <a:solidFill>
                  <a:srgbClr val="21354D"/>
                </a:solidFill>
              </a:defRPr>
            </a:lvl1pPr>
            <a:lvl2pPr>
              <a:defRPr sz="2550" b="1">
                <a:solidFill>
                  <a:srgbClr val="21354D"/>
                </a:solidFill>
              </a:defRPr>
            </a:lvl2pPr>
            <a:lvl3pPr>
              <a:defRPr sz="2550" b="1">
                <a:solidFill>
                  <a:srgbClr val="21354D"/>
                </a:solidFill>
              </a:defRPr>
            </a:lvl3pPr>
            <a:lvl4pPr>
              <a:defRPr sz="2550" b="1">
                <a:solidFill>
                  <a:srgbClr val="21354D"/>
                </a:solidFill>
              </a:defRPr>
            </a:lvl4pPr>
            <a:lvl5pPr>
              <a:defRPr sz="2550" b="1">
                <a:solidFill>
                  <a:srgbClr val="21354D"/>
                </a:solidFill>
              </a:defRPr>
            </a:lvl5pPr>
            <a:lvl6pPr>
              <a:defRPr sz="2550" b="1">
                <a:solidFill>
                  <a:srgbClr val="21354D"/>
                </a:solidFill>
              </a:defRPr>
            </a:lvl6pPr>
            <a:lvl7pPr>
              <a:defRPr sz="2550" b="1">
                <a:solidFill>
                  <a:srgbClr val="21354D"/>
                </a:solidFill>
              </a:defRPr>
            </a:lvl7pPr>
            <a:lvl8pPr>
              <a:defRPr sz="2550" b="1">
                <a:solidFill>
                  <a:srgbClr val="21354D"/>
                </a:solidFill>
              </a:defRPr>
            </a:lvl8pPr>
            <a:lvl9pPr>
              <a:defRPr sz="2550" b="1">
                <a:solidFill>
                  <a:srgbClr val="21354D"/>
                </a:solidFill>
              </a:defRPr>
            </a:lvl9pPr>
          </a:lstStyle>
          <a:p>
            <a:pPr>
              <a:defRPr sz="2550" b="1">
                <a:solidFill>
                  <a:srgbClr val="21354D"/>
                </a:solidFill>
              </a:defRPr>
            </a:pPr>
            <a:r>
              <a:rPr sz="2550" b="1">
                <a:solidFill>
                  <a:srgbClr val="21354D"/>
                </a:solidFill>
              </a:rPr>
              <a:t>0 of 8 agent-value questions returned FC in the saved top 10.</a:t>
            </a:r>
          </a:p>
        </p:txBody>
      </p:sp>
      <p:sp>
        <p:nvSpPr>
          <p:cNvPr id="6" name="Rectangle 5">
            <a:extLst>
              <a:ext uri="{FF2B5EF4-FFF2-40B4-BE49-F238E27FC236}">
                <a16:creationId xmlns:a16="http://schemas.microsoft.com/office/drawing/2014/main" id="{B50DC47B-75E8-4523-8AB4-1A022D237D23}"/>
              </a:ext>
            </a:extLst>
          </p:cNvPr>
          <p:cNvSpPr>
            <a:spLocks noGrp="1"/>
          </p:cNvSpPr>
          <p:nvPr/>
        </p:nvSpPr>
        <p:spPr>
          <a:xfrm>
            <a:off x="457200" y="3495675"/>
            <a:ext cx="5048250" cy="714375"/>
          </a:xfrm>
          <a:prstGeom prst="rect">
            <a:avLst/>
          </a:prstGeom>
          <a:noFill/>
          <a:ln w="0">
            <a:noFill/>
          </a:ln>
        </p:spPr>
        <p:txBody>
          <a:bodyPr anchor="ctr"/>
          <a:lstStyle>
            <a:defPPr>
              <a:defRPr sz="1725" b="0">
                <a:solidFill>
                  <a:srgbClr val="566B82"/>
                </a:solidFill>
              </a:defRPr>
            </a:defPPr>
            <a:lvl1pPr>
              <a:defRPr sz="1725" b="0">
                <a:solidFill>
                  <a:srgbClr val="566B82"/>
                </a:solidFill>
              </a:defRPr>
            </a:lvl1pPr>
            <a:lvl2pPr>
              <a:defRPr sz="1725" b="0">
                <a:solidFill>
                  <a:srgbClr val="566B82"/>
                </a:solidFill>
              </a:defRPr>
            </a:lvl2pPr>
            <a:lvl3pPr>
              <a:defRPr sz="1725" b="0">
                <a:solidFill>
                  <a:srgbClr val="566B82"/>
                </a:solidFill>
              </a:defRPr>
            </a:lvl3pPr>
            <a:lvl4pPr>
              <a:defRPr sz="1725" b="0">
                <a:solidFill>
                  <a:srgbClr val="566B82"/>
                </a:solidFill>
              </a:defRPr>
            </a:lvl4pPr>
            <a:lvl5pPr>
              <a:defRPr sz="1725" b="0">
                <a:solidFill>
                  <a:srgbClr val="566B82"/>
                </a:solidFill>
              </a:defRPr>
            </a:lvl5pPr>
            <a:lvl6pPr>
              <a:defRPr sz="1725" b="0">
                <a:solidFill>
                  <a:srgbClr val="566B82"/>
                </a:solidFill>
              </a:defRPr>
            </a:lvl6pPr>
            <a:lvl7pPr>
              <a:defRPr sz="1725" b="0">
                <a:solidFill>
                  <a:srgbClr val="566B82"/>
                </a:solidFill>
              </a:defRPr>
            </a:lvl7pPr>
            <a:lvl8pPr>
              <a:defRPr sz="1725" b="0">
                <a:solidFill>
                  <a:srgbClr val="566B82"/>
                </a:solidFill>
              </a:defRPr>
            </a:lvl8pPr>
            <a:lvl9pPr>
              <a:defRPr sz="1725" b="0">
                <a:solidFill>
                  <a:srgbClr val="566B82"/>
                </a:solidFill>
              </a:defRPr>
            </a:lvl9pPr>
          </a:lstStyle>
          <a:p>
            <a:pPr>
              <a:defRPr sz="1725" b="0">
                <a:solidFill>
                  <a:srgbClr val="566B82"/>
                </a:solidFill>
              </a:defRPr>
            </a:pPr>
            <a:r>
              <a:rPr sz="1725" b="0">
                <a:solidFill>
                  <a:srgbClr val="566B82"/>
                </a:solidFill>
              </a:rPr>
              <a:t>An August 2026 snapshot, not a claim that suitable FC pages do not exist.</a:t>
            </a:r>
          </a:p>
        </p:txBody>
      </p:sp>
      <p:sp>
        <p:nvSpPr>
          <p:cNvPr id="7" name="Rectangle 6">
            <a:extLst>
              <a:ext uri="{FF2B5EF4-FFF2-40B4-BE49-F238E27FC236}">
                <a16:creationId xmlns:a16="http://schemas.microsoft.com/office/drawing/2014/main" id="{1CBD8D0E-29FE-4E50-BAB1-C8CE493E8CC1}"/>
              </a:ext>
            </a:extLst>
          </p:cNvPr>
          <p:cNvSpPr>
            <a:spLocks noGrp="1"/>
          </p:cNvSpPr>
          <p:nvPr/>
        </p:nvSpPr>
        <p:spPr>
          <a:xfrm>
            <a:off x="6286500" y="1733550"/>
            <a:ext cx="5429250" cy="428625"/>
          </a:xfrm>
          <a:prstGeom prst="rect">
            <a:avLst/>
          </a:prstGeom>
          <a:noFill/>
          <a:ln w="0">
            <a:noFill/>
          </a:ln>
        </p:spPr>
        <p:txBody>
          <a:bodyPr anchor="ctr"/>
          <a:lstStyle>
            <a:defPPr>
              <a:defRPr sz="2100" b="1">
                <a:solidFill>
                  <a:srgbClr val="10253F"/>
                </a:solidFill>
              </a:defRPr>
            </a:defPPr>
            <a:lvl1pPr>
              <a:defRPr sz="2100" b="1">
                <a:solidFill>
                  <a:srgbClr val="10253F"/>
                </a:solidFill>
              </a:defRPr>
            </a:lvl1pPr>
            <a:lvl2pPr>
              <a:defRPr sz="2100" b="1">
                <a:solidFill>
                  <a:srgbClr val="10253F"/>
                </a:solidFill>
              </a:defRPr>
            </a:lvl2pPr>
            <a:lvl3pPr>
              <a:defRPr sz="2100" b="1">
                <a:solidFill>
                  <a:srgbClr val="10253F"/>
                </a:solidFill>
              </a:defRPr>
            </a:lvl3pPr>
            <a:lvl4pPr>
              <a:defRPr sz="2100" b="1">
                <a:solidFill>
                  <a:srgbClr val="10253F"/>
                </a:solidFill>
              </a:defRPr>
            </a:lvl4pPr>
            <a:lvl5pPr>
              <a:defRPr sz="2100" b="1">
                <a:solidFill>
                  <a:srgbClr val="10253F"/>
                </a:solidFill>
              </a:defRPr>
            </a:lvl5pPr>
            <a:lvl6pPr>
              <a:defRPr sz="2100" b="1">
                <a:solidFill>
                  <a:srgbClr val="10253F"/>
                </a:solidFill>
              </a:defRPr>
            </a:lvl6pPr>
            <a:lvl7pPr>
              <a:defRPr sz="2100" b="1">
                <a:solidFill>
                  <a:srgbClr val="10253F"/>
                </a:solidFill>
              </a:defRPr>
            </a:lvl7pPr>
            <a:lvl8pPr>
              <a:defRPr sz="2100" b="1">
                <a:solidFill>
                  <a:srgbClr val="10253F"/>
                </a:solidFill>
              </a:defRPr>
            </a:lvl8pPr>
            <a:lvl9pPr>
              <a:defRPr sz="2100" b="1">
                <a:solidFill>
                  <a:srgbClr val="10253F"/>
                </a:solidFill>
              </a:defRPr>
            </a:lvl9pPr>
          </a:lstStyle>
          <a:p>
            <a:pPr>
              <a:defRPr sz="2100" b="1">
                <a:solidFill>
                  <a:srgbClr val="10253F"/>
                </a:solidFill>
              </a:defRPr>
            </a:pPr>
            <a:r>
              <a:rPr sz="2100" b="1">
                <a:solidFill>
                  <a:srgbClr val="10253F"/>
                </a:solidFill>
              </a:rPr>
              <a:t>What FC can do</a:t>
            </a:r>
          </a:p>
        </p:txBody>
      </p:sp>
      <p:sp>
        <p:nvSpPr>
          <p:cNvPr id="8" name="Rectangle 7">
            <a:extLst>
              <a:ext uri="{FF2B5EF4-FFF2-40B4-BE49-F238E27FC236}">
                <a16:creationId xmlns:a16="http://schemas.microsoft.com/office/drawing/2014/main" id="{1652A0CF-81E7-40CA-9780-12459909CC07}"/>
              </a:ext>
            </a:extLst>
          </p:cNvPr>
          <p:cNvSpPr>
            <a:spLocks noGrp="1"/>
          </p:cNvSpPr>
          <p:nvPr/>
        </p:nvSpPr>
        <p:spPr>
          <a:xfrm>
            <a:off x="6286500" y="2276475"/>
            <a:ext cx="5334000" cy="3143250"/>
          </a:xfrm>
          <a:prstGeom prst="rect">
            <a:avLst/>
          </a:prstGeom>
          <a:noFill/>
          <a:ln w="0">
            <a:noFill/>
          </a:ln>
        </p:spPr>
        <p:txBody>
          <a:bodyPr anchor="ctr"/>
          <a:lstStyle>
            <a:defPPr>
              <a:defRPr sz="1875" b="0">
                <a:solidFill>
                  <a:srgbClr val="21354D"/>
                </a:solidFill>
              </a:defRPr>
            </a:defPPr>
            <a:lvl1pPr>
              <a:defRPr sz="1875" b="0">
                <a:solidFill>
                  <a:srgbClr val="21354D"/>
                </a:solidFill>
              </a:defRPr>
            </a:lvl1pPr>
            <a:lvl2pPr>
              <a:defRPr sz="1875" b="0">
                <a:solidFill>
                  <a:srgbClr val="21354D"/>
                </a:solidFill>
              </a:defRPr>
            </a:lvl2pPr>
            <a:lvl3pPr>
              <a:defRPr sz="1875" b="0">
                <a:solidFill>
                  <a:srgbClr val="21354D"/>
                </a:solidFill>
              </a:defRPr>
            </a:lvl3pPr>
            <a:lvl4pPr>
              <a:defRPr sz="1875" b="0">
                <a:solidFill>
                  <a:srgbClr val="21354D"/>
                </a:solidFill>
              </a:defRPr>
            </a:lvl4pPr>
            <a:lvl5pPr>
              <a:defRPr sz="1875" b="0">
                <a:solidFill>
                  <a:srgbClr val="21354D"/>
                </a:solidFill>
              </a:defRPr>
            </a:lvl5pPr>
            <a:lvl6pPr>
              <a:defRPr sz="1875" b="0">
                <a:solidFill>
                  <a:srgbClr val="21354D"/>
                </a:solidFill>
              </a:defRPr>
            </a:lvl6pPr>
            <a:lvl7pPr>
              <a:defRPr sz="1875" b="0">
                <a:solidFill>
                  <a:srgbClr val="21354D"/>
                </a:solidFill>
              </a:defRPr>
            </a:lvl7pPr>
            <a:lvl8pPr>
              <a:defRPr sz="1875" b="0">
                <a:solidFill>
                  <a:srgbClr val="21354D"/>
                </a:solidFill>
              </a:defRPr>
            </a:lvl8pPr>
            <a:lvl9pPr>
              <a:defRPr sz="1875" b="0">
                <a:solidFill>
                  <a:srgbClr val="21354D"/>
                </a:solidFill>
              </a:defRPr>
            </a:lvl9pPr>
          </a:lstStyle>
          <a:p>
            <a:pPr>
              <a:defRPr sz="1875" b="0">
                <a:solidFill>
                  <a:srgbClr val="21354D"/>
                </a:solidFill>
              </a:defRPr>
            </a:pPr>
            <a:r>
              <a:rPr sz="1825" b="0">
                <a:solidFill>
                  <a:srgbClr val="21354D"/>
                </a:solidFill>
              </a:rPr>
              <a:t>1. Cover customer needs with useful pages and descriptive titles.</a:t>
            </a:r>
          </a:p>
          <a:p>
            <a:endParaRPr sz="1825" b="0">
              <a:solidFill>
                <a:srgbClr val="21354D"/>
              </a:solidFill>
            </a:endParaRPr>
          </a:p>
          <a:p>
            <a:pPr>
              <a:defRPr sz="1875" b="0">
                <a:solidFill>
                  <a:srgbClr val="21354D"/>
                </a:solidFill>
              </a:defRPr>
            </a:pPr>
            <a:r>
              <a:rPr sz="1825" b="0">
                <a:solidFill>
                  <a:srgbClr val="21354D"/>
                </a:solidFill>
              </a:rPr>
              <a:t>2. Link important pages from relevant routes, destinations and store pages.</a:t>
            </a:r>
          </a:p>
          <a:p>
            <a:endParaRPr sz="1825" b="0">
              <a:solidFill>
                <a:srgbClr val="21354D"/>
              </a:solidFill>
            </a:endParaRPr>
          </a:p>
          <a:p>
            <a:pPr>
              <a:defRPr sz="1875" b="0">
                <a:solidFill>
                  <a:srgbClr val="21354D"/>
                </a:solidFill>
              </a:defRPr>
            </a:pPr>
            <a:r>
              <a:rPr sz="1825" b="0">
                <a:solidFill>
                  <a:srgbClr val="21354D"/>
                </a:solidFill>
              </a:rPr>
              <a:t>3. Check indexing, canonical URLs, sitemaps and accidental noindex rules.</a:t>
            </a:r>
          </a:p>
          <a:p>
            <a:endParaRPr sz="1825" b="0">
              <a:solidFill>
                <a:srgbClr val="21354D"/>
              </a:solidFill>
            </a:endParaRPr>
          </a:p>
          <a:p>
            <a:pPr>
              <a:defRPr sz="1875" b="0">
                <a:solidFill>
                  <a:srgbClr val="21354D"/>
                </a:solidFill>
              </a:defRPr>
            </a:pPr>
            <a:r>
              <a:rPr sz="1825" b="0">
                <a:solidFill>
                  <a:srgbClr val="21354D"/>
                </a:solidFill>
              </a:rPr>
              <a:t>4. Notify supported indexes of genuine changes. Check speed and mobile usability.</a:t>
            </a:r>
          </a:p>
        </p:txBody>
      </p:sp>
      <p:sp>
        <p:nvSpPr>
          <p:cNvPr id="9" name="Rectangle 8">
            <a:extLst>
              <a:ext uri="{FF2B5EF4-FFF2-40B4-BE49-F238E27FC236}">
                <a16:creationId xmlns:a16="http://schemas.microsoft.com/office/drawing/2014/main" id="{74AD050F-60AE-46D8-B09A-B2551AEEC7B5}"/>
              </a:ext>
            </a:extLst>
          </p:cNvPr>
          <p:cNvSpPr>
            <a:spLocks noGrp="1"/>
          </p:cNvSpPr>
          <p:nvPr/>
        </p:nvSpPr>
        <p:spPr>
          <a:xfrm>
            <a:off x="457200" y="5562600"/>
            <a:ext cx="11239500" cy="581025"/>
          </a:xfrm>
          <a:prstGeom prst="rect">
            <a:avLst/>
          </a:prstGeom>
          <a:noFill/>
          <a:ln w="0">
            <a:noFill/>
          </a:ln>
        </p:spPr>
        <p:txBody>
          <a:bodyPr anchor="ctr"/>
          <a:lstStyle>
            <a:defPPr>
              <a:defRPr sz="2025" b="1">
                <a:solidFill>
                  <a:srgbClr val="21354D"/>
                </a:solidFill>
              </a:defRPr>
            </a:defPPr>
            <a:lvl1pPr>
              <a:defRPr sz="2025" b="1">
                <a:solidFill>
                  <a:srgbClr val="21354D"/>
                </a:solidFill>
              </a:defRPr>
            </a:lvl1pPr>
            <a:lvl2pPr>
              <a:defRPr sz="2025" b="1">
                <a:solidFill>
                  <a:srgbClr val="21354D"/>
                </a:solidFill>
              </a:defRPr>
            </a:lvl2pPr>
            <a:lvl3pPr>
              <a:defRPr sz="2025" b="1">
                <a:solidFill>
                  <a:srgbClr val="21354D"/>
                </a:solidFill>
              </a:defRPr>
            </a:lvl3pPr>
            <a:lvl4pPr>
              <a:defRPr sz="2025" b="1">
                <a:solidFill>
                  <a:srgbClr val="21354D"/>
                </a:solidFill>
              </a:defRPr>
            </a:lvl4pPr>
            <a:lvl5pPr>
              <a:defRPr sz="2025" b="1">
                <a:solidFill>
                  <a:srgbClr val="21354D"/>
                </a:solidFill>
              </a:defRPr>
            </a:lvl5pPr>
            <a:lvl6pPr>
              <a:defRPr sz="2025" b="1">
                <a:solidFill>
                  <a:srgbClr val="21354D"/>
                </a:solidFill>
              </a:defRPr>
            </a:lvl6pPr>
            <a:lvl7pPr>
              <a:defRPr sz="2025" b="1">
                <a:solidFill>
                  <a:srgbClr val="21354D"/>
                </a:solidFill>
              </a:defRPr>
            </a:lvl7pPr>
            <a:lvl8pPr>
              <a:defRPr sz="2025" b="1">
                <a:solidFill>
                  <a:srgbClr val="21354D"/>
                </a:solidFill>
              </a:defRPr>
            </a:lvl8pPr>
            <a:lvl9pPr>
              <a:defRPr sz="2025" b="1">
                <a:solidFill>
                  <a:srgbClr val="21354D"/>
                </a:solidFill>
              </a:defRPr>
            </a:lvl9pPr>
          </a:lstStyle>
          <a:p>
            <a:pPr>
              <a:defRPr sz="2025" b="1">
                <a:solidFill>
                  <a:srgbClr val="21354D"/>
                </a:solidFill>
              </a:defRPr>
            </a:pPr>
            <a:r>
              <a:rPr sz="1875" b="1">
                <a:solidFill>
                  <a:srgbClr val="21354D"/>
                </a:solidFill>
              </a:rPr>
              <a:t>Check: priority URLs are discoverable and useful. A higher search position still does not guarantee an AI citation.</a:t>
            </a:r>
          </a:p>
        </p:txBody>
      </p:sp>
    </p:spTree>
    <p:extLst>
      <p:ext uri="{BB962C8B-B14F-4D97-AF65-F5344CB8AC3E}">
        <p14:creationId xmlns:p14="http://schemas.microsoft.com/office/powerpoint/2010/main" val="32841053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Destination pages should answer real customer needs</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8097012" y="329184"/>
            <a:ext cx="2464308"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Semester 1 audit (May 2026)</a:t>
            </a:r>
          </a:p>
        </p:txBody>
      </p:sp>
      <p:graphicFrame>
        <p:nvGraphicFramePr>
          <p:cNvPr id="6" name="Table 5"/>
          <p:cNvGraphicFramePr>
            <a:graphicFrameLocks noGrp="1"/>
          </p:cNvGraphicFramePr>
          <p:nvPr/>
        </p:nvGraphicFramePr>
        <p:xfrm>
          <a:off x="548640" y="1600200"/>
          <a:ext cx="5120640" cy="2103115"/>
        </p:xfrm>
        <a:graphic>
          <a:graphicData uri="http://schemas.openxmlformats.org/drawingml/2006/table">
            <a:tbl>
              <a:tblPr/>
              <a:tblGrid>
                <a:gridCol w="23774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420623">
                <a:tc>
                  <a:txBody>
                    <a:bodyPr/>
                    <a:lstStyle/>
                    <a:p>
                      <a:r>
                        <a:rPr sz="900" b="1" i="0">
                          <a:solidFill>
                            <a:srgbClr val="FFFFFF"/>
                          </a:solidFill>
                          <a:latin typeface="Calibri"/>
                        </a:rPr>
                        <a:t>Entities visible in raw HTML (May 2026)</a:t>
                      </a:r>
                    </a:p>
                  </a:txBody>
                  <a:tcPr marL="64008" marR="64008" marT="36576" marB="36576" anchor="ctr">
                    <a:solidFill>
                      <a:srgbClr val="0B2240"/>
                    </a:solidFill>
                  </a:tcPr>
                </a:tc>
                <a:tc>
                  <a:txBody>
                    <a:bodyPr/>
                    <a:lstStyle/>
                    <a:p>
                      <a:pPr algn="ctr"/>
                      <a:r>
                        <a:rPr sz="900" b="1" i="0">
                          <a:solidFill>
                            <a:srgbClr val="FFFFFF"/>
                          </a:solidFill>
                          <a:latin typeface="Calibri"/>
                        </a:rPr>
                        <a:t>Flight Centre</a:t>
                      </a:r>
                    </a:p>
                  </a:txBody>
                  <a:tcPr marL="64008" marR="64008" marT="36576" marB="36576" anchor="ctr">
                    <a:solidFill>
                      <a:srgbClr val="0B2240"/>
                    </a:solidFill>
                  </a:tcPr>
                </a:tc>
                <a:tc>
                  <a:txBody>
                    <a:bodyPr/>
                    <a:lstStyle/>
                    <a:p>
                      <a:pPr algn="ctr"/>
                      <a:r>
                        <a:rPr sz="900" b="1" i="0">
                          <a:solidFill>
                            <a:srgbClr val="FFFFFF"/>
                          </a:solidFill>
                          <a:latin typeface="Calibri"/>
                        </a:rPr>
                        <a:t>Expedia AU</a:t>
                      </a:r>
                    </a:p>
                  </a:txBody>
                  <a:tcPr marL="64008" marR="64008" marT="36576" marB="36576" anchor="ctr">
                    <a:solidFill>
                      <a:srgbClr val="0B2240"/>
                    </a:solidFill>
                  </a:tcPr>
                </a:tc>
                <a:tc>
                  <a:txBody>
                    <a:bodyPr/>
                    <a:lstStyle/>
                    <a:p>
                      <a:pPr algn="ctr"/>
                      <a:r>
                        <a:rPr sz="900" b="1" i="0">
                          <a:solidFill>
                            <a:srgbClr val="FFFFFF"/>
                          </a:solidFill>
                          <a:latin typeface="Calibri"/>
                        </a:rPr>
                        <a:t>Booking.com</a:t>
                      </a:r>
                    </a:p>
                  </a:txBody>
                  <a:tcPr marL="64008" marR="64008" marT="36576" marB="36576" anchor="ctr">
                    <a:solidFill>
                      <a:srgbClr val="0B2240"/>
                    </a:solidFill>
                  </a:tcPr>
                </a:tc>
                <a:extLst>
                  <a:ext uri="{0D108BD9-81ED-4DB2-BD59-A6C34878D82A}">
                    <a16:rowId xmlns:a16="http://schemas.microsoft.com/office/drawing/2014/main" val="10000"/>
                  </a:ext>
                </a:extLst>
              </a:tr>
              <a:tr h="420623">
                <a:tc>
                  <a:txBody>
                    <a:bodyPr/>
                    <a:lstStyle/>
                    <a:p>
                      <a:r>
                        <a:rPr sz="950" b="0" i="0">
                          <a:solidFill>
                            <a:srgbClr val="1F2937"/>
                          </a:solidFill>
                          <a:latin typeface="Calibri"/>
                        </a:rPr>
                        <a:t>Bali destination page</a:t>
                      </a:r>
                    </a:p>
                  </a:txBody>
                  <a:tcPr marL="64008" marR="64008" marT="36576" marB="36576">
                    <a:solidFill>
                      <a:srgbClr val="FFFFFF"/>
                    </a:solidFill>
                  </a:tcPr>
                </a:tc>
                <a:tc>
                  <a:txBody>
                    <a:bodyPr/>
                    <a:lstStyle/>
                    <a:p>
                      <a:pPr algn="ctr"/>
                      <a:r>
                        <a:rPr sz="950" b="0" i="0">
                          <a:solidFill>
                            <a:srgbClr val="1F2937"/>
                          </a:solidFill>
                          <a:latin typeface="Calibri"/>
                        </a:rPr>
                        <a:t>~9</a:t>
                      </a:r>
                    </a:p>
                  </a:txBody>
                  <a:tcPr marL="64008" marR="64008" marT="36576" marB="36576">
                    <a:solidFill>
                      <a:srgbClr val="FBE8EA"/>
                    </a:solidFill>
                  </a:tcPr>
                </a:tc>
                <a:tc>
                  <a:txBody>
                    <a:bodyPr/>
                    <a:lstStyle/>
                    <a:p>
                      <a:pPr algn="ctr"/>
                      <a:r>
                        <a:rPr sz="950" b="0" i="0">
                          <a:solidFill>
                            <a:srgbClr val="1F2937"/>
                          </a:solidFill>
                          <a:latin typeface="Calibri"/>
                        </a:rPr>
                        <a:t>~28</a:t>
                      </a:r>
                    </a:p>
                  </a:txBody>
                  <a:tcPr marL="64008" marR="64008" marT="36576" marB="36576">
                    <a:solidFill>
                      <a:srgbClr val="FFFFFF"/>
                    </a:solidFill>
                  </a:tcPr>
                </a:tc>
                <a:tc>
                  <a:txBody>
                    <a:bodyPr/>
                    <a:lstStyle/>
                    <a:p>
                      <a:pPr algn="ctr"/>
                      <a:r>
                        <a:rPr sz="950" b="0" i="0">
                          <a:solidFill>
                            <a:srgbClr val="1F2937"/>
                          </a:solidFill>
                          <a:latin typeface="Calibri"/>
                        </a:rPr>
                        <a:t>~55</a:t>
                      </a:r>
                    </a:p>
                  </a:txBody>
                  <a:tcPr marL="64008" marR="64008" marT="36576" marB="36576">
                    <a:solidFill>
                      <a:srgbClr val="FFFFFF"/>
                    </a:solidFill>
                  </a:tcPr>
                </a:tc>
                <a:extLst>
                  <a:ext uri="{0D108BD9-81ED-4DB2-BD59-A6C34878D82A}">
                    <a16:rowId xmlns:a16="http://schemas.microsoft.com/office/drawing/2014/main" val="10001"/>
                  </a:ext>
                </a:extLst>
              </a:tr>
              <a:tr h="420623">
                <a:tc>
                  <a:txBody>
                    <a:bodyPr/>
                    <a:lstStyle/>
                    <a:p>
                      <a:r>
                        <a:rPr sz="950" b="0" i="0">
                          <a:solidFill>
                            <a:srgbClr val="1F2937"/>
                          </a:solidFill>
                          <a:latin typeface="Calibri"/>
                        </a:rPr>
                        <a:t>Dubai destination page</a:t>
                      </a:r>
                    </a:p>
                  </a:txBody>
                  <a:tcPr marL="64008" marR="64008" marT="36576" marB="36576">
                    <a:solidFill>
                      <a:srgbClr val="F3F5F8"/>
                    </a:solidFill>
                  </a:tcPr>
                </a:tc>
                <a:tc>
                  <a:txBody>
                    <a:bodyPr/>
                    <a:lstStyle/>
                    <a:p>
                      <a:pPr algn="ctr"/>
                      <a:r>
                        <a:rPr sz="950" b="0" i="0">
                          <a:solidFill>
                            <a:srgbClr val="1F2937"/>
                          </a:solidFill>
                          <a:latin typeface="Calibri"/>
                        </a:rPr>
                        <a:t>~12</a:t>
                      </a:r>
                    </a:p>
                  </a:txBody>
                  <a:tcPr marL="64008" marR="64008" marT="36576" marB="36576">
                    <a:solidFill>
                      <a:srgbClr val="FBE8EA"/>
                    </a:solidFill>
                  </a:tcPr>
                </a:tc>
                <a:tc>
                  <a:txBody>
                    <a:bodyPr/>
                    <a:lstStyle/>
                    <a:p>
                      <a:pPr algn="ctr"/>
                      <a:r>
                        <a:rPr sz="950" b="0" i="0">
                          <a:solidFill>
                            <a:srgbClr val="1F2937"/>
                          </a:solidFill>
                          <a:latin typeface="Calibri"/>
                        </a:rPr>
                        <a:t>~32</a:t>
                      </a:r>
                    </a:p>
                  </a:txBody>
                  <a:tcPr marL="64008" marR="64008" marT="36576" marB="36576">
                    <a:solidFill>
                      <a:srgbClr val="F3F5F8"/>
                    </a:solidFill>
                  </a:tcPr>
                </a:tc>
                <a:tc>
                  <a:txBody>
                    <a:bodyPr/>
                    <a:lstStyle/>
                    <a:p>
                      <a:pPr algn="ctr"/>
                      <a:r>
                        <a:rPr sz="950" b="0" i="0">
                          <a:solidFill>
                            <a:srgbClr val="1F2937"/>
                          </a:solidFill>
                          <a:latin typeface="Calibri"/>
                        </a:rPr>
                        <a:t>~65+</a:t>
                      </a:r>
                    </a:p>
                  </a:txBody>
                  <a:tcPr marL="64008" marR="64008" marT="36576" marB="36576">
                    <a:solidFill>
                      <a:srgbClr val="F3F5F8"/>
                    </a:solidFill>
                  </a:tcPr>
                </a:tc>
                <a:extLst>
                  <a:ext uri="{0D108BD9-81ED-4DB2-BD59-A6C34878D82A}">
                    <a16:rowId xmlns:a16="http://schemas.microsoft.com/office/drawing/2014/main" val="10002"/>
                  </a:ext>
                </a:extLst>
              </a:tr>
              <a:tr h="420623">
                <a:tc>
                  <a:txBody>
                    <a:bodyPr/>
                    <a:lstStyle/>
                    <a:p>
                      <a:r>
                        <a:rPr sz="950" b="0" i="0">
                          <a:solidFill>
                            <a:srgbClr val="1F2937"/>
                          </a:solidFill>
                          <a:latin typeface="Calibri"/>
                        </a:rPr>
                        <a:t>Specific prices with currency (Bali)</a:t>
                      </a:r>
                    </a:p>
                  </a:txBody>
                  <a:tcPr marL="64008" marR="64008" marT="36576" marB="36576">
                    <a:solidFill>
                      <a:srgbClr val="FFFFFF"/>
                    </a:solidFill>
                  </a:tcPr>
                </a:tc>
                <a:tc>
                  <a:txBody>
                    <a:bodyPr/>
                    <a:lstStyle/>
                    <a:p>
                      <a:pPr algn="ctr"/>
                      <a:r>
                        <a:rPr sz="950" b="0" i="0">
                          <a:solidFill>
                            <a:srgbClr val="1F2937"/>
                          </a:solidFill>
                          <a:latin typeface="Calibri"/>
                        </a:rPr>
                        <a:t>0 (alt text only)</a:t>
                      </a:r>
                    </a:p>
                  </a:txBody>
                  <a:tcPr marL="64008" marR="64008" marT="36576" marB="36576">
                    <a:solidFill>
                      <a:srgbClr val="FBE8EA"/>
                    </a:solidFill>
                  </a:tcPr>
                </a:tc>
                <a:tc>
                  <a:txBody>
                    <a:bodyPr/>
                    <a:lstStyle/>
                    <a:p>
                      <a:pPr algn="ctr"/>
                      <a:r>
                        <a:rPr sz="950" b="0" i="0">
                          <a:solidFill>
                            <a:srgbClr val="1F2937"/>
                          </a:solidFill>
                          <a:latin typeface="Calibri"/>
                        </a:rPr>
                        <a:t>2</a:t>
                      </a:r>
                    </a:p>
                  </a:txBody>
                  <a:tcPr marL="64008" marR="64008" marT="36576" marB="36576">
                    <a:solidFill>
                      <a:srgbClr val="FFFFFF"/>
                    </a:solidFill>
                  </a:tcPr>
                </a:tc>
                <a:tc>
                  <a:txBody>
                    <a:bodyPr/>
                    <a:lstStyle/>
                    <a:p>
                      <a:pPr algn="ctr"/>
                      <a:r>
                        <a:rPr sz="950" b="0" i="0">
                          <a:solidFill>
                            <a:srgbClr val="1F2937"/>
                          </a:solidFill>
                          <a:latin typeface="Calibri"/>
                        </a:rPr>
                        <a:t>3+ tiers</a:t>
                      </a:r>
                    </a:p>
                  </a:txBody>
                  <a:tcPr marL="64008" marR="64008" marT="36576" marB="36576">
                    <a:solidFill>
                      <a:srgbClr val="FFFFFF"/>
                    </a:solidFill>
                  </a:tcPr>
                </a:tc>
                <a:extLst>
                  <a:ext uri="{0D108BD9-81ED-4DB2-BD59-A6C34878D82A}">
                    <a16:rowId xmlns:a16="http://schemas.microsoft.com/office/drawing/2014/main" val="10003"/>
                  </a:ext>
                </a:extLst>
              </a:tr>
              <a:tr h="420623">
                <a:tc>
                  <a:txBody>
                    <a:bodyPr/>
                    <a:lstStyle/>
                    <a:p>
                      <a:r>
                        <a:rPr sz="950" b="0" i="0">
                          <a:solidFill>
                            <a:srgbClr val="1F2937"/>
                          </a:solidFill>
                          <a:latin typeface="Calibri"/>
                        </a:rPr>
                        <a:t>Quantitative facts (Bali)</a:t>
                      </a:r>
                    </a:p>
                  </a:txBody>
                  <a:tcPr marL="64008" marR="64008" marT="36576" marB="36576">
                    <a:solidFill>
                      <a:srgbClr val="F3F5F8"/>
                    </a:solidFill>
                  </a:tcPr>
                </a:tc>
                <a:tc>
                  <a:txBody>
                    <a:bodyPr/>
                    <a:lstStyle/>
                    <a:p>
                      <a:pPr algn="ctr"/>
                      <a:r>
                        <a:rPr sz="950" b="0" i="0">
                          <a:solidFill>
                            <a:srgbClr val="1F2937"/>
                          </a:solidFill>
                          <a:latin typeface="Calibri"/>
                        </a:rPr>
                        <a:t>1</a:t>
                      </a:r>
                    </a:p>
                  </a:txBody>
                  <a:tcPr marL="64008" marR="64008" marT="36576" marB="36576">
                    <a:solidFill>
                      <a:srgbClr val="FBE8EA"/>
                    </a:solidFill>
                  </a:tcPr>
                </a:tc>
                <a:tc>
                  <a:txBody>
                    <a:bodyPr/>
                    <a:lstStyle/>
                    <a:p>
                      <a:pPr algn="ctr"/>
                      <a:r>
                        <a:rPr sz="950" b="0" i="0">
                          <a:solidFill>
                            <a:srgbClr val="1F2937"/>
                          </a:solidFill>
                          <a:latin typeface="Calibri"/>
                        </a:rPr>
                        <a:t>3</a:t>
                      </a:r>
                    </a:p>
                  </a:txBody>
                  <a:tcPr marL="64008" marR="64008" marT="36576" marB="36576">
                    <a:solidFill>
                      <a:srgbClr val="F3F5F8"/>
                    </a:solidFill>
                  </a:tcPr>
                </a:tc>
                <a:tc>
                  <a:txBody>
                    <a:bodyPr/>
                    <a:lstStyle/>
                    <a:p>
                      <a:pPr algn="ctr"/>
                      <a:r>
                        <a:rPr sz="950" b="0" i="0">
                          <a:solidFill>
                            <a:srgbClr val="1F2937"/>
                          </a:solidFill>
                          <a:latin typeface="Calibri"/>
                        </a:rPr>
                        <a:t>8+</a:t>
                      </a:r>
                    </a:p>
                  </a:txBody>
                  <a:tcPr marL="64008" marR="64008" marT="36576" marB="36576">
                    <a:solidFill>
                      <a:srgbClr val="F3F5F8"/>
                    </a:solidFill>
                  </a:tcPr>
                </a:tc>
                <a:extLst>
                  <a:ext uri="{0D108BD9-81ED-4DB2-BD59-A6C34878D82A}">
                    <a16:rowId xmlns:a16="http://schemas.microsoft.com/office/drawing/2014/main" val="10004"/>
                  </a:ext>
                </a:extLst>
              </a:tr>
            </a:tbl>
          </a:graphicData>
        </a:graphic>
      </p:graphicFrame>
      <p:graphicFrame>
        <p:nvGraphicFramePr>
          <p:cNvPr id="7" name="Table 6"/>
          <p:cNvGraphicFramePr>
            <a:graphicFrameLocks noGrp="1"/>
          </p:cNvGraphicFramePr>
          <p:nvPr/>
        </p:nvGraphicFramePr>
        <p:xfrm>
          <a:off x="548640" y="3840480"/>
          <a:ext cx="5120640" cy="2286000"/>
        </p:xfrm>
        <a:graphic>
          <a:graphicData uri="http://schemas.openxmlformats.org/drawingml/2006/table">
            <a:tbl>
              <a:tblPr/>
              <a:tblGrid>
                <a:gridCol w="26517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tblGrid>
              <a:tr h="381000">
                <a:tc>
                  <a:txBody>
                    <a:bodyPr/>
                    <a:lstStyle/>
                    <a:p>
                      <a:r>
                        <a:rPr sz="900" b="1" i="0">
                          <a:solidFill>
                            <a:srgbClr val="FFFFFF"/>
                          </a:solidFill>
                          <a:latin typeface="Calibri"/>
                        </a:rPr>
                        <a:t>Bali intent coverage (dedicated, indexable page)</a:t>
                      </a:r>
                    </a:p>
                  </a:txBody>
                  <a:tcPr marL="64008" marR="64008" marT="36576" marB="36576" anchor="ctr">
                    <a:solidFill>
                      <a:srgbClr val="0B2240"/>
                    </a:solidFill>
                  </a:tcPr>
                </a:tc>
                <a:tc>
                  <a:txBody>
                    <a:bodyPr/>
                    <a:lstStyle/>
                    <a:p>
                      <a:pPr algn="ctr"/>
                      <a:r>
                        <a:rPr sz="900" b="1" i="0">
                          <a:solidFill>
                            <a:srgbClr val="FFFFFF"/>
                          </a:solidFill>
                          <a:latin typeface="Calibri"/>
                        </a:rPr>
                        <a:t>FC</a:t>
                      </a:r>
                    </a:p>
                  </a:txBody>
                  <a:tcPr marL="64008" marR="64008" marT="36576" marB="36576" anchor="ctr">
                    <a:solidFill>
                      <a:srgbClr val="0B2240"/>
                    </a:solidFill>
                  </a:tcPr>
                </a:tc>
                <a:tc>
                  <a:txBody>
                    <a:bodyPr/>
                    <a:lstStyle/>
                    <a:p>
                      <a:pPr algn="ctr"/>
                      <a:r>
                        <a:rPr sz="900" b="1" i="0">
                          <a:solidFill>
                            <a:srgbClr val="FFFFFF"/>
                          </a:solidFill>
                          <a:latin typeface="Calibri"/>
                        </a:rPr>
                        <a:t>Expedia</a:t>
                      </a:r>
                    </a:p>
                  </a:txBody>
                  <a:tcPr marL="64008" marR="64008" marT="36576" marB="36576" anchor="ctr">
                    <a:solidFill>
                      <a:srgbClr val="0B2240"/>
                    </a:solidFill>
                  </a:tcPr>
                </a:tc>
                <a:tc>
                  <a:txBody>
                    <a:bodyPr/>
                    <a:lstStyle/>
                    <a:p>
                      <a:pPr algn="ctr"/>
                      <a:r>
                        <a:rPr sz="900" b="1" i="0">
                          <a:solidFill>
                            <a:srgbClr val="FFFFFF"/>
                          </a:solidFill>
                          <a:latin typeface="Calibri"/>
                        </a:rPr>
                        <a:t>Booking</a:t>
                      </a:r>
                    </a:p>
                  </a:txBody>
                  <a:tcPr marL="64008" marR="64008" marT="36576" marB="36576" anchor="ctr">
                    <a:solidFill>
                      <a:srgbClr val="0B2240"/>
                    </a:solidFill>
                  </a:tcPr>
                </a:tc>
                <a:extLst>
                  <a:ext uri="{0D108BD9-81ED-4DB2-BD59-A6C34878D82A}">
                    <a16:rowId xmlns:a16="http://schemas.microsoft.com/office/drawing/2014/main" val="10000"/>
                  </a:ext>
                </a:extLst>
              </a:tr>
              <a:tr h="381000">
                <a:tc>
                  <a:txBody>
                    <a:bodyPr/>
                    <a:lstStyle/>
                    <a:p>
                      <a:r>
                        <a:rPr sz="950" b="0" i="0">
                          <a:solidFill>
                            <a:srgbClr val="1F2937"/>
                          </a:solidFill>
                          <a:latin typeface="Calibri"/>
                        </a:rPr>
                        <a:t>Budget / cheap</a:t>
                      </a:r>
                    </a:p>
                  </a:txBody>
                  <a:tcPr marL="64008" marR="64008" marT="36576" marB="36576">
                    <a:solidFill>
                      <a:srgbClr val="FFFFFF"/>
                    </a:solidFill>
                  </a:tcPr>
                </a:tc>
                <a:tc>
                  <a:txBody>
                    <a:bodyPr/>
                    <a:lstStyle/>
                    <a:p>
                      <a:pPr algn="ctr"/>
                      <a:r>
                        <a:rPr sz="950" b="0" i="0">
                          <a:solidFill>
                            <a:srgbClr val="1F2937"/>
                          </a:solidFill>
                          <a:latin typeface="Calibri"/>
                        </a:rPr>
                        <a:t>No</a:t>
                      </a:r>
                    </a:p>
                  </a:txBody>
                  <a:tcPr marL="64008" marR="64008" marT="36576" marB="36576">
                    <a:solidFill>
                      <a:srgbClr val="FBE8EA"/>
                    </a:solidFill>
                  </a:tcPr>
                </a:tc>
                <a:tc>
                  <a:txBody>
                    <a:bodyPr/>
                    <a:lstStyle/>
                    <a:p>
                      <a:pPr algn="ctr"/>
                      <a:r>
                        <a:rPr sz="950" b="0" i="0">
                          <a:solidFill>
                            <a:srgbClr val="1F2937"/>
                          </a:solidFill>
                          <a:latin typeface="Calibri"/>
                        </a:rPr>
                        <a:t>Yes</a:t>
                      </a:r>
                    </a:p>
                  </a:txBody>
                  <a:tcPr marL="64008" marR="64008" marT="36576" marB="36576">
                    <a:solidFill>
                      <a:srgbClr val="FFFFFF"/>
                    </a:solidFill>
                  </a:tcPr>
                </a:tc>
                <a:tc>
                  <a:txBody>
                    <a:bodyPr/>
                    <a:lstStyle/>
                    <a:p>
                      <a:pPr algn="ctr"/>
                      <a:r>
                        <a:rPr sz="950" b="0" i="0">
                          <a:solidFill>
                            <a:srgbClr val="1F2937"/>
                          </a:solidFill>
                          <a:latin typeface="Calibri"/>
                        </a:rPr>
                        <a:t>Yes</a:t>
                      </a:r>
                    </a:p>
                  </a:txBody>
                  <a:tcPr marL="64008" marR="64008" marT="36576" marB="36576">
                    <a:solidFill>
                      <a:srgbClr val="FFFFFF"/>
                    </a:solidFill>
                  </a:tcPr>
                </a:tc>
                <a:extLst>
                  <a:ext uri="{0D108BD9-81ED-4DB2-BD59-A6C34878D82A}">
                    <a16:rowId xmlns:a16="http://schemas.microsoft.com/office/drawing/2014/main" val="10001"/>
                  </a:ext>
                </a:extLst>
              </a:tr>
              <a:tr h="381000">
                <a:tc>
                  <a:txBody>
                    <a:bodyPr/>
                    <a:lstStyle/>
                    <a:p>
                      <a:r>
                        <a:rPr sz="950" b="0" i="0">
                          <a:solidFill>
                            <a:srgbClr val="1F2937"/>
                          </a:solidFill>
                          <a:latin typeface="Calibri"/>
                        </a:rPr>
                        <a:t>Family</a:t>
                      </a:r>
                    </a:p>
                  </a:txBody>
                  <a:tcPr marL="64008" marR="64008" marT="36576" marB="36576">
                    <a:solidFill>
                      <a:srgbClr val="F3F5F8"/>
                    </a:solidFill>
                  </a:tcPr>
                </a:tc>
                <a:tc>
                  <a:txBody>
                    <a:bodyPr/>
                    <a:lstStyle/>
                    <a:p>
                      <a:pPr algn="ctr"/>
                      <a:r>
                        <a:rPr sz="950" b="0" i="0">
                          <a:solidFill>
                            <a:srgbClr val="1F2937"/>
                          </a:solidFill>
                          <a:latin typeface="Calibri"/>
                        </a:rPr>
                        <a:t>Partial</a:t>
                      </a:r>
                    </a:p>
                  </a:txBody>
                  <a:tcPr marL="64008" marR="64008" marT="36576" marB="36576">
                    <a:solidFill>
                      <a:srgbClr val="FFF3DC"/>
                    </a:solidFill>
                  </a:tcPr>
                </a:tc>
                <a:tc>
                  <a:txBody>
                    <a:bodyPr/>
                    <a:lstStyle/>
                    <a:p>
                      <a:pPr algn="ctr"/>
                      <a:r>
                        <a:rPr sz="950" b="0" i="0">
                          <a:solidFill>
                            <a:srgbClr val="1F2937"/>
                          </a:solidFill>
                          <a:latin typeface="Calibri"/>
                        </a:rPr>
                        <a:t>Yes</a:t>
                      </a:r>
                    </a:p>
                  </a:txBody>
                  <a:tcPr marL="64008" marR="64008" marT="36576" marB="36576">
                    <a:solidFill>
                      <a:srgbClr val="F3F5F8"/>
                    </a:solidFill>
                  </a:tcPr>
                </a:tc>
                <a:tc>
                  <a:txBody>
                    <a:bodyPr/>
                    <a:lstStyle/>
                    <a:p>
                      <a:pPr algn="ctr"/>
                      <a:r>
                        <a:rPr sz="950" b="0" i="0">
                          <a:solidFill>
                            <a:srgbClr val="1F2937"/>
                          </a:solidFill>
                          <a:latin typeface="Calibri"/>
                        </a:rPr>
                        <a:t>Partial</a:t>
                      </a:r>
                    </a:p>
                  </a:txBody>
                  <a:tcPr marL="64008" marR="64008" marT="36576" marB="36576">
                    <a:solidFill>
                      <a:srgbClr val="F3F5F8"/>
                    </a:solidFill>
                  </a:tcPr>
                </a:tc>
                <a:extLst>
                  <a:ext uri="{0D108BD9-81ED-4DB2-BD59-A6C34878D82A}">
                    <a16:rowId xmlns:a16="http://schemas.microsoft.com/office/drawing/2014/main" val="10002"/>
                  </a:ext>
                </a:extLst>
              </a:tr>
              <a:tr h="381000">
                <a:tc>
                  <a:txBody>
                    <a:bodyPr/>
                    <a:lstStyle/>
                    <a:p>
                      <a:r>
                        <a:rPr sz="950" b="0" i="0">
                          <a:solidFill>
                            <a:srgbClr val="1F2937"/>
                          </a:solidFill>
                          <a:latin typeface="Calibri"/>
                        </a:rPr>
                        <a:t>Honeymoon / romantic</a:t>
                      </a:r>
                    </a:p>
                  </a:txBody>
                  <a:tcPr marL="64008" marR="64008" marT="36576" marB="36576">
                    <a:solidFill>
                      <a:srgbClr val="FFFFFF"/>
                    </a:solidFill>
                  </a:tcPr>
                </a:tc>
                <a:tc>
                  <a:txBody>
                    <a:bodyPr/>
                    <a:lstStyle/>
                    <a:p>
                      <a:pPr algn="ctr"/>
                      <a:r>
                        <a:rPr sz="950" b="0" i="0">
                          <a:solidFill>
                            <a:srgbClr val="1F2937"/>
                          </a:solidFill>
                          <a:latin typeface="Calibri"/>
                        </a:rPr>
                        <a:t>No</a:t>
                      </a:r>
                    </a:p>
                  </a:txBody>
                  <a:tcPr marL="64008" marR="64008" marT="36576" marB="36576">
                    <a:solidFill>
                      <a:srgbClr val="FBE8EA"/>
                    </a:solidFill>
                  </a:tcPr>
                </a:tc>
                <a:tc>
                  <a:txBody>
                    <a:bodyPr/>
                    <a:lstStyle/>
                    <a:p>
                      <a:pPr algn="ctr"/>
                      <a:r>
                        <a:rPr sz="950" b="0" i="0">
                          <a:solidFill>
                            <a:srgbClr val="1F2937"/>
                          </a:solidFill>
                          <a:latin typeface="Calibri"/>
                        </a:rPr>
                        <a:t>Yes</a:t>
                      </a:r>
                    </a:p>
                  </a:txBody>
                  <a:tcPr marL="64008" marR="64008" marT="36576" marB="36576">
                    <a:solidFill>
                      <a:srgbClr val="FFFFFF"/>
                    </a:solidFill>
                  </a:tcPr>
                </a:tc>
                <a:tc>
                  <a:txBody>
                    <a:bodyPr/>
                    <a:lstStyle/>
                    <a:p>
                      <a:pPr algn="ctr"/>
                      <a:r>
                        <a:rPr sz="950" b="0" i="0">
                          <a:solidFill>
                            <a:srgbClr val="1F2937"/>
                          </a:solidFill>
                          <a:latin typeface="Calibri"/>
                        </a:rPr>
                        <a:t>Partial</a:t>
                      </a:r>
                    </a:p>
                  </a:txBody>
                  <a:tcPr marL="64008" marR="64008" marT="36576" marB="36576">
                    <a:solidFill>
                      <a:srgbClr val="FFFFFF"/>
                    </a:solidFill>
                  </a:tcPr>
                </a:tc>
                <a:extLst>
                  <a:ext uri="{0D108BD9-81ED-4DB2-BD59-A6C34878D82A}">
                    <a16:rowId xmlns:a16="http://schemas.microsoft.com/office/drawing/2014/main" val="10003"/>
                  </a:ext>
                </a:extLst>
              </a:tr>
              <a:tr h="381000">
                <a:tc>
                  <a:txBody>
                    <a:bodyPr/>
                    <a:lstStyle/>
                    <a:p>
                      <a:r>
                        <a:rPr sz="950" b="0" i="0">
                          <a:solidFill>
                            <a:srgbClr val="1F2937"/>
                          </a:solidFill>
                          <a:latin typeface="Calibri"/>
                        </a:rPr>
                        <a:t>Luxury / premium</a:t>
                      </a:r>
                    </a:p>
                  </a:txBody>
                  <a:tcPr marL="64008" marR="64008" marT="36576" marB="36576">
                    <a:solidFill>
                      <a:srgbClr val="F3F5F8"/>
                    </a:solidFill>
                  </a:tcPr>
                </a:tc>
                <a:tc>
                  <a:txBody>
                    <a:bodyPr/>
                    <a:lstStyle/>
                    <a:p>
                      <a:pPr algn="ctr"/>
                      <a:r>
                        <a:rPr sz="950" b="0" i="0">
                          <a:solidFill>
                            <a:srgbClr val="1F2937"/>
                          </a:solidFill>
                          <a:latin typeface="Calibri"/>
                        </a:rPr>
                        <a:t>Partial</a:t>
                      </a:r>
                    </a:p>
                  </a:txBody>
                  <a:tcPr marL="64008" marR="64008" marT="36576" marB="36576">
                    <a:solidFill>
                      <a:srgbClr val="FFF3DC"/>
                    </a:solidFill>
                  </a:tcPr>
                </a:tc>
                <a:tc>
                  <a:txBody>
                    <a:bodyPr/>
                    <a:lstStyle/>
                    <a:p>
                      <a:pPr algn="ctr"/>
                      <a:r>
                        <a:rPr sz="950" b="0" i="0">
                          <a:solidFill>
                            <a:srgbClr val="1F2937"/>
                          </a:solidFill>
                          <a:latin typeface="Calibri"/>
                        </a:rPr>
                        <a:t>Yes</a:t>
                      </a:r>
                    </a:p>
                  </a:txBody>
                  <a:tcPr marL="64008" marR="64008" marT="36576" marB="36576">
                    <a:solidFill>
                      <a:srgbClr val="F3F5F8"/>
                    </a:solidFill>
                  </a:tcPr>
                </a:tc>
                <a:tc>
                  <a:txBody>
                    <a:bodyPr/>
                    <a:lstStyle/>
                    <a:p>
                      <a:pPr algn="ctr"/>
                      <a:r>
                        <a:rPr sz="950" b="0" i="0">
                          <a:solidFill>
                            <a:srgbClr val="1F2937"/>
                          </a:solidFill>
                          <a:latin typeface="Calibri"/>
                        </a:rPr>
                        <a:t>Yes</a:t>
                      </a:r>
                    </a:p>
                  </a:txBody>
                  <a:tcPr marL="64008" marR="64008" marT="36576" marB="36576">
                    <a:solidFill>
                      <a:srgbClr val="F3F5F8"/>
                    </a:solidFill>
                  </a:tcPr>
                </a:tc>
                <a:extLst>
                  <a:ext uri="{0D108BD9-81ED-4DB2-BD59-A6C34878D82A}">
                    <a16:rowId xmlns:a16="http://schemas.microsoft.com/office/drawing/2014/main" val="10004"/>
                  </a:ext>
                </a:extLst>
              </a:tr>
              <a:tr h="381000">
                <a:tc>
                  <a:txBody>
                    <a:bodyPr/>
                    <a:lstStyle/>
                    <a:p>
                      <a:r>
                        <a:rPr sz="950" b="0" i="0">
                          <a:solidFill>
                            <a:srgbClr val="1F2937"/>
                          </a:solidFill>
                          <a:latin typeface="Calibri"/>
                        </a:rPr>
                        <a:t>Transactional (package with flights)</a:t>
                      </a:r>
                    </a:p>
                  </a:txBody>
                  <a:tcPr marL="64008" marR="64008" marT="36576" marB="36576">
                    <a:solidFill>
                      <a:srgbClr val="FFFFFF"/>
                    </a:solidFill>
                  </a:tcPr>
                </a:tc>
                <a:tc>
                  <a:txBody>
                    <a:bodyPr/>
                    <a:lstStyle/>
                    <a:p>
                      <a:pPr algn="ctr"/>
                      <a:r>
                        <a:rPr sz="950" b="0" i="0">
                          <a:solidFill>
                            <a:srgbClr val="1F2937"/>
                          </a:solidFill>
                          <a:latin typeface="Calibri"/>
                        </a:rPr>
                        <a:t>Yes</a:t>
                      </a:r>
                    </a:p>
                  </a:txBody>
                  <a:tcPr marL="64008" marR="64008" marT="36576" marB="36576">
                    <a:solidFill>
                      <a:srgbClr val="E4F1E8"/>
                    </a:solidFill>
                  </a:tcPr>
                </a:tc>
                <a:tc>
                  <a:txBody>
                    <a:bodyPr/>
                    <a:lstStyle/>
                    <a:p>
                      <a:pPr algn="ctr"/>
                      <a:r>
                        <a:rPr sz="950" b="0" i="0">
                          <a:solidFill>
                            <a:srgbClr val="1F2937"/>
                          </a:solidFill>
                          <a:latin typeface="Calibri"/>
                        </a:rPr>
                        <a:t>Yes</a:t>
                      </a:r>
                    </a:p>
                  </a:txBody>
                  <a:tcPr marL="64008" marR="64008" marT="36576" marB="36576">
                    <a:solidFill>
                      <a:srgbClr val="FFFFFF"/>
                    </a:solidFill>
                  </a:tcPr>
                </a:tc>
                <a:tc>
                  <a:txBody>
                    <a:bodyPr/>
                    <a:lstStyle/>
                    <a:p>
                      <a:pPr algn="ctr"/>
                      <a:r>
                        <a:rPr sz="950" b="0" i="0">
                          <a:solidFill>
                            <a:srgbClr val="1F2937"/>
                          </a:solidFill>
                          <a:latin typeface="Calibri"/>
                        </a:rPr>
                        <a:t>Yes</a:t>
                      </a:r>
                    </a:p>
                  </a:txBody>
                  <a:tcPr marL="64008" marR="64008" marT="36576" marB="36576">
                    <a:solidFill>
                      <a:srgbClr val="FFFFFF"/>
                    </a:solidFill>
                  </a:tcPr>
                </a:tc>
                <a:extLst>
                  <a:ext uri="{0D108BD9-81ED-4DB2-BD59-A6C34878D82A}">
                    <a16:rowId xmlns:a16="http://schemas.microsoft.com/office/drawing/2014/main" val="10005"/>
                  </a:ext>
                </a:extLst>
              </a:tr>
            </a:tbl>
          </a:graphicData>
        </a:graphic>
      </p:graphicFrame>
      <p:sp>
        <p:nvSpPr>
          <p:cNvPr id="8" name="Rounded Rectangle 7"/>
          <p:cNvSpPr/>
          <p:nvPr/>
        </p:nvSpPr>
        <p:spPr>
          <a:xfrm>
            <a:off x="5897880" y="1600200"/>
            <a:ext cx="5760720" cy="224028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062472" y="1764792"/>
            <a:ext cx="543153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Build: programmatic destination FAQ and facts (Pillar 3 design)</a:t>
            </a:r>
          </a:p>
        </p:txBody>
      </p:sp>
      <p:sp>
        <p:nvSpPr>
          <p:cNvPr id="10" name="TextBox 9"/>
          <p:cNvSpPr txBox="1"/>
          <p:nvPr/>
        </p:nvSpPr>
        <p:spPr>
          <a:xfrm>
            <a:off x="6062472" y="2148840"/>
            <a:ext cx="5431536" cy="1527048"/>
          </a:xfrm>
          <a:prstGeom prst="rect">
            <a:avLst/>
          </a:prstGeom>
          <a:noFill/>
        </p:spPr>
        <p:txBody>
          <a:bodyPr wrap="square" lIns="45720" rIns="45720" anchor="t">
            <a:spAutoFit/>
          </a:bodyPr>
          <a:lstStyle/>
          <a:p>
            <a:pPr algn="l">
              <a:lnSpc>
                <a:spcPct val="108000"/>
              </a:lnSpc>
              <a:spcAft>
                <a:spcPts val="400"/>
              </a:spcAft>
            </a:pPr>
            <a:r>
              <a:rPr sz="1100" b="0" i="0">
                <a:solidFill>
                  <a:srgbClr val="1F2937"/>
                </a:solidFill>
                <a:latin typeface="Calibri"/>
              </a:rPr>
              <a:t>Fact store → template bank → generator → server-rendered HTML + FAQPage JSON-LD. Each fact has an owner, a source and a last-reviewed date. Questions are single-intent: 'Do Australians need a visa to visit Bali?', 'How long is the flight from Australia to Fiji?', 'Where should I stay in Fiji?'</a:t>
            </a:r>
          </a:p>
          <a:p>
            <a:pPr algn="l">
              <a:lnSpc>
                <a:spcPct val="108000"/>
              </a:lnSpc>
              <a:spcBef>
                <a:spcPts val="500"/>
              </a:spcBef>
              <a:spcAft>
                <a:spcPts val="400"/>
              </a:spcAft>
            </a:pPr>
            <a:r>
              <a:rPr sz="1100" b="0" i="0">
                <a:solidFill>
                  <a:srgbClr val="1F2937"/>
                </a:solidFill>
                <a:latin typeface="Calibri"/>
              </a:rPr>
              <a:t>Answer rule: sentence one answers; sentence two adds named places, durations, currency codes; sentence three states how an FC expert helps, without turning the block into an advert.</a:t>
            </a:r>
          </a:p>
        </p:txBody>
      </p:sp>
      <p:sp>
        <p:nvSpPr>
          <p:cNvPr id="11" name="Rounded Rectangle 10"/>
          <p:cNvSpPr/>
          <p:nvPr/>
        </p:nvSpPr>
        <p:spPr>
          <a:xfrm>
            <a:off x="5897880" y="3977639"/>
            <a:ext cx="5760720" cy="2148840"/>
          </a:xfrm>
          <a:prstGeom prst="roundRect">
            <a:avLst>
              <a:gd name="adj" fmla="val 4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062472" y="4087368"/>
            <a:ext cx="5431536" cy="1947672"/>
          </a:xfrm>
          <a:prstGeom prst="rect">
            <a:avLst/>
          </a:prstGeom>
          <a:noFill/>
        </p:spPr>
        <p:txBody>
          <a:bodyPr wrap="square" lIns="45720" rIns="45720" anchor="t">
            <a:spAutoFit/>
          </a:bodyPr>
          <a:lstStyle/>
          <a:p>
            <a:pPr algn="l">
              <a:spcBef>
                <a:spcPts val="0"/>
              </a:spcBef>
              <a:spcAft>
                <a:spcPts val="300"/>
              </a:spcAft>
            </a:pPr>
            <a:r>
              <a:rPr sz="1700" b="0" i="0">
                <a:solidFill>
                  <a:srgbClr val="9FB3CC"/>
                </a:solidFill>
                <a:latin typeface="Calibri"/>
              </a:rPr>
              <a:t>Approved fact and source</a:t>
            </a:r>
          </a:p>
          <a:p>
            <a:pPr algn="l">
              <a:spcBef>
                <a:spcPts val="0"/>
              </a:spcBef>
              <a:spcAft>
                <a:spcPts val="300"/>
              </a:spcAft>
            </a:pPr>
            <a:r>
              <a:rPr sz="1700" b="0" i="0">
                <a:solidFill>
                  <a:srgbClr val="9FB3CC"/>
                </a:solidFill>
                <a:latin typeface="Calibri"/>
              </a:rPr>
              <a:t>Named owner and review date</a:t>
            </a:r>
          </a:p>
          <a:p>
            <a:pPr algn="l">
              <a:spcBef>
                <a:spcPts val="0"/>
              </a:spcBef>
              <a:spcAft>
                <a:spcPts val="300"/>
              </a:spcAft>
            </a:pPr>
            <a:r>
              <a:rPr sz="1700" b="0" i="0">
                <a:solidFill>
                  <a:srgbClr val="9FB3CC"/>
                </a:solidFill>
                <a:latin typeface="Calibri"/>
              </a:rPr>
              <a:t>Useful question and direct answer</a:t>
            </a:r>
          </a:p>
          <a:p>
            <a:pPr algn="l">
              <a:spcBef>
                <a:spcPts val="0"/>
              </a:spcBef>
              <a:spcAft>
                <a:spcPts val="300"/>
              </a:spcAft>
            </a:pPr>
            <a:r>
              <a:rPr sz="1700" b="0" i="0">
                <a:solidFill>
                  <a:srgbClr val="9FB3CC"/>
                </a:solidFill>
                <a:latin typeface="Calibri"/>
              </a:rPr>
              <a:t>Consistent HTML and structured data</a:t>
            </a:r>
          </a:p>
        </p:txBody>
      </p:sp>
      <p:sp>
        <p:nvSpPr>
          <p:cNvPr id="13" name="TextBox 12"/>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Pillar 2 audit §8.2 and §10.2 (entity density and intent coverage, captured 10–15 May 2026); Pillar 3 audit §11 (programmatic FAQ specification and generator). Expedia replicates intent pages per destination ('Bali Cheap Holidays', 'Fiji Cheap Holidays'); FC's destination structure varies by region (Bali has six 'where to stay' areas, Japan has none).</a:t>
            </a:r>
          </a:p>
        </p:txBody>
      </p:sp>
      <p:sp>
        <p:nvSpPr>
          <p:cNvPr id="14" name="TextBox 13"/>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8</a:t>
            </a:r>
            <a:endParaRPr sz="900" b="0" i="0">
              <a:solidFill>
                <a:srgbClr val="5B6573"/>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Reliable offers and credible expertise support trust</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8796528"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sp>
        <p:nvSpPr>
          <p:cNvPr id="6" name="Rounded Rectangle 5"/>
          <p:cNvSpPr/>
          <p:nvPr/>
        </p:nvSpPr>
        <p:spPr>
          <a:xfrm>
            <a:off x="6611112" y="329184"/>
            <a:ext cx="207568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Live check 25 Oct 2026</a:t>
            </a:r>
          </a:p>
        </p:txBody>
      </p:sp>
      <p:sp>
        <p:nvSpPr>
          <p:cNvPr id="7" name="Rounded Rectangle 6"/>
          <p:cNvSpPr/>
          <p:nvPr/>
        </p:nvSpPr>
        <p:spPr>
          <a:xfrm>
            <a:off x="548640" y="1600200"/>
            <a:ext cx="3611880" cy="452628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13232" y="1764792"/>
            <a:ext cx="32826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One fare truth (freshness)</a:t>
            </a:r>
          </a:p>
        </p:txBody>
      </p:sp>
      <p:sp>
        <p:nvSpPr>
          <p:cNvPr id="9" name="TextBox 8"/>
          <p:cNvSpPr txBox="1"/>
          <p:nvPr/>
        </p:nvSpPr>
        <p:spPr>
          <a:xfrm>
            <a:off x="713232" y="2148840"/>
            <a:ext cx="3282696" cy="3813048"/>
          </a:xfrm>
          <a:prstGeom prst="rect">
            <a:avLst/>
          </a:prstGeom>
          <a:noFill/>
        </p:spPr>
        <p:txBody>
          <a:bodyPr wrap="square" lIns="45720" rIns="45720" anchor="t">
            <a:spAutoFit/>
          </a:bodyPr>
          <a:lstStyle/>
          <a:p>
            <a:pPr algn="l">
              <a:spcBef>
                <a:spcPts val="0"/>
              </a:spcBef>
              <a:spcAft>
                <a:spcPts val="300"/>
              </a:spcAft>
            </a:pPr>
            <a:r>
              <a:rPr sz="1900" b="0" i="0">
                <a:solidFill>
                  <a:srgbClr val="1F2937"/>
                </a:solidFill>
                <a:latin typeface="Calibri"/>
              </a:rPr>
              <a:t>The same route page showed different fares across captures and offer types. A difference alone is not an error.</a:t>
            </a:r>
          </a:p>
          <a:p>
            <a:pPr algn="l">
              <a:spcBef>
                <a:spcPts val="0"/>
              </a:spcBef>
              <a:spcAft>
                <a:spcPts val="300"/>
              </a:spcAft>
            </a:pPr>
            <a:r>
              <a:rPr sz="1900" b="0" i="0">
                <a:solidFill>
                  <a:srgbClr val="1F2937"/>
                </a:solidFill>
                <a:latin typeface="Calibri"/>
              </a:rPr>
              <a:t>Use one approved record for equivalent offers. Keep dates, cabin, fees and conditions clear.</a:t>
            </a:r>
          </a:p>
          <a:p>
            <a:pPr algn="l">
              <a:spcBef>
                <a:spcPts val="0"/>
              </a:spcBef>
              <a:spcAft>
                <a:spcPts val="300"/>
              </a:spcAft>
            </a:pPr>
            <a:r>
              <a:rPr sz="1900" b="0" i="0">
                <a:solidFill>
                  <a:srgbClr val="1F2937"/>
                </a:solidFill>
                <a:latin typeface="Calibri"/>
              </a:rPr>
              <a:t>Investigate stale or conflicting information against the quote path.</a:t>
            </a:r>
          </a:p>
        </p:txBody>
      </p:sp>
      <p:sp>
        <p:nvSpPr>
          <p:cNvPr id="10" name="Rounded Rectangle 9"/>
          <p:cNvSpPr/>
          <p:nvPr/>
        </p:nvSpPr>
        <p:spPr>
          <a:xfrm>
            <a:off x="4297680" y="1600200"/>
            <a:ext cx="3611880" cy="452628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462272" y="1764792"/>
            <a:ext cx="32826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Earned authority, not declared</a:t>
            </a:r>
          </a:p>
        </p:txBody>
      </p:sp>
      <p:sp>
        <p:nvSpPr>
          <p:cNvPr id="12" name="TextBox 11"/>
          <p:cNvSpPr txBox="1"/>
          <p:nvPr/>
        </p:nvSpPr>
        <p:spPr>
          <a:xfrm>
            <a:off x="4462272" y="2148840"/>
            <a:ext cx="3282696" cy="3813048"/>
          </a:xfrm>
          <a:prstGeom prst="rect">
            <a:avLst/>
          </a:prstGeom>
          <a:noFill/>
        </p:spPr>
        <p:txBody>
          <a:bodyPr wrap="square" lIns="45720" rIns="45720" anchor="t">
            <a:spAutoFit/>
          </a:bodyPr>
          <a:lstStyle/>
          <a:p>
            <a:pPr algn="l">
              <a:spcBef>
                <a:spcPts val="0"/>
              </a:spcBef>
              <a:spcAft>
                <a:spcPts val="300"/>
              </a:spcAft>
            </a:pPr>
            <a:r>
              <a:rPr sz="1900" b="0" i="0">
                <a:solidFill>
                  <a:srgbClr val="1F2937"/>
                </a:solidFill>
                <a:latin typeface="Calibri"/>
              </a:rPr>
              <a:t>The sampled agency answer drew on forums and reviews. FC also has established third-party profiles.</a:t>
            </a:r>
          </a:p>
          <a:p>
            <a:pPr algn="l">
              <a:spcBef>
                <a:spcPts val="0"/>
              </a:spcBef>
              <a:spcAft>
                <a:spcPts val="300"/>
              </a:spcAft>
            </a:pPr>
            <a:r>
              <a:rPr sz="1900" b="0" i="0">
                <a:solidFill>
                  <a:srgbClr val="1F2937"/>
                </a:solidFill>
                <a:latin typeface="Calibri"/>
              </a:rPr>
              <a:t>Maintain accurate business information, respond to genuine reviews and publish useful original research.</a:t>
            </a:r>
          </a:p>
          <a:p>
            <a:pPr algn="l">
              <a:spcBef>
                <a:spcPts val="0"/>
              </a:spcBef>
              <a:spcAft>
                <a:spcPts val="300"/>
              </a:spcAft>
            </a:pPr>
            <a:r>
              <a:rPr sz="1900" b="0" i="0">
                <a:solidFill>
                  <a:srgbClr val="1F2937"/>
                </a:solidFill>
                <a:latin typeface="Calibri"/>
              </a:rPr>
              <a:t>Follow disclosure and sourcing rules. Do not manufacture endorsements.</a:t>
            </a:r>
          </a:p>
        </p:txBody>
      </p:sp>
      <p:sp>
        <p:nvSpPr>
          <p:cNvPr id="13" name="Rounded Rectangle 12"/>
          <p:cNvSpPr/>
          <p:nvPr/>
        </p:nvSpPr>
        <p:spPr>
          <a:xfrm>
            <a:off x="8046720" y="1600200"/>
            <a:ext cx="3611880" cy="452628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211312" y="1764792"/>
            <a:ext cx="32826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Expert and store path, machine-readable</a:t>
            </a:r>
          </a:p>
        </p:txBody>
      </p:sp>
      <p:sp>
        <p:nvSpPr>
          <p:cNvPr id="15" name="TextBox 14"/>
          <p:cNvSpPr txBox="1"/>
          <p:nvPr/>
        </p:nvSpPr>
        <p:spPr>
          <a:xfrm>
            <a:off x="8211312" y="2148840"/>
            <a:ext cx="3282696" cy="3813048"/>
          </a:xfrm>
          <a:prstGeom prst="rect">
            <a:avLst/>
          </a:prstGeom>
          <a:noFill/>
        </p:spPr>
        <p:txBody>
          <a:bodyPr wrap="square" lIns="45720" rIns="45720" anchor="t">
            <a:spAutoFit/>
          </a:bodyPr>
          <a:lstStyle/>
          <a:p>
            <a:pPr algn="l">
              <a:spcBef>
                <a:spcPts val="0"/>
              </a:spcBef>
              <a:spcAft>
                <a:spcPts val="300"/>
              </a:spcAft>
            </a:pPr>
            <a:r>
              <a:rPr sz="1900" b="0" i="0">
                <a:solidFill>
                  <a:srgbClr val="1F2937"/>
                </a:solidFill>
                <a:latin typeface="Calibri"/>
              </a:rPr>
              <a:t>Make FC’s booking, store and expert routes explicit in relevant page text.</a:t>
            </a:r>
          </a:p>
          <a:p>
            <a:pPr algn="l">
              <a:spcBef>
                <a:spcPts val="0"/>
              </a:spcBef>
              <a:spcAft>
                <a:spcPts val="300"/>
              </a:spcAft>
            </a:pPr>
            <a:r>
              <a:rPr sz="1900" b="0" i="0">
                <a:solidFill>
                  <a:srgbClr val="1F2937"/>
                </a:solidFill>
                <a:latin typeface="Calibri"/>
              </a:rPr>
              <a:t>Keep store names, addresses, hours and profiles consistent. Use suitable local-business data.</a:t>
            </a:r>
          </a:p>
          <a:p>
            <a:pPr algn="l">
              <a:spcBef>
                <a:spcPts val="0"/>
              </a:spcBef>
              <a:spcAft>
                <a:spcPts val="300"/>
              </a:spcAft>
            </a:pPr>
            <a:r>
              <a:rPr sz="1900" b="0" i="0">
                <a:solidFill>
                  <a:srgbClr val="1F2937"/>
                </a:solidFill>
                <a:latin typeface="Calibri"/>
              </a:rPr>
              <a:t>Measure local discovery and enquiries separately.</a:t>
            </a:r>
          </a:p>
        </p:txBody>
      </p:sp>
      <p:sp>
        <p:nvSpPr>
          <p:cNvPr id="16" name="TextBox 1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live fares 23–25 Oct 2026 (page heading, JSON-LD Offer and deal cards); Ahrefs most-cited domains (Sep 2026) and Profound citation patterns (680M citations, 2024–25); Pillar 3 audit §12 (Wikipedia, Wikidata, Trustpilot 15 May 2026); arXiv 2605.25517; Google guidance on inauthentic mentions; ACCC false or misleading claims.</a:t>
            </a:r>
          </a:p>
        </p:txBody>
      </p:sp>
      <p:sp>
        <p:nvSpPr>
          <p:cNvPr id="17" name="TextBox 16"/>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9</a:t>
            </a:r>
            <a:endParaRPr sz="900" b="0" i="0">
              <a:solidFill>
                <a:srgbClr val="5B6573"/>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Apps provide another route to the customer</a:t>
            </a:r>
          </a:p>
        </p:txBody>
      </p:sp>
      <p:sp>
        <p:nvSpPr>
          <p:cNvPr id="4" name="Rounded Rectangle 3"/>
          <p:cNvSpPr/>
          <p:nvPr/>
        </p:nvSpPr>
        <p:spPr>
          <a:xfrm>
            <a:off x="9582912" y="329184"/>
            <a:ext cx="2075688"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Official documentation</a:t>
            </a:r>
          </a:p>
        </p:txBody>
      </p:sp>
      <p:graphicFrame>
        <p:nvGraphicFramePr>
          <p:cNvPr id="5" name="Table 4"/>
          <p:cNvGraphicFramePr>
            <a:graphicFrameLocks noGrp="1"/>
          </p:cNvGraphicFramePr>
          <p:nvPr/>
        </p:nvGraphicFramePr>
        <p:xfrm>
          <a:off x="548640" y="1645920"/>
          <a:ext cx="6949440" cy="3566160"/>
        </p:xfrm>
        <a:graphic>
          <a:graphicData uri="http://schemas.openxmlformats.org/drawingml/2006/table">
            <a:tbl>
              <a:tblPr/>
              <a:tblGrid>
                <a:gridCol w="14173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94360">
                <a:tc>
                  <a:txBody>
                    <a:bodyPr/>
                    <a:lstStyle/>
                    <a:p>
                      <a:r>
                        <a:rPr sz="1050" b="1" i="0">
                          <a:solidFill>
                            <a:srgbClr val="FFFFFF"/>
                          </a:solidFill>
                          <a:latin typeface="Calibri"/>
                        </a:rPr>
                        <a:t>Who</a:t>
                      </a:r>
                    </a:p>
                  </a:txBody>
                  <a:tcPr marL="64008" marR="64008" marT="36576" marB="36576" anchor="ctr">
                    <a:solidFill>
                      <a:srgbClr val="0B2240"/>
                    </a:solidFill>
                  </a:tcPr>
                </a:tc>
                <a:tc>
                  <a:txBody>
                    <a:bodyPr/>
                    <a:lstStyle/>
                    <a:p>
                      <a:r>
                        <a:rPr sz="1050" b="1" i="0">
                          <a:solidFill>
                            <a:srgbClr val="FFFFFF"/>
                          </a:solidFill>
                          <a:latin typeface="Calibri"/>
                        </a:rPr>
                        <a:t>What shipped</a:t>
                      </a:r>
                    </a:p>
                  </a:txBody>
                  <a:tcPr marL="64008" marR="64008" marT="36576" marB="36576" anchor="ctr">
                    <a:solidFill>
                      <a:srgbClr val="0B2240"/>
                    </a:solidFill>
                  </a:tcPr>
                </a:tc>
                <a:tc>
                  <a:txBody>
                    <a:bodyPr/>
                    <a:lstStyle/>
                    <a:p>
                      <a:r>
                        <a:rPr sz="1050" b="1" i="0">
                          <a:solidFill>
                            <a:srgbClr val="FFFFFF"/>
                          </a:solidFill>
                          <a:latin typeface="Calibri"/>
                        </a:rPr>
                        <a:t>What it means</a:t>
                      </a:r>
                    </a:p>
                  </a:txBody>
                  <a:tcPr marL="64008" marR="64008" marT="36576" marB="36576" anchor="ctr">
                    <a:solidFill>
                      <a:srgbClr val="0B2240"/>
                    </a:solidFill>
                  </a:tcPr>
                </a:tc>
                <a:extLst>
                  <a:ext uri="{0D108BD9-81ED-4DB2-BD59-A6C34878D82A}">
                    <a16:rowId xmlns:a16="http://schemas.microsoft.com/office/drawing/2014/main" val="10000"/>
                  </a:ext>
                </a:extLst>
              </a:tr>
              <a:tr h="594360">
                <a:tc>
                  <a:txBody>
                    <a:bodyPr/>
                    <a:lstStyle/>
                    <a:p>
                      <a:r>
                        <a:rPr sz="1000" b="0" i="0">
                          <a:solidFill>
                            <a:srgbClr val="1F2937"/>
                          </a:solidFill>
                          <a:latin typeface="Calibri"/>
                        </a:rPr>
                        <a:t>Expedia, Booking.com</a:t>
                      </a:r>
                    </a:p>
                  </a:txBody>
                  <a:tcPr marL="64008" marR="64008" marT="36576" marB="36576">
                    <a:solidFill>
                      <a:srgbClr val="FFFFFF"/>
                    </a:solidFill>
                  </a:tcPr>
                </a:tc>
                <a:tc>
                  <a:txBody>
                    <a:bodyPr/>
                    <a:lstStyle/>
                    <a:p>
                      <a:r>
                        <a:rPr sz="1000" b="0" i="0">
                          <a:solidFill>
                            <a:srgbClr val="1F2937"/>
                          </a:solidFill>
                          <a:latin typeface="Calibri"/>
                        </a:rPr>
                        <a:t>First travel apps inside ChatGPT (6 Oct 2025): live availability and prices in the conversation; booking completes on their sites. Australia was not among Expedia's listed markets at last check.</a:t>
                      </a:r>
                    </a:p>
                  </a:txBody>
                  <a:tcPr marL="64008" marR="64008" marT="36576" marB="36576">
                    <a:solidFill>
                      <a:srgbClr val="FFFFFF"/>
                    </a:solidFill>
                  </a:tcPr>
                </a:tc>
                <a:tc>
                  <a:txBody>
                    <a:bodyPr/>
                    <a:lstStyle/>
                    <a:p>
                      <a:r>
                        <a:rPr sz="1000" b="0" i="0">
                          <a:solidFill>
                            <a:srgbClr val="1F2937"/>
                          </a:solidFill>
                          <a:latin typeface="Calibri"/>
                        </a:rPr>
                        <a:t>Discovery and comparison happen in the chat; the OTA keeps the checkout.</a:t>
                      </a:r>
                    </a:p>
                  </a:txBody>
                  <a:tcPr marL="64008" marR="64008" marT="36576" marB="36576">
                    <a:solidFill>
                      <a:srgbClr val="FFFFFF"/>
                    </a:solidFill>
                  </a:tcPr>
                </a:tc>
                <a:extLst>
                  <a:ext uri="{0D108BD9-81ED-4DB2-BD59-A6C34878D82A}">
                    <a16:rowId xmlns:a16="http://schemas.microsoft.com/office/drawing/2014/main" val="10001"/>
                  </a:ext>
                </a:extLst>
              </a:tr>
              <a:tr h="594360">
                <a:tc>
                  <a:txBody>
                    <a:bodyPr/>
                    <a:lstStyle/>
                    <a:p>
                      <a:r>
                        <a:rPr sz="1000" b="0" i="0">
                          <a:solidFill>
                            <a:srgbClr val="1F2937"/>
                          </a:solidFill>
                          <a:latin typeface="Calibri"/>
                        </a:rPr>
                        <a:t>Skyscanner, Accor, Lighthouse</a:t>
                      </a:r>
                    </a:p>
                  </a:txBody>
                  <a:tcPr marL="64008" marR="64008" marT="36576" marB="36576">
                    <a:solidFill>
                      <a:srgbClr val="F3F5F8"/>
                    </a:solidFill>
                  </a:tcPr>
                </a:tc>
                <a:tc>
                  <a:txBody>
                    <a:bodyPr/>
                    <a:lstStyle/>
                    <a:p>
                      <a:r>
                        <a:rPr sz="1000" b="0" i="0">
                          <a:solidFill>
                            <a:srgbClr val="1F2937"/>
                          </a:solidFill>
                          <a:latin typeface="Calibri"/>
                        </a:rPr>
                        <a:t>Followed with their own ChatGPT apps (early 2026).</a:t>
                      </a:r>
                    </a:p>
                  </a:txBody>
                  <a:tcPr marL="64008" marR="64008" marT="36576" marB="36576">
                    <a:solidFill>
                      <a:srgbClr val="F3F5F8"/>
                    </a:solidFill>
                  </a:tcPr>
                </a:tc>
                <a:tc>
                  <a:txBody>
                    <a:bodyPr/>
                    <a:lstStyle/>
                    <a:p>
                      <a:r>
                        <a:rPr sz="1000" b="0" i="0">
                          <a:solidFill>
                            <a:srgbClr val="1F2937"/>
                          </a:solidFill>
                          <a:latin typeface="Calibri"/>
                        </a:rPr>
                        <a:t>Apps provide another distribution route for aggregators.</a:t>
                      </a:r>
                    </a:p>
                  </a:txBody>
                  <a:tcPr marL="64008" marR="64008" marT="36576" marB="36576">
                    <a:solidFill>
                      <a:srgbClr val="F3F5F8"/>
                    </a:solidFill>
                  </a:tcPr>
                </a:tc>
                <a:extLst>
                  <a:ext uri="{0D108BD9-81ED-4DB2-BD59-A6C34878D82A}">
                    <a16:rowId xmlns:a16="http://schemas.microsoft.com/office/drawing/2014/main" val="10002"/>
                  </a:ext>
                </a:extLst>
              </a:tr>
              <a:tr h="594360">
                <a:tc>
                  <a:txBody>
                    <a:bodyPr/>
                    <a:lstStyle/>
                    <a:p>
                      <a:r>
                        <a:rPr sz="1000" b="0" i="0">
                          <a:solidFill>
                            <a:srgbClr val="1F2937"/>
                          </a:solidFill>
                          <a:latin typeface="Calibri"/>
                        </a:rPr>
                        <a:t>Virgin Australia</a:t>
                      </a:r>
                    </a:p>
                  </a:txBody>
                  <a:tcPr marL="64008" marR="64008" marT="36576" marB="36576">
                    <a:solidFill>
                      <a:srgbClr val="FFFFFF"/>
                    </a:solidFill>
                  </a:tcPr>
                </a:tc>
                <a:tc>
                  <a:txBody>
                    <a:bodyPr/>
                    <a:lstStyle/>
                    <a:p>
                      <a:r>
                        <a:rPr sz="1000" b="0" i="0">
                          <a:solidFill>
                            <a:srgbClr val="1F2937"/>
                          </a:solidFill>
                          <a:latin typeface="Calibri"/>
                        </a:rPr>
                        <a:t>First Australian airline in ChatGPT (10 Jun 2026): Velocity reward-seat and fare search, then redirect to virginaustralia.com to book.</a:t>
                      </a:r>
                    </a:p>
                  </a:txBody>
                  <a:tcPr marL="64008" marR="64008" marT="36576" marB="36576">
                    <a:solidFill>
                      <a:srgbClr val="FFFFFF"/>
                    </a:solidFill>
                  </a:tcPr>
                </a:tc>
                <a:tc>
                  <a:txBody>
                    <a:bodyPr/>
                    <a:lstStyle/>
                    <a:p>
                      <a:r>
                        <a:rPr sz="1000" b="0" i="0">
                          <a:solidFill>
                            <a:srgbClr val="1F2937"/>
                          </a:solidFill>
                          <a:latin typeface="Calibri"/>
                        </a:rPr>
                        <a:t>An Australian competitor for flight queries is already in the room.</a:t>
                      </a:r>
                    </a:p>
                  </a:txBody>
                  <a:tcPr marL="64008" marR="64008" marT="36576" marB="36576">
                    <a:solidFill>
                      <a:srgbClr val="FFFFFF"/>
                    </a:solidFill>
                  </a:tcPr>
                </a:tc>
                <a:extLst>
                  <a:ext uri="{0D108BD9-81ED-4DB2-BD59-A6C34878D82A}">
                    <a16:rowId xmlns:a16="http://schemas.microsoft.com/office/drawing/2014/main" val="10003"/>
                  </a:ext>
                </a:extLst>
              </a:tr>
              <a:tr h="594360">
                <a:tc>
                  <a:txBody>
                    <a:bodyPr/>
                    <a:lstStyle/>
                    <a:p>
                      <a:r>
                        <a:rPr sz="1000" b="0" i="0">
                          <a:solidFill>
                            <a:srgbClr val="1F2937"/>
                          </a:solidFill>
                          <a:latin typeface="Calibri"/>
                        </a:rPr>
                        <a:t>OpenAI</a:t>
                      </a:r>
                    </a:p>
                  </a:txBody>
                  <a:tcPr marL="64008" marR="64008" marT="36576" marB="36576">
                    <a:solidFill>
                      <a:srgbClr val="F3F5F8"/>
                    </a:solidFill>
                  </a:tcPr>
                </a:tc>
                <a:tc>
                  <a:txBody>
                    <a:bodyPr/>
                    <a:lstStyle/>
                    <a:p>
                      <a:r>
                        <a:rPr sz="1000" b="0" i="0">
                          <a:solidFill>
                            <a:srgbClr val="1F2937"/>
                          </a:solidFill>
                          <a:latin typeface="Calibri"/>
                        </a:rPr>
                        <a:t>Deprioritised Instant Checkout (Mar 2026): 'Instant Checkout is moving to Apps'. Discovery in chat, purchase with the merchant.</a:t>
                      </a:r>
                    </a:p>
                  </a:txBody>
                  <a:tcPr marL="64008" marR="64008" marT="36576" marB="36576">
                    <a:solidFill>
                      <a:srgbClr val="F3F5F8"/>
                    </a:solidFill>
                  </a:tcPr>
                </a:tc>
                <a:tc>
                  <a:txBody>
                    <a:bodyPr/>
                    <a:lstStyle/>
                    <a:p>
                      <a:r>
                        <a:rPr sz="1000" b="0" i="0">
                          <a:solidFill>
                            <a:srgbClr val="1F2937"/>
                          </a:solidFill>
                          <a:latin typeface="Calibri"/>
                        </a:rPr>
                        <a:t>The fight is for the discovery and evidence step, not (yet) the checkout.</a:t>
                      </a:r>
                    </a:p>
                  </a:txBody>
                  <a:tcPr marL="64008" marR="64008" marT="36576" marB="36576">
                    <a:solidFill>
                      <a:srgbClr val="F3F5F8"/>
                    </a:solidFill>
                  </a:tcPr>
                </a:tc>
                <a:extLst>
                  <a:ext uri="{0D108BD9-81ED-4DB2-BD59-A6C34878D82A}">
                    <a16:rowId xmlns:a16="http://schemas.microsoft.com/office/drawing/2014/main" val="10004"/>
                  </a:ext>
                </a:extLst>
              </a:tr>
              <a:tr h="594360">
                <a:tc>
                  <a:txBody>
                    <a:bodyPr/>
                    <a:lstStyle/>
                    <a:p>
                      <a:r>
                        <a:rPr sz="1000" b="0" i="0">
                          <a:solidFill>
                            <a:srgbClr val="1F2937"/>
                          </a:solidFill>
                          <a:latin typeface="Calibri"/>
                        </a:rPr>
                        <a:t>Google</a:t>
                      </a:r>
                    </a:p>
                  </a:txBody>
                  <a:tcPr marL="64008" marR="64008" marT="36576" marB="36576">
                    <a:solidFill>
                      <a:srgbClr val="FFFFFF"/>
                    </a:solidFill>
                  </a:tcPr>
                </a:tc>
                <a:tc>
                  <a:txBody>
                    <a:bodyPr/>
                    <a:lstStyle/>
                    <a:p>
                      <a:r>
                        <a:rPr sz="1000" b="0" i="0">
                          <a:solidFill>
                            <a:srgbClr val="1F2937"/>
                          </a:solidFill>
                          <a:latin typeface="Calibri"/>
                        </a:rPr>
                        <a:t>Universal Commerce Protocol: hotel booking named as the next vertical (19 May 2026); travel packages ineligible for checkout.</a:t>
                      </a:r>
                    </a:p>
                  </a:txBody>
                  <a:tcPr marL="64008" marR="64008" marT="36576" marB="36576">
                    <a:solidFill>
                      <a:srgbClr val="FFFFFF"/>
                    </a:solidFill>
                  </a:tcPr>
                </a:tc>
                <a:tc>
                  <a:txBody>
                    <a:bodyPr/>
                    <a:lstStyle/>
                    <a:p>
                      <a:r>
                        <a:rPr sz="1000" b="0" i="0">
                          <a:solidFill>
                            <a:srgbClr val="1F2937"/>
                          </a:solidFill>
                          <a:latin typeface="Calibri"/>
                        </a:rPr>
                        <a:t>Eligibility differs by product and protocol; assess FC use cases separately.</a:t>
                      </a:r>
                    </a:p>
                  </a:txBody>
                  <a:tcPr marL="64008" marR="64008" marT="36576" marB="36576">
                    <a:solidFill>
                      <a:srgbClr val="FFFFFF"/>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7726679" y="1645920"/>
            <a:ext cx="3931920" cy="356616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91271" y="1810512"/>
            <a:ext cx="360273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What this means for Flight Centre</a:t>
            </a:r>
          </a:p>
        </p:txBody>
      </p:sp>
      <p:sp>
        <p:nvSpPr>
          <p:cNvPr id="8" name="TextBox 7"/>
          <p:cNvSpPr txBox="1"/>
          <p:nvPr/>
        </p:nvSpPr>
        <p:spPr>
          <a:xfrm>
            <a:off x="7891271" y="2194560"/>
            <a:ext cx="3602736" cy="2852927"/>
          </a:xfrm>
          <a:prstGeom prst="rect">
            <a:avLst/>
          </a:prstGeom>
          <a:noFill/>
        </p:spPr>
        <p:txBody>
          <a:bodyPr wrap="square" lIns="45720" rIns="45720" anchor="t">
            <a:spAutoFit/>
          </a:bodyPr>
          <a:lstStyle/>
          <a:p>
            <a:pPr algn="l">
              <a:spcBef>
                <a:spcPts val="0"/>
              </a:spcBef>
              <a:spcAft>
                <a:spcPts val="300"/>
              </a:spcAft>
            </a:pPr>
            <a:r>
              <a:rPr sz="1800" b="0" i="0">
                <a:solidFill>
                  <a:srgbClr val="1F2937"/>
                </a:solidFill>
                <a:latin typeface="Calibri"/>
              </a:rPr>
              <a:t>An app can supply current inventory or route a customer to an expert inside the conversation.</a:t>
            </a:r>
          </a:p>
          <a:p>
            <a:pPr algn="l">
              <a:spcBef>
                <a:spcPts val="0"/>
              </a:spcBef>
              <a:spcAft>
                <a:spcPts val="300"/>
              </a:spcAft>
            </a:pPr>
            <a:r>
              <a:rPr sz="1800" b="0" i="0">
                <a:solidFill>
                  <a:srgbClr val="1F2937"/>
                </a:solidFill>
                <a:latin typeface="Calibri"/>
              </a:rPr>
              <a:t>FC would need a clear use case, reliable data, consent and a booking or enquiry handoff.</a:t>
            </a:r>
          </a:p>
          <a:p>
            <a:pPr algn="l">
              <a:spcBef>
                <a:spcPts val="0"/>
              </a:spcBef>
              <a:spcAft>
                <a:spcPts val="300"/>
              </a:spcAft>
            </a:pPr>
            <a:r>
              <a:rPr sz="1800" b="0" i="0">
                <a:solidFill>
                  <a:srgbClr val="1F2937"/>
                </a:solidFill>
                <a:latin typeface="Calibri"/>
              </a:rPr>
              <a:t>Internal MCP capability does not mean a public app is available or automatically selected.</a:t>
            </a:r>
          </a:p>
        </p:txBody>
      </p:sp>
      <p:sp>
        <p:nvSpPr>
          <p:cNvPr id="9" name="TextBox 8"/>
          <p:cNvSpPr txBox="1"/>
          <p:nvPr/>
        </p:nvSpPr>
        <p:spPr>
          <a:xfrm>
            <a:off x="548640" y="5394960"/>
            <a:ext cx="11064240" cy="822960"/>
          </a:xfrm>
          <a:prstGeom prst="rect">
            <a:avLst/>
          </a:prstGeom>
          <a:noFill/>
        </p:spPr>
        <p:txBody>
          <a:bodyPr wrap="square" lIns="45720" rIns="45720" anchor="t">
            <a:spAutoFit/>
          </a:bodyPr>
          <a:lstStyle/>
          <a:p>
            <a:pPr algn="l">
              <a:spcBef>
                <a:spcPts val="0"/>
              </a:spcBef>
              <a:spcAft>
                <a:spcPts val="300"/>
              </a:spcAft>
            </a:pPr>
            <a:r>
              <a:rPr sz="1700" b="0" i="0">
                <a:solidFill>
                  <a:srgbClr val="1F2937"/>
                </a:solidFill>
                <a:latin typeface="Calibri"/>
              </a:rPr>
              <a:t>FC action: assess a specific customer task and market before building. A public app and website discovery have separate requirements.</a:t>
            </a:r>
          </a:p>
        </p:txBody>
      </p:sp>
      <p:sp>
        <p:nvSpPr>
          <p:cNvPr id="10" name="TextBox 9"/>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OpenAI 'Apps in ChatGPT' announcement (6 Oct 2025); Expedia in ChatGPT product page; PhocusWire and Skift coverage of OpenAI checkout changes (5–6 Mar 2026); Executive Traveller and Point Hacks on Virgin Australia (10 Jun 2026); Skift on Google UCP (19 May 2026); FCTG FY26 results p.2. Availability by market changes; verify before quoting externally.</a:t>
            </a:r>
          </a:p>
        </p:txBody>
      </p:sp>
      <p:sp>
        <p:nvSpPr>
          <p:cNvPr id="11" name="TextBox 10"/>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10</a:t>
            </a:r>
            <a:endParaRPr sz="900" b="0" i="0">
              <a:solidFill>
                <a:srgbClr val="5B6573"/>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Our experiment: compare the pages, then count citations</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5" name="Rounded Rectangle 4"/>
          <p:cNvSpPr/>
          <p:nvPr/>
        </p:nvSpPr>
        <p:spPr>
          <a:xfrm>
            <a:off x="548640"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8368"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1  Questions</a:t>
            </a:r>
          </a:p>
        </p:txBody>
      </p:sp>
      <p:sp>
        <p:nvSpPr>
          <p:cNvPr id="7" name="TextBox 6"/>
          <p:cNvSpPr txBox="1"/>
          <p:nvPr/>
        </p:nvSpPr>
        <p:spPr>
          <a:xfrm>
            <a:off x="658368"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50 travel questions as customers ask them; 29 eligible flight questions with FC in the saved source pool form the main test</a:t>
            </a:r>
          </a:p>
        </p:txBody>
      </p:sp>
      <p:sp>
        <p:nvSpPr>
          <p:cNvPr id="8" name="Rounded Rectangle 7"/>
          <p:cNvSpPr/>
          <p:nvPr/>
        </p:nvSpPr>
        <p:spPr>
          <a:xfrm>
            <a:off x="2139696"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2249424"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2  Search snapshot</a:t>
            </a:r>
          </a:p>
        </p:txBody>
      </p:sp>
      <p:sp>
        <p:nvSpPr>
          <p:cNvPr id="10" name="TextBox 9"/>
          <p:cNvSpPr txBox="1"/>
          <p:nvPr/>
        </p:nvSpPr>
        <p:spPr>
          <a:xfrm>
            <a:off x="2249424"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Brave Search AU, Aug 2026; top 20 saved, top 10 used; frozen and fingerprinted</a:t>
            </a:r>
          </a:p>
        </p:txBody>
      </p:sp>
      <p:sp>
        <p:nvSpPr>
          <p:cNvPr id="11" name="Rounded Rectangle 10"/>
          <p:cNvSpPr/>
          <p:nvPr/>
        </p:nvSpPr>
        <p:spPr>
          <a:xfrm>
            <a:off x="3730752"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840480"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3  Capture &amp; clean</a:t>
            </a:r>
          </a:p>
        </p:txBody>
      </p:sp>
      <p:sp>
        <p:nvSpPr>
          <p:cNvPr id="13" name="TextBox 12"/>
          <p:cNvSpPr txBox="1"/>
          <p:nvPr/>
        </p:nvSpPr>
        <p:spPr>
          <a:xfrm>
            <a:off x="3840480"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953 pages fetched without JavaScript; scripts, menus and buttons stripped; SHA-256 per page</a:t>
            </a:r>
          </a:p>
        </p:txBody>
      </p:sp>
      <p:sp>
        <p:nvSpPr>
          <p:cNvPr id="14" name="Rounded Rectangle 13"/>
          <p:cNvSpPr/>
          <p:nvPr/>
        </p:nvSpPr>
        <p:spPr>
          <a:xfrm>
            <a:off x="5321808" y="1600200"/>
            <a:ext cx="1517904" cy="228600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431536"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4  FC page change</a:t>
            </a:r>
          </a:p>
        </p:txBody>
      </p:sp>
      <p:sp>
        <p:nvSpPr>
          <p:cNvPr id="16" name="TextBox 15"/>
          <p:cNvSpPr txBox="1"/>
          <p:nvPr/>
        </p:nvSpPr>
        <p:spPr>
          <a:xfrm>
            <a:off x="5431536"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Baseline = page as captured. Optimised = the final page (52 FC pages). Competitors never change</a:t>
            </a:r>
          </a:p>
        </p:txBody>
      </p:sp>
      <p:sp>
        <p:nvSpPr>
          <p:cNvPr id="17" name="Rounded Rectangle 16"/>
          <p:cNvSpPr/>
          <p:nvPr/>
        </p:nvSpPr>
        <p:spPr>
          <a:xfrm>
            <a:off x="6912864"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22592"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5  AI answer</a:t>
            </a:r>
          </a:p>
        </p:txBody>
      </p:sp>
      <p:sp>
        <p:nvSpPr>
          <p:cNvPr id="19" name="TextBox 18"/>
          <p:cNvSpPr txBox="1"/>
          <p:nvPr/>
        </p:nvSpPr>
        <p:spPr>
          <a:xfrm>
            <a:off x="7022592"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OpenAI gpt-5.6-luna; GEO-paper prompt; cites sources by number; 2 source orders × 5 repeats</a:t>
            </a:r>
          </a:p>
        </p:txBody>
      </p:sp>
      <p:sp>
        <p:nvSpPr>
          <p:cNvPr id="20" name="Rounded Rectangle 19"/>
          <p:cNvSpPr/>
          <p:nvPr/>
        </p:nvSpPr>
        <p:spPr>
          <a:xfrm>
            <a:off x="8503920"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13648"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6  Citation check</a:t>
            </a:r>
          </a:p>
        </p:txBody>
      </p:sp>
      <p:sp>
        <p:nvSpPr>
          <p:cNvPr id="22" name="TextBox 21"/>
          <p:cNvSpPr txBox="1"/>
          <p:nvPr/>
        </p:nvSpPr>
        <p:spPr>
          <a:xfrm>
            <a:off x="8613648"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Does any [n] point to an FC source? 290 answers per version; counted offline, no AI call</a:t>
            </a:r>
          </a:p>
        </p:txBody>
      </p:sp>
      <p:sp>
        <p:nvSpPr>
          <p:cNvPr id="23" name="Rounded Rectangle 22"/>
          <p:cNvSpPr/>
          <p:nvPr/>
        </p:nvSpPr>
        <p:spPr>
          <a:xfrm>
            <a:off x="10094976" y="1600200"/>
            <a:ext cx="1517904" cy="228600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0204704" y="1709928"/>
            <a:ext cx="1298448" cy="36576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7  Statistics</a:t>
            </a:r>
          </a:p>
        </p:txBody>
      </p:sp>
      <p:sp>
        <p:nvSpPr>
          <p:cNvPr id="25" name="TextBox 24"/>
          <p:cNvSpPr txBox="1"/>
          <p:nvPr/>
        </p:nvSpPr>
        <p:spPr>
          <a:xfrm>
            <a:off x="10204704" y="2093976"/>
            <a:ext cx="1298448" cy="1682495"/>
          </a:xfrm>
          <a:prstGeom prst="rect">
            <a:avLst/>
          </a:prstGeom>
          <a:noFill/>
        </p:spPr>
        <p:txBody>
          <a:bodyPr wrap="square" lIns="45720" rIns="45720" anchor="t">
            <a:spAutoFit/>
          </a:bodyPr>
          <a:lstStyle/>
          <a:p>
            <a:pPr algn="l">
              <a:lnSpc>
                <a:spcPct val="108000"/>
              </a:lnSpc>
              <a:spcAft>
                <a:spcPts val="400"/>
              </a:spcAft>
            </a:pPr>
            <a:r>
              <a:rPr sz="1000" b="0" i="0">
                <a:solidFill>
                  <a:srgbClr val="1F2937"/>
                </a:solidFill>
                <a:latin typeface="Calibri"/>
              </a:rPr>
              <a:t>Paired bootstrap over questions (20,000 resamples); four fairness checks; offline recount</a:t>
            </a:r>
          </a:p>
        </p:txBody>
      </p:sp>
      <p:sp>
        <p:nvSpPr>
          <p:cNvPr id="26" name="Rounded Rectangle 25"/>
          <p:cNvSpPr/>
          <p:nvPr/>
        </p:nvSpPr>
        <p:spPr>
          <a:xfrm>
            <a:off x="548640" y="4069080"/>
            <a:ext cx="5486400" cy="210312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13232" y="4233672"/>
            <a:ext cx="515721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Four rules that keep it honest</a:t>
            </a:r>
          </a:p>
        </p:txBody>
      </p:sp>
      <p:sp>
        <p:nvSpPr>
          <p:cNvPr id="28" name="TextBox 27"/>
          <p:cNvSpPr txBox="1"/>
          <p:nvPr/>
        </p:nvSpPr>
        <p:spPr>
          <a:xfrm>
            <a:off x="713232" y="4617720"/>
            <a:ext cx="5157216" cy="1389888"/>
          </a:xfrm>
          <a:prstGeom prst="rect">
            <a:avLst/>
          </a:prstGeom>
          <a:noFill/>
        </p:spPr>
        <p:txBody>
          <a:bodyPr wrap="square" lIns="45720" rIns="45720" anchor="t">
            <a:spAutoFit/>
          </a:bodyPr>
          <a:lstStyle/>
          <a:p>
            <a:pPr marL="201168" indent="-182880" algn="l">
              <a:buChar char="•"/>
            </a:pPr>
            <a:r>
              <a:rPr sz="1800" b="0" i="0">
                <a:solidFill>
                  <a:srgbClr val="1F2937"/>
                </a:solidFill>
                <a:latin typeface="Calibri"/>
              </a:rPr>
              <a:t>The same questions, source URLs, order and competitor text in each pair.</a:t>
            </a:r>
          </a:p>
          <a:p>
            <a:pPr marL="201168" indent="-182880" algn="l">
              <a:buChar char="•"/>
            </a:pPr>
            <a:r>
              <a:rPr sz="1800" b="0" i="0">
                <a:solidFill>
                  <a:srgbClr val="1F2937"/>
                </a:solidFill>
                <a:latin typeface="Calibri"/>
              </a:rPr>
              <a:t>Saved page versions and answer records.</a:t>
            </a:r>
          </a:p>
          <a:p>
            <a:pPr marL="201168" indent="-182880" algn="l">
              <a:buChar char="•"/>
            </a:pPr>
            <a:r>
              <a:rPr sz="1800" b="0" i="0">
                <a:solidFill>
                  <a:srgbClr val="1F2937"/>
                </a:solidFill>
                <a:latin typeface="Calibri"/>
              </a:rPr>
              <a:t>Offline checks reproduce the counts.</a:t>
            </a:r>
          </a:p>
        </p:txBody>
      </p:sp>
      <p:sp>
        <p:nvSpPr>
          <p:cNvPr id="29" name="Rounded Rectangle 28"/>
          <p:cNvSpPr/>
          <p:nvPr/>
        </p:nvSpPr>
        <p:spPr>
          <a:xfrm>
            <a:off x="6217920" y="4069080"/>
            <a:ext cx="5440680" cy="210312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382512" y="423367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Why 290 answers per version</a:t>
            </a:r>
          </a:p>
        </p:txBody>
      </p:sp>
      <p:sp>
        <p:nvSpPr>
          <p:cNvPr id="31" name="TextBox 30"/>
          <p:cNvSpPr txBox="1"/>
          <p:nvPr/>
        </p:nvSpPr>
        <p:spPr>
          <a:xfrm>
            <a:off x="6382512" y="4617720"/>
            <a:ext cx="5111496" cy="1477328"/>
          </a:xfrm>
          <a:prstGeom prst="rect">
            <a:avLst/>
          </a:prstGeom>
          <a:noFill/>
        </p:spPr>
        <p:txBody>
          <a:bodyPr wrap="square" lIns="45720" rIns="45720" anchor="t">
            <a:spAutoFit/>
          </a:bodyPr>
          <a:lstStyle/>
          <a:p>
            <a:pPr algn="l"/>
            <a:r>
              <a:rPr sz="1800" b="0" i="0">
                <a:solidFill>
                  <a:srgbClr val="1F2937"/>
                </a:solidFill>
                <a:latin typeface="Calibri"/>
              </a:rPr>
              <a:t>29 questions x 2 source orders x 5 repeats = 290 answers per version.</a:t>
            </a:r>
          </a:p>
          <a:p>
            <a:pPr algn="l"/>
            <a:r>
              <a:rPr sz="1800" b="0" i="0">
                <a:solidFill>
                  <a:srgbClr val="1F2937"/>
                </a:solidFill>
                <a:latin typeface="Calibri"/>
              </a:rPr>
              <a:t>Repeats sample answer variability. The uncertainty calculation keeps repeats together within each question.</a:t>
            </a:r>
          </a:p>
        </p:txBody>
      </p:sp>
      <p:sp>
        <p:nvSpPr>
          <p:cNvPr id="32" name="TextBox 31"/>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Technical Report and Handover Guide v1.4, Sections 5–6 and Figure 1. Reportable runs are OpenAI/Anthropic only; offline mode is for dry runs.</a:t>
            </a:r>
          </a:p>
        </p:txBody>
      </p:sp>
      <p:sp>
        <p:nvSpPr>
          <p:cNvPr id="33" name="TextBox 32"/>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11</a:t>
            </a:r>
            <a:endParaRPr sz="900" b="0" i="0">
              <a:solidFill>
                <a:srgbClr val="5B6573"/>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The selected page makes saved FC information easier to read</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5" name="Rounded Rectangle 4"/>
          <p:cNvSpPr/>
          <p:nvPr/>
        </p:nvSpPr>
        <p:spPr>
          <a:xfrm>
            <a:off x="548640" y="1600200"/>
            <a:ext cx="5440680" cy="338328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1323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Before: Melbourne–London as captured (Aug 2026)</a:t>
            </a:r>
          </a:p>
        </p:txBody>
      </p:sp>
      <p:sp>
        <p:nvSpPr>
          <p:cNvPr id="7" name="TextBox 6"/>
          <p:cNvSpPr txBox="1"/>
          <p:nvPr/>
        </p:nvSpPr>
        <p:spPr>
          <a:xfrm>
            <a:off x="713232" y="2148840"/>
            <a:ext cx="5111496" cy="2670048"/>
          </a:xfrm>
          <a:prstGeom prst="rect">
            <a:avLst/>
          </a:prstGeom>
          <a:noFill/>
        </p:spPr>
        <p:txBody>
          <a:bodyPr wrap="square" lIns="45720" rIns="45720" anchor="t">
            <a:spAutoFit/>
          </a:bodyPr>
          <a:lstStyle/>
          <a:p>
            <a:pPr algn="l">
              <a:spcBef>
                <a:spcPts val="0"/>
              </a:spcBef>
              <a:spcAft>
                <a:spcPts val="300"/>
              </a:spcAft>
            </a:pPr>
            <a:r>
              <a:rPr sz="1800" b="0" i="0">
                <a:solidFill>
                  <a:srgbClr val="1F2937"/>
                </a:solidFill>
                <a:latin typeface="Calibri"/>
              </a:rPr>
              <a:t>Original captured page</a:t>
            </a:r>
          </a:p>
          <a:p>
            <a:pPr algn="l">
              <a:spcBef>
                <a:spcPts val="0"/>
              </a:spcBef>
              <a:spcAft>
                <a:spcPts val="300"/>
              </a:spcAft>
            </a:pPr>
            <a:r>
              <a:rPr sz="1800" b="0" i="0">
                <a:solidFill>
                  <a:srgbClr val="1F2937"/>
                </a:solidFill>
                <a:latin typeface="Calibri"/>
              </a:rPr>
              <a:t>Headline fare and fee notice are present.</a:t>
            </a:r>
          </a:p>
          <a:p>
            <a:pPr algn="l">
              <a:spcBef>
                <a:spcPts val="0"/>
              </a:spcBef>
              <a:spcAft>
                <a:spcPts val="300"/>
              </a:spcAft>
            </a:pPr>
            <a:r>
              <a:rPr sz="1800" b="0" i="0">
                <a:solidFill>
                  <a:srgbClr val="1F2937"/>
                </a:solidFill>
                <a:latin typeface="Calibri"/>
              </a:rPr>
              <a:t>Deal cards are absent from the captured text.</a:t>
            </a:r>
          </a:p>
          <a:p>
            <a:pPr algn="l">
              <a:spcBef>
                <a:spcPts val="0"/>
              </a:spcBef>
              <a:spcAft>
                <a:spcPts val="300"/>
              </a:spcAft>
            </a:pPr>
            <a:r>
              <a:rPr sz="1800" b="0" i="0">
                <a:solidFill>
                  <a:srgbClr val="1F2937"/>
                </a:solidFill>
                <a:latin typeface="Calibri"/>
              </a:rPr>
              <a:t>FAQ answers remain, but our cleaner removed their question labels.</a:t>
            </a:r>
          </a:p>
          <a:p>
            <a:pPr algn="l">
              <a:spcBef>
                <a:spcPts val="0"/>
              </a:spcBef>
              <a:spcAft>
                <a:spcPts val="300"/>
              </a:spcAft>
            </a:pPr>
            <a:r>
              <a:rPr sz="1800" b="0" i="0">
                <a:solidFill>
                  <a:srgbClr val="1F2937"/>
                </a:solidFill>
                <a:latin typeface="Calibri"/>
              </a:rPr>
              <a:t>8,435 characters reach the model.</a:t>
            </a:r>
          </a:p>
        </p:txBody>
      </p:sp>
      <p:sp>
        <p:nvSpPr>
          <p:cNvPr id="8" name="Rounded Rectangle 7"/>
          <p:cNvSpPr/>
          <p:nvPr/>
        </p:nvSpPr>
        <p:spPr>
          <a:xfrm>
            <a:off x="6217920" y="1600200"/>
            <a:ext cx="5440680" cy="338328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38251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After: the final page (release r4 + r5, Sep 2026)</a:t>
            </a:r>
          </a:p>
        </p:txBody>
      </p:sp>
      <p:sp>
        <p:nvSpPr>
          <p:cNvPr id="10" name="TextBox 9"/>
          <p:cNvSpPr txBox="1"/>
          <p:nvPr/>
        </p:nvSpPr>
        <p:spPr>
          <a:xfrm>
            <a:off x="6382512" y="2148840"/>
            <a:ext cx="5111496" cy="2670048"/>
          </a:xfrm>
          <a:prstGeom prst="rect">
            <a:avLst/>
          </a:prstGeom>
          <a:noFill/>
        </p:spPr>
        <p:txBody>
          <a:bodyPr wrap="square" lIns="45720" rIns="45720" anchor="t">
            <a:spAutoFit/>
          </a:bodyPr>
          <a:lstStyle/>
          <a:p>
            <a:pPr algn="l">
              <a:spcBef>
                <a:spcPts val="0"/>
              </a:spcBef>
              <a:spcAft>
                <a:spcPts val="300"/>
              </a:spcAft>
            </a:pPr>
            <a:r>
              <a:rPr sz="1800" b="0" i="0">
                <a:solidFill>
                  <a:srgbClr val="1F2937"/>
                </a:solidFill>
                <a:latin typeface="Calibri"/>
              </a:rPr>
              <a:t>Optimised representation</a:t>
            </a:r>
          </a:p>
          <a:p>
            <a:pPr algn="l">
              <a:spcBef>
                <a:spcPts val="0"/>
              </a:spcBef>
              <a:spcAft>
                <a:spcPts val="300"/>
              </a:spcAft>
            </a:pPr>
            <a:r>
              <a:rPr sz="1800" b="0" i="0">
                <a:solidFill>
                  <a:srgbClr val="1F2937"/>
                </a:solidFill>
                <a:latin typeface="Calibri"/>
              </a:rPr>
              <a:t>Rendered deal cards become readable.</a:t>
            </a:r>
          </a:p>
          <a:p>
            <a:pPr algn="l">
              <a:spcBef>
                <a:spcPts val="0"/>
              </a:spcBef>
              <a:spcAft>
                <a:spcPts val="300"/>
              </a:spcAft>
            </a:pPr>
            <a:r>
              <a:rPr sz="1800" b="0" i="0">
                <a:solidFill>
                  <a:srgbClr val="1F2937"/>
                </a:solidFill>
                <a:latin typeface="Calibri"/>
              </a:rPr>
              <a:t>A labelled question-and-facts block presents the fare and fees.</a:t>
            </a:r>
          </a:p>
          <a:p>
            <a:pPr algn="l">
              <a:spcBef>
                <a:spcPts val="0"/>
              </a:spcBef>
              <a:spcAft>
                <a:spcPts val="300"/>
              </a:spcAft>
            </a:pPr>
            <a:r>
              <a:rPr sz="1800" b="0" i="0">
                <a:solidFill>
                  <a:srgbClr val="1F2937"/>
                </a:solidFill>
                <a:latin typeface="Calibri"/>
              </a:rPr>
              <a:t>FAQ questions sit beside their answers, before the Explore section.</a:t>
            </a:r>
          </a:p>
          <a:p>
            <a:pPr algn="l">
              <a:spcBef>
                <a:spcPts val="0"/>
              </a:spcBef>
              <a:spcAft>
                <a:spcPts val="300"/>
              </a:spcAft>
            </a:pPr>
            <a:r>
              <a:rPr sz="1800" b="0" i="0">
                <a:solidFill>
                  <a:srgbClr val="1F2937"/>
                </a:solidFill>
                <a:latin typeface="Calibri"/>
              </a:rPr>
              <a:t>9,909 characters reach the model.</a:t>
            </a:r>
          </a:p>
        </p:txBody>
      </p:sp>
      <p:sp>
        <p:nvSpPr>
          <p:cNvPr id="11" name="TextBox 10"/>
          <p:cNvSpPr txBox="1"/>
          <p:nvPr/>
        </p:nvSpPr>
        <p:spPr>
          <a:xfrm>
            <a:off x="548640" y="5166360"/>
            <a:ext cx="11064240" cy="868680"/>
          </a:xfrm>
          <a:prstGeom prst="rect">
            <a:avLst/>
          </a:prstGeom>
          <a:noFill/>
        </p:spPr>
        <p:txBody>
          <a:bodyPr wrap="square" lIns="45720" rIns="45720" anchor="t">
            <a:spAutoFit/>
          </a:bodyPr>
          <a:lstStyle/>
          <a:p>
            <a:pPr algn="l">
              <a:spcBef>
                <a:spcPts val="0"/>
              </a:spcBef>
              <a:spcAft>
                <a:spcPts val="300"/>
              </a:spcAft>
            </a:pPr>
            <a:r>
              <a:rPr sz="1400" b="0" i="0">
                <a:solidFill>
                  <a:srgbClr val="1F2937"/>
                </a:solidFill>
                <a:latin typeface="Calibri"/>
              </a:rPr>
              <a:t>Three content groups, four code operations. Captures have different dates and fares; this is not a pure formatting experiment. The joint block applies to 27 of 52 pages.</a:t>
            </a:r>
          </a:p>
        </p:txBody>
      </p:sp>
      <p:sp>
        <p:nvSpPr>
          <p:cNvPr id="12" name="TextBox 11"/>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Q06 source [7] flightcentre.com.au/flights/au-vic-melbourne/gb-eng-london; optimisation_v3/final_release.py (r4, 20 Sep 2026) and flight_first_refinement.py (r5). Technical Report v1.4, Section 7.2 and Figures 5–8.</a:t>
            </a:r>
          </a:p>
        </p:txBody>
      </p:sp>
      <p:sp>
        <p:nvSpPr>
          <p:cNvPr id="13" name="TextBox 12"/>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12</a:t>
            </a:r>
            <a:endParaRPr sz="900" b="0" i="0">
              <a:solidFill>
                <a:srgbClr val="5B6573"/>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A saved answer pair shows where Flight Centre was cited</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5" name="Rounded Rectangle 4"/>
          <p:cNvSpPr/>
          <p:nvPr/>
        </p:nvSpPr>
        <p:spPr>
          <a:xfrm>
            <a:off x="548640" y="1600200"/>
            <a:ext cx="5440680" cy="329184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1323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Original page: FC [7] not cited</a:t>
            </a:r>
          </a:p>
        </p:txBody>
      </p:sp>
      <p:sp>
        <p:nvSpPr>
          <p:cNvPr id="7" name="TextBox 6"/>
          <p:cNvSpPr txBox="1"/>
          <p:nvPr/>
        </p:nvSpPr>
        <p:spPr>
          <a:xfrm>
            <a:off x="713232" y="2148840"/>
            <a:ext cx="5111496" cy="2578608"/>
          </a:xfrm>
          <a:prstGeom prst="rect">
            <a:avLst/>
          </a:prstGeom>
          <a:noFill/>
        </p:spPr>
        <p:txBody>
          <a:bodyPr wrap="square" lIns="45720" rIns="45720" anchor="t">
            <a:spAutoFit/>
          </a:bodyPr>
          <a:lstStyle/>
          <a:p>
            <a:pPr algn="l">
              <a:lnSpc>
                <a:spcPct val="108000"/>
              </a:lnSpc>
              <a:spcAft>
                <a:spcPts val="400"/>
              </a:spcAft>
            </a:pPr>
            <a:r>
              <a:rPr sz="1200" b="0" i="0">
                <a:solidFill>
                  <a:srgbClr val="1F2937"/>
                </a:solidFill>
                <a:latin typeface="Calibri"/>
              </a:rPr>
              <a:t>Return fares from about AU$1,096–AU$1,342 </a:t>
            </a:r>
            <a:r>
              <a:rPr sz="1200" b="1" i="0">
                <a:solidFill>
                  <a:srgbClr val="5B6573"/>
                </a:solidFill>
                <a:latin typeface="Calibri"/>
              </a:rPr>
              <a:t>[5][8]</a:t>
            </a:r>
            <a:r>
              <a:rPr sz="1200" b="0" i="0">
                <a:solidFill>
                  <a:srgbClr val="5B6573"/>
                </a:solidFill>
                <a:latin typeface="Calibri"/>
              </a:rPr>
              <a:t>  (Expedia and Skyscanner)</a:t>
            </a:r>
          </a:p>
          <a:p>
            <a:pPr algn="l">
              <a:lnSpc>
                <a:spcPct val="108000"/>
              </a:lnSpc>
              <a:spcBef>
                <a:spcPts val="800"/>
              </a:spcBef>
              <a:spcAft>
                <a:spcPts val="400"/>
              </a:spcAft>
            </a:pPr>
            <a:r>
              <a:rPr sz="1200" b="0" i="0">
                <a:solidFill>
                  <a:srgbClr val="1F2937"/>
                </a:solidFill>
                <a:latin typeface="Calibri"/>
              </a:rPr>
              <a:t>Most itineraries require at least one stop; common connections include Dubai, Singapore, Doha and Shanghai. </a:t>
            </a:r>
            <a:r>
              <a:rPr sz="1200" b="1" i="0">
                <a:solidFill>
                  <a:srgbClr val="5B6573"/>
                </a:solidFill>
                <a:latin typeface="Calibri"/>
              </a:rPr>
              <a:t>[2][3][8]</a:t>
            </a:r>
          </a:p>
          <a:p>
            <a:pPr algn="l">
              <a:lnSpc>
                <a:spcPct val="108000"/>
              </a:lnSpc>
              <a:spcBef>
                <a:spcPts val="800"/>
              </a:spcBef>
              <a:spcAft>
                <a:spcPts val="400"/>
              </a:spcAft>
            </a:pPr>
            <a:r>
              <a:rPr sz="1200" b="0" i="0">
                <a:solidFill>
                  <a:srgbClr val="5B6573"/>
                </a:solidFill>
                <a:latin typeface="Calibri"/>
              </a:rPr>
              <a:t>Airlines, flight times and London airports were cited from other sources. Reference [7] never appears.</a:t>
            </a:r>
          </a:p>
        </p:txBody>
      </p:sp>
      <p:sp>
        <p:nvSpPr>
          <p:cNvPr id="8" name="Rounded Rectangle 7"/>
          <p:cNvSpPr/>
          <p:nvPr/>
        </p:nvSpPr>
        <p:spPr>
          <a:xfrm>
            <a:off x="6217920" y="1600200"/>
            <a:ext cx="5440680" cy="329184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38251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Improved page: FC [7] cited three times</a:t>
            </a:r>
          </a:p>
        </p:txBody>
      </p:sp>
      <p:sp>
        <p:nvSpPr>
          <p:cNvPr id="10" name="TextBox 9"/>
          <p:cNvSpPr txBox="1"/>
          <p:nvPr/>
        </p:nvSpPr>
        <p:spPr>
          <a:xfrm>
            <a:off x="6382512" y="2148840"/>
            <a:ext cx="5111496" cy="2578608"/>
          </a:xfrm>
          <a:prstGeom prst="rect">
            <a:avLst/>
          </a:prstGeom>
          <a:noFill/>
        </p:spPr>
        <p:txBody>
          <a:bodyPr wrap="square" lIns="45720" rIns="45720" anchor="t">
            <a:spAutoFit/>
          </a:bodyPr>
          <a:lstStyle/>
          <a:p>
            <a:pPr algn="l">
              <a:lnSpc>
                <a:spcPct val="108000"/>
              </a:lnSpc>
              <a:spcAft>
                <a:spcPts val="400"/>
              </a:spcAft>
            </a:pPr>
            <a:r>
              <a:rPr sz="1200" b="0" i="0">
                <a:solidFill>
                  <a:srgbClr val="1F2937"/>
                </a:solidFill>
                <a:latin typeface="Calibri"/>
              </a:rPr>
              <a:t>Indicative fares currently include one-way options from about A$648 and return fares from approximately A$1,096–A$1,386 </a:t>
            </a:r>
            <a:r>
              <a:rPr sz="1200" b="1" i="0">
                <a:solidFill>
                  <a:srgbClr val="1E7A46"/>
                </a:solidFill>
                <a:latin typeface="Calibri"/>
              </a:rPr>
              <a:t>[1][7][8]</a:t>
            </a:r>
          </a:p>
          <a:p>
            <a:pPr algn="l">
              <a:lnSpc>
                <a:spcPct val="108000"/>
              </a:lnSpc>
              <a:spcBef>
                <a:spcPts val="800"/>
              </a:spcBef>
              <a:spcAft>
                <a:spcPts val="400"/>
              </a:spcAft>
            </a:pPr>
            <a:r>
              <a:rPr sz="1200" b="0" i="0">
                <a:solidFill>
                  <a:srgbClr val="1F2937"/>
                </a:solidFill>
                <a:latin typeface="Calibri"/>
              </a:rPr>
              <a:t>Most itineraries require at least one stop, with common connections in Dubai, Shanghai, Singapore, or Doha. </a:t>
            </a:r>
            <a:r>
              <a:rPr sz="1200" b="1" i="0">
                <a:solidFill>
                  <a:srgbClr val="1E7A46"/>
                </a:solidFill>
                <a:latin typeface="Calibri"/>
              </a:rPr>
              <a:t>[2][3][7]</a:t>
            </a:r>
          </a:p>
          <a:p>
            <a:pPr algn="l">
              <a:lnSpc>
                <a:spcPct val="108000"/>
              </a:lnSpc>
              <a:spcBef>
                <a:spcPts val="800"/>
              </a:spcBef>
              <a:spcAft>
                <a:spcPts val="400"/>
              </a:spcAft>
            </a:pPr>
            <a:r>
              <a:rPr sz="1200" b="0" i="0">
                <a:solidFill>
                  <a:srgbClr val="1F2937"/>
                </a:solidFill>
                <a:latin typeface="Calibri"/>
              </a:rPr>
              <a:t>The main departure airport is Melbourne Airport (MEL), while London options include Heathrow, Gatwick, Stansted, Luton and London City. </a:t>
            </a:r>
            <a:r>
              <a:rPr sz="1200" b="1" i="0">
                <a:solidFill>
                  <a:srgbClr val="1E7A46"/>
                </a:solidFill>
                <a:latin typeface="Calibri"/>
              </a:rPr>
              <a:t>[1][4][7]</a:t>
            </a:r>
          </a:p>
        </p:txBody>
      </p:sp>
      <p:sp>
        <p:nvSpPr>
          <p:cNvPr id="11" name="TextBox 10"/>
          <p:cNvSpPr txBox="1"/>
          <p:nvPr/>
        </p:nvSpPr>
        <p:spPr>
          <a:xfrm>
            <a:off x="548640" y="5029200"/>
            <a:ext cx="11064240" cy="1188720"/>
          </a:xfrm>
          <a:prstGeom prst="rect">
            <a:avLst/>
          </a:prstGeom>
          <a:noFill/>
        </p:spPr>
        <p:txBody>
          <a:bodyPr wrap="square" lIns="45720" rIns="45720" anchor="t">
            <a:spAutoFit/>
          </a:bodyPr>
          <a:lstStyle/>
          <a:p>
            <a:pPr algn="l">
              <a:spcBef>
                <a:spcPts val="0"/>
              </a:spcBef>
              <a:spcAft>
                <a:spcPts val="300"/>
              </a:spcAft>
            </a:pPr>
            <a:r>
              <a:rPr sz="1600" b="0" i="0">
                <a:solidFill>
                  <a:srgbClr val="1F2937"/>
                </a:solidFill>
                <a:latin typeface="Calibri"/>
              </a:rPr>
              <a:t>[7] identifies the FC source in this answer, not a rank. The optimised answer cites FC, but a reference alone does not prove every claim is supported. This question improved from 2 to 8 citing answers out of 10; other questions declined.</a:t>
            </a:r>
          </a:p>
        </p:txBody>
      </p:sp>
      <p:sp>
        <p:nvSpPr>
          <p:cNvPr id="12" name="TextBox 11"/>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saved answer Q06_fixed_s2_r4 ('i'm looking for flights from melbourne to london'), improved page; matching original-page answer for the same pair. [7] = Flight Centre. Shown unedited apart from trimming; full answers in 04_evidence/selected.</a:t>
            </a:r>
          </a:p>
        </p:txBody>
      </p:sp>
      <p:sp>
        <p:nvSpPr>
          <p:cNvPr id="13" name="TextBox 12"/>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13</a:t>
            </a:r>
            <a:endParaRPr sz="900" b="0" i="0">
              <a:solidFill>
                <a:srgbClr val="5B6573"/>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Individual tests show useful changes and limits</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graphicFrame>
        <p:nvGraphicFramePr>
          <p:cNvPr id="5" name="Chart 4"/>
          <p:cNvGraphicFramePr>
            <a:graphicFrameLocks noGrp="1"/>
          </p:cNvGraphicFramePr>
          <p:nvPr/>
        </p:nvGraphicFramePr>
        <p:xfrm>
          <a:off x="548640" y="1600200"/>
          <a:ext cx="6766560" cy="44805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Table 5"/>
          <p:cNvGraphicFramePr>
            <a:graphicFrameLocks noGrp="1"/>
          </p:cNvGraphicFramePr>
          <p:nvPr/>
        </p:nvGraphicFramePr>
        <p:xfrm>
          <a:off x="7543800" y="1600200"/>
          <a:ext cx="4114800" cy="3108960"/>
        </p:xfrm>
        <a:graphic>
          <a:graphicData uri="http://schemas.openxmlformats.org/drawingml/2006/table">
            <a:tbl>
              <a:tblPr/>
              <a:tblGrid>
                <a:gridCol w="21031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tblGrid>
              <a:tr h="388620">
                <a:tc>
                  <a:txBody>
                    <a:bodyPr/>
                    <a:lstStyle/>
                    <a:p>
                      <a:r>
                        <a:rPr sz="1000" b="1" i="0">
                          <a:solidFill>
                            <a:srgbClr val="FFFFFF"/>
                          </a:solidFill>
                          <a:latin typeface="Calibri"/>
                        </a:rPr>
                        <a:t>Method</a:t>
                      </a:r>
                    </a:p>
                  </a:txBody>
                  <a:tcPr marL="64008" marR="64008" marT="36576" marB="36576" anchor="ctr">
                    <a:solidFill>
                      <a:srgbClr val="0B2240"/>
                    </a:solidFill>
                  </a:tcPr>
                </a:tc>
                <a:tc>
                  <a:txBody>
                    <a:bodyPr/>
                    <a:lstStyle/>
                    <a:p>
                      <a:pPr algn="ctr"/>
                      <a:r>
                        <a:rPr sz="1000" b="1" i="0">
                          <a:solidFill>
                            <a:srgbClr val="FFFFFF"/>
                          </a:solidFill>
                          <a:latin typeface="Calibri"/>
                        </a:rPr>
                        <a:t>Change</a:t>
                      </a:r>
                    </a:p>
                  </a:txBody>
                  <a:tcPr marL="64008" marR="64008" marT="36576" marB="36576" anchor="ctr">
                    <a:solidFill>
                      <a:srgbClr val="0B2240"/>
                    </a:solidFill>
                  </a:tcPr>
                </a:tc>
                <a:tc>
                  <a:txBody>
                    <a:bodyPr/>
                    <a:lstStyle/>
                    <a:p>
                      <a:pPr algn="ctr"/>
                      <a:r>
                        <a:rPr sz="1000" b="1" i="0">
                          <a:solidFill>
                            <a:srgbClr val="FFFFFF"/>
                          </a:solidFill>
                          <a:latin typeface="Calibri"/>
                        </a:rPr>
                        <a:t>95% interval</a:t>
                      </a:r>
                    </a:p>
                  </a:txBody>
                  <a:tcPr marL="64008" marR="64008" marT="36576" marB="36576" anchor="ctr">
                    <a:solidFill>
                      <a:srgbClr val="0B2240"/>
                    </a:solidFill>
                  </a:tcPr>
                </a:tc>
                <a:extLst>
                  <a:ext uri="{0D108BD9-81ED-4DB2-BD59-A6C34878D82A}">
                    <a16:rowId xmlns:a16="http://schemas.microsoft.com/office/drawing/2014/main" val="10000"/>
                  </a:ext>
                </a:extLst>
              </a:tr>
              <a:tr h="388620">
                <a:tc>
                  <a:txBody>
                    <a:bodyPr/>
                    <a:lstStyle/>
                    <a:p>
                      <a:r>
                        <a:rPr sz="1000" b="0" i="0">
                          <a:solidFill>
                            <a:srgbClr val="1F2937"/>
                          </a:solidFill>
                          <a:latin typeface="Calibri"/>
                        </a:rPr>
                        <a:t>Structured facts</a:t>
                      </a:r>
                    </a:p>
                  </a:txBody>
                  <a:tcPr marL="64008" marR="64008" marT="36576" marB="36576">
                    <a:solidFill>
                      <a:srgbClr val="FFFFFF"/>
                    </a:solidFill>
                  </a:tcPr>
                </a:tc>
                <a:tc>
                  <a:txBody>
                    <a:bodyPr/>
                    <a:lstStyle/>
                    <a:p>
                      <a:pPr algn="ctr"/>
                      <a:r>
                        <a:rPr sz="1000" b="0" i="0">
                          <a:solidFill>
                            <a:srgbClr val="1F2937"/>
                          </a:solidFill>
                          <a:latin typeface="Calibri"/>
                        </a:rPr>
                        <a:t>+7.6</a:t>
                      </a:r>
                    </a:p>
                  </a:txBody>
                  <a:tcPr marL="64008" marR="64008" marT="36576" marB="36576">
                    <a:solidFill>
                      <a:srgbClr val="FFFFFF"/>
                    </a:solidFill>
                  </a:tcPr>
                </a:tc>
                <a:tc>
                  <a:txBody>
                    <a:bodyPr/>
                    <a:lstStyle/>
                    <a:p>
                      <a:pPr algn="ctr"/>
                      <a:r>
                        <a:rPr sz="1000" b="0" i="0">
                          <a:solidFill>
                            <a:srgbClr val="1F2937"/>
                          </a:solidFill>
                          <a:latin typeface="Calibri"/>
                        </a:rPr>
                        <a:t>+2.8 to +13.1</a:t>
                      </a:r>
                    </a:p>
                  </a:txBody>
                  <a:tcPr marL="64008" marR="64008" marT="36576" marB="36576">
                    <a:solidFill>
                      <a:srgbClr val="FFFFFF"/>
                    </a:solidFill>
                  </a:tcPr>
                </a:tc>
                <a:extLst>
                  <a:ext uri="{0D108BD9-81ED-4DB2-BD59-A6C34878D82A}">
                    <a16:rowId xmlns:a16="http://schemas.microsoft.com/office/drawing/2014/main" val="10001"/>
                  </a:ext>
                </a:extLst>
              </a:tr>
              <a:tr h="388620">
                <a:tc>
                  <a:txBody>
                    <a:bodyPr/>
                    <a:lstStyle/>
                    <a:p>
                      <a:r>
                        <a:rPr sz="1000" b="0" i="0">
                          <a:solidFill>
                            <a:srgbClr val="1F2937"/>
                          </a:solidFill>
                          <a:latin typeface="Calibri"/>
                        </a:rPr>
                        <a:t>Grounded FAQ</a:t>
                      </a:r>
                    </a:p>
                  </a:txBody>
                  <a:tcPr marL="64008" marR="64008" marT="36576" marB="36576">
                    <a:solidFill>
                      <a:srgbClr val="F3F5F8"/>
                    </a:solidFill>
                  </a:tcPr>
                </a:tc>
                <a:tc>
                  <a:txBody>
                    <a:bodyPr/>
                    <a:lstStyle/>
                    <a:p>
                      <a:pPr algn="ctr"/>
                      <a:r>
                        <a:rPr sz="1000" b="0" i="0">
                          <a:solidFill>
                            <a:srgbClr val="1F2937"/>
                          </a:solidFill>
                          <a:latin typeface="Calibri"/>
                        </a:rPr>
                        <a:t>+6.9</a:t>
                      </a:r>
                    </a:p>
                  </a:txBody>
                  <a:tcPr marL="64008" marR="64008" marT="36576" marB="36576">
                    <a:solidFill>
                      <a:srgbClr val="F3F5F8"/>
                    </a:solidFill>
                  </a:tcPr>
                </a:tc>
                <a:tc>
                  <a:txBody>
                    <a:bodyPr/>
                    <a:lstStyle/>
                    <a:p>
                      <a:pPr algn="ctr"/>
                      <a:r>
                        <a:rPr sz="1000" b="0" i="0">
                          <a:solidFill>
                            <a:srgbClr val="1F2937"/>
                          </a:solidFill>
                          <a:latin typeface="Calibri"/>
                        </a:rPr>
                        <a:t>+1.0 to +13.1</a:t>
                      </a:r>
                    </a:p>
                  </a:txBody>
                  <a:tcPr marL="64008" marR="64008" marT="36576" marB="36576">
                    <a:solidFill>
                      <a:srgbClr val="F3F5F8"/>
                    </a:solidFill>
                  </a:tcPr>
                </a:tc>
                <a:extLst>
                  <a:ext uri="{0D108BD9-81ED-4DB2-BD59-A6C34878D82A}">
                    <a16:rowId xmlns:a16="http://schemas.microsoft.com/office/drawing/2014/main" val="10002"/>
                  </a:ext>
                </a:extLst>
              </a:tr>
              <a:tr h="388620">
                <a:tc>
                  <a:txBody>
                    <a:bodyPr/>
                    <a:lstStyle/>
                    <a:p>
                      <a:r>
                        <a:rPr sz="1000" b="0" i="0">
                          <a:solidFill>
                            <a:srgbClr val="1F2937"/>
                          </a:solidFill>
                          <a:latin typeface="Calibri"/>
                        </a:rPr>
                        <a:t>Rendered content + cleanup</a:t>
                      </a:r>
                    </a:p>
                  </a:txBody>
                  <a:tcPr marL="64008" marR="64008" marT="36576" marB="36576">
                    <a:solidFill>
                      <a:srgbClr val="FFFFFF"/>
                    </a:solidFill>
                  </a:tcPr>
                </a:tc>
                <a:tc>
                  <a:txBody>
                    <a:bodyPr/>
                    <a:lstStyle/>
                    <a:p>
                      <a:pPr algn="ctr"/>
                      <a:r>
                        <a:rPr sz="1000" b="0" i="0">
                          <a:solidFill>
                            <a:srgbClr val="1F2937"/>
                          </a:solidFill>
                          <a:latin typeface="Calibri"/>
                        </a:rPr>
                        <a:t>+6.6</a:t>
                      </a:r>
                    </a:p>
                  </a:txBody>
                  <a:tcPr marL="64008" marR="64008" marT="36576" marB="36576">
                    <a:solidFill>
                      <a:srgbClr val="FFFFFF"/>
                    </a:solidFill>
                  </a:tcPr>
                </a:tc>
                <a:tc>
                  <a:txBody>
                    <a:bodyPr/>
                    <a:lstStyle/>
                    <a:p>
                      <a:pPr algn="ctr"/>
                      <a:r>
                        <a:rPr sz="1000" b="0" i="0">
                          <a:solidFill>
                            <a:srgbClr val="1F2937"/>
                          </a:solidFill>
                          <a:latin typeface="Calibri"/>
                        </a:rPr>
                        <a:t>−0.3 to +14.1</a:t>
                      </a:r>
                    </a:p>
                  </a:txBody>
                  <a:tcPr marL="64008" marR="64008" marT="36576" marB="36576">
                    <a:solidFill>
                      <a:srgbClr val="FFFFFF"/>
                    </a:solidFill>
                  </a:tcPr>
                </a:tc>
                <a:extLst>
                  <a:ext uri="{0D108BD9-81ED-4DB2-BD59-A6C34878D82A}">
                    <a16:rowId xmlns:a16="http://schemas.microsoft.com/office/drawing/2014/main" val="10003"/>
                  </a:ext>
                </a:extLst>
              </a:tr>
              <a:tr h="388620">
                <a:tc>
                  <a:txBody>
                    <a:bodyPr/>
                    <a:lstStyle/>
                    <a:p>
                      <a:r>
                        <a:rPr sz="1000" b="0" i="0">
                          <a:solidFill>
                            <a:srgbClr val="1F2937"/>
                          </a:solidFill>
                          <a:latin typeface="Calibri"/>
                        </a:rPr>
                        <a:t>Schema + visible structure</a:t>
                      </a:r>
                    </a:p>
                  </a:txBody>
                  <a:tcPr marL="64008" marR="64008" marT="36576" marB="36576">
                    <a:solidFill>
                      <a:srgbClr val="F3F5F8"/>
                    </a:solidFill>
                  </a:tcPr>
                </a:tc>
                <a:tc>
                  <a:txBody>
                    <a:bodyPr/>
                    <a:lstStyle/>
                    <a:p>
                      <a:pPr algn="ctr"/>
                      <a:r>
                        <a:rPr sz="1000" b="0" i="0">
                          <a:solidFill>
                            <a:srgbClr val="1F2937"/>
                          </a:solidFill>
                          <a:latin typeface="Calibri"/>
                        </a:rPr>
                        <a:t>+6.2</a:t>
                      </a:r>
                    </a:p>
                  </a:txBody>
                  <a:tcPr marL="64008" marR="64008" marT="36576" marB="36576">
                    <a:solidFill>
                      <a:srgbClr val="F3F5F8"/>
                    </a:solidFill>
                  </a:tcPr>
                </a:tc>
                <a:tc>
                  <a:txBody>
                    <a:bodyPr/>
                    <a:lstStyle/>
                    <a:p>
                      <a:pPr algn="ctr"/>
                      <a:r>
                        <a:rPr sz="1000" b="0" i="0">
                          <a:solidFill>
                            <a:srgbClr val="1F2937"/>
                          </a:solidFill>
                          <a:latin typeface="Calibri"/>
                        </a:rPr>
                        <a:t>+1.4 to +11.0</a:t>
                      </a:r>
                    </a:p>
                  </a:txBody>
                  <a:tcPr marL="64008" marR="64008" marT="36576" marB="36576">
                    <a:solidFill>
                      <a:srgbClr val="F3F5F8"/>
                    </a:solidFill>
                  </a:tcPr>
                </a:tc>
                <a:extLst>
                  <a:ext uri="{0D108BD9-81ED-4DB2-BD59-A6C34878D82A}">
                    <a16:rowId xmlns:a16="http://schemas.microsoft.com/office/drawing/2014/main" val="10004"/>
                  </a:ext>
                </a:extLst>
              </a:tr>
              <a:tr h="388620">
                <a:tc>
                  <a:txBody>
                    <a:bodyPr/>
                    <a:lstStyle/>
                    <a:p>
                      <a:r>
                        <a:rPr sz="1000" b="0" i="0">
                          <a:solidFill>
                            <a:srgbClr val="1F2937"/>
                          </a:solidFill>
                          <a:latin typeface="Calibri"/>
                        </a:rPr>
                        <a:t>External facts + attribution</a:t>
                      </a:r>
                    </a:p>
                  </a:txBody>
                  <a:tcPr marL="64008" marR="64008" marT="36576" marB="36576">
                    <a:solidFill>
                      <a:srgbClr val="FFFFFF"/>
                    </a:solidFill>
                  </a:tcPr>
                </a:tc>
                <a:tc>
                  <a:txBody>
                    <a:bodyPr/>
                    <a:lstStyle/>
                    <a:p>
                      <a:pPr algn="ctr"/>
                      <a:r>
                        <a:rPr sz="1000" b="0" i="0">
                          <a:solidFill>
                            <a:srgbClr val="1F2937"/>
                          </a:solidFill>
                          <a:latin typeface="Calibri"/>
                        </a:rPr>
                        <a:t>+3.4</a:t>
                      </a:r>
                    </a:p>
                  </a:txBody>
                  <a:tcPr marL="64008" marR="64008" marT="36576" marB="36576">
                    <a:solidFill>
                      <a:srgbClr val="FFFFFF"/>
                    </a:solidFill>
                  </a:tcPr>
                </a:tc>
                <a:tc>
                  <a:txBody>
                    <a:bodyPr/>
                    <a:lstStyle/>
                    <a:p>
                      <a:pPr algn="ctr"/>
                      <a:r>
                        <a:rPr sz="1000" b="0" i="0">
                          <a:solidFill>
                            <a:srgbClr val="1F2937"/>
                          </a:solidFill>
                          <a:latin typeface="Calibri"/>
                        </a:rPr>
                        <a:t>−1.0 to +7.9</a:t>
                      </a:r>
                    </a:p>
                  </a:txBody>
                  <a:tcPr marL="64008" marR="64008" marT="36576" marB="36576">
                    <a:solidFill>
                      <a:srgbClr val="FFFFFF"/>
                    </a:solidFill>
                  </a:tcPr>
                </a:tc>
                <a:extLst>
                  <a:ext uri="{0D108BD9-81ED-4DB2-BD59-A6C34878D82A}">
                    <a16:rowId xmlns:a16="http://schemas.microsoft.com/office/drawing/2014/main" val="10005"/>
                  </a:ext>
                </a:extLst>
              </a:tr>
              <a:tr h="388620">
                <a:tc>
                  <a:txBody>
                    <a:bodyPr/>
                    <a:lstStyle/>
                    <a:p>
                      <a:r>
                        <a:rPr sz="1000" b="0" i="0">
                          <a:solidFill>
                            <a:srgbClr val="1F2937"/>
                          </a:solidFill>
                          <a:latin typeface="Calibri"/>
                        </a:rPr>
                        <a:t>Automatic AI rewriting</a:t>
                      </a:r>
                    </a:p>
                  </a:txBody>
                  <a:tcPr marL="64008" marR="64008" marT="36576" marB="36576">
                    <a:solidFill>
                      <a:srgbClr val="F3F5F8"/>
                    </a:solidFill>
                  </a:tcPr>
                </a:tc>
                <a:tc>
                  <a:txBody>
                    <a:bodyPr/>
                    <a:lstStyle/>
                    <a:p>
                      <a:pPr algn="ctr"/>
                      <a:r>
                        <a:rPr sz="1000" b="0" i="0">
                          <a:solidFill>
                            <a:srgbClr val="1F2937"/>
                          </a:solidFill>
                          <a:latin typeface="Calibri"/>
                        </a:rPr>
                        <a:t>−5.5</a:t>
                      </a:r>
                    </a:p>
                  </a:txBody>
                  <a:tcPr marL="64008" marR="64008" marT="36576" marB="36576">
                    <a:solidFill>
                      <a:srgbClr val="F3F5F8"/>
                    </a:solidFill>
                  </a:tcPr>
                </a:tc>
                <a:tc>
                  <a:txBody>
                    <a:bodyPr/>
                    <a:lstStyle/>
                    <a:p>
                      <a:pPr algn="ctr"/>
                      <a:r>
                        <a:rPr sz="1000" b="0" i="0">
                          <a:solidFill>
                            <a:srgbClr val="1F2937"/>
                          </a:solidFill>
                          <a:latin typeface="Calibri"/>
                        </a:rPr>
                        <a:t>−10.0 to −1.4</a:t>
                      </a:r>
                    </a:p>
                  </a:txBody>
                  <a:tcPr marL="64008" marR="64008" marT="36576" marB="36576">
                    <a:solidFill>
                      <a:srgbClr val="F3F5F8"/>
                    </a:solidFill>
                  </a:tcPr>
                </a:tc>
                <a:extLst>
                  <a:ext uri="{0D108BD9-81ED-4DB2-BD59-A6C34878D82A}">
                    <a16:rowId xmlns:a16="http://schemas.microsoft.com/office/drawing/2014/main" val="10006"/>
                  </a:ext>
                </a:extLst>
              </a:tr>
              <a:tr h="388620">
                <a:tc>
                  <a:txBody>
                    <a:bodyPr/>
                    <a:lstStyle/>
                    <a:p>
                      <a:r>
                        <a:rPr sz="1000" b="0" i="0">
                          <a:solidFill>
                            <a:srgbClr val="1F2937"/>
                          </a:solidFill>
                          <a:latin typeface="Calibri"/>
                        </a:rPr>
                        <a:t>Source position (test only)</a:t>
                      </a:r>
                    </a:p>
                  </a:txBody>
                  <a:tcPr marL="64008" marR="64008" marT="36576" marB="36576">
                    <a:solidFill>
                      <a:srgbClr val="FFFFFF"/>
                    </a:solidFill>
                  </a:tcPr>
                </a:tc>
                <a:tc>
                  <a:txBody>
                    <a:bodyPr/>
                    <a:lstStyle/>
                    <a:p>
                      <a:pPr algn="ctr"/>
                      <a:r>
                        <a:rPr sz="1000" b="0" i="0">
                          <a:solidFill>
                            <a:srgbClr val="1F2937"/>
                          </a:solidFill>
                          <a:latin typeface="Calibri"/>
                        </a:rPr>
                        <a:t>+18.3</a:t>
                      </a:r>
                    </a:p>
                  </a:txBody>
                  <a:tcPr marL="64008" marR="64008" marT="36576" marB="36576">
                    <a:solidFill>
                      <a:srgbClr val="FFFFFF"/>
                    </a:solidFill>
                  </a:tcPr>
                </a:tc>
                <a:tc>
                  <a:txBody>
                    <a:bodyPr/>
                    <a:lstStyle/>
                    <a:p>
                      <a:pPr algn="ctr"/>
                      <a:r>
                        <a:rPr sz="1000" b="0" i="0">
                          <a:solidFill>
                            <a:srgbClr val="1F2937"/>
                          </a:solidFill>
                          <a:latin typeface="Calibri"/>
                        </a:rPr>
                        <a:t>+12.1 to +25.2</a:t>
                      </a:r>
                    </a:p>
                  </a:txBody>
                  <a:tcPr marL="64008" marR="64008" marT="36576" marB="36576">
                    <a:solidFill>
                      <a:srgbClr val="FFFFFF"/>
                    </a:solidFill>
                  </a:tcPr>
                </a:tc>
                <a:extLst>
                  <a:ext uri="{0D108BD9-81ED-4DB2-BD59-A6C34878D82A}">
                    <a16:rowId xmlns:a16="http://schemas.microsoft.com/office/drawing/2014/main" val="10007"/>
                  </a:ext>
                </a:extLst>
              </a:tr>
            </a:tbl>
          </a:graphicData>
        </a:graphic>
      </p:graphicFrame>
      <p:sp>
        <p:nvSpPr>
          <p:cNvPr id="7" name="TextBox 6"/>
          <p:cNvSpPr txBox="1"/>
          <p:nvPr/>
        </p:nvSpPr>
        <p:spPr>
          <a:xfrm>
            <a:off x="7543800" y="4846320"/>
            <a:ext cx="4114800" cy="1325880"/>
          </a:xfrm>
          <a:prstGeom prst="rect">
            <a:avLst/>
          </a:prstGeom>
          <a:noFill/>
        </p:spPr>
        <p:txBody>
          <a:bodyPr wrap="square" lIns="45720" rIns="45720" anchor="t">
            <a:spAutoFit/>
          </a:bodyPr>
          <a:lstStyle/>
          <a:p>
            <a:pPr algn="l">
              <a:spcBef>
                <a:spcPts val="0"/>
              </a:spcBef>
              <a:spcAft>
                <a:spcPts val="300"/>
              </a:spcAft>
            </a:pPr>
            <a:r>
              <a:rPr sz="1500" b="0" i="0">
                <a:solidFill>
                  <a:srgbClr val="1F2937"/>
                </a:solidFill>
                <a:latin typeface="Calibri"/>
              </a:rPr>
              <a:t>Rendered content and external facts have uncertain gains; the tested rewrite declined. Position is engine-controlled. Individual gains cannot be added.</a:t>
            </a:r>
          </a:p>
        </p:txBody>
      </p:sp>
      <p:sp>
        <p:nvSpPr>
          <p:cNvPr id="8" name="TextBox 7"/>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Technical Report v1.4, Section 8.1 and Figure 2; results/individual_methods.json. Each method tested on its own against the same original pages, 290 answers per version, paired question bootstrap.</a:t>
            </a:r>
          </a:p>
        </p:txBody>
      </p:sp>
      <p:sp>
        <p:nvSpPr>
          <p:cNvPr id="9" name="TextBox 8"/>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14</a:t>
            </a:r>
            <a:endParaRPr sz="900" b="0" i="0">
              <a:solidFill>
                <a:srgbClr val="5B6573"/>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Citation inclusion increased from 40.0% to 52.4%</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graphicFrame>
        <p:nvGraphicFramePr>
          <p:cNvPr id="5" name="Chart 4"/>
          <p:cNvGraphicFramePr>
            <a:graphicFrameLocks noGrp="1"/>
          </p:cNvGraphicFramePr>
          <p:nvPr/>
        </p:nvGraphicFramePr>
        <p:xfrm>
          <a:off x="548640" y="1600200"/>
          <a:ext cx="5669280" cy="43434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Table 5"/>
          <p:cNvGraphicFramePr>
            <a:graphicFrameLocks noGrp="1"/>
          </p:cNvGraphicFramePr>
          <p:nvPr/>
        </p:nvGraphicFramePr>
        <p:xfrm>
          <a:off x="6446520" y="1600200"/>
          <a:ext cx="5212080" cy="1508757"/>
        </p:xfrm>
        <a:graphic>
          <a:graphicData uri="http://schemas.openxmlformats.org/drawingml/2006/table">
            <a:tbl>
              <a:tblPr/>
              <a:tblGrid>
                <a:gridCol w="2103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502919">
                <a:tc>
                  <a:txBody>
                    <a:bodyPr/>
                    <a:lstStyle/>
                    <a:p>
                      <a:r>
                        <a:rPr sz="1000" b="1" i="0">
                          <a:solidFill>
                            <a:srgbClr val="FFFFFF"/>
                          </a:solidFill>
                          <a:latin typeface="Calibri"/>
                        </a:rPr>
                        <a:t>Version</a:t>
                      </a:r>
                    </a:p>
                  </a:txBody>
                  <a:tcPr marL="64008" marR="64008" marT="36576" marB="36576" anchor="ctr">
                    <a:solidFill>
                      <a:srgbClr val="0B2240"/>
                    </a:solidFill>
                  </a:tcPr>
                </a:tc>
                <a:tc>
                  <a:txBody>
                    <a:bodyPr/>
                    <a:lstStyle/>
                    <a:p>
                      <a:pPr algn="ctr"/>
                      <a:r>
                        <a:rPr sz="1000" b="1" i="0">
                          <a:solidFill>
                            <a:srgbClr val="FFFFFF"/>
                          </a:solidFill>
                          <a:latin typeface="Calibri"/>
                        </a:rPr>
                        <a:t>Answers citing FC</a:t>
                      </a:r>
                    </a:p>
                  </a:txBody>
                  <a:tcPr marL="64008" marR="64008" marT="36576" marB="36576" anchor="ctr">
                    <a:solidFill>
                      <a:srgbClr val="0B2240"/>
                    </a:solidFill>
                  </a:tcPr>
                </a:tc>
                <a:tc>
                  <a:txBody>
                    <a:bodyPr/>
                    <a:lstStyle/>
                    <a:p>
                      <a:pPr algn="ctr"/>
                      <a:r>
                        <a:rPr sz="1000" b="1" i="0">
                          <a:solidFill>
                            <a:srgbClr val="FFFFFF"/>
                          </a:solidFill>
                          <a:latin typeface="Calibri"/>
                        </a:rPr>
                        <a:t>Share</a:t>
                      </a:r>
                    </a:p>
                  </a:txBody>
                  <a:tcPr marL="64008" marR="64008" marT="36576" marB="36576" anchor="ctr">
                    <a:solidFill>
                      <a:srgbClr val="0B2240"/>
                    </a:solidFill>
                  </a:tcPr>
                </a:tc>
                <a:extLst>
                  <a:ext uri="{0D108BD9-81ED-4DB2-BD59-A6C34878D82A}">
                    <a16:rowId xmlns:a16="http://schemas.microsoft.com/office/drawing/2014/main" val="10000"/>
                  </a:ext>
                </a:extLst>
              </a:tr>
              <a:tr h="502919">
                <a:tc>
                  <a:txBody>
                    <a:bodyPr/>
                    <a:lstStyle/>
                    <a:p>
                      <a:r>
                        <a:rPr sz="1150" b="0" i="0">
                          <a:solidFill>
                            <a:srgbClr val="1F2937"/>
                          </a:solidFill>
                          <a:latin typeface="Calibri"/>
                        </a:rPr>
                        <a:t>Baseline FC pages</a:t>
                      </a:r>
                    </a:p>
                  </a:txBody>
                  <a:tcPr marL="64008" marR="64008" marT="36576" marB="36576">
                    <a:solidFill>
                      <a:srgbClr val="FFFFFF"/>
                    </a:solidFill>
                  </a:tcPr>
                </a:tc>
                <a:tc>
                  <a:txBody>
                    <a:bodyPr/>
                    <a:lstStyle/>
                    <a:p>
                      <a:pPr algn="ctr"/>
                      <a:r>
                        <a:rPr sz="1150" b="0" i="0">
                          <a:solidFill>
                            <a:srgbClr val="1F2937"/>
                          </a:solidFill>
                          <a:latin typeface="Calibri"/>
                        </a:rPr>
                        <a:t>116 / 290</a:t>
                      </a:r>
                    </a:p>
                  </a:txBody>
                  <a:tcPr marL="64008" marR="64008" marT="36576" marB="36576">
                    <a:solidFill>
                      <a:srgbClr val="FFFFFF"/>
                    </a:solidFill>
                  </a:tcPr>
                </a:tc>
                <a:tc>
                  <a:txBody>
                    <a:bodyPr/>
                    <a:lstStyle/>
                    <a:p>
                      <a:pPr algn="ctr"/>
                      <a:r>
                        <a:rPr sz="1150" b="0" i="0">
                          <a:solidFill>
                            <a:srgbClr val="1F2937"/>
                          </a:solidFill>
                          <a:latin typeface="Calibri"/>
                        </a:rPr>
                        <a:t>40.0%</a:t>
                      </a:r>
                    </a:p>
                  </a:txBody>
                  <a:tcPr marL="64008" marR="64008" marT="36576" marB="36576">
                    <a:solidFill>
                      <a:srgbClr val="FFFFFF"/>
                    </a:solidFill>
                  </a:tcPr>
                </a:tc>
                <a:extLst>
                  <a:ext uri="{0D108BD9-81ED-4DB2-BD59-A6C34878D82A}">
                    <a16:rowId xmlns:a16="http://schemas.microsoft.com/office/drawing/2014/main" val="10001"/>
                  </a:ext>
                </a:extLst>
              </a:tr>
              <a:tr h="502919">
                <a:tc>
                  <a:txBody>
                    <a:bodyPr/>
                    <a:lstStyle/>
                    <a:p>
                      <a:r>
                        <a:rPr sz="1150" b="0" i="0">
                          <a:solidFill>
                            <a:srgbClr val="1F2937"/>
                          </a:solidFill>
                          <a:latin typeface="Calibri"/>
                        </a:rPr>
                        <a:t>Optimised FC pages</a:t>
                      </a:r>
                    </a:p>
                  </a:txBody>
                  <a:tcPr marL="64008" marR="64008" marT="36576" marB="36576">
                    <a:solidFill>
                      <a:srgbClr val="F3F5F8"/>
                    </a:solidFill>
                  </a:tcPr>
                </a:tc>
                <a:tc>
                  <a:txBody>
                    <a:bodyPr/>
                    <a:lstStyle/>
                    <a:p>
                      <a:pPr algn="ctr"/>
                      <a:r>
                        <a:rPr sz="1150" b="0" i="0">
                          <a:solidFill>
                            <a:srgbClr val="1F2937"/>
                          </a:solidFill>
                          <a:latin typeface="Calibri"/>
                        </a:rPr>
                        <a:t>152 / 290</a:t>
                      </a:r>
                    </a:p>
                  </a:txBody>
                  <a:tcPr marL="64008" marR="64008" marT="36576" marB="36576">
                    <a:solidFill>
                      <a:srgbClr val="F3F5F8"/>
                    </a:solidFill>
                  </a:tcPr>
                </a:tc>
                <a:tc>
                  <a:txBody>
                    <a:bodyPr/>
                    <a:lstStyle/>
                    <a:p>
                      <a:pPr algn="ctr"/>
                      <a:r>
                        <a:rPr sz="1150" b="0" i="0">
                          <a:solidFill>
                            <a:srgbClr val="1F2937"/>
                          </a:solidFill>
                          <a:latin typeface="Calibri"/>
                        </a:rPr>
                        <a:t>52.4%</a:t>
                      </a:r>
                    </a:p>
                  </a:txBody>
                  <a:tcPr marL="64008" marR="64008" marT="36576" marB="36576">
                    <a:solidFill>
                      <a:srgbClr val="E4F1E8"/>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446520" y="3291840"/>
            <a:ext cx="5212080" cy="2834640"/>
          </a:xfrm>
          <a:prstGeom prst="rect">
            <a:avLst/>
          </a:prstGeom>
          <a:noFill/>
        </p:spPr>
        <p:txBody>
          <a:bodyPr wrap="square" lIns="45720" rIns="45720" anchor="t">
            <a:spAutoFit/>
          </a:bodyPr>
          <a:lstStyle/>
          <a:p>
            <a:pPr marL="201168" indent="-182880" algn="l">
              <a:buChar char="•"/>
            </a:pPr>
            <a:r>
              <a:rPr sz="1600" b="0" i="0">
                <a:solidFill>
                  <a:srgbClr val="1F2937"/>
                </a:solidFill>
                <a:latin typeface="Calibri"/>
              </a:rPr>
              <a:t>36 more citing answers out of 290.</a:t>
            </a:r>
          </a:p>
          <a:p>
            <a:pPr marL="201168" indent="-182880" algn="l">
              <a:buChar char="•"/>
            </a:pPr>
            <a:r>
              <a:rPr sz="1600" b="0" i="0">
                <a:solidFill>
                  <a:srgbClr val="1F2937"/>
                </a:solidFill>
                <a:latin typeface="Calibri"/>
              </a:rPr>
              <a:t>Gain: +12.4 percentage points; exploratory 95% interval +5.2 to +20.0.</a:t>
            </a:r>
          </a:p>
          <a:p>
            <a:pPr marL="201168" indent="-182880" algn="l">
              <a:buChar char="•"/>
            </a:pPr>
            <a:r>
              <a:rPr sz="1600" b="0" i="0">
                <a:solidFill>
                  <a:srgbClr val="1F2937"/>
                </a:solidFill>
                <a:latin typeface="Calibri"/>
              </a:rPr>
              <a:t>21 questions improved; 6 declined; 2 unchanged.</a:t>
            </a:r>
          </a:p>
          <a:p>
            <a:pPr marL="201168" indent="-182880" algn="l">
              <a:buChar char="•"/>
            </a:pPr>
            <a:r>
              <a:rPr sz="1600" b="0" i="0">
                <a:solidFill>
                  <a:srgbClr val="1F2937"/>
                </a:solidFill>
                <a:latin typeface="Calibri"/>
              </a:rPr>
              <a:t>Earlier same-page run: 49.3%. Historical controls, capture dates and iterative selection limit inference.</a:t>
            </a:r>
          </a:p>
          <a:p>
            <a:pPr marL="201168" indent="-182880" algn="l">
              <a:buChar char="•"/>
            </a:pPr>
            <a:r>
              <a:rPr sz="1600" b="0" i="0">
                <a:solidFill>
                  <a:srgbClr val="1F2937"/>
                </a:solidFill>
                <a:latin typeface="Calibri"/>
              </a:rPr>
              <a:t>Citations are not bookings or recommendations.</a:t>
            </a:r>
          </a:p>
        </p:txBody>
      </p:sp>
      <p:sp>
        <p:nvSpPr>
          <p:cNvPr id="8" name="TextBox 7"/>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Technical Report v1.4, Table 9; results/Independent_Repeat_Analysis.json; paired question bootstrap over questions, 20,000 resamples, seed 20261018. 29 questions x 2 source orders x 5 repeats = 290 answers per version.</a:t>
            </a:r>
          </a:p>
        </p:txBody>
      </p:sp>
      <p:sp>
        <p:nvSpPr>
          <p:cNvPr id="9" name="TextBox 8"/>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15</a:t>
            </a:r>
            <a:endParaRPr sz="900" b="0" i="0">
              <a:solidFill>
                <a:srgbClr val="5B6573"/>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The experiment also shows what to treat cautiously</a:t>
            </a:r>
          </a:p>
        </p:txBody>
      </p:sp>
      <p:sp>
        <p:nvSpPr>
          <p:cNvPr id="4" name="Rounded Rectangle 3"/>
          <p:cNvSpPr/>
          <p:nvPr/>
        </p:nvSpPr>
        <p:spPr>
          <a:xfrm>
            <a:off x="9893808"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sp>
        <p:nvSpPr>
          <p:cNvPr id="5" name="Rounded Rectangle 4"/>
          <p:cNvSpPr/>
          <p:nvPr/>
        </p:nvSpPr>
        <p:spPr>
          <a:xfrm>
            <a:off x="833018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6" name="Rounded Rectangle 5"/>
          <p:cNvSpPr/>
          <p:nvPr/>
        </p:nvSpPr>
        <p:spPr>
          <a:xfrm>
            <a:off x="548640" y="1600200"/>
            <a:ext cx="5440680" cy="41148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1323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Did not work</a:t>
            </a:r>
          </a:p>
        </p:txBody>
      </p:sp>
      <p:sp>
        <p:nvSpPr>
          <p:cNvPr id="8" name="TextBox 7"/>
          <p:cNvSpPr txBox="1"/>
          <p:nvPr/>
        </p:nvSpPr>
        <p:spPr>
          <a:xfrm>
            <a:off x="713232" y="2148840"/>
            <a:ext cx="5111496" cy="3401568"/>
          </a:xfrm>
          <a:prstGeom prst="rect">
            <a:avLst/>
          </a:prstGeom>
          <a:noFill/>
        </p:spPr>
        <p:txBody>
          <a:bodyPr wrap="square" lIns="45720" rIns="45720" anchor="t">
            <a:spAutoFit/>
          </a:bodyPr>
          <a:lstStyle/>
          <a:p>
            <a:pPr algn="l">
              <a:spcBef>
                <a:spcPts val="0"/>
              </a:spcBef>
              <a:spcAft>
                <a:spcPts val="300"/>
              </a:spcAft>
            </a:pPr>
            <a:r>
              <a:rPr sz="2000" b="0" i="0">
                <a:solidFill>
                  <a:srgbClr val="1F2937"/>
                </a:solidFill>
                <a:latin typeface="Calibri"/>
              </a:rPr>
              <a:t>The tested automatic rewrite declined by 5.5 percentage points.</a:t>
            </a:r>
          </a:p>
          <a:p>
            <a:pPr algn="l">
              <a:spcBef>
                <a:spcPts val="0"/>
              </a:spcBef>
              <a:spcAft>
                <a:spcPts val="300"/>
              </a:spcAft>
            </a:pPr>
            <a:r>
              <a:rPr sz="2000" b="0" i="0">
                <a:solidFill>
                  <a:srgbClr val="1F2937"/>
                </a:solidFill>
                <a:latin typeface="Calibri"/>
              </a:rPr>
              <a:t>External facts had a small, uncertain overall gain.</a:t>
            </a:r>
          </a:p>
          <a:p>
            <a:pPr algn="l">
              <a:spcBef>
                <a:spcPts val="0"/>
              </a:spcBef>
              <a:spcAft>
                <a:spcPts val="300"/>
              </a:spcAft>
            </a:pPr>
            <a:r>
              <a:rPr sz="2000" b="0" i="0">
                <a:solidFill>
                  <a:srgbClr val="1F2937"/>
                </a:solidFill>
                <a:latin typeface="Calibri"/>
              </a:rPr>
              <a:t>Adding a statistic to FC’s own page does not test the benefit of genuine third-party coverage.</a:t>
            </a:r>
          </a:p>
        </p:txBody>
      </p:sp>
      <p:sp>
        <p:nvSpPr>
          <p:cNvPr id="9" name="Rounded Rectangle 8"/>
          <p:cNvSpPr/>
          <p:nvPr/>
        </p:nvSpPr>
        <p:spPr>
          <a:xfrm>
            <a:off x="6217920" y="1600200"/>
            <a:ext cx="5440680" cy="411480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38251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What that tells leadership</a:t>
            </a:r>
          </a:p>
        </p:txBody>
      </p:sp>
      <p:sp>
        <p:nvSpPr>
          <p:cNvPr id="11" name="TextBox 10"/>
          <p:cNvSpPr txBox="1"/>
          <p:nvPr/>
        </p:nvSpPr>
        <p:spPr>
          <a:xfrm>
            <a:off x="6382512" y="2148840"/>
            <a:ext cx="5111496" cy="3401568"/>
          </a:xfrm>
          <a:prstGeom prst="rect">
            <a:avLst/>
          </a:prstGeom>
          <a:noFill/>
        </p:spPr>
        <p:txBody>
          <a:bodyPr wrap="square" lIns="45720" rIns="45720" anchor="t">
            <a:spAutoFit/>
          </a:bodyPr>
          <a:lstStyle/>
          <a:p>
            <a:pPr algn="l">
              <a:spcBef>
                <a:spcPts val="0"/>
              </a:spcBef>
              <a:spcAft>
                <a:spcPts val="300"/>
              </a:spcAft>
            </a:pPr>
            <a:r>
              <a:rPr sz="2000" b="0" i="0">
                <a:solidFill>
                  <a:srgbClr val="1F2937"/>
                </a:solidFill>
                <a:latin typeface="Calibri"/>
              </a:rPr>
              <a:t>Require evidence before buying rewriting or visibility services.</a:t>
            </a:r>
          </a:p>
          <a:p>
            <a:pPr algn="l">
              <a:spcBef>
                <a:spcPts val="0"/>
              </a:spcBef>
              <a:spcAft>
                <a:spcPts val="300"/>
              </a:spcAft>
            </a:pPr>
            <a:r>
              <a:rPr sz="2000" b="0" i="0">
                <a:solidFill>
                  <a:srgbClr val="1F2937"/>
                </a:solidFill>
                <a:latin typeface="Calibri"/>
              </a:rPr>
              <a:t>Keep facts accurate and useful to travellers.</a:t>
            </a:r>
          </a:p>
          <a:p>
            <a:pPr algn="l">
              <a:spcBef>
                <a:spcPts val="0"/>
              </a:spcBef>
              <a:spcAft>
                <a:spcPts val="300"/>
              </a:spcAft>
            </a:pPr>
            <a:r>
              <a:rPr sz="2000" b="0" i="0">
                <a:solidFill>
                  <a:srgbClr val="1F2937"/>
                </a:solidFill>
                <a:latin typeface="Calibri"/>
              </a:rPr>
              <a:t>This result supports the selected content pattern; it does not validate every rewrite, markup change or SEO tactic.</a:t>
            </a:r>
          </a:p>
        </p:txBody>
      </p:sp>
      <p:sp>
        <p:nvSpPr>
          <p:cNvPr id="12" name="TextBox 11"/>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Technical Report v1.4, Section 8.1 and Figure 2; Puerto et al., C-SEO Bench (2025); Google, 'Optimizing your website for generative AI features' (May 2026); Bing Webmaster Guidelines (Feb 2026).</a:t>
            </a:r>
          </a:p>
        </p:txBody>
      </p:sp>
      <p:sp>
        <p:nvSpPr>
          <p:cNvPr id="13" name="TextBox 12"/>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16</a:t>
            </a:r>
            <a:endParaRPr sz="900" b="0" i="0">
              <a:solidFill>
                <a:srgbClr val="5B6573"/>
              </a:solidFill>
              <a:latin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A practical route-page template for FC</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8796528"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sp>
        <p:nvSpPr>
          <p:cNvPr id="6" name="Rounded Rectangle 5"/>
          <p:cNvSpPr/>
          <p:nvPr/>
        </p:nvSpPr>
        <p:spPr>
          <a:xfrm>
            <a:off x="72329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7" name="Rectangle 6"/>
          <p:cNvSpPr/>
          <p:nvPr/>
        </p:nvSpPr>
        <p:spPr>
          <a:xfrm>
            <a:off x="548640" y="1600200"/>
            <a:ext cx="4663440" cy="4526280"/>
          </a:xfrm>
          <a:prstGeom prst="rect">
            <a:avLst/>
          </a:prstGeom>
          <a:solidFill>
            <a:srgbClr val="FFFFFF"/>
          </a:solidFill>
          <a:ln w="9525">
            <a:solidFill>
              <a:srgbClr val="D9DEE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ounded Rectangle 7"/>
          <p:cNvSpPr/>
          <p:nvPr/>
        </p:nvSpPr>
        <p:spPr>
          <a:xfrm>
            <a:off x="640080" y="1691640"/>
            <a:ext cx="4480560" cy="6858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31520" y="171907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A  Definition-first opening (3 sentences)</a:t>
            </a:r>
          </a:p>
        </p:txBody>
      </p:sp>
      <p:sp>
        <p:nvSpPr>
          <p:cNvPr id="10" name="TextBox 9"/>
          <p:cNvSpPr txBox="1"/>
          <p:nvPr/>
        </p:nvSpPr>
        <p:spPr>
          <a:xfrm>
            <a:off x="731520" y="1947672"/>
            <a:ext cx="3246120" cy="429768"/>
          </a:xfrm>
          <a:prstGeom prst="rect">
            <a:avLst/>
          </a:prstGeom>
          <a:noFill/>
        </p:spPr>
        <p:txBody>
          <a:bodyPr wrap="square" lIns="45720" rIns="45720" anchor="t">
            <a:spAutoFit/>
          </a:bodyPr>
          <a:lstStyle/>
          <a:p>
            <a:pPr algn="l">
              <a:spcBef>
                <a:spcPts val="0"/>
              </a:spcBef>
              <a:spcAft>
                <a:spcPts val="300"/>
              </a:spcAft>
            </a:pPr>
            <a:r>
              <a:rPr sz="1400" b="0" i="0">
                <a:solidFill>
                  <a:srgbClr val="1F2937"/>
                </a:solidFill>
                <a:latin typeface="Calibri"/>
              </a:rPr>
              <a:t>Route, fare scope, fees and next step.</a:t>
            </a:r>
          </a:p>
        </p:txBody>
      </p:sp>
      <p:sp>
        <p:nvSpPr>
          <p:cNvPr id="11" name="Rounded Rectangle 10"/>
          <p:cNvSpPr/>
          <p:nvPr/>
        </p:nvSpPr>
        <p:spPr>
          <a:xfrm>
            <a:off x="4023360" y="1764792"/>
            <a:ext cx="1024128"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research</a:t>
            </a:r>
          </a:p>
        </p:txBody>
      </p:sp>
      <p:sp>
        <p:nvSpPr>
          <p:cNvPr id="12" name="Rounded Rectangle 11"/>
          <p:cNvSpPr/>
          <p:nvPr/>
        </p:nvSpPr>
        <p:spPr>
          <a:xfrm>
            <a:off x="640080" y="2423160"/>
            <a:ext cx="4480560" cy="685800"/>
          </a:xfrm>
          <a:prstGeom prst="roundRect">
            <a:avLst>
              <a:gd name="adj" fmla="val 8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31520" y="245059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B  Dated deal cards in HTML</a:t>
            </a:r>
          </a:p>
        </p:txBody>
      </p:sp>
      <p:sp>
        <p:nvSpPr>
          <p:cNvPr id="14" name="TextBox 13"/>
          <p:cNvSpPr txBox="1"/>
          <p:nvPr/>
        </p:nvSpPr>
        <p:spPr>
          <a:xfrm>
            <a:off x="731520" y="2679192"/>
            <a:ext cx="3246120" cy="429768"/>
          </a:xfrm>
          <a:prstGeom prst="rect">
            <a:avLst/>
          </a:prstGeom>
          <a:noFill/>
        </p:spPr>
        <p:txBody>
          <a:bodyPr wrap="square" lIns="45720" rIns="45720" anchor="t">
            <a:spAutoFit/>
          </a:bodyPr>
          <a:lstStyle/>
          <a:p>
            <a:pPr algn="l">
              <a:spcBef>
                <a:spcPts val="0"/>
              </a:spcBef>
              <a:spcAft>
                <a:spcPts val="300"/>
              </a:spcAft>
            </a:pPr>
            <a:r>
              <a:rPr sz="1400" b="0" i="0">
                <a:solidFill>
                  <a:srgbClr val="1F2937"/>
                </a:solidFill>
                <a:latin typeface="Calibri"/>
              </a:rPr>
              <a:t>Airline, cabin, dates and price in text.</a:t>
            </a:r>
          </a:p>
        </p:txBody>
      </p:sp>
      <p:sp>
        <p:nvSpPr>
          <p:cNvPr id="15" name="Rounded Rectangle 14"/>
          <p:cNvSpPr/>
          <p:nvPr/>
        </p:nvSpPr>
        <p:spPr>
          <a:xfrm>
            <a:off x="4023360" y="2496312"/>
            <a:ext cx="102412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+6.6</a:t>
            </a:r>
          </a:p>
        </p:txBody>
      </p:sp>
      <p:sp>
        <p:nvSpPr>
          <p:cNvPr id="16" name="Rounded Rectangle 15"/>
          <p:cNvSpPr/>
          <p:nvPr/>
        </p:nvSpPr>
        <p:spPr>
          <a:xfrm>
            <a:off x="640080" y="3154680"/>
            <a:ext cx="4480560" cy="685800"/>
          </a:xfrm>
          <a:prstGeom prst="roundRect">
            <a:avLst>
              <a:gd name="adj" fmla="val 8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31520" y="318211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C  Fare-and-fee block</a:t>
            </a:r>
          </a:p>
        </p:txBody>
      </p:sp>
      <p:sp>
        <p:nvSpPr>
          <p:cNvPr id="18" name="TextBox 17"/>
          <p:cNvSpPr txBox="1"/>
          <p:nvPr/>
        </p:nvSpPr>
        <p:spPr>
          <a:xfrm>
            <a:off x="731520" y="3410712"/>
            <a:ext cx="3246120" cy="429768"/>
          </a:xfrm>
          <a:prstGeom prst="rect">
            <a:avLst/>
          </a:prstGeom>
          <a:noFill/>
        </p:spPr>
        <p:txBody>
          <a:bodyPr wrap="square" lIns="45720" rIns="45720" anchor="t">
            <a:spAutoFit/>
          </a:bodyPr>
          <a:lstStyle/>
          <a:p>
            <a:pPr algn="l">
              <a:spcBef>
                <a:spcPts val="0"/>
              </a:spcBef>
              <a:spcAft>
                <a:spcPts val="300"/>
              </a:spcAft>
            </a:pPr>
            <a:r>
              <a:rPr sz="1400" b="0" i="0">
                <a:solidFill>
                  <a:srgbClr val="1F2937"/>
                </a:solidFill>
                <a:latin typeface="Calibri"/>
              </a:rPr>
              <a:t>Label the starting fare and fee conditions.</a:t>
            </a:r>
          </a:p>
        </p:txBody>
      </p:sp>
      <p:sp>
        <p:nvSpPr>
          <p:cNvPr id="19" name="Rounded Rectangle 18"/>
          <p:cNvSpPr/>
          <p:nvPr/>
        </p:nvSpPr>
        <p:spPr>
          <a:xfrm>
            <a:off x="4023360" y="3227832"/>
            <a:ext cx="102412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+7.6 / +6.9</a:t>
            </a:r>
          </a:p>
        </p:txBody>
      </p:sp>
      <p:sp>
        <p:nvSpPr>
          <p:cNvPr id="20" name="Rounded Rectangle 19"/>
          <p:cNvSpPr/>
          <p:nvPr/>
        </p:nvSpPr>
        <p:spPr>
          <a:xfrm>
            <a:off x="640080" y="3886200"/>
            <a:ext cx="4480560" cy="685800"/>
          </a:xfrm>
          <a:prstGeom prst="roundRect">
            <a:avLst>
              <a:gd name="adj" fmla="val 8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31520" y="391363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D  Page-specific FAQ in text</a:t>
            </a:r>
          </a:p>
        </p:txBody>
      </p:sp>
      <p:sp>
        <p:nvSpPr>
          <p:cNvPr id="22" name="TextBox 21"/>
          <p:cNvSpPr txBox="1"/>
          <p:nvPr/>
        </p:nvSpPr>
        <p:spPr>
          <a:xfrm>
            <a:off x="731520" y="4142232"/>
            <a:ext cx="3246120" cy="429768"/>
          </a:xfrm>
          <a:prstGeom prst="rect">
            <a:avLst/>
          </a:prstGeom>
          <a:noFill/>
        </p:spPr>
        <p:txBody>
          <a:bodyPr wrap="square" lIns="45720" rIns="45720" anchor="t">
            <a:spAutoFit/>
          </a:bodyPr>
          <a:lstStyle/>
          <a:p>
            <a:pPr algn="l">
              <a:spcBef>
                <a:spcPts val="0"/>
              </a:spcBef>
              <a:spcAft>
                <a:spcPts val="300"/>
              </a:spcAft>
            </a:pPr>
            <a:r>
              <a:rPr sz="1400" b="0" i="0">
                <a:solidFill>
                  <a:srgbClr val="1F2937"/>
                </a:solidFill>
                <a:latin typeface="Calibri"/>
              </a:rPr>
              <a:t>Approved questions beside their answers.</a:t>
            </a:r>
          </a:p>
        </p:txBody>
      </p:sp>
      <p:sp>
        <p:nvSpPr>
          <p:cNvPr id="23" name="Rounded Rectangle 22"/>
          <p:cNvSpPr/>
          <p:nvPr/>
        </p:nvSpPr>
        <p:spPr>
          <a:xfrm>
            <a:off x="4023360" y="3959352"/>
            <a:ext cx="102412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in final page</a:t>
            </a:r>
          </a:p>
        </p:txBody>
      </p:sp>
      <p:sp>
        <p:nvSpPr>
          <p:cNvPr id="24" name="Rounded Rectangle 23"/>
          <p:cNvSpPr/>
          <p:nvPr/>
        </p:nvSpPr>
        <p:spPr>
          <a:xfrm>
            <a:off x="640080" y="4617720"/>
            <a:ext cx="4480560" cy="6858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31520" y="464515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E  Differentiators in plain text</a:t>
            </a:r>
          </a:p>
        </p:txBody>
      </p:sp>
      <p:sp>
        <p:nvSpPr>
          <p:cNvPr id="26" name="TextBox 25"/>
          <p:cNvSpPr txBox="1"/>
          <p:nvPr/>
        </p:nvSpPr>
        <p:spPr>
          <a:xfrm>
            <a:off x="731520" y="4873752"/>
            <a:ext cx="3246120" cy="429768"/>
          </a:xfrm>
          <a:prstGeom prst="rect">
            <a:avLst/>
          </a:prstGeom>
          <a:noFill/>
        </p:spPr>
        <p:txBody>
          <a:bodyPr wrap="square" lIns="45720" rIns="45720" anchor="t">
            <a:spAutoFit/>
          </a:bodyPr>
          <a:lstStyle/>
          <a:p>
            <a:pPr algn="l">
              <a:spcBef>
                <a:spcPts val="0"/>
              </a:spcBef>
              <a:spcAft>
                <a:spcPts val="300"/>
              </a:spcAft>
            </a:pPr>
            <a:r>
              <a:rPr sz="1400" b="0" i="0">
                <a:solidFill>
                  <a:srgbClr val="1F2937"/>
                </a:solidFill>
                <a:latin typeface="Calibri"/>
              </a:rPr>
              <a:t>Booking, store and expert options.</a:t>
            </a:r>
          </a:p>
        </p:txBody>
      </p:sp>
      <p:sp>
        <p:nvSpPr>
          <p:cNvPr id="27" name="Rounded Rectangle 26"/>
          <p:cNvSpPr/>
          <p:nvPr/>
        </p:nvSpPr>
        <p:spPr>
          <a:xfrm>
            <a:off x="4023360" y="4690872"/>
            <a:ext cx="1024128"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research</a:t>
            </a:r>
          </a:p>
        </p:txBody>
      </p:sp>
      <p:sp>
        <p:nvSpPr>
          <p:cNvPr id="28" name="Rounded Rectangle 27"/>
          <p:cNvSpPr/>
          <p:nvPr/>
        </p:nvSpPr>
        <p:spPr>
          <a:xfrm>
            <a:off x="640080" y="5349240"/>
            <a:ext cx="4480560" cy="6858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31520" y="5376672"/>
            <a:ext cx="3200400" cy="274320"/>
          </a:xfrm>
          <a:prstGeom prst="rect">
            <a:avLst/>
          </a:prstGeom>
          <a:noFill/>
        </p:spPr>
        <p:txBody>
          <a:bodyPr wrap="square" lIns="45720" rIns="45720" anchor="t">
            <a:spAutoFit/>
          </a:bodyPr>
          <a:lstStyle/>
          <a:p>
            <a:pPr algn="l">
              <a:lnSpc>
                <a:spcPct val="108000"/>
              </a:lnSpc>
              <a:spcAft>
                <a:spcPts val="400"/>
              </a:spcAft>
            </a:pPr>
            <a:r>
              <a:rPr sz="1050" b="1" i="0">
                <a:solidFill>
                  <a:srgbClr val="0B2240"/>
                </a:solidFill>
                <a:latin typeface="Calibri"/>
              </a:rPr>
              <a:t>F  JSON-LD from the same record</a:t>
            </a:r>
          </a:p>
        </p:txBody>
      </p:sp>
      <p:sp>
        <p:nvSpPr>
          <p:cNvPr id="30" name="TextBox 29"/>
          <p:cNvSpPr txBox="1"/>
          <p:nvPr/>
        </p:nvSpPr>
        <p:spPr>
          <a:xfrm>
            <a:off x="731520" y="5605272"/>
            <a:ext cx="3246120" cy="429768"/>
          </a:xfrm>
          <a:prstGeom prst="rect">
            <a:avLst/>
          </a:prstGeom>
          <a:noFill/>
        </p:spPr>
        <p:txBody>
          <a:bodyPr wrap="square" lIns="45720" rIns="45720" anchor="t">
            <a:spAutoFit/>
          </a:bodyPr>
          <a:lstStyle/>
          <a:p>
            <a:pPr algn="l">
              <a:spcBef>
                <a:spcPts val="0"/>
              </a:spcBef>
              <a:spcAft>
                <a:spcPts val="300"/>
              </a:spcAft>
            </a:pPr>
            <a:r>
              <a:rPr sz="1400" b="0" i="0">
                <a:solidFill>
                  <a:srgbClr val="1F2937"/>
                </a:solidFill>
                <a:latin typeface="Calibri"/>
              </a:rPr>
              <a:t>JSON-LD matches the visible facts.</a:t>
            </a:r>
          </a:p>
        </p:txBody>
      </p:sp>
      <p:sp>
        <p:nvSpPr>
          <p:cNvPr id="31" name="Rounded Rectangle 30"/>
          <p:cNvSpPr/>
          <p:nvPr/>
        </p:nvSpPr>
        <p:spPr>
          <a:xfrm>
            <a:off x="4023360" y="5422392"/>
            <a:ext cx="102412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800" b="1" i="0">
                <a:solidFill>
                  <a:srgbClr val="FFFFFF"/>
                </a:solidFill>
                <a:latin typeface="Calibri"/>
              </a:rPr>
              <a:t>+6.2 (confounded)</a:t>
            </a:r>
          </a:p>
        </p:txBody>
      </p:sp>
      <p:sp>
        <p:nvSpPr>
          <p:cNvPr id="32" name="Rounded Rectangle 31"/>
          <p:cNvSpPr/>
          <p:nvPr/>
        </p:nvSpPr>
        <p:spPr>
          <a:xfrm>
            <a:off x="5440680" y="1600200"/>
            <a:ext cx="6217920" cy="3063240"/>
          </a:xfrm>
          <a:prstGeom prst="roundRect">
            <a:avLst>
              <a:gd name="adj" fmla="val 4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5605272" y="1709928"/>
            <a:ext cx="5888736" cy="2862072"/>
          </a:xfrm>
          <a:prstGeom prst="rect">
            <a:avLst/>
          </a:prstGeom>
          <a:noFill/>
        </p:spPr>
        <p:txBody>
          <a:bodyPr wrap="square" lIns="45720" rIns="45720" anchor="t">
            <a:spAutoFit/>
          </a:bodyPr>
          <a:lstStyle/>
          <a:p>
            <a:pPr algn="l">
              <a:spcBef>
                <a:spcPts val="0"/>
              </a:spcBef>
              <a:spcAft>
                <a:spcPts val="300"/>
              </a:spcAft>
            </a:pPr>
            <a:r>
              <a:rPr sz="1800" b="0" i="0">
                <a:solidFill>
                  <a:srgbClr val="9FB3CC"/>
                </a:solidFill>
                <a:latin typeface="Calibri"/>
              </a:rPr>
              <a:t>ONE APPROVED OFFER RECORD</a:t>
            </a:r>
          </a:p>
          <a:p>
            <a:pPr algn="l">
              <a:spcBef>
                <a:spcPts val="0"/>
              </a:spcBef>
              <a:spcAft>
                <a:spcPts val="300"/>
              </a:spcAft>
            </a:pPr>
            <a:r>
              <a:rPr sz="1800" b="0" i="0">
                <a:solidFill>
                  <a:srgbClr val="9FB3CC"/>
                </a:solidFill>
                <a:latin typeface="Calibri"/>
              </a:rPr>
              <a:t>Departure and destination</a:t>
            </a:r>
          </a:p>
          <a:p>
            <a:pPr algn="l">
              <a:spcBef>
                <a:spcPts val="0"/>
              </a:spcBef>
              <a:spcAft>
                <a:spcPts val="300"/>
              </a:spcAft>
            </a:pPr>
            <a:r>
              <a:rPr sz="1800" b="0" i="0">
                <a:solidFill>
                  <a:srgbClr val="9FB3CC"/>
                </a:solidFill>
                <a:latin typeface="Calibri"/>
              </a:rPr>
              <a:t>Fare and currency</a:t>
            </a:r>
          </a:p>
          <a:p>
            <a:pPr algn="l">
              <a:spcBef>
                <a:spcPts val="0"/>
              </a:spcBef>
              <a:spcAft>
                <a:spcPts val="300"/>
              </a:spcAft>
            </a:pPr>
            <a:r>
              <a:rPr sz="1800" b="0" i="0">
                <a:solidFill>
                  <a:srgbClr val="9FB3CC"/>
                </a:solidFill>
                <a:latin typeface="Calibri"/>
              </a:rPr>
              <a:t>Dates, cabin and availability</a:t>
            </a:r>
          </a:p>
          <a:p>
            <a:pPr algn="l">
              <a:spcBef>
                <a:spcPts val="0"/>
              </a:spcBef>
              <a:spcAft>
                <a:spcPts val="300"/>
              </a:spcAft>
            </a:pPr>
            <a:r>
              <a:rPr sz="1800" b="0" i="0">
                <a:solidFill>
                  <a:srgbClr val="9FB3CC"/>
                </a:solidFill>
                <a:latin typeface="Calibri"/>
              </a:rPr>
              <a:t>Fees and conditions</a:t>
            </a:r>
          </a:p>
          <a:p>
            <a:pPr algn="l">
              <a:spcBef>
                <a:spcPts val="0"/>
              </a:spcBef>
              <a:spcAft>
                <a:spcPts val="300"/>
              </a:spcAft>
            </a:pPr>
            <a:r>
              <a:rPr sz="1800" b="0" i="0">
                <a:solidFill>
                  <a:srgbClr val="9FB3CC"/>
                </a:solidFill>
                <a:latin typeface="Calibri"/>
              </a:rPr>
              <a:t>Last verified date</a:t>
            </a:r>
          </a:p>
        </p:txBody>
      </p:sp>
      <p:sp>
        <p:nvSpPr>
          <p:cNvPr id="34" name="Rounded Rectangle 33"/>
          <p:cNvSpPr/>
          <p:nvPr/>
        </p:nvSpPr>
        <p:spPr>
          <a:xfrm>
            <a:off x="5440680" y="4800600"/>
            <a:ext cx="6217920" cy="1325880"/>
          </a:xfrm>
          <a:prstGeom prst="roundRect">
            <a:avLst>
              <a:gd name="adj" fmla="val 4000"/>
            </a:avLst>
          </a:prstGeom>
          <a:solidFill>
            <a:srgbClr val="11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605272" y="4910328"/>
            <a:ext cx="5888736" cy="1124711"/>
          </a:xfrm>
          <a:prstGeom prst="rect">
            <a:avLst/>
          </a:prstGeom>
          <a:noFill/>
        </p:spPr>
        <p:txBody>
          <a:bodyPr wrap="square" lIns="45720" rIns="45720" anchor="t">
            <a:spAutoFit/>
          </a:bodyPr>
          <a:lstStyle/>
          <a:p>
            <a:pPr algn="l">
              <a:spcBef>
                <a:spcPts val="0"/>
              </a:spcBef>
              <a:spcAft>
                <a:spcPts val="300"/>
              </a:spcAft>
            </a:pPr>
            <a:r>
              <a:rPr sz="1600" b="0" i="0">
                <a:solidFill>
                  <a:srgbClr val="9FB3CC"/>
                </a:solidFill>
                <a:latin typeface="Calibri"/>
              </a:rPr>
              <a:t>JSON-LD describes the same facts for machines. Choose an appropriate type and validate it. Markup alone was not isolated in our test.</a:t>
            </a:r>
          </a:p>
        </p:txBody>
      </p:sp>
      <p:sp>
        <p:nvSpPr>
          <p:cNvPr id="36" name="TextBox 3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optimisation_v3/structured_refinement.py and faq_refinement.py (tested code); Pillar 2 audit §8.3–8.4 (chunk-position and definition-first findings, May 2026); arXiv 2605.25517 (price and timestamp effects); Google: structured data must match visible text. Blocks A, E and the route-specific FAQs are research-based extensions not yet tested in the sandbox.</a:t>
            </a:r>
          </a:p>
        </p:txBody>
      </p:sp>
      <p:sp>
        <p:nvSpPr>
          <p:cNvPr id="37" name="TextBox 36"/>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17</a:t>
            </a:r>
            <a:endParaRPr sz="900" b="0" i="0">
              <a:solidFill>
                <a:srgbClr val="5B6573"/>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5BAD216-E317-48A6-95C8-8B30F79CBC49}"/>
              </a:ext>
            </a:extLst>
          </p:cNvPr>
          <p:cNvSpPr>
            <a:spLocks noGrp="1"/>
          </p:cNvSpPr>
          <p:nvPr/>
        </p:nvSpPr>
        <p:spPr>
          <a:xfrm>
            <a:off x="457200" y="247650"/>
            <a:ext cx="11277600" cy="285750"/>
          </a:xfrm>
          <a:prstGeom prst="rect">
            <a:avLst/>
          </a:prstGeom>
          <a:noFill/>
          <a:ln w="0">
            <a:noFill/>
          </a:ln>
        </p:spPr>
        <p:txBody>
          <a:bodyPr anchor="ctr"/>
          <a:lstStyle>
            <a:defPPr>
              <a:defRPr sz="1200" b="1">
                <a:solidFill>
                  <a:srgbClr val="ED193A"/>
                </a:solidFill>
              </a:defRPr>
            </a:defPPr>
            <a:lvl1pPr>
              <a:defRPr sz="1200" b="1">
                <a:solidFill>
                  <a:srgbClr val="ED193A"/>
                </a:solidFill>
              </a:defRPr>
            </a:lvl1pPr>
            <a:lvl2pPr>
              <a:defRPr sz="1200" b="1">
                <a:solidFill>
                  <a:srgbClr val="ED193A"/>
                </a:solidFill>
              </a:defRPr>
            </a:lvl2pPr>
            <a:lvl3pPr>
              <a:defRPr sz="1200" b="1">
                <a:solidFill>
                  <a:srgbClr val="ED193A"/>
                </a:solidFill>
              </a:defRPr>
            </a:lvl3pPr>
            <a:lvl4pPr>
              <a:defRPr sz="1200" b="1">
                <a:solidFill>
                  <a:srgbClr val="ED193A"/>
                </a:solidFill>
              </a:defRPr>
            </a:lvl4pPr>
            <a:lvl5pPr>
              <a:defRPr sz="1200" b="1">
                <a:solidFill>
                  <a:srgbClr val="ED193A"/>
                </a:solidFill>
              </a:defRPr>
            </a:lvl5pPr>
            <a:lvl6pPr>
              <a:defRPr sz="1200" b="1">
                <a:solidFill>
                  <a:srgbClr val="ED193A"/>
                </a:solidFill>
              </a:defRPr>
            </a:lvl6pPr>
            <a:lvl7pPr>
              <a:defRPr sz="1200" b="1">
                <a:solidFill>
                  <a:srgbClr val="ED193A"/>
                </a:solidFill>
              </a:defRPr>
            </a:lvl7pPr>
            <a:lvl8pPr>
              <a:defRPr sz="1200" b="1">
                <a:solidFill>
                  <a:srgbClr val="ED193A"/>
                </a:solidFill>
              </a:defRPr>
            </a:lvl8pPr>
            <a:lvl9pPr>
              <a:defRPr sz="1200" b="1">
                <a:solidFill>
                  <a:srgbClr val="ED193A"/>
                </a:solidFill>
              </a:defRPr>
            </a:lvl9pPr>
          </a:lstStyle>
          <a:p>
            <a:pPr>
              <a:defRPr sz="1200" b="1">
                <a:solidFill>
                  <a:srgbClr val="ED193A"/>
                </a:solidFill>
              </a:defRPr>
            </a:pPr>
            <a:r>
              <a:rPr sz="1200" b="1">
                <a:solidFill>
                  <a:srgbClr val="ED193A"/>
                </a:solidFill>
              </a:rPr>
              <a:t>MEASUREMENT AND BUSINESS VALUE</a:t>
            </a:r>
          </a:p>
        </p:txBody>
      </p:sp>
      <p:sp>
        <p:nvSpPr>
          <p:cNvPr id="2" name="Rectangle 1">
            <a:extLst>
              <a:ext uri="{FF2B5EF4-FFF2-40B4-BE49-F238E27FC236}">
                <a16:creationId xmlns:a16="http://schemas.microsoft.com/office/drawing/2014/main" id="{6915E53A-ABDD-4438-97A7-8E3FFAA1CD4D}"/>
              </a:ext>
            </a:extLst>
          </p:cNvPr>
          <p:cNvSpPr>
            <a:spLocks noGrp="1"/>
          </p:cNvSpPr>
          <p:nvPr/>
        </p:nvSpPr>
        <p:spPr>
          <a:xfrm>
            <a:off x="457200" y="733425"/>
            <a:ext cx="11277600" cy="857250"/>
          </a:xfrm>
          <a:prstGeom prst="rect">
            <a:avLst/>
          </a:prstGeom>
          <a:noFill/>
          <a:ln w="0">
            <a:noFill/>
          </a:ln>
        </p:spPr>
        <p:txBody>
          <a:bodyPr anchor="ctr"/>
          <a:lstStyle>
            <a:defPPr>
              <a:defRPr sz="3000" b="1">
                <a:solidFill>
                  <a:srgbClr val="10253F"/>
                </a:solidFill>
              </a:defRPr>
            </a:defPPr>
            <a:lvl1pPr>
              <a:defRPr sz="3000" b="1">
                <a:solidFill>
                  <a:srgbClr val="10253F"/>
                </a:solidFill>
              </a:defRPr>
            </a:lvl1pPr>
            <a:lvl2pPr>
              <a:defRPr sz="3000" b="1">
                <a:solidFill>
                  <a:srgbClr val="10253F"/>
                </a:solidFill>
              </a:defRPr>
            </a:lvl2pPr>
            <a:lvl3pPr>
              <a:defRPr sz="3000" b="1">
                <a:solidFill>
                  <a:srgbClr val="10253F"/>
                </a:solidFill>
              </a:defRPr>
            </a:lvl3pPr>
            <a:lvl4pPr>
              <a:defRPr sz="3000" b="1">
                <a:solidFill>
                  <a:srgbClr val="10253F"/>
                </a:solidFill>
              </a:defRPr>
            </a:lvl4pPr>
            <a:lvl5pPr>
              <a:defRPr sz="3000" b="1">
                <a:solidFill>
                  <a:srgbClr val="10253F"/>
                </a:solidFill>
              </a:defRPr>
            </a:lvl5pPr>
            <a:lvl6pPr>
              <a:defRPr sz="3000" b="1">
                <a:solidFill>
                  <a:srgbClr val="10253F"/>
                </a:solidFill>
              </a:defRPr>
            </a:lvl6pPr>
            <a:lvl7pPr>
              <a:defRPr sz="3000" b="1">
                <a:solidFill>
                  <a:srgbClr val="10253F"/>
                </a:solidFill>
              </a:defRPr>
            </a:lvl7pPr>
            <a:lvl8pPr>
              <a:defRPr sz="3000" b="1">
                <a:solidFill>
                  <a:srgbClr val="10253F"/>
                </a:solidFill>
              </a:defRPr>
            </a:lvl8pPr>
            <a:lvl9pPr>
              <a:defRPr sz="3000" b="1">
                <a:solidFill>
                  <a:srgbClr val="10253F"/>
                </a:solidFill>
              </a:defRPr>
            </a:lvl9pPr>
          </a:lstStyle>
          <a:p>
            <a:pPr>
              <a:defRPr sz="3000" b="1">
                <a:solidFill>
                  <a:srgbClr val="10253F"/>
                </a:solidFill>
              </a:defRPr>
            </a:pPr>
            <a:r>
              <a:rPr sz="3000" b="1">
                <a:solidFill>
                  <a:srgbClr val="10253F"/>
                </a:solidFill>
              </a:rPr>
              <a:t>Business reporting should follow the same journey</a:t>
            </a:r>
          </a:p>
        </p:txBody>
      </p:sp>
      <p:sp>
        <p:nvSpPr>
          <p:cNvPr id="3" name="Rectangle 2">
            <a:extLst>
              <a:ext uri="{FF2B5EF4-FFF2-40B4-BE49-F238E27FC236}">
                <a16:creationId xmlns:a16="http://schemas.microsoft.com/office/drawing/2014/main" id="{C434819E-A54A-44E9-A27D-AA5EF376E83A}"/>
              </a:ext>
            </a:extLst>
          </p:cNvPr>
          <p:cNvSpPr>
            <a:spLocks noGrp="1"/>
          </p:cNvSpPr>
          <p:nvPr/>
        </p:nvSpPr>
        <p:spPr>
          <a:xfrm>
            <a:off x="457200" y="6305550"/>
            <a:ext cx="11049000" cy="361950"/>
          </a:xfrm>
          <a:prstGeom prst="rect">
            <a:avLst/>
          </a:prstGeom>
          <a:noFill/>
          <a:ln w="0">
            <a:noFill/>
          </a:ln>
        </p:spPr>
        <p:txBody>
          <a:bodyPr anchor="ctr"/>
          <a:lstStyle>
            <a:defPPr>
              <a:defRPr sz="1050" b="0">
                <a:solidFill>
                  <a:srgbClr val="566B82"/>
                </a:solidFill>
              </a:defRPr>
            </a:defPPr>
            <a:lvl1pPr>
              <a:defRPr sz="1050" b="0">
                <a:solidFill>
                  <a:srgbClr val="566B82"/>
                </a:solidFill>
              </a:defRPr>
            </a:lvl1pPr>
            <a:lvl2pPr>
              <a:defRPr sz="1050" b="0">
                <a:solidFill>
                  <a:srgbClr val="566B82"/>
                </a:solidFill>
              </a:defRPr>
            </a:lvl2pPr>
            <a:lvl3pPr>
              <a:defRPr sz="1050" b="0">
                <a:solidFill>
                  <a:srgbClr val="566B82"/>
                </a:solidFill>
              </a:defRPr>
            </a:lvl3pPr>
            <a:lvl4pPr>
              <a:defRPr sz="1050" b="0">
                <a:solidFill>
                  <a:srgbClr val="566B82"/>
                </a:solidFill>
              </a:defRPr>
            </a:lvl4pPr>
            <a:lvl5pPr>
              <a:defRPr sz="1050" b="0">
                <a:solidFill>
                  <a:srgbClr val="566B82"/>
                </a:solidFill>
              </a:defRPr>
            </a:lvl5pPr>
            <a:lvl6pPr>
              <a:defRPr sz="1050" b="0">
                <a:solidFill>
                  <a:srgbClr val="566B82"/>
                </a:solidFill>
              </a:defRPr>
            </a:lvl6pPr>
            <a:lvl7pPr>
              <a:defRPr sz="1050" b="0">
                <a:solidFill>
                  <a:srgbClr val="566B82"/>
                </a:solidFill>
              </a:defRPr>
            </a:lvl7pPr>
            <a:lvl8pPr>
              <a:defRPr sz="1050" b="0">
                <a:solidFill>
                  <a:srgbClr val="566B82"/>
                </a:solidFill>
              </a:defRPr>
            </a:lvl8pPr>
            <a:lvl9pPr>
              <a:defRPr sz="1050" b="0">
                <a:solidFill>
                  <a:srgbClr val="566B82"/>
                </a:solidFill>
              </a:defRPr>
            </a:lvl9pPr>
          </a:lstStyle>
          <a:p>
            <a:pPr>
              <a:defRPr sz="1050" b="0">
                <a:solidFill>
                  <a:srgbClr val="566B82"/>
                </a:solidFill>
              </a:defRPr>
            </a:pPr>
            <a:r>
              <a:rPr sz="1050" b="0">
                <a:solidFill>
                  <a:srgbClr val="566B82"/>
                </a:solidFill>
              </a:rPr>
              <a:t>Sources: Bing AI Performance documentation; Google Search Console guidance; project scoring definition. Vendor metrics have different denominators.</a:t>
            </a:r>
          </a:p>
        </p:txBody>
      </p:sp>
      <p:sp>
        <p:nvSpPr>
          <p:cNvPr id="4" name="Rectangle 3">
            <a:extLst>
              <a:ext uri="{FF2B5EF4-FFF2-40B4-BE49-F238E27FC236}">
                <a16:creationId xmlns:a16="http://schemas.microsoft.com/office/drawing/2014/main" id="{9B34F1E1-01EA-4E50-A9F3-B107E8016476}"/>
              </a:ext>
            </a:extLst>
          </p:cNvPr>
          <p:cNvSpPr>
            <a:spLocks noGrp="1"/>
          </p:cNvSpPr>
          <p:nvPr/>
        </p:nvSpPr>
        <p:spPr>
          <a:xfrm>
            <a:off x="457200" y="1752600"/>
            <a:ext cx="3400425" cy="742950"/>
          </a:xfrm>
          <a:prstGeom prst="rect">
            <a:avLst/>
          </a:prstGeom>
          <a:noFill/>
          <a:ln w="0">
            <a:noFill/>
          </a:ln>
        </p:spPr>
        <p:txBody>
          <a:bodyPr anchor="ctr"/>
          <a:lstStyle>
            <a:defPPr>
              <a:defRPr sz="1875" b="1">
                <a:solidFill>
                  <a:srgbClr val="21354D"/>
                </a:solidFill>
              </a:defRPr>
            </a:defPPr>
            <a:lvl1pPr>
              <a:defRPr sz="1875" b="1">
                <a:solidFill>
                  <a:srgbClr val="21354D"/>
                </a:solidFill>
              </a:defRPr>
            </a:lvl1pPr>
            <a:lvl2pPr>
              <a:defRPr sz="1875" b="1">
                <a:solidFill>
                  <a:srgbClr val="21354D"/>
                </a:solidFill>
              </a:defRPr>
            </a:lvl2pPr>
            <a:lvl3pPr>
              <a:defRPr sz="1875" b="1">
                <a:solidFill>
                  <a:srgbClr val="21354D"/>
                </a:solidFill>
              </a:defRPr>
            </a:lvl3pPr>
            <a:lvl4pPr>
              <a:defRPr sz="1875" b="1">
                <a:solidFill>
                  <a:srgbClr val="21354D"/>
                </a:solidFill>
              </a:defRPr>
            </a:lvl4pPr>
            <a:lvl5pPr>
              <a:defRPr sz="1875" b="1">
                <a:solidFill>
                  <a:srgbClr val="21354D"/>
                </a:solidFill>
              </a:defRPr>
            </a:lvl5pPr>
            <a:lvl6pPr>
              <a:defRPr sz="1875" b="1">
                <a:solidFill>
                  <a:srgbClr val="21354D"/>
                </a:solidFill>
              </a:defRPr>
            </a:lvl6pPr>
            <a:lvl7pPr>
              <a:defRPr sz="1875" b="1">
                <a:solidFill>
                  <a:srgbClr val="21354D"/>
                </a:solidFill>
              </a:defRPr>
            </a:lvl7pPr>
            <a:lvl8pPr>
              <a:defRPr sz="1875" b="1">
                <a:solidFill>
                  <a:srgbClr val="21354D"/>
                </a:solidFill>
              </a:defRPr>
            </a:lvl8pPr>
            <a:lvl9pPr>
              <a:defRPr sz="1875" b="1">
                <a:solidFill>
                  <a:srgbClr val="21354D"/>
                </a:solidFill>
              </a:defRPr>
            </a:lvl9pPr>
          </a:lstStyle>
          <a:p>
            <a:pPr>
              <a:defRPr sz="1875" b="1">
                <a:solidFill>
                  <a:srgbClr val="21354D"/>
                </a:solidFill>
              </a:defRPr>
            </a:pPr>
            <a:r>
              <a:rPr sz="1875" b="1">
                <a:solidFill>
                  <a:srgbClr val="21354D"/>
                </a:solidFill>
              </a:rPr>
              <a:t>Can the information be reached?</a:t>
            </a:r>
          </a:p>
        </p:txBody>
      </p:sp>
      <p:sp>
        <p:nvSpPr>
          <p:cNvPr id="5" name="Rectangle 4">
            <a:extLst>
              <a:ext uri="{FF2B5EF4-FFF2-40B4-BE49-F238E27FC236}">
                <a16:creationId xmlns:a16="http://schemas.microsoft.com/office/drawing/2014/main" id="{EAAEEC2A-4F0D-4B76-AF5D-9A26A3E931D8}"/>
              </a:ext>
            </a:extLst>
          </p:cNvPr>
          <p:cNvSpPr>
            <a:spLocks noGrp="1"/>
          </p:cNvSpPr>
          <p:nvPr/>
        </p:nvSpPr>
        <p:spPr>
          <a:xfrm>
            <a:off x="4105275" y="1752600"/>
            <a:ext cx="5524500" cy="742950"/>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Verified bot access, index coverage and extracted page facts.</a:t>
            </a:r>
          </a:p>
        </p:txBody>
      </p:sp>
      <p:sp>
        <p:nvSpPr>
          <p:cNvPr id="6" name="Rectangle 5">
            <a:extLst>
              <a:ext uri="{FF2B5EF4-FFF2-40B4-BE49-F238E27FC236}">
                <a16:creationId xmlns:a16="http://schemas.microsoft.com/office/drawing/2014/main" id="{3A6F52A6-3155-4823-AB76-956774E7D311}"/>
              </a:ext>
            </a:extLst>
          </p:cNvPr>
          <p:cNvSpPr>
            <a:spLocks noGrp="1"/>
          </p:cNvSpPr>
          <p:nvPr/>
        </p:nvSpPr>
        <p:spPr>
          <a:xfrm>
            <a:off x="9963150" y="1752600"/>
            <a:ext cx="1752600" cy="742950"/>
          </a:xfrm>
          <a:prstGeom prst="rect">
            <a:avLst/>
          </a:prstGeom>
          <a:noFill/>
          <a:ln w="0">
            <a:noFill/>
          </a:ln>
        </p:spPr>
        <p:txBody>
          <a:bodyPr anchor="ctr"/>
          <a:lstStyle>
            <a:defPPr>
              <a:defRPr sz="1500" b="0">
                <a:solidFill>
                  <a:srgbClr val="566B82"/>
                </a:solidFill>
              </a:defRPr>
            </a:defPPr>
            <a:lvl1pPr>
              <a:defRPr sz="1500" b="0">
                <a:solidFill>
                  <a:srgbClr val="566B82"/>
                </a:solidFill>
              </a:defRPr>
            </a:lvl1pPr>
            <a:lvl2pPr>
              <a:defRPr sz="1500" b="0">
                <a:solidFill>
                  <a:srgbClr val="566B82"/>
                </a:solidFill>
              </a:defRPr>
            </a:lvl2pPr>
            <a:lvl3pPr>
              <a:defRPr sz="1500" b="0">
                <a:solidFill>
                  <a:srgbClr val="566B82"/>
                </a:solidFill>
              </a:defRPr>
            </a:lvl3pPr>
            <a:lvl4pPr>
              <a:defRPr sz="1500" b="0">
                <a:solidFill>
                  <a:srgbClr val="566B82"/>
                </a:solidFill>
              </a:defRPr>
            </a:lvl4pPr>
            <a:lvl5pPr>
              <a:defRPr sz="1500" b="0">
                <a:solidFill>
                  <a:srgbClr val="566B82"/>
                </a:solidFill>
              </a:defRPr>
            </a:lvl5pPr>
            <a:lvl6pPr>
              <a:defRPr sz="1500" b="0">
                <a:solidFill>
                  <a:srgbClr val="566B82"/>
                </a:solidFill>
              </a:defRPr>
            </a:lvl6pPr>
            <a:lvl7pPr>
              <a:defRPr sz="1500" b="0">
                <a:solidFill>
                  <a:srgbClr val="566B82"/>
                </a:solidFill>
              </a:defRPr>
            </a:lvl7pPr>
            <a:lvl8pPr>
              <a:defRPr sz="1500" b="0">
                <a:solidFill>
                  <a:srgbClr val="566B82"/>
                </a:solidFill>
              </a:defRPr>
            </a:lvl8pPr>
            <a:lvl9pPr>
              <a:defRPr sz="1500" b="0">
                <a:solidFill>
                  <a:srgbClr val="566B82"/>
                </a:solidFill>
              </a:defRPr>
            </a:lvl9pPr>
          </a:lstStyle>
          <a:p>
            <a:pPr>
              <a:defRPr sz="1500" b="0">
                <a:solidFill>
                  <a:srgbClr val="566B82"/>
                </a:solidFill>
              </a:defRPr>
            </a:pPr>
            <a:r>
              <a:rPr sz="1500" b="0">
                <a:solidFill>
                  <a:srgbClr val="566B82"/>
                </a:solidFill>
              </a:rPr>
              <a:t>Engineering + SEO</a:t>
            </a:r>
          </a:p>
        </p:txBody>
      </p:sp>
      <p:sp>
        <p:nvSpPr>
          <p:cNvPr id="7" name="Rectangle 6">
            <a:extLst>
              <a:ext uri="{FF2B5EF4-FFF2-40B4-BE49-F238E27FC236}">
                <a16:creationId xmlns:a16="http://schemas.microsoft.com/office/drawing/2014/main" id="{C7BA900D-BA4E-4A62-B754-1E4F77A78377}"/>
              </a:ext>
            </a:extLst>
          </p:cNvPr>
          <p:cNvSpPr>
            <a:spLocks noGrp="1"/>
          </p:cNvSpPr>
          <p:nvPr/>
        </p:nvSpPr>
        <p:spPr>
          <a:xfrm>
            <a:off x="457200" y="2733675"/>
            <a:ext cx="3400425" cy="742950"/>
          </a:xfrm>
          <a:prstGeom prst="rect">
            <a:avLst/>
          </a:prstGeom>
          <a:noFill/>
          <a:ln w="0">
            <a:noFill/>
          </a:ln>
        </p:spPr>
        <p:txBody>
          <a:bodyPr anchor="ctr"/>
          <a:lstStyle>
            <a:defPPr>
              <a:defRPr sz="1875" b="1">
                <a:solidFill>
                  <a:srgbClr val="21354D"/>
                </a:solidFill>
              </a:defRPr>
            </a:defPPr>
            <a:lvl1pPr>
              <a:defRPr sz="1875" b="1">
                <a:solidFill>
                  <a:srgbClr val="21354D"/>
                </a:solidFill>
              </a:defRPr>
            </a:lvl1pPr>
            <a:lvl2pPr>
              <a:defRPr sz="1875" b="1">
                <a:solidFill>
                  <a:srgbClr val="21354D"/>
                </a:solidFill>
              </a:defRPr>
            </a:lvl2pPr>
            <a:lvl3pPr>
              <a:defRPr sz="1875" b="1">
                <a:solidFill>
                  <a:srgbClr val="21354D"/>
                </a:solidFill>
              </a:defRPr>
            </a:lvl3pPr>
            <a:lvl4pPr>
              <a:defRPr sz="1875" b="1">
                <a:solidFill>
                  <a:srgbClr val="21354D"/>
                </a:solidFill>
              </a:defRPr>
            </a:lvl4pPr>
            <a:lvl5pPr>
              <a:defRPr sz="1875" b="1">
                <a:solidFill>
                  <a:srgbClr val="21354D"/>
                </a:solidFill>
              </a:defRPr>
            </a:lvl5pPr>
            <a:lvl6pPr>
              <a:defRPr sz="1875" b="1">
                <a:solidFill>
                  <a:srgbClr val="21354D"/>
                </a:solidFill>
              </a:defRPr>
            </a:lvl6pPr>
            <a:lvl7pPr>
              <a:defRPr sz="1875" b="1">
                <a:solidFill>
                  <a:srgbClr val="21354D"/>
                </a:solidFill>
              </a:defRPr>
            </a:lvl7pPr>
            <a:lvl8pPr>
              <a:defRPr sz="1875" b="1">
                <a:solidFill>
                  <a:srgbClr val="21354D"/>
                </a:solidFill>
              </a:defRPr>
            </a:lvl8pPr>
            <a:lvl9pPr>
              <a:defRPr sz="1875" b="1">
                <a:solidFill>
                  <a:srgbClr val="21354D"/>
                </a:solidFill>
              </a:defRPr>
            </a:lvl9pPr>
          </a:lstStyle>
          <a:p>
            <a:pPr>
              <a:defRPr sz="1875" b="1">
                <a:solidFill>
                  <a:srgbClr val="21354D"/>
                </a:solidFill>
              </a:defRPr>
            </a:pPr>
            <a:r>
              <a:rPr sz="1875" b="1">
                <a:solidFill>
                  <a:srgbClr val="21354D"/>
                </a:solidFill>
              </a:rPr>
              <a:t>Does it appear in answers?</a:t>
            </a:r>
          </a:p>
        </p:txBody>
      </p:sp>
      <p:sp>
        <p:nvSpPr>
          <p:cNvPr id="8" name="Rectangle 7">
            <a:extLst>
              <a:ext uri="{FF2B5EF4-FFF2-40B4-BE49-F238E27FC236}">
                <a16:creationId xmlns:a16="http://schemas.microsoft.com/office/drawing/2014/main" id="{0FE83C0F-B963-4BDB-ACDE-C735206A463D}"/>
              </a:ext>
            </a:extLst>
          </p:cNvPr>
          <p:cNvSpPr>
            <a:spLocks noGrp="1"/>
          </p:cNvSpPr>
          <p:nvPr/>
        </p:nvSpPr>
        <p:spPr>
          <a:xfrm>
            <a:off x="4105275" y="2733675"/>
            <a:ext cx="5524500" cy="742950"/>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Save dated answers. Count citations and explicit FC recommendations separately.</a:t>
            </a:r>
          </a:p>
        </p:txBody>
      </p:sp>
      <p:sp>
        <p:nvSpPr>
          <p:cNvPr id="9" name="Rectangle 8">
            <a:extLst>
              <a:ext uri="{FF2B5EF4-FFF2-40B4-BE49-F238E27FC236}">
                <a16:creationId xmlns:a16="http://schemas.microsoft.com/office/drawing/2014/main" id="{C9EDC8C6-B4CB-4CD8-AF46-415A1EFB99AC}"/>
              </a:ext>
            </a:extLst>
          </p:cNvPr>
          <p:cNvSpPr>
            <a:spLocks noGrp="1"/>
          </p:cNvSpPr>
          <p:nvPr/>
        </p:nvSpPr>
        <p:spPr>
          <a:xfrm>
            <a:off x="9963150" y="2733675"/>
            <a:ext cx="1752600" cy="742950"/>
          </a:xfrm>
          <a:prstGeom prst="rect">
            <a:avLst/>
          </a:prstGeom>
          <a:noFill/>
          <a:ln w="0">
            <a:noFill/>
          </a:ln>
        </p:spPr>
        <p:txBody>
          <a:bodyPr anchor="ctr"/>
          <a:lstStyle>
            <a:defPPr>
              <a:defRPr sz="1500" b="0">
                <a:solidFill>
                  <a:srgbClr val="566B82"/>
                </a:solidFill>
              </a:defRPr>
            </a:defPPr>
            <a:lvl1pPr>
              <a:defRPr sz="1500" b="0">
                <a:solidFill>
                  <a:srgbClr val="566B82"/>
                </a:solidFill>
              </a:defRPr>
            </a:lvl1pPr>
            <a:lvl2pPr>
              <a:defRPr sz="1500" b="0">
                <a:solidFill>
                  <a:srgbClr val="566B82"/>
                </a:solidFill>
              </a:defRPr>
            </a:lvl2pPr>
            <a:lvl3pPr>
              <a:defRPr sz="1500" b="0">
                <a:solidFill>
                  <a:srgbClr val="566B82"/>
                </a:solidFill>
              </a:defRPr>
            </a:lvl3pPr>
            <a:lvl4pPr>
              <a:defRPr sz="1500" b="0">
                <a:solidFill>
                  <a:srgbClr val="566B82"/>
                </a:solidFill>
              </a:defRPr>
            </a:lvl4pPr>
            <a:lvl5pPr>
              <a:defRPr sz="1500" b="0">
                <a:solidFill>
                  <a:srgbClr val="566B82"/>
                </a:solidFill>
              </a:defRPr>
            </a:lvl5pPr>
            <a:lvl6pPr>
              <a:defRPr sz="1500" b="0">
                <a:solidFill>
                  <a:srgbClr val="566B82"/>
                </a:solidFill>
              </a:defRPr>
            </a:lvl6pPr>
            <a:lvl7pPr>
              <a:defRPr sz="1500" b="0">
                <a:solidFill>
                  <a:srgbClr val="566B82"/>
                </a:solidFill>
              </a:defRPr>
            </a:lvl7pPr>
            <a:lvl8pPr>
              <a:defRPr sz="1500" b="0">
                <a:solidFill>
                  <a:srgbClr val="566B82"/>
                </a:solidFill>
              </a:defRPr>
            </a:lvl8pPr>
            <a:lvl9pPr>
              <a:defRPr sz="1500" b="0">
                <a:solidFill>
                  <a:srgbClr val="566B82"/>
                </a:solidFill>
              </a:defRPr>
            </a:lvl9pPr>
          </a:lstStyle>
          <a:p>
            <a:pPr>
              <a:defRPr sz="1500" b="0">
                <a:solidFill>
                  <a:srgbClr val="566B82"/>
                </a:solidFill>
              </a:defRPr>
            </a:pPr>
            <a:r>
              <a:rPr sz="1500" b="0">
                <a:solidFill>
                  <a:srgbClr val="566B82"/>
                </a:solidFill>
              </a:rPr>
              <a:t>Marketing analytics</a:t>
            </a:r>
          </a:p>
        </p:txBody>
      </p:sp>
      <p:sp>
        <p:nvSpPr>
          <p:cNvPr id="10" name="Rectangle 9">
            <a:extLst>
              <a:ext uri="{FF2B5EF4-FFF2-40B4-BE49-F238E27FC236}">
                <a16:creationId xmlns:a16="http://schemas.microsoft.com/office/drawing/2014/main" id="{74C4099A-28F9-4255-ABE0-3E2B1D86C62D}"/>
              </a:ext>
            </a:extLst>
          </p:cNvPr>
          <p:cNvSpPr>
            <a:spLocks noGrp="1"/>
          </p:cNvSpPr>
          <p:nvPr/>
        </p:nvSpPr>
        <p:spPr>
          <a:xfrm>
            <a:off x="457200" y="3714750"/>
            <a:ext cx="3400425" cy="742950"/>
          </a:xfrm>
          <a:prstGeom prst="rect">
            <a:avLst/>
          </a:prstGeom>
          <a:noFill/>
          <a:ln w="0">
            <a:noFill/>
          </a:ln>
        </p:spPr>
        <p:txBody>
          <a:bodyPr anchor="ctr"/>
          <a:lstStyle>
            <a:defPPr>
              <a:defRPr sz="1875" b="1">
                <a:solidFill>
                  <a:srgbClr val="21354D"/>
                </a:solidFill>
              </a:defRPr>
            </a:defPPr>
            <a:lvl1pPr>
              <a:defRPr sz="1875" b="1">
                <a:solidFill>
                  <a:srgbClr val="21354D"/>
                </a:solidFill>
              </a:defRPr>
            </a:lvl1pPr>
            <a:lvl2pPr>
              <a:defRPr sz="1875" b="1">
                <a:solidFill>
                  <a:srgbClr val="21354D"/>
                </a:solidFill>
              </a:defRPr>
            </a:lvl2pPr>
            <a:lvl3pPr>
              <a:defRPr sz="1875" b="1">
                <a:solidFill>
                  <a:srgbClr val="21354D"/>
                </a:solidFill>
              </a:defRPr>
            </a:lvl3pPr>
            <a:lvl4pPr>
              <a:defRPr sz="1875" b="1">
                <a:solidFill>
                  <a:srgbClr val="21354D"/>
                </a:solidFill>
              </a:defRPr>
            </a:lvl4pPr>
            <a:lvl5pPr>
              <a:defRPr sz="1875" b="1">
                <a:solidFill>
                  <a:srgbClr val="21354D"/>
                </a:solidFill>
              </a:defRPr>
            </a:lvl5pPr>
            <a:lvl6pPr>
              <a:defRPr sz="1875" b="1">
                <a:solidFill>
                  <a:srgbClr val="21354D"/>
                </a:solidFill>
              </a:defRPr>
            </a:lvl6pPr>
            <a:lvl7pPr>
              <a:defRPr sz="1875" b="1">
                <a:solidFill>
                  <a:srgbClr val="21354D"/>
                </a:solidFill>
              </a:defRPr>
            </a:lvl7pPr>
            <a:lvl8pPr>
              <a:defRPr sz="1875" b="1">
                <a:solidFill>
                  <a:srgbClr val="21354D"/>
                </a:solidFill>
              </a:defRPr>
            </a:lvl8pPr>
            <a:lvl9pPr>
              <a:defRPr sz="1875" b="1">
                <a:solidFill>
                  <a:srgbClr val="21354D"/>
                </a:solidFill>
              </a:defRPr>
            </a:lvl9pPr>
          </a:lstStyle>
          <a:p>
            <a:pPr>
              <a:defRPr sz="1875" b="1">
                <a:solidFill>
                  <a:srgbClr val="21354D"/>
                </a:solidFill>
              </a:defRPr>
            </a:pPr>
            <a:r>
              <a:rPr sz="1875" b="1">
                <a:solidFill>
                  <a:srgbClr val="21354D"/>
                </a:solidFill>
              </a:rPr>
              <a:t>Does the evidence support the answer?</a:t>
            </a:r>
          </a:p>
        </p:txBody>
      </p:sp>
      <p:sp>
        <p:nvSpPr>
          <p:cNvPr id="11" name="Rectangle 10">
            <a:extLst>
              <a:ext uri="{FF2B5EF4-FFF2-40B4-BE49-F238E27FC236}">
                <a16:creationId xmlns:a16="http://schemas.microsoft.com/office/drawing/2014/main" id="{A23A258F-E88B-49C4-81A1-526234B425ED}"/>
              </a:ext>
            </a:extLst>
          </p:cNvPr>
          <p:cNvSpPr>
            <a:spLocks noGrp="1"/>
          </p:cNvSpPr>
          <p:nvPr/>
        </p:nvSpPr>
        <p:spPr>
          <a:xfrm>
            <a:off x="4105275" y="3714750"/>
            <a:ext cx="5524500" cy="742950"/>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Review the cited sentence, price conditions and source freshness.</a:t>
            </a:r>
          </a:p>
        </p:txBody>
      </p:sp>
      <p:sp>
        <p:nvSpPr>
          <p:cNvPr id="12" name="Rectangle 11">
            <a:extLst>
              <a:ext uri="{FF2B5EF4-FFF2-40B4-BE49-F238E27FC236}">
                <a16:creationId xmlns:a16="http://schemas.microsoft.com/office/drawing/2014/main" id="{4E692D41-A848-40FC-8EB6-99441202C41D}"/>
              </a:ext>
            </a:extLst>
          </p:cNvPr>
          <p:cNvSpPr>
            <a:spLocks noGrp="1"/>
          </p:cNvSpPr>
          <p:nvPr/>
        </p:nvSpPr>
        <p:spPr>
          <a:xfrm>
            <a:off x="9963150" y="3714750"/>
            <a:ext cx="1752600" cy="742950"/>
          </a:xfrm>
          <a:prstGeom prst="rect">
            <a:avLst/>
          </a:prstGeom>
          <a:noFill/>
          <a:ln w="0">
            <a:noFill/>
          </a:ln>
        </p:spPr>
        <p:txBody>
          <a:bodyPr anchor="ctr"/>
          <a:lstStyle>
            <a:defPPr>
              <a:defRPr sz="1500" b="0">
                <a:solidFill>
                  <a:srgbClr val="566B82"/>
                </a:solidFill>
              </a:defRPr>
            </a:defPPr>
            <a:lvl1pPr>
              <a:defRPr sz="1500" b="0">
                <a:solidFill>
                  <a:srgbClr val="566B82"/>
                </a:solidFill>
              </a:defRPr>
            </a:lvl1pPr>
            <a:lvl2pPr>
              <a:defRPr sz="1500" b="0">
                <a:solidFill>
                  <a:srgbClr val="566B82"/>
                </a:solidFill>
              </a:defRPr>
            </a:lvl2pPr>
            <a:lvl3pPr>
              <a:defRPr sz="1500" b="0">
                <a:solidFill>
                  <a:srgbClr val="566B82"/>
                </a:solidFill>
              </a:defRPr>
            </a:lvl3pPr>
            <a:lvl4pPr>
              <a:defRPr sz="1500" b="0">
                <a:solidFill>
                  <a:srgbClr val="566B82"/>
                </a:solidFill>
              </a:defRPr>
            </a:lvl4pPr>
            <a:lvl5pPr>
              <a:defRPr sz="1500" b="0">
                <a:solidFill>
                  <a:srgbClr val="566B82"/>
                </a:solidFill>
              </a:defRPr>
            </a:lvl5pPr>
            <a:lvl6pPr>
              <a:defRPr sz="1500" b="0">
                <a:solidFill>
                  <a:srgbClr val="566B82"/>
                </a:solidFill>
              </a:defRPr>
            </a:lvl6pPr>
            <a:lvl7pPr>
              <a:defRPr sz="1500" b="0">
                <a:solidFill>
                  <a:srgbClr val="566B82"/>
                </a:solidFill>
              </a:defRPr>
            </a:lvl7pPr>
            <a:lvl8pPr>
              <a:defRPr sz="1500" b="0">
                <a:solidFill>
                  <a:srgbClr val="566B82"/>
                </a:solidFill>
              </a:defRPr>
            </a:lvl8pPr>
            <a:lvl9pPr>
              <a:defRPr sz="1500" b="0">
                <a:solidFill>
                  <a:srgbClr val="566B82"/>
                </a:solidFill>
              </a:defRPr>
            </a:lvl9pPr>
          </a:lstStyle>
          <a:p>
            <a:pPr>
              <a:defRPr sz="1500" b="0">
                <a:solidFill>
                  <a:srgbClr val="566B82"/>
                </a:solidFill>
              </a:defRPr>
            </a:pPr>
            <a:r>
              <a:rPr sz="1500" b="0">
                <a:solidFill>
                  <a:srgbClr val="566B82"/>
                </a:solidFill>
              </a:rPr>
              <a:t>Content + commercial</a:t>
            </a:r>
          </a:p>
        </p:txBody>
      </p:sp>
      <p:sp>
        <p:nvSpPr>
          <p:cNvPr id="13" name="Rectangle 12">
            <a:extLst>
              <a:ext uri="{FF2B5EF4-FFF2-40B4-BE49-F238E27FC236}">
                <a16:creationId xmlns:a16="http://schemas.microsoft.com/office/drawing/2014/main" id="{D0B16DA6-1431-4B28-B0B7-9BD568E9BA9E}"/>
              </a:ext>
            </a:extLst>
          </p:cNvPr>
          <p:cNvSpPr>
            <a:spLocks noGrp="1"/>
          </p:cNvSpPr>
          <p:nvPr/>
        </p:nvSpPr>
        <p:spPr>
          <a:xfrm>
            <a:off x="457200" y="4695825"/>
            <a:ext cx="3400425" cy="742950"/>
          </a:xfrm>
          <a:prstGeom prst="rect">
            <a:avLst/>
          </a:prstGeom>
          <a:noFill/>
          <a:ln w="0">
            <a:noFill/>
          </a:ln>
        </p:spPr>
        <p:txBody>
          <a:bodyPr anchor="ctr"/>
          <a:lstStyle>
            <a:defPPr>
              <a:defRPr sz="1875" b="1">
                <a:solidFill>
                  <a:srgbClr val="21354D"/>
                </a:solidFill>
              </a:defRPr>
            </a:defPPr>
            <a:lvl1pPr>
              <a:defRPr sz="1875" b="1">
                <a:solidFill>
                  <a:srgbClr val="21354D"/>
                </a:solidFill>
              </a:defRPr>
            </a:lvl1pPr>
            <a:lvl2pPr>
              <a:defRPr sz="1875" b="1">
                <a:solidFill>
                  <a:srgbClr val="21354D"/>
                </a:solidFill>
              </a:defRPr>
            </a:lvl2pPr>
            <a:lvl3pPr>
              <a:defRPr sz="1875" b="1">
                <a:solidFill>
                  <a:srgbClr val="21354D"/>
                </a:solidFill>
              </a:defRPr>
            </a:lvl3pPr>
            <a:lvl4pPr>
              <a:defRPr sz="1875" b="1">
                <a:solidFill>
                  <a:srgbClr val="21354D"/>
                </a:solidFill>
              </a:defRPr>
            </a:lvl4pPr>
            <a:lvl5pPr>
              <a:defRPr sz="1875" b="1">
                <a:solidFill>
                  <a:srgbClr val="21354D"/>
                </a:solidFill>
              </a:defRPr>
            </a:lvl5pPr>
            <a:lvl6pPr>
              <a:defRPr sz="1875" b="1">
                <a:solidFill>
                  <a:srgbClr val="21354D"/>
                </a:solidFill>
              </a:defRPr>
            </a:lvl6pPr>
            <a:lvl7pPr>
              <a:defRPr sz="1875" b="1">
                <a:solidFill>
                  <a:srgbClr val="21354D"/>
                </a:solidFill>
              </a:defRPr>
            </a:lvl7pPr>
            <a:lvl8pPr>
              <a:defRPr sz="1875" b="1">
                <a:solidFill>
                  <a:srgbClr val="21354D"/>
                </a:solidFill>
              </a:defRPr>
            </a:lvl8pPr>
            <a:lvl9pPr>
              <a:defRPr sz="1875" b="1">
                <a:solidFill>
                  <a:srgbClr val="21354D"/>
                </a:solidFill>
              </a:defRPr>
            </a:lvl9pPr>
          </a:lstStyle>
          <a:p>
            <a:pPr>
              <a:defRPr sz="1875" b="1">
                <a:solidFill>
                  <a:srgbClr val="21354D"/>
                </a:solidFill>
              </a:defRPr>
            </a:pPr>
            <a:r>
              <a:rPr sz="1875" b="1">
                <a:solidFill>
                  <a:srgbClr val="21354D"/>
                </a:solidFill>
              </a:rPr>
              <a:t>Does it create customer value?</a:t>
            </a:r>
          </a:p>
        </p:txBody>
      </p:sp>
      <p:sp>
        <p:nvSpPr>
          <p:cNvPr id="14" name="Rectangle 13">
            <a:extLst>
              <a:ext uri="{FF2B5EF4-FFF2-40B4-BE49-F238E27FC236}">
                <a16:creationId xmlns:a16="http://schemas.microsoft.com/office/drawing/2014/main" id="{7F8CA0DD-1DB0-4108-BAB0-C1FF28A1E898}"/>
              </a:ext>
            </a:extLst>
          </p:cNvPr>
          <p:cNvSpPr>
            <a:spLocks noGrp="1"/>
          </p:cNvSpPr>
          <p:nvPr/>
        </p:nvSpPr>
        <p:spPr>
          <a:xfrm>
            <a:off x="4105275" y="4695825"/>
            <a:ext cx="5524500" cy="742950"/>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Track referred visits, enquiries, quotes and bookings where attribution is available.</a:t>
            </a:r>
          </a:p>
        </p:txBody>
      </p:sp>
      <p:sp>
        <p:nvSpPr>
          <p:cNvPr id="15" name="Rectangle 14">
            <a:extLst>
              <a:ext uri="{FF2B5EF4-FFF2-40B4-BE49-F238E27FC236}">
                <a16:creationId xmlns:a16="http://schemas.microsoft.com/office/drawing/2014/main" id="{C25249C5-7846-40FF-981F-2117E41A70B0}"/>
              </a:ext>
            </a:extLst>
          </p:cNvPr>
          <p:cNvSpPr>
            <a:spLocks noGrp="1"/>
          </p:cNvSpPr>
          <p:nvPr/>
        </p:nvSpPr>
        <p:spPr>
          <a:xfrm>
            <a:off x="9963150" y="4695825"/>
            <a:ext cx="1752600" cy="742950"/>
          </a:xfrm>
          <a:prstGeom prst="rect">
            <a:avLst/>
          </a:prstGeom>
          <a:noFill/>
          <a:ln w="0">
            <a:noFill/>
          </a:ln>
        </p:spPr>
        <p:txBody>
          <a:bodyPr anchor="ctr"/>
          <a:lstStyle>
            <a:defPPr>
              <a:defRPr sz="1500" b="0">
                <a:solidFill>
                  <a:srgbClr val="566B82"/>
                </a:solidFill>
              </a:defRPr>
            </a:defPPr>
            <a:lvl1pPr>
              <a:defRPr sz="1500" b="0">
                <a:solidFill>
                  <a:srgbClr val="566B82"/>
                </a:solidFill>
              </a:defRPr>
            </a:lvl1pPr>
            <a:lvl2pPr>
              <a:defRPr sz="1500" b="0">
                <a:solidFill>
                  <a:srgbClr val="566B82"/>
                </a:solidFill>
              </a:defRPr>
            </a:lvl2pPr>
            <a:lvl3pPr>
              <a:defRPr sz="1500" b="0">
                <a:solidFill>
                  <a:srgbClr val="566B82"/>
                </a:solidFill>
              </a:defRPr>
            </a:lvl3pPr>
            <a:lvl4pPr>
              <a:defRPr sz="1500" b="0">
                <a:solidFill>
                  <a:srgbClr val="566B82"/>
                </a:solidFill>
              </a:defRPr>
            </a:lvl4pPr>
            <a:lvl5pPr>
              <a:defRPr sz="1500" b="0">
                <a:solidFill>
                  <a:srgbClr val="566B82"/>
                </a:solidFill>
              </a:defRPr>
            </a:lvl5pPr>
            <a:lvl6pPr>
              <a:defRPr sz="1500" b="0">
                <a:solidFill>
                  <a:srgbClr val="566B82"/>
                </a:solidFill>
              </a:defRPr>
            </a:lvl6pPr>
            <a:lvl7pPr>
              <a:defRPr sz="1500" b="0">
                <a:solidFill>
                  <a:srgbClr val="566B82"/>
                </a:solidFill>
              </a:defRPr>
            </a:lvl7pPr>
            <a:lvl8pPr>
              <a:defRPr sz="1500" b="0">
                <a:solidFill>
                  <a:srgbClr val="566B82"/>
                </a:solidFill>
              </a:defRPr>
            </a:lvl8pPr>
            <a:lvl9pPr>
              <a:defRPr sz="1500" b="0">
                <a:solidFill>
                  <a:srgbClr val="566B82"/>
                </a:solidFill>
              </a:defRPr>
            </a:lvl9pPr>
          </a:lstStyle>
          <a:p>
            <a:pPr>
              <a:defRPr sz="1500" b="0">
                <a:solidFill>
                  <a:srgbClr val="566B82"/>
                </a:solidFill>
              </a:defRPr>
            </a:pPr>
            <a:r>
              <a:rPr sz="1500" b="0">
                <a:solidFill>
                  <a:srgbClr val="566B82"/>
                </a:solidFill>
              </a:rPr>
              <a:t>Digital commerce</a:t>
            </a:r>
          </a:p>
        </p:txBody>
      </p:sp>
      <p:sp>
        <p:nvSpPr>
          <p:cNvPr id="16" name="Rectangle 15">
            <a:extLst>
              <a:ext uri="{FF2B5EF4-FFF2-40B4-BE49-F238E27FC236}">
                <a16:creationId xmlns:a16="http://schemas.microsoft.com/office/drawing/2014/main" id="{BB4E16B0-E806-43B6-B705-DD9030B0011E}"/>
              </a:ext>
            </a:extLst>
          </p:cNvPr>
          <p:cNvSpPr>
            <a:spLocks noGrp="1"/>
          </p:cNvSpPr>
          <p:nvPr/>
        </p:nvSpPr>
        <p:spPr>
          <a:xfrm>
            <a:off x="457200" y="5762625"/>
            <a:ext cx="11239500" cy="504825"/>
          </a:xfrm>
          <a:prstGeom prst="rect">
            <a:avLst/>
          </a:prstGeom>
          <a:noFill/>
          <a:ln w="0">
            <a:noFill/>
          </a:ln>
        </p:spPr>
        <p:txBody>
          <a:bodyPr anchor="ctr"/>
          <a:lstStyle>
            <a:defPPr>
              <a:defRPr sz="1875" b="1">
                <a:solidFill>
                  <a:srgbClr val="ED193A"/>
                </a:solidFill>
              </a:defRPr>
            </a:defPPr>
            <a:lvl1pPr>
              <a:defRPr sz="1875" b="1">
                <a:solidFill>
                  <a:srgbClr val="ED193A"/>
                </a:solidFill>
              </a:defRPr>
            </a:lvl1pPr>
            <a:lvl2pPr>
              <a:defRPr sz="1875" b="1">
                <a:solidFill>
                  <a:srgbClr val="ED193A"/>
                </a:solidFill>
              </a:defRPr>
            </a:lvl2pPr>
            <a:lvl3pPr>
              <a:defRPr sz="1875" b="1">
                <a:solidFill>
                  <a:srgbClr val="ED193A"/>
                </a:solidFill>
              </a:defRPr>
            </a:lvl3pPr>
            <a:lvl4pPr>
              <a:defRPr sz="1875" b="1">
                <a:solidFill>
                  <a:srgbClr val="ED193A"/>
                </a:solidFill>
              </a:defRPr>
            </a:lvl4pPr>
            <a:lvl5pPr>
              <a:defRPr sz="1875" b="1">
                <a:solidFill>
                  <a:srgbClr val="ED193A"/>
                </a:solidFill>
              </a:defRPr>
            </a:lvl5pPr>
            <a:lvl6pPr>
              <a:defRPr sz="1875" b="1">
                <a:solidFill>
                  <a:srgbClr val="ED193A"/>
                </a:solidFill>
              </a:defRPr>
            </a:lvl6pPr>
            <a:lvl7pPr>
              <a:defRPr sz="1875" b="1">
                <a:solidFill>
                  <a:srgbClr val="ED193A"/>
                </a:solidFill>
              </a:defRPr>
            </a:lvl7pPr>
            <a:lvl8pPr>
              <a:defRPr sz="1875" b="1">
                <a:solidFill>
                  <a:srgbClr val="ED193A"/>
                </a:solidFill>
              </a:defRPr>
            </a:lvl8pPr>
            <a:lvl9pPr>
              <a:defRPr sz="1875" b="1">
                <a:solidFill>
                  <a:srgbClr val="ED193A"/>
                </a:solidFill>
              </a:defRPr>
            </a:lvl9pPr>
          </a:lstStyle>
          <a:p>
            <a:pPr>
              <a:defRPr sz="1875" b="1">
                <a:solidFill>
                  <a:srgbClr val="ED193A"/>
                </a:solidFill>
              </a:defRPr>
            </a:pPr>
            <a:r>
              <a:rPr sz="1675" b="1">
                <a:solidFill>
                  <a:srgbClr val="ED193A"/>
                </a:solidFill>
              </a:rPr>
              <a:t>Our 52.4% measures answer-level citation inclusion in the experiment. It is not a live dashboard target or a revenue forecast.</a:t>
            </a:r>
          </a:p>
        </p:txBody>
      </p:sp>
    </p:spTree>
    <p:extLst>
      <p:ext uri="{BB962C8B-B14F-4D97-AF65-F5344CB8AC3E}">
        <p14:creationId xmlns:p14="http://schemas.microsoft.com/office/powerpoint/2010/main" val="5457798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FC can act through its existing publishing process</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548640" y="1600200"/>
            <a:ext cx="3611880" cy="452628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1691640"/>
            <a:ext cx="3291840" cy="320040"/>
          </a:xfrm>
          <a:prstGeom prst="rect">
            <a:avLst/>
          </a:prstGeom>
          <a:noFill/>
        </p:spPr>
        <p:txBody>
          <a:bodyPr wrap="square" lIns="45720" rIns="45720" anchor="t">
            <a:spAutoFit/>
          </a:bodyPr>
          <a:lstStyle/>
          <a:p>
            <a:pPr algn="l">
              <a:lnSpc>
                <a:spcPct val="108000"/>
              </a:lnSpc>
              <a:spcAft>
                <a:spcPts val="400"/>
              </a:spcAft>
            </a:pPr>
            <a:r>
              <a:rPr sz="1100" b="1" i="0">
                <a:solidFill>
                  <a:srgbClr val="C8102E"/>
                </a:solidFill>
                <a:latin typeface="Calibri"/>
              </a:rPr>
              <a:t>Priority 1</a:t>
            </a:r>
          </a:p>
        </p:txBody>
      </p:sp>
      <p:sp>
        <p:nvSpPr>
          <p:cNvPr id="7" name="TextBox 6"/>
          <p:cNvSpPr txBox="1"/>
          <p:nvPr/>
        </p:nvSpPr>
        <p:spPr>
          <a:xfrm>
            <a:off x="731520" y="1938528"/>
            <a:ext cx="3291840" cy="365760"/>
          </a:xfrm>
          <a:prstGeom prst="rect">
            <a:avLst/>
          </a:prstGeom>
          <a:noFill/>
        </p:spPr>
        <p:txBody>
          <a:bodyPr wrap="square" lIns="45720" rIns="45720" anchor="t">
            <a:spAutoFit/>
          </a:bodyPr>
          <a:lstStyle/>
          <a:p>
            <a:pPr algn="l">
              <a:lnSpc>
                <a:spcPct val="108000"/>
              </a:lnSpc>
              <a:spcAft>
                <a:spcPts val="400"/>
              </a:spcAft>
            </a:pPr>
            <a:r>
              <a:rPr sz="1600" b="1" i="0">
                <a:solidFill>
                  <a:srgbClr val="0B2240"/>
                </a:solidFill>
                <a:latin typeface="Calibri"/>
              </a:rPr>
              <a:t>Assign ownership</a:t>
            </a:r>
          </a:p>
        </p:txBody>
      </p:sp>
      <p:sp>
        <p:nvSpPr>
          <p:cNvPr id="8" name="TextBox 7"/>
          <p:cNvSpPr txBox="1"/>
          <p:nvPr/>
        </p:nvSpPr>
        <p:spPr>
          <a:xfrm>
            <a:off x="731520" y="2377440"/>
            <a:ext cx="3291840" cy="2743200"/>
          </a:xfrm>
          <a:prstGeom prst="rect">
            <a:avLst/>
          </a:prstGeom>
          <a:noFill/>
        </p:spPr>
        <p:txBody>
          <a:bodyPr wrap="square" lIns="45720" rIns="45720" anchor="t">
            <a:spAutoFit/>
          </a:bodyPr>
          <a:lstStyle/>
          <a:p>
            <a:pPr marL="201168" indent="-182880" algn="l">
              <a:buChar char="•"/>
            </a:pPr>
            <a:r>
              <a:rPr sz="2000" b="0" i="0">
                <a:solidFill>
                  <a:srgbClr val="1F2937"/>
                </a:solidFill>
                <a:latin typeface="Calibri"/>
              </a:rPr>
              <a:t>Choose priority route and holiday templates.</a:t>
            </a:r>
          </a:p>
          <a:p>
            <a:pPr marL="201168" indent="-182880" algn="l">
              <a:buChar char="•"/>
            </a:pPr>
            <a:r>
              <a:rPr sz="2000" b="0" i="0">
                <a:solidFill>
                  <a:srgbClr val="1F2937"/>
                </a:solidFill>
                <a:latin typeface="Calibri"/>
              </a:rPr>
              <a:t>Assign engineering, content, commercial and analytics owners.</a:t>
            </a:r>
          </a:p>
          <a:p>
            <a:pPr marL="201168" indent="-182880" algn="l">
              <a:buChar char="•"/>
            </a:pPr>
            <a:r>
              <a:rPr sz="2000" b="0" i="0">
                <a:solidFill>
                  <a:srgbClr val="1F2937"/>
                </a:solidFill>
                <a:latin typeface="Calibri"/>
              </a:rPr>
              <a:t>Review current coverage and record release dates.</a:t>
            </a:r>
          </a:p>
        </p:txBody>
      </p:sp>
      <p:sp>
        <p:nvSpPr>
          <p:cNvPr id="9" name="Rounded Rectangle 8"/>
          <p:cNvSpPr/>
          <p:nvPr/>
        </p:nvSpPr>
        <p:spPr>
          <a:xfrm>
            <a:off x="731520" y="5166360"/>
            <a:ext cx="3246120" cy="8229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59" y="5212080"/>
            <a:ext cx="3108960" cy="777240"/>
          </a:xfrm>
          <a:prstGeom prst="rect">
            <a:avLst/>
          </a:prstGeom>
          <a:noFill/>
        </p:spPr>
        <p:txBody>
          <a:bodyPr wrap="square" lIns="45720" rIns="45720" anchor="ctr">
            <a:spAutoFit/>
          </a:bodyPr>
          <a:lstStyle/>
          <a:p>
            <a:pPr algn="l">
              <a:lnSpc>
                <a:spcPct val="108000"/>
              </a:lnSpc>
              <a:spcAft>
                <a:spcPts val="400"/>
              </a:spcAft>
            </a:pPr>
            <a:r>
              <a:rPr sz="1000" b="1" i="0">
                <a:solidFill>
                  <a:srgbClr val="0B2240"/>
                </a:solidFill>
                <a:latin typeface="Calibri"/>
              </a:rPr>
              <a:t>Output: an owned backlog of page and template improvements.</a:t>
            </a:r>
          </a:p>
        </p:txBody>
      </p:sp>
      <p:sp>
        <p:nvSpPr>
          <p:cNvPr id="11" name="Rounded Rectangle 10"/>
          <p:cNvSpPr/>
          <p:nvPr/>
        </p:nvSpPr>
        <p:spPr>
          <a:xfrm>
            <a:off x="4297679" y="1600200"/>
            <a:ext cx="3611880" cy="452628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480559" y="1691640"/>
            <a:ext cx="3291840" cy="320040"/>
          </a:xfrm>
          <a:prstGeom prst="rect">
            <a:avLst/>
          </a:prstGeom>
          <a:noFill/>
        </p:spPr>
        <p:txBody>
          <a:bodyPr wrap="square" lIns="45720" rIns="45720" anchor="t">
            <a:spAutoFit/>
          </a:bodyPr>
          <a:lstStyle/>
          <a:p>
            <a:pPr algn="l">
              <a:lnSpc>
                <a:spcPct val="108000"/>
              </a:lnSpc>
              <a:spcAft>
                <a:spcPts val="400"/>
              </a:spcAft>
            </a:pPr>
            <a:r>
              <a:rPr sz="1100" b="1" i="0">
                <a:solidFill>
                  <a:srgbClr val="C8102E"/>
                </a:solidFill>
                <a:latin typeface="Calibri"/>
              </a:rPr>
              <a:t>Priority 2</a:t>
            </a:r>
          </a:p>
        </p:txBody>
      </p:sp>
      <p:sp>
        <p:nvSpPr>
          <p:cNvPr id="13" name="TextBox 12"/>
          <p:cNvSpPr txBox="1"/>
          <p:nvPr/>
        </p:nvSpPr>
        <p:spPr>
          <a:xfrm>
            <a:off x="4480559" y="1938528"/>
            <a:ext cx="3291840" cy="365760"/>
          </a:xfrm>
          <a:prstGeom prst="rect">
            <a:avLst/>
          </a:prstGeom>
          <a:noFill/>
        </p:spPr>
        <p:txBody>
          <a:bodyPr wrap="square" lIns="45720" rIns="45720" anchor="t">
            <a:spAutoFit/>
          </a:bodyPr>
          <a:lstStyle/>
          <a:p>
            <a:pPr algn="l">
              <a:lnSpc>
                <a:spcPct val="108000"/>
              </a:lnSpc>
              <a:spcAft>
                <a:spcPts val="400"/>
              </a:spcAft>
            </a:pPr>
            <a:r>
              <a:rPr sz="1600" b="1" i="0">
                <a:solidFill>
                  <a:srgbClr val="0B2240"/>
                </a:solidFill>
                <a:latin typeface="Calibri"/>
              </a:rPr>
              <a:t>Implement</a:t>
            </a:r>
          </a:p>
        </p:txBody>
      </p:sp>
      <p:sp>
        <p:nvSpPr>
          <p:cNvPr id="14" name="TextBox 13"/>
          <p:cNvSpPr txBox="1"/>
          <p:nvPr/>
        </p:nvSpPr>
        <p:spPr>
          <a:xfrm>
            <a:off x="4480559" y="2377440"/>
            <a:ext cx="3291840" cy="2743200"/>
          </a:xfrm>
          <a:prstGeom prst="rect">
            <a:avLst/>
          </a:prstGeom>
          <a:noFill/>
        </p:spPr>
        <p:txBody>
          <a:bodyPr wrap="square" lIns="45720" rIns="45720" anchor="t">
            <a:spAutoFit/>
          </a:bodyPr>
          <a:lstStyle/>
          <a:p>
            <a:pPr marL="201168" indent="-182880" algn="l">
              <a:buChar char="•"/>
            </a:pPr>
            <a:r>
              <a:rPr sz="2000" b="0" i="0">
                <a:solidFill>
                  <a:srgbClr val="1F2937"/>
                </a:solidFill>
                <a:latin typeface="Calibri"/>
              </a:rPr>
              <a:t>Publish readable offers, conditions and FAQs.</a:t>
            </a:r>
          </a:p>
          <a:p>
            <a:pPr marL="201168" indent="-182880" algn="l">
              <a:buChar char="•"/>
            </a:pPr>
            <a:r>
              <a:rPr sz="2000" b="0" i="0">
                <a:solidFill>
                  <a:srgbClr val="1F2937"/>
                </a:solidFill>
                <a:latin typeface="Calibri"/>
              </a:rPr>
              <a:t>Use the tested fact block where appropriate.</a:t>
            </a:r>
          </a:p>
          <a:p>
            <a:pPr marL="201168" indent="-182880" algn="l">
              <a:buChar char="•"/>
            </a:pPr>
            <a:r>
              <a:rPr sz="2000" b="0" i="0">
                <a:solidFill>
                  <a:srgbClr val="1F2937"/>
                </a:solidFill>
                <a:latin typeface="Calibri"/>
              </a:rPr>
              <a:t>Keep structured data and customer pathways consistent.</a:t>
            </a:r>
          </a:p>
        </p:txBody>
      </p:sp>
      <p:sp>
        <p:nvSpPr>
          <p:cNvPr id="15" name="Rounded Rectangle 14"/>
          <p:cNvSpPr/>
          <p:nvPr/>
        </p:nvSpPr>
        <p:spPr>
          <a:xfrm>
            <a:off x="4480559" y="5166360"/>
            <a:ext cx="3246120" cy="8229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571999" y="5212080"/>
            <a:ext cx="3108960" cy="777240"/>
          </a:xfrm>
          <a:prstGeom prst="rect">
            <a:avLst/>
          </a:prstGeom>
          <a:noFill/>
        </p:spPr>
        <p:txBody>
          <a:bodyPr wrap="square" lIns="45720" rIns="45720" anchor="ctr">
            <a:spAutoFit/>
          </a:bodyPr>
          <a:lstStyle/>
          <a:p>
            <a:pPr algn="l">
              <a:lnSpc>
                <a:spcPct val="108000"/>
              </a:lnSpc>
              <a:spcAft>
                <a:spcPts val="400"/>
              </a:spcAft>
            </a:pPr>
            <a:r>
              <a:rPr sz="1000" b="1" i="0">
                <a:solidFill>
                  <a:srgbClr val="0B2240"/>
                </a:solidFill>
                <a:latin typeface="Calibri"/>
              </a:rPr>
              <a:t>Output: published templates with readable, consistent commercial facts.</a:t>
            </a:r>
          </a:p>
        </p:txBody>
      </p:sp>
      <p:sp>
        <p:nvSpPr>
          <p:cNvPr id="17" name="Rounded Rectangle 16"/>
          <p:cNvSpPr/>
          <p:nvPr/>
        </p:nvSpPr>
        <p:spPr>
          <a:xfrm>
            <a:off x="8046719" y="1600200"/>
            <a:ext cx="3611880" cy="452628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229599" y="1691640"/>
            <a:ext cx="3291840" cy="320040"/>
          </a:xfrm>
          <a:prstGeom prst="rect">
            <a:avLst/>
          </a:prstGeom>
          <a:noFill/>
        </p:spPr>
        <p:txBody>
          <a:bodyPr wrap="square" lIns="45720" rIns="45720" anchor="t">
            <a:spAutoFit/>
          </a:bodyPr>
          <a:lstStyle/>
          <a:p>
            <a:pPr algn="l">
              <a:lnSpc>
                <a:spcPct val="108000"/>
              </a:lnSpc>
              <a:spcAft>
                <a:spcPts val="400"/>
              </a:spcAft>
            </a:pPr>
            <a:r>
              <a:rPr sz="1100" b="1" i="0">
                <a:solidFill>
                  <a:srgbClr val="C8102E"/>
                </a:solidFill>
                <a:latin typeface="Calibri"/>
              </a:rPr>
              <a:t>Priority 3</a:t>
            </a:r>
          </a:p>
        </p:txBody>
      </p:sp>
      <p:sp>
        <p:nvSpPr>
          <p:cNvPr id="19" name="TextBox 18"/>
          <p:cNvSpPr txBox="1"/>
          <p:nvPr/>
        </p:nvSpPr>
        <p:spPr>
          <a:xfrm>
            <a:off x="8229599" y="1938528"/>
            <a:ext cx="3291840" cy="365760"/>
          </a:xfrm>
          <a:prstGeom prst="rect">
            <a:avLst/>
          </a:prstGeom>
          <a:noFill/>
        </p:spPr>
        <p:txBody>
          <a:bodyPr wrap="square" lIns="45720" rIns="45720" anchor="t">
            <a:spAutoFit/>
          </a:bodyPr>
          <a:lstStyle/>
          <a:p>
            <a:pPr algn="l">
              <a:lnSpc>
                <a:spcPct val="108000"/>
              </a:lnSpc>
              <a:spcAft>
                <a:spcPts val="400"/>
              </a:spcAft>
            </a:pPr>
            <a:r>
              <a:rPr sz="1600" b="1" i="0">
                <a:solidFill>
                  <a:srgbClr val="0B2240"/>
                </a:solidFill>
                <a:latin typeface="Calibri"/>
              </a:rPr>
              <a:t>Monitor and maintain</a:t>
            </a:r>
          </a:p>
        </p:txBody>
      </p:sp>
      <p:sp>
        <p:nvSpPr>
          <p:cNvPr id="20" name="TextBox 19"/>
          <p:cNvSpPr txBox="1"/>
          <p:nvPr/>
        </p:nvSpPr>
        <p:spPr>
          <a:xfrm>
            <a:off x="8229599" y="2377440"/>
            <a:ext cx="3291840" cy="2743200"/>
          </a:xfrm>
          <a:prstGeom prst="rect">
            <a:avLst/>
          </a:prstGeom>
          <a:noFill/>
        </p:spPr>
        <p:txBody>
          <a:bodyPr wrap="square" lIns="45720" rIns="45720" anchor="t">
            <a:spAutoFit/>
          </a:bodyPr>
          <a:lstStyle/>
          <a:p>
            <a:pPr marL="201168" indent="-182880" algn="l">
              <a:buChar char="•"/>
            </a:pPr>
            <a:r>
              <a:rPr sz="2000" b="0" i="0">
                <a:solidFill>
                  <a:srgbClr val="1F2937"/>
                </a:solidFill>
                <a:latin typeface="Calibri"/>
              </a:rPr>
              <a:t>Monitor access, citations and explicit brand recommendations.</a:t>
            </a:r>
          </a:p>
          <a:p>
            <a:pPr marL="201168" indent="-182880" algn="l">
              <a:buChar char="•"/>
            </a:pPr>
            <a:r>
              <a:rPr sz="2000" b="0" i="0">
                <a:solidFill>
                  <a:srgbClr val="1F2937"/>
                </a:solidFill>
                <a:latin typeface="Calibri"/>
              </a:rPr>
              <a:t>Track referred visits, enquiries and bookings separately.</a:t>
            </a:r>
          </a:p>
          <a:p>
            <a:pPr marL="201168" indent="-182880" algn="l">
              <a:buChar char="•"/>
            </a:pPr>
            <a:r>
              <a:rPr sz="2000" b="0" i="0">
                <a:solidFill>
                  <a:srgbClr val="1F2937"/>
                </a:solidFill>
                <a:latin typeface="Calibri"/>
              </a:rPr>
              <a:t>Maintain offer accuracy and content quality.</a:t>
            </a:r>
          </a:p>
        </p:txBody>
      </p:sp>
      <p:sp>
        <p:nvSpPr>
          <p:cNvPr id="21" name="Rounded Rectangle 20"/>
          <p:cNvSpPr/>
          <p:nvPr/>
        </p:nvSpPr>
        <p:spPr>
          <a:xfrm>
            <a:off x="8229599" y="5166360"/>
            <a:ext cx="3246120" cy="82296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321040" y="5212080"/>
            <a:ext cx="3108960" cy="777240"/>
          </a:xfrm>
          <a:prstGeom prst="rect">
            <a:avLst/>
          </a:prstGeom>
          <a:noFill/>
        </p:spPr>
        <p:txBody>
          <a:bodyPr wrap="square" lIns="45720" rIns="45720" anchor="ctr">
            <a:spAutoFit/>
          </a:bodyPr>
          <a:lstStyle/>
          <a:p>
            <a:pPr algn="l">
              <a:lnSpc>
                <a:spcPct val="108000"/>
              </a:lnSpc>
              <a:spcAft>
                <a:spcPts val="400"/>
              </a:spcAft>
            </a:pPr>
            <a:r>
              <a:rPr sz="1000" b="1" i="0">
                <a:solidFill>
                  <a:srgbClr val="0B2240"/>
                </a:solidFill>
                <a:latin typeface="Calibri"/>
              </a:rPr>
              <a:t>Output: regular business reporting and an updated improvement backlog.</a:t>
            </a:r>
          </a:p>
        </p:txBody>
      </p:sp>
      <p:sp>
        <p:nvSpPr>
          <p:cNvPr id="23" name="TextBox 22"/>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Our completed experiment provides evidence for content improvement. FC does not need to reproduce our sandbox to implement these recommendations. Routine monitoring checks business progress; it does not by itself prove causation. Vendor visibility scores use different denominators and should not be compared directly with 52.4%.</a:t>
            </a:r>
          </a:p>
        </p:txBody>
      </p:sp>
      <p:sp>
        <p:nvSpPr>
          <p:cNvPr id="24" name="TextBox 23"/>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19</a:t>
            </a:r>
            <a:endParaRPr sz="900" b="0" i="0">
              <a:solidFill>
                <a:srgbClr val="5B6573"/>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Expected value and the risk of doing nothing</a:t>
            </a:r>
          </a:p>
        </p:txBody>
      </p:sp>
      <p:sp>
        <p:nvSpPr>
          <p:cNvPr id="4" name="Rounded Rectangle 3"/>
          <p:cNvSpPr/>
          <p:nvPr/>
        </p:nvSpPr>
        <p:spPr>
          <a:xfrm>
            <a:off x="10049256" y="329184"/>
            <a:ext cx="1609344"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External signals</a:t>
            </a:r>
          </a:p>
        </p:txBody>
      </p:sp>
      <p:sp>
        <p:nvSpPr>
          <p:cNvPr id="5" name="Rounded Rectangle 4"/>
          <p:cNvSpPr/>
          <p:nvPr/>
        </p:nvSpPr>
        <p:spPr>
          <a:xfrm>
            <a:off x="8485632"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6" name="Rounded Rectangle 5"/>
          <p:cNvSpPr/>
          <p:nvPr/>
        </p:nvSpPr>
        <p:spPr>
          <a:xfrm>
            <a:off x="548640" y="1600200"/>
            <a:ext cx="5440680" cy="3931920"/>
          </a:xfrm>
          <a:prstGeom prst="roundRect">
            <a:avLst>
              <a:gd name="adj" fmla="val 6000"/>
            </a:avLst>
          </a:prstGeom>
          <a:solidFill>
            <a:srgbClr val="E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1323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If FC works the pipeline</a:t>
            </a:r>
          </a:p>
        </p:txBody>
      </p:sp>
      <p:sp>
        <p:nvSpPr>
          <p:cNvPr id="8" name="TextBox 7"/>
          <p:cNvSpPr txBox="1"/>
          <p:nvPr/>
        </p:nvSpPr>
        <p:spPr>
          <a:xfrm>
            <a:off x="713232" y="2148840"/>
            <a:ext cx="5111496" cy="3218687"/>
          </a:xfrm>
          <a:prstGeom prst="rect">
            <a:avLst/>
          </a:prstGeom>
          <a:noFill/>
        </p:spPr>
        <p:txBody>
          <a:bodyPr wrap="square" lIns="45720" rIns="45720" anchor="t">
            <a:spAutoFit/>
          </a:bodyPr>
          <a:lstStyle/>
          <a:p>
            <a:pPr algn="l">
              <a:spcBef>
                <a:spcPts val="0"/>
              </a:spcBef>
              <a:spcAft>
                <a:spcPts val="300"/>
              </a:spcAft>
            </a:pPr>
            <a:r>
              <a:rPr sz="2000" b="0" i="0">
                <a:solidFill>
                  <a:srgbClr val="1F2937"/>
                </a:solidFill>
                <a:latin typeface="Calibri"/>
              </a:rPr>
              <a:t>More useful FC information is available to customers and systems.</a:t>
            </a:r>
          </a:p>
          <a:p>
            <a:pPr algn="l">
              <a:spcBef>
                <a:spcPts val="0"/>
              </a:spcBef>
              <a:spcAft>
                <a:spcPts val="300"/>
              </a:spcAft>
            </a:pPr>
            <a:r>
              <a:rPr sz="2000" b="0" i="0">
                <a:solidFill>
                  <a:srgbClr val="1F2937"/>
                </a:solidFill>
                <a:latin typeface="Calibri"/>
              </a:rPr>
              <a:t>Current offers and clear conditions reduce ambiguity.</a:t>
            </a:r>
          </a:p>
          <a:p>
            <a:pPr algn="l">
              <a:spcBef>
                <a:spcPts val="0"/>
              </a:spcBef>
              <a:spcAft>
                <a:spcPts val="300"/>
              </a:spcAft>
            </a:pPr>
            <a:r>
              <a:rPr sz="2000" b="0" i="0">
                <a:solidFill>
                  <a:srgbClr val="1F2937"/>
                </a:solidFill>
                <a:latin typeface="Calibri"/>
              </a:rPr>
              <a:t>FC’s expert and store options are easier to explain.</a:t>
            </a:r>
          </a:p>
          <a:p>
            <a:pPr algn="l">
              <a:spcBef>
                <a:spcPts val="0"/>
              </a:spcBef>
              <a:spcAft>
                <a:spcPts val="300"/>
              </a:spcAft>
            </a:pPr>
            <a:r>
              <a:rPr sz="2000" b="0" i="0">
                <a:solidFill>
                  <a:srgbClr val="1F2937"/>
                </a:solidFill>
                <a:latin typeface="Calibri"/>
              </a:rPr>
              <a:t>Business reporting shows which changes deserve further investment.</a:t>
            </a:r>
          </a:p>
        </p:txBody>
      </p:sp>
      <p:sp>
        <p:nvSpPr>
          <p:cNvPr id="9" name="Rounded Rectangle 8"/>
          <p:cNvSpPr/>
          <p:nvPr/>
        </p:nvSpPr>
        <p:spPr>
          <a:xfrm>
            <a:off x="6217920" y="1600200"/>
            <a:ext cx="5440680" cy="393192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382512" y="1764792"/>
            <a:ext cx="511149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If FC waits</a:t>
            </a:r>
          </a:p>
        </p:txBody>
      </p:sp>
      <p:sp>
        <p:nvSpPr>
          <p:cNvPr id="11" name="TextBox 10"/>
          <p:cNvSpPr txBox="1"/>
          <p:nvPr/>
        </p:nvSpPr>
        <p:spPr>
          <a:xfrm>
            <a:off x="6382512" y="2148840"/>
            <a:ext cx="5111496" cy="3218687"/>
          </a:xfrm>
          <a:prstGeom prst="rect">
            <a:avLst/>
          </a:prstGeom>
          <a:noFill/>
        </p:spPr>
        <p:txBody>
          <a:bodyPr wrap="square" lIns="45720" rIns="45720" anchor="t">
            <a:spAutoFit/>
          </a:bodyPr>
          <a:lstStyle/>
          <a:p>
            <a:pPr algn="l">
              <a:spcBef>
                <a:spcPts val="0"/>
              </a:spcBef>
              <a:spcAft>
                <a:spcPts val="300"/>
              </a:spcAft>
            </a:pPr>
            <a:r>
              <a:rPr sz="2000" b="0" i="0">
                <a:solidFill>
                  <a:srgbClr val="1F2937"/>
                </a:solidFill>
                <a:latin typeface="Calibri"/>
              </a:rPr>
              <a:t>The sampled discovery and rendering gaps may persist.</a:t>
            </a:r>
          </a:p>
          <a:p>
            <a:pPr algn="l">
              <a:spcBef>
                <a:spcPts val="0"/>
              </a:spcBef>
              <a:spcAft>
                <a:spcPts val="300"/>
              </a:spcAft>
            </a:pPr>
            <a:r>
              <a:rPr sz="2000" b="0" i="0">
                <a:solidFill>
                  <a:srgbClr val="1F2937"/>
                </a:solidFill>
                <a:latin typeface="Calibri"/>
              </a:rPr>
              <a:t>Assistants can continue using competitors or third-party sources.</a:t>
            </a:r>
          </a:p>
          <a:p>
            <a:pPr algn="l">
              <a:spcBef>
                <a:spcPts val="0"/>
              </a:spcBef>
              <a:spcAft>
                <a:spcPts val="300"/>
              </a:spcAft>
            </a:pPr>
            <a:r>
              <a:rPr sz="2000" b="0" i="0">
                <a:solidFill>
                  <a:srgbClr val="1F2937"/>
                </a:solidFill>
                <a:latin typeface="Calibri"/>
              </a:rPr>
              <a:t>Unclear offer scope can lead to confusing answers.</a:t>
            </a:r>
          </a:p>
          <a:p>
            <a:pPr algn="l">
              <a:spcBef>
                <a:spcPts val="0"/>
              </a:spcBef>
              <a:spcAft>
                <a:spcPts val="300"/>
              </a:spcAft>
            </a:pPr>
            <a:r>
              <a:rPr sz="2000" b="0" i="0">
                <a:solidFill>
                  <a:srgbClr val="1F2937"/>
                </a:solidFill>
                <a:latin typeface="Calibri"/>
              </a:rPr>
              <a:t>FC has less evidence for choosing its next investment.</a:t>
            </a:r>
          </a:p>
        </p:txBody>
      </p:sp>
      <p:sp>
        <p:nvSpPr>
          <p:cNvPr id="12" name="TextBox 11"/>
          <p:cNvSpPr txBox="1"/>
          <p:nvPr/>
        </p:nvSpPr>
        <p:spPr>
          <a:xfrm>
            <a:off x="548640" y="5669280"/>
            <a:ext cx="11064240" cy="594360"/>
          </a:xfrm>
          <a:prstGeom prst="rect">
            <a:avLst/>
          </a:prstGeom>
          <a:noFill/>
        </p:spPr>
        <p:txBody>
          <a:bodyPr wrap="square" lIns="45720" rIns="45720" anchor="t">
            <a:spAutoFit/>
          </a:bodyPr>
          <a:lstStyle/>
          <a:p>
            <a:pPr algn="l">
              <a:lnSpc>
                <a:spcPct val="108000"/>
              </a:lnSpc>
              <a:spcAft>
                <a:spcPts val="400"/>
              </a:spcAft>
            </a:pPr>
            <a:r>
              <a:rPr sz="1150" b="0" i="0">
                <a:solidFill>
                  <a:srgbClr val="5B6573"/>
                </a:solidFill>
                <a:latin typeface="Calibri"/>
              </a:rPr>
              <a:t>What this is not: a traffic or revenue forecast. 52.4% is the content step in a controlled sandbox, not a live-platform prediction. Commercial value must be monitored separately through relevant visits, enquiries and bookings.</a:t>
            </a:r>
          </a:p>
        </p:txBody>
      </p:sp>
      <p:sp>
        <p:nvSpPr>
          <p:cNvPr id="13" name="TextBox 12"/>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Technical Report v1.4, Section 8.4 (36 more answers of 290); Brave snapshot Aug 2026 (questions Q23–Q30); Adobe Digital Insights (Aug 2026); competitor app launches as cited on slide 5.</a:t>
            </a:r>
          </a:p>
        </p:txBody>
      </p:sp>
      <p:sp>
        <p:nvSpPr>
          <p:cNvPr id="14" name="TextBox 13"/>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20</a:t>
            </a:r>
            <a:endParaRPr sz="900" b="0" i="0">
              <a:solidFill>
                <a:srgbClr val="5B6573"/>
              </a:solidFill>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spcBef>
                <a:spcPts val="0"/>
              </a:spcBef>
              <a:spcAft>
                <a:spcPts val="300"/>
              </a:spcAft>
            </a:pPr>
            <a:r>
              <a:rPr sz="2800" b="1" i="0">
                <a:solidFill>
                  <a:srgbClr val="0B2240"/>
                </a:solidFill>
                <a:latin typeface="Calibri"/>
              </a:rPr>
              <a:t>The decisions for Flight Centre</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sp>
        <p:nvSpPr>
          <p:cNvPr id="5" name="Rounded Rectangle 4"/>
          <p:cNvSpPr/>
          <p:nvPr/>
        </p:nvSpPr>
        <p:spPr>
          <a:xfrm>
            <a:off x="548640" y="1600200"/>
            <a:ext cx="11109960" cy="9601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685800" y="1783080"/>
            <a:ext cx="594360" cy="594360"/>
          </a:xfrm>
          <a:prstGeom prst="ellipse">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85800" y="1783080"/>
            <a:ext cx="594360" cy="594360"/>
          </a:xfrm>
          <a:prstGeom prst="rect">
            <a:avLst/>
          </a:prstGeom>
          <a:noFill/>
        </p:spPr>
        <p:txBody>
          <a:bodyPr wrap="square" lIns="45720" rIns="45720" anchor="ctr">
            <a:spAutoFit/>
          </a:bodyPr>
          <a:lstStyle/>
          <a:p>
            <a:pPr algn="ctr">
              <a:lnSpc>
                <a:spcPct val="108000"/>
              </a:lnSpc>
              <a:spcAft>
                <a:spcPts val="400"/>
              </a:spcAft>
            </a:pPr>
            <a:r>
              <a:rPr sz="2000" b="1" i="0">
                <a:solidFill>
                  <a:srgbClr val="FFFFFF"/>
                </a:solidFill>
                <a:latin typeface="Calibri"/>
              </a:rPr>
              <a:t>1</a:t>
            </a:r>
          </a:p>
        </p:txBody>
      </p:sp>
      <p:sp>
        <p:nvSpPr>
          <p:cNvPr id="8" name="TextBox 7"/>
          <p:cNvSpPr txBox="1"/>
          <p:nvPr/>
        </p:nvSpPr>
        <p:spPr>
          <a:xfrm>
            <a:off x="1463040" y="1691640"/>
            <a:ext cx="10058400" cy="365760"/>
          </a:xfrm>
          <a:prstGeom prst="rect">
            <a:avLst/>
          </a:prstGeom>
          <a:noFill/>
        </p:spPr>
        <p:txBody>
          <a:bodyPr wrap="square" lIns="45720" rIns="45720" anchor="t">
            <a:spAutoFit/>
          </a:bodyPr>
          <a:lstStyle/>
          <a:p>
            <a:pPr algn="l">
              <a:lnSpc>
                <a:spcPct val="108000"/>
              </a:lnSpc>
              <a:spcAft>
                <a:spcPts val="400"/>
              </a:spcAft>
            </a:pPr>
            <a:r>
              <a:rPr sz="1450" b="1" i="0">
                <a:solidFill>
                  <a:srgbClr val="0B2240"/>
                </a:solidFill>
                <a:latin typeface="Calibri"/>
              </a:rPr>
              <a:t>Stand up measurement this month</a:t>
            </a:r>
          </a:p>
        </p:txBody>
      </p:sp>
      <p:sp>
        <p:nvSpPr>
          <p:cNvPr id="9" name="TextBox 8"/>
          <p:cNvSpPr txBox="1"/>
          <p:nvPr/>
        </p:nvSpPr>
        <p:spPr>
          <a:xfrm>
            <a:off x="1463040" y="2039112"/>
            <a:ext cx="10058400" cy="502920"/>
          </a:xfrm>
          <a:prstGeom prst="rect">
            <a:avLst/>
          </a:prstGeom>
          <a:noFill/>
        </p:spPr>
        <p:txBody>
          <a:bodyPr wrap="square" lIns="45720" rIns="45720" anchor="t">
            <a:spAutoFit/>
          </a:bodyPr>
          <a:lstStyle/>
          <a:p>
            <a:pPr algn="l">
              <a:lnSpc>
                <a:spcPct val="100000"/>
              </a:lnSpc>
              <a:spcAft>
                <a:spcPts val="400"/>
              </a:spcAft>
            </a:pPr>
            <a:r>
              <a:rPr sz="1150" b="0" i="0">
                <a:solidFill>
                  <a:srgbClr val="1F2937"/>
                </a:solidFill>
                <a:latin typeface="Calibri"/>
              </a:rPr>
              <a:t>Assign marketing analytics to available platform reports, referral outcomes and dated answer examples. Confirm reporting access and resource needs.</a:t>
            </a:r>
          </a:p>
        </p:txBody>
      </p:sp>
      <p:sp>
        <p:nvSpPr>
          <p:cNvPr id="10" name="Rounded Rectangle 9"/>
          <p:cNvSpPr/>
          <p:nvPr/>
        </p:nvSpPr>
        <p:spPr>
          <a:xfrm>
            <a:off x="548640" y="2651760"/>
            <a:ext cx="11109960" cy="9601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685800" y="2834640"/>
            <a:ext cx="594360" cy="594360"/>
          </a:xfrm>
          <a:prstGeom prst="ellipse">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85800" y="2834640"/>
            <a:ext cx="594360" cy="594360"/>
          </a:xfrm>
          <a:prstGeom prst="rect">
            <a:avLst/>
          </a:prstGeom>
          <a:noFill/>
        </p:spPr>
        <p:txBody>
          <a:bodyPr wrap="square" lIns="45720" rIns="45720" anchor="ctr">
            <a:spAutoFit/>
          </a:bodyPr>
          <a:lstStyle/>
          <a:p>
            <a:pPr algn="ctr">
              <a:lnSpc>
                <a:spcPct val="108000"/>
              </a:lnSpc>
              <a:spcAft>
                <a:spcPts val="400"/>
              </a:spcAft>
            </a:pPr>
            <a:r>
              <a:rPr sz="2000" b="1" i="0">
                <a:solidFill>
                  <a:srgbClr val="FFFFFF"/>
                </a:solidFill>
                <a:latin typeface="Calibri"/>
              </a:rPr>
              <a:t>2</a:t>
            </a:r>
          </a:p>
        </p:txBody>
      </p:sp>
      <p:sp>
        <p:nvSpPr>
          <p:cNvPr id="13" name="TextBox 12"/>
          <p:cNvSpPr txBox="1"/>
          <p:nvPr/>
        </p:nvSpPr>
        <p:spPr>
          <a:xfrm>
            <a:off x="1463040" y="2743200"/>
            <a:ext cx="10058400" cy="365760"/>
          </a:xfrm>
          <a:prstGeom prst="rect">
            <a:avLst/>
          </a:prstGeom>
          <a:noFill/>
        </p:spPr>
        <p:txBody>
          <a:bodyPr wrap="square" lIns="45720" rIns="45720" anchor="t">
            <a:spAutoFit/>
          </a:bodyPr>
          <a:lstStyle/>
          <a:p>
            <a:pPr algn="l">
              <a:lnSpc>
                <a:spcPct val="108000"/>
              </a:lnSpc>
              <a:spcAft>
                <a:spcPts val="400"/>
              </a:spcAft>
            </a:pPr>
            <a:r>
              <a:rPr sz="1450" b="1" i="0">
                <a:solidFill>
                  <a:srgbClr val="0B2240"/>
                </a:solidFill>
                <a:latin typeface="Calibri"/>
              </a:rPr>
              <a:t>Nominate engineering and content owners for a bounded build</a:t>
            </a:r>
          </a:p>
        </p:txBody>
      </p:sp>
      <p:sp>
        <p:nvSpPr>
          <p:cNvPr id="14" name="TextBox 13"/>
          <p:cNvSpPr txBox="1"/>
          <p:nvPr/>
        </p:nvSpPr>
        <p:spPr>
          <a:xfrm>
            <a:off x="1463040" y="3090672"/>
            <a:ext cx="10058400" cy="502920"/>
          </a:xfrm>
          <a:prstGeom prst="rect">
            <a:avLst/>
          </a:prstGeom>
          <a:noFill/>
        </p:spPr>
        <p:txBody>
          <a:bodyPr wrap="square" lIns="45720" rIns="45720" anchor="t">
            <a:spAutoFit/>
          </a:bodyPr>
          <a:lstStyle/>
          <a:p>
            <a:pPr algn="l">
              <a:lnSpc>
                <a:spcPct val="100000"/>
              </a:lnSpc>
              <a:spcAft>
                <a:spcPts val="400"/>
              </a:spcAft>
            </a:pPr>
            <a:r>
              <a:rPr sz="1150" b="0" i="0">
                <a:solidFill>
                  <a:srgbClr val="1F2937"/>
                </a:solidFill>
                <a:latin typeface="Calibri"/>
              </a:rPr>
              <a:t>Server-rendered commercial facts, the fare-and-fee block and FAQ text on a bounded set of route pages, plus JSON-LD and destination FAQs on two holiday templates.</a:t>
            </a:r>
          </a:p>
        </p:txBody>
      </p:sp>
      <p:sp>
        <p:nvSpPr>
          <p:cNvPr id="15" name="Rounded Rectangle 14"/>
          <p:cNvSpPr/>
          <p:nvPr/>
        </p:nvSpPr>
        <p:spPr>
          <a:xfrm>
            <a:off x="548640" y="3703320"/>
            <a:ext cx="11109960" cy="9601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85800" y="3886200"/>
            <a:ext cx="594360" cy="594360"/>
          </a:xfrm>
          <a:prstGeom prst="ellipse">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85800" y="3886200"/>
            <a:ext cx="594360" cy="594360"/>
          </a:xfrm>
          <a:prstGeom prst="rect">
            <a:avLst/>
          </a:prstGeom>
          <a:noFill/>
        </p:spPr>
        <p:txBody>
          <a:bodyPr wrap="square" lIns="45720" rIns="45720" anchor="ctr">
            <a:spAutoFit/>
          </a:bodyPr>
          <a:lstStyle/>
          <a:p>
            <a:pPr algn="ctr">
              <a:lnSpc>
                <a:spcPct val="108000"/>
              </a:lnSpc>
              <a:spcAft>
                <a:spcPts val="400"/>
              </a:spcAft>
            </a:pPr>
            <a:r>
              <a:rPr sz="2000" b="1" i="0">
                <a:solidFill>
                  <a:srgbClr val="FFFFFF"/>
                </a:solidFill>
                <a:latin typeface="Calibri"/>
              </a:rPr>
              <a:t>3</a:t>
            </a:r>
          </a:p>
        </p:txBody>
      </p:sp>
      <p:sp>
        <p:nvSpPr>
          <p:cNvPr id="18" name="TextBox 17"/>
          <p:cNvSpPr txBox="1"/>
          <p:nvPr/>
        </p:nvSpPr>
        <p:spPr>
          <a:xfrm>
            <a:off x="1463040" y="3794759"/>
            <a:ext cx="10058400" cy="365760"/>
          </a:xfrm>
          <a:prstGeom prst="rect">
            <a:avLst/>
          </a:prstGeom>
          <a:noFill/>
        </p:spPr>
        <p:txBody>
          <a:bodyPr wrap="square" lIns="45720" rIns="45720" anchor="t">
            <a:spAutoFit/>
          </a:bodyPr>
          <a:lstStyle/>
          <a:p>
            <a:pPr algn="l">
              <a:lnSpc>
                <a:spcPct val="108000"/>
              </a:lnSpc>
              <a:spcAft>
                <a:spcPts val="400"/>
              </a:spcAft>
            </a:pPr>
            <a:r>
              <a:rPr sz="1450" b="1" i="0">
                <a:solidFill>
                  <a:srgbClr val="0B2240"/>
                </a:solidFill>
                <a:latin typeface="Calibri"/>
              </a:rPr>
              <a:t>Treat offer integrity as a product requirement</a:t>
            </a:r>
          </a:p>
        </p:txBody>
      </p:sp>
      <p:sp>
        <p:nvSpPr>
          <p:cNvPr id="19" name="TextBox 18"/>
          <p:cNvSpPr txBox="1"/>
          <p:nvPr/>
        </p:nvSpPr>
        <p:spPr>
          <a:xfrm>
            <a:off x="1463040" y="4142231"/>
            <a:ext cx="10058400" cy="502920"/>
          </a:xfrm>
          <a:prstGeom prst="rect">
            <a:avLst/>
          </a:prstGeom>
          <a:noFill/>
        </p:spPr>
        <p:txBody>
          <a:bodyPr wrap="square" lIns="45720" rIns="45720" anchor="t">
            <a:spAutoFit/>
          </a:bodyPr>
          <a:lstStyle/>
          <a:p>
            <a:pPr algn="l">
              <a:lnSpc>
                <a:spcPct val="100000"/>
              </a:lnSpc>
              <a:spcAft>
                <a:spcPts val="400"/>
              </a:spcAft>
            </a:pPr>
            <a:r>
              <a:rPr sz="1150" b="0" i="0">
                <a:solidFill>
                  <a:srgbClr val="1F2937"/>
                </a:solidFill>
                <a:latin typeface="Calibri"/>
              </a:rPr>
              <a:t>One fare record feeding page, block and schema, with a staleness window and pricing/legal sign-off. This supports accurate customer information; it does not guarantee citations or legal compliance.</a:t>
            </a:r>
          </a:p>
        </p:txBody>
      </p:sp>
      <p:sp>
        <p:nvSpPr>
          <p:cNvPr id="20" name="Rounded Rectangle 19"/>
          <p:cNvSpPr/>
          <p:nvPr/>
        </p:nvSpPr>
        <p:spPr>
          <a:xfrm>
            <a:off x="548640" y="4754879"/>
            <a:ext cx="11109960" cy="9601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685800" y="4937759"/>
            <a:ext cx="594360" cy="594360"/>
          </a:xfrm>
          <a:prstGeom prst="ellipse">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85800" y="4937759"/>
            <a:ext cx="594360" cy="594360"/>
          </a:xfrm>
          <a:prstGeom prst="rect">
            <a:avLst/>
          </a:prstGeom>
          <a:noFill/>
        </p:spPr>
        <p:txBody>
          <a:bodyPr wrap="square" lIns="45720" rIns="45720" anchor="ctr">
            <a:spAutoFit/>
          </a:bodyPr>
          <a:lstStyle/>
          <a:p>
            <a:pPr algn="ctr">
              <a:lnSpc>
                <a:spcPct val="108000"/>
              </a:lnSpc>
              <a:spcAft>
                <a:spcPts val="400"/>
              </a:spcAft>
            </a:pPr>
            <a:r>
              <a:rPr sz="2000" b="1" i="0">
                <a:solidFill>
                  <a:srgbClr val="FFFFFF"/>
                </a:solidFill>
                <a:latin typeface="Calibri"/>
              </a:rPr>
              <a:t>4</a:t>
            </a:r>
          </a:p>
        </p:txBody>
      </p:sp>
      <p:sp>
        <p:nvSpPr>
          <p:cNvPr id="23" name="TextBox 22"/>
          <p:cNvSpPr txBox="1"/>
          <p:nvPr/>
        </p:nvSpPr>
        <p:spPr>
          <a:xfrm>
            <a:off x="1463040" y="4846319"/>
            <a:ext cx="10058400" cy="365760"/>
          </a:xfrm>
          <a:prstGeom prst="rect">
            <a:avLst/>
          </a:prstGeom>
          <a:noFill/>
        </p:spPr>
        <p:txBody>
          <a:bodyPr wrap="square" lIns="45720" rIns="45720" anchor="t">
            <a:spAutoFit/>
          </a:bodyPr>
          <a:lstStyle/>
          <a:p>
            <a:pPr algn="l">
              <a:lnSpc>
                <a:spcPct val="108000"/>
              </a:lnSpc>
              <a:spcAft>
                <a:spcPts val="400"/>
              </a:spcAft>
            </a:pPr>
            <a:r>
              <a:rPr sz="1450" b="1" i="0">
                <a:solidFill>
                  <a:srgbClr val="0B2240"/>
                </a:solidFill>
                <a:latin typeface="Calibri"/>
              </a:rPr>
              <a:t>Review business outcomes and prioritise further investment</a:t>
            </a:r>
          </a:p>
        </p:txBody>
      </p:sp>
      <p:sp>
        <p:nvSpPr>
          <p:cNvPr id="24" name="TextBox 23"/>
          <p:cNvSpPr txBox="1"/>
          <p:nvPr/>
        </p:nvSpPr>
        <p:spPr>
          <a:xfrm>
            <a:off x="1463040" y="5193792"/>
            <a:ext cx="10058400" cy="502920"/>
          </a:xfrm>
          <a:prstGeom prst="rect">
            <a:avLst/>
          </a:prstGeom>
          <a:noFill/>
        </p:spPr>
        <p:txBody>
          <a:bodyPr wrap="square" lIns="45720" rIns="45720" anchor="t">
            <a:spAutoFit/>
          </a:bodyPr>
          <a:lstStyle/>
          <a:p>
            <a:pPr algn="l">
              <a:lnSpc>
                <a:spcPct val="100000"/>
              </a:lnSpc>
              <a:spcAft>
                <a:spcPts val="400"/>
              </a:spcAft>
            </a:pPr>
            <a:r>
              <a:rPr sz="1150" b="0" i="0">
                <a:solidFill>
                  <a:srgbClr val="1F2937"/>
                </a:solidFill>
                <a:latin typeface="Calibri"/>
              </a:rPr>
              <a:t>Review access, content quality, citations and customer enquiries. Assess vendors and app/API integrations on their own business cases; repeating our sandbox is not a prerequisite.</a:t>
            </a:r>
          </a:p>
        </p:txBody>
      </p:sp>
      <p:sp>
        <p:nvSpPr>
          <p:cNvPr id="25" name="TextBox 24"/>
          <p:cNvSpPr txBox="1"/>
          <p:nvPr/>
        </p:nvSpPr>
        <p:spPr>
          <a:xfrm>
            <a:off x="548640" y="5852160"/>
            <a:ext cx="11064240" cy="553998"/>
          </a:xfrm>
          <a:prstGeom prst="rect">
            <a:avLst/>
          </a:prstGeom>
          <a:noFill/>
        </p:spPr>
        <p:txBody>
          <a:bodyPr wrap="square" lIns="45720" rIns="45720" anchor="t">
            <a:spAutoFit/>
          </a:bodyPr>
          <a:lstStyle/>
          <a:p>
            <a:pPr algn="l"/>
            <a:r>
              <a:rPr sz="1500" b="0" i="0">
                <a:solidFill>
                  <a:srgbClr val="5B6573"/>
                </a:solidFill>
                <a:latin typeface="Calibri"/>
              </a:rPr>
              <a:t>The handover contains completed research, saved examples and supporting code. It is not a page-upload optimisation service. FC can apply the recommendations without rerunning our sandbox.</a:t>
            </a:r>
          </a:p>
        </p:txBody>
      </p:sp>
      <p:sp>
        <p:nvSpPr>
          <p:cNvPr id="26" name="TextBox 25"/>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21</a:t>
            </a:r>
            <a:endParaRPr sz="900" b="0" i="0">
              <a:solidFill>
                <a:srgbClr val="5B6573"/>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1188720"/>
            <a:ext cx="10515600" cy="2011680"/>
          </a:xfrm>
          <a:prstGeom prst="rect">
            <a:avLst/>
          </a:prstGeom>
          <a:noFill/>
        </p:spPr>
        <p:txBody>
          <a:bodyPr wrap="square" lIns="45720" rIns="45720" anchor="t">
            <a:spAutoFit/>
          </a:bodyPr>
          <a:lstStyle/>
          <a:p>
            <a:pPr algn="l">
              <a:spcBef>
                <a:spcPts val="0"/>
              </a:spcBef>
              <a:spcAft>
                <a:spcPts val="300"/>
              </a:spcAft>
            </a:pPr>
            <a:r>
              <a:rPr sz="3800" b="1" i="0">
                <a:solidFill>
                  <a:srgbClr val="FFFFFF"/>
                </a:solidFill>
                <a:latin typeface="Calibri"/>
              </a:rPr>
              <a:t>Make FC easier to find, understand and act on</a:t>
            </a:r>
          </a:p>
        </p:txBody>
      </p:sp>
      <p:sp>
        <p:nvSpPr>
          <p:cNvPr id="4" name="TextBox 3"/>
          <p:cNvSpPr txBox="1"/>
          <p:nvPr/>
        </p:nvSpPr>
        <p:spPr>
          <a:xfrm>
            <a:off x="822960" y="3566160"/>
            <a:ext cx="10332720" cy="1463040"/>
          </a:xfrm>
          <a:prstGeom prst="rect">
            <a:avLst/>
          </a:prstGeom>
          <a:noFill/>
        </p:spPr>
        <p:txBody>
          <a:bodyPr wrap="square" lIns="45720" rIns="45720" anchor="t">
            <a:spAutoFit/>
          </a:bodyPr>
          <a:lstStyle/>
          <a:p>
            <a:pPr algn="l">
              <a:spcBef>
                <a:spcPts val="0"/>
              </a:spcBef>
              <a:spcAft>
                <a:spcPts val="300"/>
              </a:spcAft>
            </a:pPr>
            <a:r>
              <a:rPr sz="2500" b="0" i="0">
                <a:solidFill>
                  <a:srgbClr val="C9D6EA"/>
                </a:solidFill>
                <a:latin typeface="Calibri"/>
              </a:rPr>
              <a:t>Our experiment supports content improvement once FC is read.</a:t>
            </a:r>
          </a:p>
          <a:p>
            <a:pPr algn="l">
              <a:spcBef>
                <a:spcPts val="0"/>
              </a:spcBef>
              <a:spcAft>
                <a:spcPts val="300"/>
              </a:spcAft>
            </a:pPr>
            <a:r>
              <a:rPr sz="2500" b="0" i="0">
                <a:solidFill>
                  <a:srgbClr val="C9D6EA"/>
                </a:solidFill>
                <a:latin typeface="Calibri"/>
              </a:rPr>
              <a:t>The broader opportunity needs discoverable pages, accurate offers, credible expertise and clear customer pathways.</a:t>
            </a:r>
          </a:p>
        </p:txBody>
      </p:sp>
      <p:sp>
        <p:nvSpPr>
          <p:cNvPr id="5" name="TextBox 4"/>
          <p:cNvSpPr txBox="1"/>
          <p:nvPr/>
        </p:nvSpPr>
        <p:spPr>
          <a:xfrm>
            <a:off x="822960" y="5303520"/>
            <a:ext cx="10332720" cy="822960"/>
          </a:xfrm>
          <a:prstGeom prst="rect">
            <a:avLst/>
          </a:prstGeom>
          <a:noFill/>
        </p:spPr>
        <p:txBody>
          <a:bodyPr wrap="square" lIns="45720" rIns="45720" anchor="t">
            <a:spAutoFit/>
          </a:bodyPr>
          <a:lstStyle/>
          <a:p>
            <a:pPr algn="l">
              <a:lnSpc>
                <a:spcPct val="108000"/>
              </a:lnSpc>
              <a:spcAft>
                <a:spcPts val="400"/>
              </a:spcAft>
            </a:pPr>
            <a:r>
              <a:rPr sz="1200" b="0" i="0">
                <a:solidFill>
                  <a:srgbClr val="FFFFFF"/>
                </a:solidFill>
                <a:latin typeface="Calibri"/>
              </a:rPr>
              <a:t>Team 62, Queensland University of Technology  ·  github.com/muhammadmubbashar/GEO--Generative-Engine-Optimisation</a:t>
            </a:r>
          </a:p>
          <a:p>
            <a:pPr algn="l">
              <a:lnSpc>
                <a:spcPct val="108000"/>
              </a:lnSpc>
              <a:spcAft>
                <a:spcPts val="400"/>
              </a:spcAft>
            </a:pPr>
            <a:r>
              <a:rPr sz="1100" b="0" i="0">
                <a:solidFill>
                  <a:srgbClr val="9FB3CC"/>
                </a:solidFill>
                <a:latin typeface="Calibri"/>
              </a:rPr>
              <a:t>Hidden backup slides follow: experiment statistics, live inspection, research sources, method catalogue, glossary.</a:t>
            </a:r>
          </a:p>
        </p:txBody>
      </p:sp>
      <p:sp>
        <p:nvSpPr>
          <p:cNvPr id="6" name="TextBox 5"/>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9FB3CC"/>
                </a:solidFill>
                <a:latin typeface="Calibri"/>
              </a:rPr>
              <a:t>22</a:t>
            </a:r>
            <a:endParaRPr sz="900" b="0" i="0">
              <a:solidFill>
                <a:srgbClr val="9FB3CC"/>
              </a:solidFill>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1097280"/>
            <a:ext cx="3657600" cy="457200"/>
          </a:xfrm>
          <a:prstGeom prst="rect">
            <a:avLst/>
          </a:prstGeom>
          <a:noFill/>
        </p:spPr>
        <p:txBody>
          <a:bodyPr wrap="square" lIns="45720" rIns="45720" anchor="t">
            <a:spAutoFit/>
          </a:bodyPr>
          <a:lstStyle/>
          <a:p>
            <a:pPr algn="l">
              <a:lnSpc>
                <a:spcPct val="108000"/>
              </a:lnSpc>
              <a:spcAft>
                <a:spcPts val="400"/>
              </a:spcAft>
            </a:pPr>
            <a:r>
              <a:rPr sz="1600" b="1" i="0">
                <a:solidFill>
                  <a:srgbClr val="FF8A99"/>
                </a:solidFill>
                <a:latin typeface="Calibri"/>
              </a:rPr>
              <a:t>PART 1 · WHY</a:t>
            </a:r>
          </a:p>
        </p:txBody>
      </p:sp>
      <p:sp>
        <p:nvSpPr>
          <p:cNvPr id="4" name="TextBox 3"/>
          <p:cNvSpPr txBox="1"/>
          <p:nvPr/>
        </p:nvSpPr>
        <p:spPr>
          <a:xfrm>
            <a:off x="822960" y="1554480"/>
            <a:ext cx="10241280" cy="1938992"/>
          </a:xfrm>
          <a:prstGeom prst="rect">
            <a:avLst/>
          </a:prstGeom>
          <a:noFill/>
        </p:spPr>
        <p:txBody>
          <a:bodyPr wrap="square" lIns="45720" rIns="45720" anchor="t">
            <a:spAutoFit/>
          </a:bodyPr>
          <a:lstStyle/>
          <a:p>
            <a:pPr algn="l">
              <a:lnSpc>
                <a:spcPct val="100000"/>
              </a:lnSpc>
            </a:pPr>
            <a:r>
              <a:rPr sz="4000" b="1" i="0">
                <a:solidFill>
                  <a:srgbClr val="FFFFFF"/>
                </a:solidFill>
                <a:latin typeface="Calibri"/>
              </a:rPr>
              <a:t>Travel discovery is moving into the assistant, and Flight Centre had gaps in the sampled unbranded answers</a:t>
            </a:r>
          </a:p>
        </p:txBody>
      </p:sp>
      <p:sp>
        <p:nvSpPr>
          <p:cNvPr id="5" name="TextBox 4"/>
          <p:cNvSpPr txBox="1"/>
          <p:nvPr/>
        </p:nvSpPr>
        <p:spPr>
          <a:xfrm>
            <a:off x="822960" y="3383280"/>
            <a:ext cx="9601200" cy="822960"/>
          </a:xfrm>
          <a:prstGeom prst="rect">
            <a:avLst/>
          </a:prstGeom>
          <a:noFill/>
        </p:spPr>
        <p:txBody>
          <a:bodyPr wrap="square" lIns="45720" rIns="45720" anchor="t">
            <a:spAutoFit/>
          </a:bodyPr>
          <a:lstStyle/>
          <a:p>
            <a:pPr algn="l">
              <a:lnSpc>
                <a:spcPct val="108000"/>
              </a:lnSpc>
              <a:spcAft>
                <a:spcPts val="400"/>
              </a:spcAft>
            </a:pPr>
            <a:r>
              <a:rPr sz="1800" b="0" i="0">
                <a:solidFill>
                  <a:srgbClr val="C9D6EA"/>
                </a:solidFill>
                <a:latin typeface="Calibri"/>
              </a:rPr>
              <a:t>External signals on agentic commerce, and what our audits found on FC.com.</a:t>
            </a:r>
          </a:p>
        </p:txBody>
      </p:sp>
      <p:sp>
        <p:nvSpPr>
          <p:cNvPr id="6" name="TextBox 5"/>
          <p:cNvSpPr txBox="1"/>
          <p:nvPr/>
        </p:nvSpPr>
        <p:spPr>
          <a:xfrm>
            <a:off x="822960" y="4480560"/>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How customers now start a trip, in the US and in Australia</a:t>
            </a:r>
          </a:p>
        </p:txBody>
      </p:sp>
      <p:sp>
        <p:nvSpPr>
          <p:cNvPr id="7" name="TextBox 6"/>
          <p:cNvSpPr txBox="1"/>
          <p:nvPr/>
        </p:nvSpPr>
        <p:spPr>
          <a:xfrm>
            <a:off x="822960" y="4864608"/>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Who is already inside the chat</a:t>
            </a:r>
          </a:p>
        </p:txBody>
      </p:sp>
      <p:sp>
        <p:nvSpPr>
          <p:cNvPr id="8" name="TextBox 7"/>
          <p:cNvSpPr txBox="1"/>
          <p:nvPr/>
        </p:nvSpPr>
        <p:spPr>
          <a:xfrm>
            <a:off x="822960" y="5248656"/>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Where FC.com stands today, layer by layer</a:t>
            </a:r>
          </a:p>
        </p:txBody>
      </p:sp>
      <p:sp>
        <p:nvSpPr>
          <p:cNvPr id="9" name="TextBox 8"/>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9FB3CC"/>
                </a:solidFill>
                <a:latin typeface="Calibri"/>
              </a:rPr>
              <a:t>23</a:t>
            </a:r>
            <a:endParaRPr sz="900" b="0" i="0">
              <a:solidFill>
                <a:srgbClr val="9FB3CC"/>
              </a:solidFill>
              <a:latin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Ranking is not the same as being cited: FC's Melbourne–London page was a top search result and was cited in 2 of 10 answers</a:t>
            </a:r>
          </a:p>
        </p:txBody>
      </p:sp>
      <p:sp>
        <p:nvSpPr>
          <p:cNvPr id="4" name="Rounded Rectangle 3"/>
          <p:cNvSpPr/>
          <p:nvPr/>
        </p:nvSpPr>
        <p:spPr>
          <a:xfrm>
            <a:off x="9893808"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sp>
        <p:nvSpPr>
          <p:cNvPr id="5" name="Rounded Rectangle 4"/>
          <p:cNvSpPr/>
          <p:nvPr/>
        </p:nvSpPr>
        <p:spPr>
          <a:xfrm>
            <a:off x="833018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graphicFrame>
        <p:nvGraphicFramePr>
          <p:cNvPr id="6" name="Table 5"/>
          <p:cNvGraphicFramePr>
            <a:graphicFrameLocks noGrp="1"/>
          </p:cNvGraphicFramePr>
          <p:nvPr/>
        </p:nvGraphicFramePr>
        <p:xfrm>
          <a:off x="548640" y="1645920"/>
          <a:ext cx="5852160" cy="3017518"/>
        </p:xfrm>
        <a:graphic>
          <a:graphicData uri="http://schemas.openxmlformats.org/drawingml/2006/table">
            <a:tbl>
              <a:tblPr/>
              <a:tblGrid>
                <a:gridCol w="31089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431074">
                <a:tc>
                  <a:txBody>
                    <a:bodyPr/>
                    <a:lstStyle/>
                    <a:p>
                      <a:r>
                        <a:rPr sz="1050" b="1" i="0">
                          <a:solidFill>
                            <a:srgbClr val="FFFFFF"/>
                          </a:solidFill>
                          <a:latin typeface="Calibri"/>
                        </a:rPr>
                        <a:t>Question where FC's page was a top-ranked result (Brave AU, Aug 2026)</a:t>
                      </a:r>
                    </a:p>
                  </a:txBody>
                  <a:tcPr marL="64008" marR="64008" marT="36576" marB="36576" anchor="ctr">
                    <a:solidFill>
                      <a:srgbClr val="0B2240"/>
                    </a:solidFill>
                  </a:tcPr>
                </a:tc>
                <a:tc>
                  <a:txBody>
                    <a:bodyPr/>
                    <a:lstStyle/>
                    <a:p>
                      <a:pPr algn="ctr"/>
                      <a:r>
                        <a:rPr sz="1050" b="1" i="0">
                          <a:solidFill>
                            <a:srgbClr val="FFFFFF"/>
                          </a:solidFill>
                          <a:latin typeface="Calibri"/>
                        </a:rPr>
                        <a:t>Original page cited</a:t>
                      </a:r>
                    </a:p>
                  </a:txBody>
                  <a:tcPr marL="64008" marR="64008" marT="36576" marB="36576" anchor="ctr">
                    <a:solidFill>
                      <a:srgbClr val="0B2240"/>
                    </a:solidFill>
                  </a:tcPr>
                </a:tc>
                <a:tc>
                  <a:txBody>
                    <a:bodyPr/>
                    <a:lstStyle/>
                    <a:p>
                      <a:pPr algn="ctr"/>
                      <a:r>
                        <a:rPr sz="1050" b="1" i="0">
                          <a:solidFill>
                            <a:srgbClr val="FFFFFF"/>
                          </a:solidFill>
                          <a:latin typeface="Calibri"/>
                        </a:rPr>
                        <a:t>Improved page cited</a:t>
                      </a:r>
                    </a:p>
                  </a:txBody>
                  <a:tcPr marL="64008" marR="64008" marT="36576" marB="36576" anchor="ctr">
                    <a:solidFill>
                      <a:srgbClr val="0B2240"/>
                    </a:solidFill>
                  </a:tcPr>
                </a:tc>
                <a:extLst>
                  <a:ext uri="{0D108BD9-81ED-4DB2-BD59-A6C34878D82A}">
                    <a16:rowId xmlns:a16="http://schemas.microsoft.com/office/drawing/2014/main" val="10000"/>
                  </a:ext>
                </a:extLst>
              </a:tr>
              <a:tr h="431074">
                <a:tc>
                  <a:txBody>
                    <a:bodyPr/>
                    <a:lstStyle/>
                    <a:p>
                      <a:r>
                        <a:rPr sz="1100" b="0" i="0">
                          <a:solidFill>
                            <a:srgbClr val="1F2937"/>
                          </a:solidFill>
                          <a:latin typeface="Calibri"/>
                        </a:rPr>
                        <a:t>Flights from Perth to Bali</a:t>
                      </a:r>
                    </a:p>
                  </a:txBody>
                  <a:tcPr marL="64008" marR="64008" marT="36576" marB="36576">
                    <a:solidFill>
                      <a:srgbClr val="FFFFFF"/>
                    </a:solidFill>
                  </a:tcPr>
                </a:tc>
                <a:tc>
                  <a:txBody>
                    <a:bodyPr/>
                    <a:lstStyle/>
                    <a:p>
                      <a:pPr algn="ctr"/>
                      <a:r>
                        <a:rPr sz="1100" b="0" i="0">
                          <a:solidFill>
                            <a:srgbClr val="1F2937"/>
                          </a:solidFill>
                          <a:latin typeface="Calibri"/>
                        </a:rPr>
                        <a:t>0 / 10</a:t>
                      </a:r>
                    </a:p>
                  </a:txBody>
                  <a:tcPr marL="64008" marR="64008" marT="36576" marB="36576">
                    <a:solidFill>
                      <a:srgbClr val="FBE8EA"/>
                    </a:solidFill>
                  </a:tcPr>
                </a:tc>
                <a:tc>
                  <a:txBody>
                    <a:bodyPr/>
                    <a:lstStyle/>
                    <a:p>
                      <a:pPr algn="ctr"/>
                      <a:r>
                        <a:rPr sz="1100" b="0" i="0">
                          <a:solidFill>
                            <a:srgbClr val="1F2937"/>
                          </a:solidFill>
                          <a:latin typeface="Calibri"/>
                        </a:rPr>
                        <a:t>1 / 10</a:t>
                      </a:r>
                    </a:p>
                  </a:txBody>
                  <a:tcPr marL="64008" marR="64008" marT="36576" marB="36576">
                    <a:solidFill>
                      <a:srgbClr val="FFFFFF"/>
                    </a:solidFill>
                  </a:tcPr>
                </a:tc>
                <a:extLst>
                  <a:ext uri="{0D108BD9-81ED-4DB2-BD59-A6C34878D82A}">
                    <a16:rowId xmlns:a16="http://schemas.microsoft.com/office/drawing/2014/main" val="10001"/>
                  </a:ext>
                </a:extLst>
              </a:tr>
              <a:tr h="431074">
                <a:tc>
                  <a:txBody>
                    <a:bodyPr/>
                    <a:lstStyle/>
                    <a:p>
                      <a:r>
                        <a:rPr sz="1100" b="0" i="0">
                          <a:solidFill>
                            <a:srgbClr val="1F2937"/>
                          </a:solidFill>
                          <a:latin typeface="Calibri"/>
                        </a:rPr>
                        <a:t>Flights from Darwin to Bali</a:t>
                      </a:r>
                    </a:p>
                  </a:txBody>
                  <a:tcPr marL="64008" marR="64008" marT="36576" marB="36576">
                    <a:solidFill>
                      <a:srgbClr val="F3F5F8"/>
                    </a:solidFill>
                  </a:tcPr>
                </a:tc>
                <a:tc>
                  <a:txBody>
                    <a:bodyPr/>
                    <a:lstStyle/>
                    <a:p>
                      <a:pPr algn="ctr"/>
                      <a:r>
                        <a:rPr sz="1100" b="0" i="0">
                          <a:solidFill>
                            <a:srgbClr val="1F2937"/>
                          </a:solidFill>
                          <a:latin typeface="Calibri"/>
                        </a:rPr>
                        <a:t>1 / 10</a:t>
                      </a:r>
                    </a:p>
                  </a:txBody>
                  <a:tcPr marL="64008" marR="64008" marT="36576" marB="36576">
                    <a:solidFill>
                      <a:srgbClr val="FBE8EA"/>
                    </a:solidFill>
                  </a:tcPr>
                </a:tc>
                <a:tc>
                  <a:txBody>
                    <a:bodyPr/>
                    <a:lstStyle/>
                    <a:p>
                      <a:pPr algn="ctr"/>
                      <a:r>
                        <a:rPr sz="1100" b="0" i="0">
                          <a:solidFill>
                            <a:srgbClr val="1F2937"/>
                          </a:solidFill>
                          <a:latin typeface="Calibri"/>
                        </a:rPr>
                        <a:t>2 / 10</a:t>
                      </a:r>
                    </a:p>
                  </a:txBody>
                  <a:tcPr marL="64008" marR="64008" marT="36576" marB="36576">
                    <a:solidFill>
                      <a:srgbClr val="F3F5F8"/>
                    </a:solidFill>
                  </a:tcPr>
                </a:tc>
                <a:extLst>
                  <a:ext uri="{0D108BD9-81ED-4DB2-BD59-A6C34878D82A}">
                    <a16:rowId xmlns:a16="http://schemas.microsoft.com/office/drawing/2014/main" val="10002"/>
                  </a:ext>
                </a:extLst>
              </a:tr>
              <a:tr h="431074">
                <a:tc>
                  <a:txBody>
                    <a:bodyPr/>
                    <a:lstStyle/>
                    <a:p>
                      <a:r>
                        <a:rPr sz="1100" b="0" i="0">
                          <a:solidFill>
                            <a:srgbClr val="1F2937"/>
                          </a:solidFill>
                          <a:latin typeface="Calibri"/>
                        </a:rPr>
                        <a:t>Multi-city flight tickets</a:t>
                      </a:r>
                    </a:p>
                  </a:txBody>
                  <a:tcPr marL="64008" marR="64008" marT="36576" marB="36576">
                    <a:solidFill>
                      <a:srgbClr val="FFFFFF"/>
                    </a:solidFill>
                  </a:tcPr>
                </a:tc>
                <a:tc>
                  <a:txBody>
                    <a:bodyPr/>
                    <a:lstStyle/>
                    <a:p>
                      <a:pPr algn="ctr"/>
                      <a:r>
                        <a:rPr sz="1100" b="0" i="0">
                          <a:solidFill>
                            <a:srgbClr val="1F2937"/>
                          </a:solidFill>
                          <a:latin typeface="Calibri"/>
                        </a:rPr>
                        <a:t>1 / 10</a:t>
                      </a:r>
                    </a:p>
                  </a:txBody>
                  <a:tcPr marL="64008" marR="64008" marT="36576" marB="36576">
                    <a:solidFill>
                      <a:srgbClr val="FBE8EA"/>
                    </a:solidFill>
                  </a:tcPr>
                </a:tc>
                <a:tc>
                  <a:txBody>
                    <a:bodyPr/>
                    <a:lstStyle/>
                    <a:p>
                      <a:pPr algn="ctr"/>
                      <a:r>
                        <a:rPr sz="1100" b="0" i="0">
                          <a:solidFill>
                            <a:srgbClr val="1F2937"/>
                          </a:solidFill>
                          <a:latin typeface="Calibri"/>
                        </a:rPr>
                        <a:t>0 / 10</a:t>
                      </a:r>
                    </a:p>
                  </a:txBody>
                  <a:tcPr marL="64008" marR="64008" marT="36576" marB="36576">
                    <a:solidFill>
                      <a:srgbClr val="FFFFFF"/>
                    </a:solidFill>
                  </a:tcPr>
                </a:tc>
                <a:extLst>
                  <a:ext uri="{0D108BD9-81ED-4DB2-BD59-A6C34878D82A}">
                    <a16:rowId xmlns:a16="http://schemas.microsoft.com/office/drawing/2014/main" val="10003"/>
                  </a:ext>
                </a:extLst>
              </a:tr>
              <a:tr h="431074">
                <a:tc>
                  <a:txBody>
                    <a:bodyPr/>
                    <a:lstStyle/>
                    <a:p>
                      <a:r>
                        <a:rPr sz="1100" b="0" i="0">
                          <a:solidFill>
                            <a:srgbClr val="1F2937"/>
                          </a:solidFill>
                          <a:latin typeface="Calibri"/>
                        </a:rPr>
                        <a:t>Flights from Melbourne to London</a:t>
                      </a:r>
                    </a:p>
                  </a:txBody>
                  <a:tcPr marL="64008" marR="64008" marT="36576" marB="36576">
                    <a:solidFill>
                      <a:srgbClr val="F3F5F8"/>
                    </a:solidFill>
                  </a:tcPr>
                </a:tc>
                <a:tc>
                  <a:txBody>
                    <a:bodyPr/>
                    <a:lstStyle/>
                    <a:p>
                      <a:pPr algn="ctr"/>
                      <a:r>
                        <a:rPr sz="1100" b="0" i="0">
                          <a:solidFill>
                            <a:srgbClr val="1F2937"/>
                          </a:solidFill>
                          <a:latin typeface="Calibri"/>
                        </a:rPr>
                        <a:t>2 / 10</a:t>
                      </a:r>
                    </a:p>
                  </a:txBody>
                  <a:tcPr marL="64008" marR="64008" marT="36576" marB="36576">
                    <a:solidFill>
                      <a:srgbClr val="FBE8EA"/>
                    </a:solidFill>
                  </a:tcPr>
                </a:tc>
                <a:tc>
                  <a:txBody>
                    <a:bodyPr/>
                    <a:lstStyle/>
                    <a:p>
                      <a:pPr algn="ctr"/>
                      <a:r>
                        <a:rPr sz="1100" b="0" i="0">
                          <a:solidFill>
                            <a:srgbClr val="1F2937"/>
                          </a:solidFill>
                          <a:latin typeface="Calibri"/>
                        </a:rPr>
                        <a:t>8 / 10</a:t>
                      </a:r>
                    </a:p>
                  </a:txBody>
                  <a:tcPr marL="64008" marR="64008" marT="36576" marB="36576">
                    <a:solidFill>
                      <a:srgbClr val="E4F1E8"/>
                    </a:solidFill>
                  </a:tcPr>
                </a:tc>
                <a:extLst>
                  <a:ext uri="{0D108BD9-81ED-4DB2-BD59-A6C34878D82A}">
                    <a16:rowId xmlns:a16="http://schemas.microsoft.com/office/drawing/2014/main" val="10004"/>
                  </a:ext>
                </a:extLst>
              </a:tr>
              <a:tr h="431074">
                <a:tc>
                  <a:txBody>
                    <a:bodyPr/>
                    <a:lstStyle/>
                    <a:p>
                      <a:r>
                        <a:rPr sz="1100" b="0" i="0">
                          <a:solidFill>
                            <a:srgbClr val="1F2937"/>
                          </a:solidFill>
                          <a:latin typeface="Calibri"/>
                        </a:rPr>
                        <a:t>Premium economy flights</a:t>
                      </a:r>
                    </a:p>
                  </a:txBody>
                  <a:tcPr marL="64008" marR="64008" marT="36576" marB="36576">
                    <a:solidFill>
                      <a:srgbClr val="FFFFFF"/>
                    </a:solidFill>
                  </a:tcPr>
                </a:tc>
                <a:tc>
                  <a:txBody>
                    <a:bodyPr/>
                    <a:lstStyle/>
                    <a:p>
                      <a:pPr algn="ctr"/>
                      <a:r>
                        <a:rPr sz="1100" b="0" i="0">
                          <a:solidFill>
                            <a:srgbClr val="1F2937"/>
                          </a:solidFill>
                          <a:latin typeface="Calibri"/>
                        </a:rPr>
                        <a:t>8 / 10</a:t>
                      </a:r>
                    </a:p>
                  </a:txBody>
                  <a:tcPr marL="64008" marR="64008" marT="36576" marB="36576">
                    <a:solidFill>
                      <a:srgbClr val="FFFFFF"/>
                    </a:solidFill>
                  </a:tcPr>
                </a:tc>
                <a:tc>
                  <a:txBody>
                    <a:bodyPr/>
                    <a:lstStyle/>
                    <a:p>
                      <a:pPr algn="ctr"/>
                      <a:r>
                        <a:rPr sz="1100" b="0" i="0">
                          <a:solidFill>
                            <a:srgbClr val="1F2937"/>
                          </a:solidFill>
                          <a:latin typeface="Calibri"/>
                        </a:rPr>
                        <a:t>10 / 10</a:t>
                      </a:r>
                    </a:p>
                  </a:txBody>
                  <a:tcPr marL="64008" marR="64008" marT="36576" marB="36576">
                    <a:solidFill>
                      <a:srgbClr val="E4F1E8"/>
                    </a:solidFill>
                  </a:tcPr>
                </a:tc>
                <a:extLst>
                  <a:ext uri="{0D108BD9-81ED-4DB2-BD59-A6C34878D82A}">
                    <a16:rowId xmlns:a16="http://schemas.microsoft.com/office/drawing/2014/main" val="10005"/>
                  </a:ext>
                </a:extLst>
              </a:tr>
              <a:tr h="431074">
                <a:tc>
                  <a:txBody>
                    <a:bodyPr/>
                    <a:lstStyle/>
                    <a:p>
                      <a:r>
                        <a:rPr sz="1100" b="0" i="0">
                          <a:solidFill>
                            <a:srgbClr val="1F2937"/>
                          </a:solidFill>
                          <a:latin typeface="Calibri"/>
                        </a:rPr>
                        <a:t>Round-the-world flights</a:t>
                      </a:r>
                    </a:p>
                  </a:txBody>
                  <a:tcPr marL="64008" marR="64008" marT="36576" marB="36576">
                    <a:solidFill>
                      <a:srgbClr val="F3F5F8"/>
                    </a:solidFill>
                  </a:tcPr>
                </a:tc>
                <a:tc>
                  <a:txBody>
                    <a:bodyPr/>
                    <a:lstStyle/>
                    <a:p>
                      <a:pPr algn="ctr"/>
                      <a:r>
                        <a:rPr sz="1100" b="0" i="0">
                          <a:solidFill>
                            <a:srgbClr val="1F2937"/>
                          </a:solidFill>
                          <a:latin typeface="Calibri"/>
                        </a:rPr>
                        <a:t>10 / 10</a:t>
                      </a:r>
                    </a:p>
                  </a:txBody>
                  <a:tcPr marL="64008" marR="64008" marT="36576" marB="36576">
                    <a:solidFill>
                      <a:srgbClr val="F3F5F8"/>
                    </a:solidFill>
                  </a:tcPr>
                </a:tc>
                <a:tc>
                  <a:txBody>
                    <a:bodyPr/>
                    <a:lstStyle/>
                    <a:p>
                      <a:pPr algn="ctr"/>
                      <a:r>
                        <a:rPr sz="1100" b="0" i="0">
                          <a:solidFill>
                            <a:srgbClr val="1F2937"/>
                          </a:solidFill>
                          <a:latin typeface="Calibri"/>
                        </a:rPr>
                        <a:t>10 / 10</a:t>
                      </a:r>
                    </a:p>
                  </a:txBody>
                  <a:tcPr marL="64008" marR="64008" marT="36576" marB="36576">
                    <a:solidFill>
                      <a:srgbClr val="F3F5F8"/>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48640" y="4800600"/>
            <a:ext cx="5852160" cy="1371600"/>
          </a:xfrm>
          <a:prstGeom prst="rect">
            <a:avLst/>
          </a:prstGeom>
          <a:noFill/>
        </p:spPr>
        <p:txBody>
          <a:bodyPr wrap="square" lIns="45720" rIns="45720" anchor="t">
            <a:spAutoFit/>
          </a:bodyPr>
          <a:lstStyle/>
          <a:p>
            <a:pPr algn="l">
              <a:lnSpc>
                <a:spcPct val="108000"/>
              </a:lnSpc>
              <a:spcAft>
                <a:spcPts val="400"/>
              </a:spcAft>
            </a:pPr>
            <a:r>
              <a:rPr sz="1150" b="0" i="0">
                <a:solidFill>
                  <a:srgbClr val="1F2937"/>
                </a:solidFill>
                <a:latin typeface="Calibri"/>
              </a:rPr>
              <a:t>Search rank does not guarantee retrieval or citation. In our saved source lists, page content and model behaviour affect citation. Across the 13 questions where FC was in the top 3, the original page was cited in 48 of 130 answers (37%) and the improved page in 68 of 130 (52%). Melbourne–London went from 2 to 8 of 10 with no change in search position.</a:t>
            </a:r>
          </a:p>
        </p:txBody>
      </p:sp>
      <p:sp>
        <p:nvSpPr>
          <p:cNvPr id="8" name="Rounded Rectangle 7"/>
          <p:cNvSpPr/>
          <p:nvPr/>
        </p:nvSpPr>
        <p:spPr>
          <a:xfrm>
            <a:off x="6629400" y="1645920"/>
            <a:ext cx="5029200" cy="4526280"/>
          </a:xfrm>
          <a:prstGeom prst="roundRect">
            <a:avLst>
              <a:gd name="adj" fmla="val 6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793992" y="1810512"/>
            <a:ext cx="4700016" cy="365760"/>
          </a:xfrm>
          <a:prstGeom prst="rect">
            <a:avLst/>
          </a:prstGeom>
          <a:noFill/>
        </p:spPr>
        <p:txBody>
          <a:bodyPr wrap="square" lIns="45720" rIns="45720" anchor="t">
            <a:spAutoFit/>
          </a:bodyPr>
          <a:lstStyle/>
          <a:p>
            <a:pPr algn="l">
              <a:lnSpc>
                <a:spcPct val="108000"/>
              </a:lnSpc>
              <a:spcAft>
                <a:spcPts val="400"/>
              </a:spcAft>
            </a:pPr>
            <a:r>
              <a:rPr sz="1400" b="1" i="0">
                <a:solidFill>
                  <a:srgbClr val="0B2240"/>
                </a:solidFill>
                <a:latin typeface="Calibri"/>
              </a:rPr>
              <a:t>What the 2026 research calls this</a:t>
            </a:r>
          </a:p>
        </p:txBody>
      </p:sp>
      <p:sp>
        <p:nvSpPr>
          <p:cNvPr id="10" name="TextBox 9"/>
          <p:cNvSpPr txBox="1"/>
          <p:nvPr/>
        </p:nvSpPr>
        <p:spPr>
          <a:xfrm>
            <a:off x="6793992" y="2194560"/>
            <a:ext cx="4700016" cy="3813048"/>
          </a:xfrm>
          <a:prstGeom prst="rect">
            <a:avLst/>
          </a:prstGeom>
          <a:noFill/>
        </p:spPr>
        <p:txBody>
          <a:bodyPr wrap="square" lIns="45720" rIns="45720" anchor="t">
            <a:spAutoFit/>
          </a:bodyPr>
          <a:lstStyle/>
          <a:p>
            <a:pPr algn="l">
              <a:lnSpc>
                <a:spcPct val="108000"/>
              </a:lnSpc>
              <a:spcAft>
                <a:spcPts val="400"/>
              </a:spcAft>
            </a:pPr>
            <a:r>
              <a:rPr sz="1200" b="0" i="0">
                <a:solidFill>
                  <a:srgbClr val="1F2937"/>
                </a:solidFill>
                <a:latin typeface="Calibri"/>
              </a:rPr>
              <a:t>GEO is a pipeline, not a ranking task: search activation, crawling, retrieval, reranking, citation, then user behaviour. A critical survey of 45 GEO studies (Jul 2026) finds the famous content gains hold </a:t>
            </a:r>
            <a:r>
              <a:rPr sz="1200" b="1" i="0">
                <a:solidFill>
                  <a:srgbClr val="1F2937"/>
                </a:solidFill>
                <a:latin typeface="Calibri"/>
              </a:rPr>
              <a:t>'only when a source is already in a fixed context'</a:t>
            </a:r>
            <a:r>
              <a:rPr sz="1200" b="0" i="0">
                <a:solidFill>
                  <a:srgbClr val="1F2937"/>
                </a:solidFill>
                <a:latin typeface="Calibri"/>
              </a:rPr>
              <a:t>, and that no technique has yet shown a durable causal effect on organic discoverability.</a:t>
            </a:r>
          </a:p>
          <a:p>
            <a:pPr algn="l">
              <a:lnSpc>
                <a:spcPct val="108000"/>
              </a:lnSpc>
              <a:spcBef>
                <a:spcPts val="800"/>
              </a:spcBef>
              <a:spcAft>
                <a:spcPts val="400"/>
              </a:spcAft>
            </a:pPr>
            <a:r>
              <a:rPr sz="1200" b="0" i="0">
                <a:solidFill>
                  <a:srgbClr val="1F2937"/>
                </a:solidFill>
                <a:latin typeface="Calibri"/>
              </a:rPr>
              <a:t>A large controlled study (252,000 trials, six models) finds topical relevance and list position are the biggest drivers of first citation in a two-source test; explicit price and a recent timestamp 'help consistently'; formatting-only edits have 'little impact'.</a:t>
            </a:r>
          </a:p>
          <a:p>
            <a:pPr algn="l">
              <a:lnSpc>
                <a:spcPct val="108000"/>
              </a:lnSpc>
              <a:spcBef>
                <a:spcPts val="800"/>
              </a:spcBef>
              <a:spcAft>
                <a:spcPts val="400"/>
              </a:spcAft>
            </a:pPr>
            <a:r>
              <a:rPr sz="1200" b="1" i="0">
                <a:solidFill>
                  <a:srgbClr val="0B2240"/>
                </a:solidFill>
                <a:latin typeface="Calibri"/>
              </a:rPr>
              <a:t>Two jobs, therefore: get FC pages retrieved for the questions that matter, and make them worth quoting once they arrive. Our experiment isolates the second job. The programme covers both.</a:t>
            </a:r>
          </a:p>
        </p:txBody>
      </p:sp>
      <p:sp>
        <p:nvSpPr>
          <p:cNvPr id="11" name="TextBox 10"/>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per-question citation counts, optimised-page run (r5, 28–29 Sep 2026) joined to fc_search_rank in the Aug 2026 Brave snapshot (FC's best rank across three wordings of each question; other sites can share rank 1); arXiv 2607.14035 (critical survey of GEO 2023–2026); arXiv 2605.25517 'What Gets Cited' (2026). Each question: 2 source orders × 5 repeats = 10 answers per version.</a:t>
            </a:r>
          </a:p>
        </p:txBody>
      </p:sp>
      <p:sp>
        <p:nvSpPr>
          <p:cNvPr id="12" name="TextBox 11"/>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24</a:t>
            </a:r>
            <a:endParaRPr sz="900" b="0" i="0">
              <a:solidFill>
                <a:srgbClr val="5B6573"/>
              </a:solidFill>
              <a:latin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1097280"/>
            <a:ext cx="3657600" cy="457200"/>
          </a:xfrm>
          <a:prstGeom prst="rect">
            <a:avLst/>
          </a:prstGeom>
          <a:noFill/>
        </p:spPr>
        <p:txBody>
          <a:bodyPr wrap="square" lIns="45720" rIns="45720" anchor="t">
            <a:spAutoFit/>
          </a:bodyPr>
          <a:lstStyle/>
          <a:p>
            <a:pPr algn="l">
              <a:lnSpc>
                <a:spcPct val="108000"/>
              </a:lnSpc>
              <a:spcAft>
                <a:spcPts val="400"/>
              </a:spcAft>
            </a:pPr>
            <a:r>
              <a:rPr sz="1600" b="1" i="0">
                <a:solidFill>
                  <a:srgbClr val="FF8A99"/>
                </a:solidFill>
                <a:latin typeface="Calibri"/>
              </a:rPr>
              <a:t>PART 2 · WHAT</a:t>
            </a:r>
          </a:p>
        </p:txBody>
      </p:sp>
      <p:sp>
        <p:nvSpPr>
          <p:cNvPr id="4" name="TextBox 3"/>
          <p:cNvSpPr txBox="1"/>
          <p:nvPr/>
        </p:nvSpPr>
        <p:spPr>
          <a:xfrm>
            <a:off x="822960" y="1554480"/>
            <a:ext cx="10241280" cy="164592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What we did: a frozen sandbox where only the Flight Centre page changes</a:t>
            </a:r>
          </a:p>
        </p:txBody>
      </p:sp>
      <p:sp>
        <p:nvSpPr>
          <p:cNvPr id="5" name="TextBox 4"/>
          <p:cNvSpPr txBox="1"/>
          <p:nvPr/>
        </p:nvSpPr>
        <p:spPr>
          <a:xfrm>
            <a:off x="822960" y="3383280"/>
            <a:ext cx="9601200" cy="822960"/>
          </a:xfrm>
          <a:prstGeom prst="rect">
            <a:avLst/>
          </a:prstGeom>
          <a:noFill/>
        </p:spPr>
        <p:txBody>
          <a:bodyPr wrap="square" lIns="45720" rIns="45720" anchor="t">
            <a:spAutoFit/>
          </a:bodyPr>
          <a:lstStyle/>
          <a:p>
            <a:pPr algn="l">
              <a:lnSpc>
                <a:spcPct val="108000"/>
              </a:lnSpc>
              <a:spcAft>
                <a:spcPts val="400"/>
              </a:spcAft>
            </a:pPr>
            <a:r>
              <a:rPr sz="1800" b="0" i="0">
                <a:solidFill>
                  <a:srgbClr val="C9D6EA"/>
                </a:solidFill>
                <a:latin typeface="Calibri"/>
              </a:rPr>
              <a:t>The evidence base we assembled, how we tested, and what moved.</a:t>
            </a:r>
          </a:p>
        </p:txBody>
      </p:sp>
      <p:sp>
        <p:nvSpPr>
          <p:cNvPr id="6" name="TextBox 5"/>
          <p:cNvSpPr txBox="1"/>
          <p:nvPr/>
        </p:nvSpPr>
        <p:spPr>
          <a:xfrm>
            <a:off x="822960" y="4480560"/>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What the published research and the platforms themselves say works</a:t>
            </a:r>
          </a:p>
        </p:txBody>
      </p:sp>
      <p:sp>
        <p:nvSpPr>
          <p:cNvPr id="7" name="TextBox 6"/>
          <p:cNvSpPr txBox="1"/>
          <p:nvPr/>
        </p:nvSpPr>
        <p:spPr>
          <a:xfrm>
            <a:off x="822960" y="4864608"/>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The sandbox and its fairness rules</a:t>
            </a:r>
          </a:p>
        </p:txBody>
      </p:sp>
      <p:sp>
        <p:nvSpPr>
          <p:cNvPr id="8" name="TextBox 7"/>
          <p:cNvSpPr txBox="1"/>
          <p:nvPr/>
        </p:nvSpPr>
        <p:spPr>
          <a:xfrm>
            <a:off x="822960" y="5248656"/>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Six methods one at a time, then the final page, 40.0% → 52.4%</a:t>
            </a:r>
          </a:p>
        </p:txBody>
      </p:sp>
      <p:sp>
        <p:nvSpPr>
          <p:cNvPr id="9" name="TextBox 8"/>
          <p:cNvSpPr txBox="1"/>
          <p:nvPr/>
        </p:nvSpPr>
        <p:spPr>
          <a:xfrm>
            <a:off x="822960" y="5632704"/>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What did not work, and what is still unproven</a:t>
            </a:r>
          </a:p>
        </p:txBody>
      </p:sp>
      <p:sp>
        <p:nvSpPr>
          <p:cNvPr id="10" name="TextBox 9"/>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9FB3CC"/>
                </a:solidFill>
                <a:latin typeface="Calibri"/>
              </a:rPr>
              <a:t>25</a:t>
            </a:r>
            <a:endParaRPr sz="900" b="0" i="0">
              <a:solidFill>
                <a:srgbClr val="9FB3CC"/>
              </a:solidFill>
              <a:latin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What the published evidence says works, and how our test lines up with it</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sp>
        <p:nvSpPr>
          <p:cNvPr id="5" name="Rounded Rectangle 4"/>
          <p:cNvSpPr/>
          <p:nvPr/>
        </p:nvSpPr>
        <p:spPr>
          <a:xfrm>
            <a:off x="8330184"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graphicFrame>
        <p:nvGraphicFramePr>
          <p:cNvPr id="6" name="Table 5"/>
          <p:cNvGraphicFramePr>
            <a:graphicFrameLocks noGrp="1"/>
          </p:cNvGraphicFramePr>
          <p:nvPr/>
        </p:nvGraphicFramePr>
        <p:xfrm>
          <a:off x="548640" y="1600200"/>
          <a:ext cx="11109960" cy="4343400"/>
        </p:xfrm>
        <a:graphic>
          <a:graphicData uri="http://schemas.openxmlformats.org/drawingml/2006/table">
            <a:tbl>
              <a:tblPr/>
              <a:tblGrid>
                <a:gridCol w="21488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482600">
                <a:tc>
                  <a:txBody>
                    <a:bodyPr/>
                    <a:lstStyle/>
                    <a:p>
                      <a:r>
                        <a:rPr sz="1000" b="1" i="0">
                          <a:solidFill>
                            <a:srgbClr val="FFFFFF"/>
                          </a:solidFill>
                          <a:latin typeface="Calibri"/>
                        </a:rPr>
                        <a:t>Lever</a:t>
                      </a:r>
                    </a:p>
                  </a:txBody>
                  <a:tcPr marL="64008" marR="64008" marT="36576" marB="36576" anchor="ctr">
                    <a:solidFill>
                      <a:srgbClr val="0B2240"/>
                    </a:solidFill>
                  </a:tcPr>
                </a:tc>
                <a:tc>
                  <a:txBody>
                    <a:bodyPr/>
                    <a:lstStyle/>
                    <a:p>
                      <a:r>
                        <a:rPr sz="1000" b="1" i="0">
                          <a:solidFill>
                            <a:srgbClr val="FFFFFF"/>
                          </a:solidFill>
                          <a:latin typeface="Calibri"/>
                        </a:rPr>
                        <a:t>External evidence (strongest first)</a:t>
                      </a:r>
                    </a:p>
                  </a:txBody>
                  <a:tcPr marL="64008" marR="64008" marT="36576" marB="36576" anchor="ctr">
                    <a:solidFill>
                      <a:srgbClr val="0B2240"/>
                    </a:solidFill>
                  </a:tcPr>
                </a:tc>
                <a:tc>
                  <a:txBody>
                    <a:bodyPr/>
                    <a:lstStyle/>
                    <a:p>
                      <a:r>
                        <a:rPr sz="1000" b="1" i="0">
                          <a:solidFill>
                            <a:srgbClr val="FFFFFF"/>
                          </a:solidFill>
                          <a:latin typeface="Calibri"/>
                        </a:rPr>
                        <a:t>Our sandbox result</a:t>
                      </a:r>
                    </a:p>
                  </a:txBody>
                  <a:tcPr marL="64008" marR="64008" marT="36576" marB="36576" anchor="ctr">
                    <a:solidFill>
                      <a:srgbClr val="0B2240"/>
                    </a:solidFill>
                  </a:tcPr>
                </a:tc>
                <a:tc>
                  <a:txBody>
                    <a:bodyPr/>
                    <a:lstStyle/>
                    <a:p>
                      <a:r>
                        <a:rPr sz="1000" b="1" i="0">
                          <a:solidFill>
                            <a:srgbClr val="FFFFFF"/>
                          </a:solidFill>
                          <a:latin typeface="Calibri"/>
                        </a:rPr>
                        <a:t>Verdict</a:t>
                      </a:r>
                    </a:p>
                  </a:txBody>
                  <a:tcPr marL="64008" marR="64008" marT="36576" marB="36576" anchor="ctr">
                    <a:solidFill>
                      <a:srgbClr val="0B2240"/>
                    </a:solidFill>
                  </a:tcPr>
                </a:tc>
                <a:extLst>
                  <a:ext uri="{0D108BD9-81ED-4DB2-BD59-A6C34878D82A}">
                    <a16:rowId xmlns:a16="http://schemas.microsoft.com/office/drawing/2014/main" val="10000"/>
                  </a:ext>
                </a:extLst>
              </a:tr>
              <a:tr h="482600">
                <a:tc>
                  <a:txBody>
                    <a:bodyPr/>
                    <a:lstStyle/>
                    <a:p>
                      <a:r>
                        <a:rPr sz="950" b="0" i="0">
                          <a:solidFill>
                            <a:srgbClr val="1F2937"/>
                          </a:solidFill>
                          <a:latin typeface="Calibri"/>
                        </a:rPr>
                        <a:t>Topical relevance and position in the model's source list</a:t>
                      </a:r>
                    </a:p>
                  </a:txBody>
                  <a:tcPr marL="64008" marR="64008" marT="36576" marB="36576">
                    <a:solidFill>
                      <a:srgbClr val="FFFFFF"/>
                    </a:solidFill>
                  </a:tcPr>
                </a:tc>
                <a:tc>
                  <a:txBody>
                    <a:bodyPr/>
                    <a:lstStyle/>
                    <a:p>
                      <a:r>
                        <a:rPr sz="950" b="0" i="0">
                          <a:solidFill>
                            <a:srgbClr val="1F2937"/>
                          </a:solidFill>
                          <a:latin typeface="Calibri"/>
                        </a:rPr>
                        <a:t>Biggest drivers of first citation across 252,000 trials, six LLMs (What Gets Cited, 2026); 'lost in the middle' (Liu et al., 2024); C-SEO Bench (2025)</a:t>
                      </a:r>
                    </a:p>
                  </a:txBody>
                  <a:tcPr marL="64008" marR="64008" marT="36576" marB="36576">
                    <a:solidFill>
                      <a:srgbClr val="FFFFFF"/>
                    </a:solidFill>
                  </a:tcPr>
                </a:tc>
                <a:tc>
                  <a:txBody>
                    <a:bodyPr/>
                    <a:lstStyle/>
                    <a:p>
                      <a:r>
                        <a:rPr sz="950" b="0" i="0">
                          <a:solidFill>
                            <a:srgbClr val="1F2937"/>
                          </a:solidFill>
                          <a:latin typeface="Calibri"/>
                        </a:rPr>
                        <a:t>Moving FC's unchanged page to the top of the source list: +18.3 points (benchmark only)</a:t>
                      </a:r>
                    </a:p>
                  </a:txBody>
                  <a:tcPr marL="64008" marR="64008" marT="36576" marB="36576">
                    <a:solidFill>
                      <a:srgbClr val="FFFFFF"/>
                    </a:solidFill>
                  </a:tcPr>
                </a:tc>
                <a:tc>
                  <a:txBody>
                    <a:bodyPr/>
                    <a:lstStyle/>
                    <a:p>
                      <a:r>
                        <a:rPr sz="950" b="1" i="0">
                          <a:solidFill>
                            <a:srgbClr val="1F2937"/>
                          </a:solidFill>
                          <a:latin typeface="Calibri"/>
                        </a:rPr>
                        <a:t>Consistent signal; source order is engine-controlled</a:t>
                      </a:r>
                    </a:p>
                  </a:txBody>
                  <a:tcPr marL="64008" marR="64008" marT="36576" marB="36576">
                    <a:solidFill>
                      <a:srgbClr val="FFFFFF"/>
                    </a:solidFill>
                  </a:tcPr>
                </a:tc>
                <a:extLst>
                  <a:ext uri="{0D108BD9-81ED-4DB2-BD59-A6C34878D82A}">
                    <a16:rowId xmlns:a16="http://schemas.microsoft.com/office/drawing/2014/main" val="10001"/>
                  </a:ext>
                </a:extLst>
              </a:tr>
              <a:tr h="482600">
                <a:tc>
                  <a:txBody>
                    <a:bodyPr/>
                    <a:lstStyle/>
                    <a:p>
                      <a:r>
                        <a:rPr sz="950" b="0" i="0">
                          <a:solidFill>
                            <a:srgbClr val="1F2937"/>
                          </a:solidFill>
                          <a:latin typeface="Calibri"/>
                        </a:rPr>
                        <a:t>Explicit, dated price and fee facts in plain text</a:t>
                      </a:r>
                    </a:p>
                  </a:txBody>
                  <a:tcPr marL="64008" marR="64008" marT="36576" marB="36576">
                    <a:solidFill>
                      <a:srgbClr val="F3F5F8"/>
                    </a:solidFill>
                  </a:tcPr>
                </a:tc>
                <a:tc>
                  <a:txBody>
                    <a:bodyPr/>
                    <a:lstStyle/>
                    <a:p>
                      <a:r>
                        <a:rPr sz="950" b="0" i="0">
                          <a:solidFill>
                            <a:srgbClr val="1F2937"/>
                          </a:solidFill>
                          <a:latin typeface="Calibri"/>
                        </a:rPr>
                        <a:t>'Explicit price information' and 'a recent timestamp' help consistently (2026); high-influence pages carry numerical facts and definitions (citation-absorption study, 2026)</a:t>
                      </a:r>
                    </a:p>
                  </a:txBody>
                  <a:tcPr marL="64008" marR="64008" marT="36576" marB="36576">
                    <a:solidFill>
                      <a:srgbClr val="F3F5F8"/>
                    </a:solidFill>
                  </a:tcPr>
                </a:tc>
                <a:tc>
                  <a:txBody>
                    <a:bodyPr/>
                    <a:lstStyle/>
                    <a:p>
                      <a:r>
                        <a:rPr sz="950" b="0" i="0">
                          <a:solidFill>
                            <a:srgbClr val="1F2937"/>
                          </a:solidFill>
                          <a:latin typeface="Calibri"/>
                        </a:rPr>
                        <a:t>Structured facts block: +7.6 points (interval +2.8 to +13.1)</a:t>
                      </a:r>
                    </a:p>
                  </a:txBody>
                  <a:tcPr marL="64008" marR="64008" marT="36576" marB="36576">
                    <a:solidFill>
                      <a:srgbClr val="F3F5F8"/>
                    </a:solidFill>
                  </a:tcPr>
                </a:tc>
                <a:tc>
                  <a:txBody>
                    <a:bodyPr/>
                    <a:lstStyle/>
                    <a:p>
                      <a:r>
                        <a:rPr sz="950" b="1" i="0">
                          <a:solidFill>
                            <a:srgbClr val="1E7A46"/>
                          </a:solidFill>
                          <a:latin typeface="Calibri"/>
                        </a:rPr>
                        <a:t>Positive exploratory result</a:t>
                      </a:r>
                    </a:p>
                  </a:txBody>
                  <a:tcPr marL="64008" marR="64008" marT="36576" marB="36576">
                    <a:solidFill>
                      <a:srgbClr val="F3F5F8"/>
                    </a:solidFill>
                  </a:tcPr>
                </a:tc>
                <a:extLst>
                  <a:ext uri="{0D108BD9-81ED-4DB2-BD59-A6C34878D82A}">
                    <a16:rowId xmlns:a16="http://schemas.microsoft.com/office/drawing/2014/main" val="10002"/>
                  </a:ext>
                </a:extLst>
              </a:tr>
              <a:tr h="482600">
                <a:tc>
                  <a:txBody>
                    <a:bodyPr/>
                    <a:lstStyle/>
                    <a:p>
                      <a:r>
                        <a:rPr sz="950" b="0" i="0">
                          <a:solidFill>
                            <a:srgbClr val="1F2937"/>
                          </a:solidFill>
                          <a:latin typeface="Calibri"/>
                        </a:rPr>
                        <a:t>Question-shaped, answer-ready sections (FAQ in the text)</a:t>
                      </a:r>
                    </a:p>
                  </a:txBody>
                  <a:tcPr marL="64008" marR="64008" marT="36576" marB="36576">
                    <a:solidFill>
                      <a:srgbClr val="FFFFFF"/>
                    </a:solidFill>
                  </a:tcPr>
                </a:tc>
                <a:tc>
                  <a:txBody>
                    <a:bodyPr/>
                    <a:lstStyle/>
                    <a:p>
                      <a:r>
                        <a:rPr sz="950" b="0" i="0">
                          <a:solidFill>
                            <a:srgbClr val="1F2937"/>
                          </a:solidFill>
                          <a:latin typeface="Calibri"/>
                        </a:rPr>
                        <a:t>GEO (KDD 2024): statistics, quotations, clear structure raised visibility up to ~40% on its benchmark; GEO-SFE (2026): +17.3% citation rate from structure across six engines</a:t>
                      </a:r>
                    </a:p>
                  </a:txBody>
                  <a:tcPr marL="64008" marR="64008" marT="36576" marB="36576">
                    <a:solidFill>
                      <a:srgbClr val="FFFFFF"/>
                    </a:solidFill>
                  </a:tcPr>
                </a:tc>
                <a:tc>
                  <a:txBody>
                    <a:bodyPr/>
                    <a:lstStyle/>
                    <a:p>
                      <a:r>
                        <a:rPr sz="950" b="0" i="0">
                          <a:solidFill>
                            <a:srgbClr val="1F2937"/>
                          </a:solidFill>
                          <a:latin typeface="Calibri"/>
                        </a:rPr>
                        <a:t>Grounded FAQ: +6.9 (interval +1.0 to +13.1); restoring FAQ questions is in the final page</a:t>
                      </a:r>
                    </a:p>
                  </a:txBody>
                  <a:tcPr marL="64008" marR="64008" marT="36576" marB="36576">
                    <a:solidFill>
                      <a:srgbClr val="FFFFFF"/>
                    </a:solidFill>
                  </a:tcPr>
                </a:tc>
                <a:tc>
                  <a:txBody>
                    <a:bodyPr/>
                    <a:lstStyle/>
                    <a:p>
                      <a:r>
                        <a:rPr sz="950" b="1" i="0">
                          <a:solidFill>
                            <a:srgbClr val="1E7A46"/>
                          </a:solidFill>
                          <a:latin typeface="Calibri"/>
                        </a:rPr>
                        <a:t>Positive exploratory result</a:t>
                      </a:r>
                    </a:p>
                  </a:txBody>
                  <a:tcPr marL="64008" marR="64008" marT="36576" marB="36576">
                    <a:solidFill>
                      <a:srgbClr val="FFFFFF"/>
                    </a:solidFill>
                  </a:tcPr>
                </a:tc>
                <a:extLst>
                  <a:ext uri="{0D108BD9-81ED-4DB2-BD59-A6C34878D82A}">
                    <a16:rowId xmlns:a16="http://schemas.microsoft.com/office/drawing/2014/main" val="10003"/>
                  </a:ext>
                </a:extLst>
              </a:tr>
              <a:tr h="482600">
                <a:tc>
                  <a:txBody>
                    <a:bodyPr/>
                    <a:lstStyle/>
                    <a:p>
                      <a:r>
                        <a:rPr sz="950" b="0" i="0">
                          <a:solidFill>
                            <a:srgbClr val="1F2937"/>
                          </a:solidFill>
                          <a:latin typeface="Calibri"/>
                        </a:rPr>
                        <a:t>Content present in the first HTML (no JavaScript needed)</a:t>
                      </a:r>
                    </a:p>
                  </a:txBody>
                  <a:tcPr marL="64008" marR="64008" marT="36576" marB="36576">
                    <a:solidFill>
                      <a:srgbClr val="F3F5F8"/>
                    </a:solidFill>
                  </a:tcPr>
                </a:tc>
                <a:tc>
                  <a:txBody>
                    <a:bodyPr/>
                    <a:lstStyle/>
                    <a:p>
                      <a:r>
                        <a:rPr sz="950" b="0" i="0">
                          <a:solidFill>
                            <a:srgbClr val="1F2937"/>
                          </a:solidFill>
                          <a:latin typeface="Calibri"/>
                        </a:rPr>
                        <a:t>Vercel/MERJ (Dec 2024) observed limited JavaScript rendering among sampled AI crawlers. Capabilities vary. Google advises useful content in text.</a:t>
                      </a:r>
                    </a:p>
                  </a:txBody>
                  <a:tcPr marL="64008" marR="64008" marT="36576" marB="36576">
                    <a:solidFill>
                      <a:srgbClr val="F3F5F8"/>
                    </a:solidFill>
                  </a:tcPr>
                </a:tc>
                <a:tc>
                  <a:txBody>
                    <a:bodyPr/>
                    <a:lstStyle/>
                    <a:p>
                      <a:r>
                        <a:rPr sz="950" b="0" i="0">
                          <a:solidFill>
                            <a:srgbClr val="1F2937"/>
                          </a:solidFill>
                          <a:latin typeface="Calibri"/>
                        </a:rPr>
                        <a:t>Rendered deal content: +6.6 (interval −0.3 to +14.1); base of the final page</a:t>
                      </a:r>
                    </a:p>
                  </a:txBody>
                  <a:tcPr marL="64008" marR="64008" marT="36576" marB="36576">
                    <a:solidFill>
                      <a:srgbClr val="F3F5F8"/>
                    </a:solidFill>
                  </a:tcPr>
                </a:tc>
                <a:tc>
                  <a:txBody>
                    <a:bodyPr/>
                    <a:lstStyle/>
                    <a:p>
                      <a:r>
                        <a:rPr sz="950" b="1" i="0">
                          <a:solidFill>
                            <a:srgbClr val="1E7A46"/>
                          </a:solidFill>
                          <a:latin typeface="Calibri"/>
                        </a:rPr>
                        <a:t>Positive estimate; interval includes zero</a:t>
                      </a:r>
                    </a:p>
                  </a:txBody>
                  <a:tcPr marL="64008" marR="64008" marT="36576" marB="36576">
                    <a:solidFill>
                      <a:srgbClr val="F3F5F8"/>
                    </a:solidFill>
                  </a:tcPr>
                </a:tc>
                <a:extLst>
                  <a:ext uri="{0D108BD9-81ED-4DB2-BD59-A6C34878D82A}">
                    <a16:rowId xmlns:a16="http://schemas.microsoft.com/office/drawing/2014/main" val="10004"/>
                  </a:ext>
                </a:extLst>
              </a:tr>
              <a:tr h="482600">
                <a:tc>
                  <a:txBody>
                    <a:bodyPr/>
                    <a:lstStyle/>
                    <a:p>
                      <a:r>
                        <a:rPr sz="950" b="0" i="0">
                          <a:solidFill>
                            <a:srgbClr val="1F2937"/>
                          </a:solidFill>
                          <a:latin typeface="Calibri"/>
                        </a:rPr>
                        <a:t>Structured data (JSON-LD)</a:t>
                      </a:r>
                    </a:p>
                  </a:txBody>
                  <a:tcPr marL="64008" marR="64008" marT="36576" marB="36576">
                    <a:solidFill>
                      <a:srgbClr val="FFFFFF"/>
                    </a:solidFill>
                  </a:tcPr>
                </a:tc>
                <a:tc>
                  <a:txBody>
                    <a:bodyPr/>
                    <a:lstStyle/>
                    <a:p>
                      <a:r>
                        <a:rPr sz="950" b="0" i="0">
                          <a:solidFill>
                            <a:srgbClr val="1F2937"/>
                          </a:solidFill>
                          <a:latin typeface="Calibri"/>
                        </a:rPr>
                        <a:t>Google: 'no special schema.org structured data' for AI features; must match visible text. Bing: GEO does not guarantee citations</a:t>
                      </a:r>
                    </a:p>
                  </a:txBody>
                  <a:tcPr marL="64008" marR="64008" marT="36576" marB="36576">
                    <a:solidFill>
                      <a:srgbClr val="FFFFFF"/>
                    </a:solidFill>
                  </a:tcPr>
                </a:tc>
                <a:tc>
                  <a:txBody>
                    <a:bodyPr/>
                    <a:lstStyle/>
                    <a:p>
                      <a:r>
                        <a:rPr sz="950" b="0" i="0">
                          <a:solidFill>
                            <a:srgbClr val="1F2937"/>
                          </a:solidFill>
                          <a:latin typeface="Calibri"/>
                        </a:rPr>
                        <a:t>Schema with a visible layout: +6.2 (interval +1.4 to +11.0), but the visible change is confounded</a:t>
                      </a:r>
                    </a:p>
                  </a:txBody>
                  <a:tcPr marL="64008" marR="64008" marT="36576" marB="36576">
                    <a:solidFill>
                      <a:srgbClr val="FFFFFF"/>
                    </a:solidFill>
                  </a:tcPr>
                </a:tc>
                <a:tc>
                  <a:txBody>
                    <a:bodyPr/>
                    <a:lstStyle/>
                    <a:p>
                      <a:r>
                        <a:rPr sz="950" b="1" i="0">
                          <a:solidFill>
                            <a:srgbClr val="B26B00"/>
                          </a:solidFill>
                          <a:latin typeface="Calibri"/>
                        </a:rPr>
                        <a:t>Hygiene; not the cause of 52%</a:t>
                      </a:r>
                    </a:p>
                  </a:txBody>
                  <a:tcPr marL="64008" marR="64008" marT="36576" marB="36576">
                    <a:solidFill>
                      <a:srgbClr val="FFFFFF"/>
                    </a:solidFill>
                  </a:tcPr>
                </a:tc>
                <a:extLst>
                  <a:ext uri="{0D108BD9-81ED-4DB2-BD59-A6C34878D82A}">
                    <a16:rowId xmlns:a16="http://schemas.microsoft.com/office/drawing/2014/main" val="10005"/>
                  </a:ext>
                </a:extLst>
              </a:tr>
              <a:tr h="482600">
                <a:tc>
                  <a:txBody>
                    <a:bodyPr/>
                    <a:lstStyle/>
                    <a:p>
                      <a:r>
                        <a:rPr sz="950" b="0" i="0">
                          <a:solidFill>
                            <a:srgbClr val="1F2937"/>
                          </a:solidFill>
                          <a:latin typeface="Calibri"/>
                        </a:rPr>
                        <a:t>Automatic AI rewriting for engines</a:t>
                      </a:r>
                    </a:p>
                  </a:txBody>
                  <a:tcPr marL="64008" marR="64008" marT="36576" marB="36576">
                    <a:solidFill>
                      <a:srgbClr val="F3F5F8"/>
                    </a:solidFill>
                  </a:tcPr>
                </a:tc>
                <a:tc>
                  <a:txBody>
                    <a:bodyPr/>
                    <a:lstStyle/>
                    <a:p>
                      <a:r>
                        <a:rPr sz="950" b="0" i="0">
                          <a:solidFill>
                            <a:srgbClr val="1F2937"/>
                          </a:solidFill>
                          <a:latin typeface="Calibri"/>
                        </a:rPr>
                        <a:t>Most conversational-SEO rewrites ineffective or negative; traditional SEO more effective (C-SEO Bench, 2025); Google: do not rewrite for AI</a:t>
                      </a:r>
                    </a:p>
                  </a:txBody>
                  <a:tcPr marL="64008" marR="64008" marT="36576" marB="36576">
                    <a:solidFill>
                      <a:srgbClr val="F3F5F8"/>
                    </a:solidFill>
                  </a:tcPr>
                </a:tc>
                <a:tc>
                  <a:txBody>
                    <a:bodyPr/>
                    <a:lstStyle/>
                    <a:p>
                      <a:r>
                        <a:rPr sz="950" b="0" i="0">
                          <a:solidFill>
                            <a:srgbClr val="1F2937"/>
                          </a:solidFill>
                          <a:latin typeface="Calibri"/>
                        </a:rPr>
                        <a:t>AI rewrite arm: −5.5 points (interval −10.0 to −1.4)</a:t>
                      </a:r>
                    </a:p>
                  </a:txBody>
                  <a:tcPr marL="64008" marR="64008" marT="36576" marB="36576">
                    <a:solidFill>
                      <a:srgbClr val="F3F5F8"/>
                    </a:solidFill>
                  </a:tcPr>
                </a:tc>
                <a:tc>
                  <a:txBody>
                    <a:bodyPr/>
                    <a:lstStyle/>
                    <a:p>
                      <a:r>
                        <a:rPr sz="950" b="1" i="0">
                          <a:solidFill>
                            <a:srgbClr val="C8102E"/>
                          </a:solidFill>
                          <a:latin typeface="Calibri"/>
                        </a:rPr>
                        <a:t>Tested rewrite declined</a:t>
                      </a:r>
                    </a:p>
                  </a:txBody>
                  <a:tcPr marL="64008" marR="64008" marT="36576" marB="36576">
                    <a:solidFill>
                      <a:srgbClr val="F3F5F8"/>
                    </a:solidFill>
                  </a:tcPr>
                </a:tc>
                <a:extLst>
                  <a:ext uri="{0D108BD9-81ED-4DB2-BD59-A6C34878D82A}">
                    <a16:rowId xmlns:a16="http://schemas.microsoft.com/office/drawing/2014/main" val="10006"/>
                  </a:ext>
                </a:extLst>
              </a:tr>
              <a:tr h="482600">
                <a:tc>
                  <a:txBody>
                    <a:bodyPr/>
                    <a:lstStyle/>
                    <a:p>
                      <a:r>
                        <a:rPr sz="950" b="0" i="0">
                          <a:solidFill>
                            <a:srgbClr val="1F2937"/>
                          </a:solidFill>
                          <a:latin typeface="Calibri"/>
                        </a:rPr>
                        <a:t>Earned third-party mentions</a:t>
                      </a:r>
                    </a:p>
                  </a:txBody>
                  <a:tcPr marL="64008" marR="64008" marT="36576" marB="36576">
                    <a:solidFill>
                      <a:srgbClr val="FFFFFF"/>
                    </a:solidFill>
                  </a:tcPr>
                </a:tc>
                <a:tc>
                  <a:txBody>
                    <a:bodyPr/>
                    <a:lstStyle/>
                    <a:p>
                      <a:r>
                        <a:rPr sz="950" b="0" i="0">
                          <a:solidFill>
                            <a:srgbClr val="1F2937"/>
                          </a:solidFill>
                          <a:latin typeface="Calibri"/>
                        </a:rPr>
                        <a:t>ChatGPT citations: Reddit 16.8%, Wikipedia 7.0%, Tripadvisor 1.5% and the only travel site in the top 50 (Ahrefs, Sep 2026); Google warns against inauthentic mentions</a:t>
                      </a:r>
                    </a:p>
                  </a:txBody>
                  <a:tcPr marL="64008" marR="64008" marT="36576" marB="36576">
                    <a:solidFill>
                      <a:srgbClr val="FFFFFF"/>
                    </a:solidFill>
                  </a:tcPr>
                </a:tc>
                <a:tc>
                  <a:txBody>
                    <a:bodyPr/>
                    <a:lstStyle/>
                    <a:p>
                      <a:r>
                        <a:rPr sz="950" b="0" i="0">
                          <a:solidFill>
                            <a:srgbClr val="1F2937"/>
                          </a:solidFill>
                          <a:latin typeface="Calibri"/>
                        </a:rPr>
                        <a:t>Adding an outside statistic to our own page: +3.4 overall, no net gain where it changed what the model read</a:t>
                      </a:r>
                    </a:p>
                  </a:txBody>
                  <a:tcPr marL="64008" marR="64008" marT="36576" marB="36576">
                    <a:solidFill>
                      <a:srgbClr val="FFFFFF"/>
                    </a:solidFill>
                  </a:tcPr>
                </a:tc>
                <a:tc>
                  <a:txBody>
                    <a:bodyPr/>
                    <a:lstStyle/>
                    <a:p>
                      <a:r>
                        <a:rPr sz="950" b="1" i="0">
                          <a:solidFill>
                            <a:srgbClr val="B26B00"/>
                          </a:solidFill>
                          <a:latin typeface="Calibri"/>
                        </a:rPr>
                        <a:t>Outside facts did not establish an authority benefit</a:t>
                      </a:r>
                    </a:p>
                  </a:txBody>
                  <a:tcPr marL="64008" marR="64008" marT="36576" marB="36576">
                    <a:solidFill>
                      <a:srgbClr val="FFFFFF"/>
                    </a:solidFill>
                  </a:tcPr>
                </a:tc>
                <a:extLst>
                  <a:ext uri="{0D108BD9-81ED-4DB2-BD59-A6C34878D82A}">
                    <a16:rowId xmlns:a16="http://schemas.microsoft.com/office/drawing/2014/main" val="10007"/>
                  </a:ext>
                </a:extLst>
              </a:tr>
              <a:tr h="482600">
                <a:tc>
                  <a:txBody>
                    <a:bodyPr/>
                    <a:lstStyle/>
                    <a:p>
                      <a:r>
                        <a:rPr sz="950" b="0" i="0">
                          <a:solidFill>
                            <a:srgbClr val="1F2937"/>
                          </a:solidFill>
                          <a:latin typeface="Calibri"/>
                        </a:rPr>
                        <a:t>llms.txt</a:t>
                      </a:r>
                    </a:p>
                  </a:txBody>
                  <a:tcPr marL="64008" marR="64008" marT="36576" marB="36576">
                    <a:solidFill>
                      <a:srgbClr val="F3F5F8"/>
                    </a:solidFill>
                  </a:tcPr>
                </a:tc>
                <a:tc>
                  <a:txBody>
                    <a:bodyPr/>
                    <a:lstStyle/>
                    <a:p>
                      <a:r>
                        <a:rPr sz="950" b="0" i="0">
                          <a:solidFill>
                            <a:srgbClr val="1F2937"/>
                          </a:solidFill>
                          <a:latin typeface="Calibri"/>
                        </a:rPr>
                        <a:t>97% of 38,000 published files received zero requests in May 2026 (Ahrefs, 137,210 domains); Google Search ignores it</a:t>
                      </a:r>
                    </a:p>
                  </a:txBody>
                  <a:tcPr marL="64008" marR="64008" marT="36576" marB="36576">
                    <a:solidFill>
                      <a:srgbClr val="F3F5F8"/>
                    </a:solidFill>
                  </a:tcPr>
                </a:tc>
                <a:tc>
                  <a:txBody>
                    <a:bodyPr/>
                    <a:lstStyle/>
                    <a:p>
                      <a:r>
                        <a:rPr sz="950" b="0" i="0">
                          <a:solidFill>
                            <a:srgbClr val="1F2937"/>
                          </a:solidFill>
                          <a:latin typeface="Calibri"/>
                        </a:rPr>
                        <a:t>Not tested (not a content change)</a:t>
                      </a:r>
                    </a:p>
                  </a:txBody>
                  <a:tcPr marL="64008" marR="64008" marT="36576" marB="36576">
                    <a:solidFill>
                      <a:srgbClr val="F3F5F8"/>
                    </a:solidFill>
                  </a:tcPr>
                </a:tc>
                <a:tc>
                  <a:txBody>
                    <a:bodyPr/>
                    <a:lstStyle/>
                    <a:p>
                      <a:r>
                        <a:rPr sz="950" b="1" i="0">
                          <a:solidFill>
                            <a:srgbClr val="B26B00"/>
                          </a:solidFill>
                          <a:latin typeface="Calibri"/>
                        </a:rPr>
                        <a:t>Optional; no ranking claim</a:t>
                      </a:r>
                    </a:p>
                  </a:txBody>
                  <a:tcPr marL="64008" marR="64008" marT="36576" marB="36576">
                    <a:solidFill>
                      <a:srgbClr val="F3F5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Aggarwal et al. (KDD 2024); Puerto et al., C-SEO Bench (NeurIPS 2025); Liu et al. (TACL 2024); arXiv 2605.25517, 2604.25707, 2603.29979, 2607.14035 (2026 preprints); Vercel (17 Dec 2024); Google Search Central AI optimisation guide (May 2026); Bing Webmaster Guidelines (27 Feb 2026); Ahrefs (Jun and Sep 2026). Sandbox intervals are exploratory 95% paired bootstraps, 290 answers per version.</a:t>
            </a:r>
          </a:p>
        </p:txBody>
      </p:sp>
      <p:sp>
        <p:nvSpPr>
          <p:cNvPr id="8" name="TextBox 7"/>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26</a:t>
            </a:r>
            <a:endParaRPr sz="900" b="0" i="0">
              <a:solidFill>
                <a:srgbClr val="5B6573"/>
              </a:solidFill>
              <a:latin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What Google, OpenAI and Bing say: use the vendor checklist as a work list, not as ranking switches</a:t>
            </a:r>
          </a:p>
        </p:txBody>
      </p:sp>
      <p:sp>
        <p:nvSpPr>
          <p:cNvPr id="4" name="Rounded Rectangle 3"/>
          <p:cNvSpPr/>
          <p:nvPr/>
        </p:nvSpPr>
        <p:spPr>
          <a:xfrm>
            <a:off x="9582912" y="329184"/>
            <a:ext cx="2075688"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Official documentation</a:t>
            </a:r>
          </a:p>
        </p:txBody>
      </p:sp>
      <p:graphicFrame>
        <p:nvGraphicFramePr>
          <p:cNvPr id="5" name="Table 4"/>
          <p:cNvGraphicFramePr>
            <a:graphicFrameLocks noGrp="1"/>
          </p:cNvGraphicFramePr>
          <p:nvPr/>
        </p:nvGraphicFramePr>
        <p:xfrm>
          <a:off x="548640" y="1600200"/>
          <a:ext cx="11109960" cy="4160520"/>
        </p:xfrm>
        <a:graphic>
          <a:graphicData uri="http://schemas.openxmlformats.org/drawingml/2006/table">
            <a:tbl>
              <a:tblPr/>
              <a:tblGrid>
                <a:gridCol w="246888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520065">
                <a:tc>
                  <a:txBody>
                    <a:bodyPr/>
                    <a:lstStyle/>
                    <a:p>
                      <a:r>
                        <a:rPr sz="1050" b="1" i="0">
                          <a:solidFill>
                            <a:srgbClr val="FFFFFF"/>
                          </a:solidFill>
                          <a:latin typeface="Calibri"/>
                        </a:rPr>
                        <a:t>Claim you will hear from vendors</a:t>
                      </a:r>
                    </a:p>
                  </a:txBody>
                  <a:tcPr marL="64008" marR="64008" marT="36576" marB="36576" anchor="ctr">
                    <a:solidFill>
                      <a:srgbClr val="0B2240"/>
                    </a:solidFill>
                  </a:tcPr>
                </a:tc>
                <a:tc>
                  <a:txBody>
                    <a:bodyPr/>
                    <a:lstStyle/>
                    <a:p>
                      <a:r>
                        <a:rPr sz="1050" b="1" i="0">
                          <a:solidFill>
                            <a:srgbClr val="FFFFFF"/>
                          </a:solidFill>
                          <a:latin typeface="Calibri"/>
                        </a:rPr>
                        <a:t>What the platform actually says</a:t>
                      </a:r>
                    </a:p>
                  </a:txBody>
                  <a:tcPr marL="64008" marR="64008" marT="36576" marB="36576" anchor="ctr">
                    <a:solidFill>
                      <a:srgbClr val="0B2240"/>
                    </a:solidFill>
                  </a:tcPr>
                </a:tc>
                <a:tc>
                  <a:txBody>
                    <a:bodyPr/>
                    <a:lstStyle/>
                    <a:p>
                      <a:r>
                        <a:rPr sz="1050" b="1" i="0">
                          <a:solidFill>
                            <a:srgbClr val="FFFFFF"/>
                          </a:solidFill>
                          <a:latin typeface="Calibri"/>
                        </a:rPr>
                        <a:t>How we treat it</a:t>
                      </a:r>
                    </a:p>
                  </a:txBody>
                  <a:tcPr marL="64008" marR="64008" marT="36576" marB="36576" anchor="ctr">
                    <a:solidFill>
                      <a:srgbClr val="0B2240"/>
                    </a:solidFill>
                  </a:tcPr>
                </a:tc>
                <a:extLst>
                  <a:ext uri="{0D108BD9-81ED-4DB2-BD59-A6C34878D82A}">
                    <a16:rowId xmlns:a16="http://schemas.microsoft.com/office/drawing/2014/main" val="10000"/>
                  </a:ext>
                </a:extLst>
              </a:tr>
              <a:tr h="520065">
                <a:tc>
                  <a:txBody>
                    <a:bodyPr/>
                    <a:lstStyle/>
                    <a:p>
                      <a:r>
                        <a:rPr sz="1000" b="0" i="0">
                          <a:solidFill>
                            <a:srgbClr val="1F2937"/>
                          </a:solidFill>
                          <a:latin typeface="Calibri"/>
                        </a:rPr>
                        <a:t>'You need llms.txt to be in AI search'</a:t>
                      </a:r>
                    </a:p>
                  </a:txBody>
                  <a:tcPr marL="64008" marR="64008" marT="36576" marB="36576">
                    <a:solidFill>
                      <a:srgbClr val="FFFFFF"/>
                    </a:solidFill>
                  </a:tcPr>
                </a:tc>
                <a:tc>
                  <a:txBody>
                    <a:bodyPr/>
                    <a:lstStyle/>
                    <a:p>
                      <a:r>
                        <a:rPr sz="1000" b="0" i="0">
                          <a:solidFill>
                            <a:srgbClr val="1F2937"/>
                          </a:solidFill>
                          <a:latin typeface="Calibri"/>
                        </a:rPr>
                        <a:t>Google (May 2026): no machine-readable AI files or Markdown are needed; Search ignores them. Ahrefs: 97% of such files are never requested.</a:t>
                      </a:r>
                    </a:p>
                  </a:txBody>
                  <a:tcPr marL="64008" marR="64008" marT="36576" marB="36576">
                    <a:solidFill>
                      <a:srgbClr val="FFFFFF"/>
                    </a:solidFill>
                  </a:tcPr>
                </a:tc>
                <a:tc>
                  <a:txBody>
                    <a:bodyPr/>
                    <a:lstStyle/>
                    <a:p>
                      <a:r>
                        <a:rPr sz="1000" b="0" i="0">
                          <a:solidFill>
                            <a:srgbClr val="1F2937"/>
                          </a:solidFill>
                          <a:latin typeface="Calibri"/>
                        </a:rPr>
                        <a:t>Optional; prioritise standard access and content. No demonstrated ranking benefit.</a:t>
                      </a:r>
                    </a:p>
                  </a:txBody>
                  <a:tcPr marL="64008" marR="64008" marT="36576" marB="36576">
                    <a:solidFill>
                      <a:srgbClr val="FFFFFF"/>
                    </a:solidFill>
                  </a:tcPr>
                </a:tc>
                <a:extLst>
                  <a:ext uri="{0D108BD9-81ED-4DB2-BD59-A6C34878D82A}">
                    <a16:rowId xmlns:a16="http://schemas.microsoft.com/office/drawing/2014/main" val="10001"/>
                  </a:ext>
                </a:extLst>
              </a:tr>
              <a:tr h="520065">
                <a:tc>
                  <a:txBody>
                    <a:bodyPr/>
                    <a:lstStyle/>
                    <a:p>
                      <a:r>
                        <a:rPr sz="1000" b="0" i="0">
                          <a:solidFill>
                            <a:srgbClr val="1F2937"/>
                          </a:solidFill>
                          <a:latin typeface="Calibri"/>
                        </a:rPr>
                        <a:t>'Special AI schema gets you cited'</a:t>
                      </a:r>
                    </a:p>
                  </a:txBody>
                  <a:tcPr marL="64008" marR="64008" marT="36576" marB="36576">
                    <a:solidFill>
                      <a:srgbClr val="F3F5F8"/>
                    </a:solidFill>
                  </a:tcPr>
                </a:tc>
                <a:tc>
                  <a:txBody>
                    <a:bodyPr/>
                    <a:lstStyle/>
                    <a:p>
                      <a:r>
                        <a:rPr sz="1000" b="0" i="0">
                          <a:solidFill>
                            <a:srgbClr val="1F2937"/>
                          </a:solidFill>
                          <a:latin typeface="Calibri"/>
                        </a:rPr>
                        <a:t>Google: 'no special schema.org structured data' for AI features; structured data must match the visible text. Bing: GEO does not guarantee citations, as SEO does not guarantee rankings.</a:t>
                      </a:r>
                    </a:p>
                  </a:txBody>
                  <a:tcPr marL="64008" marR="64008" marT="36576" marB="36576">
                    <a:solidFill>
                      <a:srgbClr val="F3F5F8"/>
                    </a:solidFill>
                  </a:tcPr>
                </a:tc>
                <a:tc>
                  <a:txBody>
                    <a:bodyPr/>
                    <a:lstStyle/>
                    <a:p>
                      <a:r>
                        <a:rPr sz="1000" b="0" i="0">
                          <a:solidFill>
                            <a:srgbClr val="1F2937"/>
                          </a:solidFill>
                          <a:latin typeface="Calibri"/>
                        </a:rPr>
                        <a:t>Generate JSON-LD from the same record as the page. Consistency, not magic.</a:t>
                      </a:r>
                    </a:p>
                  </a:txBody>
                  <a:tcPr marL="64008" marR="64008" marT="36576" marB="36576">
                    <a:solidFill>
                      <a:srgbClr val="F3F5F8"/>
                    </a:solidFill>
                  </a:tcPr>
                </a:tc>
                <a:extLst>
                  <a:ext uri="{0D108BD9-81ED-4DB2-BD59-A6C34878D82A}">
                    <a16:rowId xmlns:a16="http://schemas.microsoft.com/office/drawing/2014/main" val="10002"/>
                  </a:ext>
                </a:extLst>
              </a:tr>
              <a:tr h="520065">
                <a:tc>
                  <a:txBody>
                    <a:bodyPr/>
                    <a:lstStyle/>
                    <a:p>
                      <a:r>
                        <a:rPr sz="1000" b="0" i="0">
                          <a:solidFill>
                            <a:srgbClr val="1F2937"/>
                          </a:solidFill>
                          <a:latin typeface="Calibri"/>
                        </a:rPr>
                        <a:t>'Chunk pages into AI-sized pieces'</a:t>
                      </a:r>
                    </a:p>
                  </a:txBody>
                  <a:tcPr marL="64008" marR="64008" marT="36576" marB="36576">
                    <a:solidFill>
                      <a:srgbClr val="FFFFFF"/>
                    </a:solidFill>
                  </a:tcPr>
                </a:tc>
                <a:tc>
                  <a:txBody>
                    <a:bodyPr/>
                    <a:lstStyle/>
                    <a:p>
                      <a:r>
                        <a:rPr sz="1000" b="0" i="0">
                          <a:solidFill>
                            <a:srgbClr val="1F2937"/>
                          </a:solidFill>
                          <a:latin typeface="Calibri"/>
                        </a:rPr>
                        <a:t>Google: no need to split content; its systems surface the relevant part of a page.</a:t>
                      </a:r>
                    </a:p>
                  </a:txBody>
                  <a:tcPr marL="64008" marR="64008" marT="36576" marB="36576">
                    <a:solidFill>
                      <a:srgbClr val="FFFFFF"/>
                    </a:solidFill>
                  </a:tcPr>
                </a:tc>
                <a:tc>
                  <a:txBody>
                    <a:bodyPr/>
                    <a:lstStyle/>
                    <a:p>
                      <a:r>
                        <a:rPr sz="1000" b="0" i="0">
                          <a:solidFill>
                            <a:srgbClr val="1F2937"/>
                          </a:solidFill>
                          <a:latin typeface="Calibri"/>
                        </a:rPr>
                        <a:t>Skip.</a:t>
                      </a:r>
                    </a:p>
                  </a:txBody>
                  <a:tcPr marL="64008" marR="64008" marT="36576" marB="36576">
                    <a:solidFill>
                      <a:srgbClr val="FFFFFF"/>
                    </a:solidFill>
                  </a:tcPr>
                </a:tc>
                <a:extLst>
                  <a:ext uri="{0D108BD9-81ED-4DB2-BD59-A6C34878D82A}">
                    <a16:rowId xmlns:a16="http://schemas.microsoft.com/office/drawing/2014/main" val="10003"/>
                  </a:ext>
                </a:extLst>
              </a:tr>
              <a:tr h="520065">
                <a:tc>
                  <a:txBody>
                    <a:bodyPr/>
                    <a:lstStyle/>
                    <a:p>
                      <a:r>
                        <a:rPr sz="1000" b="0" i="0">
                          <a:solidFill>
                            <a:srgbClr val="1F2937"/>
                          </a:solidFill>
                          <a:latin typeface="Calibri"/>
                        </a:rPr>
                        <a:t>'Rewrite copy for ChatGPT'</a:t>
                      </a:r>
                    </a:p>
                  </a:txBody>
                  <a:tcPr marL="64008" marR="64008" marT="36576" marB="36576">
                    <a:solidFill>
                      <a:srgbClr val="F3F5F8"/>
                    </a:solidFill>
                  </a:tcPr>
                </a:tc>
                <a:tc>
                  <a:txBody>
                    <a:bodyPr/>
                    <a:lstStyle/>
                    <a:p>
                      <a:r>
                        <a:rPr sz="1000" b="0" i="0">
                          <a:solidFill>
                            <a:srgbClr val="1F2937"/>
                          </a:solidFill>
                          <a:latin typeface="Calibri"/>
                        </a:rPr>
                        <a:t>Google: rewriting for AI is unnecessary and, at scale, can be scaled-content abuse. Bing (Feb 2026): 'artificially engineered language' to trigger citations is now a listed abuse.</a:t>
                      </a:r>
                    </a:p>
                  </a:txBody>
                  <a:tcPr marL="64008" marR="64008" marT="36576" marB="36576">
                    <a:solidFill>
                      <a:srgbClr val="F3F5F8"/>
                    </a:solidFill>
                  </a:tcPr>
                </a:tc>
                <a:tc>
                  <a:txBody>
                    <a:bodyPr/>
                    <a:lstStyle/>
                    <a:p>
                      <a:r>
                        <a:rPr sz="1000" b="0" i="0">
                          <a:solidFill>
                            <a:srgbClr val="1F2937"/>
                          </a:solidFill>
                          <a:latin typeface="Calibri"/>
                        </a:rPr>
                        <a:t>Our tested rewrite lost 5.5 points. Validate quality and results before adoption.</a:t>
                      </a:r>
                    </a:p>
                  </a:txBody>
                  <a:tcPr marL="64008" marR="64008" marT="36576" marB="36576">
                    <a:solidFill>
                      <a:srgbClr val="F3F5F8"/>
                    </a:solidFill>
                  </a:tcPr>
                </a:tc>
                <a:extLst>
                  <a:ext uri="{0D108BD9-81ED-4DB2-BD59-A6C34878D82A}">
                    <a16:rowId xmlns:a16="http://schemas.microsoft.com/office/drawing/2014/main" val="10004"/>
                  </a:ext>
                </a:extLst>
              </a:tr>
              <a:tr h="520065">
                <a:tc>
                  <a:txBody>
                    <a:bodyPr/>
                    <a:lstStyle/>
                    <a:p>
                      <a:r>
                        <a:rPr sz="1000" b="0" i="0">
                          <a:solidFill>
                            <a:srgbClr val="1F2937"/>
                          </a:solidFill>
                          <a:latin typeface="Calibri"/>
                        </a:rPr>
                        <a:t>'Buy mentions and forum posts'</a:t>
                      </a:r>
                    </a:p>
                  </a:txBody>
                  <a:tcPr marL="64008" marR="64008" marT="36576" marB="36576">
                    <a:solidFill>
                      <a:srgbClr val="FFFFFF"/>
                    </a:solidFill>
                  </a:tcPr>
                </a:tc>
                <a:tc>
                  <a:txBody>
                    <a:bodyPr/>
                    <a:lstStyle/>
                    <a:p>
                      <a:r>
                        <a:rPr sz="1000" b="0" i="0">
                          <a:solidFill>
                            <a:srgbClr val="1F2937"/>
                          </a:solidFill>
                          <a:latin typeface="Calibri"/>
                        </a:rPr>
                        <a:t>Google: inauthentic brand mentions 'isn't as helpful as it might seem'. Bing: prompt injection and AI manipulation are abuse.</a:t>
                      </a:r>
                    </a:p>
                  </a:txBody>
                  <a:tcPr marL="64008" marR="64008" marT="36576" marB="36576">
                    <a:solidFill>
                      <a:srgbClr val="FFFFFF"/>
                    </a:solidFill>
                  </a:tcPr>
                </a:tc>
                <a:tc>
                  <a:txBody>
                    <a:bodyPr/>
                    <a:lstStyle/>
                    <a:p>
                      <a:r>
                        <a:rPr sz="1000" b="0" i="0">
                          <a:solidFill>
                            <a:srgbClr val="1F2937"/>
                          </a:solidFill>
                          <a:latin typeface="Calibri"/>
                        </a:rPr>
                        <a:t>Earned mentions only: Wikipedia accuracy, reviews, trade press, useful research.</a:t>
                      </a:r>
                    </a:p>
                  </a:txBody>
                  <a:tcPr marL="64008" marR="64008" marT="36576" marB="36576">
                    <a:solidFill>
                      <a:srgbClr val="FFFFFF"/>
                    </a:solidFill>
                  </a:tcPr>
                </a:tc>
                <a:extLst>
                  <a:ext uri="{0D108BD9-81ED-4DB2-BD59-A6C34878D82A}">
                    <a16:rowId xmlns:a16="http://schemas.microsoft.com/office/drawing/2014/main" val="10005"/>
                  </a:ext>
                </a:extLst>
              </a:tr>
              <a:tr h="520065">
                <a:tc>
                  <a:txBody>
                    <a:bodyPr/>
                    <a:lstStyle/>
                    <a:p>
                      <a:r>
                        <a:rPr sz="1000" b="0" i="0">
                          <a:solidFill>
                            <a:srgbClr val="1F2937"/>
                          </a:solidFill>
                          <a:latin typeface="Calibri"/>
                        </a:rPr>
                        <a:t>'Allow GPTBot and you are in ChatGPT'</a:t>
                      </a:r>
                    </a:p>
                  </a:txBody>
                  <a:tcPr marL="64008" marR="64008" marT="36576" marB="36576">
                    <a:solidFill>
                      <a:srgbClr val="F3F5F8"/>
                    </a:solidFill>
                  </a:tcPr>
                </a:tc>
                <a:tc>
                  <a:txBody>
                    <a:bodyPr/>
                    <a:lstStyle/>
                    <a:p>
                      <a:r>
                        <a:rPr sz="1000" b="0" i="0">
                          <a:solidFill>
                            <a:srgbClr val="1F2937"/>
                          </a:solidFill>
                          <a:latin typeface="Calibri"/>
                        </a:rPr>
                        <a:t>OpenAI: GPTBot is training; OAI-SearchBot decides ChatGPT search ('sites opted out of OAI-SearchBot will not be shown'); ChatGPT-User fetches for a user and may ignore robots.txt. Changes take ~24 h.</a:t>
                      </a:r>
                    </a:p>
                  </a:txBody>
                  <a:tcPr marL="64008" marR="64008" marT="36576" marB="36576">
                    <a:solidFill>
                      <a:srgbClr val="F3F5F8"/>
                    </a:solidFill>
                  </a:tcPr>
                </a:tc>
                <a:tc>
                  <a:txBody>
                    <a:bodyPr/>
                    <a:lstStyle/>
                    <a:p>
                      <a:r>
                        <a:rPr sz="1000" b="0" i="0">
                          <a:solidFill>
                            <a:srgbClr val="1F2937"/>
                          </a:solidFill>
                          <a:latin typeface="Calibri"/>
                        </a:rPr>
                        <a:t>Name the right bots explicitly. Confirm fetches in server logs.</a:t>
                      </a:r>
                    </a:p>
                  </a:txBody>
                  <a:tcPr marL="64008" marR="64008" marT="36576" marB="36576">
                    <a:solidFill>
                      <a:srgbClr val="F3F5F8"/>
                    </a:solidFill>
                  </a:tcPr>
                </a:tc>
                <a:extLst>
                  <a:ext uri="{0D108BD9-81ED-4DB2-BD59-A6C34878D82A}">
                    <a16:rowId xmlns:a16="http://schemas.microsoft.com/office/drawing/2014/main" val="10006"/>
                  </a:ext>
                </a:extLst>
              </a:tr>
              <a:tr h="520065">
                <a:tc>
                  <a:txBody>
                    <a:bodyPr/>
                    <a:lstStyle/>
                    <a:p>
                      <a:r>
                        <a:rPr sz="1000" b="0" i="0">
                          <a:solidFill>
                            <a:srgbClr val="1F2937"/>
                          </a:solidFill>
                          <a:latin typeface="Calibri"/>
                        </a:rPr>
                        <a:t>'Block Copilot training but keep citations'</a:t>
                      </a:r>
                    </a:p>
                  </a:txBody>
                  <a:tcPr marL="64008" marR="64008" marT="36576" marB="36576">
                    <a:solidFill>
                      <a:srgbClr val="FFFFFF"/>
                    </a:solidFill>
                  </a:tcPr>
                </a:tc>
                <a:tc>
                  <a:txBody>
                    <a:bodyPr/>
                    <a:lstStyle/>
                    <a:p>
                      <a:r>
                        <a:rPr sz="1000" b="0" i="0">
                          <a:solidFill>
                            <a:srgbClr val="1F2937"/>
                          </a:solidFill>
                          <a:latin typeface="Calibri"/>
                        </a:rPr>
                        <a:t>Bing: NOARCHIVE removes content from Copilot answers and grounding; NOCACHE limits Copilot to URL, title and snippet.</a:t>
                      </a:r>
                    </a:p>
                  </a:txBody>
                  <a:tcPr marL="64008" marR="64008" marT="36576" marB="36576">
                    <a:solidFill>
                      <a:srgbClr val="FFFFFF"/>
                    </a:solidFill>
                  </a:tcPr>
                </a:tc>
                <a:tc>
                  <a:txBody>
                    <a:bodyPr/>
                    <a:lstStyle/>
                    <a:p>
                      <a:r>
                        <a:rPr sz="1000" b="0" i="0">
                          <a:solidFill>
                            <a:srgbClr val="1F2937"/>
                          </a:solidFill>
                          <a:latin typeface="Calibri"/>
                        </a:rPr>
                        <a:t>Audit meta directives before any opt-out.</a:t>
                      </a:r>
                    </a:p>
                  </a:txBody>
                  <a:tcPr marL="64008" marR="64008" marT="36576" marB="36576">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548640" y="5852160"/>
            <a:ext cx="10972800" cy="411480"/>
          </a:xfrm>
          <a:prstGeom prst="rect">
            <a:avLst/>
          </a:prstGeom>
          <a:noFill/>
        </p:spPr>
        <p:txBody>
          <a:bodyPr wrap="square" lIns="45720" rIns="45720" anchor="t">
            <a:spAutoFit/>
          </a:bodyPr>
          <a:lstStyle/>
          <a:p>
            <a:pPr algn="l">
              <a:lnSpc>
                <a:spcPct val="108000"/>
              </a:lnSpc>
              <a:spcAft>
                <a:spcPts val="400"/>
              </a:spcAft>
            </a:pPr>
            <a:r>
              <a:rPr sz="1150" b="1" i="0">
                <a:solidFill>
                  <a:srgbClr val="0B2240"/>
                </a:solidFill>
                <a:latin typeface="Calibri"/>
              </a:rPr>
              <a:t>Google's own summary: 'optimizing for generative AI search is optimizing for the search experience, and thus still SEO.' What it rewards is 'non-commodity' content: facts a customer cannot get everywhere else.</a:t>
            </a:r>
          </a:p>
        </p:txBody>
      </p:sp>
      <p:sp>
        <p:nvSpPr>
          <p:cNvPr id="7" name="TextBox 6"/>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Sources: Google Search Central, 'Optimizing your website for generative AI features on Google Search' (15 May 2026) and 'AI features and your website' (10 Dec 2025); OpenAI crawler documentation (developers.openai.com); Bing Webmaster Guidelines update (27 Feb 2026, via Search Engine Journal); Ahrefs llms.txt study (15 Jun 2026).</a:t>
            </a:r>
          </a:p>
        </p:txBody>
      </p:sp>
      <p:sp>
        <p:nvSpPr>
          <p:cNvPr id="8" name="TextBox 7"/>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27</a:t>
            </a:r>
            <a:endParaRPr sz="900" b="0" i="0">
              <a:solidFill>
                <a:srgbClr val="5B6573"/>
              </a:solidFill>
              <a:latin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1097280"/>
            <a:ext cx="3657600" cy="457200"/>
          </a:xfrm>
          <a:prstGeom prst="rect">
            <a:avLst/>
          </a:prstGeom>
          <a:noFill/>
        </p:spPr>
        <p:txBody>
          <a:bodyPr wrap="square" lIns="45720" rIns="45720" anchor="t">
            <a:spAutoFit/>
          </a:bodyPr>
          <a:lstStyle/>
          <a:p>
            <a:pPr algn="l">
              <a:lnSpc>
                <a:spcPct val="108000"/>
              </a:lnSpc>
              <a:spcAft>
                <a:spcPts val="400"/>
              </a:spcAft>
            </a:pPr>
            <a:r>
              <a:rPr sz="1600" b="1" i="0">
                <a:solidFill>
                  <a:srgbClr val="FF8A99"/>
                </a:solidFill>
                <a:latin typeface="Calibri"/>
              </a:rPr>
              <a:t>PART 3 · HOW</a:t>
            </a:r>
          </a:p>
        </p:txBody>
      </p:sp>
      <p:sp>
        <p:nvSpPr>
          <p:cNvPr id="4" name="TextBox 3"/>
          <p:cNvSpPr txBox="1"/>
          <p:nvPr/>
        </p:nvSpPr>
        <p:spPr>
          <a:xfrm>
            <a:off x="822960" y="1554480"/>
            <a:ext cx="10241280" cy="1645920"/>
          </a:xfrm>
          <a:prstGeom prst="rect">
            <a:avLst/>
          </a:prstGeom>
          <a:noFill/>
        </p:spPr>
        <p:txBody>
          <a:bodyPr wrap="square" lIns="45720" rIns="45720" anchor="t">
            <a:spAutoFit/>
          </a:bodyPr>
          <a:lstStyle/>
          <a:p>
            <a:pPr algn="l">
              <a:lnSpc>
                <a:spcPct val="100000"/>
              </a:lnSpc>
              <a:spcAft>
                <a:spcPts val="400"/>
              </a:spcAft>
            </a:pPr>
            <a:r>
              <a:rPr sz="4000" b="1" i="0">
                <a:solidFill>
                  <a:srgbClr val="FFFFFF"/>
                </a:solidFill>
                <a:latin typeface="Calibri"/>
              </a:rPr>
              <a:t>How FC.com should change: six areas of work, with the tested page pattern in the middle</a:t>
            </a:r>
          </a:p>
        </p:txBody>
      </p:sp>
      <p:sp>
        <p:nvSpPr>
          <p:cNvPr id="5" name="TextBox 4"/>
          <p:cNvSpPr txBox="1"/>
          <p:nvPr/>
        </p:nvSpPr>
        <p:spPr>
          <a:xfrm>
            <a:off x="822960" y="3383280"/>
            <a:ext cx="9601200" cy="822960"/>
          </a:xfrm>
          <a:prstGeom prst="rect">
            <a:avLst/>
          </a:prstGeom>
          <a:noFill/>
        </p:spPr>
        <p:txBody>
          <a:bodyPr wrap="square" lIns="45720" rIns="45720" anchor="t">
            <a:spAutoFit/>
          </a:bodyPr>
          <a:lstStyle/>
          <a:p>
            <a:pPr algn="l">
              <a:lnSpc>
                <a:spcPct val="108000"/>
              </a:lnSpc>
              <a:spcAft>
                <a:spcPts val="400"/>
              </a:spcAft>
            </a:pPr>
            <a:r>
              <a:rPr sz="1800" b="0" i="0">
                <a:solidFill>
                  <a:srgbClr val="C9D6EA"/>
                </a:solidFill>
                <a:latin typeface="Calibri"/>
              </a:rPr>
              <a:t>Each layer has a concrete change, the evidence behind it, an acceptance test and a proposed owner.</a:t>
            </a:r>
          </a:p>
        </p:txBody>
      </p:sp>
      <p:sp>
        <p:nvSpPr>
          <p:cNvPr id="6" name="TextBox 5"/>
          <p:cNvSpPr txBox="1"/>
          <p:nvPr/>
        </p:nvSpPr>
        <p:spPr>
          <a:xfrm>
            <a:off x="822960" y="4480560"/>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Access (robots permission observed) and rendering: what the fetchers receive</a:t>
            </a:r>
          </a:p>
        </p:txBody>
      </p:sp>
      <p:sp>
        <p:nvSpPr>
          <p:cNvPr id="7" name="TextBox 6"/>
          <p:cNvSpPr txBox="1"/>
          <p:nvPr/>
        </p:nvSpPr>
        <p:spPr>
          <a:xfrm>
            <a:off x="822960" y="4864608"/>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Structure and the 52% page template, with the code</a:t>
            </a:r>
          </a:p>
        </p:txBody>
      </p:sp>
      <p:sp>
        <p:nvSpPr>
          <p:cNvPr id="8" name="TextBox 7"/>
          <p:cNvSpPr txBox="1"/>
          <p:nvPr/>
        </p:nvSpPr>
        <p:spPr>
          <a:xfrm>
            <a:off x="822960" y="5248656"/>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Holiday and destination pages, one fare truth, earned authority</a:t>
            </a:r>
          </a:p>
        </p:txBody>
      </p:sp>
      <p:sp>
        <p:nvSpPr>
          <p:cNvPr id="9" name="TextBox 8"/>
          <p:cNvSpPr txBox="1"/>
          <p:nvPr/>
        </p:nvSpPr>
        <p:spPr>
          <a:xfrm>
            <a:off x="822960" y="5632704"/>
            <a:ext cx="10058400" cy="365760"/>
          </a:xfrm>
          <a:prstGeom prst="rect">
            <a:avLst/>
          </a:prstGeom>
          <a:noFill/>
        </p:spPr>
        <p:txBody>
          <a:bodyPr wrap="square" lIns="45720" rIns="45720" anchor="t">
            <a:spAutoFit/>
          </a:bodyPr>
          <a:lstStyle/>
          <a:p>
            <a:pPr algn="l">
              <a:lnSpc>
                <a:spcPct val="108000"/>
              </a:lnSpc>
              <a:spcAft>
                <a:spcPts val="400"/>
              </a:spcAft>
            </a:pPr>
            <a:r>
              <a:rPr sz="1400" b="0" i="0">
                <a:solidFill>
                  <a:srgbClr val="FFFFFF"/>
                </a:solidFill>
                <a:latin typeface="Calibri"/>
              </a:rPr>
              <a:t>• Implement the recommendations and monitor real customer outcomes</a:t>
            </a:r>
          </a:p>
        </p:txBody>
      </p:sp>
      <p:sp>
        <p:nvSpPr>
          <p:cNvPr id="10" name="TextBox 9"/>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9FB3CC"/>
                </a:solidFill>
                <a:latin typeface="Calibri"/>
              </a:rPr>
              <a:t>28</a:t>
            </a:r>
            <a:endParaRPr sz="900" b="0" i="0">
              <a:solidFill>
                <a:srgbClr val="9FB3CC"/>
              </a:solidFill>
              <a:latin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FLIGHT CENTRE GEO</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800" b="1" i="0">
                <a:solidFill>
                  <a:srgbClr val="0B2240"/>
                </a:solidFill>
                <a:latin typeface="Calibri"/>
              </a:rPr>
              <a:t>The programme: six areas of work, each with a concrete change and an acceptance test</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graphicFrame>
        <p:nvGraphicFramePr>
          <p:cNvPr id="5" name="Table 4"/>
          <p:cNvGraphicFramePr>
            <a:graphicFrameLocks noGrp="1"/>
          </p:cNvGraphicFramePr>
          <p:nvPr/>
        </p:nvGraphicFramePr>
        <p:xfrm>
          <a:off x="548640" y="1600200"/>
          <a:ext cx="11109960" cy="4526280"/>
        </p:xfrm>
        <a:graphic>
          <a:graphicData uri="http://schemas.openxmlformats.org/drawingml/2006/table">
            <a:tbl>
              <a:tblPr/>
              <a:tblGrid>
                <a:gridCol w="32004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333756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565785">
                <a:tc>
                  <a:txBody>
                    <a:bodyPr/>
                    <a:lstStyle/>
                    <a:p>
                      <a:r>
                        <a:rPr sz="950" b="1" i="0">
                          <a:solidFill>
                            <a:srgbClr val="FFFFFF"/>
                          </a:solidFill>
                          <a:latin typeface="Calibri"/>
                        </a:rPr>
                        <a:t>#</a:t>
                      </a:r>
                    </a:p>
                  </a:txBody>
                  <a:tcPr marL="64008" marR="64008" marT="36576" marB="36576" anchor="ctr">
                    <a:solidFill>
                      <a:srgbClr val="0B2240"/>
                    </a:solidFill>
                  </a:tcPr>
                </a:tc>
                <a:tc>
                  <a:txBody>
                    <a:bodyPr/>
                    <a:lstStyle/>
                    <a:p>
                      <a:r>
                        <a:rPr sz="950" b="1" i="0">
                          <a:solidFill>
                            <a:srgbClr val="FFFFFF"/>
                          </a:solidFill>
                          <a:latin typeface="Calibri"/>
                        </a:rPr>
                        <a:t>Area of work</a:t>
                      </a:r>
                    </a:p>
                  </a:txBody>
                  <a:tcPr marL="64008" marR="64008" marT="36576" marB="36576" anchor="ctr">
                    <a:solidFill>
                      <a:srgbClr val="0B2240"/>
                    </a:solidFill>
                  </a:tcPr>
                </a:tc>
                <a:tc>
                  <a:txBody>
                    <a:bodyPr/>
                    <a:lstStyle/>
                    <a:p>
                      <a:r>
                        <a:rPr sz="950" b="1" i="0">
                          <a:solidFill>
                            <a:srgbClr val="FFFFFF"/>
                          </a:solidFill>
                          <a:latin typeface="Calibri"/>
                        </a:rPr>
                        <a:t>FC today (25 Oct 2026)</a:t>
                      </a:r>
                    </a:p>
                  </a:txBody>
                  <a:tcPr marL="64008" marR="64008" marT="36576" marB="36576" anchor="ctr">
                    <a:solidFill>
                      <a:srgbClr val="0B2240"/>
                    </a:solidFill>
                  </a:tcPr>
                </a:tc>
                <a:tc>
                  <a:txBody>
                    <a:bodyPr/>
                    <a:lstStyle/>
                    <a:p>
                      <a:r>
                        <a:rPr sz="950" b="1" i="0">
                          <a:solidFill>
                            <a:srgbClr val="FFFFFF"/>
                          </a:solidFill>
                          <a:latin typeface="Calibri"/>
                        </a:rPr>
                        <a:t>Change to make</a:t>
                      </a:r>
                    </a:p>
                  </a:txBody>
                  <a:tcPr marL="64008" marR="64008" marT="36576" marB="36576" anchor="ctr">
                    <a:solidFill>
                      <a:srgbClr val="0B2240"/>
                    </a:solidFill>
                  </a:tcPr>
                </a:tc>
                <a:tc>
                  <a:txBody>
                    <a:bodyPr/>
                    <a:lstStyle/>
                    <a:p>
                      <a:r>
                        <a:rPr sz="950" b="1" i="0">
                          <a:solidFill>
                            <a:srgbClr val="FFFFFF"/>
                          </a:solidFill>
                          <a:latin typeface="Calibri"/>
                        </a:rPr>
                        <a:t>Acceptance test</a:t>
                      </a:r>
                    </a:p>
                  </a:txBody>
                  <a:tcPr marL="64008" marR="64008" marT="36576" marB="36576" anchor="ctr">
                    <a:solidFill>
                      <a:srgbClr val="0B2240"/>
                    </a:solidFill>
                  </a:tcPr>
                </a:tc>
                <a:tc>
                  <a:txBody>
                    <a:bodyPr/>
                    <a:lstStyle/>
                    <a:p>
                      <a:r>
                        <a:rPr sz="950" b="1" i="0">
                          <a:solidFill>
                            <a:srgbClr val="FFFFFF"/>
                          </a:solidFill>
                          <a:latin typeface="Calibri"/>
                        </a:rPr>
                        <a:t>Owner</a:t>
                      </a:r>
                    </a:p>
                  </a:txBody>
                  <a:tcPr marL="64008" marR="64008" marT="36576" marB="36576" anchor="ctr">
                    <a:solidFill>
                      <a:srgbClr val="0B2240"/>
                    </a:solidFill>
                  </a:tcPr>
                </a:tc>
                <a:extLst>
                  <a:ext uri="{0D108BD9-81ED-4DB2-BD59-A6C34878D82A}">
                    <a16:rowId xmlns:a16="http://schemas.microsoft.com/office/drawing/2014/main" val="10000"/>
                  </a:ext>
                </a:extLst>
              </a:tr>
              <a:tr h="565785">
                <a:tc>
                  <a:txBody>
                    <a:bodyPr/>
                    <a:lstStyle/>
                    <a:p>
                      <a:r>
                        <a:rPr sz="900" b="0" i="0">
                          <a:solidFill>
                            <a:srgbClr val="1F2937"/>
                          </a:solidFill>
                          <a:latin typeface="Calibri"/>
                        </a:rPr>
                        <a:t>0</a:t>
                      </a:r>
                    </a:p>
                  </a:txBody>
                  <a:tcPr marL="64008" marR="64008" marT="36576" marB="36576">
                    <a:solidFill>
                      <a:srgbClr val="FFFFFF"/>
                    </a:solidFill>
                  </a:tcPr>
                </a:tc>
                <a:tc>
                  <a:txBody>
                    <a:bodyPr/>
                    <a:lstStyle/>
                    <a:p>
                      <a:r>
                        <a:rPr sz="900" b="0" i="0">
                          <a:solidFill>
                            <a:srgbClr val="1F2937"/>
                          </a:solidFill>
                          <a:latin typeface="Calibri"/>
                        </a:rPr>
                        <a:t>Measure</a:t>
                      </a:r>
                    </a:p>
                  </a:txBody>
                  <a:tcPr marL="64008" marR="64008" marT="36576" marB="36576">
                    <a:solidFill>
                      <a:srgbClr val="FFFFFF"/>
                    </a:solidFill>
                  </a:tcPr>
                </a:tc>
                <a:tc>
                  <a:txBody>
                    <a:bodyPr/>
                    <a:lstStyle/>
                    <a:p>
                      <a:r>
                        <a:rPr sz="900" b="0" i="0">
                          <a:solidFill>
                            <a:srgbClr val="1F2937"/>
                          </a:solidFill>
                          <a:latin typeface="Calibri"/>
                        </a:rPr>
                        <a:t>May audit and saved experiments; ongoing FC monitoring not verified</a:t>
                      </a:r>
                    </a:p>
                  </a:txBody>
                  <a:tcPr marL="64008" marR="64008" marT="36576" marB="36576">
                    <a:solidFill>
                      <a:srgbClr val="FFFFFF"/>
                    </a:solidFill>
                  </a:tcPr>
                </a:tc>
                <a:tc>
                  <a:txBody>
                    <a:bodyPr/>
                    <a:lstStyle/>
                    <a:p>
                      <a:r>
                        <a:rPr sz="900" b="0" i="0">
                          <a:solidFill>
                            <a:srgbClr val="1F2937"/>
                          </a:solidFill>
                          <a:latin typeface="Calibri"/>
                        </a:rPr>
                        <a:t>Track relevant customer questions, available platform reports, verified bot logs and referral outcomes. Save dated examples.</a:t>
                      </a:r>
                    </a:p>
                  </a:txBody>
                  <a:tcPr marL="64008" marR="64008" marT="36576" marB="36576">
                    <a:solidFill>
                      <a:srgbClr val="FFFFFF"/>
                    </a:solidFill>
                  </a:tcPr>
                </a:tc>
                <a:tc>
                  <a:txBody>
                    <a:bodyPr/>
                    <a:lstStyle/>
                    <a:p>
                      <a:r>
                        <a:rPr sz="900" b="0" i="0">
                          <a:solidFill>
                            <a:srgbClr val="1F2937"/>
                          </a:solidFill>
                          <a:latin typeface="Calibri"/>
                        </a:rPr>
                        <a:t>Dated metrics and an accountable reporting owner</a:t>
                      </a:r>
                    </a:p>
                  </a:txBody>
                  <a:tcPr marL="64008" marR="64008" marT="36576" marB="36576">
                    <a:solidFill>
                      <a:srgbClr val="FFFFFF"/>
                    </a:solidFill>
                  </a:tcPr>
                </a:tc>
                <a:tc>
                  <a:txBody>
                    <a:bodyPr/>
                    <a:lstStyle/>
                    <a:p>
                      <a:r>
                        <a:rPr sz="900" b="0" i="0">
                          <a:solidFill>
                            <a:srgbClr val="1F2937"/>
                          </a:solidFill>
                          <a:latin typeface="Calibri"/>
                        </a:rPr>
                        <a:t>Marketing analytics</a:t>
                      </a:r>
                    </a:p>
                  </a:txBody>
                  <a:tcPr marL="64008" marR="64008" marT="36576" marB="36576">
                    <a:solidFill>
                      <a:srgbClr val="FFFFFF"/>
                    </a:solidFill>
                  </a:tcPr>
                </a:tc>
                <a:extLst>
                  <a:ext uri="{0D108BD9-81ED-4DB2-BD59-A6C34878D82A}">
                    <a16:rowId xmlns:a16="http://schemas.microsoft.com/office/drawing/2014/main" val="10001"/>
                  </a:ext>
                </a:extLst>
              </a:tr>
              <a:tr h="565785">
                <a:tc>
                  <a:txBody>
                    <a:bodyPr/>
                    <a:lstStyle/>
                    <a:p>
                      <a:r>
                        <a:rPr sz="900" b="0" i="0">
                          <a:solidFill>
                            <a:srgbClr val="1F2937"/>
                          </a:solidFill>
                          <a:latin typeface="Calibri"/>
                        </a:rPr>
                        <a:t>1</a:t>
                      </a:r>
                    </a:p>
                  </a:txBody>
                  <a:tcPr marL="64008" marR="64008" marT="36576" marB="36576">
                    <a:solidFill>
                      <a:srgbClr val="F3F5F8"/>
                    </a:solidFill>
                  </a:tcPr>
                </a:tc>
                <a:tc>
                  <a:txBody>
                    <a:bodyPr/>
                    <a:lstStyle/>
                    <a:p>
                      <a:r>
                        <a:rPr sz="900" b="0" i="0">
                          <a:solidFill>
                            <a:srgbClr val="1F2937"/>
                          </a:solidFill>
                          <a:latin typeface="Calibri"/>
                        </a:rPr>
                        <a:t>Access</a:t>
                      </a:r>
                    </a:p>
                  </a:txBody>
                  <a:tcPr marL="64008" marR="64008" marT="36576" marB="36576">
                    <a:solidFill>
                      <a:srgbClr val="F3F5F8"/>
                    </a:solidFill>
                  </a:tcPr>
                </a:tc>
                <a:tc>
                  <a:txBody>
                    <a:bodyPr/>
                    <a:lstStyle/>
                    <a:p>
                      <a:r>
                        <a:rPr sz="900" b="0" i="0">
                          <a:solidFill>
                            <a:srgbClr val="1F2937"/>
                          </a:solidFill>
                          <a:latin typeface="Calibri"/>
                        </a:rPr>
                        <a:t>Observed robots permissions include GPTBot, Google-Extended, PerplexityBot, AnthropicBot and Applebot</a:t>
                      </a:r>
                    </a:p>
                  </a:txBody>
                  <a:tcPr marL="64008" marR="64008" marT="36576" marB="36576">
                    <a:solidFill>
                      <a:srgbClr val="F3F5F8"/>
                    </a:solidFill>
                  </a:tcPr>
                </a:tc>
                <a:tc>
                  <a:txBody>
                    <a:bodyPr/>
                    <a:lstStyle/>
                    <a:p>
                      <a:r>
                        <a:rPr sz="900" b="0" i="0">
                          <a:solidFill>
                            <a:srgbClr val="1F2937"/>
                          </a:solidFill>
                          <a:latin typeface="Calibri"/>
                        </a:rPr>
                        <a:t>Preserve path restrictions; verify relevant crawler access through robots, CDN and firewall rules</a:t>
                      </a:r>
                    </a:p>
                  </a:txBody>
                  <a:tcPr marL="64008" marR="64008" marT="36576" marB="36576">
                    <a:solidFill>
                      <a:srgbClr val="F3F5F8"/>
                    </a:solidFill>
                  </a:tcPr>
                </a:tc>
                <a:tc>
                  <a:txBody>
                    <a:bodyPr/>
                    <a:lstStyle/>
                    <a:p>
                      <a:r>
                        <a:rPr sz="900" b="0" i="0">
                          <a:solidFill>
                            <a:srgbClr val="1F2937"/>
                          </a:solidFill>
                          <a:latin typeface="Calibri"/>
                        </a:rPr>
                        <a:t>Logs show AI search bots fetching route and holiday URLs with status 200</a:t>
                      </a:r>
                    </a:p>
                  </a:txBody>
                  <a:tcPr marL="64008" marR="64008" marT="36576" marB="36576">
                    <a:solidFill>
                      <a:srgbClr val="F3F5F8"/>
                    </a:solidFill>
                  </a:tcPr>
                </a:tc>
                <a:tc>
                  <a:txBody>
                    <a:bodyPr/>
                    <a:lstStyle/>
                    <a:p>
                      <a:r>
                        <a:rPr sz="900" b="0" i="0">
                          <a:solidFill>
                            <a:srgbClr val="1F2937"/>
                          </a:solidFill>
                          <a:latin typeface="Calibri"/>
                        </a:rPr>
                        <a:t>Platform engineering</a:t>
                      </a:r>
                    </a:p>
                  </a:txBody>
                  <a:tcPr marL="64008" marR="64008" marT="36576" marB="36576">
                    <a:solidFill>
                      <a:srgbClr val="F3F5F8"/>
                    </a:solidFill>
                  </a:tcPr>
                </a:tc>
                <a:extLst>
                  <a:ext uri="{0D108BD9-81ED-4DB2-BD59-A6C34878D82A}">
                    <a16:rowId xmlns:a16="http://schemas.microsoft.com/office/drawing/2014/main" val="10002"/>
                  </a:ext>
                </a:extLst>
              </a:tr>
              <a:tr h="565785">
                <a:tc>
                  <a:txBody>
                    <a:bodyPr/>
                    <a:lstStyle/>
                    <a:p>
                      <a:r>
                        <a:rPr sz="900" b="0" i="0">
                          <a:solidFill>
                            <a:srgbClr val="1F2937"/>
                          </a:solidFill>
                          <a:latin typeface="Calibri"/>
                        </a:rPr>
                        <a:t>2</a:t>
                      </a:r>
                    </a:p>
                  </a:txBody>
                  <a:tcPr marL="64008" marR="64008" marT="36576" marB="36576">
                    <a:solidFill>
                      <a:srgbClr val="FFFFFF"/>
                    </a:solidFill>
                  </a:tcPr>
                </a:tc>
                <a:tc>
                  <a:txBody>
                    <a:bodyPr/>
                    <a:lstStyle/>
                    <a:p>
                      <a:r>
                        <a:rPr sz="900" b="0" i="0">
                          <a:solidFill>
                            <a:srgbClr val="1F2937"/>
                          </a:solidFill>
                          <a:latin typeface="Calibri"/>
                        </a:rPr>
                        <a:t>Rendering</a:t>
                      </a:r>
                    </a:p>
                  </a:txBody>
                  <a:tcPr marL="64008" marR="64008" marT="36576" marB="36576">
                    <a:solidFill>
                      <a:srgbClr val="FFFFFF"/>
                    </a:solidFill>
                  </a:tcPr>
                </a:tc>
                <a:tc>
                  <a:txBody>
                    <a:bodyPr/>
                    <a:lstStyle/>
                    <a:p>
                      <a:r>
                        <a:rPr sz="900" b="0" i="0">
                          <a:solidFill>
                            <a:srgbClr val="1F2937"/>
                          </a:solidFill>
                          <a:latin typeface="Calibri"/>
                        </a:rPr>
                        <a:t>Route FAQ in HTML; deal cards client-side (6 with JavaScript, 0 without); holiday deal tiles empty without JS</a:t>
                      </a:r>
                    </a:p>
                  </a:txBody>
                  <a:tcPr marL="64008" marR="64008" marT="36576" marB="36576">
                    <a:solidFill>
                      <a:srgbClr val="FFFFFF"/>
                    </a:solidFill>
                  </a:tcPr>
                </a:tc>
                <a:tc>
                  <a:txBody>
                    <a:bodyPr/>
                    <a:lstStyle/>
                    <a:p>
                      <a:r>
                        <a:rPr sz="900" b="0" i="0">
                          <a:solidFill>
                            <a:srgbClr val="1F2937"/>
                          </a:solidFill>
                          <a:latin typeface="Calibri"/>
                        </a:rPr>
                        <a:t>Server-render fare, dated deals, fee rule, FAQ Q&amp;A and expert/store path on route and holiday templates</a:t>
                      </a:r>
                    </a:p>
                  </a:txBody>
                  <a:tcPr marL="64008" marR="64008" marT="36576" marB="36576">
                    <a:solidFill>
                      <a:srgbClr val="FFFFFF"/>
                    </a:solidFill>
                  </a:tcPr>
                </a:tc>
                <a:tc>
                  <a:txBody>
                    <a:bodyPr/>
                    <a:lstStyle/>
                    <a:p>
                      <a:r>
                        <a:rPr sz="900" b="0" i="0">
                          <a:solidFill>
                            <a:srgbClr val="1F2937"/>
                          </a:solidFill>
                          <a:latin typeface="Calibri"/>
                        </a:rPr>
                        <a:t>curl without JavaScript returns those facts; no AI-only page variants</a:t>
                      </a:r>
                    </a:p>
                  </a:txBody>
                  <a:tcPr marL="64008" marR="64008" marT="36576" marB="36576">
                    <a:solidFill>
                      <a:srgbClr val="FFFFFF"/>
                    </a:solidFill>
                  </a:tcPr>
                </a:tc>
                <a:tc>
                  <a:txBody>
                    <a:bodyPr/>
                    <a:lstStyle/>
                    <a:p>
                      <a:r>
                        <a:rPr sz="900" b="0" i="0">
                          <a:solidFill>
                            <a:srgbClr val="1F2937"/>
                          </a:solidFill>
                          <a:latin typeface="Calibri"/>
                        </a:rPr>
                        <a:t>Web engineering</a:t>
                      </a:r>
                    </a:p>
                  </a:txBody>
                  <a:tcPr marL="64008" marR="64008" marT="36576" marB="36576">
                    <a:solidFill>
                      <a:srgbClr val="FFFFFF"/>
                    </a:solidFill>
                  </a:tcPr>
                </a:tc>
                <a:extLst>
                  <a:ext uri="{0D108BD9-81ED-4DB2-BD59-A6C34878D82A}">
                    <a16:rowId xmlns:a16="http://schemas.microsoft.com/office/drawing/2014/main" val="10003"/>
                  </a:ext>
                </a:extLst>
              </a:tr>
              <a:tr h="565785">
                <a:tc>
                  <a:txBody>
                    <a:bodyPr/>
                    <a:lstStyle/>
                    <a:p>
                      <a:r>
                        <a:rPr sz="900" b="0" i="0">
                          <a:solidFill>
                            <a:srgbClr val="1F2937"/>
                          </a:solidFill>
                          <a:latin typeface="Calibri"/>
                        </a:rPr>
                        <a:t>3</a:t>
                      </a:r>
                    </a:p>
                  </a:txBody>
                  <a:tcPr marL="64008" marR="64008" marT="36576" marB="36576">
                    <a:solidFill>
                      <a:srgbClr val="F3F5F8"/>
                    </a:solidFill>
                  </a:tcPr>
                </a:tc>
                <a:tc>
                  <a:txBody>
                    <a:bodyPr/>
                    <a:lstStyle/>
                    <a:p>
                      <a:r>
                        <a:rPr sz="900" b="0" i="0">
                          <a:solidFill>
                            <a:srgbClr val="1F2937"/>
                          </a:solidFill>
                          <a:latin typeface="Calibri"/>
                        </a:rPr>
                        <a:t>Structure</a:t>
                      </a:r>
                    </a:p>
                  </a:txBody>
                  <a:tcPr marL="64008" marR="64008" marT="36576" marB="36576">
                    <a:solidFill>
                      <a:srgbClr val="F3F5F8"/>
                    </a:solidFill>
                  </a:tcPr>
                </a:tc>
                <a:tc>
                  <a:txBody>
                    <a:bodyPr/>
                    <a:lstStyle/>
                    <a:p>
                      <a:r>
                        <a:rPr sz="900" b="0" i="0">
                          <a:solidFill>
                            <a:srgbClr val="1F2937"/>
                          </a:solidFill>
                          <a:latin typeface="Calibri"/>
                        </a:rPr>
                        <a:t>Route: FAQPage + Flight/Offer JSON-LD; holiday: none; llms.txt 404</a:t>
                      </a:r>
                    </a:p>
                  </a:txBody>
                  <a:tcPr marL="64008" marR="64008" marT="36576" marB="36576">
                    <a:solidFill>
                      <a:srgbClr val="F3F5F8"/>
                    </a:solidFill>
                  </a:tcPr>
                </a:tc>
                <a:tc>
                  <a:txBody>
                    <a:bodyPr/>
                    <a:lstStyle/>
                    <a:p>
                      <a:r>
                        <a:rPr sz="900" b="0" i="0">
                          <a:solidFill>
                            <a:srgbClr val="1F2937"/>
                          </a:solidFill>
                          <a:latin typeface="Calibri"/>
                        </a:rPr>
                        <a:t>JSON-LD generated from the same fare/FAQ record as the page; Organization + sameAs site-wide; llms.txt optional</a:t>
                      </a:r>
                    </a:p>
                  </a:txBody>
                  <a:tcPr marL="64008" marR="64008" marT="36576" marB="36576">
                    <a:solidFill>
                      <a:srgbClr val="F3F5F8"/>
                    </a:solidFill>
                  </a:tcPr>
                </a:tc>
                <a:tc>
                  <a:txBody>
                    <a:bodyPr/>
                    <a:lstStyle/>
                    <a:p>
                      <a:r>
                        <a:rPr sz="900" b="0" i="0">
                          <a:solidFill>
                            <a:srgbClr val="1F2937"/>
                          </a:solidFill>
                          <a:latin typeface="Calibri"/>
                        </a:rPr>
                        <a:t>Appropriate schema validates and matches visible facts; no special AI schema requirement</a:t>
                      </a:r>
                    </a:p>
                  </a:txBody>
                  <a:tcPr marL="64008" marR="64008" marT="36576" marB="36576">
                    <a:solidFill>
                      <a:srgbClr val="F3F5F8"/>
                    </a:solidFill>
                  </a:tcPr>
                </a:tc>
                <a:tc>
                  <a:txBody>
                    <a:bodyPr/>
                    <a:lstStyle/>
                    <a:p>
                      <a:r>
                        <a:rPr sz="900" b="0" i="0">
                          <a:solidFill>
                            <a:srgbClr val="1F2937"/>
                          </a:solidFill>
                          <a:latin typeface="Calibri"/>
                        </a:rPr>
                        <a:t>SEO + engineering</a:t>
                      </a:r>
                    </a:p>
                  </a:txBody>
                  <a:tcPr marL="64008" marR="64008" marT="36576" marB="36576">
                    <a:solidFill>
                      <a:srgbClr val="F3F5F8"/>
                    </a:solidFill>
                  </a:tcPr>
                </a:tc>
                <a:extLst>
                  <a:ext uri="{0D108BD9-81ED-4DB2-BD59-A6C34878D82A}">
                    <a16:rowId xmlns:a16="http://schemas.microsoft.com/office/drawing/2014/main" val="10004"/>
                  </a:ext>
                </a:extLst>
              </a:tr>
              <a:tr h="565785">
                <a:tc>
                  <a:txBody>
                    <a:bodyPr/>
                    <a:lstStyle/>
                    <a:p>
                      <a:r>
                        <a:rPr sz="900" b="0" i="0">
                          <a:solidFill>
                            <a:srgbClr val="1F2937"/>
                          </a:solidFill>
                          <a:latin typeface="Calibri"/>
                        </a:rPr>
                        <a:t>4</a:t>
                      </a:r>
                    </a:p>
                  </a:txBody>
                  <a:tcPr marL="64008" marR="64008" marT="36576" marB="36576">
                    <a:solidFill>
                      <a:srgbClr val="FFFFFF"/>
                    </a:solidFill>
                  </a:tcPr>
                </a:tc>
                <a:tc>
                  <a:txBody>
                    <a:bodyPr/>
                    <a:lstStyle/>
                    <a:p>
                      <a:r>
                        <a:rPr sz="900" b="0" i="0">
                          <a:solidFill>
                            <a:srgbClr val="1F2937"/>
                          </a:solidFill>
                          <a:latin typeface="Calibri"/>
                        </a:rPr>
                        <a:t>Content (tested page pattern)</a:t>
                      </a:r>
                    </a:p>
                  </a:txBody>
                  <a:tcPr marL="64008" marR="64008" marT="36576" marB="36576">
                    <a:solidFill>
                      <a:srgbClr val="FFFFFF"/>
                    </a:solidFill>
                  </a:tcPr>
                </a:tc>
                <a:tc>
                  <a:txBody>
                    <a:bodyPr/>
                    <a:lstStyle/>
                    <a:p>
                      <a:r>
                        <a:rPr sz="900" b="0" i="0">
                          <a:solidFill>
                            <a:srgbClr val="1F2937"/>
                          </a:solidFill>
                          <a:latin typeface="Calibri"/>
                        </a:rPr>
                        <a:t>Selected supplied-source comparison: +12.4 points</a:t>
                      </a:r>
                    </a:p>
                  </a:txBody>
                  <a:tcPr marL="64008" marR="64008" marT="36576" marB="36576">
                    <a:solidFill>
                      <a:srgbClr val="FFFFFF"/>
                    </a:solidFill>
                  </a:tcPr>
                </a:tc>
                <a:tc>
                  <a:txBody>
                    <a:bodyPr/>
                    <a:lstStyle/>
                    <a:p>
                      <a:r>
                        <a:rPr sz="900" b="0" i="0">
                          <a:solidFill>
                            <a:srgbClr val="1F2937"/>
                          </a:solidFill>
                          <a:latin typeface="Calibri"/>
                        </a:rPr>
                        <a:t>Template: definition-first opening, dated deals, fare-and-fee block, page-specific FAQs, differentiators in text; programmatic destination FAQs from a fact store</a:t>
                      </a:r>
                    </a:p>
                  </a:txBody>
                  <a:tcPr marL="64008" marR="64008" marT="36576" marB="36576">
                    <a:solidFill>
                      <a:srgbClr val="FFFFFF"/>
                    </a:solidFill>
                  </a:tcPr>
                </a:tc>
                <a:tc>
                  <a:txBody>
                    <a:bodyPr/>
                    <a:lstStyle/>
                    <a:p>
                      <a:r>
                        <a:rPr sz="900" b="0" i="0">
                          <a:solidFill>
                            <a:srgbClr val="1F2937"/>
                          </a:solidFill>
                          <a:latin typeface="Calibri"/>
                        </a:rPr>
                        <a:t>Published pages contain approved facts and usable answers; monitor citations separately</a:t>
                      </a:r>
                    </a:p>
                  </a:txBody>
                  <a:tcPr marL="64008" marR="64008" marT="36576" marB="36576">
                    <a:solidFill>
                      <a:srgbClr val="FFFFFF"/>
                    </a:solidFill>
                  </a:tcPr>
                </a:tc>
                <a:tc>
                  <a:txBody>
                    <a:bodyPr/>
                    <a:lstStyle/>
                    <a:p>
                      <a:r>
                        <a:rPr sz="900" b="0" i="0">
                          <a:solidFill>
                            <a:srgbClr val="1F2937"/>
                          </a:solidFill>
                          <a:latin typeface="Calibri"/>
                        </a:rPr>
                        <a:t>Content + product</a:t>
                      </a:r>
                    </a:p>
                  </a:txBody>
                  <a:tcPr marL="64008" marR="64008" marT="36576" marB="36576">
                    <a:solidFill>
                      <a:srgbClr val="FFFFFF"/>
                    </a:solidFill>
                  </a:tcPr>
                </a:tc>
                <a:extLst>
                  <a:ext uri="{0D108BD9-81ED-4DB2-BD59-A6C34878D82A}">
                    <a16:rowId xmlns:a16="http://schemas.microsoft.com/office/drawing/2014/main" val="10005"/>
                  </a:ext>
                </a:extLst>
              </a:tr>
              <a:tr h="565785">
                <a:tc>
                  <a:txBody>
                    <a:bodyPr/>
                    <a:lstStyle/>
                    <a:p>
                      <a:r>
                        <a:rPr sz="900" b="0" i="0">
                          <a:solidFill>
                            <a:srgbClr val="1F2937"/>
                          </a:solidFill>
                          <a:latin typeface="Calibri"/>
                        </a:rPr>
                        <a:t>5</a:t>
                      </a:r>
                    </a:p>
                  </a:txBody>
                  <a:tcPr marL="64008" marR="64008" marT="36576" marB="36576">
                    <a:solidFill>
                      <a:srgbClr val="F3F5F8"/>
                    </a:solidFill>
                  </a:tcPr>
                </a:tc>
                <a:tc>
                  <a:txBody>
                    <a:bodyPr/>
                    <a:lstStyle/>
                    <a:p>
                      <a:r>
                        <a:rPr sz="900" b="0" i="0">
                          <a:solidFill>
                            <a:srgbClr val="1F2937"/>
                          </a:solidFill>
                          <a:latin typeface="Calibri"/>
                        </a:rPr>
                        <a:t>Freshness: one fare truth</a:t>
                      </a:r>
                    </a:p>
                  </a:txBody>
                  <a:tcPr marL="64008" marR="64008" marT="36576" marB="36576">
                    <a:solidFill>
                      <a:srgbClr val="F3F5F8"/>
                    </a:solidFill>
                  </a:tcPr>
                </a:tc>
                <a:tc>
                  <a:txBody>
                    <a:bodyPr/>
                    <a:lstStyle/>
                    <a:p>
                      <a:r>
                        <a:rPr sz="900" b="0" i="0">
                          <a:solidFill>
                            <a:srgbClr val="1F2937"/>
                          </a:solidFill>
                          <a:latin typeface="Calibri"/>
                        </a:rPr>
                        <a:t>Same URL: $1,434 / $1,386 / $1,272 / $1,342 across four dates; today the heading says $1,342 while the cheapest deal card says $1,605</a:t>
                      </a:r>
                    </a:p>
                  </a:txBody>
                  <a:tcPr marL="64008" marR="64008" marT="36576" marB="36576">
                    <a:solidFill>
                      <a:srgbClr val="F3F5F8"/>
                    </a:solidFill>
                  </a:tcPr>
                </a:tc>
                <a:tc>
                  <a:txBody>
                    <a:bodyPr/>
                    <a:lstStyle/>
                    <a:p>
                      <a:r>
                        <a:rPr sz="900" b="0" i="0">
                          <a:solidFill>
                            <a:srgbClr val="1F2937"/>
                          </a:solidFill>
                          <a:latin typeface="Calibri"/>
                        </a:rPr>
                        <a:t>One offer record feeds page text, JSON-LD and the fare block; dateModified; stale = defect</a:t>
                      </a:r>
                    </a:p>
                  </a:txBody>
                  <a:tcPr marL="64008" marR="64008" marT="36576" marB="36576">
                    <a:solidFill>
                      <a:srgbClr val="F3F5F8"/>
                    </a:solidFill>
                  </a:tcPr>
                </a:tc>
                <a:tc>
                  <a:txBody>
                    <a:bodyPr/>
                    <a:lstStyle/>
                    <a:p>
                      <a:r>
                        <a:rPr sz="900" b="0" i="0">
                          <a:solidFill>
                            <a:srgbClr val="1F2937"/>
                          </a:solidFill>
                          <a:latin typeface="Calibri"/>
                        </a:rPr>
                        <a:t>Equivalent offer conditions match; explain changes and enforce the freshness policy</a:t>
                      </a:r>
                    </a:p>
                  </a:txBody>
                  <a:tcPr marL="64008" marR="64008" marT="36576" marB="36576">
                    <a:solidFill>
                      <a:srgbClr val="F3F5F8"/>
                    </a:solidFill>
                  </a:tcPr>
                </a:tc>
                <a:tc>
                  <a:txBody>
                    <a:bodyPr/>
                    <a:lstStyle/>
                    <a:p>
                      <a:r>
                        <a:rPr sz="900" b="0" i="0">
                          <a:solidFill>
                            <a:srgbClr val="1F2937"/>
                          </a:solidFill>
                          <a:latin typeface="Calibri"/>
                        </a:rPr>
                        <a:t>Commercial + legal</a:t>
                      </a:r>
                    </a:p>
                  </a:txBody>
                  <a:tcPr marL="64008" marR="64008" marT="36576" marB="36576">
                    <a:solidFill>
                      <a:srgbClr val="F3F5F8"/>
                    </a:solidFill>
                  </a:tcPr>
                </a:tc>
                <a:extLst>
                  <a:ext uri="{0D108BD9-81ED-4DB2-BD59-A6C34878D82A}">
                    <a16:rowId xmlns:a16="http://schemas.microsoft.com/office/drawing/2014/main" val="10006"/>
                  </a:ext>
                </a:extLst>
              </a:tr>
              <a:tr h="565785">
                <a:tc>
                  <a:txBody>
                    <a:bodyPr/>
                    <a:lstStyle/>
                    <a:p>
                      <a:r>
                        <a:rPr sz="900" b="0" i="0">
                          <a:solidFill>
                            <a:srgbClr val="1F2937"/>
                          </a:solidFill>
                          <a:latin typeface="Calibri"/>
                        </a:rPr>
                        <a:t>6</a:t>
                      </a:r>
                    </a:p>
                  </a:txBody>
                  <a:tcPr marL="64008" marR="64008" marT="36576" marB="36576">
                    <a:solidFill>
                      <a:srgbClr val="FFFFFF"/>
                    </a:solidFill>
                  </a:tcPr>
                </a:tc>
                <a:tc>
                  <a:txBody>
                    <a:bodyPr/>
                    <a:lstStyle/>
                    <a:p>
                      <a:r>
                        <a:rPr sz="900" b="0" i="0">
                          <a:solidFill>
                            <a:srgbClr val="1F2937"/>
                          </a:solidFill>
                          <a:latin typeface="Calibri"/>
                        </a:rPr>
                        <a:t>Authority (earned)</a:t>
                      </a:r>
                    </a:p>
                  </a:txBody>
                  <a:tcPr marL="64008" marR="64008" marT="36576" marB="36576">
                    <a:solidFill>
                      <a:srgbClr val="FFFFFF"/>
                    </a:solidFill>
                  </a:tcPr>
                </a:tc>
                <a:tc>
                  <a:txBody>
                    <a:bodyPr/>
                    <a:lstStyle/>
                    <a:p>
                      <a:r>
                        <a:rPr sz="900" b="0" i="0">
                          <a:solidFill>
                            <a:srgbClr val="1F2937"/>
                          </a:solidFill>
                          <a:latin typeface="Calibri"/>
                        </a:rPr>
                        <a:t>Wikipedia/Wikidata mature; 27,355 Trustpilot reviews naming consultants; FC was absent from the sampled agency answer</a:t>
                      </a:r>
                    </a:p>
                  </a:txBody>
                  <a:tcPr marL="64008" marR="64008" marT="36576" marB="36576">
                    <a:solidFill>
                      <a:srgbClr val="FFFFFF"/>
                    </a:solidFill>
                  </a:tcPr>
                </a:tc>
                <a:tc>
                  <a:txBody>
                    <a:bodyPr/>
                    <a:lstStyle/>
                    <a:p>
                      <a:r>
                        <a:rPr sz="900" b="0" i="0">
                          <a:solidFill>
                            <a:srgbClr val="1F2937"/>
                          </a:solidFill>
                          <a:latin typeface="Calibri"/>
                        </a:rPr>
                        <a:t>Keep Wikipedia/Wikidata accurate; answer reviews; publish citable research; store/adviser listings reconciled</a:t>
                      </a:r>
                    </a:p>
                  </a:txBody>
                  <a:tcPr marL="64008" marR="64008" marT="36576" marB="36576">
                    <a:solidFill>
                      <a:srgbClr val="FFFFFF"/>
                    </a:solidFill>
                  </a:tcPr>
                </a:tc>
                <a:tc>
                  <a:txBody>
                    <a:bodyPr/>
                    <a:lstStyle/>
                    <a:p>
                      <a:r>
                        <a:rPr sz="900" b="0" i="0">
                          <a:solidFill>
                            <a:srgbClr val="1F2937"/>
                          </a:solidFill>
                          <a:latin typeface="Calibri"/>
                        </a:rPr>
                        <a:t>Accurate listings and genuine coverage; monitor mentions without promising uplift</a:t>
                      </a:r>
                    </a:p>
                  </a:txBody>
                  <a:tcPr marL="64008" marR="64008" marT="36576" marB="36576">
                    <a:solidFill>
                      <a:srgbClr val="FFFFFF"/>
                    </a:solidFill>
                  </a:tcPr>
                </a:tc>
                <a:tc>
                  <a:txBody>
                    <a:bodyPr/>
                    <a:lstStyle/>
                    <a:p>
                      <a:r>
                        <a:rPr sz="900" b="0" i="0">
                          <a:solidFill>
                            <a:srgbClr val="1F2937"/>
                          </a:solidFill>
                          <a:latin typeface="Calibri"/>
                        </a:rPr>
                        <a:t>PR, brand, retail</a:t>
                      </a:r>
                    </a:p>
                  </a:txBody>
                  <a:tcPr marL="64008" marR="64008" marT="36576" marB="36576">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These workstreams draw on reviewed practitioner frameworks and our audits. They are not universal prerequisites: apps and third-party sources are additional routes. Owners are role suggestions. Do not attribute the 52% to schema, llms.txt or bot access: none of those was in the tested treatment.</a:t>
            </a:r>
          </a:p>
        </p:txBody>
      </p:sp>
      <p:sp>
        <p:nvSpPr>
          <p:cNvPr id="7" name="TextBox 6"/>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29</a:t>
            </a:r>
            <a:endParaRPr sz="900" b="0" i="0">
              <a:solidFill>
                <a:srgbClr val="5B6573"/>
              </a:solidFill>
              <a:latin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BACKUP (HIDDEN) · FOR Q&amp;A</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400" b="1" i="0">
                <a:solidFill>
                  <a:srgbClr val="0B2240"/>
                </a:solidFill>
                <a:latin typeface="Calibri"/>
              </a:rPr>
              <a:t>Backup: experiment statistics</a:t>
            </a:r>
          </a:p>
        </p:txBody>
      </p:sp>
      <p:sp>
        <p:nvSpPr>
          <p:cNvPr id="4" name="Rounded Rectangle 3"/>
          <p:cNvSpPr/>
          <p:nvPr/>
        </p:nvSpPr>
        <p:spPr>
          <a:xfrm>
            <a:off x="10204704" y="329184"/>
            <a:ext cx="1453896" cy="292608"/>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Our experiment</a:t>
            </a:r>
          </a:p>
        </p:txBody>
      </p:sp>
      <p:graphicFrame>
        <p:nvGraphicFramePr>
          <p:cNvPr id="5" name="Table 4"/>
          <p:cNvGraphicFramePr>
            <a:graphicFrameLocks noGrp="1"/>
          </p:cNvGraphicFramePr>
          <p:nvPr/>
        </p:nvGraphicFramePr>
        <p:xfrm>
          <a:off x="548640" y="1600200"/>
          <a:ext cx="11109960" cy="4206235"/>
        </p:xfrm>
        <a:graphic>
          <a:graphicData uri="http://schemas.openxmlformats.org/drawingml/2006/table">
            <a:tbl>
              <a:tblPr/>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382385">
                <a:tc>
                  <a:txBody>
                    <a:bodyPr/>
                    <a:lstStyle/>
                    <a:p>
                      <a:r>
                        <a:rPr sz="1050" b="1" i="0">
                          <a:solidFill>
                            <a:srgbClr val="FFFFFF"/>
                          </a:solidFill>
                          <a:latin typeface="Calibri"/>
                        </a:rPr>
                        <a:t>Quantity</a:t>
                      </a:r>
                    </a:p>
                  </a:txBody>
                  <a:tcPr marL="64008" marR="64008" marT="36576" marB="36576" anchor="ctr">
                    <a:solidFill>
                      <a:srgbClr val="0B2240"/>
                    </a:solidFill>
                  </a:tcPr>
                </a:tc>
                <a:tc>
                  <a:txBody>
                    <a:bodyPr/>
                    <a:lstStyle/>
                    <a:p>
                      <a:r>
                        <a:rPr sz="1050" b="1" i="0">
                          <a:solidFill>
                            <a:srgbClr val="FFFFFF"/>
                          </a:solidFill>
                          <a:latin typeface="Calibri"/>
                        </a:rPr>
                        <a:t>Value</a:t>
                      </a:r>
                    </a:p>
                  </a:txBody>
                  <a:tcPr marL="64008" marR="64008" marT="36576" marB="36576" anchor="ctr">
                    <a:solidFill>
                      <a:srgbClr val="0B2240"/>
                    </a:solidFill>
                  </a:tcPr>
                </a:tc>
                <a:extLst>
                  <a:ext uri="{0D108BD9-81ED-4DB2-BD59-A6C34878D82A}">
                    <a16:rowId xmlns:a16="http://schemas.microsoft.com/office/drawing/2014/main" val="10000"/>
                  </a:ext>
                </a:extLst>
              </a:tr>
              <a:tr h="382385">
                <a:tc>
                  <a:txBody>
                    <a:bodyPr/>
                    <a:lstStyle/>
                    <a:p>
                      <a:r>
                        <a:rPr sz="1000" b="0" i="0">
                          <a:solidFill>
                            <a:srgbClr val="1F2937"/>
                          </a:solidFill>
                          <a:latin typeface="Calibri"/>
                        </a:rPr>
                        <a:t>Snapshot</a:t>
                      </a:r>
                    </a:p>
                  </a:txBody>
                  <a:tcPr marL="64008" marR="64008" marT="36576" marB="36576">
                    <a:solidFill>
                      <a:srgbClr val="FFFFFF"/>
                    </a:solidFill>
                  </a:tcPr>
                </a:tc>
                <a:tc>
                  <a:txBody>
                    <a:bodyPr/>
                    <a:lstStyle/>
                    <a:p>
                      <a:r>
                        <a:rPr sz="1000" b="0" i="0">
                          <a:solidFill>
                            <a:srgbClr val="1F2937"/>
                          </a:solidFill>
                          <a:latin typeface="Calibri"/>
                        </a:rPr>
                        <a:t>Brave Search AU, August 2026; 50 questions × 3 wordings; top 20 captured, top 10 analysed; 953 pages, 688 usable</a:t>
                      </a:r>
                    </a:p>
                  </a:txBody>
                  <a:tcPr marL="64008" marR="64008" marT="36576" marB="36576">
                    <a:solidFill>
                      <a:srgbClr val="FFFFFF"/>
                    </a:solidFill>
                  </a:tcPr>
                </a:tc>
                <a:extLst>
                  <a:ext uri="{0D108BD9-81ED-4DB2-BD59-A6C34878D82A}">
                    <a16:rowId xmlns:a16="http://schemas.microsoft.com/office/drawing/2014/main" val="10001"/>
                  </a:ext>
                </a:extLst>
              </a:tr>
              <a:tr h="382385">
                <a:tc>
                  <a:txBody>
                    <a:bodyPr/>
                    <a:lstStyle/>
                    <a:p>
                      <a:r>
                        <a:rPr sz="1000" b="0" i="0">
                          <a:solidFill>
                            <a:srgbClr val="1F2937"/>
                          </a:solidFill>
                          <a:latin typeface="Calibri"/>
                        </a:rPr>
                        <a:t>Main (fixed) setup</a:t>
                      </a:r>
                    </a:p>
                  </a:txBody>
                  <a:tcPr marL="64008" marR="64008" marT="36576" marB="36576">
                    <a:solidFill>
                      <a:srgbClr val="F3F5F8"/>
                    </a:solidFill>
                  </a:tcPr>
                </a:tc>
                <a:tc>
                  <a:txBody>
                    <a:bodyPr/>
                    <a:lstStyle/>
                    <a:p>
                      <a:r>
                        <a:rPr sz="1000" b="0" i="0">
                          <a:solidFill>
                            <a:srgbClr val="1F2937"/>
                          </a:solidFill>
                          <a:latin typeface="Calibri"/>
                        </a:rPr>
                        <a:t>29 eligible flight questions with FC in the saved source pool; whole page text up to 24,000 characters per source; 2 source orders × 5 repeats = 290 answers per version</a:t>
                      </a:r>
                    </a:p>
                  </a:txBody>
                  <a:tcPr marL="64008" marR="64008" marT="36576" marB="36576">
                    <a:solidFill>
                      <a:srgbClr val="F3F5F8"/>
                    </a:solidFill>
                  </a:tcPr>
                </a:tc>
                <a:extLst>
                  <a:ext uri="{0D108BD9-81ED-4DB2-BD59-A6C34878D82A}">
                    <a16:rowId xmlns:a16="http://schemas.microsoft.com/office/drawing/2014/main" val="10002"/>
                  </a:ext>
                </a:extLst>
              </a:tr>
              <a:tr h="382385">
                <a:tc>
                  <a:txBody>
                    <a:bodyPr/>
                    <a:lstStyle/>
                    <a:p>
                      <a:r>
                        <a:rPr sz="1000" b="0" i="0">
                          <a:solidFill>
                            <a:srgbClr val="1F2937"/>
                          </a:solidFill>
                          <a:latin typeface="Calibri"/>
                        </a:rPr>
                        <a:t>Model and prompt</a:t>
                      </a:r>
                    </a:p>
                  </a:txBody>
                  <a:tcPr marL="64008" marR="64008" marT="36576" marB="36576">
                    <a:solidFill>
                      <a:srgbClr val="FFFFFF"/>
                    </a:solidFill>
                  </a:tcPr>
                </a:tc>
                <a:tc>
                  <a:txBody>
                    <a:bodyPr/>
                    <a:lstStyle/>
                    <a:p>
                      <a:r>
                        <a:rPr sz="1000" b="0" i="0">
                          <a:solidFill>
                            <a:srgbClr val="1F2937"/>
                          </a:solidFill>
                          <a:latin typeface="Calibri"/>
                        </a:rPr>
                        <a:t>OpenAI gpt-5.6-luna, provider defaults; GEO-paper prompt ('cite using [index]'); no internet access during answering</a:t>
                      </a:r>
                    </a:p>
                  </a:txBody>
                  <a:tcPr marL="64008" marR="64008" marT="36576" marB="36576">
                    <a:solidFill>
                      <a:srgbClr val="FFFFFF"/>
                    </a:solidFill>
                  </a:tcPr>
                </a:tc>
                <a:extLst>
                  <a:ext uri="{0D108BD9-81ED-4DB2-BD59-A6C34878D82A}">
                    <a16:rowId xmlns:a16="http://schemas.microsoft.com/office/drawing/2014/main" val="10003"/>
                  </a:ext>
                </a:extLst>
              </a:tr>
              <a:tr h="382385">
                <a:tc>
                  <a:txBody>
                    <a:bodyPr/>
                    <a:lstStyle/>
                    <a:p>
                      <a:r>
                        <a:rPr sz="1000" b="0" i="0">
                          <a:solidFill>
                            <a:srgbClr val="1F2937"/>
                          </a:solidFill>
                          <a:latin typeface="Calibri"/>
                        </a:rPr>
                        <a:t>Original pages</a:t>
                      </a:r>
                    </a:p>
                  </a:txBody>
                  <a:tcPr marL="64008" marR="64008" marT="36576" marB="36576">
                    <a:solidFill>
                      <a:srgbClr val="F3F5F8"/>
                    </a:solidFill>
                  </a:tcPr>
                </a:tc>
                <a:tc>
                  <a:txBody>
                    <a:bodyPr/>
                    <a:lstStyle/>
                    <a:p>
                      <a:r>
                        <a:rPr sz="1000" b="0" i="0">
                          <a:solidFill>
                            <a:srgbClr val="1F2937"/>
                          </a:solidFill>
                          <a:latin typeface="Calibri"/>
                        </a:rPr>
                        <a:t>116 / 290 = 40.0%</a:t>
                      </a:r>
                    </a:p>
                  </a:txBody>
                  <a:tcPr marL="64008" marR="64008" marT="36576" marB="36576">
                    <a:solidFill>
                      <a:srgbClr val="F3F5F8"/>
                    </a:solidFill>
                  </a:tcPr>
                </a:tc>
                <a:extLst>
                  <a:ext uri="{0D108BD9-81ED-4DB2-BD59-A6C34878D82A}">
                    <a16:rowId xmlns:a16="http://schemas.microsoft.com/office/drawing/2014/main" val="10004"/>
                  </a:ext>
                </a:extLst>
              </a:tr>
              <a:tr h="382385">
                <a:tc>
                  <a:txBody>
                    <a:bodyPr/>
                    <a:lstStyle/>
                    <a:p>
                      <a:r>
                        <a:rPr sz="1000" b="0" i="0">
                          <a:solidFill>
                            <a:srgbClr val="1F2937"/>
                          </a:solidFill>
                          <a:latin typeface="Calibri"/>
                        </a:rPr>
                        <a:t>Optimised pages</a:t>
                      </a:r>
                    </a:p>
                  </a:txBody>
                  <a:tcPr marL="64008" marR="64008" marT="36576" marB="36576">
                    <a:solidFill>
                      <a:srgbClr val="FFFFFF"/>
                    </a:solidFill>
                  </a:tcPr>
                </a:tc>
                <a:tc>
                  <a:txBody>
                    <a:bodyPr/>
                    <a:lstStyle/>
                    <a:p>
                      <a:r>
                        <a:rPr sz="1000" b="0" i="0">
                          <a:solidFill>
                            <a:srgbClr val="1F2937"/>
                          </a:solidFill>
                          <a:latin typeface="Calibri"/>
                        </a:rPr>
                        <a:t>152 / 290 = 52.4%; +12.4 points; 95% interval +5.2 to +20.0; 21 up / 6 down / 2 same</a:t>
                      </a:r>
                    </a:p>
                  </a:txBody>
                  <a:tcPr marL="64008" marR="64008" marT="36576" marB="36576">
                    <a:solidFill>
                      <a:srgbClr val="FFFFFF"/>
                    </a:solidFill>
                  </a:tcPr>
                </a:tc>
                <a:extLst>
                  <a:ext uri="{0D108BD9-81ED-4DB2-BD59-A6C34878D82A}">
                    <a16:rowId xmlns:a16="http://schemas.microsoft.com/office/drawing/2014/main" val="10005"/>
                  </a:ext>
                </a:extLst>
              </a:tr>
              <a:tr h="382385">
                <a:tc>
                  <a:txBody>
                    <a:bodyPr/>
                    <a:lstStyle/>
                    <a:p>
                      <a:r>
                        <a:rPr sz="1000" b="0" i="0">
                          <a:solidFill>
                            <a:srgbClr val="1F2937"/>
                          </a:solidFill>
                          <a:latin typeface="Calibri"/>
                        </a:rPr>
                        <a:t>Individual methods (vs 114 / 290)</a:t>
                      </a:r>
                    </a:p>
                  </a:txBody>
                  <a:tcPr marL="64008" marR="64008" marT="36576" marB="36576">
                    <a:solidFill>
                      <a:srgbClr val="F3F5F8"/>
                    </a:solidFill>
                  </a:tcPr>
                </a:tc>
                <a:tc>
                  <a:txBody>
                    <a:bodyPr/>
                    <a:lstStyle/>
                    <a:p>
                      <a:r>
                        <a:rPr sz="1000" b="0" i="0">
                          <a:solidFill>
                            <a:srgbClr val="1F2937"/>
                          </a:solidFill>
                          <a:latin typeface="Calibri"/>
                        </a:rPr>
                        <a:t>Structured facts +7.6; FAQ +6.9; rendered +6.6; schema + visible +6.2; external facts +3.4; AI rewrite −5.5; position benchmark +18.3</a:t>
                      </a:r>
                    </a:p>
                  </a:txBody>
                  <a:tcPr marL="64008" marR="64008" marT="36576" marB="36576">
                    <a:solidFill>
                      <a:srgbClr val="F3F5F8"/>
                    </a:solidFill>
                  </a:tcPr>
                </a:tc>
                <a:extLst>
                  <a:ext uri="{0D108BD9-81ED-4DB2-BD59-A6C34878D82A}">
                    <a16:rowId xmlns:a16="http://schemas.microsoft.com/office/drawing/2014/main" val="10006"/>
                  </a:ext>
                </a:extLst>
              </a:tr>
              <a:tr h="382385">
                <a:tc>
                  <a:txBody>
                    <a:bodyPr/>
                    <a:lstStyle/>
                    <a:p>
                      <a:r>
                        <a:rPr sz="1000" b="0" i="0">
                          <a:solidFill>
                            <a:srgbClr val="1F2937"/>
                          </a:solidFill>
                          <a:latin typeface="Calibri"/>
                        </a:rPr>
                        <a:t>Secondary (reindexed) setup</a:t>
                      </a:r>
                    </a:p>
                  </a:txBody>
                  <a:tcPr marL="64008" marR="64008" marT="36576" marB="36576">
                    <a:solidFill>
                      <a:srgbClr val="FFFFFF"/>
                    </a:solidFill>
                  </a:tcPr>
                </a:tc>
                <a:tc>
                  <a:txBody>
                    <a:bodyPr/>
                    <a:lstStyle/>
                    <a:p>
                      <a:r>
                        <a:rPr sz="1000" b="0" i="0">
                          <a:solidFill>
                            <a:srgbClr val="1F2937"/>
                          </a:solidFill>
                          <a:latin typeface="Calibri"/>
                        </a:rPr>
                        <a:t>26 / 400 → 27 / 400 (6.50% → 6.75%): no discovery gain; this was the pre-declared primary measure</a:t>
                      </a:r>
                    </a:p>
                  </a:txBody>
                  <a:tcPr marL="64008" marR="64008" marT="36576" marB="36576">
                    <a:solidFill>
                      <a:srgbClr val="FFFFFF"/>
                    </a:solidFill>
                  </a:tcPr>
                </a:tc>
                <a:extLst>
                  <a:ext uri="{0D108BD9-81ED-4DB2-BD59-A6C34878D82A}">
                    <a16:rowId xmlns:a16="http://schemas.microsoft.com/office/drawing/2014/main" val="10007"/>
                  </a:ext>
                </a:extLst>
              </a:tr>
              <a:tr h="382385">
                <a:tc>
                  <a:txBody>
                    <a:bodyPr/>
                    <a:lstStyle/>
                    <a:p>
                      <a:r>
                        <a:rPr sz="1000" b="0" i="0">
                          <a:solidFill>
                            <a:srgbClr val="1F2937"/>
                          </a:solidFill>
                          <a:latin typeface="Calibri"/>
                        </a:rPr>
                        <a:t>Reworded questions (9 Oct 2026)</a:t>
                      </a:r>
                    </a:p>
                  </a:txBody>
                  <a:tcPr marL="64008" marR="64008" marT="36576" marB="36576">
                    <a:solidFill>
                      <a:srgbClr val="F3F5F8"/>
                    </a:solidFill>
                  </a:tcPr>
                </a:tc>
                <a:tc>
                  <a:txBody>
                    <a:bodyPr/>
                    <a:lstStyle/>
                    <a:p>
                      <a:r>
                        <a:rPr sz="1000" b="0" i="0">
                          <a:solidFill>
                            <a:srgbClr val="1F2937"/>
                          </a:solidFill>
                          <a:latin typeface="Calibri"/>
                        </a:rPr>
                        <a:t>199 → 223 / 290 (+8.3 points; interval −1.0 to +17.9; p = 0.12)</a:t>
                      </a:r>
                    </a:p>
                  </a:txBody>
                  <a:tcPr marL="64008" marR="64008" marT="36576" marB="36576">
                    <a:solidFill>
                      <a:srgbClr val="F3F5F8"/>
                    </a:solidFill>
                  </a:tcPr>
                </a:tc>
                <a:extLst>
                  <a:ext uri="{0D108BD9-81ED-4DB2-BD59-A6C34878D82A}">
                    <a16:rowId xmlns:a16="http://schemas.microsoft.com/office/drawing/2014/main" val="10008"/>
                  </a:ext>
                </a:extLst>
              </a:tr>
              <a:tr h="382385">
                <a:tc>
                  <a:txBody>
                    <a:bodyPr/>
                    <a:lstStyle/>
                    <a:p>
                      <a:r>
                        <a:rPr sz="1000" b="0" i="0">
                          <a:solidFill>
                            <a:srgbClr val="1F2937"/>
                          </a:solidFill>
                          <a:latin typeface="Calibri"/>
                        </a:rPr>
                        <a:t>Future sample size</a:t>
                      </a:r>
                    </a:p>
                  </a:txBody>
                  <a:tcPr marL="64008" marR="64008" marT="36576" marB="36576">
                    <a:solidFill>
                      <a:srgbClr val="FFFFFF"/>
                    </a:solidFill>
                  </a:tcPr>
                </a:tc>
                <a:tc>
                  <a:txBody>
                    <a:bodyPr/>
                    <a:lstStyle/>
                    <a:p>
                      <a:r>
                        <a:rPr sz="1000" b="0" i="0">
                          <a:solidFill>
                            <a:srgbClr val="1F2937"/>
                          </a:solidFill>
                          <a:latin typeface="Calibri"/>
                        </a:rPr>
                        <a:t>Estimate from pilot variance and the smallest worthwhile effect; 29 questions limit precision</a:t>
                      </a:r>
                    </a:p>
                  </a:txBody>
                  <a:tcPr marL="64008" marR="64008" marT="36576" marB="36576">
                    <a:solidFill>
                      <a:srgbClr val="FFFFFF"/>
                    </a:solidFill>
                  </a:tcPr>
                </a:tc>
                <a:extLst>
                  <a:ext uri="{0D108BD9-81ED-4DB2-BD59-A6C34878D82A}">
                    <a16:rowId xmlns:a16="http://schemas.microsoft.com/office/drawing/2014/main" val="10009"/>
                  </a:ext>
                </a:extLst>
              </a:tr>
              <a:tr h="382385">
                <a:tc>
                  <a:txBody>
                    <a:bodyPr/>
                    <a:lstStyle/>
                    <a:p>
                      <a:r>
                        <a:rPr sz="1000" b="0" i="0">
                          <a:solidFill>
                            <a:srgbClr val="1F2937"/>
                          </a:solidFill>
                          <a:latin typeface="Calibri"/>
                        </a:rPr>
                        <a:t>Fairness checks</a:t>
                      </a:r>
                    </a:p>
                  </a:txBody>
                  <a:tcPr marL="64008" marR="64008" marT="36576" marB="36576">
                    <a:solidFill>
                      <a:srgbClr val="F3F5F8"/>
                    </a:solidFill>
                  </a:tcPr>
                </a:tc>
                <a:tc>
                  <a:txBody>
                    <a:bodyPr/>
                    <a:lstStyle/>
                    <a:p>
                      <a:r>
                        <a:rPr sz="1000" b="0" i="0">
                          <a:solidFill>
                            <a:srgbClr val="1F2937"/>
                          </a:solidFill>
                          <a:latin typeface="Calibri"/>
                        </a:rPr>
                        <a:t>All 290 headline pairs matched URLs, order and unchanged competitor text; offline recount reproduces 116 and 152</a:t>
                      </a:r>
                    </a:p>
                  </a:txBody>
                  <a:tcPr marL="64008" marR="64008" marT="36576" marB="36576">
                    <a:solidFill>
                      <a:srgbClr val="F3F5F8"/>
                    </a:solidFill>
                  </a:tcPr>
                </a:tc>
                <a:extLst>
                  <a:ext uri="{0D108BD9-81ED-4DB2-BD59-A6C34878D82A}">
                    <a16:rowId xmlns:a16="http://schemas.microsoft.com/office/drawing/2014/main" val="10010"/>
                  </a:ext>
                </a:extLst>
              </a:tr>
            </a:tbl>
          </a:graphicData>
        </a:graphic>
      </p:graphicFrame>
      <p:sp>
        <p:nvSpPr>
          <p:cNvPr id="6" name="TextBox 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Source: Technical Report v1.4, Sections 6, 8 and 10; Offline_Verification.json PASS.</a:t>
            </a:r>
          </a:p>
        </p:txBody>
      </p:sp>
      <p:sp>
        <p:nvSpPr>
          <p:cNvPr id="7" name="TextBox 6"/>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30</a:t>
            </a:r>
            <a:endParaRPr sz="900" b="0" i="0">
              <a:solidFill>
                <a:srgbClr val="5B6573"/>
              </a:solidFill>
              <a:latin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BACKUP (HIDDEN) · FOR Q&amp;A</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400" b="1" i="0">
                <a:solidFill>
                  <a:srgbClr val="0B2240"/>
                </a:solidFill>
                <a:latin typeface="Calibri"/>
              </a:rPr>
              <a:t>Backup: live inspection, 25 October 2026 (headless Chromium, JavaScript on and off; curl)</a:t>
            </a:r>
          </a:p>
        </p:txBody>
      </p:sp>
      <p:sp>
        <p:nvSpPr>
          <p:cNvPr id="4" name="Rounded Rectangle 3"/>
          <p:cNvSpPr/>
          <p:nvPr/>
        </p:nvSpPr>
        <p:spPr>
          <a:xfrm>
            <a:off x="9582912" y="329184"/>
            <a:ext cx="2075688" cy="292608"/>
          </a:xfrm>
          <a:prstGeom prst="roundRect">
            <a:avLst>
              <a:gd name="adj" fmla="val 50000"/>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Live check 25 Oct 2026</a:t>
            </a:r>
          </a:p>
        </p:txBody>
      </p:sp>
      <p:graphicFrame>
        <p:nvGraphicFramePr>
          <p:cNvPr id="5" name="Table 4"/>
          <p:cNvGraphicFramePr>
            <a:graphicFrameLocks noGrp="1"/>
          </p:cNvGraphicFramePr>
          <p:nvPr/>
        </p:nvGraphicFramePr>
        <p:xfrm>
          <a:off x="548640" y="1600200"/>
          <a:ext cx="11109960" cy="4206235"/>
        </p:xfrm>
        <a:graphic>
          <a:graphicData uri="http://schemas.openxmlformats.org/drawingml/2006/table">
            <a:tbl>
              <a:tblPr/>
              <a:tblGrid>
                <a:gridCol w="2377440">
                  <a:extLst>
                    <a:ext uri="{9D8B030D-6E8A-4147-A177-3AD203B41FA5}">
                      <a16:colId xmlns:a16="http://schemas.microsoft.com/office/drawing/2014/main" val="20000"/>
                    </a:ext>
                  </a:extLst>
                </a:gridCol>
                <a:gridCol w="8732520">
                  <a:extLst>
                    <a:ext uri="{9D8B030D-6E8A-4147-A177-3AD203B41FA5}">
                      <a16:colId xmlns:a16="http://schemas.microsoft.com/office/drawing/2014/main" val="20001"/>
                    </a:ext>
                  </a:extLst>
                </a:gridCol>
              </a:tblGrid>
              <a:tr h="382385">
                <a:tc>
                  <a:txBody>
                    <a:bodyPr/>
                    <a:lstStyle/>
                    <a:p>
                      <a:r>
                        <a:rPr sz="1050" b="1" i="0">
                          <a:solidFill>
                            <a:srgbClr val="FFFFFF"/>
                          </a:solidFill>
                          <a:latin typeface="Calibri"/>
                        </a:rPr>
                        <a:t>Check</a:t>
                      </a:r>
                    </a:p>
                  </a:txBody>
                  <a:tcPr marL="64008" marR="64008" marT="36576" marB="36576" anchor="ctr">
                    <a:solidFill>
                      <a:srgbClr val="0B2240"/>
                    </a:solidFill>
                  </a:tcPr>
                </a:tc>
                <a:tc>
                  <a:txBody>
                    <a:bodyPr/>
                    <a:lstStyle/>
                    <a:p>
                      <a:r>
                        <a:rPr sz="1050" b="1" i="0">
                          <a:solidFill>
                            <a:srgbClr val="FFFFFF"/>
                          </a:solidFill>
                          <a:latin typeface="Calibri"/>
                        </a:rPr>
                        <a:t>Result</a:t>
                      </a:r>
                    </a:p>
                  </a:txBody>
                  <a:tcPr marL="64008" marR="64008" marT="36576" marB="36576" anchor="ctr">
                    <a:solidFill>
                      <a:srgbClr val="0B2240"/>
                    </a:solidFill>
                  </a:tcPr>
                </a:tc>
                <a:extLst>
                  <a:ext uri="{0D108BD9-81ED-4DB2-BD59-A6C34878D82A}">
                    <a16:rowId xmlns:a16="http://schemas.microsoft.com/office/drawing/2014/main" val="10000"/>
                  </a:ext>
                </a:extLst>
              </a:tr>
              <a:tr h="382385">
                <a:tc>
                  <a:txBody>
                    <a:bodyPr/>
                    <a:lstStyle/>
                    <a:p>
                      <a:r>
                        <a:rPr sz="1000" b="0" i="0">
                          <a:solidFill>
                            <a:srgbClr val="1F2937"/>
                          </a:solidFill>
                          <a:latin typeface="Calibri"/>
                        </a:rPr>
                        <a:t>flightcentre.com.au/robots.txt</a:t>
                      </a:r>
                    </a:p>
                  </a:txBody>
                  <a:tcPr marL="64008" marR="64008" marT="36576" marB="36576">
                    <a:solidFill>
                      <a:srgbClr val="FFFFFF"/>
                    </a:solidFill>
                  </a:tcPr>
                </a:tc>
                <a:tc>
                  <a:txBody>
                    <a:bodyPr/>
                    <a:lstStyle/>
                    <a:p>
                      <a:r>
                        <a:rPr sz="1000" b="0" i="0">
                          <a:solidFill>
                            <a:srgbClr val="1F2937"/>
                          </a:solidFill>
                          <a:latin typeface="Calibri"/>
                        </a:rPr>
                        <a:t>200. Allow / for *; explicit Allow for GPTBot, Google-Extended, PerplexityBot, AnthropicBot, Applebot, Google-CloudVertexBot; SEO crawlers (Semrush, Ahrefs, MJ12) disallowed; 8 sitemaps; no OAI-SearchBot, ChatGPT-User or Claude-SearchBot lines; no crawl-delay (the May 2026 audit's crawl-delay and GPTBot block are no longer present)</a:t>
                      </a:r>
                    </a:p>
                  </a:txBody>
                  <a:tcPr marL="64008" marR="64008" marT="36576" marB="36576">
                    <a:solidFill>
                      <a:srgbClr val="FFFFFF"/>
                    </a:solidFill>
                  </a:tcPr>
                </a:tc>
                <a:extLst>
                  <a:ext uri="{0D108BD9-81ED-4DB2-BD59-A6C34878D82A}">
                    <a16:rowId xmlns:a16="http://schemas.microsoft.com/office/drawing/2014/main" val="10001"/>
                  </a:ext>
                </a:extLst>
              </a:tr>
              <a:tr h="382385">
                <a:tc>
                  <a:txBody>
                    <a:bodyPr/>
                    <a:lstStyle/>
                    <a:p>
                      <a:r>
                        <a:rPr sz="1000" b="0" i="0">
                          <a:solidFill>
                            <a:srgbClr val="1F2937"/>
                          </a:solidFill>
                          <a:latin typeface="Calibri"/>
                        </a:rPr>
                        <a:t>webjet.com.au/robots.txt</a:t>
                      </a:r>
                    </a:p>
                  </a:txBody>
                  <a:tcPr marL="64008" marR="64008" marT="36576" marB="36576">
                    <a:solidFill>
                      <a:srgbClr val="F3F5F8"/>
                    </a:solidFill>
                  </a:tcPr>
                </a:tc>
                <a:tc>
                  <a:txBody>
                    <a:bodyPr/>
                    <a:lstStyle/>
                    <a:p>
                      <a:r>
                        <a:rPr sz="1000" b="0" i="0">
                          <a:solidFill>
                            <a:srgbClr val="1F2937"/>
                          </a:solidFill>
                          <a:latin typeface="Calibri"/>
                        </a:rPr>
                        <a:t>200. '# AI Search Bots': OAI-SearchBot, Claude-SearchBot, PerplexityBot Allow. '# AI Training Bots': GPTBot, ClaudeBot Disallow</a:t>
                      </a:r>
                    </a:p>
                  </a:txBody>
                  <a:tcPr marL="64008" marR="64008" marT="36576" marB="36576">
                    <a:solidFill>
                      <a:srgbClr val="F3F5F8"/>
                    </a:solidFill>
                  </a:tcPr>
                </a:tc>
                <a:extLst>
                  <a:ext uri="{0D108BD9-81ED-4DB2-BD59-A6C34878D82A}">
                    <a16:rowId xmlns:a16="http://schemas.microsoft.com/office/drawing/2014/main" val="10002"/>
                  </a:ext>
                </a:extLst>
              </a:tr>
              <a:tr h="382385">
                <a:tc>
                  <a:txBody>
                    <a:bodyPr/>
                    <a:lstStyle/>
                    <a:p>
                      <a:r>
                        <a:rPr sz="1000" b="0" i="0">
                          <a:solidFill>
                            <a:srgbClr val="1F2937"/>
                          </a:solidFill>
                          <a:latin typeface="Calibri"/>
                        </a:rPr>
                        <a:t>expedia.com.au</a:t>
                      </a:r>
                    </a:p>
                  </a:txBody>
                  <a:tcPr marL="64008" marR="64008" marT="36576" marB="36576">
                    <a:solidFill>
                      <a:srgbClr val="FFFFFF"/>
                    </a:solidFill>
                  </a:tcPr>
                </a:tc>
                <a:tc>
                  <a:txBody>
                    <a:bodyPr/>
                    <a:lstStyle/>
                    <a:p>
                      <a:r>
                        <a:rPr sz="1000" b="0" i="0">
                          <a:solidFill>
                            <a:srgbClr val="1F2937"/>
                          </a:solidFill>
                          <a:latin typeface="Calibri"/>
                        </a:rPr>
                        <a:t>robots.txt '# Allow Agentic Search' block (OAI-SearchBot, ChatGPT-User, PerplexityBot, Perplexity-User, Claude-User, Claude-SearchBot); GPTBot not named; /llms.txt HTTP 200, 6,642 characters, including a 'Directions for AI Systems' section</a:t>
                      </a:r>
                    </a:p>
                  </a:txBody>
                  <a:tcPr marL="64008" marR="64008" marT="36576" marB="36576">
                    <a:solidFill>
                      <a:srgbClr val="FFFFFF"/>
                    </a:solidFill>
                  </a:tcPr>
                </a:tc>
                <a:extLst>
                  <a:ext uri="{0D108BD9-81ED-4DB2-BD59-A6C34878D82A}">
                    <a16:rowId xmlns:a16="http://schemas.microsoft.com/office/drawing/2014/main" val="10003"/>
                  </a:ext>
                </a:extLst>
              </a:tr>
              <a:tr h="382385">
                <a:tc>
                  <a:txBody>
                    <a:bodyPr/>
                    <a:lstStyle/>
                    <a:p>
                      <a:r>
                        <a:rPr sz="1000" b="0" i="0">
                          <a:solidFill>
                            <a:srgbClr val="1F2937"/>
                          </a:solidFill>
                          <a:latin typeface="Calibri"/>
                        </a:rPr>
                        <a:t>/llms.txt elsewhere</a:t>
                      </a:r>
                    </a:p>
                  </a:txBody>
                  <a:tcPr marL="64008" marR="64008" marT="36576" marB="36576">
                    <a:solidFill>
                      <a:srgbClr val="F3F5F8"/>
                    </a:solidFill>
                  </a:tcPr>
                </a:tc>
                <a:tc>
                  <a:txBody>
                    <a:bodyPr/>
                    <a:lstStyle/>
                    <a:p>
                      <a:r>
                        <a:rPr sz="1000" b="0" i="0">
                          <a:solidFill>
                            <a:srgbClr val="1F2937"/>
                          </a:solidFill>
                          <a:latin typeface="Calibri"/>
                        </a:rPr>
                        <a:t>Flight Centre 404 (/llm.txt also 404); Webjet, Qantas, Skyscanner redirect (no file); Booking.com 404</a:t>
                      </a:r>
                    </a:p>
                  </a:txBody>
                  <a:tcPr marL="64008" marR="64008" marT="36576" marB="36576">
                    <a:solidFill>
                      <a:srgbClr val="F3F5F8"/>
                    </a:solidFill>
                  </a:tcPr>
                </a:tc>
                <a:extLst>
                  <a:ext uri="{0D108BD9-81ED-4DB2-BD59-A6C34878D82A}">
                    <a16:rowId xmlns:a16="http://schemas.microsoft.com/office/drawing/2014/main" val="10004"/>
                  </a:ext>
                </a:extLst>
              </a:tr>
              <a:tr h="382385">
                <a:tc>
                  <a:txBody>
                    <a:bodyPr/>
                    <a:lstStyle/>
                    <a:p>
                      <a:r>
                        <a:rPr sz="1000" b="0" i="0">
                          <a:solidFill>
                            <a:srgbClr val="1F2937"/>
                          </a:solidFill>
                          <a:latin typeface="Calibri"/>
                        </a:rPr>
                        <a:t>FC route Melbourne–London</a:t>
                      </a:r>
                    </a:p>
                  </a:txBody>
                  <a:tcPr marL="64008" marR="64008" marT="36576" marB="36576">
                    <a:solidFill>
                      <a:srgbClr val="FFFFFF"/>
                    </a:solidFill>
                  </a:tcPr>
                </a:tc>
                <a:tc>
                  <a:txBody>
                    <a:bodyPr/>
                    <a:lstStyle/>
                    <a:p>
                      <a:r>
                        <a:rPr sz="1000" b="0" i="0">
                          <a:solidFill>
                            <a:srgbClr val="1F2937"/>
                          </a:solidFill>
                          <a:latin typeface="Calibri"/>
                        </a:rPr>
                        <a:t>JSON-LD: FAQPage (8 questions), Flight, Offer (price 1342), Airport, BreadcrumbList. Deal cards ('Available between'): 6 with JavaScript, 0 without. FAQ questions present without JavaScript. Heading fare $1,342 (was $1,272 on 23 Oct, $1,434 in Aug capture); cheapest deal card $1,605</a:t>
                      </a:r>
                    </a:p>
                  </a:txBody>
                  <a:tcPr marL="64008" marR="64008" marT="36576" marB="36576">
                    <a:solidFill>
                      <a:srgbClr val="FFFFFF"/>
                    </a:solidFill>
                  </a:tcPr>
                </a:tc>
                <a:extLst>
                  <a:ext uri="{0D108BD9-81ED-4DB2-BD59-A6C34878D82A}">
                    <a16:rowId xmlns:a16="http://schemas.microsoft.com/office/drawing/2014/main" val="10005"/>
                  </a:ext>
                </a:extLst>
              </a:tr>
              <a:tr h="382385">
                <a:tc>
                  <a:txBody>
                    <a:bodyPr/>
                    <a:lstStyle/>
                    <a:p>
                      <a:r>
                        <a:rPr sz="1000" b="0" i="0">
                          <a:solidFill>
                            <a:srgbClr val="1F2937"/>
                          </a:solidFill>
                          <a:latin typeface="Calibri"/>
                        </a:rPr>
                        <a:t>FC route Brisbane–Bali</a:t>
                      </a:r>
                    </a:p>
                  </a:txBody>
                  <a:tcPr marL="64008" marR="64008" marT="36576" marB="36576">
                    <a:solidFill>
                      <a:srgbClr val="F3F5F8"/>
                    </a:solidFill>
                  </a:tcPr>
                </a:tc>
                <a:tc>
                  <a:txBody>
                    <a:bodyPr/>
                    <a:lstStyle/>
                    <a:p>
                      <a:r>
                        <a:rPr sz="1000" b="0" i="0">
                          <a:solidFill>
                            <a:srgbClr val="1F2937"/>
                          </a:solidFill>
                          <a:latin typeface="Calibri"/>
                        </a:rPr>
                        <a:t>521 KB; 1 JSON-LD block with FAQPage; no deal-card text; title fare $626</a:t>
                      </a:r>
                    </a:p>
                  </a:txBody>
                  <a:tcPr marL="64008" marR="64008" marT="36576" marB="36576">
                    <a:solidFill>
                      <a:srgbClr val="F3F5F8"/>
                    </a:solidFill>
                  </a:tcPr>
                </a:tc>
                <a:extLst>
                  <a:ext uri="{0D108BD9-81ED-4DB2-BD59-A6C34878D82A}">
                    <a16:rowId xmlns:a16="http://schemas.microsoft.com/office/drawing/2014/main" val="10006"/>
                  </a:ext>
                </a:extLst>
              </a:tr>
              <a:tr h="382385">
                <a:tc>
                  <a:txBody>
                    <a:bodyPr/>
                    <a:lstStyle/>
                    <a:p>
                      <a:r>
                        <a:rPr sz="1000" b="0" i="0">
                          <a:solidFill>
                            <a:srgbClr val="1F2937"/>
                          </a:solidFill>
                          <a:latin typeface="Calibri"/>
                        </a:rPr>
                        <a:t>FC holiday Bali and Fiji</a:t>
                      </a:r>
                    </a:p>
                  </a:txBody>
                  <a:tcPr marL="64008" marR="64008" marT="36576" marB="36576">
                    <a:solidFill>
                      <a:srgbClr val="FFFFFF"/>
                    </a:solidFill>
                  </a:tcPr>
                </a:tc>
                <a:tc>
                  <a:txBody>
                    <a:bodyPr/>
                    <a:lstStyle/>
                    <a:p>
                      <a:r>
                        <a:rPr sz="1000" b="0" i="0">
                          <a:solidFill>
                            <a:srgbClr val="1F2937"/>
                          </a:solidFill>
                          <a:latin typeface="Calibri"/>
                        </a:rPr>
                        <a:t>0 JSON-LD blocks; FAQ questions present as text without JavaScript; deal tiles empty without JavaScript; Bali visible text 14,107 characters with JavaScript, 6,483 without</a:t>
                      </a:r>
                    </a:p>
                  </a:txBody>
                  <a:tcPr marL="64008" marR="64008" marT="36576" marB="36576">
                    <a:solidFill>
                      <a:srgbClr val="FFFFFF"/>
                    </a:solidFill>
                  </a:tcPr>
                </a:tc>
                <a:extLst>
                  <a:ext uri="{0D108BD9-81ED-4DB2-BD59-A6C34878D82A}">
                    <a16:rowId xmlns:a16="http://schemas.microsoft.com/office/drawing/2014/main" val="10007"/>
                  </a:ext>
                </a:extLst>
              </a:tr>
              <a:tr h="382385">
                <a:tc>
                  <a:txBody>
                    <a:bodyPr/>
                    <a:lstStyle/>
                    <a:p>
                      <a:r>
                        <a:rPr sz="1000" b="0" i="0">
                          <a:solidFill>
                            <a:srgbClr val="1F2937"/>
                          </a:solidFill>
                          <a:latin typeface="Calibri"/>
                        </a:rPr>
                        <a:t>Qantas, Skyscanner, Booking.com robots.txt</a:t>
                      </a:r>
                    </a:p>
                  </a:txBody>
                  <a:tcPr marL="64008" marR="64008" marT="36576" marB="36576">
                    <a:solidFill>
                      <a:srgbClr val="F3F5F8"/>
                    </a:solidFill>
                  </a:tcPr>
                </a:tc>
                <a:tc>
                  <a:txBody>
                    <a:bodyPr/>
                    <a:lstStyle/>
                    <a:p>
                      <a:r>
                        <a:rPr sz="1000" b="0" i="0">
                          <a:solidFill>
                            <a:srgbClr val="1F2937"/>
                          </a:solidFill>
                          <a:latin typeface="Calibri"/>
                        </a:rPr>
                        <a:t>No AI-bot-specific lines found (wildcard rules apply)</a:t>
                      </a:r>
                    </a:p>
                  </a:txBody>
                  <a:tcPr marL="64008" marR="64008" marT="36576" marB="36576">
                    <a:solidFill>
                      <a:srgbClr val="F3F5F8"/>
                    </a:solidFill>
                  </a:tcPr>
                </a:tc>
                <a:extLst>
                  <a:ext uri="{0D108BD9-81ED-4DB2-BD59-A6C34878D82A}">
                    <a16:rowId xmlns:a16="http://schemas.microsoft.com/office/drawing/2014/main" val="10008"/>
                  </a:ext>
                </a:extLst>
              </a:tr>
              <a:tr h="382385">
                <a:tc>
                  <a:txBody>
                    <a:bodyPr/>
                    <a:lstStyle/>
                    <a:p>
                      <a:r>
                        <a:rPr sz="1000" b="0" i="0">
                          <a:solidFill>
                            <a:srgbClr val="1F2937"/>
                          </a:solidFill>
                          <a:latin typeface="Calibri"/>
                        </a:rPr>
                        <a:t>Webjet Melbourne–London</a:t>
                      </a:r>
                    </a:p>
                  </a:txBody>
                  <a:tcPr marL="64008" marR="64008" marT="36576" marB="36576">
                    <a:solidFill>
                      <a:srgbClr val="FFFFFF"/>
                    </a:solidFill>
                  </a:tcPr>
                </a:tc>
                <a:tc>
                  <a:txBody>
                    <a:bodyPr/>
                    <a:lstStyle/>
                    <a:p>
                      <a:r>
                        <a:rPr sz="1000" b="0" i="0">
                          <a:solidFill>
                            <a:srgbClr val="1F2937"/>
                          </a:solidFill>
                          <a:latin typeface="Calibri"/>
                        </a:rPr>
                        <a:t>17,728 visible characters with JavaScript, 17,527 without; seven dated fares each marked 'Last updated'; fee amounts stated in page text</a:t>
                      </a:r>
                    </a:p>
                  </a:txBody>
                  <a:tcPr marL="64008" marR="64008" marT="36576" marB="36576">
                    <a:solidFill>
                      <a:srgbClr val="FFFFFF"/>
                    </a:solidFill>
                  </a:tcPr>
                </a:tc>
                <a:extLst>
                  <a:ext uri="{0D108BD9-81ED-4DB2-BD59-A6C34878D82A}">
                    <a16:rowId xmlns:a16="http://schemas.microsoft.com/office/drawing/2014/main" val="10009"/>
                  </a:ext>
                </a:extLst>
              </a:tr>
              <a:tr h="382385">
                <a:tc>
                  <a:txBody>
                    <a:bodyPr/>
                    <a:lstStyle/>
                    <a:p>
                      <a:r>
                        <a:rPr sz="1000" b="0" i="0">
                          <a:solidFill>
                            <a:srgbClr val="1F2937"/>
                          </a:solidFill>
                          <a:latin typeface="Calibri"/>
                        </a:rPr>
                        <a:t>Expedia, Skyscanner route pages</a:t>
                      </a:r>
                    </a:p>
                  </a:txBody>
                  <a:tcPr marL="64008" marR="64008" marT="36576" marB="36576">
                    <a:solidFill>
                      <a:srgbClr val="F3F5F8"/>
                    </a:solidFill>
                  </a:tcPr>
                </a:tc>
                <a:tc>
                  <a:txBody>
                    <a:bodyPr/>
                    <a:lstStyle/>
                    <a:p>
                      <a:r>
                        <a:rPr sz="1000" b="0" i="0">
                          <a:solidFill>
                            <a:srgbClr val="1F2937"/>
                          </a:solidFill>
                          <a:latin typeface="Calibri"/>
                        </a:rPr>
                        <a:t>Expedia HTTP 429 (rate-limited); Skyscanner bot challenge; not compared</a:t>
                      </a:r>
                    </a:p>
                  </a:txBody>
                  <a:tcPr marL="64008" marR="64008" marT="36576" marB="36576">
                    <a:solidFill>
                      <a:srgbClr val="F3F5F8"/>
                    </a:solidFill>
                  </a:tcPr>
                </a:tc>
                <a:extLst>
                  <a:ext uri="{0D108BD9-81ED-4DB2-BD59-A6C34878D82A}">
                    <a16:rowId xmlns:a16="http://schemas.microsoft.com/office/drawing/2014/main" val="10010"/>
                  </a:ext>
                </a:extLst>
              </a:tr>
            </a:tbl>
          </a:graphicData>
        </a:graphic>
      </p:graphicFrame>
      <p:sp>
        <p:nvSpPr>
          <p:cNvPr id="6" name="TextBox 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Method: Playwright (Chromium) with JavaScript on and off and curl, desktop Chrome user agent; files in evidence/. Paired browser captures show a rendering difference in this sample; HTTP status alone does not establish crawler readability.</a:t>
            </a:r>
          </a:p>
        </p:txBody>
      </p:sp>
      <p:sp>
        <p:nvSpPr>
          <p:cNvPr id="7" name="TextBox 6"/>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31</a:t>
            </a:r>
            <a:endParaRPr sz="900" b="0" i="0">
              <a:solidFill>
                <a:srgbClr val="5B6573"/>
              </a:solidFill>
              <a:latin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BACKUP (HIDDEN) · FOR Q&amp;A</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400" b="1" i="0">
                <a:solidFill>
                  <a:srgbClr val="0B2240"/>
                </a:solidFill>
                <a:latin typeface="Calibri"/>
              </a:rPr>
              <a:t>Backup: research and documentation sources used in this briefing</a:t>
            </a:r>
          </a:p>
        </p:txBody>
      </p:sp>
      <p:sp>
        <p:nvSpPr>
          <p:cNvPr id="4" name="Rounded Rectangle 3"/>
          <p:cNvSpPr/>
          <p:nvPr/>
        </p:nvSpPr>
        <p:spPr>
          <a:xfrm>
            <a:off x="9582912" y="329184"/>
            <a:ext cx="2075688"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Official documentation</a:t>
            </a:r>
          </a:p>
        </p:txBody>
      </p:sp>
      <p:sp>
        <p:nvSpPr>
          <p:cNvPr id="5" name="Rounded Rectangle 4"/>
          <p:cNvSpPr/>
          <p:nvPr/>
        </p:nvSpPr>
        <p:spPr>
          <a:xfrm>
            <a:off x="7708392" y="329184"/>
            <a:ext cx="1764792" cy="292608"/>
          </a:xfrm>
          <a:prstGeom prst="roundRect">
            <a:avLst>
              <a:gd name="adj" fmla="val 50000"/>
            </a:avLst>
          </a:prstGeom>
          <a:solidFill>
            <a:srgbClr val="0B224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Published research</a:t>
            </a:r>
          </a:p>
        </p:txBody>
      </p:sp>
      <p:graphicFrame>
        <p:nvGraphicFramePr>
          <p:cNvPr id="6" name="Table 5"/>
          <p:cNvGraphicFramePr>
            <a:graphicFrameLocks noGrp="1"/>
          </p:cNvGraphicFramePr>
          <p:nvPr/>
        </p:nvGraphicFramePr>
        <p:xfrm>
          <a:off x="548640" y="1600200"/>
          <a:ext cx="11109960" cy="4343394"/>
        </p:xfrm>
        <a:graphic>
          <a:graphicData uri="http://schemas.openxmlformats.org/drawingml/2006/table">
            <a:tbl>
              <a:tblPr/>
              <a:tblGrid>
                <a:gridCol w="4206240">
                  <a:extLst>
                    <a:ext uri="{9D8B030D-6E8A-4147-A177-3AD203B41FA5}">
                      <a16:colId xmlns:a16="http://schemas.microsoft.com/office/drawing/2014/main" val="20000"/>
                    </a:ext>
                  </a:extLst>
                </a:gridCol>
                <a:gridCol w="6903720">
                  <a:extLst>
                    <a:ext uri="{9D8B030D-6E8A-4147-A177-3AD203B41FA5}">
                      <a16:colId xmlns:a16="http://schemas.microsoft.com/office/drawing/2014/main" val="20001"/>
                    </a:ext>
                  </a:extLst>
                </a:gridCol>
              </a:tblGrid>
              <a:tr h="394854">
                <a:tc>
                  <a:txBody>
                    <a:bodyPr/>
                    <a:lstStyle/>
                    <a:p>
                      <a:r>
                        <a:rPr sz="1000" b="1" i="0">
                          <a:solidFill>
                            <a:srgbClr val="FFFFFF"/>
                          </a:solidFill>
                          <a:latin typeface="Calibri"/>
                        </a:rPr>
                        <a:t>Source</a:t>
                      </a:r>
                    </a:p>
                  </a:txBody>
                  <a:tcPr marL="64008" marR="64008" marT="36576" marB="36576" anchor="ctr">
                    <a:solidFill>
                      <a:srgbClr val="0B2240"/>
                    </a:solidFill>
                  </a:tcPr>
                </a:tc>
                <a:tc>
                  <a:txBody>
                    <a:bodyPr/>
                    <a:lstStyle/>
                    <a:p>
                      <a:r>
                        <a:rPr sz="1000" b="1" i="0">
                          <a:solidFill>
                            <a:srgbClr val="FFFFFF"/>
                          </a:solidFill>
                          <a:latin typeface="Calibri"/>
                        </a:rPr>
                        <a:t>What it contributes</a:t>
                      </a:r>
                    </a:p>
                  </a:txBody>
                  <a:tcPr marL="64008" marR="64008" marT="36576" marB="36576" anchor="ctr">
                    <a:solidFill>
                      <a:srgbClr val="0B2240"/>
                    </a:solidFill>
                  </a:tcPr>
                </a:tc>
                <a:extLst>
                  <a:ext uri="{0D108BD9-81ED-4DB2-BD59-A6C34878D82A}">
                    <a16:rowId xmlns:a16="http://schemas.microsoft.com/office/drawing/2014/main" val="10000"/>
                  </a:ext>
                </a:extLst>
              </a:tr>
              <a:tr h="394854">
                <a:tc>
                  <a:txBody>
                    <a:bodyPr/>
                    <a:lstStyle/>
                    <a:p>
                      <a:r>
                        <a:rPr sz="950" b="0" i="0">
                          <a:solidFill>
                            <a:srgbClr val="1F2937"/>
                          </a:solidFill>
                          <a:latin typeface="Calibri"/>
                        </a:rPr>
                        <a:t>Aggarwal et al., GEO: Generative Engine Optimization, KDD 2024</a:t>
                      </a:r>
                    </a:p>
                  </a:txBody>
                  <a:tcPr marL="64008" marR="64008" marT="36576" marB="36576">
                    <a:solidFill>
                      <a:srgbClr val="FFFFFF"/>
                    </a:solidFill>
                  </a:tcPr>
                </a:tc>
                <a:tc>
                  <a:txBody>
                    <a:bodyPr/>
                    <a:lstStyle/>
                    <a:p>
                      <a:r>
                        <a:rPr sz="950" b="0" i="0">
                          <a:solidFill>
                            <a:srgbClr val="1F2937"/>
                          </a:solidFill>
                          <a:latin typeface="Calibri"/>
                        </a:rPr>
                        <a:t>Benchmark and prompt we reuse; statistics, quotations and structure raised visibility up to ~40% on its benchmark; keyword stuffing did not</a:t>
                      </a:r>
                    </a:p>
                  </a:txBody>
                  <a:tcPr marL="64008" marR="64008" marT="36576" marB="36576">
                    <a:solidFill>
                      <a:srgbClr val="FFFFFF"/>
                    </a:solidFill>
                  </a:tcPr>
                </a:tc>
                <a:extLst>
                  <a:ext uri="{0D108BD9-81ED-4DB2-BD59-A6C34878D82A}">
                    <a16:rowId xmlns:a16="http://schemas.microsoft.com/office/drawing/2014/main" val="10001"/>
                  </a:ext>
                </a:extLst>
              </a:tr>
              <a:tr h="394854">
                <a:tc>
                  <a:txBody>
                    <a:bodyPr/>
                    <a:lstStyle/>
                    <a:p>
                      <a:r>
                        <a:rPr sz="950" b="0" i="0">
                          <a:solidFill>
                            <a:srgbClr val="1F2937"/>
                          </a:solidFill>
                          <a:latin typeface="Calibri"/>
                        </a:rPr>
                        <a:t>Puerto et al., C-SEO Bench, NeurIPS 2025 Datasets &amp; Benchmarks</a:t>
                      </a:r>
                    </a:p>
                  </a:txBody>
                  <a:tcPr marL="64008" marR="64008" marT="36576" marB="36576">
                    <a:solidFill>
                      <a:srgbClr val="F3F5F8"/>
                    </a:solidFill>
                  </a:tcPr>
                </a:tc>
                <a:tc>
                  <a:txBody>
                    <a:bodyPr/>
                    <a:lstStyle/>
                    <a:p>
                      <a:r>
                        <a:rPr sz="950" b="0" i="0">
                          <a:solidFill>
                            <a:srgbClr val="1F2937"/>
                          </a:solidFill>
                          <a:latin typeface="Calibri"/>
                        </a:rPr>
                        <a:t>Most conversational-SEO rewrites ineffective or negative; traditional SEO more effective; gains shrink as more actors adopt (zero-sum)</a:t>
                      </a:r>
                    </a:p>
                  </a:txBody>
                  <a:tcPr marL="64008" marR="64008" marT="36576" marB="36576">
                    <a:solidFill>
                      <a:srgbClr val="F3F5F8"/>
                    </a:solidFill>
                  </a:tcPr>
                </a:tc>
                <a:extLst>
                  <a:ext uri="{0D108BD9-81ED-4DB2-BD59-A6C34878D82A}">
                    <a16:rowId xmlns:a16="http://schemas.microsoft.com/office/drawing/2014/main" val="10002"/>
                  </a:ext>
                </a:extLst>
              </a:tr>
              <a:tr h="394854">
                <a:tc>
                  <a:txBody>
                    <a:bodyPr/>
                    <a:lstStyle/>
                    <a:p>
                      <a:r>
                        <a:rPr sz="950" b="0" i="0">
                          <a:solidFill>
                            <a:srgbClr val="1F2937"/>
                          </a:solidFill>
                          <a:latin typeface="Calibri"/>
                        </a:rPr>
                        <a:t>'What Gets Cited: Competitive GEO in AI Answer Engines', arXiv 2605.25517 (2026)</a:t>
                      </a:r>
                    </a:p>
                  </a:txBody>
                  <a:tcPr marL="64008" marR="64008" marT="36576" marB="36576">
                    <a:solidFill>
                      <a:srgbClr val="FFFFFF"/>
                    </a:solidFill>
                  </a:tcPr>
                </a:tc>
                <a:tc>
                  <a:txBody>
                    <a:bodyPr/>
                    <a:lstStyle/>
                    <a:p>
                      <a:r>
                        <a:rPr sz="950" b="0" i="0">
                          <a:solidFill>
                            <a:srgbClr val="1F2937"/>
                          </a:solidFill>
                          <a:latin typeface="Calibri"/>
                        </a:rPr>
                        <a:t>252,000 trials, six LLMs, 18 factors: relevance and position dominate; explicit price and recent timestamp help consistently; formatting-only edits have little impact</a:t>
                      </a:r>
                    </a:p>
                  </a:txBody>
                  <a:tcPr marL="64008" marR="64008" marT="36576" marB="36576">
                    <a:solidFill>
                      <a:srgbClr val="FFFFFF"/>
                    </a:solidFill>
                  </a:tcPr>
                </a:tc>
                <a:extLst>
                  <a:ext uri="{0D108BD9-81ED-4DB2-BD59-A6C34878D82A}">
                    <a16:rowId xmlns:a16="http://schemas.microsoft.com/office/drawing/2014/main" val="10003"/>
                  </a:ext>
                </a:extLst>
              </a:tr>
              <a:tr h="394854">
                <a:tc>
                  <a:txBody>
                    <a:bodyPr/>
                    <a:lstStyle/>
                    <a:p>
                      <a:r>
                        <a:rPr sz="950" b="0" i="0">
                          <a:solidFill>
                            <a:srgbClr val="1F2937"/>
                          </a:solidFill>
                          <a:latin typeface="Calibri"/>
                        </a:rPr>
                        <a:t>'Optimizing Visibility in Generative Engines: A Critical Survey (2023–2026)', arXiv 2607.14035</a:t>
                      </a:r>
                    </a:p>
                  </a:txBody>
                  <a:tcPr marL="64008" marR="64008" marT="36576" marB="36576">
                    <a:solidFill>
                      <a:srgbClr val="F3F5F8"/>
                    </a:solidFill>
                  </a:tcPr>
                </a:tc>
                <a:tc>
                  <a:txBody>
                    <a:bodyPr/>
                    <a:lstStyle/>
                    <a:p>
                      <a:r>
                        <a:rPr sz="950" b="0" i="0">
                          <a:solidFill>
                            <a:srgbClr val="1F2937"/>
                          </a:solidFill>
                          <a:latin typeface="Calibri"/>
                        </a:rPr>
                        <a:t>45 studies: content gains hold only when the source is already in a fixed context; no durable cross-platform effect on organic discoverability shown; measure repeatedly</a:t>
                      </a:r>
                    </a:p>
                  </a:txBody>
                  <a:tcPr marL="64008" marR="64008" marT="36576" marB="36576">
                    <a:solidFill>
                      <a:srgbClr val="F3F5F8"/>
                    </a:solidFill>
                  </a:tcPr>
                </a:tc>
                <a:extLst>
                  <a:ext uri="{0D108BD9-81ED-4DB2-BD59-A6C34878D82A}">
                    <a16:rowId xmlns:a16="http://schemas.microsoft.com/office/drawing/2014/main" val="10004"/>
                  </a:ext>
                </a:extLst>
              </a:tr>
              <a:tr h="394854">
                <a:tc>
                  <a:txBody>
                    <a:bodyPr/>
                    <a:lstStyle/>
                    <a:p>
                      <a:r>
                        <a:rPr sz="950" b="0" i="0">
                          <a:solidFill>
                            <a:srgbClr val="1F2937"/>
                          </a:solidFill>
                          <a:latin typeface="Calibri"/>
                        </a:rPr>
                        <a:t>'From Citation Selection to Citation Absorption', arXiv 2604.25707 (2026)</a:t>
                      </a:r>
                    </a:p>
                  </a:txBody>
                  <a:tcPr marL="64008" marR="64008" marT="36576" marB="36576">
                    <a:solidFill>
                      <a:srgbClr val="FFFFFF"/>
                    </a:solidFill>
                  </a:tcPr>
                </a:tc>
                <a:tc>
                  <a:txBody>
                    <a:bodyPr/>
                    <a:lstStyle/>
                    <a:p>
                      <a:r>
                        <a:rPr sz="950" b="0" i="0">
                          <a:solidFill>
                            <a:srgbClr val="1F2937"/>
                          </a:solidFill>
                          <a:latin typeface="Calibri"/>
                        </a:rPr>
                        <a:t>602 prompts, 21,143 citations across ChatGPT, Google, Perplexity: high-influence pages are longer, structured, with definitions, numbers, comparisons</a:t>
                      </a:r>
                    </a:p>
                  </a:txBody>
                  <a:tcPr marL="64008" marR="64008" marT="36576" marB="36576">
                    <a:solidFill>
                      <a:srgbClr val="FFFFFF"/>
                    </a:solidFill>
                  </a:tcPr>
                </a:tc>
                <a:extLst>
                  <a:ext uri="{0D108BD9-81ED-4DB2-BD59-A6C34878D82A}">
                    <a16:rowId xmlns:a16="http://schemas.microsoft.com/office/drawing/2014/main" val="10005"/>
                  </a:ext>
                </a:extLst>
              </a:tr>
              <a:tr h="394854">
                <a:tc>
                  <a:txBody>
                    <a:bodyPr/>
                    <a:lstStyle/>
                    <a:p>
                      <a:r>
                        <a:rPr sz="950" b="0" i="0">
                          <a:solidFill>
                            <a:srgbClr val="1F2937"/>
                          </a:solidFill>
                          <a:latin typeface="Calibri"/>
                        </a:rPr>
                        <a:t>'Structural Feature Engineering for GEO', arXiv 2603.29979; AgentGEO, arXiv 2603.09296 (2026)</a:t>
                      </a:r>
                    </a:p>
                  </a:txBody>
                  <a:tcPr marL="64008" marR="64008" marT="36576" marB="36576">
                    <a:solidFill>
                      <a:srgbClr val="F3F5F8"/>
                    </a:solidFill>
                  </a:tcPr>
                </a:tc>
                <a:tc>
                  <a:txBody>
                    <a:bodyPr/>
                    <a:lstStyle/>
                    <a:p>
                      <a:r>
                        <a:rPr sz="950" b="0" i="0">
                          <a:solidFill>
                            <a:srgbClr val="1F2937"/>
                          </a:solidFill>
                          <a:latin typeface="Calibri"/>
                        </a:rPr>
                        <a:t>+17.3% citation rate from document structure across six engines; targeted repairs beat generic rewriting; generic optimisation can harm long-tail content</a:t>
                      </a:r>
                    </a:p>
                  </a:txBody>
                  <a:tcPr marL="64008" marR="64008" marT="36576" marB="36576">
                    <a:solidFill>
                      <a:srgbClr val="F3F5F8"/>
                    </a:solidFill>
                  </a:tcPr>
                </a:tc>
                <a:extLst>
                  <a:ext uri="{0D108BD9-81ED-4DB2-BD59-A6C34878D82A}">
                    <a16:rowId xmlns:a16="http://schemas.microsoft.com/office/drawing/2014/main" val="10006"/>
                  </a:ext>
                </a:extLst>
              </a:tr>
              <a:tr h="394854">
                <a:tc>
                  <a:txBody>
                    <a:bodyPr/>
                    <a:lstStyle/>
                    <a:p>
                      <a:r>
                        <a:rPr sz="950" b="0" i="0">
                          <a:solidFill>
                            <a:srgbClr val="1F2937"/>
                          </a:solidFill>
                          <a:latin typeface="Calibri"/>
                        </a:rPr>
                        <a:t>Liu et al., 'Lost in the Middle', TACL 2024; Gao et al., ALCE, EMNLP 2023</a:t>
                      </a:r>
                    </a:p>
                  </a:txBody>
                  <a:tcPr marL="64008" marR="64008" marT="36576" marB="36576">
                    <a:solidFill>
                      <a:srgbClr val="FFFFFF"/>
                    </a:solidFill>
                  </a:tcPr>
                </a:tc>
                <a:tc>
                  <a:txBody>
                    <a:bodyPr/>
                    <a:lstStyle/>
                    <a:p>
                      <a:r>
                        <a:rPr sz="950" b="0" i="0">
                          <a:solidFill>
                            <a:srgbClr val="1F2937"/>
                          </a:solidFill>
                          <a:latin typeface="Calibri"/>
                        </a:rPr>
                        <a:t>Position effects in long contexts; citing a source and being supported by it are separate questions</a:t>
                      </a:r>
                    </a:p>
                  </a:txBody>
                  <a:tcPr marL="64008" marR="64008" marT="36576" marB="36576">
                    <a:solidFill>
                      <a:srgbClr val="FFFFFF"/>
                    </a:solidFill>
                  </a:tcPr>
                </a:tc>
                <a:extLst>
                  <a:ext uri="{0D108BD9-81ED-4DB2-BD59-A6C34878D82A}">
                    <a16:rowId xmlns:a16="http://schemas.microsoft.com/office/drawing/2014/main" val="10007"/>
                  </a:ext>
                </a:extLst>
              </a:tr>
              <a:tr h="394854">
                <a:tc>
                  <a:txBody>
                    <a:bodyPr/>
                    <a:lstStyle/>
                    <a:p>
                      <a:r>
                        <a:rPr sz="950" b="0" i="0">
                          <a:solidFill>
                            <a:srgbClr val="1F2937"/>
                          </a:solidFill>
                          <a:latin typeface="Calibri"/>
                        </a:rPr>
                        <a:t>Google Search Central (10 Dec 2025; 15 May 2026); OpenAI crawler docs; Bing Webmaster Guidelines (27 Feb 2026)</a:t>
                      </a:r>
                    </a:p>
                  </a:txBody>
                  <a:tcPr marL="64008" marR="64008" marT="36576" marB="36576">
                    <a:solidFill>
                      <a:srgbClr val="F3F5F8"/>
                    </a:solidFill>
                  </a:tcPr>
                </a:tc>
                <a:tc>
                  <a:txBody>
                    <a:bodyPr/>
                    <a:lstStyle/>
                    <a:p>
                      <a:r>
                        <a:rPr sz="950" b="0" i="0">
                          <a:solidFill>
                            <a:srgbClr val="1F2937"/>
                          </a:solidFill>
                          <a:latin typeface="Calibri"/>
                        </a:rPr>
                        <a:t>No special files or schema; still SEO; non-commodity content; OAI-SearchBot controls ChatGPT search; GEO does not guarantee citations; NOARCHIVE removes Copilot use</a:t>
                      </a:r>
                    </a:p>
                  </a:txBody>
                  <a:tcPr marL="64008" marR="64008" marT="36576" marB="36576">
                    <a:solidFill>
                      <a:srgbClr val="F3F5F8"/>
                    </a:solidFill>
                  </a:tcPr>
                </a:tc>
                <a:extLst>
                  <a:ext uri="{0D108BD9-81ED-4DB2-BD59-A6C34878D82A}">
                    <a16:rowId xmlns:a16="http://schemas.microsoft.com/office/drawing/2014/main" val="10008"/>
                  </a:ext>
                </a:extLst>
              </a:tr>
              <a:tr h="394854">
                <a:tc>
                  <a:txBody>
                    <a:bodyPr/>
                    <a:lstStyle/>
                    <a:p>
                      <a:r>
                        <a:rPr sz="950" b="0" i="0">
                          <a:solidFill>
                            <a:srgbClr val="1F2937"/>
                          </a:solidFill>
                          <a:latin typeface="Calibri"/>
                        </a:rPr>
                        <a:t>Vercel/MERJ (Dec 2024); Ahrefs (Jun, Sep 2026); Profound (2025)</a:t>
                      </a:r>
                    </a:p>
                  </a:txBody>
                  <a:tcPr marL="64008" marR="64008" marT="36576" marB="36576">
                    <a:solidFill>
                      <a:srgbClr val="FFFFFF"/>
                    </a:solidFill>
                  </a:tcPr>
                </a:tc>
                <a:tc>
                  <a:txBody>
                    <a:bodyPr/>
                    <a:lstStyle/>
                    <a:p>
                      <a:r>
                        <a:rPr sz="950" b="0" i="0">
                          <a:solidFill>
                            <a:srgbClr val="1F2937"/>
                          </a:solidFill>
                          <a:latin typeface="Calibri"/>
                        </a:rPr>
                        <a:t>Sampled AI crawlers had limited JavaScript rendering; llms.txt rarely fetched; which domains engines cite</a:t>
                      </a:r>
                    </a:p>
                  </a:txBody>
                  <a:tcPr marL="64008" marR="64008" marT="36576" marB="36576">
                    <a:solidFill>
                      <a:srgbClr val="FFFFFF"/>
                    </a:solidFill>
                  </a:tcPr>
                </a:tc>
                <a:extLst>
                  <a:ext uri="{0D108BD9-81ED-4DB2-BD59-A6C34878D82A}">
                    <a16:rowId xmlns:a16="http://schemas.microsoft.com/office/drawing/2014/main" val="10009"/>
                  </a:ext>
                </a:extLst>
              </a:tr>
              <a:tr h="394854">
                <a:tc>
                  <a:txBody>
                    <a:bodyPr/>
                    <a:lstStyle/>
                    <a:p>
                      <a:r>
                        <a:rPr sz="950" b="0" i="0">
                          <a:solidFill>
                            <a:srgbClr val="1F2937"/>
                          </a:solidFill>
                          <a:latin typeface="Calibri"/>
                        </a:rPr>
                        <a:t>Phocuswright The AI Surge (2026); Adobe (Aug 2026); Pew (Jul 2025); Compare the Market AU (2026); FCTG FY26</a:t>
                      </a:r>
                    </a:p>
                  </a:txBody>
                  <a:tcPr marL="64008" marR="64008" marT="36576" marB="36576">
                    <a:solidFill>
                      <a:srgbClr val="F3F5F8"/>
                    </a:solidFill>
                  </a:tcPr>
                </a:tc>
                <a:tc>
                  <a:txBody>
                    <a:bodyPr/>
                    <a:lstStyle/>
                    <a:p>
                      <a:r>
                        <a:rPr sz="950" b="0" i="0">
                          <a:solidFill>
                            <a:srgbClr val="1F2937"/>
                          </a:solidFill>
                          <a:latin typeface="Calibri"/>
                        </a:rPr>
                        <a:t>Adoption, referral growth, click behaviour, Australian usage, FC's own digital trajectory</a:t>
                      </a:r>
                    </a:p>
                  </a:txBody>
                  <a:tcPr marL="64008" marR="64008" marT="36576" marB="36576">
                    <a:solidFill>
                      <a:srgbClr val="F3F5F8"/>
                    </a:solidFill>
                  </a:tcPr>
                </a:tc>
                <a:extLst>
                  <a:ext uri="{0D108BD9-81ED-4DB2-BD59-A6C34878D82A}">
                    <a16:rowId xmlns:a16="http://schemas.microsoft.com/office/drawing/2014/main" val="10010"/>
                  </a:ext>
                </a:extLst>
              </a:tr>
            </a:tbl>
          </a:graphicData>
        </a:graphic>
      </p:graphicFrame>
      <p:sp>
        <p:nvSpPr>
          <p:cNvPr id="7" name="TextBox 6"/>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Full references with URLs are in the Technical Report and Handover Guide v1.4. Preprints are not peer-reviewed; vendor studies are directional.</a:t>
            </a:r>
          </a:p>
        </p:txBody>
      </p:sp>
      <p:sp>
        <p:nvSpPr>
          <p:cNvPr id="8" name="TextBox 7"/>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32</a:t>
            </a:r>
            <a:endParaRPr sz="900" b="0" i="0">
              <a:solidFill>
                <a:srgbClr val="5B6573"/>
              </a:solidFill>
              <a:latin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BACKUP (HIDDEN) · FOR Q&amp;A</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400" b="1" i="0">
                <a:solidFill>
                  <a:srgbClr val="0B2240"/>
                </a:solidFill>
                <a:latin typeface="Calibri"/>
              </a:rPr>
              <a:t>Backup: GEO services on the market, what they operate, and how FC should use each</a:t>
            </a:r>
          </a:p>
        </p:txBody>
      </p:sp>
      <p:sp>
        <p:nvSpPr>
          <p:cNvPr id="4" name="Rounded Rectangle 3"/>
          <p:cNvSpPr/>
          <p:nvPr/>
        </p:nvSpPr>
        <p:spPr>
          <a:xfrm>
            <a:off x="10671048" y="329184"/>
            <a:ext cx="987552" cy="292608"/>
          </a:xfrm>
          <a:prstGeom prst="roundRect">
            <a:avLst>
              <a:gd name="adj" fmla="val 50000"/>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50" b="1" i="0">
                <a:solidFill>
                  <a:srgbClr val="FFFFFF"/>
                </a:solidFill>
                <a:latin typeface="Calibri"/>
              </a:rPr>
              <a:t>Proposed</a:t>
            </a:r>
          </a:p>
        </p:txBody>
      </p:sp>
      <p:graphicFrame>
        <p:nvGraphicFramePr>
          <p:cNvPr id="5" name="Table 4"/>
          <p:cNvGraphicFramePr>
            <a:graphicFrameLocks noGrp="1"/>
          </p:cNvGraphicFramePr>
          <p:nvPr/>
        </p:nvGraphicFramePr>
        <p:xfrm>
          <a:off x="548640" y="1600200"/>
          <a:ext cx="11109960" cy="4343400"/>
        </p:xfrm>
        <a:graphic>
          <a:graphicData uri="http://schemas.openxmlformats.org/drawingml/2006/table">
            <a:tbl>
              <a:tblPr/>
              <a:tblGrid>
                <a:gridCol w="1828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2606040">
                  <a:extLst>
                    <a:ext uri="{9D8B030D-6E8A-4147-A177-3AD203B41FA5}">
                      <a16:colId xmlns:a16="http://schemas.microsoft.com/office/drawing/2014/main" val="20003"/>
                    </a:ext>
                  </a:extLst>
                </a:gridCol>
              </a:tblGrid>
              <a:tr h="723900">
                <a:tc>
                  <a:txBody>
                    <a:bodyPr/>
                    <a:lstStyle/>
                    <a:p>
                      <a:r>
                        <a:rPr sz="1000" b="1" i="0">
                          <a:solidFill>
                            <a:srgbClr val="FFFFFF"/>
                          </a:solidFill>
                          <a:latin typeface="Calibri"/>
                        </a:rPr>
                        <a:t>Service type</a:t>
                      </a:r>
                    </a:p>
                  </a:txBody>
                  <a:tcPr marL="64008" marR="64008" marT="36576" marB="36576" anchor="ctr">
                    <a:solidFill>
                      <a:srgbClr val="0B2240"/>
                    </a:solidFill>
                  </a:tcPr>
                </a:tc>
                <a:tc>
                  <a:txBody>
                    <a:bodyPr/>
                    <a:lstStyle/>
                    <a:p>
                      <a:r>
                        <a:rPr sz="1000" b="1" i="0">
                          <a:solidFill>
                            <a:srgbClr val="FFFFFF"/>
                          </a:solidFill>
                          <a:latin typeface="Calibri"/>
                        </a:rPr>
                        <a:t>Examples (offers, not proof of lift)</a:t>
                      </a:r>
                    </a:p>
                  </a:txBody>
                  <a:tcPr marL="64008" marR="64008" marT="36576" marB="36576" anchor="ctr">
                    <a:solidFill>
                      <a:srgbClr val="0B2240"/>
                    </a:solidFill>
                  </a:tcPr>
                </a:tc>
                <a:tc>
                  <a:txBody>
                    <a:bodyPr/>
                    <a:lstStyle/>
                    <a:p>
                      <a:r>
                        <a:rPr sz="1000" b="1" i="0">
                          <a:solidFill>
                            <a:srgbClr val="FFFFFF"/>
                          </a:solidFill>
                          <a:latin typeface="Calibri"/>
                        </a:rPr>
                        <a:t>What they operate</a:t>
                      </a:r>
                    </a:p>
                  </a:txBody>
                  <a:tcPr marL="64008" marR="64008" marT="36576" marB="36576" anchor="ctr">
                    <a:solidFill>
                      <a:srgbClr val="0B2240"/>
                    </a:solidFill>
                  </a:tcPr>
                </a:tc>
                <a:tc>
                  <a:txBody>
                    <a:bodyPr/>
                    <a:lstStyle/>
                    <a:p>
                      <a:r>
                        <a:rPr sz="1000" b="1" i="0">
                          <a:solidFill>
                            <a:srgbClr val="FFFFFF"/>
                          </a:solidFill>
                          <a:latin typeface="Calibri"/>
                        </a:rPr>
                        <a:t>FC decision</a:t>
                      </a:r>
                    </a:p>
                  </a:txBody>
                  <a:tcPr marL="64008" marR="64008" marT="36576" marB="36576" anchor="ctr">
                    <a:solidFill>
                      <a:srgbClr val="0B2240"/>
                    </a:solidFill>
                  </a:tcPr>
                </a:tc>
                <a:extLst>
                  <a:ext uri="{0D108BD9-81ED-4DB2-BD59-A6C34878D82A}">
                    <a16:rowId xmlns:a16="http://schemas.microsoft.com/office/drawing/2014/main" val="10000"/>
                  </a:ext>
                </a:extLst>
              </a:tr>
              <a:tr h="723900">
                <a:tc>
                  <a:txBody>
                    <a:bodyPr/>
                    <a:lstStyle/>
                    <a:p>
                      <a:r>
                        <a:rPr sz="950" b="0" i="0">
                          <a:solidFill>
                            <a:srgbClr val="1F2937"/>
                          </a:solidFill>
                          <a:latin typeface="Calibri"/>
                        </a:rPr>
                        <a:t>Agencies / consultancies</a:t>
                      </a:r>
                    </a:p>
                  </a:txBody>
                  <a:tcPr marL="64008" marR="64008" marT="36576" marB="36576">
                    <a:solidFill>
                      <a:srgbClr val="FFFFFF"/>
                    </a:solidFill>
                  </a:tcPr>
                </a:tc>
                <a:tc>
                  <a:txBody>
                    <a:bodyPr/>
                    <a:lstStyle/>
                    <a:p>
                      <a:r>
                        <a:rPr sz="950" b="0" i="0">
                          <a:solidFill>
                            <a:srgbClr val="1F2937"/>
                          </a:solidFill>
                          <a:latin typeface="Calibri"/>
                        </a:rPr>
                        <a:t>Intender, Luminary, 23 Digital (AU); iPullRank, Seer, Cited, Demand Local</a:t>
                      </a:r>
                    </a:p>
                  </a:txBody>
                  <a:tcPr marL="64008" marR="64008" marT="36576" marB="36576">
                    <a:solidFill>
                      <a:srgbClr val="FFFFFF"/>
                    </a:solidFill>
                  </a:tcPr>
                </a:tc>
                <a:tc>
                  <a:txBody>
                    <a:bodyPr/>
                    <a:lstStyle/>
                    <a:p>
                      <a:r>
                        <a:rPr sz="950" b="0" i="0">
                          <a:solidFill>
                            <a:srgbClr val="1F2937"/>
                          </a:solidFill>
                          <a:latin typeface="Calibri"/>
                        </a:rPr>
                        <a:t>Audit → content, technical and PR work → monitoring retainer. Intender: 'Can you really influence what ChatGPT says? Not directly.'</a:t>
                      </a:r>
                    </a:p>
                  </a:txBody>
                  <a:tcPr marL="64008" marR="64008" marT="36576" marB="36576">
                    <a:solidFill>
                      <a:srgbClr val="FFFFFF"/>
                    </a:solidFill>
                  </a:tcPr>
                </a:tc>
                <a:tc>
                  <a:txBody>
                    <a:bodyPr/>
                    <a:lstStyle/>
                    <a:p>
                      <a:r>
                        <a:rPr sz="950" b="0" i="0">
                          <a:solidFill>
                            <a:srgbClr val="1F2937"/>
                          </a:solidFill>
                          <a:latin typeface="Calibri"/>
                        </a:rPr>
                        <a:t>Use their checklists as a work list; require clear scope, evidence and reporting</a:t>
                      </a:r>
                    </a:p>
                  </a:txBody>
                  <a:tcPr marL="64008" marR="64008" marT="36576" marB="36576">
                    <a:solidFill>
                      <a:srgbClr val="FFFFFF"/>
                    </a:solidFill>
                  </a:tcPr>
                </a:tc>
                <a:extLst>
                  <a:ext uri="{0D108BD9-81ED-4DB2-BD59-A6C34878D82A}">
                    <a16:rowId xmlns:a16="http://schemas.microsoft.com/office/drawing/2014/main" val="10001"/>
                  </a:ext>
                </a:extLst>
              </a:tr>
              <a:tr h="723900">
                <a:tc>
                  <a:txBody>
                    <a:bodyPr/>
                    <a:lstStyle/>
                    <a:p>
                      <a:r>
                        <a:rPr sz="950" b="0" i="0">
                          <a:solidFill>
                            <a:srgbClr val="1F2937"/>
                          </a:solidFill>
                          <a:latin typeface="Calibri"/>
                        </a:rPr>
                        <a:t>Visibility software</a:t>
                      </a:r>
                    </a:p>
                  </a:txBody>
                  <a:tcPr marL="64008" marR="64008" marT="36576" marB="36576">
                    <a:solidFill>
                      <a:srgbClr val="F3F5F8"/>
                    </a:solidFill>
                  </a:tcPr>
                </a:tc>
                <a:tc>
                  <a:txBody>
                    <a:bodyPr/>
                    <a:lstStyle/>
                    <a:p>
                      <a:r>
                        <a:rPr sz="950" b="0" i="0">
                          <a:solidFill>
                            <a:srgbClr val="1F2937"/>
                          </a:solidFill>
                          <a:latin typeface="Calibri"/>
                        </a:rPr>
                        <a:t>Profound, Otterly, Ahrefs Brand Radar, Semrush AI Toolkit, Peec</a:t>
                      </a:r>
                    </a:p>
                  </a:txBody>
                  <a:tcPr marL="64008" marR="64008" marT="36576" marB="36576">
                    <a:solidFill>
                      <a:srgbClr val="F3F5F8"/>
                    </a:solidFill>
                  </a:tcPr>
                </a:tc>
                <a:tc>
                  <a:txBody>
                    <a:bodyPr/>
                    <a:lstStyle/>
                    <a:p>
                      <a:r>
                        <a:rPr sz="950" b="0" i="0">
                          <a:solidFill>
                            <a:srgbClr val="1F2937"/>
                          </a:solidFill>
                          <a:latin typeface="Calibri"/>
                        </a:rPr>
                        <a:t>Prompt panels across engines; mention, citation, share of voice, sentiment. Scores are conditional and vendor-specific; not comparable to our 40% / 52%</a:t>
                      </a:r>
                    </a:p>
                  </a:txBody>
                  <a:tcPr marL="64008" marR="64008" marT="36576" marB="36576">
                    <a:solidFill>
                      <a:srgbClr val="F3F5F8"/>
                    </a:solidFill>
                  </a:tcPr>
                </a:tc>
                <a:tc>
                  <a:txBody>
                    <a:bodyPr/>
                    <a:lstStyle/>
                    <a:p>
                      <a:r>
                        <a:rPr sz="950" b="0" i="0">
                          <a:solidFill>
                            <a:srgbClr val="1F2937"/>
                          </a:solidFill>
                          <a:latin typeface="Calibri"/>
                        </a:rPr>
                        <a:t>Build the panel in-house first; if buying later, demand formula, raw answers and denominator</a:t>
                      </a:r>
                    </a:p>
                  </a:txBody>
                  <a:tcPr marL="64008" marR="64008" marT="36576" marB="36576">
                    <a:solidFill>
                      <a:srgbClr val="F3F5F8"/>
                    </a:solidFill>
                  </a:tcPr>
                </a:tc>
                <a:extLst>
                  <a:ext uri="{0D108BD9-81ED-4DB2-BD59-A6C34878D82A}">
                    <a16:rowId xmlns:a16="http://schemas.microsoft.com/office/drawing/2014/main" val="10002"/>
                  </a:ext>
                </a:extLst>
              </a:tr>
              <a:tr h="723900">
                <a:tc>
                  <a:txBody>
                    <a:bodyPr/>
                    <a:lstStyle/>
                    <a:p>
                      <a:r>
                        <a:rPr sz="950" b="0" i="0">
                          <a:solidFill>
                            <a:srgbClr val="1F2937"/>
                          </a:solidFill>
                          <a:latin typeface="Calibri"/>
                        </a:rPr>
                        <a:t>Execution / entity platforms</a:t>
                      </a:r>
                    </a:p>
                  </a:txBody>
                  <a:tcPr marL="64008" marR="64008" marT="36576" marB="36576">
                    <a:solidFill>
                      <a:srgbClr val="FFFFFF"/>
                    </a:solidFill>
                  </a:tcPr>
                </a:tc>
                <a:tc>
                  <a:txBody>
                    <a:bodyPr/>
                    <a:lstStyle/>
                    <a:p>
                      <a:r>
                        <a:rPr sz="950" b="0" i="0">
                          <a:solidFill>
                            <a:srgbClr val="1F2937"/>
                          </a:solidFill>
                          <a:latin typeface="Calibri"/>
                        </a:rPr>
                        <a:t>Scrunch (Sitecore), Optimizely, AirOps, Yext Scout</a:t>
                      </a:r>
                    </a:p>
                  </a:txBody>
                  <a:tcPr marL="64008" marR="64008" marT="36576" marB="36576">
                    <a:solidFill>
                      <a:srgbClr val="FFFFFF"/>
                    </a:solidFill>
                  </a:tcPr>
                </a:tc>
                <a:tc>
                  <a:txBody>
                    <a:bodyPr/>
                    <a:lstStyle/>
                    <a:p>
                      <a:r>
                        <a:rPr sz="950" b="0" i="0">
                          <a:solidFill>
                            <a:srgbClr val="1F2937"/>
                          </a:solidFill>
                          <a:latin typeface="Calibri"/>
                        </a:rPr>
                        <a:t>Publish or serve content; listings and knowledge graph; Scrunch can serve a simplified page to bots (AXP)</a:t>
                      </a:r>
                    </a:p>
                  </a:txBody>
                  <a:tcPr marL="64008" marR="64008" marT="36576" marB="36576">
                    <a:solidFill>
                      <a:srgbClr val="FFFFFF"/>
                    </a:solidFill>
                  </a:tcPr>
                </a:tc>
                <a:tc>
                  <a:txBody>
                    <a:bodyPr/>
                    <a:lstStyle/>
                    <a:p>
                      <a:r>
                        <a:rPr sz="950" b="0" i="0">
                          <a:solidFill>
                            <a:srgbClr val="1F2937"/>
                          </a:solidFill>
                          <a:latin typeface="Calibri"/>
                        </a:rPr>
                        <a:t>Yext-style listings for stores is relevant; AI-only page variants deferred unless facts are bitwise identical</a:t>
                      </a:r>
                    </a:p>
                  </a:txBody>
                  <a:tcPr marL="64008" marR="64008" marT="36576" marB="36576">
                    <a:solidFill>
                      <a:srgbClr val="FFFFFF"/>
                    </a:solidFill>
                  </a:tcPr>
                </a:tc>
                <a:extLst>
                  <a:ext uri="{0D108BD9-81ED-4DB2-BD59-A6C34878D82A}">
                    <a16:rowId xmlns:a16="http://schemas.microsoft.com/office/drawing/2014/main" val="10003"/>
                  </a:ext>
                </a:extLst>
              </a:tr>
              <a:tr h="723900">
                <a:tc>
                  <a:txBody>
                    <a:bodyPr/>
                    <a:lstStyle/>
                    <a:p>
                      <a:r>
                        <a:rPr sz="950" b="0" i="0">
                          <a:solidFill>
                            <a:srgbClr val="1F2937"/>
                          </a:solidFill>
                          <a:latin typeface="Calibri"/>
                        </a:rPr>
                        <a:t>Connectors</a:t>
                      </a:r>
                    </a:p>
                  </a:txBody>
                  <a:tcPr marL="64008" marR="64008" marT="36576" marB="36576">
                    <a:solidFill>
                      <a:srgbClr val="F3F5F8"/>
                    </a:solidFill>
                  </a:tcPr>
                </a:tc>
                <a:tc>
                  <a:txBody>
                    <a:bodyPr/>
                    <a:lstStyle/>
                    <a:p>
                      <a:r>
                        <a:rPr sz="950" b="0" i="0">
                          <a:solidFill>
                            <a:srgbClr val="1F2937"/>
                          </a:solidFill>
                          <a:latin typeface="Calibri"/>
                        </a:rPr>
                        <a:t>Expedia and Booking.com ChatGPT apps; Virgin Australia app; Google UCP; MCP</a:t>
                      </a:r>
                    </a:p>
                  </a:txBody>
                  <a:tcPr marL="64008" marR="64008" marT="36576" marB="36576">
                    <a:solidFill>
                      <a:srgbClr val="F3F5F8"/>
                    </a:solidFill>
                  </a:tcPr>
                </a:tc>
                <a:tc>
                  <a:txBody>
                    <a:bodyPr/>
                    <a:lstStyle/>
                    <a:p>
                      <a:r>
                        <a:rPr sz="950" b="0" i="0">
                          <a:solidFill>
                            <a:srgbClr val="1F2937"/>
                          </a:solidFill>
                          <a:latin typeface="Calibri"/>
                        </a:rPr>
                        <a:t>Inventory inside the chat; checkout on merchant</a:t>
                      </a:r>
                    </a:p>
                  </a:txBody>
                  <a:tcPr marL="64008" marR="64008" marT="36576" marB="36576">
                    <a:solidFill>
                      <a:srgbClr val="F3F5F8"/>
                    </a:solidFill>
                  </a:tcPr>
                </a:tc>
                <a:tc>
                  <a:txBody>
                    <a:bodyPr/>
                    <a:lstStyle/>
                    <a:p>
                      <a:r>
                        <a:rPr sz="950" b="0" i="0">
                          <a:solidFill>
                            <a:srgbClr val="1F2937"/>
                          </a:solidFill>
                          <a:latin typeface="Calibri"/>
                        </a:rPr>
                        <a:t>Options paper only; FC's routable asset is the expert/store path, not OTA inventory</a:t>
                      </a:r>
                    </a:p>
                  </a:txBody>
                  <a:tcPr marL="64008" marR="64008" marT="36576" marB="36576">
                    <a:solidFill>
                      <a:srgbClr val="F3F5F8"/>
                    </a:solidFill>
                  </a:tcPr>
                </a:tc>
                <a:extLst>
                  <a:ext uri="{0D108BD9-81ED-4DB2-BD59-A6C34878D82A}">
                    <a16:rowId xmlns:a16="http://schemas.microsoft.com/office/drawing/2014/main" val="10004"/>
                  </a:ext>
                </a:extLst>
              </a:tr>
              <a:tr h="723900">
                <a:tc>
                  <a:txBody>
                    <a:bodyPr/>
                    <a:lstStyle/>
                    <a:p>
                      <a:r>
                        <a:rPr sz="950" b="0" i="0">
                          <a:solidFill>
                            <a:srgbClr val="1F2937"/>
                          </a:solidFill>
                          <a:latin typeface="Calibri"/>
                        </a:rPr>
                        <a:t>Controlled experiment</a:t>
                      </a:r>
                    </a:p>
                  </a:txBody>
                  <a:tcPr marL="64008" marR="64008" marT="36576" marB="36576">
                    <a:solidFill>
                      <a:srgbClr val="FFFFFF"/>
                    </a:solidFill>
                  </a:tcPr>
                </a:tc>
                <a:tc>
                  <a:txBody>
                    <a:bodyPr/>
                    <a:lstStyle/>
                    <a:p>
                      <a:r>
                        <a:rPr sz="950" b="0" i="0">
                          <a:solidFill>
                            <a:srgbClr val="1F2937"/>
                          </a:solidFill>
                          <a:latin typeface="Calibri"/>
                        </a:rPr>
                        <a:t>This project</a:t>
                      </a:r>
                    </a:p>
                  </a:txBody>
                  <a:tcPr marL="64008" marR="64008" marT="36576" marB="36576">
                    <a:solidFill>
                      <a:srgbClr val="FFFFFF"/>
                    </a:solidFill>
                  </a:tcPr>
                </a:tc>
                <a:tc>
                  <a:txBody>
                    <a:bodyPr/>
                    <a:lstStyle/>
                    <a:p>
                      <a:r>
                        <a:rPr sz="950" b="0" i="0">
                          <a:solidFill>
                            <a:srgbClr val="1F2937"/>
                          </a:solidFill>
                          <a:latin typeface="Calibri"/>
                        </a:rPr>
                        <a:t>Frozen sources, repeated answers, question-level statistics</a:t>
                      </a:r>
                    </a:p>
                  </a:txBody>
                  <a:tcPr marL="64008" marR="64008" marT="36576" marB="36576">
                    <a:solidFill>
                      <a:srgbClr val="FFFFFF"/>
                    </a:solidFill>
                  </a:tcPr>
                </a:tc>
                <a:tc>
                  <a:txBody>
                    <a:bodyPr/>
                    <a:lstStyle/>
                    <a:p>
                      <a:r>
                        <a:rPr sz="950" b="0" i="0">
                          <a:solidFill>
                            <a:srgbClr val="1F2937"/>
                          </a:solidFill>
                          <a:latin typeface="Calibri"/>
                        </a:rPr>
                        <a:t>Completed research evidence; FC can implement the findings without reproducing the sandbox</a:t>
                      </a:r>
                    </a:p>
                  </a:txBody>
                  <a:tcPr marL="64008" marR="64008" marT="36576" marB="36576">
                    <a:solidFill>
                      <a:srgbClr val="FFFFFF"/>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548640" y="6327648"/>
            <a:ext cx="10607040" cy="384048"/>
          </a:xfrm>
          <a:prstGeom prst="rect">
            <a:avLst/>
          </a:prstGeom>
          <a:noFill/>
        </p:spPr>
        <p:txBody>
          <a:bodyPr wrap="square" lIns="45720" rIns="45720" anchor="t">
            <a:spAutoFit/>
          </a:bodyPr>
          <a:lstStyle/>
          <a:p>
            <a:pPr algn="l">
              <a:lnSpc>
                <a:spcPct val="100000"/>
              </a:lnSpc>
              <a:spcAft>
                <a:spcPts val="400"/>
              </a:spcAft>
            </a:pPr>
            <a:r>
              <a:rPr sz="900" b="0" i="0">
                <a:solidFill>
                  <a:srgbClr val="5B6573"/>
                </a:solidFill>
                <a:latin typeface="Calibri"/>
              </a:rPr>
              <a:t>Sampled 14–24 Oct 2026 from public service pages. Public pages say what a company sells; they do not prove the service will move Flight Centre citations or bookings.</a:t>
            </a:r>
          </a:p>
        </p:txBody>
      </p:sp>
      <p:sp>
        <p:nvSpPr>
          <p:cNvPr id="7" name="TextBox 6"/>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33</a:t>
            </a:r>
            <a:endParaRPr sz="900" b="0" i="0">
              <a:solidFill>
                <a:srgbClr val="5B6573"/>
              </a:solidFill>
              <a:latin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2608"/>
            <a:ext cx="2743200" cy="274320"/>
          </a:xfrm>
          <a:prstGeom prst="rect">
            <a:avLst/>
          </a:prstGeom>
          <a:noFill/>
        </p:spPr>
        <p:txBody>
          <a:bodyPr wrap="square" lIns="45720" rIns="45720" anchor="t">
            <a:spAutoFit/>
          </a:bodyPr>
          <a:lstStyle/>
          <a:p>
            <a:pPr algn="l">
              <a:lnSpc>
                <a:spcPct val="108000"/>
              </a:lnSpc>
              <a:spcAft>
                <a:spcPts val="400"/>
              </a:spcAft>
            </a:pPr>
            <a:r>
              <a:rPr sz="1150" b="1" i="0">
                <a:solidFill>
                  <a:srgbClr val="C8102E"/>
                </a:solidFill>
                <a:latin typeface="Calibri"/>
              </a:rPr>
              <a:t>BACKUP (HIDDEN) · FOR Q&amp;A</a:t>
            </a:r>
          </a:p>
        </p:txBody>
      </p:sp>
      <p:sp>
        <p:nvSpPr>
          <p:cNvPr id="3" name="TextBox 2"/>
          <p:cNvSpPr txBox="1"/>
          <p:nvPr/>
        </p:nvSpPr>
        <p:spPr>
          <a:xfrm>
            <a:off x="548640" y="530352"/>
            <a:ext cx="9692640" cy="1005840"/>
          </a:xfrm>
          <a:prstGeom prst="rect">
            <a:avLst/>
          </a:prstGeom>
          <a:noFill/>
        </p:spPr>
        <p:txBody>
          <a:bodyPr wrap="square" lIns="45720" rIns="45720" anchor="t">
            <a:spAutoFit/>
          </a:bodyPr>
          <a:lstStyle/>
          <a:p>
            <a:pPr algn="l">
              <a:lnSpc>
                <a:spcPct val="100000"/>
              </a:lnSpc>
              <a:spcAft>
                <a:spcPts val="400"/>
              </a:spcAft>
            </a:pPr>
            <a:r>
              <a:rPr sz="2400" b="1" i="0">
                <a:solidFill>
                  <a:srgbClr val="0B2240"/>
                </a:solidFill>
                <a:latin typeface="Calibri"/>
              </a:rPr>
              <a:t>Backup: glossary</a:t>
            </a:r>
          </a:p>
        </p:txBody>
      </p:sp>
      <p:graphicFrame>
        <p:nvGraphicFramePr>
          <p:cNvPr id="4" name="Table 3"/>
          <p:cNvGraphicFramePr>
            <a:graphicFrameLocks noGrp="1"/>
          </p:cNvGraphicFramePr>
          <p:nvPr/>
        </p:nvGraphicFramePr>
        <p:xfrm>
          <a:off x="548640" y="1600200"/>
          <a:ext cx="11109960" cy="4023360"/>
        </p:xfrm>
        <a:graphic>
          <a:graphicData uri="http://schemas.openxmlformats.org/drawingml/2006/table">
            <a:tbl>
              <a:tblPr/>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335280">
                <a:tc>
                  <a:txBody>
                    <a:bodyPr/>
                    <a:lstStyle/>
                    <a:p>
                      <a:r>
                        <a:rPr sz="1050" b="1" i="0">
                          <a:solidFill>
                            <a:srgbClr val="FFFFFF"/>
                          </a:solidFill>
                          <a:latin typeface="Calibri"/>
                        </a:rPr>
                        <a:t>Term</a:t>
                      </a:r>
                    </a:p>
                  </a:txBody>
                  <a:tcPr marL="64008" marR="64008" marT="36576" marB="36576" anchor="ctr">
                    <a:solidFill>
                      <a:srgbClr val="0B2240"/>
                    </a:solidFill>
                  </a:tcPr>
                </a:tc>
                <a:tc>
                  <a:txBody>
                    <a:bodyPr/>
                    <a:lstStyle/>
                    <a:p>
                      <a:r>
                        <a:rPr sz="1050" b="1" i="0">
                          <a:solidFill>
                            <a:srgbClr val="FFFFFF"/>
                          </a:solidFill>
                          <a:latin typeface="Calibri"/>
                        </a:rPr>
                        <a:t>Meaning in this briefing</a:t>
                      </a:r>
                    </a:p>
                  </a:txBody>
                  <a:tcPr marL="64008" marR="64008" marT="36576" marB="36576" anchor="ctr">
                    <a:solidFill>
                      <a:srgbClr val="0B2240"/>
                    </a:solidFill>
                  </a:tcPr>
                </a:tc>
                <a:extLst>
                  <a:ext uri="{0D108BD9-81ED-4DB2-BD59-A6C34878D82A}">
                    <a16:rowId xmlns:a16="http://schemas.microsoft.com/office/drawing/2014/main" val="10000"/>
                  </a:ext>
                </a:extLst>
              </a:tr>
              <a:tr h="335280">
                <a:tc>
                  <a:txBody>
                    <a:bodyPr/>
                    <a:lstStyle/>
                    <a:p>
                      <a:r>
                        <a:rPr sz="1000" b="0" i="0">
                          <a:solidFill>
                            <a:srgbClr val="1F2937"/>
                          </a:solidFill>
                          <a:latin typeface="Calibri"/>
                        </a:rPr>
                        <a:t>GEO / AEO / AI SEO</a:t>
                      </a:r>
                    </a:p>
                  </a:txBody>
                  <a:tcPr marL="64008" marR="64008" marT="36576" marB="36576">
                    <a:solidFill>
                      <a:srgbClr val="FFFFFF"/>
                    </a:solidFill>
                  </a:tcPr>
                </a:tc>
                <a:tc>
                  <a:txBody>
                    <a:bodyPr/>
                    <a:lstStyle/>
                    <a:p>
                      <a:r>
                        <a:rPr sz="1000" b="0" i="0">
                          <a:solidFill>
                            <a:srgbClr val="1F2937"/>
                          </a:solidFill>
                          <a:latin typeface="Calibri"/>
                        </a:rPr>
                        <a:t>Making a brand findable, readable, citable and (where possible) actionable inside AI-generated answers</a:t>
                      </a:r>
                    </a:p>
                  </a:txBody>
                  <a:tcPr marL="64008" marR="64008" marT="36576" marB="36576">
                    <a:solidFill>
                      <a:srgbClr val="FFFFFF"/>
                    </a:solidFill>
                  </a:tcPr>
                </a:tc>
                <a:extLst>
                  <a:ext uri="{0D108BD9-81ED-4DB2-BD59-A6C34878D82A}">
                    <a16:rowId xmlns:a16="http://schemas.microsoft.com/office/drawing/2014/main" val="10001"/>
                  </a:ext>
                </a:extLst>
              </a:tr>
              <a:tr h="335280">
                <a:tc>
                  <a:txBody>
                    <a:bodyPr/>
                    <a:lstStyle/>
                    <a:p>
                      <a:r>
                        <a:rPr sz="1000" b="0" i="0">
                          <a:solidFill>
                            <a:srgbClr val="1F2937"/>
                          </a:solidFill>
                          <a:latin typeface="Calibri"/>
                        </a:rPr>
                        <a:t>Citation inclusion</a:t>
                      </a:r>
                    </a:p>
                  </a:txBody>
                  <a:tcPr marL="64008" marR="64008" marT="36576" marB="36576">
                    <a:solidFill>
                      <a:srgbClr val="F3F5F8"/>
                    </a:solidFill>
                  </a:tcPr>
                </a:tc>
                <a:tc>
                  <a:txBody>
                    <a:bodyPr/>
                    <a:lstStyle/>
                    <a:p>
                      <a:r>
                        <a:rPr sz="1000" b="0" i="0">
                          <a:solidFill>
                            <a:srgbClr val="1F2937"/>
                          </a:solidFill>
                          <a:latin typeface="Calibri"/>
                        </a:rPr>
                        <a:t>Share of answers with at least one numbered reference to a Flight Centre source; several references count once</a:t>
                      </a:r>
                    </a:p>
                  </a:txBody>
                  <a:tcPr marL="64008" marR="64008" marT="36576" marB="36576">
                    <a:solidFill>
                      <a:srgbClr val="F3F5F8"/>
                    </a:solidFill>
                  </a:tcPr>
                </a:tc>
                <a:extLst>
                  <a:ext uri="{0D108BD9-81ED-4DB2-BD59-A6C34878D82A}">
                    <a16:rowId xmlns:a16="http://schemas.microsoft.com/office/drawing/2014/main" val="10002"/>
                  </a:ext>
                </a:extLst>
              </a:tr>
              <a:tr h="335280">
                <a:tc>
                  <a:txBody>
                    <a:bodyPr/>
                    <a:lstStyle/>
                    <a:p>
                      <a:r>
                        <a:rPr sz="1000" b="0" i="0">
                          <a:solidFill>
                            <a:srgbClr val="1F2937"/>
                          </a:solidFill>
                          <a:latin typeface="Calibri"/>
                        </a:rPr>
                        <a:t>Percentage point vs relative</a:t>
                      </a:r>
                    </a:p>
                  </a:txBody>
                  <a:tcPr marL="64008" marR="64008" marT="36576" marB="36576">
                    <a:solidFill>
                      <a:srgbClr val="FFFFFF"/>
                    </a:solidFill>
                  </a:tcPr>
                </a:tc>
                <a:tc>
                  <a:txBody>
                    <a:bodyPr/>
                    <a:lstStyle/>
                    <a:p>
                      <a:r>
                        <a:rPr sz="1000" b="0" i="0">
                          <a:solidFill>
                            <a:srgbClr val="1F2937"/>
                          </a:solidFill>
                          <a:latin typeface="Calibri"/>
                        </a:rPr>
                        <a:t>40.0% → 52.4% is +12.4 points and +31% relative; it is not a 52% improvement</a:t>
                      </a:r>
                    </a:p>
                  </a:txBody>
                  <a:tcPr marL="64008" marR="64008" marT="36576" marB="36576">
                    <a:solidFill>
                      <a:srgbClr val="FFFFFF"/>
                    </a:solidFill>
                  </a:tcPr>
                </a:tc>
                <a:extLst>
                  <a:ext uri="{0D108BD9-81ED-4DB2-BD59-A6C34878D82A}">
                    <a16:rowId xmlns:a16="http://schemas.microsoft.com/office/drawing/2014/main" val="10003"/>
                  </a:ext>
                </a:extLst>
              </a:tr>
              <a:tr h="335280">
                <a:tc>
                  <a:txBody>
                    <a:bodyPr/>
                    <a:lstStyle/>
                    <a:p>
                      <a:r>
                        <a:rPr sz="1000" b="0" i="0">
                          <a:solidFill>
                            <a:srgbClr val="1F2937"/>
                          </a:solidFill>
                          <a:latin typeface="Calibri"/>
                        </a:rPr>
                        <a:t>Retrieved / cited / absorbed</a:t>
                      </a:r>
                    </a:p>
                  </a:txBody>
                  <a:tcPr marL="64008" marR="64008" marT="36576" marB="36576">
                    <a:solidFill>
                      <a:srgbClr val="F3F5F8"/>
                    </a:solidFill>
                  </a:tcPr>
                </a:tc>
                <a:tc>
                  <a:txBody>
                    <a:bodyPr/>
                    <a:lstStyle/>
                    <a:p>
                      <a:r>
                        <a:rPr sz="1000" b="0" i="0">
                          <a:solidFill>
                            <a:srgbClr val="1F2937"/>
                          </a:solidFill>
                          <a:latin typeface="Calibri"/>
                        </a:rPr>
                        <a:t>Page in the model's source list / page referenced in the answer / page's facts actually used in the answer text</a:t>
                      </a:r>
                    </a:p>
                  </a:txBody>
                  <a:tcPr marL="64008" marR="64008" marT="36576" marB="36576">
                    <a:solidFill>
                      <a:srgbClr val="F3F5F8"/>
                    </a:solidFill>
                  </a:tcPr>
                </a:tc>
                <a:extLst>
                  <a:ext uri="{0D108BD9-81ED-4DB2-BD59-A6C34878D82A}">
                    <a16:rowId xmlns:a16="http://schemas.microsoft.com/office/drawing/2014/main" val="10004"/>
                  </a:ext>
                </a:extLst>
              </a:tr>
              <a:tr h="335280">
                <a:tc>
                  <a:txBody>
                    <a:bodyPr/>
                    <a:lstStyle/>
                    <a:p>
                      <a:r>
                        <a:rPr sz="1000" b="0" i="0">
                          <a:solidFill>
                            <a:srgbClr val="1F2937"/>
                          </a:solidFill>
                          <a:latin typeface="Calibri"/>
                        </a:rPr>
                        <a:t>Fixed vs reindexed setup</a:t>
                      </a:r>
                    </a:p>
                  </a:txBody>
                  <a:tcPr marL="64008" marR="64008" marT="36576" marB="36576">
                    <a:solidFill>
                      <a:srgbClr val="FFFFFF"/>
                    </a:solidFill>
                  </a:tcPr>
                </a:tc>
                <a:tc>
                  <a:txBody>
                    <a:bodyPr/>
                    <a:lstStyle/>
                    <a:p>
                      <a:r>
                        <a:rPr sz="1000" b="0" i="0">
                          <a:solidFill>
                            <a:srgbClr val="1F2937"/>
                          </a:solidFill>
                          <a:latin typeface="Calibri"/>
                        </a:rPr>
                        <a:t>Main test: same whole pages given to the model in both versions. Secondary: the retrieval pipeline selects passages from the indexed usable corpus</a:t>
                      </a:r>
                    </a:p>
                  </a:txBody>
                  <a:tcPr marL="64008" marR="64008" marT="36576" marB="36576">
                    <a:solidFill>
                      <a:srgbClr val="FFFFFF"/>
                    </a:solidFill>
                  </a:tcPr>
                </a:tc>
                <a:extLst>
                  <a:ext uri="{0D108BD9-81ED-4DB2-BD59-A6C34878D82A}">
                    <a16:rowId xmlns:a16="http://schemas.microsoft.com/office/drawing/2014/main" val="10005"/>
                  </a:ext>
                </a:extLst>
              </a:tr>
              <a:tr h="335280">
                <a:tc>
                  <a:txBody>
                    <a:bodyPr/>
                    <a:lstStyle/>
                    <a:p>
                      <a:r>
                        <a:rPr sz="1000" b="0" i="0">
                          <a:solidFill>
                            <a:srgbClr val="1F2937"/>
                          </a:solidFill>
                          <a:latin typeface="Calibri"/>
                        </a:rPr>
                        <a:t>SSR / CSR</a:t>
                      </a:r>
                    </a:p>
                  </a:txBody>
                  <a:tcPr marL="64008" marR="64008" marT="36576" marB="36576">
                    <a:solidFill>
                      <a:srgbClr val="F3F5F8"/>
                    </a:solidFill>
                  </a:tcPr>
                </a:tc>
                <a:tc>
                  <a:txBody>
                    <a:bodyPr/>
                    <a:lstStyle/>
                    <a:p>
                      <a:r>
                        <a:rPr sz="1000" b="0" i="0">
                          <a:solidFill>
                            <a:srgbClr val="1F2937"/>
                          </a:solidFill>
                          <a:latin typeface="Calibri"/>
                        </a:rPr>
                        <a:t>Content present in the first HTML response vs content that appears only after JavaScript runs in a browser</a:t>
                      </a:r>
                    </a:p>
                  </a:txBody>
                  <a:tcPr marL="64008" marR="64008" marT="36576" marB="36576">
                    <a:solidFill>
                      <a:srgbClr val="F3F5F8"/>
                    </a:solidFill>
                  </a:tcPr>
                </a:tc>
                <a:extLst>
                  <a:ext uri="{0D108BD9-81ED-4DB2-BD59-A6C34878D82A}">
                    <a16:rowId xmlns:a16="http://schemas.microsoft.com/office/drawing/2014/main" val="10006"/>
                  </a:ext>
                </a:extLst>
              </a:tr>
              <a:tr h="335280">
                <a:tc>
                  <a:txBody>
                    <a:bodyPr/>
                    <a:lstStyle/>
                    <a:p>
                      <a:r>
                        <a:rPr sz="1000" b="0" i="0">
                          <a:solidFill>
                            <a:srgbClr val="1F2937"/>
                          </a:solidFill>
                          <a:latin typeface="Calibri"/>
                        </a:rPr>
                        <a:t>OAI-SearchBot / GPTBot / ChatGPT-User</a:t>
                      </a:r>
                    </a:p>
                  </a:txBody>
                  <a:tcPr marL="64008" marR="64008" marT="36576" marB="36576">
                    <a:solidFill>
                      <a:srgbClr val="FFFFFF"/>
                    </a:solidFill>
                  </a:tcPr>
                </a:tc>
                <a:tc>
                  <a:txBody>
                    <a:bodyPr/>
                    <a:lstStyle/>
                    <a:p>
                      <a:r>
                        <a:rPr sz="1000" b="0" i="0">
                          <a:solidFill>
                            <a:srgbClr val="1F2937"/>
                          </a:solidFill>
                          <a:latin typeface="Calibri"/>
                        </a:rPr>
                        <a:t>ChatGPT search crawler / training crawler / fetcher acting for a user (may ignore robots.txt)</a:t>
                      </a:r>
                    </a:p>
                  </a:txBody>
                  <a:tcPr marL="64008" marR="64008" marT="36576" marB="36576">
                    <a:solidFill>
                      <a:srgbClr val="FFFFFF"/>
                    </a:solidFill>
                  </a:tcPr>
                </a:tc>
                <a:extLst>
                  <a:ext uri="{0D108BD9-81ED-4DB2-BD59-A6C34878D82A}">
                    <a16:rowId xmlns:a16="http://schemas.microsoft.com/office/drawing/2014/main" val="10007"/>
                  </a:ext>
                </a:extLst>
              </a:tr>
              <a:tr h="335280">
                <a:tc>
                  <a:txBody>
                    <a:bodyPr/>
                    <a:lstStyle/>
                    <a:p>
                      <a:r>
                        <a:rPr sz="1000" b="0" i="0">
                          <a:solidFill>
                            <a:srgbClr val="1F2937"/>
                          </a:solidFill>
                          <a:latin typeface="Calibri"/>
                        </a:rPr>
                        <a:t>JSON-LD, FAQPage, Offer</a:t>
                      </a:r>
                    </a:p>
                  </a:txBody>
                  <a:tcPr marL="64008" marR="64008" marT="36576" marB="36576">
                    <a:solidFill>
                      <a:srgbClr val="F3F5F8"/>
                    </a:solidFill>
                  </a:tcPr>
                </a:tc>
                <a:tc>
                  <a:txBody>
                    <a:bodyPr/>
                    <a:lstStyle/>
                    <a:p>
                      <a:r>
                        <a:rPr sz="1000" b="0" i="0">
                          <a:solidFill>
                            <a:srgbClr val="1F2937"/>
                          </a:solidFill>
                          <a:latin typeface="Calibri"/>
                        </a:rPr>
                        <a:t>Structured-data formats restating visible facts for machines; must match the visible text</a:t>
                      </a:r>
                    </a:p>
                  </a:txBody>
                  <a:tcPr marL="64008" marR="64008" marT="36576" marB="36576">
                    <a:solidFill>
                      <a:srgbClr val="F3F5F8"/>
                    </a:solidFill>
                  </a:tcPr>
                </a:tc>
                <a:extLst>
                  <a:ext uri="{0D108BD9-81ED-4DB2-BD59-A6C34878D82A}">
                    <a16:rowId xmlns:a16="http://schemas.microsoft.com/office/drawing/2014/main" val="10008"/>
                  </a:ext>
                </a:extLst>
              </a:tr>
              <a:tr h="335280">
                <a:tc>
                  <a:txBody>
                    <a:bodyPr/>
                    <a:lstStyle/>
                    <a:p>
                      <a:r>
                        <a:rPr sz="1000" b="0" i="0">
                          <a:solidFill>
                            <a:srgbClr val="1F2937"/>
                          </a:solidFill>
                          <a:latin typeface="Calibri"/>
                        </a:rPr>
                        <a:t>llms.txt</a:t>
                      </a:r>
                    </a:p>
                  </a:txBody>
                  <a:tcPr marL="64008" marR="64008" marT="36576" marB="36576">
                    <a:solidFill>
                      <a:srgbClr val="FFFFFF"/>
                    </a:solidFill>
                  </a:tcPr>
                </a:tc>
                <a:tc>
                  <a:txBody>
                    <a:bodyPr/>
                    <a:lstStyle/>
                    <a:p>
                      <a:r>
                        <a:rPr sz="1000" b="0" i="0">
                          <a:solidFill>
                            <a:srgbClr val="1F2937"/>
                          </a:solidFill>
                          <a:latin typeface="Calibri"/>
                        </a:rPr>
                        <a:t>Vendor-promoted Markdown map for AI systems; Google ignores it; rarely fetched</a:t>
                      </a:r>
                    </a:p>
                  </a:txBody>
                  <a:tcPr marL="64008" marR="64008" marT="36576" marB="36576">
                    <a:solidFill>
                      <a:srgbClr val="FFFFFF"/>
                    </a:solidFill>
                  </a:tcPr>
                </a:tc>
                <a:extLst>
                  <a:ext uri="{0D108BD9-81ED-4DB2-BD59-A6C34878D82A}">
                    <a16:rowId xmlns:a16="http://schemas.microsoft.com/office/drawing/2014/main" val="10009"/>
                  </a:ext>
                </a:extLst>
              </a:tr>
              <a:tr h="335280">
                <a:tc>
                  <a:txBody>
                    <a:bodyPr/>
                    <a:lstStyle/>
                    <a:p>
                      <a:r>
                        <a:rPr sz="1000" b="0" i="0">
                          <a:solidFill>
                            <a:srgbClr val="1F2937"/>
                          </a:solidFill>
                          <a:latin typeface="Calibri"/>
                        </a:rPr>
                        <a:t>MCP / ACP / UCP</a:t>
                      </a:r>
                    </a:p>
                  </a:txBody>
                  <a:tcPr marL="64008" marR="64008" marT="36576" marB="36576">
                    <a:solidFill>
                      <a:srgbClr val="F3F5F8"/>
                    </a:solidFill>
                  </a:tcPr>
                </a:tc>
                <a:tc>
                  <a:txBody>
                    <a:bodyPr/>
                    <a:lstStyle/>
                    <a:p>
                      <a:r>
                        <a:rPr sz="1000" b="0" i="0">
                          <a:solidFill>
                            <a:srgbClr val="1F2937"/>
                          </a:solidFill>
                          <a:latin typeface="Calibri"/>
                        </a:rPr>
                        <a:t>Agent-connection protocol (Anthropic), OpenAI's Agentic Commerce Protocol, Google's Universal Commerce Protocol</a:t>
                      </a:r>
                    </a:p>
                  </a:txBody>
                  <a:tcPr marL="64008" marR="64008" marT="36576" marB="36576">
                    <a:solidFill>
                      <a:srgbClr val="F3F5F8"/>
                    </a:solidFill>
                  </a:tcPr>
                </a:tc>
                <a:extLst>
                  <a:ext uri="{0D108BD9-81ED-4DB2-BD59-A6C34878D82A}">
                    <a16:rowId xmlns:a16="http://schemas.microsoft.com/office/drawing/2014/main" val="10010"/>
                  </a:ext>
                </a:extLst>
              </a:tr>
              <a:tr h="335280">
                <a:tc>
                  <a:txBody>
                    <a:bodyPr/>
                    <a:lstStyle/>
                    <a:p>
                      <a:r>
                        <a:rPr sz="1000" b="0" i="0">
                          <a:solidFill>
                            <a:srgbClr val="1F2937"/>
                          </a:solidFill>
                          <a:latin typeface="Calibri"/>
                        </a:rPr>
                        <a:t>Fingerprint (SHA-256)</a:t>
                      </a:r>
                    </a:p>
                  </a:txBody>
                  <a:tcPr marL="64008" marR="64008" marT="36576" marB="36576">
                    <a:solidFill>
                      <a:srgbClr val="FFFFFF"/>
                    </a:solidFill>
                  </a:tcPr>
                </a:tc>
                <a:tc>
                  <a:txBody>
                    <a:bodyPr/>
                    <a:lstStyle/>
                    <a:p>
                      <a:r>
                        <a:rPr sz="1000" b="0" i="0">
                          <a:solidFill>
                            <a:srgbClr val="1F2937"/>
                          </a:solidFill>
                          <a:latin typeface="Calibri"/>
                        </a:rPr>
                        <a:t>A code computed from a file; changes if a single character changes</a:t>
                      </a:r>
                    </a:p>
                  </a:txBody>
                  <a:tcPr marL="64008" marR="64008" marT="36576" marB="36576">
                    <a:solidFill>
                      <a:srgbClr val="FFFFFF"/>
                    </a:solidFill>
                  </a:tcPr>
                </a:tc>
                <a:extLst>
                  <a:ext uri="{0D108BD9-81ED-4DB2-BD59-A6C34878D82A}">
                    <a16:rowId xmlns:a16="http://schemas.microsoft.com/office/drawing/2014/main" val="10011"/>
                  </a:ext>
                </a:extLst>
              </a:tr>
            </a:tbl>
          </a:graphicData>
        </a:graphic>
      </p:graphicFrame>
      <p:sp>
        <p:nvSpPr>
          <p:cNvPr id="5" name="TextBox 4"/>
          <p:cNvSpPr txBox="1"/>
          <p:nvPr/>
        </p:nvSpPr>
        <p:spPr>
          <a:xfrm>
            <a:off x="11247120" y="6382512"/>
            <a:ext cx="411480" cy="235001"/>
          </a:xfrm>
          <a:prstGeom prst="rect">
            <a:avLst/>
          </a:prstGeom>
          <a:noFill/>
        </p:spPr>
        <p:txBody>
          <a:bodyPr wrap="square" lIns="45720" rIns="45720" anchor="t">
            <a:spAutoFit/>
          </a:bodyPr>
          <a:lstStyle/>
          <a:p>
            <a:pPr algn="r">
              <a:lnSpc>
                <a:spcPct val="108000"/>
              </a:lnSpc>
              <a:spcAft>
                <a:spcPts val="400"/>
              </a:spcAft>
            </a:pPr>
            <a:r>
              <a:rPr lang="en-US" sz="900" b="0" i="0">
                <a:solidFill>
                  <a:srgbClr val="5B6573"/>
                </a:solidFill>
                <a:latin typeface="Calibri"/>
              </a:rPr>
              <a:t>34</a:t>
            </a:r>
            <a:endParaRPr sz="900" b="0" i="0">
              <a:solidFill>
                <a:srgbClr val="5B6573"/>
              </a:solidFill>
              <a:latin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0D8A3FC5-CD43-42B5-956D-AB7D3D10DD5E}"/>
              </a:ext>
            </a:extLst>
          </p:cNvPr>
          <p:cNvSpPr>
            <a:spLocks noGrp="1"/>
          </p:cNvSpPr>
          <p:nvPr/>
        </p:nvSpPr>
        <p:spPr>
          <a:xfrm>
            <a:off x="457200" y="247650"/>
            <a:ext cx="11277600" cy="285750"/>
          </a:xfrm>
          <a:prstGeom prst="rect">
            <a:avLst/>
          </a:prstGeom>
          <a:noFill/>
          <a:ln w="0">
            <a:noFill/>
          </a:ln>
        </p:spPr>
        <p:txBody>
          <a:bodyPr anchor="ctr"/>
          <a:lstStyle>
            <a:defPPr>
              <a:defRPr sz="1200" b="1">
                <a:solidFill>
                  <a:srgbClr val="ED193A"/>
                </a:solidFill>
              </a:defRPr>
            </a:defPPr>
            <a:lvl1pPr>
              <a:defRPr sz="1200" b="1">
                <a:solidFill>
                  <a:srgbClr val="ED193A"/>
                </a:solidFill>
              </a:defRPr>
            </a:lvl1pPr>
            <a:lvl2pPr>
              <a:defRPr sz="1200" b="1">
                <a:solidFill>
                  <a:srgbClr val="ED193A"/>
                </a:solidFill>
              </a:defRPr>
            </a:lvl2pPr>
            <a:lvl3pPr>
              <a:defRPr sz="1200" b="1">
                <a:solidFill>
                  <a:srgbClr val="ED193A"/>
                </a:solidFill>
              </a:defRPr>
            </a:lvl3pPr>
            <a:lvl4pPr>
              <a:defRPr sz="1200" b="1">
                <a:solidFill>
                  <a:srgbClr val="ED193A"/>
                </a:solidFill>
              </a:defRPr>
            </a:lvl4pPr>
            <a:lvl5pPr>
              <a:defRPr sz="1200" b="1">
                <a:solidFill>
                  <a:srgbClr val="ED193A"/>
                </a:solidFill>
              </a:defRPr>
            </a:lvl5pPr>
            <a:lvl6pPr>
              <a:defRPr sz="1200" b="1">
                <a:solidFill>
                  <a:srgbClr val="ED193A"/>
                </a:solidFill>
              </a:defRPr>
            </a:lvl6pPr>
            <a:lvl7pPr>
              <a:defRPr sz="1200" b="1">
                <a:solidFill>
                  <a:srgbClr val="ED193A"/>
                </a:solidFill>
              </a:defRPr>
            </a:lvl7pPr>
            <a:lvl8pPr>
              <a:defRPr sz="1200" b="1">
                <a:solidFill>
                  <a:srgbClr val="ED193A"/>
                </a:solidFill>
              </a:defRPr>
            </a:lvl8pPr>
            <a:lvl9pPr>
              <a:defRPr sz="1200" b="1">
                <a:solidFill>
                  <a:srgbClr val="ED193A"/>
                </a:solidFill>
              </a:defRPr>
            </a:lvl9pPr>
          </a:lstStyle>
          <a:p>
            <a:pPr>
              <a:defRPr sz="1200" b="1">
                <a:solidFill>
                  <a:srgbClr val="ED193A"/>
                </a:solidFill>
              </a:defRPr>
            </a:pPr>
            <a:r>
              <a:rPr sz="1200" b="1">
                <a:solidFill>
                  <a:srgbClr val="ED193A"/>
                </a:solidFill>
              </a:rPr>
              <a:t>BACKUP: IMPLEMENTATION COVERAGE</a:t>
            </a:r>
          </a:p>
        </p:txBody>
      </p:sp>
      <p:sp>
        <p:nvSpPr>
          <p:cNvPr id="2" name="Rectangle 1">
            <a:extLst>
              <a:ext uri="{FF2B5EF4-FFF2-40B4-BE49-F238E27FC236}">
                <a16:creationId xmlns:a16="http://schemas.microsoft.com/office/drawing/2014/main" id="{36CDF3A8-B7DE-4BD8-8DC2-8DFE03F433A2}"/>
              </a:ext>
            </a:extLst>
          </p:cNvPr>
          <p:cNvSpPr>
            <a:spLocks noGrp="1"/>
          </p:cNvSpPr>
          <p:nvPr/>
        </p:nvSpPr>
        <p:spPr>
          <a:xfrm>
            <a:off x="457200" y="733425"/>
            <a:ext cx="11277600" cy="857250"/>
          </a:xfrm>
          <a:prstGeom prst="rect">
            <a:avLst/>
          </a:prstGeom>
          <a:noFill/>
          <a:ln w="0">
            <a:noFill/>
          </a:ln>
        </p:spPr>
        <p:txBody>
          <a:bodyPr anchor="ctr"/>
          <a:lstStyle>
            <a:defPPr>
              <a:defRPr sz="3000" b="1">
                <a:solidFill>
                  <a:srgbClr val="10253F"/>
                </a:solidFill>
              </a:defRPr>
            </a:defPPr>
            <a:lvl1pPr>
              <a:defRPr sz="3000" b="1">
                <a:solidFill>
                  <a:srgbClr val="10253F"/>
                </a:solidFill>
              </a:defRPr>
            </a:lvl1pPr>
            <a:lvl2pPr>
              <a:defRPr sz="3000" b="1">
                <a:solidFill>
                  <a:srgbClr val="10253F"/>
                </a:solidFill>
              </a:defRPr>
            </a:lvl2pPr>
            <a:lvl3pPr>
              <a:defRPr sz="3000" b="1">
                <a:solidFill>
                  <a:srgbClr val="10253F"/>
                </a:solidFill>
              </a:defRPr>
            </a:lvl3pPr>
            <a:lvl4pPr>
              <a:defRPr sz="3000" b="1">
                <a:solidFill>
                  <a:srgbClr val="10253F"/>
                </a:solidFill>
              </a:defRPr>
            </a:lvl4pPr>
            <a:lvl5pPr>
              <a:defRPr sz="3000" b="1">
                <a:solidFill>
                  <a:srgbClr val="10253F"/>
                </a:solidFill>
              </a:defRPr>
            </a:lvl5pPr>
            <a:lvl6pPr>
              <a:defRPr sz="3000" b="1">
                <a:solidFill>
                  <a:srgbClr val="10253F"/>
                </a:solidFill>
              </a:defRPr>
            </a:lvl6pPr>
            <a:lvl7pPr>
              <a:defRPr sz="3000" b="1">
                <a:solidFill>
                  <a:srgbClr val="10253F"/>
                </a:solidFill>
              </a:defRPr>
            </a:lvl7pPr>
            <a:lvl8pPr>
              <a:defRPr sz="3000" b="1">
                <a:solidFill>
                  <a:srgbClr val="10253F"/>
                </a:solidFill>
              </a:defRPr>
            </a:lvl8pPr>
            <a:lvl9pPr>
              <a:defRPr sz="3000" b="1">
                <a:solidFill>
                  <a:srgbClr val="10253F"/>
                </a:solidFill>
              </a:defRPr>
            </a:lvl9pPr>
          </a:lstStyle>
          <a:p>
            <a:pPr>
              <a:defRPr sz="3000" b="1">
                <a:solidFill>
                  <a:srgbClr val="10253F"/>
                </a:solidFill>
              </a:defRPr>
            </a:pPr>
            <a:r>
              <a:rPr sz="3000" b="1">
                <a:solidFill>
                  <a:srgbClr val="10253F"/>
                </a:solidFill>
              </a:rPr>
              <a:t>GEO workstreams and their evidence boundaries</a:t>
            </a:r>
          </a:p>
        </p:txBody>
      </p:sp>
      <p:sp>
        <p:nvSpPr>
          <p:cNvPr id="3" name="Rectangle 2">
            <a:extLst>
              <a:ext uri="{FF2B5EF4-FFF2-40B4-BE49-F238E27FC236}">
                <a16:creationId xmlns:a16="http://schemas.microsoft.com/office/drawing/2014/main" id="{970A2BC1-DA46-4FEB-8AC2-F454F53A2163}"/>
              </a:ext>
            </a:extLst>
          </p:cNvPr>
          <p:cNvSpPr>
            <a:spLocks noGrp="1"/>
          </p:cNvSpPr>
          <p:nvPr/>
        </p:nvSpPr>
        <p:spPr>
          <a:xfrm>
            <a:off x="457200" y="6305550"/>
            <a:ext cx="11049000" cy="361950"/>
          </a:xfrm>
          <a:prstGeom prst="rect">
            <a:avLst/>
          </a:prstGeom>
          <a:noFill/>
          <a:ln w="0">
            <a:noFill/>
          </a:ln>
        </p:spPr>
        <p:txBody>
          <a:bodyPr anchor="ctr"/>
          <a:lstStyle>
            <a:defPPr>
              <a:defRPr sz="1050" b="0">
                <a:solidFill>
                  <a:srgbClr val="566B82"/>
                </a:solidFill>
              </a:defRPr>
            </a:defPPr>
            <a:lvl1pPr>
              <a:defRPr sz="1050" b="0">
                <a:solidFill>
                  <a:srgbClr val="566B82"/>
                </a:solidFill>
              </a:defRPr>
            </a:lvl1pPr>
            <a:lvl2pPr>
              <a:defRPr sz="1050" b="0">
                <a:solidFill>
                  <a:srgbClr val="566B82"/>
                </a:solidFill>
              </a:defRPr>
            </a:lvl2pPr>
            <a:lvl3pPr>
              <a:defRPr sz="1050" b="0">
                <a:solidFill>
                  <a:srgbClr val="566B82"/>
                </a:solidFill>
              </a:defRPr>
            </a:lvl3pPr>
            <a:lvl4pPr>
              <a:defRPr sz="1050" b="0">
                <a:solidFill>
                  <a:srgbClr val="566B82"/>
                </a:solidFill>
              </a:defRPr>
            </a:lvl4pPr>
            <a:lvl5pPr>
              <a:defRPr sz="1050" b="0">
                <a:solidFill>
                  <a:srgbClr val="566B82"/>
                </a:solidFill>
              </a:defRPr>
            </a:lvl5pPr>
            <a:lvl6pPr>
              <a:defRPr sz="1050" b="0">
                <a:solidFill>
                  <a:srgbClr val="566B82"/>
                </a:solidFill>
              </a:defRPr>
            </a:lvl6pPr>
            <a:lvl7pPr>
              <a:defRPr sz="1050" b="0">
                <a:solidFill>
                  <a:srgbClr val="566B82"/>
                </a:solidFill>
              </a:defRPr>
            </a:lvl7pPr>
            <a:lvl8pPr>
              <a:defRPr sz="1050" b="0">
                <a:solidFill>
                  <a:srgbClr val="566B82"/>
                </a:solidFill>
              </a:defRPr>
            </a:lvl8pPr>
            <a:lvl9pPr>
              <a:defRPr sz="1050" b="0">
                <a:solidFill>
                  <a:srgbClr val="566B82"/>
                </a:solidFill>
              </a:defRPr>
            </a:lvl9pPr>
          </a:lstStyle>
          <a:p>
            <a:pPr>
              <a:defRPr sz="1050" b="0">
                <a:solidFill>
                  <a:srgbClr val="566B82"/>
                </a:solidFill>
              </a:defRPr>
            </a:pPr>
            <a:r>
              <a:rPr sz="1050" b="0">
                <a:solidFill>
                  <a:srgbClr val="566B82"/>
                </a:solidFill>
              </a:rPr>
              <a:t>Standards guide implementation. Our saved experiment supports the content comparison. No checklist guarantees live citations.</a:t>
            </a:r>
          </a:p>
        </p:txBody>
      </p:sp>
      <p:sp>
        <p:nvSpPr>
          <p:cNvPr id="4" name="Rectangle 3">
            <a:extLst>
              <a:ext uri="{FF2B5EF4-FFF2-40B4-BE49-F238E27FC236}">
                <a16:creationId xmlns:a16="http://schemas.microsoft.com/office/drawing/2014/main" id="{5EBC1AF3-A604-4190-B19A-C579D188690F}"/>
              </a:ext>
            </a:extLst>
          </p:cNvPr>
          <p:cNvSpPr>
            <a:spLocks noGrp="1"/>
          </p:cNvSpPr>
          <p:nvPr/>
        </p:nvSpPr>
        <p:spPr>
          <a:xfrm>
            <a:off x="457200" y="1676400"/>
            <a:ext cx="2857500" cy="590550"/>
          </a:xfrm>
          <a:prstGeom prst="rect">
            <a:avLst/>
          </a:prstGeom>
          <a:noFill/>
          <a:ln w="0">
            <a:noFill/>
          </a:ln>
        </p:spPr>
        <p:txBody>
          <a:bodyPr anchor="ctr"/>
          <a:lstStyle>
            <a:defPPr>
              <a:defRPr sz="1725" b="1">
                <a:solidFill>
                  <a:srgbClr val="21354D"/>
                </a:solidFill>
              </a:defRPr>
            </a:defPPr>
            <a:lvl1pPr>
              <a:defRPr sz="1725" b="1">
                <a:solidFill>
                  <a:srgbClr val="21354D"/>
                </a:solidFill>
              </a:defRPr>
            </a:lvl1pPr>
            <a:lvl2pPr>
              <a:defRPr sz="1725" b="1">
                <a:solidFill>
                  <a:srgbClr val="21354D"/>
                </a:solidFill>
              </a:defRPr>
            </a:lvl2pPr>
            <a:lvl3pPr>
              <a:defRPr sz="1725" b="1">
                <a:solidFill>
                  <a:srgbClr val="21354D"/>
                </a:solidFill>
              </a:defRPr>
            </a:lvl3pPr>
            <a:lvl4pPr>
              <a:defRPr sz="1725" b="1">
                <a:solidFill>
                  <a:srgbClr val="21354D"/>
                </a:solidFill>
              </a:defRPr>
            </a:lvl4pPr>
            <a:lvl5pPr>
              <a:defRPr sz="1725" b="1">
                <a:solidFill>
                  <a:srgbClr val="21354D"/>
                </a:solidFill>
              </a:defRPr>
            </a:lvl5pPr>
            <a:lvl6pPr>
              <a:defRPr sz="1725" b="1">
                <a:solidFill>
                  <a:srgbClr val="21354D"/>
                </a:solidFill>
              </a:defRPr>
            </a:lvl6pPr>
            <a:lvl7pPr>
              <a:defRPr sz="1725" b="1">
                <a:solidFill>
                  <a:srgbClr val="21354D"/>
                </a:solidFill>
              </a:defRPr>
            </a:lvl7pPr>
            <a:lvl8pPr>
              <a:defRPr sz="1725" b="1">
                <a:solidFill>
                  <a:srgbClr val="21354D"/>
                </a:solidFill>
              </a:defRPr>
            </a:lvl8pPr>
            <a:lvl9pPr>
              <a:defRPr sz="1725" b="1">
                <a:solidFill>
                  <a:srgbClr val="21354D"/>
                </a:solidFill>
              </a:defRPr>
            </a:lvl9pPr>
          </a:lstStyle>
          <a:p>
            <a:pPr>
              <a:defRPr sz="1725" b="1">
                <a:solidFill>
                  <a:srgbClr val="21354D"/>
                </a:solidFill>
              </a:defRPr>
            </a:pPr>
            <a:r>
              <a:rPr sz="1725" b="1">
                <a:solidFill>
                  <a:srgbClr val="21354D"/>
                </a:solidFill>
              </a:rPr>
              <a:t>Access and delivery</a:t>
            </a:r>
          </a:p>
        </p:txBody>
      </p:sp>
      <p:sp>
        <p:nvSpPr>
          <p:cNvPr id="5" name="Rectangle 4">
            <a:extLst>
              <a:ext uri="{FF2B5EF4-FFF2-40B4-BE49-F238E27FC236}">
                <a16:creationId xmlns:a16="http://schemas.microsoft.com/office/drawing/2014/main" id="{9F21D973-86B3-4105-B883-4CEB771ACC40}"/>
              </a:ext>
            </a:extLst>
          </p:cNvPr>
          <p:cNvSpPr>
            <a:spLocks noGrp="1"/>
          </p:cNvSpPr>
          <p:nvPr/>
        </p:nvSpPr>
        <p:spPr>
          <a:xfrm>
            <a:off x="3619500" y="1676400"/>
            <a:ext cx="8096250" cy="590550"/>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Robots and CDN checks; SSR/pre-rendering; readable HTML; page speed and mobile experience.</a:t>
            </a:r>
          </a:p>
        </p:txBody>
      </p:sp>
      <p:sp>
        <p:nvSpPr>
          <p:cNvPr id="6" name="Rectangle 5">
            <a:extLst>
              <a:ext uri="{FF2B5EF4-FFF2-40B4-BE49-F238E27FC236}">
                <a16:creationId xmlns:a16="http://schemas.microsoft.com/office/drawing/2014/main" id="{48173914-3256-49CD-AE33-520EB7896B8A}"/>
              </a:ext>
            </a:extLst>
          </p:cNvPr>
          <p:cNvSpPr>
            <a:spLocks noGrp="1"/>
          </p:cNvSpPr>
          <p:nvPr/>
        </p:nvSpPr>
        <p:spPr>
          <a:xfrm>
            <a:off x="457200" y="2362200"/>
            <a:ext cx="2857500" cy="590550"/>
          </a:xfrm>
          <a:prstGeom prst="rect">
            <a:avLst/>
          </a:prstGeom>
          <a:noFill/>
          <a:ln w="0">
            <a:noFill/>
          </a:ln>
        </p:spPr>
        <p:txBody>
          <a:bodyPr anchor="ctr"/>
          <a:lstStyle>
            <a:defPPr>
              <a:defRPr sz="1725" b="1">
                <a:solidFill>
                  <a:srgbClr val="21354D"/>
                </a:solidFill>
              </a:defRPr>
            </a:defPPr>
            <a:lvl1pPr>
              <a:defRPr sz="1725" b="1">
                <a:solidFill>
                  <a:srgbClr val="21354D"/>
                </a:solidFill>
              </a:defRPr>
            </a:lvl1pPr>
            <a:lvl2pPr>
              <a:defRPr sz="1725" b="1">
                <a:solidFill>
                  <a:srgbClr val="21354D"/>
                </a:solidFill>
              </a:defRPr>
            </a:lvl2pPr>
            <a:lvl3pPr>
              <a:defRPr sz="1725" b="1">
                <a:solidFill>
                  <a:srgbClr val="21354D"/>
                </a:solidFill>
              </a:defRPr>
            </a:lvl3pPr>
            <a:lvl4pPr>
              <a:defRPr sz="1725" b="1">
                <a:solidFill>
                  <a:srgbClr val="21354D"/>
                </a:solidFill>
              </a:defRPr>
            </a:lvl4pPr>
            <a:lvl5pPr>
              <a:defRPr sz="1725" b="1">
                <a:solidFill>
                  <a:srgbClr val="21354D"/>
                </a:solidFill>
              </a:defRPr>
            </a:lvl5pPr>
            <a:lvl6pPr>
              <a:defRPr sz="1725" b="1">
                <a:solidFill>
                  <a:srgbClr val="21354D"/>
                </a:solidFill>
              </a:defRPr>
            </a:lvl6pPr>
            <a:lvl7pPr>
              <a:defRPr sz="1725" b="1">
                <a:solidFill>
                  <a:srgbClr val="21354D"/>
                </a:solidFill>
              </a:defRPr>
            </a:lvl7pPr>
            <a:lvl8pPr>
              <a:defRPr sz="1725" b="1">
                <a:solidFill>
                  <a:srgbClr val="21354D"/>
                </a:solidFill>
              </a:defRPr>
            </a:lvl8pPr>
            <a:lvl9pPr>
              <a:defRPr sz="1725" b="1">
                <a:solidFill>
                  <a:srgbClr val="21354D"/>
                </a:solidFill>
              </a:defRPr>
            </a:lvl9pPr>
          </a:lstStyle>
          <a:p>
            <a:pPr>
              <a:defRPr sz="1725" b="1">
                <a:solidFill>
                  <a:srgbClr val="21354D"/>
                </a:solidFill>
              </a:defRPr>
            </a:pPr>
            <a:r>
              <a:rPr sz="1725" b="1">
                <a:solidFill>
                  <a:srgbClr val="21354D"/>
                </a:solidFill>
              </a:rPr>
              <a:t>Discovery and relevance</a:t>
            </a:r>
          </a:p>
        </p:txBody>
      </p:sp>
      <p:sp>
        <p:nvSpPr>
          <p:cNvPr id="7" name="Rectangle 6">
            <a:extLst>
              <a:ext uri="{FF2B5EF4-FFF2-40B4-BE49-F238E27FC236}">
                <a16:creationId xmlns:a16="http://schemas.microsoft.com/office/drawing/2014/main" id="{A1C9BB8B-45A5-4DE7-BBA5-E1E337035AB1}"/>
              </a:ext>
            </a:extLst>
          </p:cNvPr>
          <p:cNvSpPr>
            <a:spLocks noGrp="1"/>
          </p:cNvSpPr>
          <p:nvPr/>
        </p:nvSpPr>
        <p:spPr>
          <a:xfrm>
            <a:off x="3619500" y="2362200"/>
            <a:ext cx="8096250" cy="590550"/>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Indexability, canonical URLs, sitemaps, internal links, intent coverage and genuinely useful titles.</a:t>
            </a:r>
          </a:p>
        </p:txBody>
      </p:sp>
      <p:sp>
        <p:nvSpPr>
          <p:cNvPr id="8" name="Rectangle 7">
            <a:extLst>
              <a:ext uri="{FF2B5EF4-FFF2-40B4-BE49-F238E27FC236}">
                <a16:creationId xmlns:a16="http://schemas.microsoft.com/office/drawing/2014/main" id="{8B67D5E6-F4CE-42D5-96EC-D5C02440E6F5}"/>
              </a:ext>
            </a:extLst>
          </p:cNvPr>
          <p:cNvSpPr>
            <a:spLocks noGrp="1"/>
          </p:cNvSpPr>
          <p:nvPr/>
        </p:nvSpPr>
        <p:spPr>
          <a:xfrm>
            <a:off x="457200" y="3048000"/>
            <a:ext cx="2857500" cy="590550"/>
          </a:xfrm>
          <a:prstGeom prst="rect">
            <a:avLst/>
          </a:prstGeom>
          <a:noFill/>
          <a:ln w="0">
            <a:noFill/>
          </a:ln>
        </p:spPr>
        <p:txBody>
          <a:bodyPr anchor="ctr"/>
          <a:lstStyle>
            <a:defPPr>
              <a:defRPr sz="1725" b="1">
                <a:solidFill>
                  <a:srgbClr val="21354D"/>
                </a:solidFill>
              </a:defRPr>
            </a:defPPr>
            <a:lvl1pPr>
              <a:defRPr sz="1725" b="1">
                <a:solidFill>
                  <a:srgbClr val="21354D"/>
                </a:solidFill>
              </a:defRPr>
            </a:lvl1pPr>
            <a:lvl2pPr>
              <a:defRPr sz="1725" b="1">
                <a:solidFill>
                  <a:srgbClr val="21354D"/>
                </a:solidFill>
              </a:defRPr>
            </a:lvl2pPr>
            <a:lvl3pPr>
              <a:defRPr sz="1725" b="1">
                <a:solidFill>
                  <a:srgbClr val="21354D"/>
                </a:solidFill>
              </a:defRPr>
            </a:lvl3pPr>
            <a:lvl4pPr>
              <a:defRPr sz="1725" b="1">
                <a:solidFill>
                  <a:srgbClr val="21354D"/>
                </a:solidFill>
              </a:defRPr>
            </a:lvl4pPr>
            <a:lvl5pPr>
              <a:defRPr sz="1725" b="1">
                <a:solidFill>
                  <a:srgbClr val="21354D"/>
                </a:solidFill>
              </a:defRPr>
            </a:lvl5pPr>
            <a:lvl6pPr>
              <a:defRPr sz="1725" b="1">
                <a:solidFill>
                  <a:srgbClr val="21354D"/>
                </a:solidFill>
              </a:defRPr>
            </a:lvl6pPr>
            <a:lvl7pPr>
              <a:defRPr sz="1725" b="1">
                <a:solidFill>
                  <a:srgbClr val="21354D"/>
                </a:solidFill>
              </a:defRPr>
            </a:lvl7pPr>
            <a:lvl8pPr>
              <a:defRPr sz="1725" b="1">
                <a:solidFill>
                  <a:srgbClr val="21354D"/>
                </a:solidFill>
              </a:defRPr>
            </a:lvl8pPr>
            <a:lvl9pPr>
              <a:defRPr sz="1725" b="1">
                <a:solidFill>
                  <a:srgbClr val="21354D"/>
                </a:solidFill>
              </a:defRPr>
            </a:lvl9pPr>
          </a:lstStyle>
          <a:p>
            <a:pPr>
              <a:defRPr sz="1725" b="1">
                <a:solidFill>
                  <a:srgbClr val="21354D"/>
                </a:solidFill>
              </a:defRPr>
            </a:pPr>
            <a:r>
              <a:rPr sz="1725" b="1">
                <a:solidFill>
                  <a:srgbClr val="21354D"/>
                </a:solidFill>
              </a:rPr>
              <a:t>Content and freshness</a:t>
            </a:r>
          </a:p>
        </p:txBody>
      </p:sp>
      <p:sp>
        <p:nvSpPr>
          <p:cNvPr id="9" name="Rectangle 8">
            <a:extLst>
              <a:ext uri="{FF2B5EF4-FFF2-40B4-BE49-F238E27FC236}">
                <a16:creationId xmlns:a16="http://schemas.microsoft.com/office/drawing/2014/main" id="{0F104B1A-6BBA-49BB-83ED-43D802C3D719}"/>
              </a:ext>
            </a:extLst>
          </p:cNvPr>
          <p:cNvSpPr>
            <a:spLocks noGrp="1"/>
          </p:cNvSpPr>
          <p:nvPr/>
        </p:nvSpPr>
        <p:spPr>
          <a:xfrm>
            <a:off x="3619500" y="3048000"/>
            <a:ext cx="8096250" cy="590550"/>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Approved facts, FAQs, named expertise, clear fare conditions, consistent offers and review dates.</a:t>
            </a:r>
          </a:p>
        </p:txBody>
      </p:sp>
      <p:sp>
        <p:nvSpPr>
          <p:cNvPr id="10" name="Rectangle 9">
            <a:extLst>
              <a:ext uri="{FF2B5EF4-FFF2-40B4-BE49-F238E27FC236}">
                <a16:creationId xmlns:a16="http://schemas.microsoft.com/office/drawing/2014/main" id="{A3A7DB57-65C2-464D-BEA2-E7AC68187323}"/>
              </a:ext>
            </a:extLst>
          </p:cNvPr>
          <p:cNvSpPr>
            <a:spLocks noGrp="1"/>
          </p:cNvSpPr>
          <p:nvPr/>
        </p:nvSpPr>
        <p:spPr>
          <a:xfrm>
            <a:off x="457200" y="3733800"/>
            <a:ext cx="2857500" cy="590550"/>
          </a:xfrm>
          <a:prstGeom prst="rect">
            <a:avLst/>
          </a:prstGeom>
          <a:noFill/>
          <a:ln w="0">
            <a:noFill/>
          </a:ln>
        </p:spPr>
        <p:txBody>
          <a:bodyPr anchor="ctr"/>
          <a:lstStyle>
            <a:defPPr>
              <a:defRPr sz="1725" b="1">
                <a:solidFill>
                  <a:srgbClr val="21354D"/>
                </a:solidFill>
              </a:defRPr>
            </a:defPPr>
            <a:lvl1pPr>
              <a:defRPr sz="1725" b="1">
                <a:solidFill>
                  <a:srgbClr val="21354D"/>
                </a:solidFill>
              </a:defRPr>
            </a:lvl1pPr>
            <a:lvl2pPr>
              <a:defRPr sz="1725" b="1">
                <a:solidFill>
                  <a:srgbClr val="21354D"/>
                </a:solidFill>
              </a:defRPr>
            </a:lvl2pPr>
            <a:lvl3pPr>
              <a:defRPr sz="1725" b="1">
                <a:solidFill>
                  <a:srgbClr val="21354D"/>
                </a:solidFill>
              </a:defRPr>
            </a:lvl3pPr>
            <a:lvl4pPr>
              <a:defRPr sz="1725" b="1">
                <a:solidFill>
                  <a:srgbClr val="21354D"/>
                </a:solidFill>
              </a:defRPr>
            </a:lvl4pPr>
            <a:lvl5pPr>
              <a:defRPr sz="1725" b="1">
                <a:solidFill>
                  <a:srgbClr val="21354D"/>
                </a:solidFill>
              </a:defRPr>
            </a:lvl5pPr>
            <a:lvl6pPr>
              <a:defRPr sz="1725" b="1">
                <a:solidFill>
                  <a:srgbClr val="21354D"/>
                </a:solidFill>
              </a:defRPr>
            </a:lvl6pPr>
            <a:lvl7pPr>
              <a:defRPr sz="1725" b="1">
                <a:solidFill>
                  <a:srgbClr val="21354D"/>
                </a:solidFill>
              </a:defRPr>
            </a:lvl7pPr>
            <a:lvl8pPr>
              <a:defRPr sz="1725" b="1">
                <a:solidFill>
                  <a:srgbClr val="21354D"/>
                </a:solidFill>
              </a:defRPr>
            </a:lvl8pPr>
            <a:lvl9pPr>
              <a:defRPr sz="1725" b="1">
                <a:solidFill>
                  <a:srgbClr val="21354D"/>
                </a:solidFill>
              </a:defRPr>
            </a:lvl9pPr>
          </a:lstStyle>
          <a:p>
            <a:pPr>
              <a:defRPr sz="1725" b="1">
                <a:solidFill>
                  <a:srgbClr val="21354D"/>
                </a:solidFill>
              </a:defRPr>
            </a:pPr>
            <a:r>
              <a:rPr sz="1725" b="1">
                <a:solidFill>
                  <a:srgbClr val="21354D"/>
                </a:solidFill>
              </a:rPr>
              <a:t>Structure and trust</a:t>
            </a:r>
          </a:p>
        </p:txBody>
      </p:sp>
      <p:sp>
        <p:nvSpPr>
          <p:cNvPr id="11" name="Rectangle 10">
            <a:extLst>
              <a:ext uri="{FF2B5EF4-FFF2-40B4-BE49-F238E27FC236}">
                <a16:creationId xmlns:a16="http://schemas.microsoft.com/office/drawing/2014/main" id="{B3050664-7735-42A4-A60B-11572B049EE0}"/>
              </a:ext>
            </a:extLst>
          </p:cNvPr>
          <p:cNvSpPr>
            <a:spLocks noGrp="1"/>
          </p:cNvSpPr>
          <p:nvPr/>
        </p:nvSpPr>
        <p:spPr>
          <a:xfrm>
            <a:off x="3619500" y="3733800"/>
            <a:ext cx="8096250" cy="590550"/>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Appropriate JSON-LD, visible-text consistency, accurate business profiles, genuine reviews and earned coverage.</a:t>
            </a:r>
          </a:p>
        </p:txBody>
      </p:sp>
      <p:sp>
        <p:nvSpPr>
          <p:cNvPr id="12" name="Rectangle 11">
            <a:extLst>
              <a:ext uri="{FF2B5EF4-FFF2-40B4-BE49-F238E27FC236}">
                <a16:creationId xmlns:a16="http://schemas.microsoft.com/office/drawing/2014/main" id="{4A10BD5F-60CC-450B-850C-019C5A0EE8D6}"/>
              </a:ext>
            </a:extLst>
          </p:cNvPr>
          <p:cNvSpPr>
            <a:spLocks noGrp="1"/>
          </p:cNvSpPr>
          <p:nvPr/>
        </p:nvSpPr>
        <p:spPr>
          <a:xfrm>
            <a:off x="457200" y="4419600"/>
            <a:ext cx="2857500" cy="590550"/>
          </a:xfrm>
          <a:prstGeom prst="rect">
            <a:avLst/>
          </a:prstGeom>
          <a:noFill/>
          <a:ln w="0">
            <a:noFill/>
          </a:ln>
        </p:spPr>
        <p:txBody>
          <a:bodyPr anchor="ctr"/>
          <a:lstStyle>
            <a:defPPr>
              <a:defRPr sz="1725" b="1">
                <a:solidFill>
                  <a:srgbClr val="21354D"/>
                </a:solidFill>
              </a:defRPr>
            </a:defPPr>
            <a:lvl1pPr>
              <a:defRPr sz="1725" b="1">
                <a:solidFill>
                  <a:srgbClr val="21354D"/>
                </a:solidFill>
              </a:defRPr>
            </a:lvl1pPr>
            <a:lvl2pPr>
              <a:defRPr sz="1725" b="1">
                <a:solidFill>
                  <a:srgbClr val="21354D"/>
                </a:solidFill>
              </a:defRPr>
            </a:lvl2pPr>
            <a:lvl3pPr>
              <a:defRPr sz="1725" b="1">
                <a:solidFill>
                  <a:srgbClr val="21354D"/>
                </a:solidFill>
              </a:defRPr>
            </a:lvl3pPr>
            <a:lvl4pPr>
              <a:defRPr sz="1725" b="1">
                <a:solidFill>
                  <a:srgbClr val="21354D"/>
                </a:solidFill>
              </a:defRPr>
            </a:lvl4pPr>
            <a:lvl5pPr>
              <a:defRPr sz="1725" b="1">
                <a:solidFill>
                  <a:srgbClr val="21354D"/>
                </a:solidFill>
              </a:defRPr>
            </a:lvl5pPr>
            <a:lvl6pPr>
              <a:defRPr sz="1725" b="1">
                <a:solidFill>
                  <a:srgbClr val="21354D"/>
                </a:solidFill>
              </a:defRPr>
            </a:lvl6pPr>
            <a:lvl7pPr>
              <a:defRPr sz="1725" b="1">
                <a:solidFill>
                  <a:srgbClr val="21354D"/>
                </a:solidFill>
              </a:defRPr>
            </a:lvl7pPr>
            <a:lvl8pPr>
              <a:defRPr sz="1725" b="1">
                <a:solidFill>
                  <a:srgbClr val="21354D"/>
                </a:solidFill>
              </a:defRPr>
            </a:lvl8pPr>
            <a:lvl9pPr>
              <a:defRPr sz="1725" b="1">
                <a:solidFill>
                  <a:srgbClr val="21354D"/>
                </a:solidFill>
              </a:defRPr>
            </a:lvl9pPr>
          </a:lstStyle>
          <a:p>
            <a:pPr>
              <a:defRPr sz="1725" b="1">
                <a:solidFill>
                  <a:srgbClr val="21354D"/>
                </a:solidFill>
              </a:defRPr>
            </a:pPr>
            <a:r>
              <a:rPr sz="1725" b="1">
                <a:solidFill>
                  <a:srgbClr val="21354D"/>
                </a:solidFill>
              </a:rPr>
              <a:t>Media and other channels</a:t>
            </a:r>
          </a:p>
        </p:txBody>
      </p:sp>
      <p:sp>
        <p:nvSpPr>
          <p:cNvPr id="13" name="Rectangle 12">
            <a:extLst>
              <a:ext uri="{FF2B5EF4-FFF2-40B4-BE49-F238E27FC236}">
                <a16:creationId xmlns:a16="http://schemas.microsoft.com/office/drawing/2014/main" id="{C2AA90BF-E12D-46EE-A3A2-9EB6E660CAD6}"/>
              </a:ext>
            </a:extLst>
          </p:cNvPr>
          <p:cNvSpPr>
            <a:spLocks noGrp="1"/>
          </p:cNvSpPr>
          <p:nvPr/>
        </p:nvSpPr>
        <p:spPr>
          <a:xfrm>
            <a:off x="3619500" y="4419600"/>
            <a:ext cx="8096250" cy="590550"/>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Useful images/video with accessible descriptions; accurate store, adviser and third-party information.</a:t>
            </a:r>
          </a:p>
        </p:txBody>
      </p:sp>
      <p:sp>
        <p:nvSpPr>
          <p:cNvPr id="14" name="Rectangle 13">
            <a:extLst>
              <a:ext uri="{FF2B5EF4-FFF2-40B4-BE49-F238E27FC236}">
                <a16:creationId xmlns:a16="http://schemas.microsoft.com/office/drawing/2014/main" id="{4F07FD8F-D4CE-43B0-B63D-B38FE04C7B98}"/>
              </a:ext>
            </a:extLst>
          </p:cNvPr>
          <p:cNvSpPr>
            <a:spLocks noGrp="1"/>
          </p:cNvSpPr>
          <p:nvPr/>
        </p:nvSpPr>
        <p:spPr>
          <a:xfrm>
            <a:off x="457200" y="5105400"/>
            <a:ext cx="2857500" cy="590550"/>
          </a:xfrm>
          <a:prstGeom prst="rect">
            <a:avLst/>
          </a:prstGeom>
          <a:noFill/>
          <a:ln w="0">
            <a:noFill/>
          </a:ln>
        </p:spPr>
        <p:txBody>
          <a:bodyPr anchor="ctr"/>
          <a:lstStyle>
            <a:defPPr>
              <a:defRPr sz="1725" b="1">
                <a:solidFill>
                  <a:srgbClr val="21354D"/>
                </a:solidFill>
              </a:defRPr>
            </a:defPPr>
            <a:lvl1pPr>
              <a:defRPr sz="1725" b="1">
                <a:solidFill>
                  <a:srgbClr val="21354D"/>
                </a:solidFill>
              </a:defRPr>
            </a:lvl1pPr>
            <a:lvl2pPr>
              <a:defRPr sz="1725" b="1">
                <a:solidFill>
                  <a:srgbClr val="21354D"/>
                </a:solidFill>
              </a:defRPr>
            </a:lvl2pPr>
            <a:lvl3pPr>
              <a:defRPr sz="1725" b="1">
                <a:solidFill>
                  <a:srgbClr val="21354D"/>
                </a:solidFill>
              </a:defRPr>
            </a:lvl3pPr>
            <a:lvl4pPr>
              <a:defRPr sz="1725" b="1">
                <a:solidFill>
                  <a:srgbClr val="21354D"/>
                </a:solidFill>
              </a:defRPr>
            </a:lvl4pPr>
            <a:lvl5pPr>
              <a:defRPr sz="1725" b="1">
                <a:solidFill>
                  <a:srgbClr val="21354D"/>
                </a:solidFill>
              </a:defRPr>
            </a:lvl5pPr>
            <a:lvl6pPr>
              <a:defRPr sz="1725" b="1">
                <a:solidFill>
                  <a:srgbClr val="21354D"/>
                </a:solidFill>
              </a:defRPr>
            </a:lvl6pPr>
            <a:lvl7pPr>
              <a:defRPr sz="1725" b="1">
                <a:solidFill>
                  <a:srgbClr val="21354D"/>
                </a:solidFill>
              </a:defRPr>
            </a:lvl7pPr>
            <a:lvl8pPr>
              <a:defRPr sz="1725" b="1">
                <a:solidFill>
                  <a:srgbClr val="21354D"/>
                </a:solidFill>
              </a:defRPr>
            </a:lvl8pPr>
            <a:lvl9pPr>
              <a:defRPr sz="1725" b="1">
                <a:solidFill>
                  <a:srgbClr val="21354D"/>
                </a:solidFill>
              </a:defRPr>
            </a:lvl9pPr>
          </a:lstStyle>
          <a:p>
            <a:pPr>
              <a:defRPr sz="1725" b="1">
                <a:solidFill>
                  <a:srgbClr val="21354D"/>
                </a:solidFill>
              </a:defRPr>
            </a:pPr>
            <a:r>
              <a:rPr sz="1725" b="1">
                <a:solidFill>
                  <a:srgbClr val="21354D"/>
                </a:solidFill>
              </a:rPr>
              <a:t>Apps and ongoing measurement</a:t>
            </a:r>
          </a:p>
        </p:txBody>
      </p:sp>
      <p:sp>
        <p:nvSpPr>
          <p:cNvPr id="15" name="Rectangle 14">
            <a:extLst>
              <a:ext uri="{FF2B5EF4-FFF2-40B4-BE49-F238E27FC236}">
                <a16:creationId xmlns:a16="http://schemas.microsoft.com/office/drawing/2014/main" id="{278584A2-5193-4815-9E0B-F7958EF42C0F}"/>
              </a:ext>
            </a:extLst>
          </p:cNvPr>
          <p:cNvSpPr>
            <a:spLocks noGrp="1"/>
          </p:cNvSpPr>
          <p:nvPr/>
        </p:nvSpPr>
        <p:spPr>
          <a:xfrm>
            <a:off x="3619500" y="5105400"/>
            <a:ext cx="8096250" cy="590550"/>
          </a:xfrm>
          <a:prstGeom prst="rect">
            <a:avLst/>
          </a:prstGeom>
          <a:noFill/>
          <a:ln w="0">
            <a:noFill/>
          </a:ln>
        </p:spPr>
        <p:txBody>
          <a:bodyPr anchor="ctr"/>
          <a:lstStyle>
            <a:defPPr>
              <a:defRPr sz="1725" b="0">
                <a:solidFill>
                  <a:srgbClr val="21354D"/>
                </a:solidFill>
              </a:defRPr>
            </a:defPPr>
            <a:lvl1pPr>
              <a:defRPr sz="1725" b="0">
                <a:solidFill>
                  <a:srgbClr val="21354D"/>
                </a:solidFill>
              </a:defRPr>
            </a:lvl1pPr>
            <a:lvl2pPr>
              <a:defRPr sz="1725" b="0">
                <a:solidFill>
                  <a:srgbClr val="21354D"/>
                </a:solidFill>
              </a:defRPr>
            </a:lvl2pPr>
            <a:lvl3pPr>
              <a:defRPr sz="1725" b="0">
                <a:solidFill>
                  <a:srgbClr val="21354D"/>
                </a:solidFill>
              </a:defRPr>
            </a:lvl3pPr>
            <a:lvl4pPr>
              <a:defRPr sz="1725" b="0">
                <a:solidFill>
                  <a:srgbClr val="21354D"/>
                </a:solidFill>
              </a:defRPr>
            </a:lvl4pPr>
            <a:lvl5pPr>
              <a:defRPr sz="1725" b="0">
                <a:solidFill>
                  <a:srgbClr val="21354D"/>
                </a:solidFill>
              </a:defRPr>
            </a:lvl5pPr>
            <a:lvl6pPr>
              <a:defRPr sz="1725" b="0">
                <a:solidFill>
                  <a:srgbClr val="21354D"/>
                </a:solidFill>
              </a:defRPr>
            </a:lvl6pPr>
            <a:lvl7pPr>
              <a:defRPr sz="1725" b="0">
                <a:solidFill>
                  <a:srgbClr val="21354D"/>
                </a:solidFill>
              </a:defRPr>
            </a:lvl7pPr>
            <a:lvl8pPr>
              <a:defRPr sz="1725" b="0">
                <a:solidFill>
                  <a:srgbClr val="21354D"/>
                </a:solidFill>
              </a:defRPr>
            </a:lvl8pPr>
            <a:lvl9pPr>
              <a:defRPr sz="1725" b="0">
                <a:solidFill>
                  <a:srgbClr val="21354D"/>
                </a:solidFill>
              </a:defRPr>
            </a:lvl9pPr>
          </a:lstStyle>
          <a:p>
            <a:pPr>
              <a:defRPr sz="1725" b="0">
                <a:solidFill>
                  <a:srgbClr val="21354D"/>
                </a:solidFill>
              </a:defRPr>
            </a:pPr>
            <a:r>
              <a:rPr sz="1725" b="0">
                <a:solidFill>
                  <a:srgbClr val="21354D"/>
                </a:solidFill>
              </a:rPr>
              <a:t>Assess supported app/API/MCP use cases, country eligibility, consent, inventory and handoff. Monitor outcomes.</a:t>
            </a:r>
          </a:p>
        </p:txBody>
      </p:sp>
      <p:sp>
        <p:nvSpPr>
          <p:cNvPr id="16" name="Rectangle 15">
            <a:extLst>
              <a:ext uri="{FF2B5EF4-FFF2-40B4-BE49-F238E27FC236}">
                <a16:creationId xmlns:a16="http://schemas.microsoft.com/office/drawing/2014/main" id="{5643ADFD-9B47-4556-B065-E67FB1387553}"/>
              </a:ext>
            </a:extLst>
          </p:cNvPr>
          <p:cNvSpPr>
            <a:spLocks noGrp="1"/>
          </p:cNvSpPr>
          <p:nvPr/>
        </p:nvSpPr>
        <p:spPr>
          <a:xfrm>
            <a:off x="457200" y="5876925"/>
            <a:ext cx="11239500" cy="428625"/>
          </a:xfrm>
          <a:prstGeom prst="rect">
            <a:avLst/>
          </a:prstGeom>
          <a:noFill/>
          <a:ln w="0">
            <a:noFill/>
          </a:ln>
        </p:spPr>
        <p:txBody>
          <a:bodyPr anchor="ctr"/>
          <a:lstStyle>
            <a:defPPr>
              <a:defRPr sz="1650" b="0">
                <a:solidFill>
                  <a:srgbClr val="ED193A"/>
                </a:solidFill>
              </a:defRPr>
            </a:defPPr>
            <a:lvl1pPr>
              <a:defRPr sz="1650" b="0">
                <a:solidFill>
                  <a:srgbClr val="ED193A"/>
                </a:solidFill>
              </a:defRPr>
            </a:lvl1pPr>
            <a:lvl2pPr>
              <a:defRPr sz="1650" b="0">
                <a:solidFill>
                  <a:srgbClr val="ED193A"/>
                </a:solidFill>
              </a:defRPr>
            </a:lvl2pPr>
            <a:lvl3pPr>
              <a:defRPr sz="1650" b="0">
                <a:solidFill>
                  <a:srgbClr val="ED193A"/>
                </a:solidFill>
              </a:defRPr>
            </a:lvl3pPr>
            <a:lvl4pPr>
              <a:defRPr sz="1650" b="0">
                <a:solidFill>
                  <a:srgbClr val="ED193A"/>
                </a:solidFill>
              </a:defRPr>
            </a:lvl4pPr>
            <a:lvl5pPr>
              <a:defRPr sz="1650" b="0">
                <a:solidFill>
                  <a:srgbClr val="ED193A"/>
                </a:solidFill>
              </a:defRPr>
            </a:lvl5pPr>
            <a:lvl6pPr>
              <a:defRPr sz="1650" b="0">
                <a:solidFill>
                  <a:srgbClr val="ED193A"/>
                </a:solidFill>
              </a:defRPr>
            </a:lvl6pPr>
            <a:lvl7pPr>
              <a:defRPr sz="1650" b="0">
                <a:solidFill>
                  <a:srgbClr val="ED193A"/>
                </a:solidFill>
              </a:defRPr>
            </a:lvl7pPr>
            <a:lvl8pPr>
              <a:defRPr sz="1650" b="0">
                <a:solidFill>
                  <a:srgbClr val="ED193A"/>
                </a:solidFill>
              </a:defRPr>
            </a:lvl8pPr>
            <a:lvl9pPr>
              <a:defRPr sz="1650" b="0">
                <a:solidFill>
                  <a:srgbClr val="ED193A"/>
                </a:solidFill>
              </a:defRPr>
            </a:lvl9pPr>
          </a:lstStyle>
          <a:p>
            <a:pPr>
              <a:defRPr sz="1650" b="0">
                <a:solidFill>
                  <a:srgbClr val="ED193A"/>
                </a:solidFill>
              </a:defRPr>
            </a:pPr>
            <a:r>
              <a:rPr sz="1650" b="0">
                <a:solidFill>
                  <a:srgbClr val="ED193A"/>
                </a:solidFill>
              </a:rPr>
              <a:t>Low priority: special AI files, arbitrary chunk sizes, mass rewriting or manufactured mentions without demonstrated value.</a:t>
            </a:r>
          </a:p>
        </p:txBody>
      </p:sp>
    </p:spTree>
    <p:extLst>
      <p:ext uri="{BB962C8B-B14F-4D97-AF65-F5344CB8AC3E}">
        <p14:creationId xmlns:p14="http://schemas.microsoft.com/office/powerpoint/2010/main" val="12679394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10688</Words>
  <Application>Microsoft Office PowerPoint</Application>
  <PresentationFormat>Widescreen</PresentationFormat>
  <Paragraphs>895</Paragraphs>
  <Slides>35</Slides>
  <Notes>32</Notes>
  <HiddenSlides>13</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Muhammad Mubbashar</cp:lastModifiedBy>
  <cp:revision>3</cp:revision>
  <dcterms:created xsi:type="dcterms:W3CDTF">2013-01-27T09:14:16Z</dcterms:created>
  <dcterms:modified xsi:type="dcterms:W3CDTF">2026-10-25T11:39:32Z</dcterms:modified>
  <cp:category/>
</cp:coreProperties>
</file>