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100" b="1" i="0">
                <a:solidFill>
                  <a:srgbClr val="0B2240"/>
                </a:solidFill>
                <a:latin typeface="Calibri"/>
              </a:rPr>
              <a:t>Change vs original pages (114 of 290 citing in the method round), percentage points</a:t>
            </a:r>
          </a:p>
        </c:rich>
      </c:tx>
      <c:overlay val="0"/>
    </c:title>
    <c:autoTitleDeleted val="0"/>
    <c:plotArea>
      <c:layout/>
      <c:barChart>
        <c:barDir val="bar"/>
        <c:grouping val="clustered"/>
        <c:varyColors val="1"/>
        <c:ser>
          <c:idx val="0"/>
          <c:order val="0"/>
          <c:tx>
            <c:strRef>
              <c:f>Sheet1!$B$1</c:f>
              <c:strCache>
                <c:ptCount val="1"/>
                <c:pt idx="0">
                  <c:v>Change in answers citing FC (percentage points)</c:v>
                </c:pt>
              </c:strCache>
            </c:strRef>
          </c:tx>
          <c:invertIfNegative val="0"/>
          <c:dPt>
            <c:idx val="0"/>
            <c:invertIfNegative val="0"/>
            <c:bubble3D val="0"/>
            <c:spPr>
              <a:solidFill>
                <a:srgbClr val="C8102E"/>
              </a:solidFill>
            </c:spPr>
            <c:extLst>
              <c:ext xmlns:c16="http://schemas.microsoft.com/office/drawing/2014/chart" uri="{C3380CC4-5D6E-409C-BE32-E72D297353CC}">
                <c16:uniqueId val="{00000001-EDCC-4224-BEEB-E529985EA06C}"/>
              </c:ext>
            </c:extLst>
          </c:dPt>
          <c:dPt>
            <c:idx val="1"/>
            <c:invertIfNegative val="0"/>
            <c:bubble3D val="0"/>
            <c:spPr>
              <a:solidFill>
                <a:srgbClr val="9FB3CC"/>
              </a:solidFill>
            </c:spPr>
            <c:extLst>
              <c:ext xmlns:c16="http://schemas.microsoft.com/office/drawing/2014/chart" uri="{C3380CC4-5D6E-409C-BE32-E72D297353CC}">
                <c16:uniqueId val="{00000003-EDCC-4224-BEEB-E529985EA06C}"/>
              </c:ext>
            </c:extLst>
          </c:dPt>
          <c:dPt>
            <c:idx val="2"/>
            <c:invertIfNegative val="0"/>
            <c:bubble3D val="0"/>
            <c:spPr>
              <a:solidFill>
                <a:srgbClr val="9FB3CC"/>
              </a:solidFill>
            </c:spPr>
            <c:extLst>
              <c:ext xmlns:c16="http://schemas.microsoft.com/office/drawing/2014/chart" uri="{C3380CC4-5D6E-409C-BE32-E72D297353CC}">
                <c16:uniqueId val="{00000005-EDCC-4224-BEEB-E529985EA06C}"/>
              </c:ext>
            </c:extLst>
          </c:dPt>
          <c:dPt>
            <c:idx val="3"/>
            <c:invertIfNegative val="0"/>
            <c:bubble3D val="0"/>
            <c:spPr>
              <a:solidFill>
                <a:srgbClr val="0B2240"/>
              </a:solidFill>
            </c:spPr>
            <c:extLst>
              <c:ext xmlns:c16="http://schemas.microsoft.com/office/drawing/2014/chart" uri="{C3380CC4-5D6E-409C-BE32-E72D297353CC}">
                <c16:uniqueId val="{00000007-EDCC-4224-BEEB-E529985EA06C}"/>
              </c:ext>
            </c:extLst>
          </c:dPt>
          <c:dPt>
            <c:idx val="4"/>
            <c:invertIfNegative val="0"/>
            <c:bubble3D val="0"/>
            <c:spPr>
              <a:solidFill>
                <a:srgbClr val="0B2240"/>
              </a:solidFill>
            </c:spPr>
            <c:extLst>
              <c:ext xmlns:c16="http://schemas.microsoft.com/office/drawing/2014/chart" uri="{C3380CC4-5D6E-409C-BE32-E72D297353CC}">
                <c16:uniqueId val="{00000009-EDCC-4224-BEEB-E529985EA06C}"/>
              </c:ext>
            </c:extLst>
          </c:dPt>
          <c:dPt>
            <c:idx val="5"/>
            <c:invertIfNegative val="0"/>
            <c:bubble3D val="0"/>
            <c:spPr>
              <a:solidFill>
                <a:srgbClr val="0B2240"/>
              </a:solidFill>
            </c:spPr>
            <c:extLst>
              <c:ext xmlns:c16="http://schemas.microsoft.com/office/drawing/2014/chart" uri="{C3380CC4-5D6E-409C-BE32-E72D297353CC}">
                <c16:uniqueId val="{0000000B-EDCC-4224-BEEB-E529985EA06C}"/>
              </c:ext>
            </c:extLst>
          </c:dPt>
          <c:dPt>
            <c:idx val="6"/>
            <c:invertIfNegative val="0"/>
            <c:bubble3D val="0"/>
            <c:spPr>
              <a:solidFill>
                <a:srgbClr val="5B6573"/>
              </a:solidFill>
            </c:spPr>
            <c:extLst>
              <c:ext xmlns:c16="http://schemas.microsoft.com/office/drawing/2014/chart" uri="{C3380CC4-5D6E-409C-BE32-E72D297353CC}">
                <c16:uniqueId val="{0000000D-EDCC-4224-BEEB-E529985EA06C}"/>
              </c:ext>
            </c:extLst>
          </c:dPt>
          <c:dLbls>
            <c:numFmt formatCode="\+0.0;\-0.0" sourceLinked="0"/>
            <c:spPr>
              <a:noFill/>
              <a:ln>
                <a:noFill/>
              </a:ln>
              <a:effectLst/>
            </c:spPr>
            <c:txPr>
              <a:bodyPr/>
              <a:lstStyle/>
              <a:p>
                <a:pPr>
                  <a:defRPr sz="1100" b="1">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Automatic AI rewriting</c:v>
                </c:pt>
                <c:pt idx="1">
                  <c:v>External facts + attribution</c:v>
                </c:pt>
                <c:pt idx="2">
                  <c:v>Schema + visible structure</c:v>
                </c:pt>
                <c:pt idx="3">
                  <c:v>Rendered content + cleanup</c:v>
                </c:pt>
                <c:pt idx="4">
                  <c:v>Grounded FAQ</c:v>
                </c:pt>
                <c:pt idx="5">
                  <c:v>Structured facts</c:v>
                </c:pt>
                <c:pt idx="6">
                  <c:v>Source position (benchmark only)</c:v>
                </c:pt>
              </c:strCache>
            </c:strRef>
          </c:cat>
          <c:val>
            <c:numRef>
              <c:f>Sheet1!$B$2:$B$8</c:f>
              <c:numCache>
                <c:formatCode>General</c:formatCode>
                <c:ptCount val="7"/>
                <c:pt idx="0">
                  <c:v>-5.5</c:v>
                </c:pt>
                <c:pt idx="1">
                  <c:v>3.4</c:v>
                </c:pt>
                <c:pt idx="2">
                  <c:v>6.2</c:v>
                </c:pt>
                <c:pt idx="3">
                  <c:v>6.6</c:v>
                </c:pt>
                <c:pt idx="4">
                  <c:v>6.9</c:v>
                </c:pt>
                <c:pt idx="5">
                  <c:v>7.6</c:v>
                </c:pt>
                <c:pt idx="6">
                  <c:v>18.3</c:v>
                </c:pt>
              </c:numCache>
            </c:numRef>
          </c:val>
          <c:extLst>
            <c:ext xmlns:c16="http://schemas.microsoft.com/office/drawing/2014/chart" uri="{C3380CC4-5D6E-409C-BE32-E72D297353CC}">
              <c16:uniqueId val="{0000000E-EDCC-4224-BEEB-E529985EA06C}"/>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low"/>
        <c:spPr>
          <a:ln>
            <a:solidFill>
              <a:srgbClr val="D9DEE5"/>
            </a:solidFill>
          </a:ln>
        </c:spPr>
        <c:txPr>
          <a:bodyPr/>
          <a:lstStyle/>
          <a:p>
            <a:pPr>
              <a:defRPr sz="1100">
                <a:latin typeface="Calibri"/>
              </a:defRPr>
            </a:pPr>
            <a:endParaRPr lang="en-US"/>
          </a:p>
        </c:txPr>
        <c:crossAx val="-2113994440"/>
        <c:crosses val="autoZero"/>
        <c:auto val="1"/>
        <c:lblAlgn val="ctr"/>
        <c:lblOffset val="100"/>
        <c:noMultiLvlLbl val="0"/>
      </c:catAx>
      <c:valAx>
        <c:axId val="-2113994440"/>
        <c:scaling>
          <c:orientation val="minMax"/>
          <c:max val="25"/>
          <c:min val="-10"/>
        </c:scaling>
        <c:delete val="0"/>
        <c:axPos val="b"/>
        <c:majorGridlines>
          <c:spPr>
            <a:ln>
              <a:solidFill>
                <a:srgbClr val="D9DEE5"/>
              </a:solidFill>
            </a:ln>
          </c:spPr>
        </c:majorGridlines>
        <c:numFmt formatCode="0" sourceLinked="0"/>
        <c:majorTickMark val="out"/>
        <c:minorTickMark val="none"/>
        <c:tickLblPos val="nextTo"/>
        <c:spPr>
          <a:ln>
            <a:solidFill>
              <a:srgbClr val="D9DEE5"/>
            </a:solidFill>
          </a:ln>
        </c:spPr>
        <c:txPr>
          <a:bodyPr/>
          <a:lstStyle/>
          <a:p>
            <a:pPr>
              <a:defRPr sz="1000">
                <a:latin typeface="Calibri"/>
              </a:defRPr>
            </a:pPr>
            <a:endParaRPr lang="en-US"/>
          </a:p>
        </c:txPr>
        <c:crossAx val="-2068027336"/>
        <c:crosses val="autoZero"/>
        <c:crossBetween val="between"/>
        <c:majorUnit val="5"/>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100" b="1" i="0">
                <a:solidFill>
                  <a:srgbClr val="0B2240"/>
                </a:solidFill>
                <a:latin typeface="Calibri"/>
              </a:rPr>
              <a:t>Share of 290 answers citing Flight Centre (%)</a:t>
            </a:r>
          </a:p>
        </c:rich>
      </c:tx>
      <c:overlay val="0"/>
    </c:title>
    <c:autoTitleDeleted val="0"/>
    <c:plotArea>
      <c:layout/>
      <c:barChart>
        <c:barDir val="col"/>
        <c:grouping val="clustered"/>
        <c:varyColors val="1"/>
        <c:ser>
          <c:idx val="0"/>
          <c:order val="0"/>
          <c:tx>
            <c:strRef>
              <c:f>Sheet1!$B$1</c:f>
              <c:strCache>
                <c:ptCount val="1"/>
                <c:pt idx="0">
                  <c:v>Share of 290 answers citing Flight Centre</c:v>
                </c:pt>
              </c:strCache>
            </c:strRef>
          </c:tx>
          <c:invertIfNegative val="1"/>
          <c:dPt>
            <c:idx val="0"/>
            <c:invertIfNegative val="1"/>
            <c:bubble3D val="0"/>
            <c:spPr>
              <a:solidFill>
                <a:srgbClr val="5B6573"/>
              </a:solidFill>
            </c:spPr>
            <c:extLst>
              <c:ext xmlns:c16="http://schemas.microsoft.com/office/drawing/2014/chart" uri="{C3380CC4-5D6E-409C-BE32-E72D297353CC}">
                <c16:uniqueId val="{00000001-8509-40D3-B8A8-DFE76FB6DA3D}"/>
              </c:ext>
            </c:extLst>
          </c:dPt>
          <c:dPt>
            <c:idx val="1"/>
            <c:invertIfNegative val="1"/>
            <c:bubble3D val="0"/>
            <c:spPr>
              <a:solidFill>
                <a:srgbClr val="1E7A46"/>
              </a:solidFill>
            </c:spPr>
            <c:extLst>
              <c:ext xmlns:c16="http://schemas.microsoft.com/office/drawing/2014/chart" uri="{C3380CC4-5D6E-409C-BE32-E72D297353CC}">
                <c16:uniqueId val="{00000003-8509-40D3-B8A8-DFE76FB6DA3D}"/>
              </c:ext>
            </c:extLst>
          </c:dPt>
          <c:dLbls>
            <c:numFmt formatCode="0.0&quot;%&quot;" sourceLinked="0"/>
            <c:spPr>
              <a:noFill/>
              <a:ln>
                <a:noFill/>
              </a:ln>
              <a:effectLst/>
            </c:spPr>
            <c:txPr>
              <a:bodyPr/>
              <a:lstStyle/>
              <a:p>
                <a:pPr>
                  <a:defRPr sz="1600" b="1">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Baseline FC pages</c:v>
                </c:pt>
                <c:pt idx="1">
                  <c:v>Optimised FC pages</c:v>
                </c:pt>
              </c:strCache>
            </c:strRef>
          </c:cat>
          <c:val>
            <c:numRef>
              <c:f>Sheet1!$B$2:$B$3</c:f>
              <c:numCache>
                <c:formatCode>General</c:formatCode>
                <c:ptCount val="2"/>
                <c:pt idx="0">
                  <c:v>40</c:v>
                </c:pt>
                <c:pt idx="1">
                  <c:v>52.4</c:v>
                </c:pt>
              </c:numCache>
            </c:numRef>
          </c:val>
          <c:extLst>
            <c:ext xmlns:c16="http://schemas.microsoft.com/office/drawing/2014/chart" uri="{C3380CC4-5D6E-409C-BE32-E72D297353CC}">
              <c16:uniqueId val="{00000004-8509-40D3-B8A8-DFE76FB6DA3D}"/>
            </c:ext>
          </c:extLst>
        </c:ser>
        <c:dLbls>
          <c:dLblPos val="outEnd"/>
          <c:showLegendKey val="0"/>
          <c:showVal val="1"/>
          <c:showCatName val="0"/>
          <c:showSerName val="0"/>
          <c:showPercent val="0"/>
          <c:showBubbleSize val="0"/>
        </c:dLbls>
        <c:gapWidth val="9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EE5"/>
            </a:solidFill>
          </a:ln>
        </c:spPr>
        <c:txPr>
          <a:bodyPr/>
          <a:lstStyle/>
          <a:p>
            <a:pPr>
              <a:defRPr sz="1200">
                <a:latin typeface="Calibri"/>
              </a:defRPr>
            </a:pPr>
            <a:endParaRPr lang="en-US"/>
          </a:p>
        </c:txPr>
        <c:crossAx val="-2113994440"/>
        <c:crosses val="autoZero"/>
        <c:auto val="1"/>
        <c:lblAlgn val="ctr"/>
        <c:lblOffset val="100"/>
        <c:noMultiLvlLbl val="0"/>
      </c:catAx>
      <c:valAx>
        <c:axId val="-2113994440"/>
        <c:scaling>
          <c:orientation val="minMax"/>
          <c:max val="70"/>
          <c:min val="0"/>
        </c:scaling>
        <c:delete val="0"/>
        <c:axPos val="l"/>
        <c:majorGridlines>
          <c:spPr>
            <a:ln>
              <a:solidFill>
                <a:srgbClr val="D9DEE5"/>
              </a:solidFill>
            </a:ln>
          </c:spPr>
        </c:majorGridlines>
        <c:numFmt formatCode="General" sourceLinked="1"/>
        <c:majorTickMark val="out"/>
        <c:minorTickMark val="none"/>
        <c:tickLblPos val="nextTo"/>
        <c:spPr>
          <a:ln>
            <a:solidFill>
              <a:srgbClr val="D9DEE5"/>
            </a:solidFill>
          </a:ln>
        </c:spPr>
        <c:txPr>
          <a:bodyPr/>
          <a:lstStyle/>
          <a:p>
            <a:pPr>
              <a:defRPr sz="1000">
                <a:latin typeface="Calibri"/>
              </a:defRPr>
            </a:pPr>
            <a:endParaRPr lang="en-US"/>
          </a:p>
        </c:txPr>
        <c:crossAx val="-2068027336"/>
        <c:crosses val="autoZero"/>
        <c:crossBetween val="between"/>
        <c:majorUnit val="10"/>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21010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[0:00–0:30] Open with one sentence: 'Customers are starting to ask an assistant instead of a search box, and today the assistant rarely names Flight Centre unless the customer does. We measured why, we fixed one part of it in a controlled test, and we have a programme to do the rest.'</a:t>
            </a:r>
          </a:p>
          <a:p>
            <a:r>
              <a:t>Then go straight to slide 2.</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priorities: improve discovery coverage and improve the content an engine can read. The selected saved-source comparison increased citation inclusion from 116 to 152 of 290 answers. This is exploratory evidence, not a live business forecast. Implementation owners are proposals.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Phocuswright 56% figure refers to reported use on at least one trip in the preceding 12 months, not solely during H1 2026. Adoption and referral studies use different populations and denominators. Pew measures observed click differences, not our causal effect. Sources: https://www.phocuswright.com/Travel-Research/Research-Updates/2026/The-fastest-shift-in-travel-behavior-just-became-the-default ; https://business.adobe.com/resources/sdk/ai-traffic-trends-report-august-2026.html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direct apps as an additional distribution route. Public crawling is not a prerequisite for a direct API integration. FC has online booking as well as human advice; we have not established that all current customer paths are inaccessible to assistants. Availability varies by market.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dated samples, not proof of universal brand absence. The May score is a word-share measure, not our answer-level citation metric. Best rank across query wordings is not an organic production ranking. Robots permissions do not establish successful crawler access.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Separate being retrieved from being cited. This selected question illustrates the saved-source comparison. The external 252,000-trial study measures first citation in a two-document test, not any FC citation across our source set. https://arxiv.org/abs/2605.25517</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individual estimates were positive; two intervals include zero. The rewrite conclusion applies to the tested implementation. JSON-LD and visible structure were changed together. Third-party authority and external facts on our own page are different interventions.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Platform guidance is specific to its own engine. No special AI file or schema guarantees visibility. AI-assisted writing is not automatically spam; manipulative and low-value content are the issue. Check current product controls before implementation. https://developers.google.com/search/docs/fundamentals/ai-optimization-guide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pipeline controlled saved source content and order. The model chose answer wording and citations. Repeated outputs are grouped within 29 questions; 290 answers are not 290 independent questions. Power depends on assumptions, so no universal 60-question prescription is made.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estimates are not all conclusive effects. Rendered content and external facts have intervals crossing zero. Position is a diagnostic intervention, not a page change FC can force on an external engine. The final implementation is not the sum of the individual estimates.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actual saved before/after page. Different capture dates and fares remain a limitation. The 27-of-52 count refers to the joint block, not all transformations. The selected pipeline uses saved FC text; external-facts experiments are separate.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saved fare sentence and explain that [7] identifies FC in this source list. A reference marker alone does not verify sentence-level factual support. This is citation inclusion, not proof of a booking recommendation.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116/290 versus 152/290, +12.4 percentage points, or about +31% relative. The interval is exploratory. A reused baseline, capture differences and iterative selection constrain causality. The first same-page run was 143/290 (49.3%). The selected repeat is 152/290 (52.4%).</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automatic rewrite tested here declined. Do not generalise that finding to every AI writing system. The external-facts overall estimate was positive but uncertain, with no net gain in its affected subset. We did not experimentally measure earned third-party coverage.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workstreams, not universal mandatory stages. Access checks preserve path-specific restrictions. Appropriate structured data must match visible facts; special AI schema and llms.txt are not requirements. Customer and platform outcomes are monitored separately.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evidence shows a JavaScript-dependent difference in sampled browser captures. A curl request with an OAI-SearchBot label is not a verified bot request. Check actual extracted facts and authenticated requests in logs. Historical crawler studies do not establish every current capability.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proposed production template. Placeholders must be populated with current approved data. Historical experiment fares are not newly validated offers. LON is a city code, not a specific arrival airport; use Flight schema only for a real itinerary. The displayed individual-arm gains cannot be assigned to one combined block.</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competitive audit is dated May 2026. The sample destination record is illustrative; verify official travel requirements before publishing and record the actual review date. It is a content governance design, not a ready-to-publish travel advice record.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Different fares on different dates do not establish an error. Compare equivalent dates, cabin, fees and availability. Review counts are from the dated audit. Improve customer contact routes without claiming every existing route is unreadable.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replaces the previously proposed experimental pilot. The completed sandbox is our evidence. FC can prioritise templates, publish approved facts and monitor business outcomes through its normal processes. No frozen control group, repeated sandbox generation or experimental gate is required by this recommendation.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36 extra citing answers are an observation in our selected comparison. Do not extrapolate them into future traffic, citations or revenue. Implementation is a supported opportunity; actual business performance remains to be measured.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for owners, content implementation, offer integrity and business reporting. Do not make other investment decisions conditional on reproducing our sandbox. The full research handover is separate from this presentation-only submission ZIP.</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measured citation result and practical work. Readability improves the opportunity to be cited; it does not guarantee selection or establish a booking outcome.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saved experimental statistics. Individual and selected-combined baselines differ (114 versus 116). Matching checks establish record integrity, not truth, citation entailment or causal identification.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Engineering Q&amp;A.</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Sources Q&amp;A.</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Vendor Q&amp;A.</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Glossary.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640080"/>
            <a:ext cx="5486400" cy="365760"/>
          </a:xfrm>
          <a:prstGeom prst="rect">
            <a:avLst/>
          </a:prstGeom>
          <a:noFill/>
        </p:spPr>
        <p:txBody>
          <a:bodyPr wrap="square" lIns="45720" rIns="45720" anchor="t">
            <a:spAutoFit/>
          </a:bodyPr>
          <a:lstStyle/>
          <a:p>
            <a:pPr algn="l">
              <a:lnSpc>
                <a:spcPct val="108000"/>
              </a:lnSpc>
              <a:spcAft>
                <a:spcPts val="400"/>
              </a:spcAft>
            </a:pPr>
            <a:r>
              <a:rPr sz="1200" b="1" i="0">
                <a:solidFill>
                  <a:srgbClr val="FF8A99"/>
                </a:solidFill>
                <a:latin typeface="Calibri"/>
              </a:rPr>
              <a:t>FLIGHT CENTRE TRAVEL GROUP  ·  TEAM 62 (SIGNAL SIX), QUT</a:t>
            </a:r>
          </a:p>
        </p:txBody>
      </p:sp>
      <p:sp>
        <p:nvSpPr>
          <p:cNvPr id="4" name="TextBox 3"/>
          <p:cNvSpPr txBox="1"/>
          <p:nvPr/>
        </p:nvSpPr>
        <p:spPr>
          <a:xfrm>
            <a:off x="822960" y="1371600"/>
            <a:ext cx="10515600" cy="2194560"/>
          </a:xfrm>
          <a:prstGeom prst="rect">
            <a:avLst/>
          </a:prstGeom>
          <a:noFill/>
        </p:spPr>
        <p:txBody>
          <a:bodyPr wrap="square" lIns="45720" rIns="45720" anchor="t">
            <a:spAutoFit/>
          </a:bodyPr>
          <a:lstStyle/>
          <a:p>
            <a:pPr algn="l">
              <a:lnSpc>
                <a:spcPct val="100000"/>
              </a:lnSpc>
              <a:spcAft>
                <a:spcPts val="400"/>
              </a:spcAft>
            </a:pPr>
            <a:r>
              <a:rPr sz="4600" b="1" i="0">
                <a:solidFill>
                  <a:srgbClr val="FFFFFF"/>
                </a:solidFill>
                <a:latin typeface="Calibri"/>
              </a:rPr>
              <a:t>Being the answer:</a:t>
            </a:r>
          </a:p>
          <a:p>
            <a:pPr algn="l">
              <a:lnSpc>
                <a:spcPct val="100000"/>
              </a:lnSpc>
              <a:spcAft>
                <a:spcPts val="400"/>
              </a:spcAft>
            </a:pPr>
            <a:r>
              <a:rPr sz="4000" b="1" i="0">
                <a:solidFill>
                  <a:srgbClr val="FF8A99"/>
                </a:solidFill>
                <a:latin typeface="Calibri"/>
              </a:rPr>
              <a:t>Generative Engine Optimisation for FC.com</a:t>
            </a:r>
          </a:p>
        </p:txBody>
      </p:sp>
      <p:sp>
        <p:nvSpPr>
          <p:cNvPr id="5" name="TextBox 4"/>
          <p:cNvSpPr txBox="1"/>
          <p:nvPr/>
        </p:nvSpPr>
        <p:spPr>
          <a:xfrm>
            <a:off x="822960" y="3749039"/>
            <a:ext cx="10332720" cy="1188720"/>
          </a:xfrm>
          <a:prstGeom prst="rect">
            <a:avLst/>
          </a:prstGeom>
          <a:noFill/>
        </p:spPr>
        <p:txBody>
          <a:bodyPr wrap="square" lIns="45720" rIns="45720" anchor="t">
            <a:spAutoFit/>
          </a:bodyPr>
          <a:lstStyle/>
          <a:p>
            <a:pPr algn="l">
              <a:lnSpc>
                <a:spcPct val="108000"/>
              </a:lnSpc>
              <a:spcAft>
                <a:spcPts val="400"/>
              </a:spcAft>
            </a:pPr>
            <a:r>
              <a:rPr sz="1800" b="0" i="0">
                <a:solidFill>
                  <a:srgbClr val="C9D6EA"/>
                </a:solidFill>
                <a:latin typeface="Calibri"/>
              </a:rPr>
              <a:t>Why agentic commerce changes where customers find us, what the published evidence and our own controlled test show, and what FC.com should change first.</a:t>
            </a:r>
          </a:p>
        </p:txBody>
      </p:sp>
      <p:sp>
        <p:nvSpPr>
          <p:cNvPr id="6" name="TextBox 5"/>
          <p:cNvSpPr txBox="1"/>
          <p:nvPr/>
        </p:nvSpPr>
        <p:spPr>
          <a:xfrm>
            <a:off x="822960" y="5257800"/>
            <a:ext cx="10515600" cy="822960"/>
          </a:xfrm>
          <a:prstGeom prst="rect">
            <a:avLst/>
          </a:prstGeom>
          <a:noFill/>
        </p:spPr>
        <p:txBody>
          <a:bodyPr wrap="square" lIns="45720" rIns="45720" anchor="t">
            <a:spAutoFit/>
          </a:bodyPr>
          <a:lstStyle/>
          <a:p>
            <a:pPr algn="l">
              <a:lnSpc>
                <a:spcPct val="108000"/>
              </a:lnSpc>
              <a:spcAft>
                <a:spcPts val="400"/>
              </a:spcAft>
            </a:pPr>
            <a:r>
              <a:rPr sz="1300" b="0" i="0">
                <a:solidFill>
                  <a:srgbClr val="FFFFFF"/>
                </a:solidFill>
                <a:latin typeface="Calibri"/>
              </a:rPr>
              <a:t>Senior leadership briefing  ·  25 October 2026  ·  25 minutes + Q&amp;A</a:t>
            </a:r>
          </a:p>
          <a:p>
            <a:pPr algn="l">
              <a:lnSpc>
                <a:spcPct val="108000"/>
              </a:lnSpc>
              <a:spcAft>
                <a:spcPts val="400"/>
              </a:spcAft>
            </a:pPr>
            <a:r>
              <a:rPr sz="1100" b="0" i="0">
                <a:solidFill>
                  <a:srgbClr val="9FB3CC"/>
                </a:solidFill>
                <a:latin typeface="Calibri"/>
              </a:rPr>
              <a:t>Evidence: peer-reviewed and preprint GEO research (2024–2026); Google, OpenAI and Bing documentation; live checks of flightcentre.com.au and competitors (25 Oct 2026); Semester 1 website audit (May 2026); controlled sandbox experiment, 290 answers per version (Aug–Sep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WHY · WHAT · HOW · WHAT IF</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Two things this room should take away</a:t>
            </a:r>
          </a:p>
        </p:txBody>
      </p:sp>
      <p:sp>
        <p:nvSpPr>
          <p:cNvPr id="4" name="Rounded Rectangle 3"/>
          <p:cNvSpPr/>
          <p:nvPr/>
        </p:nvSpPr>
        <p:spPr>
          <a:xfrm>
            <a:off x="548640" y="1600200"/>
            <a:ext cx="5440680" cy="416052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1323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1.  The blind spot spans discovery and content</a:t>
            </a:r>
          </a:p>
        </p:txBody>
      </p:sp>
      <p:sp>
        <p:nvSpPr>
          <p:cNvPr id="6" name="TextBox 5"/>
          <p:cNvSpPr txBox="1"/>
          <p:nvPr/>
        </p:nvSpPr>
        <p:spPr>
          <a:xfrm>
            <a:off x="713232" y="2148840"/>
            <a:ext cx="5111496" cy="3447287"/>
          </a:xfrm>
          <a:prstGeom prst="rect">
            <a:avLst/>
          </a:prstGeom>
          <a:noFill/>
        </p:spPr>
        <p:txBody>
          <a:bodyPr wrap="square" lIns="45720" rIns="45720" anchor="t">
            <a:spAutoFit/>
          </a:bodyPr>
          <a:lstStyle/>
          <a:p>
            <a:pPr algn="l">
              <a:lnSpc>
                <a:spcPct val="108000"/>
              </a:lnSpc>
              <a:spcAft>
                <a:spcPts val="400"/>
              </a:spcAft>
            </a:pPr>
            <a:r>
              <a:rPr sz="1350" b="0" i="0">
                <a:solidFill>
                  <a:srgbClr val="1F2937"/>
                </a:solidFill>
                <a:latin typeface="Calibri"/>
              </a:rPr>
              <a:t>Travel discovery is moving into assistants. Expedia, Booking.com, Skyscanner and Virgin Australia already sit inside ChatGPT. When a customer asks an unbranded question, Flight Centre is rarely named.</a:t>
            </a:r>
          </a:p>
          <a:p>
            <a:pPr algn="l">
              <a:lnSpc>
                <a:spcPct val="108000"/>
              </a:lnSpc>
              <a:spcBef>
                <a:spcPts val="600"/>
              </a:spcBef>
              <a:spcAft>
                <a:spcPts val="400"/>
              </a:spcAft>
            </a:pPr>
            <a:r>
              <a:rPr sz="1350" b="0" i="0">
                <a:solidFill>
                  <a:srgbClr val="1F2937"/>
                </a:solidFill>
                <a:latin typeface="Calibri"/>
              </a:rPr>
              <a:t>Our sampled checks identify possible barriers: deal and fare content is still absent from the HTML that AI fetchers receive, the sampled holiday pages carry no JSON-LD, and the eight agent-value questions returned no FC page in the saved top 10.</a:t>
            </a:r>
          </a:p>
          <a:p>
            <a:pPr algn="l">
              <a:lnSpc>
                <a:spcPct val="108000"/>
              </a:lnSpc>
              <a:spcBef>
                <a:spcPts val="600"/>
              </a:spcBef>
              <a:spcAft>
                <a:spcPts val="400"/>
              </a:spcAft>
            </a:pPr>
            <a:r>
              <a:rPr sz="1350" b="1" i="0">
                <a:solidFill>
                  <a:srgbClr val="0B2240"/>
                </a:solidFill>
                <a:latin typeface="Calibri"/>
              </a:rPr>
              <a:t>Research and practitioner guidance support checking access, readable content and useful page structure alongside content quality.</a:t>
            </a:r>
          </a:p>
        </p:txBody>
      </p:sp>
      <p:sp>
        <p:nvSpPr>
          <p:cNvPr id="7" name="Rounded Rectangle 6"/>
          <p:cNvSpPr/>
          <p:nvPr/>
        </p:nvSpPr>
        <p:spPr>
          <a:xfrm>
            <a:off x="6217920" y="1600200"/>
            <a:ext cx="5440680" cy="416052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38251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2.  Improved FC pages received more citations in our test</a:t>
            </a:r>
          </a:p>
        </p:txBody>
      </p:sp>
      <p:sp>
        <p:nvSpPr>
          <p:cNvPr id="9" name="TextBox 8"/>
          <p:cNvSpPr txBox="1"/>
          <p:nvPr/>
        </p:nvSpPr>
        <p:spPr>
          <a:xfrm>
            <a:off x="6382512" y="2148840"/>
            <a:ext cx="5111496" cy="3447287"/>
          </a:xfrm>
          <a:prstGeom prst="rect">
            <a:avLst/>
          </a:prstGeom>
          <a:noFill/>
        </p:spPr>
        <p:txBody>
          <a:bodyPr wrap="square" lIns="45720" rIns="45720" anchor="t">
            <a:spAutoFit/>
          </a:bodyPr>
          <a:lstStyle/>
          <a:p>
            <a:pPr algn="l">
              <a:lnSpc>
                <a:spcPct val="108000"/>
              </a:lnSpc>
              <a:spcAft>
                <a:spcPts val="400"/>
              </a:spcAft>
            </a:pPr>
            <a:r>
              <a:rPr sz="1350" b="0" i="0">
                <a:solidFill>
                  <a:srgbClr val="1F2937"/>
                </a:solidFill>
                <a:latin typeface="Calibri"/>
              </a:rPr>
              <a:t>In a controlled test with every competitor page frozen, the selected FC page changes were associated with an increase in the share of AI answers citing FC from 40.0% to 52.4% (116 to 152 of 290 answers; 95% interval +5 to +20 points).</a:t>
            </a:r>
          </a:p>
          <a:p>
            <a:pPr algn="l">
              <a:lnSpc>
                <a:spcPct val="108000"/>
              </a:lnSpc>
              <a:spcBef>
                <a:spcPts val="600"/>
              </a:spcBef>
              <a:spcAft>
                <a:spcPts val="400"/>
              </a:spcAft>
            </a:pPr>
            <a:r>
              <a:rPr sz="1350" b="0" i="0">
                <a:solidFill>
                  <a:srgbClr val="1F2937"/>
                </a:solidFill>
                <a:latin typeface="Calibri"/>
              </a:rPr>
              <a:t>The changes were: show the deals the browser already shows humans; add one labelled fare-and-fee block; put FAQ questions back into the page text.</a:t>
            </a:r>
          </a:p>
          <a:p>
            <a:pPr algn="l">
              <a:lnSpc>
                <a:spcPct val="108000"/>
              </a:lnSpc>
              <a:spcBef>
                <a:spcPts val="600"/>
              </a:spcBef>
              <a:spcAft>
                <a:spcPts val="400"/>
              </a:spcAft>
            </a:pPr>
            <a:r>
              <a:rPr sz="1350" b="0" i="0">
                <a:solidFill>
                  <a:srgbClr val="1F2937"/>
                </a:solidFill>
                <a:latin typeface="Calibri"/>
              </a:rPr>
              <a:t>It is not a live ranking, a recommendation or revenue. It is a content comparison measured on our saved pages, and the reason the rest of the pipeline is worth building.</a:t>
            </a:r>
          </a:p>
          <a:p>
            <a:pPr algn="l">
              <a:lnSpc>
                <a:spcPct val="108000"/>
              </a:lnSpc>
              <a:spcBef>
                <a:spcPts val="600"/>
              </a:spcBef>
              <a:spcAft>
                <a:spcPts val="400"/>
              </a:spcAft>
            </a:pPr>
            <a:r>
              <a:rPr sz="1350" b="1" i="0">
                <a:solidFill>
                  <a:srgbClr val="0B2240"/>
                </a:solidFill>
                <a:latin typeface="Calibri"/>
              </a:rPr>
              <a:t>Our tested automatic rewrite declined (−5.5 points). Require evidence before adopting a rewrite service.</a:t>
            </a:r>
          </a:p>
        </p:txBody>
      </p:sp>
      <p:sp>
        <p:nvSpPr>
          <p:cNvPr id="10" name="TextBox 9"/>
          <p:cNvSpPr txBox="1"/>
          <p:nvPr/>
        </p:nvSpPr>
        <p:spPr>
          <a:xfrm>
            <a:off x="548640" y="5897880"/>
            <a:ext cx="10972800" cy="365760"/>
          </a:xfrm>
          <a:prstGeom prst="rect">
            <a:avLst/>
          </a:prstGeom>
          <a:noFill/>
        </p:spPr>
        <p:txBody>
          <a:bodyPr wrap="square" lIns="45720" rIns="45720" anchor="t">
            <a:spAutoFit/>
          </a:bodyPr>
          <a:lstStyle/>
          <a:p>
            <a:pPr algn="l">
              <a:lnSpc>
                <a:spcPct val="108000"/>
              </a:lnSpc>
              <a:spcAft>
                <a:spcPts val="400"/>
              </a:spcAft>
            </a:pPr>
            <a:r>
              <a:rPr sz="1050" b="0" i="0">
                <a:solidFill>
                  <a:srgbClr val="5B6573"/>
                </a:solidFill>
                <a:latin typeface="Calibri"/>
              </a:rPr>
              <a:t>Owners and implementation priorities in this deck are proposals. No budget or approval is implied. Every figure is traceable to the Technical Report and Handover Guide v1.1.</a:t>
            </a:r>
          </a:p>
        </p:txBody>
      </p:sp>
      <p:sp>
        <p:nvSpPr>
          <p:cNvPr id="11" name="TextBox 10"/>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1097280"/>
            <a:ext cx="3657600" cy="457200"/>
          </a:xfrm>
          <a:prstGeom prst="rect">
            <a:avLst/>
          </a:prstGeom>
          <a:noFill/>
        </p:spPr>
        <p:txBody>
          <a:bodyPr wrap="square" lIns="45720" rIns="45720" anchor="t">
            <a:spAutoFit/>
          </a:bodyPr>
          <a:lstStyle/>
          <a:p>
            <a:pPr algn="l">
              <a:lnSpc>
                <a:spcPct val="108000"/>
              </a:lnSpc>
              <a:spcAft>
                <a:spcPts val="400"/>
              </a:spcAft>
            </a:pPr>
            <a:r>
              <a:rPr sz="1600" b="1" i="0">
                <a:solidFill>
                  <a:srgbClr val="FF8A99"/>
                </a:solidFill>
                <a:latin typeface="Calibri"/>
              </a:rPr>
              <a:t>PART 1 · WHY</a:t>
            </a:r>
          </a:p>
        </p:txBody>
      </p:sp>
      <p:sp>
        <p:nvSpPr>
          <p:cNvPr id="4" name="TextBox 3"/>
          <p:cNvSpPr txBox="1"/>
          <p:nvPr/>
        </p:nvSpPr>
        <p:spPr>
          <a:xfrm>
            <a:off x="822960" y="1554480"/>
            <a:ext cx="10241280" cy="164592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Travel discovery is moving into the assistant, and Flight Centre had gaps in the sampled unbranded answers</a:t>
            </a:r>
          </a:p>
        </p:txBody>
      </p:sp>
      <p:sp>
        <p:nvSpPr>
          <p:cNvPr id="5" name="TextBox 4"/>
          <p:cNvSpPr txBox="1"/>
          <p:nvPr/>
        </p:nvSpPr>
        <p:spPr>
          <a:xfrm>
            <a:off x="822960" y="3383280"/>
            <a:ext cx="9601200" cy="822960"/>
          </a:xfrm>
          <a:prstGeom prst="rect">
            <a:avLst/>
          </a:prstGeom>
          <a:noFill/>
        </p:spPr>
        <p:txBody>
          <a:bodyPr wrap="square" lIns="45720" rIns="45720" anchor="t">
            <a:spAutoFit/>
          </a:bodyPr>
          <a:lstStyle/>
          <a:p>
            <a:pPr algn="l">
              <a:lnSpc>
                <a:spcPct val="108000"/>
              </a:lnSpc>
              <a:spcAft>
                <a:spcPts val="400"/>
              </a:spcAft>
            </a:pPr>
            <a:r>
              <a:rPr sz="1800" b="0" i="0">
                <a:solidFill>
                  <a:srgbClr val="C9D6EA"/>
                </a:solidFill>
                <a:latin typeface="Calibri"/>
              </a:rPr>
              <a:t>External signals on agentic commerce, and what our audits found on FC.com.</a:t>
            </a:r>
          </a:p>
        </p:txBody>
      </p:sp>
      <p:sp>
        <p:nvSpPr>
          <p:cNvPr id="6" name="TextBox 5"/>
          <p:cNvSpPr txBox="1"/>
          <p:nvPr/>
        </p:nvSpPr>
        <p:spPr>
          <a:xfrm>
            <a:off x="822960" y="4480560"/>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How customers now start a trip, in the US and in Australia</a:t>
            </a:r>
          </a:p>
        </p:txBody>
      </p:sp>
      <p:sp>
        <p:nvSpPr>
          <p:cNvPr id="7" name="TextBox 6"/>
          <p:cNvSpPr txBox="1"/>
          <p:nvPr/>
        </p:nvSpPr>
        <p:spPr>
          <a:xfrm>
            <a:off x="822960" y="4864608"/>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Who is already inside the chat</a:t>
            </a:r>
          </a:p>
        </p:txBody>
      </p:sp>
      <p:sp>
        <p:nvSpPr>
          <p:cNvPr id="8" name="TextBox 7"/>
          <p:cNvSpPr txBox="1"/>
          <p:nvPr/>
        </p:nvSpPr>
        <p:spPr>
          <a:xfrm>
            <a:off x="822960" y="5248656"/>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Where FC.com stands today, layer by layer</a:t>
            </a:r>
          </a:p>
        </p:txBody>
      </p:sp>
      <p:sp>
        <p:nvSpPr>
          <p:cNvPr id="9" name="TextBox 8"/>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9FB3CC"/>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WHY</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Customers are starting trips in an assistant, and referral patterns are changing</a:t>
            </a:r>
          </a:p>
        </p:txBody>
      </p:sp>
      <p:sp>
        <p:nvSpPr>
          <p:cNvPr id="4" name="Rounded Rectangle 3"/>
          <p:cNvSpPr/>
          <p:nvPr/>
        </p:nvSpPr>
        <p:spPr>
          <a:xfrm>
            <a:off x="10049256" y="329184"/>
            <a:ext cx="1609344"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External signals</a:t>
            </a:r>
          </a:p>
        </p:txBody>
      </p:sp>
      <p:sp>
        <p:nvSpPr>
          <p:cNvPr id="5" name="Rounded Rectangle 4"/>
          <p:cNvSpPr/>
          <p:nvPr/>
        </p:nvSpPr>
        <p:spPr>
          <a:xfrm>
            <a:off x="548640" y="1645920"/>
            <a:ext cx="2697480" cy="1600200"/>
          </a:xfrm>
          <a:prstGeom prst="roundRect">
            <a:avLst>
              <a:gd name="adj" fmla="val 6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85800" y="1755648"/>
            <a:ext cx="2423160" cy="80010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56%</a:t>
            </a:r>
          </a:p>
        </p:txBody>
      </p:sp>
      <p:sp>
        <p:nvSpPr>
          <p:cNvPr id="7" name="TextBox 6"/>
          <p:cNvSpPr txBox="1"/>
          <p:nvPr/>
        </p:nvSpPr>
        <p:spPr>
          <a:xfrm>
            <a:off x="685800" y="2478024"/>
            <a:ext cx="2423160" cy="736092"/>
          </a:xfrm>
          <a:prstGeom prst="rect">
            <a:avLst/>
          </a:prstGeom>
          <a:noFill/>
        </p:spPr>
        <p:txBody>
          <a:bodyPr wrap="square" lIns="45720" rIns="45720" anchor="t">
            <a:spAutoFit/>
          </a:bodyPr>
          <a:lstStyle/>
          <a:p>
            <a:pPr algn="l">
              <a:lnSpc>
                <a:spcPct val="105000"/>
              </a:lnSpc>
              <a:spcAft>
                <a:spcPts val="400"/>
              </a:spcAft>
            </a:pPr>
            <a:r>
              <a:rPr sz="1150" b="0" i="0">
                <a:solidFill>
                  <a:srgbClr val="FFFFFF"/>
                </a:solidFill>
                <a:latin typeface="Calibri"/>
              </a:rPr>
              <a:t>of US travellers reported AI use for at least one trip in the previous 12 months, up from 33% in H1 2025 (Phocuswright, The AI Surge)</a:t>
            </a:r>
          </a:p>
        </p:txBody>
      </p:sp>
      <p:sp>
        <p:nvSpPr>
          <p:cNvPr id="8" name="Rounded Rectangle 7"/>
          <p:cNvSpPr/>
          <p:nvPr/>
        </p:nvSpPr>
        <p:spPr>
          <a:xfrm>
            <a:off x="3401568" y="1645920"/>
            <a:ext cx="2697480" cy="1600200"/>
          </a:xfrm>
          <a:prstGeom prst="roundRect">
            <a:avLst>
              <a:gd name="adj" fmla="val 6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538728" y="1755648"/>
            <a:ext cx="2423160" cy="80010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33%</a:t>
            </a:r>
          </a:p>
        </p:txBody>
      </p:sp>
      <p:sp>
        <p:nvSpPr>
          <p:cNvPr id="10" name="TextBox 9"/>
          <p:cNvSpPr txBox="1"/>
          <p:nvPr/>
        </p:nvSpPr>
        <p:spPr>
          <a:xfrm>
            <a:off x="3538728" y="2478024"/>
            <a:ext cx="2423160" cy="736092"/>
          </a:xfrm>
          <a:prstGeom prst="rect">
            <a:avLst/>
          </a:prstGeom>
          <a:noFill/>
        </p:spPr>
        <p:txBody>
          <a:bodyPr wrap="square" lIns="45720" rIns="45720" anchor="t">
            <a:spAutoFit/>
          </a:bodyPr>
          <a:lstStyle/>
          <a:p>
            <a:pPr algn="l">
              <a:lnSpc>
                <a:spcPct val="105000"/>
              </a:lnSpc>
              <a:spcAft>
                <a:spcPts val="400"/>
              </a:spcAft>
            </a:pPr>
            <a:r>
              <a:rPr sz="1150" b="0" i="0">
                <a:solidFill>
                  <a:srgbClr val="FFFFFF"/>
                </a:solidFill>
                <a:latin typeface="Calibri"/>
              </a:rPr>
              <a:t>of US travellers now research trips with generative AI, level with general search engines at 35% (Phocuswright)</a:t>
            </a:r>
          </a:p>
        </p:txBody>
      </p:sp>
      <p:sp>
        <p:nvSpPr>
          <p:cNvPr id="11" name="Rounded Rectangle 10"/>
          <p:cNvSpPr/>
          <p:nvPr/>
        </p:nvSpPr>
        <p:spPr>
          <a:xfrm>
            <a:off x="6254496" y="1645920"/>
            <a:ext cx="2697480" cy="1600200"/>
          </a:xfrm>
          <a:prstGeom prst="roundRect">
            <a:avLst>
              <a:gd name="adj" fmla="val 6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91656" y="1755648"/>
            <a:ext cx="2423160" cy="80010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28.8%</a:t>
            </a:r>
          </a:p>
        </p:txBody>
      </p:sp>
      <p:sp>
        <p:nvSpPr>
          <p:cNvPr id="13" name="TextBox 12"/>
          <p:cNvSpPr txBox="1"/>
          <p:nvPr/>
        </p:nvSpPr>
        <p:spPr>
          <a:xfrm>
            <a:off x="6391656" y="2478024"/>
            <a:ext cx="2423160" cy="736092"/>
          </a:xfrm>
          <a:prstGeom prst="rect">
            <a:avLst/>
          </a:prstGeom>
          <a:noFill/>
        </p:spPr>
        <p:txBody>
          <a:bodyPr wrap="square" lIns="45720" rIns="45720" anchor="t">
            <a:spAutoFit/>
          </a:bodyPr>
          <a:lstStyle/>
          <a:p>
            <a:pPr algn="l">
              <a:lnSpc>
                <a:spcPct val="105000"/>
              </a:lnSpc>
              <a:spcAft>
                <a:spcPts val="400"/>
              </a:spcAft>
            </a:pPr>
            <a:r>
              <a:rPr sz="1150" b="0" i="0">
                <a:solidFill>
                  <a:srgbClr val="FFFFFF"/>
                </a:solidFill>
                <a:latin typeface="Calibri"/>
              </a:rPr>
              <a:t>of Australian travellers used generative AI to find deals, research destinations or build itineraries (Compare the Market survey, 2026)</a:t>
            </a:r>
          </a:p>
        </p:txBody>
      </p:sp>
      <p:sp>
        <p:nvSpPr>
          <p:cNvPr id="14" name="Rounded Rectangle 13"/>
          <p:cNvSpPr/>
          <p:nvPr/>
        </p:nvSpPr>
        <p:spPr>
          <a:xfrm>
            <a:off x="9107424" y="1645920"/>
            <a:ext cx="2560320" cy="1600200"/>
          </a:xfrm>
          <a:prstGeom prst="roundRect">
            <a:avLst>
              <a:gd name="adj" fmla="val 6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244584" y="1755648"/>
            <a:ext cx="2286000" cy="80010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+119%</a:t>
            </a:r>
          </a:p>
        </p:txBody>
      </p:sp>
      <p:sp>
        <p:nvSpPr>
          <p:cNvPr id="16" name="TextBox 15"/>
          <p:cNvSpPr txBox="1"/>
          <p:nvPr/>
        </p:nvSpPr>
        <p:spPr>
          <a:xfrm>
            <a:off x="9244584" y="2478024"/>
            <a:ext cx="2286000" cy="736092"/>
          </a:xfrm>
          <a:prstGeom prst="rect">
            <a:avLst/>
          </a:prstGeom>
          <a:noFill/>
        </p:spPr>
        <p:txBody>
          <a:bodyPr wrap="square" lIns="45720" rIns="45720" anchor="t">
            <a:spAutoFit/>
          </a:bodyPr>
          <a:lstStyle/>
          <a:p>
            <a:pPr algn="l">
              <a:lnSpc>
                <a:spcPct val="105000"/>
              </a:lnSpc>
              <a:spcAft>
                <a:spcPts val="400"/>
              </a:spcAft>
            </a:pPr>
            <a:r>
              <a:rPr sz="1150" b="0" i="0">
                <a:solidFill>
                  <a:srgbClr val="FFFFFF"/>
                </a:solidFill>
                <a:latin typeface="Calibri"/>
              </a:rPr>
              <a:t>year-on-year growth in AI-referred visits to travel websites, July 2026; they convert within 1% of other traffic (Adobe Digital Insights)</a:t>
            </a:r>
          </a:p>
        </p:txBody>
      </p:sp>
      <p:sp>
        <p:nvSpPr>
          <p:cNvPr id="17" name="Rounded Rectangle 16"/>
          <p:cNvSpPr/>
          <p:nvPr/>
        </p:nvSpPr>
        <p:spPr>
          <a:xfrm>
            <a:off x="548640" y="3520440"/>
            <a:ext cx="5486400" cy="2606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13232" y="3685032"/>
            <a:ext cx="515721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Fewer clicks when an AI answer appears</a:t>
            </a:r>
          </a:p>
        </p:txBody>
      </p:sp>
      <p:sp>
        <p:nvSpPr>
          <p:cNvPr id="19" name="TextBox 18"/>
          <p:cNvSpPr txBox="1"/>
          <p:nvPr/>
        </p:nvSpPr>
        <p:spPr>
          <a:xfrm>
            <a:off x="713232" y="4069080"/>
            <a:ext cx="5157216" cy="1892807"/>
          </a:xfrm>
          <a:prstGeom prst="rect">
            <a:avLst/>
          </a:prstGeom>
          <a:noFill/>
        </p:spPr>
        <p:txBody>
          <a:bodyPr wrap="square" lIns="45720" rIns="45720" anchor="t">
            <a:spAutoFit/>
          </a:bodyPr>
          <a:lstStyle/>
          <a:p>
            <a:pPr algn="l">
              <a:lnSpc>
                <a:spcPct val="108000"/>
              </a:lnSpc>
              <a:spcAft>
                <a:spcPts val="400"/>
              </a:spcAft>
            </a:pPr>
            <a:r>
              <a:rPr sz="1250" b="0" i="0">
                <a:solidFill>
                  <a:srgbClr val="1F2937"/>
                </a:solidFill>
                <a:latin typeface="Calibri"/>
              </a:rPr>
              <a:t>Pew Research: Google users clicked a traditional result in </a:t>
            </a:r>
            <a:r>
              <a:rPr sz="1250" b="1" i="0">
                <a:solidFill>
                  <a:srgbClr val="1F2937"/>
                </a:solidFill>
                <a:latin typeface="Calibri"/>
              </a:rPr>
              <a:t>8%</a:t>
            </a:r>
            <a:r>
              <a:rPr sz="1250" b="0" i="0">
                <a:solidFill>
                  <a:srgbClr val="1F2937"/>
                </a:solidFill>
                <a:latin typeface="Calibri"/>
              </a:rPr>
              <a:t> of visits with an AI summary versus </a:t>
            </a:r>
            <a:r>
              <a:rPr sz="1250" b="1" i="0">
                <a:solidFill>
                  <a:srgbClr val="1F2937"/>
                </a:solidFill>
                <a:latin typeface="Calibri"/>
              </a:rPr>
              <a:t>15%</a:t>
            </a:r>
            <a:r>
              <a:rPr sz="1250" b="0" i="0">
                <a:solidFill>
                  <a:srgbClr val="1F2937"/>
                </a:solidFill>
                <a:latin typeface="Calibri"/>
              </a:rPr>
              <a:t> without one, and clicked a link inside the summary in just 1% of visits (2025).</a:t>
            </a:r>
          </a:p>
          <a:p>
            <a:pPr algn="l">
              <a:lnSpc>
                <a:spcPct val="108000"/>
              </a:lnSpc>
              <a:spcBef>
                <a:spcPts val="600"/>
              </a:spcBef>
              <a:spcAft>
                <a:spcPts val="400"/>
              </a:spcAft>
            </a:pPr>
            <a:r>
              <a:rPr sz="1250" b="0" i="0">
                <a:solidFill>
                  <a:srgbClr val="1F2937"/>
                </a:solidFill>
                <a:latin typeface="Calibri"/>
              </a:rPr>
              <a:t>Most travellers use AI to research and still book on a website or with an agent (Phocuswright; Skift, Mar 2026).</a:t>
            </a:r>
          </a:p>
          <a:p>
            <a:pPr algn="l">
              <a:lnSpc>
                <a:spcPct val="108000"/>
              </a:lnSpc>
              <a:spcBef>
                <a:spcPts val="600"/>
              </a:spcBef>
              <a:spcAft>
                <a:spcPts val="400"/>
              </a:spcAft>
            </a:pPr>
            <a:r>
              <a:rPr sz="1250" b="1" i="0">
                <a:solidFill>
                  <a:srgbClr val="0B2240"/>
                </a:solidFill>
                <a:latin typeface="Calibri"/>
              </a:rPr>
              <a:t>Being named inside the answer, not ranking below it, is increasingly what gets a brand seen.</a:t>
            </a:r>
          </a:p>
        </p:txBody>
      </p:sp>
      <p:sp>
        <p:nvSpPr>
          <p:cNvPr id="20" name="Rounded Rectangle 19"/>
          <p:cNvSpPr/>
          <p:nvPr/>
        </p:nvSpPr>
        <p:spPr>
          <a:xfrm>
            <a:off x="6217920" y="3520440"/>
            <a:ext cx="5440680" cy="2606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382512" y="368503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Discovery moves faster than booking</a:t>
            </a:r>
          </a:p>
        </p:txBody>
      </p:sp>
      <p:sp>
        <p:nvSpPr>
          <p:cNvPr id="22" name="TextBox 21"/>
          <p:cNvSpPr txBox="1"/>
          <p:nvPr/>
        </p:nvSpPr>
        <p:spPr>
          <a:xfrm>
            <a:off x="6382512" y="4069080"/>
            <a:ext cx="5111496" cy="1892807"/>
          </a:xfrm>
          <a:prstGeom prst="rect">
            <a:avLst/>
          </a:prstGeom>
          <a:noFill/>
        </p:spPr>
        <p:txBody>
          <a:bodyPr wrap="square" lIns="45720" rIns="45720" anchor="t">
            <a:spAutoFit/>
          </a:bodyPr>
          <a:lstStyle/>
          <a:p>
            <a:pPr algn="l">
              <a:lnSpc>
                <a:spcPct val="108000"/>
              </a:lnSpc>
              <a:spcAft>
                <a:spcPts val="400"/>
              </a:spcAft>
            </a:pPr>
            <a:r>
              <a:rPr sz="1250" b="0" i="0">
                <a:solidFill>
                  <a:srgbClr val="1F2937"/>
                </a:solidFill>
                <a:latin typeface="Calibri"/>
              </a:rPr>
              <a:t>Phocuswright and Skift both report that most travellers research with AI but are not yet ready to let it book for them. AI is a discovery channel first.</a:t>
            </a:r>
          </a:p>
          <a:p>
            <a:pPr algn="l">
              <a:lnSpc>
                <a:spcPct val="108000"/>
              </a:lnSpc>
              <a:spcBef>
                <a:spcPts val="600"/>
              </a:spcBef>
              <a:spcAft>
                <a:spcPts val="400"/>
              </a:spcAft>
            </a:pPr>
            <a:r>
              <a:rPr sz="1250" b="0" i="0">
                <a:solidFill>
                  <a:srgbClr val="1F2937"/>
                </a:solidFill>
                <a:latin typeface="Calibri"/>
              </a:rPr>
              <a:t>Flight Centre's own online leisure sales passed $1.8 billion TTV in FY26 (+17%), and natural-language search is already live on FC and Travel Associates (FCTG FY26 results).</a:t>
            </a:r>
          </a:p>
          <a:p>
            <a:pPr algn="l">
              <a:lnSpc>
                <a:spcPct val="108000"/>
              </a:lnSpc>
              <a:spcBef>
                <a:spcPts val="600"/>
              </a:spcBef>
              <a:spcAft>
                <a:spcPts val="400"/>
              </a:spcAft>
            </a:pPr>
            <a:r>
              <a:rPr sz="1250" b="1" i="0">
                <a:solidFill>
                  <a:srgbClr val="0B2240"/>
                </a:solidFill>
                <a:latin typeface="Calibri"/>
              </a:rPr>
              <a:t>The question for this room is whose facts, whose brand and whose booking path appear when the customer asks an assistant.</a:t>
            </a:r>
          </a:p>
        </p:txBody>
      </p:sp>
      <p:sp>
        <p:nvSpPr>
          <p:cNvPr id="23" name="TextBox 22"/>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Phocuswright, The AI Surge (2026) as reported by ITB Berlin and Travel Weekly; Compare the Market Australian traveller survey (2026, via ITBrief); Adobe Digital Insights AI Traffic Trends (19 Aug 2026); Chapekis &amp; Lieb, Pew Research Center (22 Jul 2025); FCTG FY26 ASX results (26 Aug 2026).</a:t>
            </a:r>
          </a:p>
        </p:txBody>
      </p:sp>
      <p:sp>
        <p:nvSpPr>
          <p:cNvPr id="24" name="TextBox 23"/>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WHY</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Agentic commerce: competitors are already inside the chat, and the handoff is shifting back to the merchant</a:t>
            </a:r>
          </a:p>
        </p:txBody>
      </p:sp>
      <p:sp>
        <p:nvSpPr>
          <p:cNvPr id="4" name="Rounded Rectangle 3"/>
          <p:cNvSpPr/>
          <p:nvPr/>
        </p:nvSpPr>
        <p:spPr>
          <a:xfrm>
            <a:off x="9582912" y="329184"/>
            <a:ext cx="2075688"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Official documentation</a:t>
            </a:r>
          </a:p>
        </p:txBody>
      </p:sp>
      <p:graphicFrame>
        <p:nvGraphicFramePr>
          <p:cNvPr id="5" name="Table 4"/>
          <p:cNvGraphicFramePr>
            <a:graphicFrameLocks noGrp="1"/>
          </p:cNvGraphicFramePr>
          <p:nvPr/>
        </p:nvGraphicFramePr>
        <p:xfrm>
          <a:off x="548640" y="1645920"/>
          <a:ext cx="6949440" cy="3566160"/>
        </p:xfrm>
        <a:graphic>
          <a:graphicData uri="http://schemas.openxmlformats.org/drawingml/2006/table">
            <a:tbl>
              <a:tblPr/>
              <a:tblGrid>
                <a:gridCol w="14173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94360">
                <a:tc>
                  <a:txBody>
                    <a:bodyPr/>
                    <a:lstStyle/>
                    <a:p>
                      <a:r>
                        <a:rPr sz="1050" b="1" i="0">
                          <a:solidFill>
                            <a:srgbClr val="FFFFFF"/>
                          </a:solidFill>
                          <a:latin typeface="Calibri"/>
                        </a:rPr>
                        <a:t>Who</a:t>
                      </a:r>
                    </a:p>
                  </a:txBody>
                  <a:tcPr marL="64008" marR="64008" marT="36576" marB="36576" anchor="ctr">
                    <a:solidFill>
                      <a:srgbClr val="0B2240"/>
                    </a:solidFill>
                  </a:tcPr>
                </a:tc>
                <a:tc>
                  <a:txBody>
                    <a:bodyPr/>
                    <a:lstStyle/>
                    <a:p>
                      <a:r>
                        <a:rPr sz="1050" b="1" i="0">
                          <a:solidFill>
                            <a:srgbClr val="FFFFFF"/>
                          </a:solidFill>
                          <a:latin typeface="Calibri"/>
                        </a:rPr>
                        <a:t>What shipped</a:t>
                      </a:r>
                    </a:p>
                  </a:txBody>
                  <a:tcPr marL="64008" marR="64008" marT="36576" marB="36576" anchor="ctr">
                    <a:solidFill>
                      <a:srgbClr val="0B2240"/>
                    </a:solidFill>
                  </a:tcPr>
                </a:tc>
                <a:tc>
                  <a:txBody>
                    <a:bodyPr/>
                    <a:lstStyle/>
                    <a:p>
                      <a:r>
                        <a:rPr sz="1050" b="1" i="0">
                          <a:solidFill>
                            <a:srgbClr val="FFFFFF"/>
                          </a:solidFill>
                          <a:latin typeface="Calibri"/>
                        </a:rPr>
                        <a:t>What it means</a:t>
                      </a:r>
                    </a:p>
                  </a:txBody>
                  <a:tcPr marL="64008" marR="64008" marT="36576" marB="36576" anchor="ctr">
                    <a:solidFill>
                      <a:srgbClr val="0B2240"/>
                    </a:solidFill>
                  </a:tcPr>
                </a:tc>
                <a:extLst>
                  <a:ext uri="{0D108BD9-81ED-4DB2-BD59-A6C34878D82A}">
                    <a16:rowId xmlns:a16="http://schemas.microsoft.com/office/drawing/2014/main" val="10000"/>
                  </a:ext>
                </a:extLst>
              </a:tr>
              <a:tr h="594360">
                <a:tc>
                  <a:txBody>
                    <a:bodyPr/>
                    <a:lstStyle/>
                    <a:p>
                      <a:r>
                        <a:rPr sz="1000" b="0" i="0">
                          <a:solidFill>
                            <a:srgbClr val="1F2937"/>
                          </a:solidFill>
                          <a:latin typeface="Calibri"/>
                        </a:rPr>
                        <a:t>Expedia, Booking.com</a:t>
                      </a:r>
                    </a:p>
                  </a:txBody>
                  <a:tcPr marL="64008" marR="64008" marT="36576" marB="36576">
                    <a:solidFill>
                      <a:srgbClr val="FFFFFF"/>
                    </a:solidFill>
                  </a:tcPr>
                </a:tc>
                <a:tc>
                  <a:txBody>
                    <a:bodyPr/>
                    <a:lstStyle/>
                    <a:p>
                      <a:r>
                        <a:rPr sz="1000" b="0" i="0">
                          <a:solidFill>
                            <a:srgbClr val="1F2937"/>
                          </a:solidFill>
                          <a:latin typeface="Calibri"/>
                        </a:rPr>
                        <a:t>First travel apps inside ChatGPT (6 Oct 2025): live availability and prices in the conversation; booking completes on their sites. Australia was not among Expedia's listed markets at last check.</a:t>
                      </a:r>
                    </a:p>
                  </a:txBody>
                  <a:tcPr marL="64008" marR="64008" marT="36576" marB="36576">
                    <a:solidFill>
                      <a:srgbClr val="FFFFFF"/>
                    </a:solidFill>
                  </a:tcPr>
                </a:tc>
                <a:tc>
                  <a:txBody>
                    <a:bodyPr/>
                    <a:lstStyle/>
                    <a:p>
                      <a:r>
                        <a:rPr sz="1000" b="0" i="0">
                          <a:solidFill>
                            <a:srgbClr val="1F2937"/>
                          </a:solidFill>
                          <a:latin typeface="Calibri"/>
                        </a:rPr>
                        <a:t>Discovery and comparison happen in the chat; the OTA keeps the checkout.</a:t>
                      </a:r>
                    </a:p>
                  </a:txBody>
                  <a:tcPr marL="64008" marR="64008" marT="36576" marB="36576">
                    <a:solidFill>
                      <a:srgbClr val="FFFFFF"/>
                    </a:solidFill>
                  </a:tcPr>
                </a:tc>
                <a:extLst>
                  <a:ext uri="{0D108BD9-81ED-4DB2-BD59-A6C34878D82A}">
                    <a16:rowId xmlns:a16="http://schemas.microsoft.com/office/drawing/2014/main" val="10001"/>
                  </a:ext>
                </a:extLst>
              </a:tr>
              <a:tr h="594360">
                <a:tc>
                  <a:txBody>
                    <a:bodyPr/>
                    <a:lstStyle/>
                    <a:p>
                      <a:r>
                        <a:rPr sz="1000" b="0" i="0">
                          <a:solidFill>
                            <a:srgbClr val="1F2937"/>
                          </a:solidFill>
                          <a:latin typeface="Calibri"/>
                        </a:rPr>
                        <a:t>Skyscanner, Accor, Lighthouse</a:t>
                      </a:r>
                    </a:p>
                  </a:txBody>
                  <a:tcPr marL="64008" marR="64008" marT="36576" marB="36576">
                    <a:solidFill>
                      <a:srgbClr val="F3F5F8"/>
                    </a:solidFill>
                  </a:tcPr>
                </a:tc>
                <a:tc>
                  <a:txBody>
                    <a:bodyPr/>
                    <a:lstStyle/>
                    <a:p>
                      <a:r>
                        <a:rPr sz="1000" b="0" i="0">
                          <a:solidFill>
                            <a:srgbClr val="1F2937"/>
                          </a:solidFill>
                          <a:latin typeface="Calibri"/>
                        </a:rPr>
                        <a:t>Followed with their own ChatGPT apps (early 2026).</a:t>
                      </a:r>
                    </a:p>
                  </a:txBody>
                  <a:tcPr marL="64008" marR="64008" marT="36576" marB="36576">
                    <a:solidFill>
                      <a:srgbClr val="F3F5F8"/>
                    </a:solidFill>
                  </a:tcPr>
                </a:tc>
                <a:tc>
                  <a:txBody>
                    <a:bodyPr/>
                    <a:lstStyle/>
                    <a:p>
                      <a:r>
                        <a:rPr sz="1000" b="0" i="0">
                          <a:solidFill>
                            <a:srgbClr val="1F2937"/>
                          </a:solidFill>
                          <a:latin typeface="Calibri"/>
                        </a:rPr>
                        <a:t>Apps provide another distribution route for aggregators.</a:t>
                      </a:r>
                    </a:p>
                  </a:txBody>
                  <a:tcPr marL="64008" marR="64008" marT="36576" marB="36576">
                    <a:solidFill>
                      <a:srgbClr val="F3F5F8"/>
                    </a:solidFill>
                  </a:tcPr>
                </a:tc>
                <a:extLst>
                  <a:ext uri="{0D108BD9-81ED-4DB2-BD59-A6C34878D82A}">
                    <a16:rowId xmlns:a16="http://schemas.microsoft.com/office/drawing/2014/main" val="10002"/>
                  </a:ext>
                </a:extLst>
              </a:tr>
              <a:tr h="594360">
                <a:tc>
                  <a:txBody>
                    <a:bodyPr/>
                    <a:lstStyle/>
                    <a:p>
                      <a:r>
                        <a:rPr sz="1000" b="0" i="0">
                          <a:solidFill>
                            <a:srgbClr val="1F2937"/>
                          </a:solidFill>
                          <a:latin typeface="Calibri"/>
                        </a:rPr>
                        <a:t>Virgin Australia</a:t>
                      </a:r>
                    </a:p>
                  </a:txBody>
                  <a:tcPr marL="64008" marR="64008" marT="36576" marB="36576">
                    <a:solidFill>
                      <a:srgbClr val="FFFFFF"/>
                    </a:solidFill>
                  </a:tcPr>
                </a:tc>
                <a:tc>
                  <a:txBody>
                    <a:bodyPr/>
                    <a:lstStyle/>
                    <a:p>
                      <a:r>
                        <a:rPr sz="1000" b="0" i="0">
                          <a:solidFill>
                            <a:srgbClr val="1F2937"/>
                          </a:solidFill>
                          <a:latin typeface="Calibri"/>
                        </a:rPr>
                        <a:t>First Australian airline in ChatGPT (10 Jun 2026): Velocity reward-seat and fare search, then redirect to virginaustralia.com to book.</a:t>
                      </a:r>
                    </a:p>
                  </a:txBody>
                  <a:tcPr marL="64008" marR="64008" marT="36576" marB="36576">
                    <a:solidFill>
                      <a:srgbClr val="FFFFFF"/>
                    </a:solidFill>
                  </a:tcPr>
                </a:tc>
                <a:tc>
                  <a:txBody>
                    <a:bodyPr/>
                    <a:lstStyle/>
                    <a:p>
                      <a:r>
                        <a:rPr sz="1000" b="0" i="0">
                          <a:solidFill>
                            <a:srgbClr val="1F2937"/>
                          </a:solidFill>
                          <a:latin typeface="Calibri"/>
                        </a:rPr>
                        <a:t>An Australian competitor for flight queries is already in the room.</a:t>
                      </a:r>
                    </a:p>
                  </a:txBody>
                  <a:tcPr marL="64008" marR="64008" marT="36576" marB="36576">
                    <a:solidFill>
                      <a:srgbClr val="FFFFFF"/>
                    </a:solidFill>
                  </a:tcPr>
                </a:tc>
                <a:extLst>
                  <a:ext uri="{0D108BD9-81ED-4DB2-BD59-A6C34878D82A}">
                    <a16:rowId xmlns:a16="http://schemas.microsoft.com/office/drawing/2014/main" val="10003"/>
                  </a:ext>
                </a:extLst>
              </a:tr>
              <a:tr h="594360">
                <a:tc>
                  <a:txBody>
                    <a:bodyPr/>
                    <a:lstStyle/>
                    <a:p>
                      <a:r>
                        <a:rPr sz="1000" b="0" i="0">
                          <a:solidFill>
                            <a:srgbClr val="1F2937"/>
                          </a:solidFill>
                          <a:latin typeface="Calibri"/>
                        </a:rPr>
                        <a:t>OpenAI</a:t>
                      </a:r>
                    </a:p>
                  </a:txBody>
                  <a:tcPr marL="64008" marR="64008" marT="36576" marB="36576">
                    <a:solidFill>
                      <a:srgbClr val="F3F5F8"/>
                    </a:solidFill>
                  </a:tcPr>
                </a:tc>
                <a:tc>
                  <a:txBody>
                    <a:bodyPr/>
                    <a:lstStyle/>
                    <a:p>
                      <a:r>
                        <a:rPr sz="1000" b="0" i="0">
                          <a:solidFill>
                            <a:srgbClr val="1F2937"/>
                          </a:solidFill>
                          <a:latin typeface="Calibri"/>
                        </a:rPr>
                        <a:t>Deprioritised Instant Checkout (Mar 2026): 'Instant Checkout is moving to Apps'. Discovery in chat, purchase with the merchant.</a:t>
                      </a:r>
                    </a:p>
                  </a:txBody>
                  <a:tcPr marL="64008" marR="64008" marT="36576" marB="36576">
                    <a:solidFill>
                      <a:srgbClr val="F3F5F8"/>
                    </a:solidFill>
                  </a:tcPr>
                </a:tc>
                <a:tc>
                  <a:txBody>
                    <a:bodyPr/>
                    <a:lstStyle/>
                    <a:p>
                      <a:r>
                        <a:rPr sz="1000" b="0" i="0">
                          <a:solidFill>
                            <a:srgbClr val="1F2937"/>
                          </a:solidFill>
                          <a:latin typeface="Calibri"/>
                        </a:rPr>
                        <a:t>The fight is for the discovery and evidence step, not (yet) the checkout.</a:t>
                      </a:r>
                    </a:p>
                  </a:txBody>
                  <a:tcPr marL="64008" marR="64008" marT="36576" marB="36576">
                    <a:solidFill>
                      <a:srgbClr val="F3F5F8"/>
                    </a:solidFill>
                  </a:tcPr>
                </a:tc>
                <a:extLst>
                  <a:ext uri="{0D108BD9-81ED-4DB2-BD59-A6C34878D82A}">
                    <a16:rowId xmlns:a16="http://schemas.microsoft.com/office/drawing/2014/main" val="10004"/>
                  </a:ext>
                </a:extLst>
              </a:tr>
              <a:tr h="594360">
                <a:tc>
                  <a:txBody>
                    <a:bodyPr/>
                    <a:lstStyle/>
                    <a:p>
                      <a:r>
                        <a:rPr sz="1000" b="0" i="0">
                          <a:solidFill>
                            <a:srgbClr val="1F2937"/>
                          </a:solidFill>
                          <a:latin typeface="Calibri"/>
                        </a:rPr>
                        <a:t>Google</a:t>
                      </a:r>
                    </a:p>
                  </a:txBody>
                  <a:tcPr marL="64008" marR="64008" marT="36576" marB="36576">
                    <a:solidFill>
                      <a:srgbClr val="FFFFFF"/>
                    </a:solidFill>
                  </a:tcPr>
                </a:tc>
                <a:tc>
                  <a:txBody>
                    <a:bodyPr/>
                    <a:lstStyle/>
                    <a:p>
                      <a:r>
                        <a:rPr sz="1000" b="0" i="0">
                          <a:solidFill>
                            <a:srgbClr val="1F2937"/>
                          </a:solidFill>
                          <a:latin typeface="Calibri"/>
                        </a:rPr>
                        <a:t>Universal Commerce Protocol: hotel booking named as the next vertical (19 May 2026); travel packages ineligible for checkout.</a:t>
                      </a:r>
                    </a:p>
                  </a:txBody>
                  <a:tcPr marL="64008" marR="64008" marT="36576" marB="36576">
                    <a:solidFill>
                      <a:srgbClr val="FFFFFF"/>
                    </a:solidFill>
                  </a:tcPr>
                </a:tc>
                <a:tc>
                  <a:txBody>
                    <a:bodyPr/>
                    <a:lstStyle/>
                    <a:p>
                      <a:r>
                        <a:rPr sz="1000" b="0" i="0">
                          <a:solidFill>
                            <a:srgbClr val="1F2937"/>
                          </a:solidFill>
                          <a:latin typeface="Calibri"/>
                        </a:rPr>
                        <a:t>Eligibility differs by product and protocol; assess FC use cases separately.</a:t>
                      </a:r>
                    </a:p>
                  </a:txBody>
                  <a:tcPr marL="64008" marR="64008" marT="36576" marB="36576">
                    <a:solidFill>
                      <a:srgbClr val="FFFFFF"/>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7726679" y="1645920"/>
            <a:ext cx="3931920" cy="356616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91271" y="1810512"/>
            <a:ext cx="360273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What this means for Flight Centre</a:t>
            </a:r>
          </a:p>
        </p:txBody>
      </p:sp>
      <p:sp>
        <p:nvSpPr>
          <p:cNvPr id="8" name="TextBox 7"/>
          <p:cNvSpPr txBox="1"/>
          <p:nvPr/>
        </p:nvSpPr>
        <p:spPr>
          <a:xfrm>
            <a:off x="7891271" y="2194560"/>
            <a:ext cx="3602736" cy="2852927"/>
          </a:xfrm>
          <a:prstGeom prst="rect">
            <a:avLst/>
          </a:prstGeom>
          <a:noFill/>
        </p:spPr>
        <p:txBody>
          <a:bodyPr wrap="square" lIns="45720" rIns="45720" anchor="t">
            <a:spAutoFit/>
          </a:bodyPr>
          <a:lstStyle/>
          <a:p>
            <a:pPr algn="l">
              <a:lnSpc>
                <a:spcPct val="108000"/>
              </a:lnSpc>
              <a:spcAft>
                <a:spcPts val="400"/>
              </a:spcAft>
            </a:pPr>
            <a:r>
              <a:rPr sz="1250" b="0" i="0">
                <a:solidFill>
                  <a:srgbClr val="1F2937"/>
                </a:solidFill>
                <a:latin typeface="Calibri"/>
              </a:rPr>
              <a:t>FC offers online booking alongside experts, stores and quotes. Make these options explicit and accessible; our audit does not establish that all current routes are unreadable.</a:t>
            </a:r>
          </a:p>
          <a:p>
            <a:pPr algn="l">
              <a:lnSpc>
                <a:spcPct val="108000"/>
              </a:lnSpc>
              <a:spcBef>
                <a:spcPts val="600"/>
              </a:spcBef>
              <a:spcAft>
                <a:spcPts val="400"/>
              </a:spcAft>
            </a:pPr>
            <a:r>
              <a:rPr sz="1250" b="0" i="0">
                <a:solidFill>
                  <a:srgbClr val="1F2937"/>
                </a:solidFill>
                <a:latin typeface="Calibri"/>
              </a:rPr>
              <a:t>FCTG already reports internal MCP (agent-connection) capability in FY26. That is an internal capability, not public distribution inside ChatGPT. The two should not be confused.</a:t>
            </a:r>
          </a:p>
          <a:p>
            <a:pPr algn="l">
              <a:lnSpc>
                <a:spcPct val="108000"/>
              </a:lnSpc>
              <a:spcBef>
                <a:spcPts val="600"/>
              </a:spcBef>
              <a:spcAft>
                <a:spcPts val="400"/>
              </a:spcAft>
            </a:pPr>
            <a:r>
              <a:rPr sz="1250" b="1" i="0">
                <a:solidFill>
                  <a:srgbClr val="0B2240"/>
                </a:solidFill>
                <a:latin typeface="Calibri"/>
              </a:rPr>
              <a:t>Standards (ACP, UCP) are moving to hotels and apps. A connector is a later decision; public web discovery and direct app/API integration need separate readiness checks.</a:t>
            </a:r>
          </a:p>
        </p:txBody>
      </p:sp>
      <p:sp>
        <p:nvSpPr>
          <p:cNvPr id="9" name="TextBox 8"/>
          <p:cNvSpPr txBox="1"/>
          <p:nvPr/>
        </p:nvSpPr>
        <p:spPr>
          <a:xfrm>
            <a:off x="548640" y="5394960"/>
            <a:ext cx="11064240" cy="822960"/>
          </a:xfrm>
          <a:prstGeom prst="rect">
            <a:avLst/>
          </a:prstGeom>
          <a:noFill/>
        </p:spPr>
        <p:txBody>
          <a:bodyPr wrap="square" lIns="45720" rIns="45720" anchor="t">
            <a:spAutoFit/>
          </a:bodyPr>
          <a:lstStyle/>
          <a:p>
            <a:pPr algn="l">
              <a:lnSpc>
                <a:spcPct val="108000"/>
              </a:lnSpc>
              <a:spcAft>
                <a:spcPts val="400"/>
              </a:spcAft>
            </a:pPr>
            <a:r>
              <a:rPr sz="1200" b="0" i="0">
                <a:solidFill>
                  <a:srgbClr val="1F2937"/>
                </a:solidFill>
                <a:latin typeface="Calibri"/>
              </a:rPr>
              <a:t>Trust still limits full automation: Phocuswright and Skift both report that most travellers research with AI but are not ready to let it book. That is FC's window, and also why the expert-and-store path must be stated in text an assistant can quote.</a:t>
            </a:r>
          </a:p>
        </p:txBody>
      </p:sp>
      <p:sp>
        <p:nvSpPr>
          <p:cNvPr id="10" name="TextBox 9"/>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OpenAI 'Apps in ChatGPT' announcement (6 Oct 2025); Expedia in ChatGPT product page; PhocusWire and Skift coverage of OpenAI checkout changes (5–6 Mar 2026); Executive Traveller and Point Hacks on Virgin Australia (10 Jun 2026); Skift on Google UCP (19 May 2026); FCTG FY26 results p.2. Availability by market changes; verify before quoting externally.</a:t>
            </a:r>
          </a:p>
        </p:txBody>
      </p:sp>
      <p:sp>
        <p:nvSpPr>
          <p:cNvPr id="11" name="TextBox 10"/>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WHY</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Where FC.com stands: branded visibility, unbranded gaps and missing results in the agent-value sample</a:t>
            </a:r>
          </a:p>
        </p:txBody>
      </p:sp>
      <p:sp>
        <p:nvSpPr>
          <p:cNvPr id="4" name="Rounded Rectangle 3"/>
          <p:cNvSpPr/>
          <p:nvPr/>
        </p:nvSpPr>
        <p:spPr>
          <a:xfrm>
            <a:off x="9582912" y="329184"/>
            <a:ext cx="207568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Live check 25 Oct 2026</a:t>
            </a:r>
          </a:p>
        </p:txBody>
      </p:sp>
      <p:sp>
        <p:nvSpPr>
          <p:cNvPr id="5" name="Rounded Rectangle 4"/>
          <p:cNvSpPr/>
          <p:nvPr/>
        </p:nvSpPr>
        <p:spPr>
          <a:xfrm>
            <a:off x="7008876" y="329184"/>
            <a:ext cx="2464308"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Semester 1 audit (May 2026)</a:t>
            </a:r>
          </a:p>
        </p:txBody>
      </p:sp>
      <p:pic>
        <p:nvPicPr>
          <p:cNvPr id="6" name="Picture 5" descr="hist_chatgpt_unbranded_answer_202605.png"/>
          <p:cNvPicPr>
            <a:picLocks noChangeAspect="1"/>
          </p:cNvPicPr>
          <p:nvPr/>
        </p:nvPicPr>
        <p:blipFill>
          <a:blip r:embed="rId3"/>
          <a:stretch>
            <a:fillRect/>
          </a:stretch>
        </p:blipFill>
        <p:spPr>
          <a:xfrm>
            <a:off x="548640" y="1600200"/>
            <a:ext cx="3931920" cy="3001734"/>
          </a:xfrm>
          <a:prstGeom prst="rect">
            <a:avLst/>
          </a:prstGeom>
        </p:spPr>
      </p:pic>
      <p:sp>
        <p:nvSpPr>
          <p:cNvPr id="7" name="TextBox 6"/>
          <p:cNvSpPr txBox="1"/>
          <p:nvPr/>
        </p:nvSpPr>
        <p:spPr>
          <a:xfrm>
            <a:off x="548640" y="4663440"/>
            <a:ext cx="3931920" cy="457200"/>
          </a:xfrm>
          <a:prstGeom prst="rect">
            <a:avLst/>
          </a:prstGeom>
          <a:noFill/>
        </p:spPr>
        <p:txBody>
          <a:bodyPr wrap="square" lIns="45720" rIns="45720" anchor="t">
            <a:spAutoFit/>
          </a:bodyPr>
          <a:lstStyle/>
          <a:p>
            <a:pPr algn="l">
              <a:lnSpc>
                <a:spcPct val="100000"/>
              </a:lnSpc>
              <a:spcAft>
                <a:spcPts val="400"/>
              </a:spcAft>
            </a:pPr>
            <a:r>
              <a:rPr sz="950" b="0" i="1">
                <a:solidFill>
                  <a:srgbClr val="5B6573"/>
                </a:solidFill>
                <a:latin typeface="Calibri"/>
              </a:rPr>
              <a:t>ChatGPT, May 2026: 'Best travel agent for booking international package holidays from Australia'. Agencies named; Flight Centre absent; sources were forums and review sites.</a:t>
            </a:r>
          </a:p>
        </p:txBody>
      </p:sp>
      <p:graphicFrame>
        <p:nvGraphicFramePr>
          <p:cNvPr id="8" name="Table 7"/>
          <p:cNvGraphicFramePr>
            <a:graphicFrameLocks noGrp="1"/>
          </p:cNvGraphicFramePr>
          <p:nvPr/>
        </p:nvGraphicFramePr>
        <p:xfrm>
          <a:off x="4709160" y="1600200"/>
          <a:ext cx="6949440" cy="214884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58140">
                <a:tc>
                  <a:txBody>
                    <a:bodyPr/>
                    <a:lstStyle/>
                    <a:p>
                      <a:r>
                        <a:rPr sz="1000" b="1" i="0">
                          <a:solidFill>
                            <a:srgbClr val="FFFFFF"/>
                          </a:solidFill>
                          <a:latin typeface="Calibri"/>
                        </a:rPr>
                        <a:t>Unbranded question class (May 2026 panel)</a:t>
                      </a:r>
                    </a:p>
                  </a:txBody>
                  <a:tcPr marL="64008" marR="64008" marT="36576" marB="36576" anchor="ctr">
                    <a:solidFill>
                      <a:srgbClr val="0B2240"/>
                    </a:solidFill>
                  </a:tcPr>
                </a:tc>
                <a:tc>
                  <a:txBody>
                    <a:bodyPr/>
                    <a:lstStyle/>
                    <a:p>
                      <a:r>
                        <a:rPr sz="1000" b="1" i="0">
                          <a:solidFill>
                            <a:srgbClr val="FFFFFF"/>
                          </a:solidFill>
                          <a:latin typeface="Calibri"/>
                        </a:rPr>
                        <a:t>FC impression score</a:t>
                      </a:r>
                    </a:p>
                  </a:txBody>
                  <a:tcPr marL="64008" marR="64008" marT="36576" marB="36576" anchor="ctr">
                    <a:solidFill>
                      <a:srgbClr val="0B2240"/>
                    </a:solidFill>
                  </a:tcPr>
                </a:tc>
                <a:tc>
                  <a:txBody>
                    <a:bodyPr/>
                    <a:lstStyle/>
                    <a:p>
                      <a:r>
                        <a:rPr sz="1000" b="1" i="0">
                          <a:solidFill>
                            <a:srgbClr val="FFFFFF"/>
                          </a:solidFill>
                          <a:latin typeface="Calibri"/>
                        </a:rPr>
                        <a:t>Reading</a:t>
                      </a:r>
                    </a:p>
                  </a:txBody>
                  <a:tcPr marL="64008" marR="64008" marT="36576" marB="36576" anchor="ctr">
                    <a:solidFill>
                      <a:srgbClr val="0B2240"/>
                    </a:solidFill>
                  </a:tcPr>
                </a:tc>
                <a:extLst>
                  <a:ext uri="{0D108BD9-81ED-4DB2-BD59-A6C34878D82A}">
                    <a16:rowId xmlns:a16="http://schemas.microsoft.com/office/drawing/2014/main" val="10000"/>
                  </a:ext>
                </a:extLst>
              </a:tr>
              <a:tr h="358140">
                <a:tc>
                  <a:txBody>
                    <a:bodyPr/>
                    <a:lstStyle/>
                    <a:p>
                      <a:r>
                        <a:rPr sz="1000" b="0" i="0">
                          <a:solidFill>
                            <a:srgbClr val="1F2937"/>
                          </a:solidFill>
                          <a:latin typeface="Calibri"/>
                        </a:rPr>
                        <a:t>Commercial investigation</a:t>
                      </a:r>
                    </a:p>
                  </a:txBody>
                  <a:tcPr marL="64008" marR="64008" marT="36576" marB="36576">
                    <a:solidFill>
                      <a:srgbClr val="FFFFFF"/>
                    </a:solidFill>
                  </a:tcPr>
                </a:tc>
                <a:tc>
                  <a:txBody>
                    <a:bodyPr/>
                    <a:lstStyle/>
                    <a:p>
                      <a:r>
                        <a:rPr sz="1000" b="0" i="0">
                          <a:solidFill>
                            <a:srgbClr val="1F2937"/>
                          </a:solidFill>
                          <a:latin typeface="Calibri"/>
                        </a:rPr>
                        <a:t>2.34%</a:t>
                      </a:r>
                    </a:p>
                  </a:txBody>
                  <a:tcPr marL="64008" marR="64008" marT="36576" marB="36576">
                    <a:solidFill>
                      <a:srgbClr val="FFFFFF"/>
                    </a:solidFill>
                  </a:tcPr>
                </a:tc>
                <a:tc>
                  <a:txBody>
                    <a:bodyPr/>
                    <a:lstStyle/>
                    <a:p>
                      <a:r>
                        <a:rPr sz="1000" b="0" i="0">
                          <a:solidFill>
                            <a:srgbClr val="1F2937"/>
                          </a:solidFill>
                          <a:latin typeface="Calibri"/>
                        </a:rPr>
                        <a:t>FC's strongest unbranded class</a:t>
                      </a:r>
                    </a:p>
                  </a:txBody>
                  <a:tcPr marL="64008" marR="64008" marT="36576" marB="36576">
                    <a:solidFill>
                      <a:srgbClr val="FFFFFF"/>
                    </a:solidFill>
                  </a:tcPr>
                </a:tc>
                <a:extLst>
                  <a:ext uri="{0D108BD9-81ED-4DB2-BD59-A6C34878D82A}">
                    <a16:rowId xmlns:a16="http://schemas.microsoft.com/office/drawing/2014/main" val="10001"/>
                  </a:ext>
                </a:extLst>
              </a:tr>
              <a:tr h="358140">
                <a:tc>
                  <a:txBody>
                    <a:bodyPr/>
                    <a:lstStyle/>
                    <a:p>
                      <a:r>
                        <a:rPr sz="1000" b="0" i="0">
                          <a:solidFill>
                            <a:srgbClr val="1F2937"/>
                          </a:solidFill>
                          <a:latin typeface="Calibri"/>
                        </a:rPr>
                        <a:t>Navigational ('travel agency near Brisbane')</a:t>
                      </a:r>
                    </a:p>
                  </a:txBody>
                  <a:tcPr marL="64008" marR="64008" marT="36576" marB="36576">
                    <a:solidFill>
                      <a:srgbClr val="F3F5F8"/>
                    </a:solidFill>
                  </a:tcPr>
                </a:tc>
                <a:tc>
                  <a:txBody>
                    <a:bodyPr/>
                    <a:lstStyle/>
                    <a:p>
                      <a:r>
                        <a:rPr sz="1000" b="0" i="0">
                          <a:solidFill>
                            <a:srgbClr val="1F2937"/>
                          </a:solidFill>
                          <a:latin typeface="Calibri"/>
                        </a:rPr>
                        <a:t>1.75%</a:t>
                      </a:r>
                    </a:p>
                  </a:txBody>
                  <a:tcPr marL="64008" marR="64008" marT="36576" marB="36576">
                    <a:solidFill>
                      <a:srgbClr val="F3F5F8"/>
                    </a:solidFill>
                  </a:tcPr>
                </a:tc>
                <a:tc>
                  <a:txBody>
                    <a:bodyPr/>
                    <a:lstStyle/>
                    <a:p>
                      <a:r>
                        <a:rPr sz="1000" b="0" i="0">
                          <a:solidFill>
                            <a:srgbClr val="1F2937"/>
                          </a:solidFill>
                          <a:latin typeface="Calibri"/>
                        </a:rPr>
                        <a:t>Small sample, directional</a:t>
                      </a:r>
                    </a:p>
                  </a:txBody>
                  <a:tcPr marL="64008" marR="64008" marT="36576" marB="36576">
                    <a:solidFill>
                      <a:srgbClr val="F3F5F8"/>
                    </a:solidFill>
                  </a:tcPr>
                </a:tc>
                <a:extLst>
                  <a:ext uri="{0D108BD9-81ED-4DB2-BD59-A6C34878D82A}">
                    <a16:rowId xmlns:a16="http://schemas.microsoft.com/office/drawing/2014/main" val="10002"/>
                  </a:ext>
                </a:extLst>
              </a:tr>
              <a:tr h="358140">
                <a:tc>
                  <a:txBody>
                    <a:bodyPr/>
                    <a:lstStyle/>
                    <a:p>
                      <a:r>
                        <a:rPr sz="1000" b="0" i="0">
                          <a:solidFill>
                            <a:srgbClr val="1F2937"/>
                          </a:solidFill>
                          <a:latin typeface="Calibri"/>
                        </a:rPr>
                        <a:t>Informational</a:t>
                      </a:r>
                    </a:p>
                  </a:txBody>
                  <a:tcPr marL="64008" marR="64008" marT="36576" marB="36576">
                    <a:solidFill>
                      <a:srgbClr val="FFFFFF"/>
                    </a:solidFill>
                  </a:tcPr>
                </a:tc>
                <a:tc>
                  <a:txBody>
                    <a:bodyPr/>
                    <a:lstStyle/>
                    <a:p>
                      <a:r>
                        <a:rPr sz="1000" b="0" i="0">
                          <a:solidFill>
                            <a:srgbClr val="1F2937"/>
                          </a:solidFill>
                          <a:latin typeface="Calibri"/>
                        </a:rPr>
                        <a:t>0.00%</a:t>
                      </a:r>
                    </a:p>
                  </a:txBody>
                  <a:tcPr marL="64008" marR="64008" marT="36576" marB="36576">
                    <a:solidFill>
                      <a:srgbClr val="FFFFFF"/>
                    </a:solidFill>
                  </a:tcPr>
                </a:tc>
                <a:tc>
                  <a:txBody>
                    <a:bodyPr/>
                    <a:lstStyle/>
                    <a:p>
                      <a:r>
                        <a:rPr sz="1000" b="0" i="0">
                          <a:solidFill>
                            <a:srgbClr val="1F2937"/>
                          </a:solidFill>
                          <a:latin typeface="Calibri"/>
                        </a:rPr>
                        <a:t>FC did not surface on any platform</a:t>
                      </a:r>
                    </a:p>
                  </a:txBody>
                  <a:tcPr marL="64008" marR="64008" marT="36576" marB="36576">
                    <a:solidFill>
                      <a:srgbClr val="FFFFFF"/>
                    </a:solidFill>
                  </a:tcPr>
                </a:tc>
                <a:extLst>
                  <a:ext uri="{0D108BD9-81ED-4DB2-BD59-A6C34878D82A}">
                    <a16:rowId xmlns:a16="http://schemas.microsoft.com/office/drawing/2014/main" val="10003"/>
                  </a:ext>
                </a:extLst>
              </a:tr>
              <a:tr h="358140">
                <a:tc>
                  <a:txBody>
                    <a:bodyPr/>
                    <a:lstStyle/>
                    <a:p>
                      <a:r>
                        <a:rPr sz="1000" b="0" i="0">
                          <a:solidFill>
                            <a:srgbClr val="1F2937"/>
                          </a:solidFill>
                          <a:latin typeface="Calibri"/>
                        </a:rPr>
                        <a:t>Transactional</a:t>
                      </a:r>
                    </a:p>
                  </a:txBody>
                  <a:tcPr marL="64008" marR="64008" marT="36576" marB="36576">
                    <a:solidFill>
                      <a:srgbClr val="F3F5F8"/>
                    </a:solidFill>
                  </a:tcPr>
                </a:tc>
                <a:tc>
                  <a:txBody>
                    <a:bodyPr/>
                    <a:lstStyle/>
                    <a:p>
                      <a:r>
                        <a:rPr sz="1000" b="0" i="0">
                          <a:solidFill>
                            <a:srgbClr val="1F2937"/>
                          </a:solidFill>
                          <a:latin typeface="Calibri"/>
                        </a:rPr>
                        <a:t>0.00%</a:t>
                      </a:r>
                    </a:p>
                  </a:txBody>
                  <a:tcPr marL="64008" marR="64008" marT="36576" marB="36576">
                    <a:solidFill>
                      <a:srgbClr val="F3F5F8"/>
                    </a:solidFill>
                  </a:tcPr>
                </a:tc>
                <a:tc>
                  <a:txBody>
                    <a:bodyPr/>
                    <a:lstStyle/>
                    <a:p>
                      <a:r>
                        <a:rPr sz="1000" b="0" i="0">
                          <a:solidFill>
                            <a:srgbClr val="1F2937"/>
                          </a:solidFill>
                          <a:latin typeface="Calibri"/>
                        </a:rPr>
                        <a:t>Aggregators dominate (Google Flights, Kayak)</a:t>
                      </a:r>
                    </a:p>
                  </a:txBody>
                  <a:tcPr marL="64008" marR="64008" marT="36576" marB="36576">
                    <a:solidFill>
                      <a:srgbClr val="F3F5F8"/>
                    </a:solidFill>
                  </a:tcPr>
                </a:tc>
                <a:extLst>
                  <a:ext uri="{0D108BD9-81ED-4DB2-BD59-A6C34878D82A}">
                    <a16:rowId xmlns:a16="http://schemas.microsoft.com/office/drawing/2014/main" val="10004"/>
                  </a:ext>
                </a:extLst>
              </a:tr>
              <a:tr h="358140">
                <a:tc>
                  <a:txBody>
                    <a:bodyPr/>
                    <a:lstStyle/>
                    <a:p>
                      <a:r>
                        <a:rPr sz="1000" b="0" i="0">
                          <a:solidFill>
                            <a:srgbClr val="1F2937"/>
                          </a:solidFill>
                          <a:latin typeface="Calibri"/>
                        </a:rPr>
                        <a:t>Branded ('Flight Centre Bali')</a:t>
                      </a:r>
                    </a:p>
                  </a:txBody>
                  <a:tcPr marL="64008" marR="64008" marT="36576" marB="36576">
                    <a:solidFill>
                      <a:srgbClr val="FFFFFF"/>
                    </a:solidFill>
                  </a:tcPr>
                </a:tc>
                <a:tc>
                  <a:txBody>
                    <a:bodyPr/>
                    <a:lstStyle/>
                    <a:p>
                      <a:r>
                        <a:rPr sz="1000" b="0" i="0">
                          <a:solidFill>
                            <a:srgbClr val="1F2937"/>
                          </a:solidFill>
                          <a:latin typeface="Calibri"/>
                        </a:rPr>
                        <a:t>~100%</a:t>
                      </a:r>
                    </a:p>
                  </a:txBody>
                  <a:tcPr marL="64008" marR="64008" marT="36576" marB="36576">
                    <a:solidFill>
                      <a:srgbClr val="FFFFFF"/>
                    </a:solidFill>
                  </a:tcPr>
                </a:tc>
                <a:tc>
                  <a:txBody>
                    <a:bodyPr/>
                    <a:lstStyle/>
                    <a:p>
                      <a:r>
                        <a:rPr sz="1000" b="0" i="0">
                          <a:solidFill>
                            <a:srgbClr val="1F2937"/>
                          </a:solidFill>
                          <a:latin typeface="Calibri"/>
                        </a:rPr>
                        <a:t>Strong in this branded sample; unbranded gaps remain</a:t>
                      </a:r>
                    </a:p>
                  </a:txBody>
                  <a:tcPr marL="64008" marR="64008" marT="36576" marB="36576">
                    <a:solidFill>
                      <a:srgbClr val="FFFFFF"/>
                    </a:solidFill>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nvGraphicFramePr>
        <p:xfrm>
          <a:off x="4709160" y="3931920"/>
          <a:ext cx="6949440" cy="2240280"/>
        </p:xfrm>
        <a:graphic>
          <a:graphicData uri="http://schemas.openxmlformats.org/drawingml/2006/table">
            <a:tbl>
              <a:tblPr/>
              <a:tblGrid>
                <a:gridCol w="54864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373380">
                <a:tc>
                  <a:txBody>
                    <a:bodyPr/>
                    <a:lstStyle/>
                    <a:p>
                      <a:r>
                        <a:rPr sz="1000" b="1" i="0">
                          <a:solidFill>
                            <a:srgbClr val="FFFFFF"/>
                          </a:solidFill>
                          <a:latin typeface="Calibri"/>
                        </a:rPr>
                        <a:t>Live check, 25 Oct 2026 (no JavaScript)</a:t>
                      </a:r>
                    </a:p>
                  </a:txBody>
                  <a:tcPr marL="64008" marR="64008" marT="36576" marB="36576" anchor="ctr">
                    <a:solidFill>
                      <a:srgbClr val="0B2240"/>
                    </a:solidFill>
                  </a:tcPr>
                </a:tc>
                <a:tc>
                  <a:txBody>
                    <a:bodyPr/>
                    <a:lstStyle/>
                    <a:p>
                      <a:r>
                        <a:rPr sz="1000" b="1" i="0">
                          <a:solidFill>
                            <a:srgbClr val="FFFFFF"/>
                          </a:solidFill>
                          <a:latin typeface="Calibri"/>
                        </a:rPr>
                        <a:t>Found</a:t>
                      </a:r>
                    </a:p>
                  </a:txBody>
                  <a:tcPr marL="64008" marR="64008" marT="36576" marB="36576" anchor="ctr">
                    <a:solidFill>
                      <a:srgbClr val="0B2240"/>
                    </a:solidFill>
                  </a:tcPr>
                </a:tc>
                <a:extLst>
                  <a:ext uri="{0D108BD9-81ED-4DB2-BD59-A6C34878D82A}">
                    <a16:rowId xmlns:a16="http://schemas.microsoft.com/office/drawing/2014/main" val="10000"/>
                  </a:ext>
                </a:extLst>
              </a:tr>
              <a:tr h="373380">
                <a:tc>
                  <a:txBody>
                    <a:bodyPr/>
                    <a:lstStyle/>
                    <a:p>
                      <a:r>
                        <a:rPr sz="1000" b="0" i="0">
                          <a:solidFill>
                            <a:srgbClr val="1F2937"/>
                          </a:solidFill>
                          <a:latin typeface="Calibri"/>
                        </a:rPr>
                        <a:t>Route pages (Melbourne–London, Brisbane–Bali): FAQ text and one JSON-LD block (FAQPage, Flight, Offer)</a:t>
                      </a:r>
                    </a:p>
                  </a:txBody>
                  <a:tcPr marL="64008" marR="64008" marT="36576" marB="36576">
                    <a:solidFill>
                      <a:srgbClr val="FFFFFF"/>
                    </a:solidFill>
                  </a:tcPr>
                </a:tc>
                <a:tc>
                  <a:txBody>
                    <a:bodyPr/>
                    <a:lstStyle/>
                    <a:p>
                      <a:r>
                        <a:rPr sz="1000" b="0" i="0">
                          <a:solidFill>
                            <a:srgbClr val="1F2937"/>
                          </a:solidFill>
                          <a:latin typeface="Calibri"/>
                        </a:rPr>
                        <a:t>Yes</a:t>
                      </a:r>
                    </a:p>
                  </a:txBody>
                  <a:tcPr marL="64008" marR="64008" marT="36576" marB="36576">
                    <a:solidFill>
                      <a:srgbClr val="E4F1E8"/>
                    </a:solidFill>
                  </a:tcPr>
                </a:tc>
                <a:extLst>
                  <a:ext uri="{0D108BD9-81ED-4DB2-BD59-A6C34878D82A}">
                    <a16:rowId xmlns:a16="http://schemas.microsoft.com/office/drawing/2014/main" val="10001"/>
                  </a:ext>
                </a:extLst>
              </a:tr>
              <a:tr h="373380">
                <a:tc>
                  <a:txBody>
                    <a:bodyPr/>
                    <a:lstStyle/>
                    <a:p>
                      <a:r>
                        <a:rPr sz="1000" b="0" i="0">
                          <a:solidFill>
                            <a:srgbClr val="1F2937"/>
                          </a:solidFill>
                          <a:latin typeface="Calibri"/>
                        </a:rPr>
                        <a:t>Route pages: dated deal cards (airline, dates, cabin, price) in the HTML</a:t>
                      </a:r>
                    </a:p>
                  </a:txBody>
                  <a:tcPr marL="64008" marR="64008" marT="36576" marB="36576">
                    <a:solidFill>
                      <a:srgbClr val="F3F5F8"/>
                    </a:solidFill>
                  </a:tcPr>
                </a:tc>
                <a:tc>
                  <a:txBody>
                    <a:bodyPr/>
                    <a:lstStyle/>
                    <a:p>
                      <a:r>
                        <a:rPr sz="1000" b="0" i="0">
                          <a:solidFill>
                            <a:srgbClr val="1F2937"/>
                          </a:solidFill>
                          <a:latin typeface="Calibri"/>
                        </a:rPr>
                        <a:t>No</a:t>
                      </a:r>
                    </a:p>
                  </a:txBody>
                  <a:tcPr marL="64008" marR="64008" marT="36576" marB="36576">
                    <a:solidFill>
                      <a:srgbClr val="FBE8EA"/>
                    </a:solidFill>
                  </a:tcPr>
                </a:tc>
                <a:extLst>
                  <a:ext uri="{0D108BD9-81ED-4DB2-BD59-A6C34878D82A}">
                    <a16:rowId xmlns:a16="http://schemas.microsoft.com/office/drawing/2014/main" val="10002"/>
                  </a:ext>
                </a:extLst>
              </a:tr>
              <a:tr h="373380">
                <a:tc>
                  <a:txBody>
                    <a:bodyPr/>
                    <a:lstStyle/>
                    <a:p>
                      <a:r>
                        <a:rPr sz="1000" b="0" i="0">
                          <a:solidFill>
                            <a:srgbClr val="1F2937"/>
                          </a:solidFill>
                          <a:latin typeface="Calibri"/>
                        </a:rPr>
                        <a:t>Holiday pages (Bali, Fiji): any JSON-LD (FAQ questions are now in the text, an improvement since August)</a:t>
                      </a:r>
                    </a:p>
                  </a:txBody>
                  <a:tcPr marL="64008" marR="64008" marT="36576" marB="36576">
                    <a:solidFill>
                      <a:srgbClr val="FFFFFF"/>
                    </a:solidFill>
                  </a:tcPr>
                </a:tc>
                <a:tc>
                  <a:txBody>
                    <a:bodyPr/>
                    <a:lstStyle/>
                    <a:p>
                      <a:r>
                        <a:rPr sz="1000" b="0" i="0">
                          <a:solidFill>
                            <a:srgbClr val="1F2937"/>
                          </a:solidFill>
                          <a:latin typeface="Calibri"/>
                        </a:rPr>
                        <a:t>No</a:t>
                      </a:r>
                    </a:p>
                  </a:txBody>
                  <a:tcPr marL="64008" marR="64008" marT="36576" marB="36576">
                    <a:solidFill>
                      <a:srgbClr val="FBE8EA"/>
                    </a:solidFill>
                  </a:tcPr>
                </a:tc>
                <a:extLst>
                  <a:ext uri="{0D108BD9-81ED-4DB2-BD59-A6C34878D82A}">
                    <a16:rowId xmlns:a16="http://schemas.microsoft.com/office/drawing/2014/main" val="10003"/>
                  </a:ext>
                </a:extLst>
              </a:tr>
              <a:tr h="373380">
                <a:tc>
                  <a:txBody>
                    <a:bodyPr/>
                    <a:lstStyle/>
                    <a:p>
                      <a:r>
                        <a:rPr sz="1000" b="0" i="0">
                          <a:solidFill>
                            <a:srgbClr val="1F2937"/>
                          </a:solidFill>
                          <a:latin typeface="Calibri"/>
                        </a:rPr>
                        <a:t>/llms.txt (Expedia publishes one; Google ignores it)</a:t>
                      </a:r>
                    </a:p>
                  </a:txBody>
                  <a:tcPr marL="64008" marR="64008" marT="36576" marB="36576">
                    <a:solidFill>
                      <a:srgbClr val="F3F5F8"/>
                    </a:solidFill>
                  </a:tcPr>
                </a:tc>
                <a:tc>
                  <a:txBody>
                    <a:bodyPr/>
                    <a:lstStyle/>
                    <a:p>
                      <a:r>
                        <a:rPr sz="1000" b="0" i="0">
                          <a:solidFill>
                            <a:srgbClr val="1F2937"/>
                          </a:solidFill>
                          <a:latin typeface="Calibri"/>
                        </a:rPr>
                        <a:t>404</a:t>
                      </a:r>
                    </a:p>
                  </a:txBody>
                  <a:tcPr marL="64008" marR="64008" marT="36576" marB="36576">
                    <a:solidFill>
                      <a:srgbClr val="FFF3DC"/>
                    </a:solidFill>
                  </a:tcPr>
                </a:tc>
                <a:extLst>
                  <a:ext uri="{0D108BD9-81ED-4DB2-BD59-A6C34878D82A}">
                    <a16:rowId xmlns:a16="http://schemas.microsoft.com/office/drawing/2014/main" val="10004"/>
                  </a:ext>
                </a:extLst>
              </a:tr>
              <a:tr h="373380">
                <a:tc>
                  <a:txBody>
                    <a:bodyPr/>
                    <a:lstStyle/>
                    <a:p>
                      <a:r>
                        <a:rPr sz="1000" b="0" i="0">
                          <a:solidFill>
                            <a:srgbClr val="1F2937"/>
                          </a:solidFill>
                          <a:latin typeface="Calibri"/>
                        </a:rPr>
                        <a:t>robots.txt allows AI search and training bots (wildcard Allow, plus GPTBot, PerplexityBot, AnthropicBot named)</a:t>
                      </a:r>
                    </a:p>
                  </a:txBody>
                  <a:tcPr marL="64008" marR="64008" marT="36576" marB="36576">
                    <a:solidFill>
                      <a:srgbClr val="FFFFFF"/>
                    </a:solidFill>
                  </a:tcPr>
                </a:tc>
                <a:tc>
                  <a:txBody>
                    <a:bodyPr/>
                    <a:lstStyle/>
                    <a:p>
                      <a:r>
                        <a:rPr sz="1000" b="0" i="0">
                          <a:solidFill>
                            <a:srgbClr val="1F2937"/>
                          </a:solidFill>
                          <a:latin typeface="Calibri"/>
                        </a:rPr>
                        <a:t>Yes</a:t>
                      </a:r>
                    </a:p>
                  </a:txBody>
                  <a:tcPr marL="64008" marR="64008" marT="36576" marB="36576">
                    <a:solidFill>
                      <a:srgbClr val="E4F1E8"/>
                    </a:solidFill>
                  </a:tcPr>
                </a:tc>
                <a:extLst>
                  <a:ext uri="{0D108BD9-81ED-4DB2-BD59-A6C34878D82A}">
                    <a16:rowId xmlns:a16="http://schemas.microsoft.com/office/drawing/2014/main" val="10005"/>
                  </a:ext>
                </a:extLst>
              </a:tr>
            </a:tbl>
          </a:graphicData>
        </a:graphic>
      </p:graphicFrame>
      <p:sp>
        <p:nvSpPr>
          <p:cNvPr id="10" name="TextBox 9"/>
          <p:cNvSpPr txBox="1"/>
          <p:nvPr/>
        </p:nvSpPr>
        <p:spPr>
          <a:xfrm>
            <a:off x="548640" y="5349240"/>
            <a:ext cx="4023360" cy="91440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In our August 2026 Brave snapshot, an FC page was in the top 10 for 30 of 50 customer questions, and for none of the eight 'why use a travel agent' questions. This snapshot did not retrieve FC in the top 10 for those eight questions; it does not prove no suitable page exists.</a:t>
            </a:r>
          </a:p>
        </p:txBody>
      </p:sp>
      <p:sp>
        <p:nvSpPr>
          <p:cNvPr id="11" name="TextBox 10"/>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Pillar 2 audit §10.3 (impression score = FC-related words as % of answer words; single run per cell; directional). Live fetches of flightcentre.com.au 25 Oct 2026 with JavaScript off (counts of application/ld+json, FAQPage, 'Available between'). Brave Search AU snapshot, Aug 2026 (fc_search_rank = best rank across three wordings; questions Q23–Q30). Not 'zero everywhere': a documented subset.</a:t>
            </a:r>
          </a:p>
        </p:txBody>
      </p:sp>
      <p:sp>
        <p:nvSpPr>
          <p:cNvPr id="12" name="TextBox 11"/>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WHY</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Ranking is not the same as being cited: FC's Melbourne–London page was a top search result and was cited in 2 of 10 answers</a:t>
            </a:r>
          </a:p>
        </p:txBody>
      </p:sp>
      <p:sp>
        <p:nvSpPr>
          <p:cNvPr id="4" name="Rounded Rectangle 3"/>
          <p:cNvSpPr/>
          <p:nvPr/>
        </p:nvSpPr>
        <p:spPr>
          <a:xfrm>
            <a:off x="9893808"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sp>
        <p:nvSpPr>
          <p:cNvPr id="5" name="Rounded Rectangle 4"/>
          <p:cNvSpPr/>
          <p:nvPr/>
        </p:nvSpPr>
        <p:spPr>
          <a:xfrm>
            <a:off x="833018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graphicFrame>
        <p:nvGraphicFramePr>
          <p:cNvPr id="6" name="Table 5"/>
          <p:cNvGraphicFramePr>
            <a:graphicFrameLocks noGrp="1"/>
          </p:cNvGraphicFramePr>
          <p:nvPr/>
        </p:nvGraphicFramePr>
        <p:xfrm>
          <a:off x="548640" y="1645920"/>
          <a:ext cx="5852160" cy="3017518"/>
        </p:xfrm>
        <a:graphic>
          <a:graphicData uri="http://schemas.openxmlformats.org/drawingml/2006/table">
            <a:tbl>
              <a:tblPr/>
              <a:tblGrid>
                <a:gridCol w="31089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431074">
                <a:tc>
                  <a:txBody>
                    <a:bodyPr/>
                    <a:lstStyle/>
                    <a:p>
                      <a:r>
                        <a:rPr sz="1050" b="1" i="0">
                          <a:solidFill>
                            <a:srgbClr val="FFFFFF"/>
                          </a:solidFill>
                          <a:latin typeface="Calibri"/>
                        </a:rPr>
                        <a:t>Question where FC's page was a top-ranked result (Brave AU, Aug 2026)</a:t>
                      </a:r>
                    </a:p>
                  </a:txBody>
                  <a:tcPr marL="64008" marR="64008" marT="36576" marB="36576" anchor="ctr">
                    <a:solidFill>
                      <a:srgbClr val="0B2240"/>
                    </a:solidFill>
                  </a:tcPr>
                </a:tc>
                <a:tc>
                  <a:txBody>
                    <a:bodyPr/>
                    <a:lstStyle/>
                    <a:p>
                      <a:pPr algn="ctr"/>
                      <a:r>
                        <a:rPr sz="1050" b="1" i="0">
                          <a:solidFill>
                            <a:srgbClr val="FFFFFF"/>
                          </a:solidFill>
                          <a:latin typeface="Calibri"/>
                        </a:rPr>
                        <a:t>Original page cited</a:t>
                      </a:r>
                    </a:p>
                  </a:txBody>
                  <a:tcPr marL="64008" marR="64008" marT="36576" marB="36576" anchor="ctr">
                    <a:solidFill>
                      <a:srgbClr val="0B2240"/>
                    </a:solidFill>
                  </a:tcPr>
                </a:tc>
                <a:tc>
                  <a:txBody>
                    <a:bodyPr/>
                    <a:lstStyle/>
                    <a:p>
                      <a:pPr algn="ctr"/>
                      <a:r>
                        <a:rPr sz="1050" b="1" i="0">
                          <a:solidFill>
                            <a:srgbClr val="FFFFFF"/>
                          </a:solidFill>
                          <a:latin typeface="Calibri"/>
                        </a:rPr>
                        <a:t>Improved page cited</a:t>
                      </a:r>
                    </a:p>
                  </a:txBody>
                  <a:tcPr marL="64008" marR="64008" marT="36576" marB="36576" anchor="ctr">
                    <a:solidFill>
                      <a:srgbClr val="0B2240"/>
                    </a:solidFill>
                  </a:tcPr>
                </a:tc>
                <a:extLst>
                  <a:ext uri="{0D108BD9-81ED-4DB2-BD59-A6C34878D82A}">
                    <a16:rowId xmlns:a16="http://schemas.microsoft.com/office/drawing/2014/main" val="10000"/>
                  </a:ext>
                </a:extLst>
              </a:tr>
              <a:tr h="431074">
                <a:tc>
                  <a:txBody>
                    <a:bodyPr/>
                    <a:lstStyle/>
                    <a:p>
                      <a:r>
                        <a:rPr sz="1100" b="0" i="0">
                          <a:solidFill>
                            <a:srgbClr val="1F2937"/>
                          </a:solidFill>
                          <a:latin typeface="Calibri"/>
                        </a:rPr>
                        <a:t>Flights from Perth to Bali</a:t>
                      </a:r>
                    </a:p>
                  </a:txBody>
                  <a:tcPr marL="64008" marR="64008" marT="36576" marB="36576">
                    <a:solidFill>
                      <a:srgbClr val="FFFFFF"/>
                    </a:solidFill>
                  </a:tcPr>
                </a:tc>
                <a:tc>
                  <a:txBody>
                    <a:bodyPr/>
                    <a:lstStyle/>
                    <a:p>
                      <a:pPr algn="ctr"/>
                      <a:r>
                        <a:rPr sz="1100" b="0" i="0">
                          <a:solidFill>
                            <a:srgbClr val="1F2937"/>
                          </a:solidFill>
                          <a:latin typeface="Calibri"/>
                        </a:rPr>
                        <a:t>0 / 10</a:t>
                      </a:r>
                    </a:p>
                  </a:txBody>
                  <a:tcPr marL="64008" marR="64008" marT="36576" marB="36576">
                    <a:solidFill>
                      <a:srgbClr val="FBE8EA"/>
                    </a:solidFill>
                  </a:tcPr>
                </a:tc>
                <a:tc>
                  <a:txBody>
                    <a:bodyPr/>
                    <a:lstStyle/>
                    <a:p>
                      <a:pPr algn="ctr"/>
                      <a:r>
                        <a:rPr sz="1100" b="0" i="0">
                          <a:solidFill>
                            <a:srgbClr val="1F2937"/>
                          </a:solidFill>
                          <a:latin typeface="Calibri"/>
                        </a:rPr>
                        <a:t>1 / 10</a:t>
                      </a:r>
                    </a:p>
                  </a:txBody>
                  <a:tcPr marL="64008" marR="64008" marT="36576" marB="36576">
                    <a:solidFill>
                      <a:srgbClr val="FFFFFF"/>
                    </a:solidFill>
                  </a:tcPr>
                </a:tc>
                <a:extLst>
                  <a:ext uri="{0D108BD9-81ED-4DB2-BD59-A6C34878D82A}">
                    <a16:rowId xmlns:a16="http://schemas.microsoft.com/office/drawing/2014/main" val="10001"/>
                  </a:ext>
                </a:extLst>
              </a:tr>
              <a:tr h="431074">
                <a:tc>
                  <a:txBody>
                    <a:bodyPr/>
                    <a:lstStyle/>
                    <a:p>
                      <a:r>
                        <a:rPr sz="1100" b="0" i="0">
                          <a:solidFill>
                            <a:srgbClr val="1F2937"/>
                          </a:solidFill>
                          <a:latin typeface="Calibri"/>
                        </a:rPr>
                        <a:t>Flights from Darwin to Bali</a:t>
                      </a:r>
                    </a:p>
                  </a:txBody>
                  <a:tcPr marL="64008" marR="64008" marT="36576" marB="36576">
                    <a:solidFill>
                      <a:srgbClr val="F3F5F8"/>
                    </a:solidFill>
                  </a:tcPr>
                </a:tc>
                <a:tc>
                  <a:txBody>
                    <a:bodyPr/>
                    <a:lstStyle/>
                    <a:p>
                      <a:pPr algn="ctr"/>
                      <a:r>
                        <a:rPr sz="1100" b="0" i="0">
                          <a:solidFill>
                            <a:srgbClr val="1F2937"/>
                          </a:solidFill>
                          <a:latin typeface="Calibri"/>
                        </a:rPr>
                        <a:t>1 / 10</a:t>
                      </a:r>
                    </a:p>
                  </a:txBody>
                  <a:tcPr marL="64008" marR="64008" marT="36576" marB="36576">
                    <a:solidFill>
                      <a:srgbClr val="FBE8EA"/>
                    </a:solidFill>
                  </a:tcPr>
                </a:tc>
                <a:tc>
                  <a:txBody>
                    <a:bodyPr/>
                    <a:lstStyle/>
                    <a:p>
                      <a:pPr algn="ctr"/>
                      <a:r>
                        <a:rPr sz="1100" b="0" i="0">
                          <a:solidFill>
                            <a:srgbClr val="1F2937"/>
                          </a:solidFill>
                          <a:latin typeface="Calibri"/>
                        </a:rPr>
                        <a:t>2 / 10</a:t>
                      </a:r>
                    </a:p>
                  </a:txBody>
                  <a:tcPr marL="64008" marR="64008" marT="36576" marB="36576">
                    <a:solidFill>
                      <a:srgbClr val="F3F5F8"/>
                    </a:solidFill>
                  </a:tcPr>
                </a:tc>
                <a:extLst>
                  <a:ext uri="{0D108BD9-81ED-4DB2-BD59-A6C34878D82A}">
                    <a16:rowId xmlns:a16="http://schemas.microsoft.com/office/drawing/2014/main" val="10002"/>
                  </a:ext>
                </a:extLst>
              </a:tr>
              <a:tr h="431074">
                <a:tc>
                  <a:txBody>
                    <a:bodyPr/>
                    <a:lstStyle/>
                    <a:p>
                      <a:r>
                        <a:rPr sz="1100" b="0" i="0">
                          <a:solidFill>
                            <a:srgbClr val="1F2937"/>
                          </a:solidFill>
                          <a:latin typeface="Calibri"/>
                        </a:rPr>
                        <a:t>Multi-city flight tickets</a:t>
                      </a:r>
                    </a:p>
                  </a:txBody>
                  <a:tcPr marL="64008" marR="64008" marT="36576" marB="36576">
                    <a:solidFill>
                      <a:srgbClr val="FFFFFF"/>
                    </a:solidFill>
                  </a:tcPr>
                </a:tc>
                <a:tc>
                  <a:txBody>
                    <a:bodyPr/>
                    <a:lstStyle/>
                    <a:p>
                      <a:pPr algn="ctr"/>
                      <a:r>
                        <a:rPr sz="1100" b="0" i="0">
                          <a:solidFill>
                            <a:srgbClr val="1F2937"/>
                          </a:solidFill>
                          <a:latin typeface="Calibri"/>
                        </a:rPr>
                        <a:t>1 / 10</a:t>
                      </a:r>
                    </a:p>
                  </a:txBody>
                  <a:tcPr marL="64008" marR="64008" marT="36576" marB="36576">
                    <a:solidFill>
                      <a:srgbClr val="FBE8EA"/>
                    </a:solidFill>
                  </a:tcPr>
                </a:tc>
                <a:tc>
                  <a:txBody>
                    <a:bodyPr/>
                    <a:lstStyle/>
                    <a:p>
                      <a:pPr algn="ctr"/>
                      <a:r>
                        <a:rPr sz="1100" b="0" i="0">
                          <a:solidFill>
                            <a:srgbClr val="1F2937"/>
                          </a:solidFill>
                          <a:latin typeface="Calibri"/>
                        </a:rPr>
                        <a:t>0 / 10</a:t>
                      </a:r>
                    </a:p>
                  </a:txBody>
                  <a:tcPr marL="64008" marR="64008" marT="36576" marB="36576">
                    <a:solidFill>
                      <a:srgbClr val="FFFFFF"/>
                    </a:solidFill>
                  </a:tcPr>
                </a:tc>
                <a:extLst>
                  <a:ext uri="{0D108BD9-81ED-4DB2-BD59-A6C34878D82A}">
                    <a16:rowId xmlns:a16="http://schemas.microsoft.com/office/drawing/2014/main" val="10003"/>
                  </a:ext>
                </a:extLst>
              </a:tr>
              <a:tr h="431074">
                <a:tc>
                  <a:txBody>
                    <a:bodyPr/>
                    <a:lstStyle/>
                    <a:p>
                      <a:r>
                        <a:rPr sz="1100" b="0" i="0">
                          <a:solidFill>
                            <a:srgbClr val="1F2937"/>
                          </a:solidFill>
                          <a:latin typeface="Calibri"/>
                        </a:rPr>
                        <a:t>Flights from Melbourne to London</a:t>
                      </a:r>
                    </a:p>
                  </a:txBody>
                  <a:tcPr marL="64008" marR="64008" marT="36576" marB="36576">
                    <a:solidFill>
                      <a:srgbClr val="F3F5F8"/>
                    </a:solidFill>
                  </a:tcPr>
                </a:tc>
                <a:tc>
                  <a:txBody>
                    <a:bodyPr/>
                    <a:lstStyle/>
                    <a:p>
                      <a:pPr algn="ctr"/>
                      <a:r>
                        <a:rPr sz="1100" b="0" i="0">
                          <a:solidFill>
                            <a:srgbClr val="1F2937"/>
                          </a:solidFill>
                          <a:latin typeface="Calibri"/>
                        </a:rPr>
                        <a:t>2 / 10</a:t>
                      </a:r>
                    </a:p>
                  </a:txBody>
                  <a:tcPr marL="64008" marR="64008" marT="36576" marB="36576">
                    <a:solidFill>
                      <a:srgbClr val="FBE8EA"/>
                    </a:solidFill>
                  </a:tcPr>
                </a:tc>
                <a:tc>
                  <a:txBody>
                    <a:bodyPr/>
                    <a:lstStyle/>
                    <a:p>
                      <a:pPr algn="ctr"/>
                      <a:r>
                        <a:rPr sz="1100" b="0" i="0">
                          <a:solidFill>
                            <a:srgbClr val="1F2937"/>
                          </a:solidFill>
                          <a:latin typeface="Calibri"/>
                        </a:rPr>
                        <a:t>8 / 10</a:t>
                      </a:r>
                    </a:p>
                  </a:txBody>
                  <a:tcPr marL="64008" marR="64008" marT="36576" marB="36576">
                    <a:solidFill>
                      <a:srgbClr val="E4F1E8"/>
                    </a:solidFill>
                  </a:tcPr>
                </a:tc>
                <a:extLst>
                  <a:ext uri="{0D108BD9-81ED-4DB2-BD59-A6C34878D82A}">
                    <a16:rowId xmlns:a16="http://schemas.microsoft.com/office/drawing/2014/main" val="10004"/>
                  </a:ext>
                </a:extLst>
              </a:tr>
              <a:tr h="431074">
                <a:tc>
                  <a:txBody>
                    <a:bodyPr/>
                    <a:lstStyle/>
                    <a:p>
                      <a:r>
                        <a:rPr sz="1100" b="0" i="0">
                          <a:solidFill>
                            <a:srgbClr val="1F2937"/>
                          </a:solidFill>
                          <a:latin typeface="Calibri"/>
                        </a:rPr>
                        <a:t>Premium economy flights</a:t>
                      </a:r>
                    </a:p>
                  </a:txBody>
                  <a:tcPr marL="64008" marR="64008" marT="36576" marB="36576">
                    <a:solidFill>
                      <a:srgbClr val="FFFFFF"/>
                    </a:solidFill>
                  </a:tcPr>
                </a:tc>
                <a:tc>
                  <a:txBody>
                    <a:bodyPr/>
                    <a:lstStyle/>
                    <a:p>
                      <a:pPr algn="ctr"/>
                      <a:r>
                        <a:rPr sz="1100" b="0" i="0">
                          <a:solidFill>
                            <a:srgbClr val="1F2937"/>
                          </a:solidFill>
                          <a:latin typeface="Calibri"/>
                        </a:rPr>
                        <a:t>8 / 10</a:t>
                      </a:r>
                    </a:p>
                  </a:txBody>
                  <a:tcPr marL="64008" marR="64008" marT="36576" marB="36576">
                    <a:solidFill>
                      <a:srgbClr val="FFFFFF"/>
                    </a:solidFill>
                  </a:tcPr>
                </a:tc>
                <a:tc>
                  <a:txBody>
                    <a:bodyPr/>
                    <a:lstStyle/>
                    <a:p>
                      <a:pPr algn="ctr"/>
                      <a:r>
                        <a:rPr sz="1100" b="0" i="0">
                          <a:solidFill>
                            <a:srgbClr val="1F2937"/>
                          </a:solidFill>
                          <a:latin typeface="Calibri"/>
                        </a:rPr>
                        <a:t>10 / 10</a:t>
                      </a:r>
                    </a:p>
                  </a:txBody>
                  <a:tcPr marL="64008" marR="64008" marT="36576" marB="36576">
                    <a:solidFill>
                      <a:srgbClr val="E4F1E8"/>
                    </a:solidFill>
                  </a:tcPr>
                </a:tc>
                <a:extLst>
                  <a:ext uri="{0D108BD9-81ED-4DB2-BD59-A6C34878D82A}">
                    <a16:rowId xmlns:a16="http://schemas.microsoft.com/office/drawing/2014/main" val="10005"/>
                  </a:ext>
                </a:extLst>
              </a:tr>
              <a:tr h="431074">
                <a:tc>
                  <a:txBody>
                    <a:bodyPr/>
                    <a:lstStyle/>
                    <a:p>
                      <a:r>
                        <a:rPr sz="1100" b="0" i="0">
                          <a:solidFill>
                            <a:srgbClr val="1F2937"/>
                          </a:solidFill>
                          <a:latin typeface="Calibri"/>
                        </a:rPr>
                        <a:t>Round-the-world flights</a:t>
                      </a:r>
                    </a:p>
                  </a:txBody>
                  <a:tcPr marL="64008" marR="64008" marT="36576" marB="36576">
                    <a:solidFill>
                      <a:srgbClr val="F3F5F8"/>
                    </a:solidFill>
                  </a:tcPr>
                </a:tc>
                <a:tc>
                  <a:txBody>
                    <a:bodyPr/>
                    <a:lstStyle/>
                    <a:p>
                      <a:pPr algn="ctr"/>
                      <a:r>
                        <a:rPr sz="1100" b="0" i="0">
                          <a:solidFill>
                            <a:srgbClr val="1F2937"/>
                          </a:solidFill>
                          <a:latin typeface="Calibri"/>
                        </a:rPr>
                        <a:t>10 / 10</a:t>
                      </a:r>
                    </a:p>
                  </a:txBody>
                  <a:tcPr marL="64008" marR="64008" marT="36576" marB="36576">
                    <a:solidFill>
                      <a:srgbClr val="F3F5F8"/>
                    </a:solidFill>
                  </a:tcPr>
                </a:tc>
                <a:tc>
                  <a:txBody>
                    <a:bodyPr/>
                    <a:lstStyle/>
                    <a:p>
                      <a:pPr algn="ctr"/>
                      <a:r>
                        <a:rPr sz="1100" b="0" i="0">
                          <a:solidFill>
                            <a:srgbClr val="1F2937"/>
                          </a:solidFill>
                          <a:latin typeface="Calibri"/>
                        </a:rPr>
                        <a:t>10 / 10</a:t>
                      </a:r>
                    </a:p>
                  </a:txBody>
                  <a:tcPr marL="64008" marR="64008" marT="36576" marB="36576">
                    <a:solidFill>
                      <a:srgbClr val="F3F5F8"/>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48640" y="4800600"/>
            <a:ext cx="5852160" cy="1371600"/>
          </a:xfrm>
          <a:prstGeom prst="rect">
            <a:avLst/>
          </a:prstGeom>
          <a:noFill/>
        </p:spPr>
        <p:txBody>
          <a:bodyPr wrap="square" lIns="45720" rIns="45720" anchor="t">
            <a:spAutoFit/>
          </a:bodyPr>
          <a:lstStyle/>
          <a:p>
            <a:pPr algn="l">
              <a:lnSpc>
                <a:spcPct val="108000"/>
              </a:lnSpc>
              <a:spcAft>
                <a:spcPts val="400"/>
              </a:spcAft>
            </a:pPr>
            <a:r>
              <a:rPr sz="1150" b="0" i="0">
                <a:solidFill>
                  <a:srgbClr val="1F2937"/>
                </a:solidFill>
                <a:latin typeface="Calibri"/>
              </a:rPr>
              <a:t>Search rank does not guarantee retrieval or citation. In our saved source lists, page content and model behaviour affect citation. Across the 13 questions where FC was in the top 3, the original page was cited in 48 of 130 answers (37%) and the improved page in 68 of 130 (52%). Melbourne–London went from 2 to 8 of 10 with no change in search position.</a:t>
            </a:r>
          </a:p>
        </p:txBody>
      </p:sp>
      <p:sp>
        <p:nvSpPr>
          <p:cNvPr id="8" name="Rounded Rectangle 7"/>
          <p:cNvSpPr/>
          <p:nvPr/>
        </p:nvSpPr>
        <p:spPr>
          <a:xfrm>
            <a:off x="6629400" y="1645920"/>
            <a:ext cx="5029200" cy="452628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793992" y="1810512"/>
            <a:ext cx="470001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What the 2026 research calls this</a:t>
            </a:r>
          </a:p>
        </p:txBody>
      </p:sp>
      <p:sp>
        <p:nvSpPr>
          <p:cNvPr id="10" name="TextBox 9"/>
          <p:cNvSpPr txBox="1"/>
          <p:nvPr/>
        </p:nvSpPr>
        <p:spPr>
          <a:xfrm>
            <a:off x="6793992" y="2194560"/>
            <a:ext cx="4700016" cy="3813048"/>
          </a:xfrm>
          <a:prstGeom prst="rect">
            <a:avLst/>
          </a:prstGeom>
          <a:noFill/>
        </p:spPr>
        <p:txBody>
          <a:bodyPr wrap="square" lIns="45720" rIns="45720" anchor="t">
            <a:spAutoFit/>
          </a:bodyPr>
          <a:lstStyle/>
          <a:p>
            <a:pPr algn="l">
              <a:lnSpc>
                <a:spcPct val="108000"/>
              </a:lnSpc>
              <a:spcAft>
                <a:spcPts val="400"/>
              </a:spcAft>
            </a:pPr>
            <a:r>
              <a:rPr sz="1200" b="0" i="0">
                <a:solidFill>
                  <a:srgbClr val="1F2937"/>
                </a:solidFill>
                <a:latin typeface="Calibri"/>
              </a:rPr>
              <a:t>GEO is a pipeline, not a ranking task: search activation, crawling, retrieval, reranking, citation, then user behaviour. A critical survey of 45 GEO studies (Jul 2026) finds the famous content gains hold </a:t>
            </a:r>
            <a:r>
              <a:rPr sz="1200" b="1" i="0">
                <a:solidFill>
                  <a:srgbClr val="1F2937"/>
                </a:solidFill>
                <a:latin typeface="Calibri"/>
              </a:rPr>
              <a:t>'only when a source is already in a fixed context'</a:t>
            </a:r>
            <a:r>
              <a:rPr sz="1200" b="0" i="0">
                <a:solidFill>
                  <a:srgbClr val="1F2937"/>
                </a:solidFill>
                <a:latin typeface="Calibri"/>
              </a:rPr>
              <a:t>, and that no technique has yet shown a durable causal effect on organic discoverability.</a:t>
            </a:r>
          </a:p>
          <a:p>
            <a:pPr algn="l">
              <a:lnSpc>
                <a:spcPct val="108000"/>
              </a:lnSpc>
              <a:spcBef>
                <a:spcPts val="800"/>
              </a:spcBef>
              <a:spcAft>
                <a:spcPts val="400"/>
              </a:spcAft>
            </a:pPr>
            <a:r>
              <a:rPr sz="1200" b="0" i="0">
                <a:solidFill>
                  <a:srgbClr val="1F2937"/>
                </a:solidFill>
                <a:latin typeface="Calibri"/>
              </a:rPr>
              <a:t>A large controlled study (252,000 trials, six models) finds topical relevance and list position are the biggest drivers of first citation in a two-source test; explicit price and a recent timestamp 'help consistently'; formatting-only edits have 'little impact'.</a:t>
            </a:r>
          </a:p>
          <a:p>
            <a:pPr algn="l">
              <a:lnSpc>
                <a:spcPct val="108000"/>
              </a:lnSpc>
              <a:spcBef>
                <a:spcPts val="800"/>
              </a:spcBef>
              <a:spcAft>
                <a:spcPts val="400"/>
              </a:spcAft>
            </a:pPr>
            <a:r>
              <a:rPr sz="1200" b="1" i="0">
                <a:solidFill>
                  <a:srgbClr val="0B2240"/>
                </a:solidFill>
                <a:latin typeface="Calibri"/>
              </a:rPr>
              <a:t>Two jobs, therefore: get FC pages retrieved for the questions that matter, and make them worth quoting once they arrive. Our experiment isolates the second job. The programme covers both.</a:t>
            </a:r>
          </a:p>
        </p:txBody>
      </p:sp>
      <p:sp>
        <p:nvSpPr>
          <p:cNvPr id="11" name="TextBox 10"/>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per-question citation counts, optimised-page run (r5, 28–29 Sep 2026) joined to fc_search_rank in the Aug 2026 Brave snapshot (FC's best rank across three wordings of each question; other sites can share rank 1); arXiv 2607.14035 (critical survey of GEO 2023–2026); arXiv 2605.25517 'What Gets Cited' (2026). Each question: 2 source orders × 5 repeats = 10 answers per version.</a:t>
            </a:r>
          </a:p>
        </p:txBody>
      </p:sp>
      <p:sp>
        <p:nvSpPr>
          <p:cNvPr id="12" name="TextBox 11"/>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1097280"/>
            <a:ext cx="3657600" cy="457200"/>
          </a:xfrm>
          <a:prstGeom prst="rect">
            <a:avLst/>
          </a:prstGeom>
          <a:noFill/>
        </p:spPr>
        <p:txBody>
          <a:bodyPr wrap="square" lIns="45720" rIns="45720" anchor="t">
            <a:spAutoFit/>
          </a:bodyPr>
          <a:lstStyle/>
          <a:p>
            <a:pPr algn="l">
              <a:lnSpc>
                <a:spcPct val="108000"/>
              </a:lnSpc>
              <a:spcAft>
                <a:spcPts val="400"/>
              </a:spcAft>
            </a:pPr>
            <a:r>
              <a:rPr sz="1600" b="1" i="0">
                <a:solidFill>
                  <a:srgbClr val="FF8A99"/>
                </a:solidFill>
                <a:latin typeface="Calibri"/>
              </a:rPr>
              <a:t>PART 2 · WHAT</a:t>
            </a:r>
          </a:p>
        </p:txBody>
      </p:sp>
      <p:sp>
        <p:nvSpPr>
          <p:cNvPr id="4" name="TextBox 3"/>
          <p:cNvSpPr txBox="1"/>
          <p:nvPr/>
        </p:nvSpPr>
        <p:spPr>
          <a:xfrm>
            <a:off x="822960" y="1554480"/>
            <a:ext cx="10241280" cy="164592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What we did: a frozen sandbox where only the Flight Centre page changes</a:t>
            </a:r>
          </a:p>
        </p:txBody>
      </p:sp>
      <p:sp>
        <p:nvSpPr>
          <p:cNvPr id="5" name="TextBox 4"/>
          <p:cNvSpPr txBox="1"/>
          <p:nvPr/>
        </p:nvSpPr>
        <p:spPr>
          <a:xfrm>
            <a:off x="822960" y="3383280"/>
            <a:ext cx="9601200" cy="822960"/>
          </a:xfrm>
          <a:prstGeom prst="rect">
            <a:avLst/>
          </a:prstGeom>
          <a:noFill/>
        </p:spPr>
        <p:txBody>
          <a:bodyPr wrap="square" lIns="45720" rIns="45720" anchor="t">
            <a:spAutoFit/>
          </a:bodyPr>
          <a:lstStyle/>
          <a:p>
            <a:pPr algn="l">
              <a:lnSpc>
                <a:spcPct val="108000"/>
              </a:lnSpc>
              <a:spcAft>
                <a:spcPts val="400"/>
              </a:spcAft>
            </a:pPr>
            <a:r>
              <a:rPr sz="1800" b="0" i="0">
                <a:solidFill>
                  <a:srgbClr val="C9D6EA"/>
                </a:solidFill>
                <a:latin typeface="Calibri"/>
              </a:rPr>
              <a:t>The evidence base we assembled, how we tested, and what moved.</a:t>
            </a:r>
          </a:p>
        </p:txBody>
      </p:sp>
      <p:sp>
        <p:nvSpPr>
          <p:cNvPr id="6" name="TextBox 5"/>
          <p:cNvSpPr txBox="1"/>
          <p:nvPr/>
        </p:nvSpPr>
        <p:spPr>
          <a:xfrm>
            <a:off x="822960" y="4480560"/>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What the published research and the platforms themselves say works</a:t>
            </a:r>
          </a:p>
        </p:txBody>
      </p:sp>
      <p:sp>
        <p:nvSpPr>
          <p:cNvPr id="7" name="TextBox 6"/>
          <p:cNvSpPr txBox="1"/>
          <p:nvPr/>
        </p:nvSpPr>
        <p:spPr>
          <a:xfrm>
            <a:off x="822960" y="4864608"/>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The sandbox and its fairness rules</a:t>
            </a:r>
          </a:p>
        </p:txBody>
      </p:sp>
      <p:sp>
        <p:nvSpPr>
          <p:cNvPr id="8" name="TextBox 7"/>
          <p:cNvSpPr txBox="1"/>
          <p:nvPr/>
        </p:nvSpPr>
        <p:spPr>
          <a:xfrm>
            <a:off x="822960" y="5248656"/>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Six methods one at a time, then the final page, 40.0% → 52.4%</a:t>
            </a:r>
          </a:p>
        </p:txBody>
      </p:sp>
      <p:sp>
        <p:nvSpPr>
          <p:cNvPr id="9" name="TextBox 8"/>
          <p:cNvSpPr txBox="1"/>
          <p:nvPr/>
        </p:nvSpPr>
        <p:spPr>
          <a:xfrm>
            <a:off x="822960" y="5632704"/>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What did not work, and what is still unproven</a:t>
            </a:r>
          </a:p>
        </p:txBody>
      </p:sp>
      <p:sp>
        <p:nvSpPr>
          <p:cNvPr id="10" name="TextBox 9"/>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9FB3CC"/>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WHAT</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What the published evidence says works, and how our test lines up with it</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5" name="Rounded Rectangle 4"/>
          <p:cNvSpPr/>
          <p:nvPr/>
        </p:nvSpPr>
        <p:spPr>
          <a:xfrm>
            <a:off x="8330184"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graphicFrame>
        <p:nvGraphicFramePr>
          <p:cNvPr id="6" name="Table 5"/>
          <p:cNvGraphicFramePr>
            <a:graphicFrameLocks noGrp="1"/>
          </p:cNvGraphicFramePr>
          <p:nvPr/>
        </p:nvGraphicFramePr>
        <p:xfrm>
          <a:off x="548640" y="1600200"/>
          <a:ext cx="11109960" cy="4343400"/>
        </p:xfrm>
        <a:graphic>
          <a:graphicData uri="http://schemas.openxmlformats.org/drawingml/2006/table">
            <a:tbl>
              <a:tblPr/>
              <a:tblGrid>
                <a:gridCol w="21488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482600">
                <a:tc>
                  <a:txBody>
                    <a:bodyPr/>
                    <a:lstStyle/>
                    <a:p>
                      <a:r>
                        <a:rPr sz="1000" b="1" i="0">
                          <a:solidFill>
                            <a:srgbClr val="FFFFFF"/>
                          </a:solidFill>
                          <a:latin typeface="Calibri"/>
                        </a:rPr>
                        <a:t>Lever</a:t>
                      </a:r>
                    </a:p>
                  </a:txBody>
                  <a:tcPr marL="64008" marR="64008" marT="36576" marB="36576" anchor="ctr">
                    <a:solidFill>
                      <a:srgbClr val="0B2240"/>
                    </a:solidFill>
                  </a:tcPr>
                </a:tc>
                <a:tc>
                  <a:txBody>
                    <a:bodyPr/>
                    <a:lstStyle/>
                    <a:p>
                      <a:r>
                        <a:rPr sz="1000" b="1" i="0">
                          <a:solidFill>
                            <a:srgbClr val="FFFFFF"/>
                          </a:solidFill>
                          <a:latin typeface="Calibri"/>
                        </a:rPr>
                        <a:t>External evidence (strongest first)</a:t>
                      </a:r>
                    </a:p>
                  </a:txBody>
                  <a:tcPr marL="64008" marR="64008" marT="36576" marB="36576" anchor="ctr">
                    <a:solidFill>
                      <a:srgbClr val="0B2240"/>
                    </a:solidFill>
                  </a:tcPr>
                </a:tc>
                <a:tc>
                  <a:txBody>
                    <a:bodyPr/>
                    <a:lstStyle/>
                    <a:p>
                      <a:r>
                        <a:rPr sz="1000" b="1" i="0">
                          <a:solidFill>
                            <a:srgbClr val="FFFFFF"/>
                          </a:solidFill>
                          <a:latin typeface="Calibri"/>
                        </a:rPr>
                        <a:t>Our sandbox result</a:t>
                      </a:r>
                    </a:p>
                  </a:txBody>
                  <a:tcPr marL="64008" marR="64008" marT="36576" marB="36576" anchor="ctr">
                    <a:solidFill>
                      <a:srgbClr val="0B2240"/>
                    </a:solidFill>
                  </a:tcPr>
                </a:tc>
                <a:tc>
                  <a:txBody>
                    <a:bodyPr/>
                    <a:lstStyle/>
                    <a:p>
                      <a:r>
                        <a:rPr sz="1000" b="1" i="0">
                          <a:solidFill>
                            <a:srgbClr val="FFFFFF"/>
                          </a:solidFill>
                          <a:latin typeface="Calibri"/>
                        </a:rPr>
                        <a:t>Verdict</a:t>
                      </a:r>
                    </a:p>
                  </a:txBody>
                  <a:tcPr marL="64008" marR="64008" marT="36576" marB="36576" anchor="ctr">
                    <a:solidFill>
                      <a:srgbClr val="0B2240"/>
                    </a:solidFill>
                  </a:tcPr>
                </a:tc>
                <a:extLst>
                  <a:ext uri="{0D108BD9-81ED-4DB2-BD59-A6C34878D82A}">
                    <a16:rowId xmlns:a16="http://schemas.microsoft.com/office/drawing/2014/main" val="10000"/>
                  </a:ext>
                </a:extLst>
              </a:tr>
              <a:tr h="482600">
                <a:tc>
                  <a:txBody>
                    <a:bodyPr/>
                    <a:lstStyle/>
                    <a:p>
                      <a:r>
                        <a:rPr sz="950" b="0" i="0">
                          <a:solidFill>
                            <a:srgbClr val="1F2937"/>
                          </a:solidFill>
                          <a:latin typeface="Calibri"/>
                        </a:rPr>
                        <a:t>Topical relevance and position in the model's source list</a:t>
                      </a:r>
                    </a:p>
                  </a:txBody>
                  <a:tcPr marL="64008" marR="64008" marT="36576" marB="36576">
                    <a:solidFill>
                      <a:srgbClr val="FFFFFF"/>
                    </a:solidFill>
                  </a:tcPr>
                </a:tc>
                <a:tc>
                  <a:txBody>
                    <a:bodyPr/>
                    <a:lstStyle/>
                    <a:p>
                      <a:r>
                        <a:rPr sz="950" b="0" i="0">
                          <a:solidFill>
                            <a:srgbClr val="1F2937"/>
                          </a:solidFill>
                          <a:latin typeface="Calibri"/>
                        </a:rPr>
                        <a:t>Biggest drivers of first citation across 252,000 trials, six LLMs (What Gets Cited, 2026); 'lost in the middle' (Liu et al., 2024); C-SEO Bench (2025)</a:t>
                      </a:r>
                    </a:p>
                  </a:txBody>
                  <a:tcPr marL="64008" marR="64008" marT="36576" marB="36576">
                    <a:solidFill>
                      <a:srgbClr val="FFFFFF"/>
                    </a:solidFill>
                  </a:tcPr>
                </a:tc>
                <a:tc>
                  <a:txBody>
                    <a:bodyPr/>
                    <a:lstStyle/>
                    <a:p>
                      <a:r>
                        <a:rPr sz="950" b="0" i="0">
                          <a:solidFill>
                            <a:srgbClr val="1F2937"/>
                          </a:solidFill>
                          <a:latin typeface="Calibri"/>
                        </a:rPr>
                        <a:t>Moving FC's unchanged page to the top of the source list: +18.3 points (benchmark only)</a:t>
                      </a:r>
                    </a:p>
                  </a:txBody>
                  <a:tcPr marL="64008" marR="64008" marT="36576" marB="36576">
                    <a:solidFill>
                      <a:srgbClr val="FFFFFF"/>
                    </a:solidFill>
                  </a:tcPr>
                </a:tc>
                <a:tc>
                  <a:txBody>
                    <a:bodyPr/>
                    <a:lstStyle/>
                    <a:p>
                      <a:r>
                        <a:rPr sz="950" b="1" i="0">
                          <a:solidFill>
                            <a:srgbClr val="1F2937"/>
                          </a:solidFill>
                          <a:latin typeface="Calibri"/>
                        </a:rPr>
                        <a:t>Consistent signal; source order is engine-controlled</a:t>
                      </a:r>
                    </a:p>
                  </a:txBody>
                  <a:tcPr marL="64008" marR="64008" marT="36576" marB="36576">
                    <a:solidFill>
                      <a:srgbClr val="FFFFFF"/>
                    </a:solidFill>
                  </a:tcPr>
                </a:tc>
                <a:extLst>
                  <a:ext uri="{0D108BD9-81ED-4DB2-BD59-A6C34878D82A}">
                    <a16:rowId xmlns:a16="http://schemas.microsoft.com/office/drawing/2014/main" val="10001"/>
                  </a:ext>
                </a:extLst>
              </a:tr>
              <a:tr h="482600">
                <a:tc>
                  <a:txBody>
                    <a:bodyPr/>
                    <a:lstStyle/>
                    <a:p>
                      <a:r>
                        <a:rPr sz="950" b="0" i="0">
                          <a:solidFill>
                            <a:srgbClr val="1F2937"/>
                          </a:solidFill>
                          <a:latin typeface="Calibri"/>
                        </a:rPr>
                        <a:t>Explicit, dated price and fee facts in plain text</a:t>
                      </a:r>
                    </a:p>
                  </a:txBody>
                  <a:tcPr marL="64008" marR="64008" marT="36576" marB="36576">
                    <a:solidFill>
                      <a:srgbClr val="F3F5F8"/>
                    </a:solidFill>
                  </a:tcPr>
                </a:tc>
                <a:tc>
                  <a:txBody>
                    <a:bodyPr/>
                    <a:lstStyle/>
                    <a:p>
                      <a:r>
                        <a:rPr sz="950" b="0" i="0">
                          <a:solidFill>
                            <a:srgbClr val="1F2937"/>
                          </a:solidFill>
                          <a:latin typeface="Calibri"/>
                        </a:rPr>
                        <a:t>'Explicit price information' and 'a recent timestamp' help consistently (2026); high-influence pages carry numerical facts and definitions (citation-absorption study, 2026)</a:t>
                      </a:r>
                    </a:p>
                  </a:txBody>
                  <a:tcPr marL="64008" marR="64008" marT="36576" marB="36576">
                    <a:solidFill>
                      <a:srgbClr val="F3F5F8"/>
                    </a:solidFill>
                  </a:tcPr>
                </a:tc>
                <a:tc>
                  <a:txBody>
                    <a:bodyPr/>
                    <a:lstStyle/>
                    <a:p>
                      <a:r>
                        <a:rPr sz="950" b="0" i="0">
                          <a:solidFill>
                            <a:srgbClr val="1F2937"/>
                          </a:solidFill>
                          <a:latin typeface="Calibri"/>
                        </a:rPr>
                        <a:t>Structured facts block: +7.6 points (interval +2.8 to +13.1)</a:t>
                      </a:r>
                    </a:p>
                  </a:txBody>
                  <a:tcPr marL="64008" marR="64008" marT="36576" marB="36576">
                    <a:solidFill>
                      <a:srgbClr val="F3F5F8"/>
                    </a:solidFill>
                  </a:tcPr>
                </a:tc>
                <a:tc>
                  <a:txBody>
                    <a:bodyPr/>
                    <a:lstStyle/>
                    <a:p>
                      <a:r>
                        <a:rPr sz="950" b="1" i="0">
                          <a:solidFill>
                            <a:srgbClr val="1E7A46"/>
                          </a:solidFill>
                          <a:latin typeface="Calibri"/>
                        </a:rPr>
                        <a:t>Positive exploratory result</a:t>
                      </a:r>
                    </a:p>
                  </a:txBody>
                  <a:tcPr marL="64008" marR="64008" marT="36576" marB="36576">
                    <a:solidFill>
                      <a:srgbClr val="F3F5F8"/>
                    </a:solidFill>
                  </a:tcPr>
                </a:tc>
                <a:extLst>
                  <a:ext uri="{0D108BD9-81ED-4DB2-BD59-A6C34878D82A}">
                    <a16:rowId xmlns:a16="http://schemas.microsoft.com/office/drawing/2014/main" val="10002"/>
                  </a:ext>
                </a:extLst>
              </a:tr>
              <a:tr h="482600">
                <a:tc>
                  <a:txBody>
                    <a:bodyPr/>
                    <a:lstStyle/>
                    <a:p>
                      <a:r>
                        <a:rPr sz="950" b="0" i="0">
                          <a:solidFill>
                            <a:srgbClr val="1F2937"/>
                          </a:solidFill>
                          <a:latin typeface="Calibri"/>
                        </a:rPr>
                        <a:t>Question-shaped, answer-ready sections (FAQ in the text)</a:t>
                      </a:r>
                    </a:p>
                  </a:txBody>
                  <a:tcPr marL="64008" marR="64008" marT="36576" marB="36576">
                    <a:solidFill>
                      <a:srgbClr val="FFFFFF"/>
                    </a:solidFill>
                  </a:tcPr>
                </a:tc>
                <a:tc>
                  <a:txBody>
                    <a:bodyPr/>
                    <a:lstStyle/>
                    <a:p>
                      <a:r>
                        <a:rPr sz="950" b="0" i="0">
                          <a:solidFill>
                            <a:srgbClr val="1F2937"/>
                          </a:solidFill>
                          <a:latin typeface="Calibri"/>
                        </a:rPr>
                        <a:t>GEO (KDD 2024): statistics, quotations, clear structure raised visibility up to ~40% on its benchmark; GEO-SFE (2026): +17.3% citation rate from structure across six engines</a:t>
                      </a:r>
                    </a:p>
                  </a:txBody>
                  <a:tcPr marL="64008" marR="64008" marT="36576" marB="36576">
                    <a:solidFill>
                      <a:srgbClr val="FFFFFF"/>
                    </a:solidFill>
                  </a:tcPr>
                </a:tc>
                <a:tc>
                  <a:txBody>
                    <a:bodyPr/>
                    <a:lstStyle/>
                    <a:p>
                      <a:r>
                        <a:rPr sz="950" b="0" i="0">
                          <a:solidFill>
                            <a:srgbClr val="1F2937"/>
                          </a:solidFill>
                          <a:latin typeface="Calibri"/>
                        </a:rPr>
                        <a:t>Grounded FAQ: +6.9 (interval +1.0 to +13.1); restoring FAQ questions is in the final page</a:t>
                      </a:r>
                    </a:p>
                  </a:txBody>
                  <a:tcPr marL="64008" marR="64008" marT="36576" marB="36576">
                    <a:solidFill>
                      <a:srgbClr val="FFFFFF"/>
                    </a:solidFill>
                  </a:tcPr>
                </a:tc>
                <a:tc>
                  <a:txBody>
                    <a:bodyPr/>
                    <a:lstStyle/>
                    <a:p>
                      <a:r>
                        <a:rPr sz="950" b="1" i="0">
                          <a:solidFill>
                            <a:srgbClr val="1E7A46"/>
                          </a:solidFill>
                          <a:latin typeface="Calibri"/>
                        </a:rPr>
                        <a:t>Positive exploratory result</a:t>
                      </a:r>
                    </a:p>
                  </a:txBody>
                  <a:tcPr marL="64008" marR="64008" marT="36576" marB="36576">
                    <a:solidFill>
                      <a:srgbClr val="FFFFFF"/>
                    </a:solidFill>
                  </a:tcPr>
                </a:tc>
                <a:extLst>
                  <a:ext uri="{0D108BD9-81ED-4DB2-BD59-A6C34878D82A}">
                    <a16:rowId xmlns:a16="http://schemas.microsoft.com/office/drawing/2014/main" val="10003"/>
                  </a:ext>
                </a:extLst>
              </a:tr>
              <a:tr h="482600">
                <a:tc>
                  <a:txBody>
                    <a:bodyPr/>
                    <a:lstStyle/>
                    <a:p>
                      <a:r>
                        <a:rPr sz="950" b="0" i="0">
                          <a:solidFill>
                            <a:srgbClr val="1F2937"/>
                          </a:solidFill>
                          <a:latin typeface="Calibri"/>
                        </a:rPr>
                        <a:t>Content present in the first HTML (no JavaScript needed)</a:t>
                      </a:r>
                    </a:p>
                  </a:txBody>
                  <a:tcPr marL="64008" marR="64008" marT="36576" marB="36576">
                    <a:solidFill>
                      <a:srgbClr val="F3F5F8"/>
                    </a:solidFill>
                  </a:tcPr>
                </a:tc>
                <a:tc>
                  <a:txBody>
                    <a:bodyPr/>
                    <a:lstStyle/>
                    <a:p>
                      <a:r>
                        <a:rPr sz="950" b="0" i="0">
                          <a:solidFill>
                            <a:srgbClr val="1F2937"/>
                          </a:solidFill>
                          <a:latin typeface="Calibri"/>
                        </a:rPr>
                        <a:t>Vercel/MERJ (Dec 2024) observed limited JavaScript rendering among sampled AI crawlers. Capabilities vary. Google advises useful content in text.</a:t>
                      </a:r>
                    </a:p>
                  </a:txBody>
                  <a:tcPr marL="64008" marR="64008" marT="36576" marB="36576">
                    <a:solidFill>
                      <a:srgbClr val="F3F5F8"/>
                    </a:solidFill>
                  </a:tcPr>
                </a:tc>
                <a:tc>
                  <a:txBody>
                    <a:bodyPr/>
                    <a:lstStyle/>
                    <a:p>
                      <a:r>
                        <a:rPr sz="950" b="0" i="0">
                          <a:solidFill>
                            <a:srgbClr val="1F2937"/>
                          </a:solidFill>
                          <a:latin typeface="Calibri"/>
                        </a:rPr>
                        <a:t>Rendered deal content: +6.6 (interval −0.3 to +14.1); base of the final page</a:t>
                      </a:r>
                    </a:p>
                  </a:txBody>
                  <a:tcPr marL="64008" marR="64008" marT="36576" marB="36576">
                    <a:solidFill>
                      <a:srgbClr val="F3F5F8"/>
                    </a:solidFill>
                  </a:tcPr>
                </a:tc>
                <a:tc>
                  <a:txBody>
                    <a:bodyPr/>
                    <a:lstStyle/>
                    <a:p>
                      <a:r>
                        <a:rPr sz="950" b="1" i="0">
                          <a:solidFill>
                            <a:srgbClr val="1E7A46"/>
                          </a:solidFill>
                          <a:latin typeface="Calibri"/>
                        </a:rPr>
                        <a:t>Positive estimate; interval includes zero</a:t>
                      </a:r>
                    </a:p>
                  </a:txBody>
                  <a:tcPr marL="64008" marR="64008" marT="36576" marB="36576">
                    <a:solidFill>
                      <a:srgbClr val="F3F5F8"/>
                    </a:solidFill>
                  </a:tcPr>
                </a:tc>
                <a:extLst>
                  <a:ext uri="{0D108BD9-81ED-4DB2-BD59-A6C34878D82A}">
                    <a16:rowId xmlns:a16="http://schemas.microsoft.com/office/drawing/2014/main" val="10004"/>
                  </a:ext>
                </a:extLst>
              </a:tr>
              <a:tr h="482600">
                <a:tc>
                  <a:txBody>
                    <a:bodyPr/>
                    <a:lstStyle/>
                    <a:p>
                      <a:r>
                        <a:rPr sz="950" b="0" i="0">
                          <a:solidFill>
                            <a:srgbClr val="1F2937"/>
                          </a:solidFill>
                          <a:latin typeface="Calibri"/>
                        </a:rPr>
                        <a:t>Structured data (JSON-LD)</a:t>
                      </a:r>
                    </a:p>
                  </a:txBody>
                  <a:tcPr marL="64008" marR="64008" marT="36576" marB="36576">
                    <a:solidFill>
                      <a:srgbClr val="FFFFFF"/>
                    </a:solidFill>
                  </a:tcPr>
                </a:tc>
                <a:tc>
                  <a:txBody>
                    <a:bodyPr/>
                    <a:lstStyle/>
                    <a:p>
                      <a:r>
                        <a:rPr sz="950" b="0" i="0">
                          <a:solidFill>
                            <a:srgbClr val="1F2937"/>
                          </a:solidFill>
                          <a:latin typeface="Calibri"/>
                        </a:rPr>
                        <a:t>Google: 'no special schema.org structured data' for AI features; must match visible text. Bing: GEO does not guarantee citations</a:t>
                      </a:r>
                    </a:p>
                  </a:txBody>
                  <a:tcPr marL="64008" marR="64008" marT="36576" marB="36576">
                    <a:solidFill>
                      <a:srgbClr val="FFFFFF"/>
                    </a:solidFill>
                  </a:tcPr>
                </a:tc>
                <a:tc>
                  <a:txBody>
                    <a:bodyPr/>
                    <a:lstStyle/>
                    <a:p>
                      <a:r>
                        <a:rPr sz="950" b="0" i="0">
                          <a:solidFill>
                            <a:srgbClr val="1F2937"/>
                          </a:solidFill>
                          <a:latin typeface="Calibri"/>
                        </a:rPr>
                        <a:t>Schema with a visible layout: +6.2 (interval +1.4 to +11.0), but the visible change is confounded</a:t>
                      </a:r>
                    </a:p>
                  </a:txBody>
                  <a:tcPr marL="64008" marR="64008" marT="36576" marB="36576">
                    <a:solidFill>
                      <a:srgbClr val="FFFFFF"/>
                    </a:solidFill>
                  </a:tcPr>
                </a:tc>
                <a:tc>
                  <a:txBody>
                    <a:bodyPr/>
                    <a:lstStyle/>
                    <a:p>
                      <a:r>
                        <a:rPr sz="950" b="1" i="0">
                          <a:solidFill>
                            <a:srgbClr val="B26B00"/>
                          </a:solidFill>
                          <a:latin typeface="Calibri"/>
                        </a:rPr>
                        <a:t>Hygiene; not the cause of 52%</a:t>
                      </a:r>
                    </a:p>
                  </a:txBody>
                  <a:tcPr marL="64008" marR="64008" marT="36576" marB="36576">
                    <a:solidFill>
                      <a:srgbClr val="FFFFFF"/>
                    </a:solidFill>
                  </a:tcPr>
                </a:tc>
                <a:extLst>
                  <a:ext uri="{0D108BD9-81ED-4DB2-BD59-A6C34878D82A}">
                    <a16:rowId xmlns:a16="http://schemas.microsoft.com/office/drawing/2014/main" val="10005"/>
                  </a:ext>
                </a:extLst>
              </a:tr>
              <a:tr h="482600">
                <a:tc>
                  <a:txBody>
                    <a:bodyPr/>
                    <a:lstStyle/>
                    <a:p>
                      <a:r>
                        <a:rPr sz="950" b="0" i="0">
                          <a:solidFill>
                            <a:srgbClr val="1F2937"/>
                          </a:solidFill>
                          <a:latin typeface="Calibri"/>
                        </a:rPr>
                        <a:t>Automatic AI rewriting for engines</a:t>
                      </a:r>
                    </a:p>
                  </a:txBody>
                  <a:tcPr marL="64008" marR="64008" marT="36576" marB="36576">
                    <a:solidFill>
                      <a:srgbClr val="F3F5F8"/>
                    </a:solidFill>
                  </a:tcPr>
                </a:tc>
                <a:tc>
                  <a:txBody>
                    <a:bodyPr/>
                    <a:lstStyle/>
                    <a:p>
                      <a:r>
                        <a:rPr sz="950" b="0" i="0">
                          <a:solidFill>
                            <a:srgbClr val="1F2937"/>
                          </a:solidFill>
                          <a:latin typeface="Calibri"/>
                        </a:rPr>
                        <a:t>Most conversational-SEO rewrites ineffective or negative; traditional SEO more effective (C-SEO Bench, 2025); Google: do not rewrite for AI</a:t>
                      </a:r>
                    </a:p>
                  </a:txBody>
                  <a:tcPr marL="64008" marR="64008" marT="36576" marB="36576">
                    <a:solidFill>
                      <a:srgbClr val="F3F5F8"/>
                    </a:solidFill>
                  </a:tcPr>
                </a:tc>
                <a:tc>
                  <a:txBody>
                    <a:bodyPr/>
                    <a:lstStyle/>
                    <a:p>
                      <a:r>
                        <a:rPr sz="950" b="0" i="0">
                          <a:solidFill>
                            <a:srgbClr val="1F2937"/>
                          </a:solidFill>
                          <a:latin typeface="Calibri"/>
                        </a:rPr>
                        <a:t>AI rewrite arm: −5.5 points (interval −10.0 to −1.4)</a:t>
                      </a:r>
                    </a:p>
                  </a:txBody>
                  <a:tcPr marL="64008" marR="64008" marT="36576" marB="36576">
                    <a:solidFill>
                      <a:srgbClr val="F3F5F8"/>
                    </a:solidFill>
                  </a:tcPr>
                </a:tc>
                <a:tc>
                  <a:txBody>
                    <a:bodyPr/>
                    <a:lstStyle/>
                    <a:p>
                      <a:r>
                        <a:rPr sz="950" b="1" i="0">
                          <a:solidFill>
                            <a:srgbClr val="C8102E"/>
                          </a:solidFill>
                          <a:latin typeface="Calibri"/>
                        </a:rPr>
                        <a:t>Tested rewrite declined</a:t>
                      </a:r>
                    </a:p>
                  </a:txBody>
                  <a:tcPr marL="64008" marR="64008" marT="36576" marB="36576">
                    <a:solidFill>
                      <a:srgbClr val="F3F5F8"/>
                    </a:solidFill>
                  </a:tcPr>
                </a:tc>
                <a:extLst>
                  <a:ext uri="{0D108BD9-81ED-4DB2-BD59-A6C34878D82A}">
                    <a16:rowId xmlns:a16="http://schemas.microsoft.com/office/drawing/2014/main" val="10006"/>
                  </a:ext>
                </a:extLst>
              </a:tr>
              <a:tr h="482600">
                <a:tc>
                  <a:txBody>
                    <a:bodyPr/>
                    <a:lstStyle/>
                    <a:p>
                      <a:r>
                        <a:rPr sz="950" b="0" i="0">
                          <a:solidFill>
                            <a:srgbClr val="1F2937"/>
                          </a:solidFill>
                          <a:latin typeface="Calibri"/>
                        </a:rPr>
                        <a:t>Earned third-party mentions</a:t>
                      </a:r>
                    </a:p>
                  </a:txBody>
                  <a:tcPr marL="64008" marR="64008" marT="36576" marB="36576">
                    <a:solidFill>
                      <a:srgbClr val="FFFFFF"/>
                    </a:solidFill>
                  </a:tcPr>
                </a:tc>
                <a:tc>
                  <a:txBody>
                    <a:bodyPr/>
                    <a:lstStyle/>
                    <a:p>
                      <a:r>
                        <a:rPr sz="950" b="0" i="0">
                          <a:solidFill>
                            <a:srgbClr val="1F2937"/>
                          </a:solidFill>
                          <a:latin typeface="Calibri"/>
                        </a:rPr>
                        <a:t>ChatGPT citations: Reddit 16.8%, Wikipedia 7.0%, Tripadvisor 1.5% and the only travel site in the top 50 (Ahrefs, Sep 2026); Google warns against inauthentic mentions</a:t>
                      </a:r>
                    </a:p>
                  </a:txBody>
                  <a:tcPr marL="64008" marR="64008" marT="36576" marB="36576">
                    <a:solidFill>
                      <a:srgbClr val="FFFFFF"/>
                    </a:solidFill>
                  </a:tcPr>
                </a:tc>
                <a:tc>
                  <a:txBody>
                    <a:bodyPr/>
                    <a:lstStyle/>
                    <a:p>
                      <a:r>
                        <a:rPr sz="950" b="0" i="0">
                          <a:solidFill>
                            <a:srgbClr val="1F2937"/>
                          </a:solidFill>
                          <a:latin typeface="Calibri"/>
                        </a:rPr>
                        <a:t>Adding an outside statistic to our own page: +3.4 overall, no net gain where it changed what the model read</a:t>
                      </a:r>
                    </a:p>
                  </a:txBody>
                  <a:tcPr marL="64008" marR="64008" marT="36576" marB="36576">
                    <a:solidFill>
                      <a:srgbClr val="FFFFFF"/>
                    </a:solidFill>
                  </a:tcPr>
                </a:tc>
                <a:tc>
                  <a:txBody>
                    <a:bodyPr/>
                    <a:lstStyle/>
                    <a:p>
                      <a:r>
                        <a:rPr sz="950" b="1" i="0">
                          <a:solidFill>
                            <a:srgbClr val="B26B00"/>
                          </a:solidFill>
                          <a:latin typeface="Calibri"/>
                        </a:rPr>
                        <a:t>Outside facts did not establish an authority benefit</a:t>
                      </a:r>
                    </a:p>
                  </a:txBody>
                  <a:tcPr marL="64008" marR="64008" marT="36576" marB="36576">
                    <a:solidFill>
                      <a:srgbClr val="FFFFFF"/>
                    </a:solidFill>
                  </a:tcPr>
                </a:tc>
                <a:extLst>
                  <a:ext uri="{0D108BD9-81ED-4DB2-BD59-A6C34878D82A}">
                    <a16:rowId xmlns:a16="http://schemas.microsoft.com/office/drawing/2014/main" val="10007"/>
                  </a:ext>
                </a:extLst>
              </a:tr>
              <a:tr h="482600">
                <a:tc>
                  <a:txBody>
                    <a:bodyPr/>
                    <a:lstStyle/>
                    <a:p>
                      <a:r>
                        <a:rPr sz="950" b="0" i="0">
                          <a:solidFill>
                            <a:srgbClr val="1F2937"/>
                          </a:solidFill>
                          <a:latin typeface="Calibri"/>
                        </a:rPr>
                        <a:t>llms.txt</a:t>
                      </a:r>
                    </a:p>
                  </a:txBody>
                  <a:tcPr marL="64008" marR="64008" marT="36576" marB="36576">
                    <a:solidFill>
                      <a:srgbClr val="F3F5F8"/>
                    </a:solidFill>
                  </a:tcPr>
                </a:tc>
                <a:tc>
                  <a:txBody>
                    <a:bodyPr/>
                    <a:lstStyle/>
                    <a:p>
                      <a:r>
                        <a:rPr sz="950" b="0" i="0">
                          <a:solidFill>
                            <a:srgbClr val="1F2937"/>
                          </a:solidFill>
                          <a:latin typeface="Calibri"/>
                        </a:rPr>
                        <a:t>97% of 38,000 published files received zero requests in May 2026 (Ahrefs, 137,210 domains); Google Search ignores it</a:t>
                      </a:r>
                    </a:p>
                  </a:txBody>
                  <a:tcPr marL="64008" marR="64008" marT="36576" marB="36576">
                    <a:solidFill>
                      <a:srgbClr val="F3F5F8"/>
                    </a:solidFill>
                  </a:tcPr>
                </a:tc>
                <a:tc>
                  <a:txBody>
                    <a:bodyPr/>
                    <a:lstStyle/>
                    <a:p>
                      <a:r>
                        <a:rPr sz="950" b="0" i="0">
                          <a:solidFill>
                            <a:srgbClr val="1F2937"/>
                          </a:solidFill>
                          <a:latin typeface="Calibri"/>
                        </a:rPr>
                        <a:t>Not tested (not a content change)</a:t>
                      </a:r>
                    </a:p>
                  </a:txBody>
                  <a:tcPr marL="64008" marR="64008" marT="36576" marB="36576">
                    <a:solidFill>
                      <a:srgbClr val="F3F5F8"/>
                    </a:solidFill>
                  </a:tcPr>
                </a:tc>
                <a:tc>
                  <a:txBody>
                    <a:bodyPr/>
                    <a:lstStyle/>
                    <a:p>
                      <a:r>
                        <a:rPr sz="950" b="1" i="0">
                          <a:solidFill>
                            <a:srgbClr val="B26B00"/>
                          </a:solidFill>
                          <a:latin typeface="Calibri"/>
                        </a:rPr>
                        <a:t>Optional; no ranking claim</a:t>
                      </a:r>
                    </a:p>
                  </a:txBody>
                  <a:tcPr marL="64008" marR="64008" marT="36576" marB="36576">
                    <a:solidFill>
                      <a:srgbClr val="F3F5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Aggarwal et al. (KDD 2024); Puerto et al., C-SEO Bench (NeurIPS 2025); Liu et al. (TACL 2024); arXiv 2605.25517, 2604.25707, 2603.29979, 2607.14035 (2026 preprints); Vercel (17 Dec 2024); Google Search Central AI optimisation guide (May 2026); Bing Webmaster Guidelines (27 Feb 2026); Ahrefs (Jun and Sep 2026). Sandbox intervals are exploratory 95% paired bootstraps, 290 answers per version.</a:t>
            </a:r>
          </a:p>
        </p:txBody>
      </p:sp>
      <p:sp>
        <p:nvSpPr>
          <p:cNvPr id="8" name="TextBox 7"/>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WHAT</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What Google, OpenAI and Bing say: use the vendor checklist as a work list, not as ranking switches</a:t>
            </a:r>
          </a:p>
        </p:txBody>
      </p:sp>
      <p:sp>
        <p:nvSpPr>
          <p:cNvPr id="4" name="Rounded Rectangle 3"/>
          <p:cNvSpPr/>
          <p:nvPr/>
        </p:nvSpPr>
        <p:spPr>
          <a:xfrm>
            <a:off x="9582912" y="329184"/>
            <a:ext cx="2075688"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Official documentation</a:t>
            </a:r>
          </a:p>
        </p:txBody>
      </p:sp>
      <p:graphicFrame>
        <p:nvGraphicFramePr>
          <p:cNvPr id="5" name="Table 4"/>
          <p:cNvGraphicFramePr>
            <a:graphicFrameLocks noGrp="1"/>
          </p:cNvGraphicFramePr>
          <p:nvPr/>
        </p:nvGraphicFramePr>
        <p:xfrm>
          <a:off x="548640" y="1600200"/>
          <a:ext cx="11109960" cy="4160520"/>
        </p:xfrm>
        <a:graphic>
          <a:graphicData uri="http://schemas.openxmlformats.org/drawingml/2006/table">
            <a:tbl>
              <a:tblPr/>
              <a:tblGrid>
                <a:gridCol w="246888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520065">
                <a:tc>
                  <a:txBody>
                    <a:bodyPr/>
                    <a:lstStyle/>
                    <a:p>
                      <a:r>
                        <a:rPr sz="1050" b="1" i="0">
                          <a:solidFill>
                            <a:srgbClr val="FFFFFF"/>
                          </a:solidFill>
                          <a:latin typeface="Calibri"/>
                        </a:rPr>
                        <a:t>Claim you will hear from vendors</a:t>
                      </a:r>
                    </a:p>
                  </a:txBody>
                  <a:tcPr marL="64008" marR="64008" marT="36576" marB="36576" anchor="ctr">
                    <a:solidFill>
                      <a:srgbClr val="0B2240"/>
                    </a:solidFill>
                  </a:tcPr>
                </a:tc>
                <a:tc>
                  <a:txBody>
                    <a:bodyPr/>
                    <a:lstStyle/>
                    <a:p>
                      <a:r>
                        <a:rPr sz="1050" b="1" i="0">
                          <a:solidFill>
                            <a:srgbClr val="FFFFFF"/>
                          </a:solidFill>
                          <a:latin typeface="Calibri"/>
                        </a:rPr>
                        <a:t>What the platform actually says</a:t>
                      </a:r>
                    </a:p>
                  </a:txBody>
                  <a:tcPr marL="64008" marR="64008" marT="36576" marB="36576" anchor="ctr">
                    <a:solidFill>
                      <a:srgbClr val="0B2240"/>
                    </a:solidFill>
                  </a:tcPr>
                </a:tc>
                <a:tc>
                  <a:txBody>
                    <a:bodyPr/>
                    <a:lstStyle/>
                    <a:p>
                      <a:r>
                        <a:rPr sz="1050" b="1" i="0">
                          <a:solidFill>
                            <a:srgbClr val="FFFFFF"/>
                          </a:solidFill>
                          <a:latin typeface="Calibri"/>
                        </a:rPr>
                        <a:t>How we treat it</a:t>
                      </a:r>
                    </a:p>
                  </a:txBody>
                  <a:tcPr marL="64008" marR="64008" marT="36576" marB="36576" anchor="ctr">
                    <a:solidFill>
                      <a:srgbClr val="0B2240"/>
                    </a:solidFill>
                  </a:tcPr>
                </a:tc>
                <a:extLst>
                  <a:ext uri="{0D108BD9-81ED-4DB2-BD59-A6C34878D82A}">
                    <a16:rowId xmlns:a16="http://schemas.microsoft.com/office/drawing/2014/main" val="10000"/>
                  </a:ext>
                </a:extLst>
              </a:tr>
              <a:tr h="520065">
                <a:tc>
                  <a:txBody>
                    <a:bodyPr/>
                    <a:lstStyle/>
                    <a:p>
                      <a:r>
                        <a:rPr sz="1000" b="0" i="0">
                          <a:solidFill>
                            <a:srgbClr val="1F2937"/>
                          </a:solidFill>
                          <a:latin typeface="Calibri"/>
                        </a:rPr>
                        <a:t>'You need llms.txt to be in AI search'</a:t>
                      </a:r>
                    </a:p>
                  </a:txBody>
                  <a:tcPr marL="64008" marR="64008" marT="36576" marB="36576">
                    <a:solidFill>
                      <a:srgbClr val="FFFFFF"/>
                    </a:solidFill>
                  </a:tcPr>
                </a:tc>
                <a:tc>
                  <a:txBody>
                    <a:bodyPr/>
                    <a:lstStyle/>
                    <a:p>
                      <a:r>
                        <a:rPr sz="1000" b="0" i="0">
                          <a:solidFill>
                            <a:srgbClr val="1F2937"/>
                          </a:solidFill>
                          <a:latin typeface="Calibri"/>
                        </a:rPr>
                        <a:t>Google (May 2026): no machine-readable AI files or Markdown are needed; Search ignores them. Ahrefs: 97% of such files are never requested.</a:t>
                      </a:r>
                    </a:p>
                  </a:txBody>
                  <a:tcPr marL="64008" marR="64008" marT="36576" marB="36576">
                    <a:solidFill>
                      <a:srgbClr val="FFFFFF"/>
                    </a:solidFill>
                  </a:tcPr>
                </a:tc>
                <a:tc>
                  <a:txBody>
                    <a:bodyPr/>
                    <a:lstStyle/>
                    <a:p>
                      <a:r>
                        <a:rPr sz="1000" b="0" i="0">
                          <a:solidFill>
                            <a:srgbClr val="1F2937"/>
                          </a:solidFill>
                          <a:latin typeface="Calibri"/>
                        </a:rPr>
                        <a:t>Optional; prioritise standard access and content. No demonstrated ranking benefit.</a:t>
                      </a:r>
                    </a:p>
                  </a:txBody>
                  <a:tcPr marL="64008" marR="64008" marT="36576" marB="36576">
                    <a:solidFill>
                      <a:srgbClr val="FFFFFF"/>
                    </a:solidFill>
                  </a:tcPr>
                </a:tc>
                <a:extLst>
                  <a:ext uri="{0D108BD9-81ED-4DB2-BD59-A6C34878D82A}">
                    <a16:rowId xmlns:a16="http://schemas.microsoft.com/office/drawing/2014/main" val="10001"/>
                  </a:ext>
                </a:extLst>
              </a:tr>
              <a:tr h="520065">
                <a:tc>
                  <a:txBody>
                    <a:bodyPr/>
                    <a:lstStyle/>
                    <a:p>
                      <a:r>
                        <a:rPr sz="1000" b="0" i="0">
                          <a:solidFill>
                            <a:srgbClr val="1F2937"/>
                          </a:solidFill>
                          <a:latin typeface="Calibri"/>
                        </a:rPr>
                        <a:t>'Special AI schema gets you cited'</a:t>
                      </a:r>
                    </a:p>
                  </a:txBody>
                  <a:tcPr marL="64008" marR="64008" marT="36576" marB="36576">
                    <a:solidFill>
                      <a:srgbClr val="F3F5F8"/>
                    </a:solidFill>
                  </a:tcPr>
                </a:tc>
                <a:tc>
                  <a:txBody>
                    <a:bodyPr/>
                    <a:lstStyle/>
                    <a:p>
                      <a:r>
                        <a:rPr sz="1000" b="0" i="0">
                          <a:solidFill>
                            <a:srgbClr val="1F2937"/>
                          </a:solidFill>
                          <a:latin typeface="Calibri"/>
                        </a:rPr>
                        <a:t>Google: 'no special schema.org structured data' for AI features; structured data must match the visible text. Bing: GEO does not guarantee citations, as SEO does not guarantee rankings.</a:t>
                      </a:r>
                    </a:p>
                  </a:txBody>
                  <a:tcPr marL="64008" marR="64008" marT="36576" marB="36576">
                    <a:solidFill>
                      <a:srgbClr val="F3F5F8"/>
                    </a:solidFill>
                  </a:tcPr>
                </a:tc>
                <a:tc>
                  <a:txBody>
                    <a:bodyPr/>
                    <a:lstStyle/>
                    <a:p>
                      <a:r>
                        <a:rPr sz="1000" b="0" i="0">
                          <a:solidFill>
                            <a:srgbClr val="1F2937"/>
                          </a:solidFill>
                          <a:latin typeface="Calibri"/>
                        </a:rPr>
                        <a:t>Generate JSON-LD from the same record as the page. Consistency, not magic.</a:t>
                      </a:r>
                    </a:p>
                  </a:txBody>
                  <a:tcPr marL="64008" marR="64008" marT="36576" marB="36576">
                    <a:solidFill>
                      <a:srgbClr val="F3F5F8"/>
                    </a:solidFill>
                  </a:tcPr>
                </a:tc>
                <a:extLst>
                  <a:ext uri="{0D108BD9-81ED-4DB2-BD59-A6C34878D82A}">
                    <a16:rowId xmlns:a16="http://schemas.microsoft.com/office/drawing/2014/main" val="10002"/>
                  </a:ext>
                </a:extLst>
              </a:tr>
              <a:tr h="520065">
                <a:tc>
                  <a:txBody>
                    <a:bodyPr/>
                    <a:lstStyle/>
                    <a:p>
                      <a:r>
                        <a:rPr sz="1000" b="0" i="0">
                          <a:solidFill>
                            <a:srgbClr val="1F2937"/>
                          </a:solidFill>
                          <a:latin typeface="Calibri"/>
                        </a:rPr>
                        <a:t>'Chunk pages into AI-sized pieces'</a:t>
                      </a:r>
                    </a:p>
                  </a:txBody>
                  <a:tcPr marL="64008" marR="64008" marT="36576" marB="36576">
                    <a:solidFill>
                      <a:srgbClr val="FFFFFF"/>
                    </a:solidFill>
                  </a:tcPr>
                </a:tc>
                <a:tc>
                  <a:txBody>
                    <a:bodyPr/>
                    <a:lstStyle/>
                    <a:p>
                      <a:r>
                        <a:rPr sz="1000" b="0" i="0">
                          <a:solidFill>
                            <a:srgbClr val="1F2937"/>
                          </a:solidFill>
                          <a:latin typeface="Calibri"/>
                        </a:rPr>
                        <a:t>Google: no need to split content; its systems surface the relevant part of a page.</a:t>
                      </a:r>
                    </a:p>
                  </a:txBody>
                  <a:tcPr marL="64008" marR="64008" marT="36576" marB="36576">
                    <a:solidFill>
                      <a:srgbClr val="FFFFFF"/>
                    </a:solidFill>
                  </a:tcPr>
                </a:tc>
                <a:tc>
                  <a:txBody>
                    <a:bodyPr/>
                    <a:lstStyle/>
                    <a:p>
                      <a:r>
                        <a:rPr sz="1000" b="0" i="0">
                          <a:solidFill>
                            <a:srgbClr val="1F2937"/>
                          </a:solidFill>
                          <a:latin typeface="Calibri"/>
                        </a:rPr>
                        <a:t>Skip.</a:t>
                      </a:r>
                    </a:p>
                  </a:txBody>
                  <a:tcPr marL="64008" marR="64008" marT="36576" marB="36576">
                    <a:solidFill>
                      <a:srgbClr val="FFFFFF"/>
                    </a:solidFill>
                  </a:tcPr>
                </a:tc>
                <a:extLst>
                  <a:ext uri="{0D108BD9-81ED-4DB2-BD59-A6C34878D82A}">
                    <a16:rowId xmlns:a16="http://schemas.microsoft.com/office/drawing/2014/main" val="10003"/>
                  </a:ext>
                </a:extLst>
              </a:tr>
              <a:tr h="520065">
                <a:tc>
                  <a:txBody>
                    <a:bodyPr/>
                    <a:lstStyle/>
                    <a:p>
                      <a:r>
                        <a:rPr sz="1000" b="0" i="0">
                          <a:solidFill>
                            <a:srgbClr val="1F2937"/>
                          </a:solidFill>
                          <a:latin typeface="Calibri"/>
                        </a:rPr>
                        <a:t>'Rewrite copy for ChatGPT'</a:t>
                      </a:r>
                    </a:p>
                  </a:txBody>
                  <a:tcPr marL="64008" marR="64008" marT="36576" marB="36576">
                    <a:solidFill>
                      <a:srgbClr val="F3F5F8"/>
                    </a:solidFill>
                  </a:tcPr>
                </a:tc>
                <a:tc>
                  <a:txBody>
                    <a:bodyPr/>
                    <a:lstStyle/>
                    <a:p>
                      <a:r>
                        <a:rPr sz="1000" b="0" i="0">
                          <a:solidFill>
                            <a:srgbClr val="1F2937"/>
                          </a:solidFill>
                          <a:latin typeface="Calibri"/>
                        </a:rPr>
                        <a:t>Google: rewriting for AI is unnecessary and, at scale, can be scaled-content abuse. Bing (Feb 2026): 'artificially engineered language' to trigger citations is now a listed abuse.</a:t>
                      </a:r>
                    </a:p>
                  </a:txBody>
                  <a:tcPr marL="64008" marR="64008" marT="36576" marB="36576">
                    <a:solidFill>
                      <a:srgbClr val="F3F5F8"/>
                    </a:solidFill>
                  </a:tcPr>
                </a:tc>
                <a:tc>
                  <a:txBody>
                    <a:bodyPr/>
                    <a:lstStyle/>
                    <a:p>
                      <a:r>
                        <a:rPr sz="1000" b="0" i="0">
                          <a:solidFill>
                            <a:srgbClr val="1F2937"/>
                          </a:solidFill>
                          <a:latin typeface="Calibri"/>
                        </a:rPr>
                        <a:t>Our tested rewrite lost 5.5 points. Validate quality and results before adoption.</a:t>
                      </a:r>
                    </a:p>
                  </a:txBody>
                  <a:tcPr marL="64008" marR="64008" marT="36576" marB="36576">
                    <a:solidFill>
                      <a:srgbClr val="F3F5F8"/>
                    </a:solidFill>
                  </a:tcPr>
                </a:tc>
                <a:extLst>
                  <a:ext uri="{0D108BD9-81ED-4DB2-BD59-A6C34878D82A}">
                    <a16:rowId xmlns:a16="http://schemas.microsoft.com/office/drawing/2014/main" val="10004"/>
                  </a:ext>
                </a:extLst>
              </a:tr>
              <a:tr h="520065">
                <a:tc>
                  <a:txBody>
                    <a:bodyPr/>
                    <a:lstStyle/>
                    <a:p>
                      <a:r>
                        <a:rPr sz="1000" b="0" i="0">
                          <a:solidFill>
                            <a:srgbClr val="1F2937"/>
                          </a:solidFill>
                          <a:latin typeface="Calibri"/>
                        </a:rPr>
                        <a:t>'Buy mentions and forum posts'</a:t>
                      </a:r>
                    </a:p>
                  </a:txBody>
                  <a:tcPr marL="64008" marR="64008" marT="36576" marB="36576">
                    <a:solidFill>
                      <a:srgbClr val="FFFFFF"/>
                    </a:solidFill>
                  </a:tcPr>
                </a:tc>
                <a:tc>
                  <a:txBody>
                    <a:bodyPr/>
                    <a:lstStyle/>
                    <a:p>
                      <a:r>
                        <a:rPr sz="1000" b="0" i="0">
                          <a:solidFill>
                            <a:srgbClr val="1F2937"/>
                          </a:solidFill>
                          <a:latin typeface="Calibri"/>
                        </a:rPr>
                        <a:t>Google: inauthentic brand mentions 'isn't as helpful as it might seem'. Bing: prompt injection and AI manipulation are abuse.</a:t>
                      </a:r>
                    </a:p>
                  </a:txBody>
                  <a:tcPr marL="64008" marR="64008" marT="36576" marB="36576">
                    <a:solidFill>
                      <a:srgbClr val="FFFFFF"/>
                    </a:solidFill>
                  </a:tcPr>
                </a:tc>
                <a:tc>
                  <a:txBody>
                    <a:bodyPr/>
                    <a:lstStyle/>
                    <a:p>
                      <a:r>
                        <a:rPr sz="1000" b="0" i="0">
                          <a:solidFill>
                            <a:srgbClr val="1F2937"/>
                          </a:solidFill>
                          <a:latin typeface="Calibri"/>
                        </a:rPr>
                        <a:t>Earned mentions only: Wikipedia accuracy, reviews, trade press, useful research.</a:t>
                      </a:r>
                    </a:p>
                  </a:txBody>
                  <a:tcPr marL="64008" marR="64008" marT="36576" marB="36576">
                    <a:solidFill>
                      <a:srgbClr val="FFFFFF"/>
                    </a:solidFill>
                  </a:tcPr>
                </a:tc>
                <a:extLst>
                  <a:ext uri="{0D108BD9-81ED-4DB2-BD59-A6C34878D82A}">
                    <a16:rowId xmlns:a16="http://schemas.microsoft.com/office/drawing/2014/main" val="10005"/>
                  </a:ext>
                </a:extLst>
              </a:tr>
              <a:tr h="520065">
                <a:tc>
                  <a:txBody>
                    <a:bodyPr/>
                    <a:lstStyle/>
                    <a:p>
                      <a:r>
                        <a:rPr sz="1000" b="0" i="0">
                          <a:solidFill>
                            <a:srgbClr val="1F2937"/>
                          </a:solidFill>
                          <a:latin typeface="Calibri"/>
                        </a:rPr>
                        <a:t>'Allow GPTBot and you are in ChatGPT'</a:t>
                      </a:r>
                    </a:p>
                  </a:txBody>
                  <a:tcPr marL="64008" marR="64008" marT="36576" marB="36576">
                    <a:solidFill>
                      <a:srgbClr val="F3F5F8"/>
                    </a:solidFill>
                  </a:tcPr>
                </a:tc>
                <a:tc>
                  <a:txBody>
                    <a:bodyPr/>
                    <a:lstStyle/>
                    <a:p>
                      <a:r>
                        <a:rPr sz="1000" b="0" i="0">
                          <a:solidFill>
                            <a:srgbClr val="1F2937"/>
                          </a:solidFill>
                          <a:latin typeface="Calibri"/>
                        </a:rPr>
                        <a:t>OpenAI: GPTBot is training; OAI-SearchBot decides ChatGPT search ('sites opted out of OAI-SearchBot will not be shown'); ChatGPT-User fetches for a user and may ignore robots.txt. Changes take ~24 h.</a:t>
                      </a:r>
                    </a:p>
                  </a:txBody>
                  <a:tcPr marL="64008" marR="64008" marT="36576" marB="36576">
                    <a:solidFill>
                      <a:srgbClr val="F3F5F8"/>
                    </a:solidFill>
                  </a:tcPr>
                </a:tc>
                <a:tc>
                  <a:txBody>
                    <a:bodyPr/>
                    <a:lstStyle/>
                    <a:p>
                      <a:r>
                        <a:rPr sz="1000" b="0" i="0">
                          <a:solidFill>
                            <a:srgbClr val="1F2937"/>
                          </a:solidFill>
                          <a:latin typeface="Calibri"/>
                        </a:rPr>
                        <a:t>Name the right bots explicitly. Confirm fetches in server logs.</a:t>
                      </a:r>
                    </a:p>
                  </a:txBody>
                  <a:tcPr marL="64008" marR="64008" marT="36576" marB="36576">
                    <a:solidFill>
                      <a:srgbClr val="F3F5F8"/>
                    </a:solidFill>
                  </a:tcPr>
                </a:tc>
                <a:extLst>
                  <a:ext uri="{0D108BD9-81ED-4DB2-BD59-A6C34878D82A}">
                    <a16:rowId xmlns:a16="http://schemas.microsoft.com/office/drawing/2014/main" val="10006"/>
                  </a:ext>
                </a:extLst>
              </a:tr>
              <a:tr h="520065">
                <a:tc>
                  <a:txBody>
                    <a:bodyPr/>
                    <a:lstStyle/>
                    <a:p>
                      <a:r>
                        <a:rPr sz="1000" b="0" i="0">
                          <a:solidFill>
                            <a:srgbClr val="1F2937"/>
                          </a:solidFill>
                          <a:latin typeface="Calibri"/>
                        </a:rPr>
                        <a:t>'Block Copilot training but keep citations'</a:t>
                      </a:r>
                    </a:p>
                  </a:txBody>
                  <a:tcPr marL="64008" marR="64008" marT="36576" marB="36576">
                    <a:solidFill>
                      <a:srgbClr val="FFFFFF"/>
                    </a:solidFill>
                  </a:tcPr>
                </a:tc>
                <a:tc>
                  <a:txBody>
                    <a:bodyPr/>
                    <a:lstStyle/>
                    <a:p>
                      <a:r>
                        <a:rPr sz="1000" b="0" i="0">
                          <a:solidFill>
                            <a:srgbClr val="1F2937"/>
                          </a:solidFill>
                          <a:latin typeface="Calibri"/>
                        </a:rPr>
                        <a:t>Bing: NOARCHIVE removes content from Copilot answers and grounding; NOCACHE limits Copilot to URL, title and snippet.</a:t>
                      </a:r>
                    </a:p>
                  </a:txBody>
                  <a:tcPr marL="64008" marR="64008" marT="36576" marB="36576">
                    <a:solidFill>
                      <a:srgbClr val="FFFFFF"/>
                    </a:solidFill>
                  </a:tcPr>
                </a:tc>
                <a:tc>
                  <a:txBody>
                    <a:bodyPr/>
                    <a:lstStyle/>
                    <a:p>
                      <a:r>
                        <a:rPr sz="1000" b="0" i="0">
                          <a:solidFill>
                            <a:srgbClr val="1F2937"/>
                          </a:solidFill>
                          <a:latin typeface="Calibri"/>
                        </a:rPr>
                        <a:t>Audit meta directives before any opt-out.</a:t>
                      </a:r>
                    </a:p>
                  </a:txBody>
                  <a:tcPr marL="64008" marR="64008" marT="36576" marB="36576">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548640" y="5852160"/>
            <a:ext cx="10972800" cy="41148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Google's own summary: 'optimizing for generative AI search is optimizing for the search experience, and thus still SEO.' What it rewards is 'non-commodity' content: facts a customer cannot get everywhere else.</a:t>
            </a:r>
          </a:p>
        </p:txBody>
      </p:sp>
      <p:sp>
        <p:nvSpPr>
          <p:cNvPr id="7" name="TextBox 6"/>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Google Search Central, 'Optimizing your website for generative AI features on Google Search' (15 May 2026) and 'AI features and your website' (10 Dec 2025); OpenAI crawler documentation (developers.openai.com); Bing Webmaster Guidelines update (27 Feb 2026, via Search Engine Journal); Ahrefs llms.txt study (15 Jun 2026).</a:t>
            </a:r>
          </a:p>
        </p:txBody>
      </p:sp>
      <p:sp>
        <p:nvSpPr>
          <p:cNvPr id="8" name="TextBox 7"/>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WHAT</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How we tested: a frozen copy of real Australian search results where only the Flight Centre page changes</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5" name="Rounded Rectangle 4"/>
          <p:cNvSpPr/>
          <p:nvPr/>
        </p:nvSpPr>
        <p:spPr>
          <a:xfrm>
            <a:off x="548640"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8368"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1  Questions</a:t>
            </a:r>
          </a:p>
        </p:txBody>
      </p:sp>
      <p:sp>
        <p:nvSpPr>
          <p:cNvPr id="7" name="TextBox 6"/>
          <p:cNvSpPr txBox="1"/>
          <p:nvPr/>
        </p:nvSpPr>
        <p:spPr>
          <a:xfrm>
            <a:off x="658368"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50 travel questions as customers ask them; 29 eligible flight questions with FC in the saved source pool form the main test</a:t>
            </a:r>
          </a:p>
        </p:txBody>
      </p:sp>
      <p:sp>
        <p:nvSpPr>
          <p:cNvPr id="8" name="Rounded Rectangle 7"/>
          <p:cNvSpPr/>
          <p:nvPr/>
        </p:nvSpPr>
        <p:spPr>
          <a:xfrm>
            <a:off x="2139696"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2249424"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2  Search snapshot</a:t>
            </a:r>
          </a:p>
        </p:txBody>
      </p:sp>
      <p:sp>
        <p:nvSpPr>
          <p:cNvPr id="10" name="TextBox 9"/>
          <p:cNvSpPr txBox="1"/>
          <p:nvPr/>
        </p:nvSpPr>
        <p:spPr>
          <a:xfrm>
            <a:off x="2249424"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Brave Search AU, Aug 2026; top 20 saved, top 10 used; frozen and fingerprinted</a:t>
            </a:r>
          </a:p>
        </p:txBody>
      </p:sp>
      <p:sp>
        <p:nvSpPr>
          <p:cNvPr id="11" name="Rounded Rectangle 10"/>
          <p:cNvSpPr/>
          <p:nvPr/>
        </p:nvSpPr>
        <p:spPr>
          <a:xfrm>
            <a:off x="3730752"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840480"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3  Capture &amp; clean</a:t>
            </a:r>
          </a:p>
        </p:txBody>
      </p:sp>
      <p:sp>
        <p:nvSpPr>
          <p:cNvPr id="13" name="TextBox 12"/>
          <p:cNvSpPr txBox="1"/>
          <p:nvPr/>
        </p:nvSpPr>
        <p:spPr>
          <a:xfrm>
            <a:off x="3840480"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953 pages fetched without JavaScript; scripts, menus and buttons stripped; SHA-256 per page</a:t>
            </a:r>
          </a:p>
        </p:txBody>
      </p:sp>
      <p:sp>
        <p:nvSpPr>
          <p:cNvPr id="14" name="Rounded Rectangle 13"/>
          <p:cNvSpPr/>
          <p:nvPr/>
        </p:nvSpPr>
        <p:spPr>
          <a:xfrm>
            <a:off x="5321808" y="1600200"/>
            <a:ext cx="1517904" cy="228600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431536"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4  FC page change</a:t>
            </a:r>
          </a:p>
        </p:txBody>
      </p:sp>
      <p:sp>
        <p:nvSpPr>
          <p:cNvPr id="16" name="TextBox 15"/>
          <p:cNvSpPr txBox="1"/>
          <p:nvPr/>
        </p:nvSpPr>
        <p:spPr>
          <a:xfrm>
            <a:off x="5431536"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Baseline = page as captured. Optimised = the final page (52 FC pages). Competitors never change</a:t>
            </a:r>
          </a:p>
        </p:txBody>
      </p:sp>
      <p:sp>
        <p:nvSpPr>
          <p:cNvPr id="17" name="Rounded Rectangle 16"/>
          <p:cNvSpPr/>
          <p:nvPr/>
        </p:nvSpPr>
        <p:spPr>
          <a:xfrm>
            <a:off x="6912864"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22592"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5  AI answer</a:t>
            </a:r>
          </a:p>
        </p:txBody>
      </p:sp>
      <p:sp>
        <p:nvSpPr>
          <p:cNvPr id="19" name="TextBox 18"/>
          <p:cNvSpPr txBox="1"/>
          <p:nvPr/>
        </p:nvSpPr>
        <p:spPr>
          <a:xfrm>
            <a:off x="7022592"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OpenAI gpt-5.6-luna; GEO-paper prompt; cites sources by number; 2 source orders × 5 repeats</a:t>
            </a:r>
          </a:p>
        </p:txBody>
      </p:sp>
      <p:sp>
        <p:nvSpPr>
          <p:cNvPr id="20" name="Rounded Rectangle 19"/>
          <p:cNvSpPr/>
          <p:nvPr/>
        </p:nvSpPr>
        <p:spPr>
          <a:xfrm>
            <a:off x="8503920"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13648"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6  Citation check</a:t>
            </a:r>
          </a:p>
        </p:txBody>
      </p:sp>
      <p:sp>
        <p:nvSpPr>
          <p:cNvPr id="22" name="TextBox 21"/>
          <p:cNvSpPr txBox="1"/>
          <p:nvPr/>
        </p:nvSpPr>
        <p:spPr>
          <a:xfrm>
            <a:off x="8613648"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Does any [n] point to an FC source? 290 answers per version; counted offline, no AI call</a:t>
            </a:r>
          </a:p>
        </p:txBody>
      </p:sp>
      <p:sp>
        <p:nvSpPr>
          <p:cNvPr id="23" name="Rounded Rectangle 22"/>
          <p:cNvSpPr/>
          <p:nvPr/>
        </p:nvSpPr>
        <p:spPr>
          <a:xfrm>
            <a:off x="10094976"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0204704"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7  Statistics</a:t>
            </a:r>
          </a:p>
        </p:txBody>
      </p:sp>
      <p:sp>
        <p:nvSpPr>
          <p:cNvPr id="25" name="TextBox 24"/>
          <p:cNvSpPr txBox="1"/>
          <p:nvPr/>
        </p:nvSpPr>
        <p:spPr>
          <a:xfrm>
            <a:off x="10204704"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Paired bootstrap over questions (20,000 resamples); four fairness checks; offline recount</a:t>
            </a:r>
          </a:p>
        </p:txBody>
      </p:sp>
      <p:sp>
        <p:nvSpPr>
          <p:cNvPr id="26" name="Rounded Rectangle 25"/>
          <p:cNvSpPr/>
          <p:nvPr/>
        </p:nvSpPr>
        <p:spPr>
          <a:xfrm>
            <a:off x="548640" y="4069080"/>
            <a:ext cx="5486400" cy="210312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13232" y="4233672"/>
            <a:ext cx="515721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Four rules that keep it honest</a:t>
            </a:r>
          </a:p>
        </p:txBody>
      </p:sp>
      <p:sp>
        <p:nvSpPr>
          <p:cNvPr id="28" name="TextBox 27"/>
          <p:cNvSpPr txBox="1"/>
          <p:nvPr/>
        </p:nvSpPr>
        <p:spPr>
          <a:xfrm>
            <a:off x="713232" y="4617720"/>
            <a:ext cx="5157216" cy="1389888"/>
          </a:xfrm>
          <a:prstGeom prst="rect">
            <a:avLst/>
          </a:prstGeom>
          <a:noFill/>
        </p:spPr>
        <p:txBody>
          <a:bodyPr wrap="square" lIns="45720" rIns="45720" anchor="t">
            <a:spAutoFit/>
          </a:bodyPr>
          <a:lstStyle/>
          <a:p>
            <a:pPr marL="201168" indent="-182880" algn="l">
              <a:lnSpc>
                <a:spcPct val="108000"/>
              </a:lnSpc>
              <a:spcAft>
                <a:spcPts val="400"/>
              </a:spcAft>
              <a:buChar char="•"/>
            </a:pPr>
            <a:r>
              <a:rPr sz="1150" b="0" i="0">
                <a:solidFill>
                  <a:srgbClr val="1F2937"/>
                </a:solidFill>
                <a:latin typeface="Calibri"/>
              </a:rPr>
              <a:t>One settings file; every change dated in the decisions log.</a:t>
            </a:r>
          </a:p>
          <a:p>
            <a:pPr marL="201168" indent="-182880" algn="l">
              <a:lnSpc>
                <a:spcPct val="108000"/>
              </a:lnSpc>
              <a:spcAft>
                <a:spcPts val="400"/>
              </a:spcAft>
              <a:buChar char="•"/>
            </a:pPr>
            <a:r>
              <a:rPr sz="1150" b="0" i="0">
                <a:solidFill>
                  <a:srgbClr val="1F2937"/>
                </a:solidFill>
                <a:latin typeface="Calibri"/>
              </a:rPr>
              <a:t>A protocol lock: model, prompt and settings fingerprinted before a reportable run; drift stops the run.</a:t>
            </a:r>
          </a:p>
          <a:p>
            <a:pPr marL="201168" indent="-182880" algn="l">
              <a:lnSpc>
                <a:spcPct val="108000"/>
              </a:lnSpc>
              <a:spcAft>
                <a:spcPts val="400"/>
              </a:spcAft>
              <a:buChar char="•"/>
            </a:pPr>
            <a:r>
              <a:rPr sz="1150" b="0" i="0">
                <a:solidFill>
                  <a:srgbClr val="1F2937"/>
                </a:solidFill>
                <a:latin typeface="Calibri"/>
              </a:rPr>
              <a:t>Write-once results: a run never overwrites an earlier one.</a:t>
            </a:r>
          </a:p>
          <a:p>
            <a:pPr marL="201168" indent="-182880" algn="l">
              <a:lnSpc>
                <a:spcPct val="108000"/>
              </a:lnSpc>
              <a:spcAft>
                <a:spcPts val="400"/>
              </a:spcAft>
              <a:buChar char="•"/>
            </a:pPr>
            <a:r>
              <a:rPr sz="1150" b="0" i="0">
                <a:solidFill>
                  <a:srgbClr val="1F2937"/>
                </a:solidFill>
                <a:latin typeface="Calibri"/>
              </a:rPr>
              <a:t>All 290 answer pairs matched on question, sources, source order and competitor text.</a:t>
            </a:r>
          </a:p>
        </p:txBody>
      </p:sp>
      <p:sp>
        <p:nvSpPr>
          <p:cNvPr id="29" name="Rounded Rectangle 28"/>
          <p:cNvSpPr/>
          <p:nvPr/>
        </p:nvSpPr>
        <p:spPr>
          <a:xfrm>
            <a:off x="6217920" y="4069080"/>
            <a:ext cx="5440680" cy="210312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382512" y="423367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Why 290 answers per version</a:t>
            </a:r>
          </a:p>
        </p:txBody>
      </p:sp>
      <p:sp>
        <p:nvSpPr>
          <p:cNvPr id="31" name="TextBox 30"/>
          <p:cNvSpPr txBox="1"/>
          <p:nvPr/>
        </p:nvSpPr>
        <p:spPr>
          <a:xfrm>
            <a:off x="6382512" y="4617720"/>
            <a:ext cx="5111496" cy="1389888"/>
          </a:xfrm>
          <a:prstGeom prst="rect">
            <a:avLst/>
          </a:prstGeom>
          <a:noFill/>
        </p:spPr>
        <p:txBody>
          <a:bodyPr wrap="square" lIns="45720" rIns="45720" anchor="t">
            <a:spAutoFit/>
          </a:bodyPr>
          <a:lstStyle/>
          <a:p>
            <a:pPr algn="l">
              <a:lnSpc>
                <a:spcPct val="108000"/>
              </a:lnSpc>
              <a:spcAft>
                <a:spcPts val="400"/>
              </a:spcAft>
            </a:pPr>
            <a:r>
              <a:rPr sz="1150" b="0" i="0">
                <a:solidFill>
                  <a:srgbClr val="1F2937"/>
                </a:solidFill>
                <a:latin typeface="Calibri"/>
              </a:rPr>
              <a:t>Generation can vary between runs. Ten answers per question sample that variability; the analysis resamples whole questions to retain their repeated trials.</a:t>
            </a:r>
          </a:p>
          <a:p>
            <a:pPr algn="l">
              <a:lnSpc>
                <a:spcPct val="108000"/>
              </a:lnSpc>
              <a:spcBef>
                <a:spcPts val="500"/>
              </a:spcBef>
              <a:spcAft>
                <a:spcPts val="400"/>
              </a:spcAft>
            </a:pPr>
            <a:r>
              <a:rPr sz="1150" b="0" i="0">
                <a:solidFill>
                  <a:srgbClr val="1F2937"/>
                </a:solidFill>
                <a:latin typeface="Calibri"/>
              </a:rPr>
              <a:t>An interval crossing zero leaves the direction uncertain. Future sample size should depend on pilot variance and the smallest worthwhile effect.</a:t>
            </a:r>
          </a:p>
        </p:txBody>
      </p:sp>
      <p:sp>
        <p:nvSpPr>
          <p:cNvPr id="32" name="TextBox 31"/>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Technical Report and Handover Guide v1.1, Sections 5–6 and Figure 1. Reportable runs are OpenAI/Anthropic only; offline mode is for dry runs.</a:t>
            </a:r>
          </a:p>
        </p:txBody>
      </p:sp>
      <p:sp>
        <p:nvSpPr>
          <p:cNvPr id="33" name="TextBox 32"/>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WHAT</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Six individual methods: five positive estimates, one decline, and a larger position effect</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graphicFrame>
        <p:nvGraphicFramePr>
          <p:cNvPr id="5" name="Chart 4"/>
          <p:cNvGraphicFramePr>
            <a:graphicFrameLocks noGrp="1"/>
          </p:cNvGraphicFramePr>
          <p:nvPr/>
        </p:nvGraphicFramePr>
        <p:xfrm>
          <a:off x="548640" y="1600200"/>
          <a:ext cx="6766560" cy="44805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Table 5"/>
          <p:cNvGraphicFramePr>
            <a:graphicFrameLocks noGrp="1"/>
          </p:cNvGraphicFramePr>
          <p:nvPr/>
        </p:nvGraphicFramePr>
        <p:xfrm>
          <a:off x="7543800" y="1600200"/>
          <a:ext cx="4114800" cy="3108960"/>
        </p:xfrm>
        <a:graphic>
          <a:graphicData uri="http://schemas.openxmlformats.org/drawingml/2006/table">
            <a:tbl>
              <a:tblPr/>
              <a:tblGrid>
                <a:gridCol w="21031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tblGrid>
              <a:tr h="388620">
                <a:tc>
                  <a:txBody>
                    <a:bodyPr/>
                    <a:lstStyle/>
                    <a:p>
                      <a:r>
                        <a:rPr sz="1000" b="1" i="0">
                          <a:solidFill>
                            <a:srgbClr val="FFFFFF"/>
                          </a:solidFill>
                          <a:latin typeface="Calibri"/>
                        </a:rPr>
                        <a:t>Method</a:t>
                      </a:r>
                    </a:p>
                  </a:txBody>
                  <a:tcPr marL="64008" marR="64008" marT="36576" marB="36576" anchor="ctr">
                    <a:solidFill>
                      <a:srgbClr val="0B2240"/>
                    </a:solidFill>
                  </a:tcPr>
                </a:tc>
                <a:tc>
                  <a:txBody>
                    <a:bodyPr/>
                    <a:lstStyle/>
                    <a:p>
                      <a:pPr algn="ctr"/>
                      <a:r>
                        <a:rPr sz="1000" b="1" i="0">
                          <a:solidFill>
                            <a:srgbClr val="FFFFFF"/>
                          </a:solidFill>
                          <a:latin typeface="Calibri"/>
                        </a:rPr>
                        <a:t>Change</a:t>
                      </a:r>
                    </a:p>
                  </a:txBody>
                  <a:tcPr marL="64008" marR="64008" marT="36576" marB="36576" anchor="ctr">
                    <a:solidFill>
                      <a:srgbClr val="0B2240"/>
                    </a:solidFill>
                  </a:tcPr>
                </a:tc>
                <a:tc>
                  <a:txBody>
                    <a:bodyPr/>
                    <a:lstStyle/>
                    <a:p>
                      <a:pPr algn="ctr"/>
                      <a:r>
                        <a:rPr sz="1000" b="1" i="0">
                          <a:solidFill>
                            <a:srgbClr val="FFFFFF"/>
                          </a:solidFill>
                          <a:latin typeface="Calibri"/>
                        </a:rPr>
                        <a:t>95% interval</a:t>
                      </a:r>
                    </a:p>
                  </a:txBody>
                  <a:tcPr marL="64008" marR="64008" marT="36576" marB="36576" anchor="ctr">
                    <a:solidFill>
                      <a:srgbClr val="0B2240"/>
                    </a:solidFill>
                  </a:tcPr>
                </a:tc>
                <a:extLst>
                  <a:ext uri="{0D108BD9-81ED-4DB2-BD59-A6C34878D82A}">
                    <a16:rowId xmlns:a16="http://schemas.microsoft.com/office/drawing/2014/main" val="10000"/>
                  </a:ext>
                </a:extLst>
              </a:tr>
              <a:tr h="388620">
                <a:tc>
                  <a:txBody>
                    <a:bodyPr/>
                    <a:lstStyle/>
                    <a:p>
                      <a:r>
                        <a:rPr sz="1000" b="0" i="0">
                          <a:solidFill>
                            <a:srgbClr val="1F2937"/>
                          </a:solidFill>
                          <a:latin typeface="Calibri"/>
                        </a:rPr>
                        <a:t>Structured facts</a:t>
                      </a:r>
                    </a:p>
                  </a:txBody>
                  <a:tcPr marL="64008" marR="64008" marT="36576" marB="36576">
                    <a:solidFill>
                      <a:srgbClr val="FFFFFF"/>
                    </a:solidFill>
                  </a:tcPr>
                </a:tc>
                <a:tc>
                  <a:txBody>
                    <a:bodyPr/>
                    <a:lstStyle/>
                    <a:p>
                      <a:pPr algn="ctr"/>
                      <a:r>
                        <a:rPr sz="1000" b="0" i="0">
                          <a:solidFill>
                            <a:srgbClr val="1F2937"/>
                          </a:solidFill>
                          <a:latin typeface="Calibri"/>
                        </a:rPr>
                        <a:t>+7.6</a:t>
                      </a:r>
                    </a:p>
                  </a:txBody>
                  <a:tcPr marL="64008" marR="64008" marT="36576" marB="36576">
                    <a:solidFill>
                      <a:srgbClr val="FFFFFF"/>
                    </a:solidFill>
                  </a:tcPr>
                </a:tc>
                <a:tc>
                  <a:txBody>
                    <a:bodyPr/>
                    <a:lstStyle/>
                    <a:p>
                      <a:pPr algn="ctr"/>
                      <a:r>
                        <a:rPr sz="1000" b="0" i="0">
                          <a:solidFill>
                            <a:srgbClr val="1F2937"/>
                          </a:solidFill>
                          <a:latin typeface="Calibri"/>
                        </a:rPr>
                        <a:t>+2.8 to +13.1</a:t>
                      </a:r>
                    </a:p>
                  </a:txBody>
                  <a:tcPr marL="64008" marR="64008" marT="36576" marB="36576">
                    <a:solidFill>
                      <a:srgbClr val="FFFFFF"/>
                    </a:solidFill>
                  </a:tcPr>
                </a:tc>
                <a:extLst>
                  <a:ext uri="{0D108BD9-81ED-4DB2-BD59-A6C34878D82A}">
                    <a16:rowId xmlns:a16="http://schemas.microsoft.com/office/drawing/2014/main" val="10001"/>
                  </a:ext>
                </a:extLst>
              </a:tr>
              <a:tr h="388620">
                <a:tc>
                  <a:txBody>
                    <a:bodyPr/>
                    <a:lstStyle/>
                    <a:p>
                      <a:r>
                        <a:rPr sz="1000" b="0" i="0">
                          <a:solidFill>
                            <a:srgbClr val="1F2937"/>
                          </a:solidFill>
                          <a:latin typeface="Calibri"/>
                        </a:rPr>
                        <a:t>Grounded FAQ</a:t>
                      </a:r>
                    </a:p>
                  </a:txBody>
                  <a:tcPr marL="64008" marR="64008" marT="36576" marB="36576">
                    <a:solidFill>
                      <a:srgbClr val="F3F5F8"/>
                    </a:solidFill>
                  </a:tcPr>
                </a:tc>
                <a:tc>
                  <a:txBody>
                    <a:bodyPr/>
                    <a:lstStyle/>
                    <a:p>
                      <a:pPr algn="ctr"/>
                      <a:r>
                        <a:rPr sz="1000" b="0" i="0">
                          <a:solidFill>
                            <a:srgbClr val="1F2937"/>
                          </a:solidFill>
                          <a:latin typeface="Calibri"/>
                        </a:rPr>
                        <a:t>+6.9</a:t>
                      </a:r>
                    </a:p>
                  </a:txBody>
                  <a:tcPr marL="64008" marR="64008" marT="36576" marB="36576">
                    <a:solidFill>
                      <a:srgbClr val="F3F5F8"/>
                    </a:solidFill>
                  </a:tcPr>
                </a:tc>
                <a:tc>
                  <a:txBody>
                    <a:bodyPr/>
                    <a:lstStyle/>
                    <a:p>
                      <a:pPr algn="ctr"/>
                      <a:r>
                        <a:rPr sz="1000" b="0" i="0">
                          <a:solidFill>
                            <a:srgbClr val="1F2937"/>
                          </a:solidFill>
                          <a:latin typeface="Calibri"/>
                        </a:rPr>
                        <a:t>+1.0 to +13.1</a:t>
                      </a:r>
                    </a:p>
                  </a:txBody>
                  <a:tcPr marL="64008" marR="64008" marT="36576" marB="36576">
                    <a:solidFill>
                      <a:srgbClr val="F3F5F8"/>
                    </a:solidFill>
                  </a:tcPr>
                </a:tc>
                <a:extLst>
                  <a:ext uri="{0D108BD9-81ED-4DB2-BD59-A6C34878D82A}">
                    <a16:rowId xmlns:a16="http://schemas.microsoft.com/office/drawing/2014/main" val="10002"/>
                  </a:ext>
                </a:extLst>
              </a:tr>
              <a:tr h="388620">
                <a:tc>
                  <a:txBody>
                    <a:bodyPr/>
                    <a:lstStyle/>
                    <a:p>
                      <a:r>
                        <a:rPr sz="1000" b="0" i="0">
                          <a:solidFill>
                            <a:srgbClr val="1F2937"/>
                          </a:solidFill>
                          <a:latin typeface="Calibri"/>
                        </a:rPr>
                        <a:t>Rendered content + cleanup</a:t>
                      </a:r>
                    </a:p>
                  </a:txBody>
                  <a:tcPr marL="64008" marR="64008" marT="36576" marB="36576">
                    <a:solidFill>
                      <a:srgbClr val="FFFFFF"/>
                    </a:solidFill>
                  </a:tcPr>
                </a:tc>
                <a:tc>
                  <a:txBody>
                    <a:bodyPr/>
                    <a:lstStyle/>
                    <a:p>
                      <a:pPr algn="ctr"/>
                      <a:r>
                        <a:rPr sz="1000" b="0" i="0">
                          <a:solidFill>
                            <a:srgbClr val="1F2937"/>
                          </a:solidFill>
                          <a:latin typeface="Calibri"/>
                        </a:rPr>
                        <a:t>+6.6</a:t>
                      </a:r>
                    </a:p>
                  </a:txBody>
                  <a:tcPr marL="64008" marR="64008" marT="36576" marB="36576">
                    <a:solidFill>
                      <a:srgbClr val="FFFFFF"/>
                    </a:solidFill>
                  </a:tcPr>
                </a:tc>
                <a:tc>
                  <a:txBody>
                    <a:bodyPr/>
                    <a:lstStyle/>
                    <a:p>
                      <a:pPr algn="ctr"/>
                      <a:r>
                        <a:rPr sz="1000" b="0" i="0">
                          <a:solidFill>
                            <a:srgbClr val="1F2937"/>
                          </a:solidFill>
                          <a:latin typeface="Calibri"/>
                        </a:rPr>
                        <a:t>−0.3 to +14.1</a:t>
                      </a:r>
                    </a:p>
                  </a:txBody>
                  <a:tcPr marL="64008" marR="64008" marT="36576" marB="36576">
                    <a:solidFill>
                      <a:srgbClr val="FFFFFF"/>
                    </a:solidFill>
                  </a:tcPr>
                </a:tc>
                <a:extLst>
                  <a:ext uri="{0D108BD9-81ED-4DB2-BD59-A6C34878D82A}">
                    <a16:rowId xmlns:a16="http://schemas.microsoft.com/office/drawing/2014/main" val="10003"/>
                  </a:ext>
                </a:extLst>
              </a:tr>
              <a:tr h="388620">
                <a:tc>
                  <a:txBody>
                    <a:bodyPr/>
                    <a:lstStyle/>
                    <a:p>
                      <a:r>
                        <a:rPr sz="1000" b="0" i="0">
                          <a:solidFill>
                            <a:srgbClr val="1F2937"/>
                          </a:solidFill>
                          <a:latin typeface="Calibri"/>
                        </a:rPr>
                        <a:t>Schema + visible structure</a:t>
                      </a:r>
                    </a:p>
                  </a:txBody>
                  <a:tcPr marL="64008" marR="64008" marT="36576" marB="36576">
                    <a:solidFill>
                      <a:srgbClr val="F3F5F8"/>
                    </a:solidFill>
                  </a:tcPr>
                </a:tc>
                <a:tc>
                  <a:txBody>
                    <a:bodyPr/>
                    <a:lstStyle/>
                    <a:p>
                      <a:pPr algn="ctr"/>
                      <a:r>
                        <a:rPr sz="1000" b="0" i="0">
                          <a:solidFill>
                            <a:srgbClr val="1F2937"/>
                          </a:solidFill>
                          <a:latin typeface="Calibri"/>
                        </a:rPr>
                        <a:t>+6.2</a:t>
                      </a:r>
                    </a:p>
                  </a:txBody>
                  <a:tcPr marL="64008" marR="64008" marT="36576" marB="36576">
                    <a:solidFill>
                      <a:srgbClr val="F3F5F8"/>
                    </a:solidFill>
                  </a:tcPr>
                </a:tc>
                <a:tc>
                  <a:txBody>
                    <a:bodyPr/>
                    <a:lstStyle/>
                    <a:p>
                      <a:pPr algn="ctr"/>
                      <a:r>
                        <a:rPr sz="1000" b="0" i="0">
                          <a:solidFill>
                            <a:srgbClr val="1F2937"/>
                          </a:solidFill>
                          <a:latin typeface="Calibri"/>
                        </a:rPr>
                        <a:t>+1.4 to +11.0</a:t>
                      </a:r>
                    </a:p>
                  </a:txBody>
                  <a:tcPr marL="64008" marR="64008" marT="36576" marB="36576">
                    <a:solidFill>
                      <a:srgbClr val="F3F5F8"/>
                    </a:solidFill>
                  </a:tcPr>
                </a:tc>
                <a:extLst>
                  <a:ext uri="{0D108BD9-81ED-4DB2-BD59-A6C34878D82A}">
                    <a16:rowId xmlns:a16="http://schemas.microsoft.com/office/drawing/2014/main" val="10004"/>
                  </a:ext>
                </a:extLst>
              </a:tr>
              <a:tr h="388620">
                <a:tc>
                  <a:txBody>
                    <a:bodyPr/>
                    <a:lstStyle/>
                    <a:p>
                      <a:r>
                        <a:rPr sz="1000" b="0" i="0">
                          <a:solidFill>
                            <a:srgbClr val="1F2937"/>
                          </a:solidFill>
                          <a:latin typeface="Calibri"/>
                        </a:rPr>
                        <a:t>External facts + attribution</a:t>
                      </a:r>
                    </a:p>
                  </a:txBody>
                  <a:tcPr marL="64008" marR="64008" marT="36576" marB="36576">
                    <a:solidFill>
                      <a:srgbClr val="FFFFFF"/>
                    </a:solidFill>
                  </a:tcPr>
                </a:tc>
                <a:tc>
                  <a:txBody>
                    <a:bodyPr/>
                    <a:lstStyle/>
                    <a:p>
                      <a:pPr algn="ctr"/>
                      <a:r>
                        <a:rPr sz="1000" b="0" i="0">
                          <a:solidFill>
                            <a:srgbClr val="1F2937"/>
                          </a:solidFill>
                          <a:latin typeface="Calibri"/>
                        </a:rPr>
                        <a:t>+3.4</a:t>
                      </a:r>
                    </a:p>
                  </a:txBody>
                  <a:tcPr marL="64008" marR="64008" marT="36576" marB="36576">
                    <a:solidFill>
                      <a:srgbClr val="FFFFFF"/>
                    </a:solidFill>
                  </a:tcPr>
                </a:tc>
                <a:tc>
                  <a:txBody>
                    <a:bodyPr/>
                    <a:lstStyle/>
                    <a:p>
                      <a:pPr algn="ctr"/>
                      <a:r>
                        <a:rPr sz="1000" b="0" i="0">
                          <a:solidFill>
                            <a:srgbClr val="1F2937"/>
                          </a:solidFill>
                          <a:latin typeface="Calibri"/>
                        </a:rPr>
                        <a:t>−1.0 to +7.9</a:t>
                      </a:r>
                    </a:p>
                  </a:txBody>
                  <a:tcPr marL="64008" marR="64008" marT="36576" marB="36576">
                    <a:solidFill>
                      <a:srgbClr val="FFFFFF"/>
                    </a:solidFill>
                  </a:tcPr>
                </a:tc>
                <a:extLst>
                  <a:ext uri="{0D108BD9-81ED-4DB2-BD59-A6C34878D82A}">
                    <a16:rowId xmlns:a16="http://schemas.microsoft.com/office/drawing/2014/main" val="10005"/>
                  </a:ext>
                </a:extLst>
              </a:tr>
              <a:tr h="388620">
                <a:tc>
                  <a:txBody>
                    <a:bodyPr/>
                    <a:lstStyle/>
                    <a:p>
                      <a:r>
                        <a:rPr sz="1000" b="0" i="0">
                          <a:solidFill>
                            <a:srgbClr val="1F2937"/>
                          </a:solidFill>
                          <a:latin typeface="Calibri"/>
                        </a:rPr>
                        <a:t>Automatic AI rewriting</a:t>
                      </a:r>
                    </a:p>
                  </a:txBody>
                  <a:tcPr marL="64008" marR="64008" marT="36576" marB="36576">
                    <a:solidFill>
                      <a:srgbClr val="F3F5F8"/>
                    </a:solidFill>
                  </a:tcPr>
                </a:tc>
                <a:tc>
                  <a:txBody>
                    <a:bodyPr/>
                    <a:lstStyle/>
                    <a:p>
                      <a:pPr algn="ctr"/>
                      <a:r>
                        <a:rPr sz="1000" b="0" i="0">
                          <a:solidFill>
                            <a:srgbClr val="1F2937"/>
                          </a:solidFill>
                          <a:latin typeface="Calibri"/>
                        </a:rPr>
                        <a:t>−5.5</a:t>
                      </a:r>
                    </a:p>
                  </a:txBody>
                  <a:tcPr marL="64008" marR="64008" marT="36576" marB="36576">
                    <a:solidFill>
                      <a:srgbClr val="F3F5F8"/>
                    </a:solidFill>
                  </a:tcPr>
                </a:tc>
                <a:tc>
                  <a:txBody>
                    <a:bodyPr/>
                    <a:lstStyle/>
                    <a:p>
                      <a:pPr algn="ctr"/>
                      <a:r>
                        <a:rPr sz="1000" b="0" i="0">
                          <a:solidFill>
                            <a:srgbClr val="1F2937"/>
                          </a:solidFill>
                          <a:latin typeface="Calibri"/>
                        </a:rPr>
                        <a:t>−10.0 to −1.4</a:t>
                      </a:r>
                    </a:p>
                  </a:txBody>
                  <a:tcPr marL="64008" marR="64008" marT="36576" marB="36576">
                    <a:solidFill>
                      <a:srgbClr val="F3F5F8"/>
                    </a:solidFill>
                  </a:tcPr>
                </a:tc>
                <a:extLst>
                  <a:ext uri="{0D108BD9-81ED-4DB2-BD59-A6C34878D82A}">
                    <a16:rowId xmlns:a16="http://schemas.microsoft.com/office/drawing/2014/main" val="10006"/>
                  </a:ext>
                </a:extLst>
              </a:tr>
              <a:tr h="388620">
                <a:tc>
                  <a:txBody>
                    <a:bodyPr/>
                    <a:lstStyle/>
                    <a:p>
                      <a:r>
                        <a:rPr sz="1000" b="0" i="0">
                          <a:solidFill>
                            <a:srgbClr val="1F2937"/>
                          </a:solidFill>
                          <a:latin typeface="Calibri"/>
                        </a:rPr>
                        <a:t>Source position (test only)</a:t>
                      </a:r>
                    </a:p>
                  </a:txBody>
                  <a:tcPr marL="64008" marR="64008" marT="36576" marB="36576">
                    <a:solidFill>
                      <a:srgbClr val="FFFFFF"/>
                    </a:solidFill>
                  </a:tcPr>
                </a:tc>
                <a:tc>
                  <a:txBody>
                    <a:bodyPr/>
                    <a:lstStyle/>
                    <a:p>
                      <a:pPr algn="ctr"/>
                      <a:r>
                        <a:rPr sz="1000" b="0" i="0">
                          <a:solidFill>
                            <a:srgbClr val="1F2937"/>
                          </a:solidFill>
                          <a:latin typeface="Calibri"/>
                        </a:rPr>
                        <a:t>+18.3</a:t>
                      </a:r>
                    </a:p>
                  </a:txBody>
                  <a:tcPr marL="64008" marR="64008" marT="36576" marB="36576">
                    <a:solidFill>
                      <a:srgbClr val="FFFFFF"/>
                    </a:solidFill>
                  </a:tcPr>
                </a:tc>
                <a:tc>
                  <a:txBody>
                    <a:bodyPr/>
                    <a:lstStyle/>
                    <a:p>
                      <a:pPr algn="ctr"/>
                      <a:r>
                        <a:rPr sz="1000" b="0" i="0">
                          <a:solidFill>
                            <a:srgbClr val="1F2937"/>
                          </a:solidFill>
                          <a:latin typeface="Calibri"/>
                        </a:rPr>
                        <a:t>+12.1 to +25.2</a:t>
                      </a:r>
                    </a:p>
                  </a:txBody>
                  <a:tcPr marL="64008" marR="64008" marT="36576" marB="36576">
                    <a:solidFill>
                      <a:srgbClr val="FFFFFF"/>
                    </a:solidFill>
                  </a:tcPr>
                </a:tc>
                <a:extLst>
                  <a:ext uri="{0D108BD9-81ED-4DB2-BD59-A6C34878D82A}">
                    <a16:rowId xmlns:a16="http://schemas.microsoft.com/office/drawing/2014/main" val="10007"/>
                  </a:ext>
                </a:extLst>
              </a:tr>
            </a:tbl>
          </a:graphicData>
        </a:graphic>
      </p:graphicFrame>
      <p:sp>
        <p:nvSpPr>
          <p:cNvPr id="7" name="TextBox 6"/>
          <p:cNvSpPr txBox="1"/>
          <p:nvPr/>
        </p:nvSpPr>
        <p:spPr>
          <a:xfrm>
            <a:off x="7543800" y="4846320"/>
            <a:ext cx="4114800" cy="1325880"/>
          </a:xfrm>
          <a:prstGeom prst="rect">
            <a:avLst/>
          </a:prstGeom>
          <a:noFill/>
        </p:spPr>
        <p:txBody>
          <a:bodyPr wrap="square" lIns="45720" rIns="45720" anchor="t">
            <a:spAutoFit/>
          </a:bodyPr>
          <a:lstStyle/>
          <a:p>
            <a:pPr algn="l">
              <a:lnSpc>
                <a:spcPct val="108000"/>
              </a:lnSpc>
              <a:spcAft>
                <a:spcPts val="400"/>
              </a:spcAft>
            </a:pPr>
            <a:r>
              <a:rPr sz="1100" b="0" i="0">
                <a:solidFill>
                  <a:srgbClr val="1F2937"/>
                </a:solidFill>
                <a:latin typeface="Calibri"/>
              </a:rPr>
              <a:t>The final page combines rendered content, a labelled fact block and restored FAQ questions. Individual gains do not add. The position test changes source order deliberately; content comparisons preserve it.</a:t>
            </a:r>
          </a:p>
          <a:p>
            <a:pPr algn="l">
              <a:lnSpc>
                <a:spcPct val="108000"/>
              </a:lnSpc>
              <a:spcBef>
                <a:spcPts val="400"/>
              </a:spcBef>
              <a:spcAft>
                <a:spcPts val="400"/>
              </a:spcAft>
            </a:pPr>
            <a:r>
              <a:rPr sz="1000" b="0" i="0">
                <a:solidFill>
                  <a:srgbClr val="5B6573"/>
                </a:solidFill>
                <a:latin typeface="Calibri"/>
              </a:rPr>
              <a:t>Intervals are exploratory (unadjusted for the many comparisons made while developing methods).</a:t>
            </a:r>
          </a:p>
        </p:txBody>
      </p:sp>
      <p:sp>
        <p:nvSpPr>
          <p:cNvPr id="8" name="TextBox 7"/>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Technical Report v1.1, Section 8.1 and Figure 2; results/individual_methods.json. Each method tested on its own against the same original pages, 290 answers per version, paired question bootstrap.</a:t>
            </a:r>
          </a:p>
        </p:txBody>
      </p:sp>
      <p:sp>
        <p:nvSpPr>
          <p:cNvPr id="9" name="TextBox 8"/>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WHAT</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The final page: three honest changes to what the assistant reads, using saved FC content</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5" name="Rounded Rectangle 4"/>
          <p:cNvSpPr/>
          <p:nvPr/>
        </p:nvSpPr>
        <p:spPr>
          <a:xfrm>
            <a:off x="548640" y="1600200"/>
            <a:ext cx="5440680" cy="338328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1323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Before: Melbourne–London as captured (Aug 2026)</a:t>
            </a:r>
          </a:p>
        </p:txBody>
      </p:sp>
      <p:sp>
        <p:nvSpPr>
          <p:cNvPr id="7" name="TextBox 6"/>
          <p:cNvSpPr txBox="1"/>
          <p:nvPr/>
        </p:nvSpPr>
        <p:spPr>
          <a:xfrm>
            <a:off x="713232" y="2148840"/>
            <a:ext cx="5111496" cy="2670048"/>
          </a:xfrm>
          <a:prstGeom prst="rect">
            <a:avLst/>
          </a:prstGeom>
          <a:noFill/>
        </p:spPr>
        <p:txBody>
          <a:bodyPr wrap="square" lIns="45720" rIns="45720" anchor="t">
            <a:spAutoFit/>
          </a:bodyPr>
          <a:lstStyle/>
          <a:p>
            <a:pPr algn="l">
              <a:lnSpc>
                <a:spcPct val="108000"/>
              </a:lnSpc>
              <a:spcAft>
                <a:spcPts val="400"/>
              </a:spcAft>
            </a:pPr>
            <a:r>
              <a:rPr sz="1200" b="1" i="0">
                <a:solidFill>
                  <a:srgbClr val="1F2937"/>
                </a:solidFill>
                <a:latin typeface="Calibri"/>
              </a:rPr>
              <a:t>Flights from Melbourne to London  $1,434 ^</a:t>
            </a:r>
          </a:p>
          <a:p>
            <a:pPr algn="l">
              <a:lnSpc>
                <a:spcPct val="108000"/>
              </a:lnSpc>
              <a:spcAft>
                <a:spcPts val="400"/>
              </a:spcAft>
            </a:pPr>
            <a:r>
              <a:rPr sz="1150" b="0" i="0">
                <a:solidFill>
                  <a:srgbClr val="1F2937"/>
                </a:solidFill>
                <a:latin typeface="Calibri"/>
              </a:rPr>
              <a:t>Displayed fares exclude Online Booking Fee &amp; Merchant Fee. Fees are applied once at checkout.</a:t>
            </a:r>
          </a:p>
          <a:p>
            <a:pPr algn="l">
              <a:lnSpc>
                <a:spcPct val="108000"/>
              </a:lnSpc>
              <a:spcAft>
                <a:spcPts val="400"/>
              </a:spcAft>
            </a:pPr>
            <a:r>
              <a:rPr sz="1150" b="0" i="0">
                <a:solidFill>
                  <a:srgbClr val="1F2937"/>
                </a:solidFill>
                <a:latin typeface="Calibri"/>
              </a:rPr>
              <a:t>Expert tip from a named FC travel expert</a:t>
            </a:r>
          </a:p>
          <a:p>
            <a:pPr algn="l">
              <a:lnSpc>
                <a:spcPct val="108000"/>
              </a:lnSpc>
              <a:spcAft>
                <a:spcPts val="400"/>
              </a:spcAft>
            </a:pPr>
            <a:r>
              <a:rPr sz="1150" b="0" i="0">
                <a:solidFill>
                  <a:srgbClr val="C8102E"/>
                </a:solidFill>
                <a:latin typeface="Calibri"/>
              </a:rPr>
              <a:t>Frequently asked questions: the answers are present, the questions are missing (they sat inside accordion buttons, which text extraction strips)</a:t>
            </a:r>
          </a:p>
          <a:p>
            <a:pPr algn="l">
              <a:lnSpc>
                <a:spcPct val="108000"/>
              </a:lnSpc>
              <a:spcAft>
                <a:spcPts val="400"/>
              </a:spcAft>
            </a:pPr>
            <a:r>
              <a:rPr sz="1150" b="0" i="0">
                <a:solidFill>
                  <a:srgbClr val="C8102E"/>
                </a:solidFill>
                <a:latin typeface="Calibri"/>
              </a:rPr>
              <a:t>No dated deal cards: they render only after JavaScript runs, so the capture has none</a:t>
            </a:r>
          </a:p>
          <a:p>
            <a:pPr algn="l">
              <a:lnSpc>
                <a:spcPct val="108000"/>
              </a:lnSpc>
              <a:spcBef>
                <a:spcPts val="400"/>
              </a:spcBef>
              <a:spcAft>
                <a:spcPts val="400"/>
              </a:spcAft>
            </a:pPr>
            <a:r>
              <a:rPr sz="1150" b="0" i="0">
                <a:solidFill>
                  <a:srgbClr val="5B6573"/>
                </a:solidFill>
                <a:latin typeface="Calibri"/>
              </a:rPr>
              <a:t>8,435 characters of text reach the model</a:t>
            </a:r>
          </a:p>
        </p:txBody>
      </p:sp>
      <p:sp>
        <p:nvSpPr>
          <p:cNvPr id="8" name="Rounded Rectangle 7"/>
          <p:cNvSpPr/>
          <p:nvPr/>
        </p:nvSpPr>
        <p:spPr>
          <a:xfrm>
            <a:off x="6217920" y="1600200"/>
            <a:ext cx="5440680" cy="338328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38251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After: the final page (release r4 + r5, Sep 2026)</a:t>
            </a:r>
          </a:p>
        </p:txBody>
      </p:sp>
      <p:sp>
        <p:nvSpPr>
          <p:cNvPr id="10" name="TextBox 9"/>
          <p:cNvSpPr txBox="1"/>
          <p:nvPr/>
        </p:nvSpPr>
        <p:spPr>
          <a:xfrm>
            <a:off x="6382512" y="2148840"/>
            <a:ext cx="5111496" cy="2670048"/>
          </a:xfrm>
          <a:prstGeom prst="rect">
            <a:avLst/>
          </a:prstGeom>
          <a:noFill/>
        </p:spPr>
        <p:txBody>
          <a:bodyPr wrap="square" lIns="45720" rIns="45720" anchor="t">
            <a:spAutoFit/>
          </a:bodyPr>
          <a:lstStyle/>
          <a:p>
            <a:pPr algn="l">
              <a:lnSpc>
                <a:spcPct val="108000"/>
              </a:lnSpc>
              <a:spcAft>
                <a:spcPts val="400"/>
              </a:spcAft>
            </a:pPr>
            <a:r>
              <a:rPr sz="1150" b="0" i="0">
                <a:solidFill>
                  <a:srgbClr val="1F2937"/>
                </a:solidFill>
                <a:latin typeface="Calibri"/>
              </a:rPr>
              <a:t>1  Rendered deal cards: 'China Eastern  $1387*  Economy, Return  Available between: 08 Feb 27 – 11 Mar 27' (six dated cards: China Eastern, Singapore Airlines, Royal Brunei, Malaysia Airlines, China Airlines)</a:t>
            </a:r>
          </a:p>
          <a:p>
            <a:pPr algn="l">
              <a:lnSpc>
                <a:spcPct val="108000"/>
              </a:lnSpc>
              <a:spcBef>
                <a:spcPts val="400"/>
              </a:spcBef>
              <a:spcAft>
                <a:spcPts val="400"/>
              </a:spcAft>
            </a:pPr>
            <a:r>
              <a:rPr sz="1150" b="0" i="0">
                <a:solidFill>
                  <a:srgbClr val="1F2937"/>
                </a:solidFill>
                <a:latin typeface="Calibri"/>
              </a:rPr>
              <a:t>2  One labelled block: 'What starting fare and fees does this page state for Melbourne to London?'  Departure MEL · Destination LON · Starting fare stated on page: from $1,386 · Fees: the page's own fee notice</a:t>
            </a:r>
          </a:p>
          <a:p>
            <a:pPr algn="l">
              <a:lnSpc>
                <a:spcPct val="108000"/>
              </a:lnSpc>
              <a:spcBef>
                <a:spcPts val="400"/>
              </a:spcBef>
              <a:spcAft>
                <a:spcPts val="400"/>
              </a:spcAft>
            </a:pPr>
            <a:r>
              <a:rPr sz="1150" b="0" i="0">
                <a:solidFill>
                  <a:srgbClr val="1F2937"/>
                </a:solidFill>
                <a:latin typeface="Calibri"/>
              </a:rPr>
              <a:t>3  FAQ questions restored as text beside their answers ('Why should I book a flight through Flight Centre?', 'Does Flight Centre have a loyalty program?') and the FAQ moved above the generic 'Explore' section</a:t>
            </a:r>
          </a:p>
          <a:p>
            <a:pPr algn="l">
              <a:lnSpc>
                <a:spcPct val="108000"/>
              </a:lnSpc>
              <a:spcBef>
                <a:spcPts val="400"/>
              </a:spcBef>
              <a:spcAft>
                <a:spcPts val="400"/>
              </a:spcAft>
            </a:pPr>
            <a:r>
              <a:rPr sz="1150" b="0" i="0">
                <a:solidFill>
                  <a:srgbClr val="5B6573"/>
                </a:solidFill>
                <a:latin typeface="Calibri"/>
              </a:rPr>
              <a:t>9,909 characters of text reach the model</a:t>
            </a:r>
          </a:p>
        </p:txBody>
      </p:sp>
      <p:sp>
        <p:nvSpPr>
          <p:cNvPr id="11" name="TextBox 10"/>
          <p:cNvSpPr txBox="1"/>
          <p:nvPr/>
        </p:nvSpPr>
        <p:spPr>
          <a:xfrm>
            <a:off x="548640" y="5166360"/>
            <a:ext cx="11064240" cy="868680"/>
          </a:xfrm>
          <a:prstGeom prst="rect">
            <a:avLst/>
          </a:prstGeom>
          <a:noFill/>
        </p:spPr>
        <p:txBody>
          <a:bodyPr wrap="square" lIns="45720" rIns="45720" anchor="t">
            <a:spAutoFit/>
          </a:bodyPr>
          <a:lstStyle/>
          <a:p>
            <a:pPr algn="l">
              <a:lnSpc>
                <a:spcPct val="108000"/>
              </a:lnSpc>
              <a:spcAft>
                <a:spcPts val="400"/>
              </a:spcAft>
            </a:pPr>
            <a:r>
              <a:rPr sz="1150" b="0" i="0">
                <a:solidFill>
                  <a:srgbClr val="1F2937"/>
                </a:solidFill>
                <a:latin typeface="Calibri"/>
              </a:rPr>
              <a:t>Safeguards: the selected pipeline uses saved FC text and fingerprints page outputs. The joint block applied to 27 of 52 pages; other transformations are separate. Different capture dates explain the $1,434 and $1,386 fares and limit attribution to formatting alone. Iterative development used these questions.</a:t>
            </a:r>
          </a:p>
        </p:txBody>
      </p:sp>
      <p:sp>
        <p:nvSpPr>
          <p:cNvPr id="12" name="TextBox 11"/>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Q06 source [7] flightcentre.com.au/flights/au-vic-melbourne/gb-eng-london; optimisation_v3/final_release.py (r4, 20 Sep 2026) and flight_first_refinement.py (r5). Technical Report v1.1, Section 7.2 and Figures 5–8.</a:t>
            </a:r>
          </a:p>
        </p:txBody>
      </p:sp>
      <p:sp>
        <p:nvSpPr>
          <p:cNvPr id="13" name="TextBox 12"/>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WHAT</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Same question, same eight sources, same order: the answer cited Flight Centre source [7] after the page change</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5" name="Rounded Rectangle 4"/>
          <p:cNvSpPr/>
          <p:nvPr/>
        </p:nvSpPr>
        <p:spPr>
          <a:xfrm>
            <a:off x="548640" y="1600200"/>
            <a:ext cx="5440680" cy="329184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1323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Original page: FC [7] not cited</a:t>
            </a:r>
          </a:p>
        </p:txBody>
      </p:sp>
      <p:sp>
        <p:nvSpPr>
          <p:cNvPr id="7" name="TextBox 6"/>
          <p:cNvSpPr txBox="1"/>
          <p:nvPr/>
        </p:nvSpPr>
        <p:spPr>
          <a:xfrm>
            <a:off x="713232" y="2148840"/>
            <a:ext cx="5111496" cy="2578608"/>
          </a:xfrm>
          <a:prstGeom prst="rect">
            <a:avLst/>
          </a:prstGeom>
          <a:noFill/>
        </p:spPr>
        <p:txBody>
          <a:bodyPr wrap="square" lIns="45720" rIns="45720" anchor="t">
            <a:spAutoFit/>
          </a:bodyPr>
          <a:lstStyle/>
          <a:p>
            <a:pPr algn="l">
              <a:lnSpc>
                <a:spcPct val="108000"/>
              </a:lnSpc>
              <a:spcAft>
                <a:spcPts val="400"/>
              </a:spcAft>
            </a:pPr>
            <a:r>
              <a:rPr sz="1200" b="0" i="0">
                <a:solidFill>
                  <a:srgbClr val="1F2937"/>
                </a:solidFill>
                <a:latin typeface="Calibri"/>
              </a:rPr>
              <a:t>Return fares from about AU$1,096–AU$1,342 </a:t>
            </a:r>
            <a:r>
              <a:rPr sz="1200" b="1" i="0">
                <a:solidFill>
                  <a:srgbClr val="5B6573"/>
                </a:solidFill>
                <a:latin typeface="Calibri"/>
              </a:rPr>
              <a:t>[5][8]</a:t>
            </a:r>
            <a:r>
              <a:rPr sz="1200" b="0" i="0">
                <a:solidFill>
                  <a:srgbClr val="5B6573"/>
                </a:solidFill>
                <a:latin typeface="Calibri"/>
              </a:rPr>
              <a:t>  (Expedia and Skyscanner)</a:t>
            </a:r>
          </a:p>
          <a:p>
            <a:pPr algn="l">
              <a:lnSpc>
                <a:spcPct val="108000"/>
              </a:lnSpc>
              <a:spcBef>
                <a:spcPts val="800"/>
              </a:spcBef>
              <a:spcAft>
                <a:spcPts val="400"/>
              </a:spcAft>
            </a:pPr>
            <a:r>
              <a:rPr sz="1200" b="0" i="0">
                <a:solidFill>
                  <a:srgbClr val="1F2937"/>
                </a:solidFill>
                <a:latin typeface="Calibri"/>
              </a:rPr>
              <a:t>Most itineraries require at least one stop; common connections include Dubai, Singapore, Doha and Shanghai. </a:t>
            </a:r>
            <a:r>
              <a:rPr sz="1200" b="1" i="0">
                <a:solidFill>
                  <a:srgbClr val="5B6573"/>
                </a:solidFill>
                <a:latin typeface="Calibri"/>
              </a:rPr>
              <a:t>[2][3][8]</a:t>
            </a:r>
          </a:p>
          <a:p>
            <a:pPr algn="l">
              <a:lnSpc>
                <a:spcPct val="108000"/>
              </a:lnSpc>
              <a:spcBef>
                <a:spcPts val="800"/>
              </a:spcBef>
              <a:spcAft>
                <a:spcPts val="400"/>
              </a:spcAft>
            </a:pPr>
            <a:r>
              <a:rPr sz="1200" b="0" i="0">
                <a:solidFill>
                  <a:srgbClr val="5B6573"/>
                </a:solidFill>
                <a:latin typeface="Calibri"/>
              </a:rPr>
              <a:t>Airlines, flight times and London airports were cited from other sources. Reference [7] never appears.</a:t>
            </a:r>
          </a:p>
        </p:txBody>
      </p:sp>
      <p:sp>
        <p:nvSpPr>
          <p:cNvPr id="8" name="Rounded Rectangle 7"/>
          <p:cNvSpPr/>
          <p:nvPr/>
        </p:nvSpPr>
        <p:spPr>
          <a:xfrm>
            <a:off x="6217920" y="1600200"/>
            <a:ext cx="5440680" cy="329184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38251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Improved page: FC [7] cited three times</a:t>
            </a:r>
          </a:p>
        </p:txBody>
      </p:sp>
      <p:sp>
        <p:nvSpPr>
          <p:cNvPr id="10" name="TextBox 9"/>
          <p:cNvSpPr txBox="1"/>
          <p:nvPr/>
        </p:nvSpPr>
        <p:spPr>
          <a:xfrm>
            <a:off x="6382512" y="2148840"/>
            <a:ext cx="5111496" cy="2578608"/>
          </a:xfrm>
          <a:prstGeom prst="rect">
            <a:avLst/>
          </a:prstGeom>
          <a:noFill/>
        </p:spPr>
        <p:txBody>
          <a:bodyPr wrap="square" lIns="45720" rIns="45720" anchor="t">
            <a:spAutoFit/>
          </a:bodyPr>
          <a:lstStyle/>
          <a:p>
            <a:pPr algn="l">
              <a:lnSpc>
                <a:spcPct val="108000"/>
              </a:lnSpc>
              <a:spcAft>
                <a:spcPts val="400"/>
              </a:spcAft>
            </a:pPr>
            <a:r>
              <a:rPr sz="1200" b="0" i="0">
                <a:solidFill>
                  <a:srgbClr val="1F2937"/>
                </a:solidFill>
                <a:latin typeface="Calibri"/>
              </a:rPr>
              <a:t>Indicative fares currently include one-way options from about A$648 and return fares from approximately A$1,096–A$1,386 </a:t>
            </a:r>
            <a:r>
              <a:rPr sz="1200" b="1" i="0">
                <a:solidFill>
                  <a:srgbClr val="1E7A46"/>
                </a:solidFill>
                <a:latin typeface="Calibri"/>
              </a:rPr>
              <a:t>[1][7][8]</a:t>
            </a:r>
          </a:p>
          <a:p>
            <a:pPr algn="l">
              <a:lnSpc>
                <a:spcPct val="108000"/>
              </a:lnSpc>
              <a:spcBef>
                <a:spcPts val="800"/>
              </a:spcBef>
              <a:spcAft>
                <a:spcPts val="400"/>
              </a:spcAft>
            </a:pPr>
            <a:r>
              <a:rPr sz="1200" b="0" i="0">
                <a:solidFill>
                  <a:srgbClr val="1F2937"/>
                </a:solidFill>
                <a:latin typeface="Calibri"/>
              </a:rPr>
              <a:t>Most itineraries require at least one stop, with common connections in Dubai, Shanghai, Singapore, or Doha. </a:t>
            </a:r>
            <a:r>
              <a:rPr sz="1200" b="1" i="0">
                <a:solidFill>
                  <a:srgbClr val="1E7A46"/>
                </a:solidFill>
                <a:latin typeface="Calibri"/>
              </a:rPr>
              <a:t>[2][3][7]</a:t>
            </a:r>
          </a:p>
          <a:p>
            <a:pPr algn="l">
              <a:lnSpc>
                <a:spcPct val="108000"/>
              </a:lnSpc>
              <a:spcBef>
                <a:spcPts val="800"/>
              </a:spcBef>
              <a:spcAft>
                <a:spcPts val="400"/>
              </a:spcAft>
            </a:pPr>
            <a:r>
              <a:rPr sz="1200" b="0" i="0">
                <a:solidFill>
                  <a:srgbClr val="1F2937"/>
                </a:solidFill>
                <a:latin typeface="Calibri"/>
              </a:rPr>
              <a:t>The main departure airport is Melbourne Airport (MEL), while London options include Heathrow, Gatwick, Stansted, Luton and London City. </a:t>
            </a:r>
            <a:r>
              <a:rPr sz="1200" b="1" i="0">
                <a:solidFill>
                  <a:srgbClr val="1E7A46"/>
                </a:solidFill>
                <a:latin typeface="Calibri"/>
              </a:rPr>
              <a:t>[1][4][7]</a:t>
            </a:r>
          </a:p>
        </p:txBody>
      </p:sp>
      <p:sp>
        <p:nvSpPr>
          <p:cNvPr id="11" name="TextBox 10"/>
          <p:cNvSpPr txBox="1"/>
          <p:nvPr/>
        </p:nvSpPr>
        <p:spPr>
          <a:xfrm>
            <a:off x="548640" y="5029200"/>
            <a:ext cx="11064240" cy="1188720"/>
          </a:xfrm>
          <a:prstGeom prst="rect">
            <a:avLst/>
          </a:prstGeom>
          <a:noFill/>
        </p:spPr>
        <p:txBody>
          <a:bodyPr wrap="square" lIns="45720" rIns="45720" anchor="t">
            <a:spAutoFit/>
          </a:bodyPr>
          <a:lstStyle/>
          <a:p>
            <a:pPr algn="l">
              <a:lnSpc>
                <a:spcPct val="108000"/>
              </a:lnSpc>
              <a:spcAft>
                <a:spcPts val="400"/>
              </a:spcAft>
            </a:pPr>
            <a:r>
              <a:rPr sz="1200" b="0" i="0">
                <a:solidFill>
                  <a:srgbClr val="1F2937"/>
                </a:solidFill>
                <a:latin typeface="Calibri"/>
              </a:rPr>
              <a:t>The $1,386 ceiling in the fare sentence is the figure from our improved page: the model used FC's stated fare, not just its existence. A citation links to the page; it does not establish support for every claim in the sentence. It does not mean the customer would book with Flight Centre; commercial outcomes need separate measurement. For this question, FC was cited in 2 of 10 original answers and 8 of 10 improved answers.</a:t>
            </a:r>
          </a:p>
        </p:txBody>
      </p:sp>
      <p:sp>
        <p:nvSpPr>
          <p:cNvPr id="12" name="TextBox 11"/>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saved answer Q06_fixed_s2_r4 ('i'm looking for flights from melbourne to london'), improved page; matching original-page answer for the same pair. [7] = Flight Centre. Shown unedited apart from trimming; full answers in 04_evidence/selected.</a:t>
            </a:r>
          </a:p>
        </p:txBody>
      </p:sp>
      <p:sp>
        <p:nvSpPr>
          <p:cNvPr id="13" name="TextBox 12"/>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WHAT</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Across 29 questions, the share of AI answers citing Flight Centre rose from 40.0% to 52.4%</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graphicFrame>
        <p:nvGraphicFramePr>
          <p:cNvPr id="5" name="Chart 4"/>
          <p:cNvGraphicFramePr>
            <a:graphicFrameLocks noGrp="1"/>
          </p:cNvGraphicFramePr>
          <p:nvPr/>
        </p:nvGraphicFramePr>
        <p:xfrm>
          <a:off x="548640" y="1600200"/>
          <a:ext cx="5669280" cy="43434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Table 5"/>
          <p:cNvGraphicFramePr>
            <a:graphicFrameLocks noGrp="1"/>
          </p:cNvGraphicFramePr>
          <p:nvPr/>
        </p:nvGraphicFramePr>
        <p:xfrm>
          <a:off x="6446520" y="1600200"/>
          <a:ext cx="5212080" cy="1508757"/>
        </p:xfrm>
        <a:graphic>
          <a:graphicData uri="http://schemas.openxmlformats.org/drawingml/2006/table">
            <a:tbl>
              <a:tblPr/>
              <a:tblGrid>
                <a:gridCol w="2103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502919">
                <a:tc>
                  <a:txBody>
                    <a:bodyPr/>
                    <a:lstStyle/>
                    <a:p>
                      <a:r>
                        <a:rPr sz="1000" b="1" i="0">
                          <a:solidFill>
                            <a:srgbClr val="FFFFFF"/>
                          </a:solidFill>
                          <a:latin typeface="Calibri"/>
                        </a:rPr>
                        <a:t>Version</a:t>
                      </a:r>
                    </a:p>
                  </a:txBody>
                  <a:tcPr marL="64008" marR="64008" marT="36576" marB="36576" anchor="ctr">
                    <a:solidFill>
                      <a:srgbClr val="0B2240"/>
                    </a:solidFill>
                  </a:tcPr>
                </a:tc>
                <a:tc>
                  <a:txBody>
                    <a:bodyPr/>
                    <a:lstStyle/>
                    <a:p>
                      <a:pPr algn="ctr"/>
                      <a:r>
                        <a:rPr sz="1000" b="1" i="0">
                          <a:solidFill>
                            <a:srgbClr val="FFFFFF"/>
                          </a:solidFill>
                          <a:latin typeface="Calibri"/>
                        </a:rPr>
                        <a:t>Answers citing FC</a:t>
                      </a:r>
                    </a:p>
                  </a:txBody>
                  <a:tcPr marL="64008" marR="64008" marT="36576" marB="36576" anchor="ctr">
                    <a:solidFill>
                      <a:srgbClr val="0B2240"/>
                    </a:solidFill>
                  </a:tcPr>
                </a:tc>
                <a:tc>
                  <a:txBody>
                    <a:bodyPr/>
                    <a:lstStyle/>
                    <a:p>
                      <a:pPr algn="ctr"/>
                      <a:r>
                        <a:rPr sz="1000" b="1" i="0">
                          <a:solidFill>
                            <a:srgbClr val="FFFFFF"/>
                          </a:solidFill>
                          <a:latin typeface="Calibri"/>
                        </a:rPr>
                        <a:t>Share</a:t>
                      </a:r>
                    </a:p>
                  </a:txBody>
                  <a:tcPr marL="64008" marR="64008" marT="36576" marB="36576" anchor="ctr">
                    <a:solidFill>
                      <a:srgbClr val="0B2240"/>
                    </a:solidFill>
                  </a:tcPr>
                </a:tc>
                <a:extLst>
                  <a:ext uri="{0D108BD9-81ED-4DB2-BD59-A6C34878D82A}">
                    <a16:rowId xmlns:a16="http://schemas.microsoft.com/office/drawing/2014/main" val="10000"/>
                  </a:ext>
                </a:extLst>
              </a:tr>
              <a:tr h="502919">
                <a:tc>
                  <a:txBody>
                    <a:bodyPr/>
                    <a:lstStyle/>
                    <a:p>
                      <a:r>
                        <a:rPr sz="1150" b="0" i="0">
                          <a:solidFill>
                            <a:srgbClr val="1F2937"/>
                          </a:solidFill>
                          <a:latin typeface="Calibri"/>
                        </a:rPr>
                        <a:t>Baseline FC pages</a:t>
                      </a:r>
                    </a:p>
                  </a:txBody>
                  <a:tcPr marL="64008" marR="64008" marT="36576" marB="36576">
                    <a:solidFill>
                      <a:srgbClr val="FFFFFF"/>
                    </a:solidFill>
                  </a:tcPr>
                </a:tc>
                <a:tc>
                  <a:txBody>
                    <a:bodyPr/>
                    <a:lstStyle/>
                    <a:p>
                      <a:pPr algn="ctr"/>
                      <a:r>
                        <a:rPr sz="1150" b="0" i="0">
                          <a:solidFill>
                            <a:srgbClr val="1F2937"/>
                          </a:solidFill>
                          <a:latin typeface="Calibri"/>
                        </a:rPr>
                        <a:t>116 / 290</a:t>
                      </a:r>
                    </a:p>
                  </a:txBody>
                  <a:tcPr marL="64008" marR="64008" marT="36576" marB="36576">
                    <a:solidFill>
                      <a:srgbClr val="FFFFFF"/>
                    </a:solidFill>
                  </a:tcPr>
                </a:tc>
                <a:tc>
                  <a:txBody>
                    <a:bodyPr/>
                    <a:lstStyle/>
                    <a:p>
                      <a:pPr algn="ctr"/>
                      <a:r>
                        <a:rPr sz="1150" b="0" i="0">
                          <a:solidFill>
                            <a:srgbClr val="1F2937"/>
                          </a:solidFill>
                          <a:latin typeface="Calibri"/>
                        </a:rPr>
                        <a:t>40.0%</a:t>
                      </a:r>
                    </a:p>
                  </a:txBody>
                  <a:tcPr marL="64008" marR="64008" marT="36576" marB="36576">
                    <a:solidFill>
                      <a:srgbClr val="FFFFFF"/>
                    </a:solidFill>
                  </a:tcPr>
                </a:tc>
                <a:extLst>
                  <a:ext uri="{0D108BD9-81ED-4DB2-BD59-A6C34878D82A}">
                    <a16:rowId xmlns:a16="http://schemas.microsoft.com/office/drawing/2014/main" val="10001"/>
                  </a:ext>
                </a:extLst>
              </a:tr>
              <a:tr h="502919">
                <a:tc>
                  <a:txBody>
                    <a:bodyPr/>
                    <a:lstStyle/>
                    <a:p>
                      <a:r>
                        <a:rPr sz="1150" b="0" i="0">
                          <a:solidFill>
                            <a:srgbClr val="1F2937"/>
                          </a:solidFill>
                          <a:latin typeface="Calibri"/>
                        </a:rPr>
                        <a:t>Optimised FC pages</a:t>
                      </a:r>
                    </a:p>
                  </a:txBody>
                  <a:tcPr marL="64008" marR="64008" marT="36576" marB="36576">
                    <a:solidFill>
                      <a:srgbClr val="F3F5F8"/>
                    </a:solidFill>
                  </a:tcPr>
                </a:tc>
                <a:tc>
                  <a:txBody>
                    <a:bodyPr/>
                    <a:lstStyle/>
                    <a:p>
                      <a:pPr algn="ctr"/>
                      <a:r>
                        <a:rPr sz="1150" b="0" i="0">
                          <a:solidFill>
                            <a:srgbClr val="1F2937"/>
                          </a:solidFill>
                          <a:latin typeface="Calibri"/>
                        </a:rPr>
                        <a:t>152 / 290</a:t>
                      </a:r>
                    </a:p>
                  </a:txBody>
                  <a:tcPr marL="64008" marR="64008" marT="36576" marB="36576">
                    <a:solidFill>
                      <a:srgbClr val="F3F5F8"/>
                    </a:solidFill>
                  </a:tcPr>
                </a:tc>
                <a:tc>
                  <a:txBody>
                    <a:bodyPr/>
                    <a:lstStyle/>
                    <a:p>
                      <a:pPr algn="ctr"/>
                      <a:r>
                        <a:rPr sz="1150" b="0" i="0">
                          <a:solidFill>
                            <a:srgbClr val="1F2937"/>
                          </a:solidFill>
                          <a:latin typeface="Calibri"/>
                        </a:rPr>
                        <a:t>52.4%</a:t>
                      </a:r>
                    </a:p>
                  </a:txBody>
                  <a:tcPr marL="64008" marR="64008" marT="36576" marB="36576">
                    <a:solidFill>
                      <a:srgbClr val="E4F1E8"/>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446520" y="3291840"/>
            <a:ext cx="5212080" cy="2834640"/>
          </a:xfrm>
          <a:prstGeom prst="rect">
            <a:avLst/>
          </a:prstGeom>
          <a:noFill/>
        </p:spPr>
        <p:txBody>
          <a:bodyPr wrap="square" lIns="45720" rIns="45720" anchor="t">
            <a:spAutoFit/>
          </a:bodyPr>
          <a:lstStyle/>
          <a:p>
            <a:pPr marL="201168" indent="-182880" algn="l">
              <a:lnSpc>
                <a:spcPct val="108000"/>
              </a:lnSpc>
              <a:spcAft>
                <a:spcPts val="400"/>
              </a:spcAft>
              <a:buChar char="•"/>
            </a:pPr>
            <a:r>
              <a:rPr sz="1200" b="0" i="0">
                <a:solidFill>
                  <a:srgbClr val="1F2937"/>
                </a:solidFill>
                <a:latin typeface="Calibri"/>
              </a:rPr>
              <a:t>+12.4 percentage points; the 95% interval (+5.2 to +20.0) stays above zero. 21 of 29 questions went up, 6 down, 2 unchanged.</a:t>
            </a:r>
          </a:p>
          <a:p>
            <a:pPr marL="201168" indent="-182880" algn="l">
              <a:lnSpc>
                <a:spcPct val="108000"/>
              </a:lnSpc>
              <a:spcAft>
                <a:spcPts val="400"/>
              </a:spcAft>
              <a:buChar char="•"/>
            </a:pPr>
            <a:r>
              <a:rPr sz="1200" b="0" i="0">
                <a:solidFill>
                  <a:srgbClr val="1F2937"/>
                </a:solidFill>
                <a:latin typeface="Calibri"/>
              </a:rPr>
              <a:t>In plain terms: when FC's page is among the sources an assistant reads, about 4 in 10 answers cited an FC source before and about 5 in 10 after. 52.4% is a rate, not a 52% improvement; the relative gain is 31%.</a:t>
            </a:r>
          </a:p>
          <a:p>
            <a:pPr marL="201168" indent="-182880" algn="l">
              <a:lnSpc>
                <a:spcPct val="108000"/>
              </a:lnSpc>
              <a:spcAft>
                <a:spcPts val="400"/>
              </a:spcAft>
              <a:buChar char="•"/>
            </a:pPr>
            <a:r>
              <a:rPr sz="1200" b="0" i="0">
                <a:solidFill>
                  <a:srgbClr val="5B6573"/>
                </a:solidFill>
                <a:latin typeface="Calibri"/>
              </a:rPr>
              <a:t>Limits: iterative selection, a reused historical baseline and different capture dates. First same-page run: 49.3%; selected repeat: 52.4%. Citation is not recommendation or booking.</a:t>
            </a:r>
          </a:p>
          <a:p>
            <a:pPr marL="201168" indent="-182880" algn="l">
              <a:lnSpc>
                <a:spcPct val="108000"/>
              </a:lnSpc>
              <a:spcAft>
                <a:spcPts val="400"/>
              </a:spcAft>
              <a:buChar char="•"/>
            </a:pPr>
            <a:r>
              <a:rPr sz="1200" b="1" i="0">
                <a:solidFill>
                  <a:srgbClr val="0B2240"/>
                </a:solidFill>
                <a:latin typeface="Calibri"/>
              </a:rPr>
              <a:t>Both totals (116 and 152 of 290) reproduce offline with no AI call (verify_public_counts.py).</a:t>
            </a:r>
          </a:p>
        </p:txBody>
      </p:sp>
      <p:sp>
        <p:nvSpPr>
          <p:cNvPr id="8" name="TextBox 7"/>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Technical Report v1.1, Table 9; results/Independent_Repeat_Analysis.json; paired question bootstrap over questions, 20,000 resamples, seed 20261018. 29 questions x 2 source orders x 5 repeats = 290 answers per version.</a:t>
            </a:r>
          </a:p>
        </p:txBody>
      </p:sp>
      <p:sp>
        <p:nvSpPr>
          <p:cNvPr id="9" name="TextBox 8"/>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WHAT</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What remained uncertain: outside facts; what declined: the tested automatic rewrite</a:t>
            </a:r>
          </a:p>
        </p:txBody>
      </p:sp>
      <p:sp>
        <p:nvSpPr>
          <p:cNvPr id="4" name="Rounded Rectangle 3"/>
          <p:cNvSpPr/>
          <p:nvPr/>
        </p:nvSpPr>
        <p:spPr>
          <a:xfrm>
            <a:off x="9893808"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sp>
        <p:nvSpPr>
          <p:cNvPr id="5" name="Rounded Rectangle 4"/>
          <p:cNvSpPr/>
          <p:nvPr/>
        </p:nvSpPr>
        <p:spPr>
          <a:xfrm>
            <a:off x="833018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6" name="Rounded Rectangle 5"/>
          <p:cNvSpPr/>
          <p:nvPr/>
        </p:nvSpPr>
        <p:spPr>
          <a:xfrm>
            <a:off x="548640" y="1600200"/>
            <a:ext cx="5440680" cy="41148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1323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Did not work</a:t>
            </a:r>
          </a:p>
        </p:txBody>
      </p:sp>
      <p:sp>
        <p:nvSpPr>
          <p:cNvPr id="8" name="TextBox 7"/>
          <p:cNvSpPr txBox="1"/>
          <p:nvPr/>
        </p:nvSpPr>
        <p:spPr>
          <a:xfrm>
            <a:off x="713232" y="2148840"/>
            <a:ext cx="5111496" cy="3401568"/>
          </a:xfrm>
          <a:prstGeom prst="rect">
            <a:avLst/>
          </a:prstGeom>
          <a:noFill/>
        </p:spPr>
        <p:txBody>
          <a:bodyPr wrap="square" lIns="45720" rIns="45720" anchor="t">
            <a:spAutoFit/>
          </a:bodyPr>
          <a:lstStyle/>
          <a:p>
            <a:pPr algn="l">
              <a:lnSpc>
                <a:spcPct val="108000"/>
              </a:lnSpc>
              <a:spcAft>
                <a:spcPts val="400"/>
              </a:spcAft>
            </a:pPr>
            <a:r>
              <a:rPr sz="1300" b="0" i="0">
                <a:solidFill>
                  <a:srgbClr val="1F2937"/>
                </a:solidFill>
                <a:latin typeface="Calibri"/>
              </a:rPr>
              <a:t>Automatic AI rewriting: −5.5 points, interval entirely below zero (−10.0 to −1.4), even with a rule rejecting any rewrite that added a new number.</a:t>
            </a:r>
          </a:p>
          <a:p>
            <a:pPr algn="l">
              <a:lnSpc>
                <a:spcPct val="108000"/>
              </a:lnSpc>
              <a:spcBef>
                <a:spcPts val="800"/>
              </a:spcBef>
              <a:spcAft>
                <a:spcPts val="400"/>
              </a:spcAft>
            </a:pPr>
            <a:r>
              <a:rPr sz="1300" b="0" i="0">
                <a:solidFill>
                  <a:srgbClr val="1F2937"/>
                </a:solidFill>
                <a:latin typeface="Calibri"/>
              </a:rPr>
              <a:t>The research agrees: most conversational-SEO rewrites were ineffective or harmful (C-SEO Bench, NeurIPS 2025), and Google and Bing warn against manipulative or low-value content, rather than all AI-assisted writing.</a:t>
            </a:r>
          </a:p>
          <a:p>
            <a:pPr algn="l">
              <a:lnSpc>
                <a:spcPct val="108000"/>
              </a:lnSpc>
              <a:spcBef>
                <a:spcPts val="800"/>
              </a:spcBef>
              <a:spcAft>
                <a:spcPts val="400"/>
              </a:spcAft>
            </a:pPr>
            <a:r>
              <a:rPr sz="1300" b="0" i="0">
                <a:solidFill>
                  <a:srgbClr val="1F2937"/>
                </a:solidFill>
                <a:latin typeface="Calibri"/>
              </a:rPr>
              <a:t>External 'authority' statistics pasted onto FC's own page: no net gain in the 80 prompts where they changed what the model read. This does not test whether genuine third-party coverage improves discovery.</a:t>
            </a:r>
          </a:p>
        </p:txBody>
      </p:sp>
      <p:sp>
        <p:nvSpPr>
          <p:cNvPr id="9" name="Rounded Rectangle 8"/>
          <p:cNvSpPr/>
          <p:nvPr/>
        </p:nvSpPr>
        <p:spPr>
          <a:xfrm>
            <a:off x="6217920" y="1600200"/>
            <a:ext cx="5440680" cy="411480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38251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What that tells leadership</a:t>
            </a:r>
          </a:p>
        </p:txBody>
      </p:sp>
      <p:sp>
        <p:nvSpPr>
          <p:cNvPr id="11" name="TextBox 10"/>
          <p:cNvSpPr txBox="1"/>
          <p:nvPr/>
        </p:nvSpPr>
        <p:spPr>
          <a:xfrm>
            <a:off x="6382512" y="2148840"/>
            <a:ext cx="5111496" cy="3401568"/>
          </a:xfrm>
          <a:prstGeom prst="rect">
            <a:avLst/>
          </a:prstGeom>
          <a:noFill/>
        </p:spPr>
        <p:txBody>
          <a:bodyPr wrap="square" lIns="45720" rIns="45720" anchor="t">
            <a:spAutoFit/>
          </a:bodyPr>
          <a:lstStyle/>
          <a:p>
            <a:pPr algn="l">
              <a:lnSpc>
                <a:spcPct val="108000"/>
              </a:lnSpc>
              <a:spcAft>
                <a:spcPts val="400"/>
              </a:spcAft>
            </a:pPr>
            <a:r>
              <a:rPr sz="1300" b="0" i="0">
                <a:solidFill>
                  <a:srgbClr val="1F2937"/>
                </a:solidFill>
                <a:latin typeface="Calibri"/>
              </a:rPr>
              <a:t>Require evidence before buying automatic rewriting. The selected implementation restructured saved FC facts; that result does not validate every rewrite service or every fact.</a:t>
            </a:r>
          </a:p>
          <a:p>
            <a:pPr algn="l">
              <a:lnSpc>
                <a:spcPct val="108000"/>
              </a:lnSpc>
              <a:spcBef>
                <a:spcPts val="800"/>
              </a:spcBef>
              <a:spcAft>
                <a:spcPts val="400"/>
              </a:spcAft>
            </a:pPr>
            <a:r>
              <a:rPr sz="1300" b="0" i="0">
                <a:solidFill>
                  <a:srgbClr val="1F2937"/>
                </a:solidFill>
                <a:latin typeface="Calibri"/>
              </a:rPr>
              <a:t>The experiment shows what a page should say once an assistant reads it. Whether the assistant reaches the page at all depends on rendering, page coverage and off-site authority, alongside choices made by search and AI platforms.</a:t>
            </a:r>
          </a:p>
          <a:p>
            <a:pPr algn="l">
              <a:lnSpc>
                <a:spcPct val="108000"/>
              </a:lnSpc>
              <a:spcBef>
                <a:spcPts val="800"/>
              </a:spcBef>
              <a:spcAft>
                <a:spcPts val="400"/>
              </a:spcAft>
            </a:pPr>
            <a:r>
              <a:rPr sz="1300" b="1" i="0">
                <a:solidFill>
                  <a:srgbClr val="0B2240"/>
                </a:solidFill>
                <a:latin typeface="Calibri"/>
              </a:rPr>
              <a:t>That is why the plan that follows starts with measurement and rendering, puts the tested page pattern in the middle, and earns authority off-site.</a:t>
            </a:r>
          </a:p>
        </p:txBody>
      </p:sp>
      <p:sp>
        <p:nvSpPr>
          <p:cNvPr id="12" name="TextBox 11"/>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Technical Report v1.1, Section 8.1 and Figure 2; Puerto et al., C-SEO Bench (2025); Google, 'Optimizing your website for generative AI features' (May 2026); Bing Webmaster Guidelines (Feb 2026).</a:t>
            </a:r>
          </a:p>
        </p:txBody>
      </p:sp>
      <p:sp>
        <p:nvSpPr>
          <p:cNvPr id="13" name="TextBox 12"/>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1097280"/>
            <a:ext cx="3657600" cy="457200"/>
          </a:xfrm>
          <a:prstGeom prst="rect">
            <a:avLst/>
          </a:prstGeom>
          <a:noFill/>
        </p:spPr>
        <p:txBody>
          <a:bodyPr wrap="square" lIns="45720" rIns="45720" anchor="t">
            <a:spAutoFit/>
          </a:bodyPr>
          <a:lstStyle/>
          <a:p>
            <a:pPr algn="l">
              <a:lnSpc>
                <a:spcPct val="108000"/>
              </a:lnSpc>
              <a:spcAft>
                <a:spcPts val="400"/>
              </a:spcAft>
            </a:pPr>
            <a:r>
              <a:rPr sz="1600" b="1" i="0">
                <a:solidFill>
                  <a:srgbClr val="FF8A99"/>
                </a:solidFill>
                <a:latin typeface="Calibri"/>
              </a:rPr>
              <a:t>PART 3 · HOW</a:t>
            </a:r>
          </a:p>
        </p:txBody>
      </p:sp>
      <p:sp>
        <p:nvSpPr>
          <p:cNvPr id="4" name="TextBox 3"/>
          <p:cNvSpPr txBox="1"/>
          <p:nvPr/>
        </p:nvSpPr>
        <p:spPr>
          <a:xfrm>
            <a:off x="822960" y="1554480"/>
            <a:ext cx="10241280" cy="164592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How FC.com should change: six areas of work, with the tested page pattern in the middle</a:t>
            </a:r>
          </a:p>
        </p:txBody>
      </p:sp>
      <p:sp>
        <p:nvSpPr>
          <p:cNvPr id="5" name="TextBox 4"/>
          <p:cNvSpPr txBox="1"/>
          <p:nvPr/>
        </p:nvSpPr>
        <p:spPr>
          <a:xfrm>
            <a:off x="822960" y="3383280"/>
            <a:ext cx="9601200" cy="822960"/>
          </a:xfrm>
          <a:prstGeom prst="rect">
            <a:avLst/>
          </a:prstGeom>
          <a:noFill/>
        </p:spPr>
        <p:txBody>
          <a:bodyPr wrap="square" lIns="45720" rIns="45720" anchor="t">
            <a:spAutoFit/>
          </a:bodyPr>
          <a:lstStyle/>
          <a:p>
            <a:pPr algn="l">
              <a:lnSpc>
                <a:spcPct val="108000"/>
              </a:lnSpc>
              <a:spcAft>
                <a:spcPts val="400"/>
              </a:spcAft>
            </a:pPr>
            <a:r>
              <a:rPr sz="1800" b="0" i="0">
                <a:solidFill>
                  <a:srgbClr val="C9D6EA"/>
                </a:solidFill>
                <a:latin typeface="Calibri"/>
              </a:rPr>
              <a:t>Each layer has a concrete change, the evidence behind it, an acceptance test and a proposed owner.</a:t>
            </a:r>
          </a:p>
        </p:txBody>
      </p:sp>
      <p:sp>
        <p:nvSpPr>
          <p:cNvPr id="6" name="TextBox 5"/>
          <p:cNvSpPr txBox="1"/>
          <p:nvPr/>
        </p:nvSpPr>
        <p:spPr>
          <a:xfrm>
            <a:off x="822960" y="4480560"/>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Access (robots permission observed) and rendering: what the fetchers receive</a:t>
            </a:r>
          </a:p>
        </p:txBody>
      </p:sp>
      <p:sp>
        <p:nvSpPr>
          <p:cNvPr id="7" name="TextBox 6"/>
          <p:cNvSpPr txBox="1"/>
          <p:nvPr/>
        </p:nvSpPr>
        <p:spPr>
          <a:xfrm>
            <a:off x="822960" y="4864608"/>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Structure and the 52% page template, with the code</a:t>
            </a:r>
          </a:p>
        </p:txBody>
      </p:sp>
      <p:sp>
        <p:nvSpPr>
          <p:cNvPr id="8" name="TextBox 7"/>
          <p:cNvSpPr txBox="1"/>
          <p:nvPr/>
        </p:nvSpPr>
        <p:spPr>
          <a:xfrm>
            <a:off x="822960" y="5248656"/>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Holiday and destination pages, one fare truth, earned authority</a:t>
            </a:r>
          </a:p>
        </p:txBody>
      </p:sp>
      <p:sp>
        <p:nvSpPr>
          <p:cNvPr id="9" name="TextBox 8"/>
          <p:cNvSpPr txBox="1"/>
          <p:nvPr/>
        </p:nvSpPr>
        <p:spPr>
          <a:xfrm>
            <a:off x="822960" y="5632704"/>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Implement the recommendations and monitor real customer outcomes</a:t>
            </a:r>
          </a:p>
        </p:txBody>
      </p:sp>
      <p:sp>
        <p:nvSpPr>
          <p:cNvPr id="10" name="TextBox 9"/>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9FB3CC"/>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HOW</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The programme: six areas of work, each with a concrete change and an acceptance test</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graphicFrame>
        <p:nvGraphicFramePr>
          <p:cNvPr id="5" name="Table 4"/>
          <p:cNvGraphicFramePr>
            <a:graphicFrameLocks noGrp="1"/>
          </p:cNvGraphicFramePr>
          <p:nvPr/>
        </p:nvGraphicFramePr>
        <p:xfrm>
          <a:off x="548640" y="1600200"/>
          <a:ext cx="11109960" cy="4526280"/>
        </p:xfrm>
        <a:graphic>
          <a:graphicData uri="http://schemas.openxmlformats.org/drawingml/2006/table">
            <a:tbl>
              <a:tblPr/>
              <a:tblGrid>
                <a:gridCol w="32004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333756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565785">
                <a:tc>
                  <a:txBody>
                    <a:bodyPr/>
                    <a:lstStyle/>
                    <a:p>
                      <a:r>
                        <a:rPr sz="950" b="1" i="0">
                          <a:solidFill>
                            <a:srgbClr val="FFFFFF"/>
                          </a:solidFill>
                          <a:latin typeface="Calibri"/>
                        </a:rPr>
                        <a:t>#</a:t>
                      </a:r>
                    </a:p>
                  </a:txBody>
                  <a:tcPr marL="64008" marR="64008" marT="36576" marB="36576" anchor="ctr">
                    <a:solidFill>
                      <a:srgbClr val="0B2240"/>
                    </a:solidFill>
                  </a:tcPr>
                </a:tc>
                <a:tc>
                  <a:txBody>
                    <a:bodyPr/>
                    <a:lstStyle/>
                    <a:p>
                      <a:r>
                        <a:rPr sz="950" b="1" i="0">
                          <a:solidFill>
                            <a:srgbClr val="FFFFFF"/>
                          </a:solidFill>
                          <a:latin typeface="Calibri"/>
                        </a:rPr>
                        <a:t>Area of work</a:t>
                      </a:r>
                    </a:p>
                  </a:txBody>
                  <a:tcPr marL="64008" marR="64008" marT="36576" marB="36576" anchor="ctr">
                    <a:solidFill>
                      <a:srgbClr val="0B2240"/>
                    </a:solidFill>
                  </a:tcPr>
                </a:tc>
                <a:tc>
                  <a:txBody>
                    <a:bodyPr/>
                    <a:lstStyle/>
                    <a:p>
                      <a:r>
                        <a:rPr sz="950" b="1" i="0">
                          <a:solidFill>
                            <a:srgbClr val="FFFFFF"/>
                          </a:solidFill>
                          <a:latin typeface="Calibri"/>
                        </a:rPr>
                        <a:t>FC today (25 Oct 2026)</a:t>
                      </a:r>
                    </a:p>
                  </a:txBody>
                  <a:tcPr marL="64008" marR="64008" marT="36576" marB="36576" anchor="ctr">
                    <a:solidFill>
                      <a:srgbClr val="0B2240"/>
                    </a:solidFill>
                  </a:tcPr>
                </a:tc>
                <a:tc>
                  <a:txBody>
                    <a:bodyPr/>
                    <a:lstStyle/>
                    <a:p>
                      <a:r>
                        <a:rPr sz="950" b="1" i="0">
                          <a:solidFill>
                            <a:srgbClr val="FFFFFF"/>
                          </a:solidFill>
                          <a:latin typeface="Calibri"/>
                        </a:rPr>
                        <a:t>Change to make</a:t>
                      </a:r>
                    </a:p>
                  </a:txBody>
                  <a:tcPr marL="64008" marR="64008" marT="36576" marB="36576" anchor="ctr">
                    <a:solidFill>
                      <a:srgbClr val="0B2240"/>
                    </a:solidFill>
                  </a:tcPr>
                </a:tc>
                <a:tc>
                  <a:txBody>
                    <a:bodyPr/>
                    <a:lstStyle/>
                    <a:p>
                      <a:r>
                        <a:rPr sz="950" b="1" i="0">
                          <a:solidFill>
                            <a:srgbClr val="FFFFFF"/>
                          </a:solidFill>
                          <a:latin typeface="Calibri"/>
                        </a:rPr>
                        <a:t>Acceptance test</a:t>
                      </a:r>
                    </a:p>
                  </a:txBody>
                  <a:tcPr marL="64008" marR="64008" marT="36576" marB="36576" anchor="ctr">
                    <a:solidFill>
                      <a:srgbClr val="0B2240"/>
                    </a:solidFill>
                  </a:tcPr>
                </a:tc>
                <a:tc>
                  <a:txBody>
                    <a:bodyPr/>
                    <a:lstStyle/>
                    <a:p>
                      <a:r>
                        <a:rPr sz="950" b="1" i="0">
                          <a:solidFill>
                            <a:srgbClr val="FFFFFF"/>
                          </a:solidFill>
                          <a:latin typeface="Calibri"/>
                        </a:rPr>
                        <a:t>Owner</a:t>
                      </a:r>
                    </a:p>
                  </a:txBody>
                  <a:tcPr marL="64008" marR="64008" marT="36576" marB="36576" anchor="ctr">
                    <a:solidFill>
                      <a:srgbClr val="0B2240"/>
                    </a:solidFill>
                  </a:tcPr>
                </a:tc>
                <a:extLst>
                  <a:ext uri="{0D108BD9-81ED-4DB2-BD59-A6C34878D82A}">
                    <a16:rowId xmlns:a16="http://schemas.microsoft.com/office/drawing/2014/main" val="10000"/>
                  </a:ext>
                </a:extLst>
              </a:tr>
              <a:tr h="565785">
                <a:tc>
                  <a:txBody>
                    <a:bodyPr/>
                    <a:lstStyle/>
                    <a:p>
                      <a:r>
                        <a:rPr sz="900" b="0" i="0">
                          <a:solidFill>
                            <a:srgbClr val="1F2937"/>
                          </a:solidFill>
                          <a:latin typeface="Calibri"/>
                        </a:rPr>
                        <a:t>0</a:t>
                      </a:r>
                    </a:p>
                  </a:txBody>
                  <a:tcPr marL="64008" marR="64008" marT="36576" marB="36576">
                    <a:solidFill>
                      <a:srgbClr val="FFFFFF"/>
                    </a:solidFill>
                  </a:tcPr>
                </a:tc>
                <a:tc>
                  <a:txBody>
                    <a:bodyPr/>
                    <a:lstStyle/>
                    <a:p>
                      <a:r>
                        <a:rPr sz="900" b="0" i="0">
                          <a:solidFill>
                            <a:srgbClr val="1F2937"/>
                          </a:solidFill>
                          <a:latin typeface="Calibri"/>
                        </a:rPr>
                        <a:t>Measure</a:t>
                      </a:r>
                    </a:p>
                  </a:txBody>
                  <a:tcPr marL="64008" marR="64008" marT="36576" marB="36576">
                    <a:solidFill>
                      <a:srgbClr val="FFFFFF"/>
                    </a:solidFill>
                  </a:tcPr>
                </a:tc>
                <a:tc>
                  <a:txBody>
                    <a:bodyPr/>
                    <a:lstStyle/>
                    <a:p>
                      <a:r>
                        <a:rPr sz="900" b="0" i="0">
                          <a:solidFill>
                            <a:srgbClr val="1F2937"/>
                          </a:solidFill>
                          <a:latin typeface="Calibri"/>
                        </a:rPr>
                        <a:t>May audit and saved experiments; ongoing FC monitoring not verified</a:t>
                      </a:r>
                    </a:p>
                  </a:txBody>
                  <a:tcPr marL="64008" marR="64008" marT="36576" marB="36576">
                    <a:solidFill>
                      <a:srgbClr val="FFFFFF"/>
                    </a:solidFill>
                  </a:tcPr>
                </a:tc>
                <a:tc>
                  <a:txBody>
                    <a:bodyPr/>
                    <a:lstStyle/>
                    <a:p>
                      <a:r>
                        <a:rPr sz="900" b="0" i="0">
                          <a:solidFill>
                            <a:srgbClr val="1F2937"/>
                          </a:solidFill>
                          <a:latin typeface="Calibri"/>
                        </a:rPr>
                        <a:t>Track relevant customer questions, available platform reports, verified bot logs and referral outcomes. Save dated examples.</a:t>
                      </a:r>
                    </a:p>
                  </a:txBody>
                  <a:tcPr marL="64008" marR="64008" marT="36576" marB="36576">
                    <a:solidFill>
                      <a:srgbClr val="FFFFFF"/>
                    </a:solidFill>
                  </a:tcPr>
                </a:tc>
                <a:tc>
                  <a:txBody>
                    <a:bodyPr/>
                    <a:lstStyle/>
                    <a:p>
                      <a:r>
                        <a:rPr sz="900" b="0" i="0">
                          <a:solidFill>
                            <a:srgbClr val="1F2937"/>
                          </a:solidFill>
                          <a:latin typeface="Calibri"/>
                        </a:rPr>
                        <a:t>Dated metrics and an accountable reporting owner</a:t>
                      </a:r>
                    </a:p>
                  </a:txBody>
                  <a:tcPr marL="64008" marR="64008" marT="36576" marB="36576">
                    <a:solidFill>
                      <a:srgbClr val="FFFFFF"/>
                    </a:solidFill>
                  </a:tcPr>
                </a:tc>
                <a:tc>
                  <a:txBody>
                    <a:bodyPr/>
                    <a:lstStyle/>
                    <a:p>
                      <a:r>
                        <a:rPr sz="900" b="0" i="0">
                          <a:solidFill>
                            <a:srgbClr val="1F2937"/>
                          </a:solidFill>
                          <a:latin typeface="Calibri"/>
                        </a:rPr>
                        <a:t>Marketing analytics</a:t>
                      </a:r>
                    </a:p>
                  </a:txBody>
                  <a:tcPr marL="64008" marR="64008" marT="36576" marB="36576">
                    <a:solidFill>
                      <a:srgbClr val="FFFFFF"/>
                    </a:solidFill>
                  </a:tcPr>
                </a:tc>
                <a:extLst>
                  <a:ext uri="{0D108BD9-81ED-4DB2-BD59-A6C34878D82A}">
                    <a16:rowId xmlns:a16="http://schemas.microsoft.com/office/drawing/2014/main" val="10001"/>
                  </a:ext>
                </a:extLst>
              </a:tr>
              <a:tr h="565785">
                <a:tc>
                  <a:txBody>
                    <a:bodyPr/>
                    <a:lstStyle/>
                    <a:p>
                      <a:r>
                        <a:rPr sz="900" b="0" i="0">
                          <a:solidFill>
                            <a:srgbClr val="1F2937"/>
                          </a:solidFill>
                          <a:latin typeface="Calibri"/>
                        </a:rPr>
                        <a:t>1</a:t>
                      </a:r>
                    </a:p>
                  </a:txBody>
                  <a:tcPr marL="64008" marR="64008" marT="36576" marB="36576">
                    <a:solidFill>
                      <a:srgbClr val="F3F5F8"/>
                    </a:solidFill>
                  </a:tcPr>
                </a:tc>
                <a:tc>
                  <a:txBody>
                    <a:bodyPr/>
                    <a:lstStyle/>
                    <a:p>
                      <a:r>
                        <a:rPr sz="900" b="0" i="0">
                          <a:solidFill>
                            <a:srgbClr val="1F2937"/>
                          </a:solidFill>
                          <a:latin typeface="Calibri"/>
                        </a:rPr>
                        <a:t>Access</a:t>
                      </a:r>
                    </a:p>
                  </a:txBody>
                  <a:tcPr marL="64008" marR="64008" marT="36576" marB="36576">
                    <a:solidFill>
                      <a:srgbClr val="F3F5F8"/>
                    </a:solidFill>
                  </a:tcPr>
                </a:tc>
                <a:tc>
                  <a:txBody>
                    <a:bodyPr/>
                    <a:lstStyle/>
                    <a:p>
                      <a:r>
                        <a:rPr sz="900" b="0" i="0">
                          <a:solidFill>
                            <a:srgbClr val="1F2937"/>
                          </a:solidFill>
                          <a:latin typeface="Calibri"/>
                        </a:rPr>
                        <a:t>Observed robots permissions include GPTBot, Google-Extended, PerplexityBot, AnthropicBot and Applebot</a:t>
                      </a:r>
                    </a:p>
                  </a:txBody>
                  <a:tcPr marL="64008" marR="64008" marT="36576" marB="36576">
                    <a:solidFill>
                      <a:srgbClr val="F3F5F8"/>
                    </a:solidFill>
                  </a:tcPr>
                </a:tc>
                <a:tc>
                  <a:txBody>
                    <a:bodyPr/>
                    <a:lstStyle/>
                    <a:p>
                      <a:r>
                        <a:rPr sz="900" b="0" i="0">
                          <a:solidFill>
                            <a:srgbClr val="1F2937"/>
                          </a:solidFill>
                          <a:latin typeface="Calibri"/>
                        </a:rPr>
                        <a:t>Preserve path restrictions; verify relevant crawler access through robots, CDN and firewall rules</a:t>
                      </a:r>
                    </a:p>
                  </a:txBody>
                  <a:tcPr marL="64008" marR="64008" marT="36576" marB="36576">
                    <a:solidFill>
                      <a:srgbClr val="F3F5F8"/>
                    </a:solidFill>
                  </a:tcPr>
                </a:tc>
                <a:tc>
                  <a:txBody>
                    <a:bodyPr/>
                    <a:lstStyle/>
                    <a:p>
                      <a:r>
                        <a:rPr sz="900" b="0" i="0">
                          <a:solidFill>
                            <a:srgbClr val="1F2937"/>
                          </a:solidFill>
                          <a:latin typeface="Calibri"/>
                        </a:rPr>
                        <a:t>Logs show AI search bots fetching route and holiday URLs with status 200</a:t>
                      </a:r>
                    </a:p>
                  </a:txBody>
                  <a:tcPr marL="64008" marR="64008" marT="36576" marB="36576">
                    <a:solidFill>
                      <a:srgbClr val="F3F5F8"/>
                    </a:solidFill>
                  </a:tcPr>
                </a:tc>
                <a:tc>
                  <a:txBody>
                    <a:bodyPr/>
                    <a:lstStyle/>
                    <a:p>
                      <a:r>
                        <a:rPr sz="900" b="0" i="0">
                          <a:solidFill>
                            <a:srgbClr val="1F2937"/>
                          </a:solidFill>
                          <a:latin typeface="Calibri"/>
                        </a:rPr>
                        <a:t>Platform engineering</a:t>
                      </a:r>
                    </a:p>
                  </a:txBody>
                  <a:tcPr marL="64008" marR="64008" marT="36576" marB="36576">
                    <a:solidFill>
                      <a:srgbClr val="F3F5F8"/>
                    </a:solidFill>
                  </a:tcPr>
                </a:tc>
                <a:extLst>
                  <a:ext uri="{0D108BD9-81ED-4DB2-BD59-A6C34878D82A}">
                    <a16:rowId xmlns:a16="http://schemas.microsoft.com/office/drawing/2014/main" val="10002"/>
                  </a:ext>
                </a:extLst>
              </a:tr>
              <a:tr h="565785">
                <a:tc>
                  <a:txBody>
                    <a:bodyPr/>
                    <a:lstStyle/>
                    <a:p>
                      <a:r>
                        <a:rPr sz="900" b="0" i="0">
                          <a:solidFill>
                            <a:srgbClr val="1F2937"/>
                          </a:solidFill>
                          <a:latin typeface="Calibri"/>
                        </a:rPr>
                        <a:t>2</a:t>
                      </a:r>
                    </a:p>
                  </a:txBody>
                  <a:tcPr marL="64008" marR="64008" marT="36576" marB="36576">
                    <a:solidFill>
                      <a:srgbClr val="FFFFFF"/>
                    </a:solidFill>
                  </a:tcPr>
                </a:tc>
                <a:tc>
                  <a:txBody>
                    <a:bodyPr/>
                    <a:lstStyle/>
                    <a:p>
                      <a:r>
                        <a:rPr sz="900" b="0" i="0">
                          <a:solidFill>
                            <a:srgbClr val="1F2937"/>
                          </a:solidFill>
                          <a:latin typeface="Calibri"/>
                        </a:rPr>
                        <a:t>Rendering</a:t>
                      </a:r>
                    </a:p>
                  </a:txBody>
                  <a:tcPr marL="64008" marR="64008" marT="36576" marB="36576">
                    <a:solidFill>
                      <a:srgbClr val="FFFFFF"/>
                    </a:solidFill>
                  </a:tcPr>
                </a:tc>
                <a:tc>
                  <a:txBody>
                    <a:bodyPr/>
                    <a:lstStyle/>
                    <a:p>
                      <a:r>
                        <a:rPr sz="900" b="0" i="0">
                          <a:solidFill>
                            <a:srgbClr val="1F2937"/>
                          </a:solidFill>
                          <a:latin typeface="Calibri"/>
                        </a:rPr>
                        <a:t>Route FAQ in HTML; deal cards client-side (6 with JavaScript, 0 without); holiday deal tiles empty without JS</a:t>
                      </a:r>
                    </a:p>
                  </a:txBody>
                  <a:tcPr marL="64008" marR="64008" marT="36576" marB="36576">
                    <a:solidFill>
                      <a:srgbClr val="FFFFFF"/>
                    </a:solidFill>
                  </a:tcPr>
                </a:tc>
                <a:tc>
                  <a:txBody>
                    <a:bodyPr/>
                    <a:lstStyle/>
                    <a:p>
                      <a:r>
                        <a:rPr sz="900" b="0" i="0">
                          <a:solidFill>
                            <a:srgbClr val="1F2937"/>
                          </a:solidFill>
                          <a:latin typeface="Calibri"/>
                        </a:rPr>
                        <a:t>Server-render fare, dated deals, fee rule, FAQ Q&amp;A and expert/store path on route and holiday templates</a:t>
                      </a:r>
                    </a:p>
                  </a:txBody>
                  <a:tcPr marL="64008" marR="64008" marT="36576" marB="36576">
                    <a:solidFill>
                      <a:srgbClr val="FFFFFF"/>
                    </a:solidFill>
                  </a:tcPr>
                </a:tc>
                <a:tc>
                  <a:txBody>
                    <a:bodyPr/>
                    <a:lstStyle/>
                    <a:p>
                      <a:r>
                        <a:rPr sz="900" b="0" i="0">
                          <a:solidFill>
                            <a:srgbClr val="1F2937"/>
                          </a:solidFill>
                          <a:latin typeface="Calibri"/>
                        </a:rPr>
                        <a:t>curl without JavaScript returns those facts; no AI-only page variants</a:t>
                      </a:r>
                    </a:p>
                  </a:txBody>
                  <a:tcPr marL="64008" marR="64008" marT="36576" marB="36576">
                    <a:solidFill>
                      <a:srgbClr val="FFFFFF"/>
                    </a:solidFill>
                  </a:tcPr>
                </a:tc>
                <a:tc>
                  <a:txBody>
                    <a:bodyPr/>
                    <a:lstStyle/>
                    <a:p>
                      <a:r>
                        <a:rPr sz="900" b="0" i="0">
                          <a:solidFill>
                            <a:srgbClr val="1F2937"/>
                          </a:solidFill>
                          <a:latin typeface="Calibri"/>
                        </a:rPr>
                        <a:t>Web engineering</a:t>
                      </a:r>
                    </a:p>
                  </a:txBody>
                  <a:tcPr marL="64008" marR="64008" marT="36576" marB="36576">
                    <a:solidFill>
                      <a:srgbClr val="FFFFFF"/>
                    </a:solidFill>
                  </a:tcPr>
                </a:tc>
                <a:extLst>
                  <a:ext uri="{0D108BD9-81ED-4DB2-BD59-A6C34878D82A}">
                    <a16:rowId xmlns:a16="http://schemas.microsoft.com/office/drawing/2014/main" val="10003"/>
                  </a:ext>
                </a:extLst>
              </a:tr>
              <a:tr h="565785">
                <a:tc>
                  <a:txBody>
                    <a:bodyPr/>
                    <a:lstStyle/>
                    <a:p>
                      <a:r>
                        <a:rPr sz="900" b="0" i="0">
                          <a:solidFill>
                            <a:srgbClr val="1F2937"/>
                          </a:solidFill>
                          <a:latin typeface="Calibri"/>
                        </a:rPr>
                        <a:t>3</a:t>
                      </a:r>
                    </a:p>
                  </a:txBody>
                  <a:tcPr marL="64008" marR="64008" marT="36576" marB="36576">
                    <a:solidFill>
                      <a:srgbClr val="F3F5F8"/>
                    </a:solidFill>
                  </a:tcPr>
                </a:tc>
                <a:tc>
                  <a:txBody>
                    <a:bodyPr/>
                    <a:lstStyle/>
                    <a:p>
                      <a:r>
                        <a:rPr sz="900" b="0" i="0">
                          <a:solidFill>
                            <a:srgbClr val="1F2937"/>
                          </a:solidFill>
                          <a:latin typeface="Calibri"/>
                        </a:rPr>
                        <a:t>Structure</a:t>
                      </a:r>
                    </a:p>
                  </a:txBody>
                  <a:tcPr marL="64008" marR="64008" marT="36576" marB="36576">
                    <a:solidFill>
                      <a:srgbClr val="F3F5F8"/>
                    </a:solidFill>
                  </a:tcPr>
                </a:tc>
                <a:tc>
                  <a:txBody>
                    <a:bodyPr/>
                    <a:lstStyle/>
                    <a:p>
                      <a:r>
                        <a:rPr sz="900" b="0" i="0">
                          <a:solidFill>
                            <a:srgbClr val="1F2937"/>
                          </a:solidFill>
                          <a:latin typeface="Calibri"/>
                        </a:rPr>
                        <a:t>Route: FAQPage + Flight/Offer JSON-LD; holiday: none; llms.txt 404</a:t>
                      </a:r>
                    </a:p>
                  </a:txBody>
                  <a:tcPr marL="64008" marR="64008" marT="36576" marB="36576">
                    <a:solidFill>
                      <a:srgbClr val="F3F5F8"/>
                    </a:solidFill>
                  </a:tcPr>
                </a:tc>
                <a:tc>
                  <a:txBody>
                    <a:bodyPr/>
                    <a:lstStyle/>
                    <a:p>
                      <a:r>
                        <a:rPr sz="900" b="0" i="0">
                          <a:solidFill>
                            <a:srgbClr val="1F2937"/>
                          </a:solidFill>
                          <a:latin typeface="Calibri"/>
                        </a:rPr>
                        <a:t>JSON-LD generated from the same fare/FAQ record as the page; Organization + sameAs site-wide; llms.txt optional</a:t>
                      </a:r>
                    </a:p>
                  </a:txBody>
                  <a:tcPr marL="64008" marR="64008" marT="36576" marB="36576">
                    <a:solidFill>
                      <a:srgbClr val="F3F5F8"/>
                    </a:solidFill>
                  </a:tcPr>
                </a:tc>
                <a:tc>
                  <a:txBody>
                    <a:bodyPr/>
                    <a:lstStyle/>
                    <a:p>
                      <a:r>
                        <a:rPr sz="900" b="0" i="0">
                          <a:solidFill>
                            <a:srgbClr val="1F2937"/>
                          </a:solidFill>
                          <a:latin typeface="Calibri"/>
                        </a:rPr>
                        <a:t>Appropriate schema validates and matches visible facts; no special AI schema requirement</a:t>
                      </a:r>
                    </a:p>
                  </a:txBody>
                  <a:tcPr marL="64008" marR="64008" marT="36576" marB="36576">
                    <a:solidFill>
                      <a:srgbClr val="F3F5F8"/>
                    </a:solidFill>
                  </a:tcPr>
                </a:tc>
                <a:tc>
                  <a:txBody>
                    <a:bodyPr/>
                    <a:lstStyle/>
                    <a:p>
                      <a:r>
                        <a:rPr sz="900" b="0" i="0">
                          <a:solidFill>
                            <a:srgbClr val="1F2937"/>
                          </a:solidFill>
                          <a:latin typeface="Calibri"/>
                        </a:rPr>
                        <a:t>SEO + engineering</a:t>
                      </a:r>
                    </a:p>
                  </a:txBody>
                  <a:tcPr marL="64008" marR="64008" marT="36576" marB="36576">
                    <a:solidFill>
                      <a:srgbClr val="F3F5F8"/>
                    </a:solidFill>
                  </a:tcPr>
                </a:tc>
                <a:extLst>
                  <a:ext uri="{0D108BD9-81ED-4DB2-BD59-A6C34878D82A}">
                    <a16:rowId xmlns:a16="http://schemas.microsoft.com/office/drawing/2014/main" val="10004"/>
                  </a:ext>
                </a:extLst>
              </a:tr>
              <a:tr h="565785">
                <a:tc>
                  <a:txBody>
                    <a:bodyPr/>
                    <a:lstStyle/>
                    <a:p>
                      <a:r>
                        <a:rPr sz="900" b="0" i="0">
                          <a:solidFill>
                            <a:srgbClr val="1F2937"/>
                          </a:solidFill>
                          <a:latin typeface="Calibri"/>
                        </a:rPr>
                        <a:t>4</a:t>
                      </a:r>
                    </a:p>
                  </a:txBody>
                  <a:tcPr marL="64008" marR="64008" marT="36576" marB="36576">
                    <a:solidFill>
                      <a:srgbClr val="FFFFFF"/>
                    </a:solidFill>
                  </a:tcPr>
                </a:tc>
                <a:tc>
                  <a:txBody>
                    <a:bodyPr/>
                    <a:lstStyle/>
                    <a:p>
                      <a:r>
                        <a:rPr sz="900" b="0" i="0">
                          <a:solidFill>
                            <a:srgbClr val="1F2937"/>
                          </a:solidFill>
                          <a:latin typeface="Calibri"/>
                        </a:rPr>
                        <a:t>Content (tested page pattern)</a:t>
                      </a:r>
                    </a:p>
                  </a:txBody>
                  <a:tcPr marL="64008" marR="64008" marT="36576" marB="36576">
                    <a:solidFill>
                      <a:srgbClr val="FFFFFF"/>
                    </a:solidFill>
                  </a:tcPr>
                </a:tc>
                <a:tc>
                  <a:txBody>
                    <a:bodyPr/>
                    <a:lstStyle/>
                    <a:p>
                      <a:r>
                        <a:rPr sz="900" b="0" i="0">
                          <a:solidFill>
                            <a:srgbClr val="1F2937"/>
                          </a:solidFill>
                          <a:latin typeface="Calibri"/>
                        </a:rPr>
                        <a:t>Selected supplied-source comparison: +12.4 points</a:t>
                      </a:r>
                    </a:p>
                  </a:txBody>
                  <a:tcPr marL="64008" marR="64008" marT="36576" marB="36576">
                    <a:solidFill>
                      <a:srgbClr val="FFFFFF"/>
                    </a:solidFill>
                  </a:tcPr>
                </a:tc>
                <a:tc>
                  <a:txBody>
                    <a:bodyPr/>
                    <a:lstStyle/>
                    <a:p>
                      <a:r>
                        <a:rPr sz="900" b="0" i="0">
                          <a:solidFill>
                            <a:srgbClr val="1F2937"/>
                          </a:solidFill>
                          <a:latin typeface="Calibri"/>
                        </a:rPr>
                        <a:t>Template: definition-first opening, dated deals, fare-and-fee block, page-specific FAQs, differentiators in text; programmatic destination FAQs from a fact store</a:t>
                      </a:r>
                    </a:p>
                  </a:txBody>
                  <a:tcPr marL="64008" marR="64008" marT="36576" marB="36576">
                    <a:solidFill>
                      <a:srgbClr val="FFFFFF"/>
                    </a:solidFill>
                  </a:tcPr>
                </a:tc>
                <a:tc>
                  <a:txBody>
                    <a:bodyPr/>
                    <a:lstStyle/>
                    <a:p>
                      <a:r>
                        <a:rPr sz="900" b="0" i="0">
                          <a:solidFill>
                            <a:srgbClr val="1F2937"/>
                          </a:solidFill>
                          <a:latin typeface="Calibri"/>
                        </a:rPr>
                        <a:t>Published pages contain approved facts and usable answers; monitor citations separately</a:t>
                      </a:r>
                    </a:p>
                  </a:txBody>
                  <a:tcPr marL="64008" marR="64008" marT="36576" marB="36576">
                    <a:solidFill>
                      <a:srgbClr val="FFFFFF"/>
                    </a:solidFill>
                  </a:tcPr>
                </a:tc>
                <a:tc>
                  <a:txBody>
                    <a:bodyPr/>
                    <a:lstStyle/>
                    <a:p>
                      <a:r>
                        <a:rPr sz="900" b="0" i="0">
                          <a:solidFill>
                            <a:srgbClr val="1F2937"/>
                          </a:solidFill>
                          <a:latin typeface="Calibri"/>
                        </a:rPr>
                        <a:t>Content + product</a:t>
                      </a:r>
                    </a:p>
                  </a:txBody>
                  <a:tcPr marL="64008" marR="64008" marT="36576" marB="36576">
                    <a:solidFill>
                      <a:srgbClr val="FFFFFF"/>
                    </a:solidFill>
                  </a:tcPr>
                </a:tc>
                <a:extLst>
                  <a:ext uri="{0D108BD9-81ED-4DB2-BD59-A6C34878D82A}">
                    <a16:rowId xmlns:a16="http://schemas.microsoft.com/office/drawing/2014/main" val="10005"/>
                  </a:ext>
                </a:extLst>
              </a:tr>
              <a:tr h="565785">
                <a:tc>
                  <a:txBody>
                    <a:bodyPr/>
                    <a:lstStyle/>
                    <a:p>
                      <a:r>
                        <a:rPr sz="900" b="0" i="0">
                          <a:solidFill>
                            <a:srgbClr val="1F2937"/>
                          </a:solidFill>
                          <a:latin typeface="Calibri"/>
                        </a:rPr>
                        <a:t>5</a:t>
                      </a:r>
                    </a:p>
                  </a:txBody>
                  <a:tcPr marL="64008" marR="64008" marT="36576" marB="36576">
                    <a:solidFill>
                      <a:srgbClr val="F3F5F8"/>
                    </a:solidFill>
                  </a:tcPr>
                </a:tc>
                <a:tc>
                  <a:txBody>
                    <a:bodyPr/>
                    <a:lstStyle/>
                    <a:p>
                      <a:r>
                        <a:rPr sz="900" b="0" i="0">
                          <a:solidFill>
                            <a:srgbClr val="1F2937"/>
                          </a:solidFill>
                          <a:latin typeface="Calibri"/>
                        </a:rPr>
                        <a:t>Freshness: one fare truth</a:t>
                      </a:r>
                    </a:p>
                  </a:txBody>
                  <a:tcPr marL="64008" marR="64008" marT="36576" marB="36576">
                    <a:solidFill>
                      <a:srgbClr val="F3F5F8"/>
                    </a:solidFill>
                  </a:tcPr>
                </a:tc>
                <a:tc>
                  <a:txBody>
                    <a:bodyPr/>
                    <a:lstStyle/>
                    <a:p>
                      <a:r>
                        <a:rPr sz="900" b="0" i="0">
                          <a:solidFill>
                            <a:srgbClr val="1F2937"/>
                          </a:solidFill>
                          <a:latin typeface="Calibri"/>
                        </a:rPr>
                        <a:t>Same URL: $1,434 / $1,386 / $1,272 / $1,342 across four dates; today the heading says $1,342 while the cheapest deal card says $1,605</a:t>
                      </a:r>
                    </a:p>
                  </a:txBody>
                  <a:tcPr marL="64008" marR="64008" marT="36576" marB="36576">
                    <a:solidFill>
                      <a:srgbClr val="F3F5F8"/>
                    </a:solidFill>
                  </a:tcPr>
                </a:tc>
                <a:tc>
                  <a:txBody>
                    <a:bodyPr/>
                    <a:lstStyle/>
                    <a:p>
                      <a:r>
                        <a:rPr sz="900" b="0" i="0">
                          <a:solidFill>
                            <a:srgbClr val="1F2937"/>
                          </a:solidFill>
                          <a:latin typeface="Calibri"/>
                        </a:rPr>
                        <a:t>One offer record feeds page text, JSON-LD and the fare block; dateModified; stale = defect</a:t>
                      </a:r>
                    </a:p>
                  </a:txBody>
                  <a:tcPr marL="64008" marR="64008" marT="36576" marB="36576">
                    <a:solidFill>
                      <a:srgbClr val="F3F5F8"/>
                    </a:solidFill>
                  </a:tcPr>
                </a:tc>
                <a:tc>
                  <a:txBody>
                    <a:bodyPr/>
                    <a:lstStyle/>
                    <a:p>
                      <a:r>
                        <a:rPr sz="900" b="0" i="0">
                          <a:solidFill>
                            <a:srgbClr val="1F2937"/>
                          </a:solidFill>
                          <a:latin typeface="Calibri"/>
                        </a:rPr>
                        <a:t>Equivalent offer conditions match; explain changes and enforce the freshness policy</a:t>
                      </a:r>
                    </a:p>
                  </a:txBody>
                  <a:tcPr marL="64008" marR="64008" marT="36576" marB="36576">
                    <a:solidFill>
                      <a:srgbClr val="F3F5F8"/>
                    </a:solidFill>
                  </a:tcPr>
                </a:tc>
                <a:tc>
                  <a:txBody>
                    <a:bodyPr/>
                    <a:lstStyle/>
                    <a:p>
                      <a:r>
                        <a:rPr sz="900" b="0" i="0">
                          <a:solidFill>
                            <a:srgbClr val="1F2937"/>
                          </a:solidFill>
                          <a:latin typeface="Calibri"/>
                        </a:rPr>
                        <a:t>Commercial + legal</a:t>
                      </a:r>
                    </a:p>
                  </a:txBody>
                  <a:tcPr marL="64008" marR="64008" marT="36576" marB="36576">
                    <a:solidFill>
                      <a:srgbClr val="F3F5F8"/>
                    </a:solidFill>
                  </a:tcPr>
                </a:tc>
                <a:extLst>
                  <a:ext uri="{0D108BD9-81ED-4DB2-BD59-A6C34878D82A}">
                    <a16:rowId xmlns:a16="http://schemas.microsoft.com/office/drawing/2014/main" val="10006"/>
                  </a:ext>
                </a:extLst>
              </a:tr>
              <a:tr h="565785">
                <a:tc>
                  <a:txBody>
                    <a:bodyPr/>
                    <a:lstStyle/>
                    <a:p>
                      <a:r>
                        <a:rPr sz="900" b="0" i="0">
                          <a:solidFill>
                            <a:srgbClr val="1F2937"/>
                          </a:solidFill>
                          <a:latin typeface="Calibri"/>
                        </a:rPr>
                        <a:t>6</a:t>
                      </a:r>
                    </a:p>
                  </a:txBody>
                  <a:tcPr marL="64008" marR="64008" marT="36576" marB="36576">
                    <a:solidFill>
                      <a:srgbClr val="FFFFFF"/>
                    </a:solidFill>
                  </a:tcPr>
                </a:tc>
                <a:tc>
                  <a:txBody>
                    <a:bodyPr/>
                    <a:lstStyle/>
                    <a:p>
                      <a:r>
                        <a:rPr sz="900" b="0" i="0">
                          <a:solidFill>
                            <a:srgbClr val="1F2937"/>
                          </a:solidFill>
                          <a:latin typeface="Calibri"/>
                        </a:rPr>
                        <a:t>Authority (earned)</a:t>
                      </a:r>
                    </a:p>
                  </a:txBody>
                  <a:tcPr marL="64008" marR="64008" marT="36576" marB="36576">
                    <a:solidFill>
                      <a:srgbClr val="FFFFFF"/>
                    </a:solidFill>
                  </a:tcPr>
                </a:tc>
                <a:tc>
                  <a:txBody>
                    <a:bodyPr/>
                    <a:lstStyle/>
                    <a:p>
                      <a:r>
                        <a:rPr sz="900" b="0" i="0">
                          <a:solidFill>
                            <a:srgbClr val="1F2937"/>
                          </a:solidFill>
                          <a:latin typeface="Calibri"/>
                        </a:rPr>
                        <a:t>Wikipedia/Wikidata mature; 27,355 Trustpilot reviews naming consultants; FC was absent from the sampled agency answer</a:t>
                      </a:r>
                    </a:p>
                  </a:txBody>
                  <a:tcPr marL="64008" marR="64008" marT="36576" marB="36576">
                    <a:solidFill>
                      <a:srgbClr val="FFFFFF"/>
                    </a:solidFill>
                  </a:tcPr>
                </a:tc>
                <a:tc>
                  <a:txBody>
                    <a:bodyPr/>
                    <a:lstStyle/>
                    <a:p>
                      <a:r>
                        <a:rPr sz="900" b="0" i="0">
                          <a:solidFill>
                            <a:srgbClr val="1F2937"/>
                          </a:solidFill>
                          <a:latin typeface="Calibri"/>
                        </a:rPr>
                        <a:t>Keep Wikipedia/Wikidata accurate; answer reviews; publish citable research; store/adviser listings reconciled</a:t>
                      </a:r>
                    </a:p>
                  </a:txBody>
                  <a:tcPr marL="64008" marR="64008" marT="36576" marB="36576">
                    <a:solidFill>
                      <a:srgbClr val="FFFFFF"/>
                    </a:solidFill>
                  </a:tcPr>
                </a:tc>
                <a:tc>
                  <a:txBody>
                    <a:bodyPr/>
                    <a:lstStyle/>
                    <a:p>
                      <a:r>
                        <a:rPr sz="900" b="0" i="0">
                          <a:solidFill>
                            <a:srgbClr val="1F2937"/>
                          </a:solidFill>
                          <a:latin typeface="Calibri"/>
                        </a:rPr>
                        <a:t>Accurate listings and genuine coverage; monitor mentions without promising uplift</a:t>
                      </a:r>
                    </a:p>
                  </a:txBody>
                  <a:tcPr marL="64008" marR="64008" marT="36576" marB="36576">
                    <a:solidFill>
                      <a:srgbClr val="FFFFFF"/>
                    </a:solidFill>
                  </a:tcPr>
                </a:tc>
                <a:tc>
                  <a:txBody>
                    <a:bodyPr/>
                    <a:lstStyle/>
                    <a:p>
                      <a:r>
                        <a:rPr sz="900" b="0" i="0">
                          <a:solidFill>
                            <a:srgbClr val="1F2937"/>
                          </a:solidFill>
                          <a:latin typeface="Calibri"/>
                        </a:rPr>
                        <a:t>PR, brand, retail</a:t>
                      </a:r>
                    </a:p>
                  </a:txBody>
                  <a:tcPr marL="64008" marR="64008" marT="36576" marB="36576">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These workstreams draw on reviewed practitioner frameworks and our audits. They are not universal prerequisites: apps and third-party sources are additional routes. Owners are role suggestions. Do not attribute the 52% to schema, llms.txt or bot access: none of those was in the tested treatment.</a:t>
            </a:r>
          </a:p>
        </p:txBody>
      </p:sp>
      <p:sp>
        <p:nvSpPr>
          <p:cNvPr id="7" name="TextBox 6"/>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HOW</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Layers 1–2: robots permissions are present; sampled deal content depends on JavaScript</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8485632" y="329184"/>
            <a:ext cx="207568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Live check 25 Oct 2026</a:t>
            </a:r>
          </a:p>
        </p:txBody>
      </p:sp>
      <p:sp>
        <p:nvSpPr>
          <p:cNvPr id="6" name="Rounded Rectangle 5"/>
          <p:cNvSpPr/>
          <p:nvPr/>
        </p:nvSpPr>
        <p:spPr>
          <a:xfrm>
            <a:off x="548640" y="1600200"/>
            <a:ext cx="4754880" cy="2514600"/>
          </a:xfrm>
          <a:prstGeom prst="roundRect">
            <a:avLst>
              <a:gd name="adj" fmla="val 4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13232" y="1709928"/>
            <a:ext cx="4425696" cy="2313432"/>
          </a:xfrm>
          <a:prstGeom prst="rect">
            <a:avLst/>
          </a:prstGeom>
          <a:noFill/>
        </p:spPr>
        <p:txBody>
          <a:bodyPr wrap="square" lIns="45720" rIns="45720" anchor="t">
            <a:spAutoFit/>
          </a:bodyPr>
          <a:lstStyle/>
          <a:p>
            <a:pPr algn="l">
              <a:lnSpc>
                <a:spcPct val="105000"/>
              </a:lnSpc>
              <a:spcAft>
                <a:spcPts val="0"/>
              </a:spcAft>
            </a:pPr>
            <a:r>
              <a:rPr sz="1000" b="0" i="0">
                <a:solidFill>
                  <a:srgbClr val="9FB3CC"/>
                </a:solidFill>
                <a:latin typeface="Consolas"/>
              </a:rPr>
              <a:t># flightcentre.com.au/robots.txt, live 25 Oct 2026 (excerpt)</a:t>
            </a:r>
          </a:p>
          <a:p>
            <a:pPr algn="l">
              <a:lnSpc>
                <a:spcPct val="105000"/>
              </a:lnSpc>
              <a:spcAft>
                <a:spcPts val="0"/>
              </a:spcAft>
            </a:pPr>
            <a:r>
              <a:rPr sz="1000" b="0" i="0">
                <a:solidFill>
                  <a:srgbClr val="E6EDF7"/>
                </a:solidFill>
                <a:latin typeface="Consolas"/>
              </a:rPr>
              <a:t>User-Agent: *            Allow: /</a:t>
            </a:r>
          </a:p>
          <a:p>
            <a:pPr algn="l">
              <a:lnSpc>
                <a:spcPct val="105000"/>
              </a:lnSpc>
              <a:spcAft>
                <a:spcPts val="0"/>
              </a:spcAft>
            </a:pPr>
            <a:r>
              <a:rPr sz="1000" b="0" i="0">
                <a:solidFill>
                  <a:srgbClr val="E6EDF7"/>
                </a:solidFill>
                <a:latin typeface="Consolas"/>
              </a:rPr>
              <a:t>User-Agent: GPTBot       Allow: /</a:t>
            </a:r>
          </a:p>
          <a:p>
            <a:pPr algn="l">
              <a:lnSpc>
                <a:spcPct val="105000"/>
              </a:lnSpc>
              <a:spcAft>
                <a:spcPts val="0"/>
              </a:spcAft>
            </a:pPr>
            <a:r>
              <a:rPr sz="1000" b="0" i="0">
                <a:solidFill>
                  <a:srgbClr val="E6EDF7"/>
                </a:solidFill>
                <a:latin typeface="Consolas"/>
              </a:rPr>
              <a:t>User-Agent: Google-Extended  Allow: /</a:t>
            </a:r>
          </a:p>
          <a:p>
            <a:pPr algn="l">
              <a:lnSpc>
                <a:spcPct val="105000"/>
              </a:lnSpc>
              <a:spcAft>
                <a:spcPts val="0"/>
              </a:spcAft>
            </a:pPr>
            <a:r>
              <a:rPr sz="1000" b="0" i="0">
                <a:solidFill>
                  <a:srgbClr val="E6EDF7"/>
                </a:solidFill>
                <a:latin typeface="Consolas"/>
              </a:rPr>
              <a:t>User-Agent: PerplexityBot    Allow: /</a:t>
            </a:r>
          </a:p>
          <a:p>
            <a:pPr algn="l">
              <a:lnSpc>
                <a:spcPct val="105000"/>
              </a:lnSpc>
              <a:spcAft>
                <a:spcPts val="0"/>
              </a:spcAft>
            </a:pPr>
            <a:r>
              <a:rPr sz="1000" b="0" i="0">
                <a:solidFill>
                  <a:srgbClr val="E6EDF7"/>
                </a:solidFill>
                <a:latin typeface="Consolas"/>
              </a:rPr>
              <a:t>User-Agent: AnthropicBot     Allow: /</a:t>
            </a:r>
          </a:p>
          <a:p>
            <a:pPr algn="l">
              <a:lnSpc>
                <a:spcPct val="105000"/>
              </a:lnSpc>
              <a:spcAft>
                <a:spcPts val="0"/>
              </a:spcAft>
            </a:pPr>
            <a:r>
              <a:rPr sz="1000" b="0" i="0">
                <a:solidFill>
                  <a:srgbClr val="E6EDF7"/>
                </a:solidFill>
                <a:latin typeface="Consolas"/>
              </a:rPr>
              <a:t>User-Agent: Applebot         Allow: /</a:t>
            </a:r>
          </a:p>
          <a:p>
            <a:pPr algn="l">
              <a:lnSpc>
                <a:spcPct val="105000"/>
              </a:lnSpc>
              <a:spcAft>
                <a:spcPts val="0"/>
              </a:spcAft>
            </a:pPr>
            <a:r>
              <a:rPr sz="1000" b="0" i="0">
                <a:solidFill>
                  <a:srgbClr val="7ED99B"/>
                </a:solidFill>
                <a:latin typeface="Consolas"/>
              </a:rPr>
              <a:t># AI bots are allowed. ChatGPT's search bot (OAI-SearchBot)</a:t>
            </a:r>
          </a:p>
          <a:p>
            <a:pPr algn="l">
              <a:lnSpc>
                <a:spcPct val="105000"/>
              </a:lnSpc>
              <a:spcAft>
                <a:spcPts val="0"/>
              </a:spcAft>
            </a:pPr>
            <a:r>
              <a:rPr sz="1000" b="0" i="0">
                <a:solidFill>
                  <a:srgbClr val="7ED99B"/>
                </a:solidFill>
                <a:latin typeface="Consolas"/>
              </a:rPr>
              <a:t># is covered by the wildcard rule.</a:t>
            </a:r>
          </a:p>
        </p:txBody>
      </p:sp>
      <p:sp>
        <p:nvSpPr>
          <p:cNvPr id="8" name="Rounded Rectangle 7"/>
          <p:cNvSpPr/>
          <p:nvPr/>
        </p:nvSpPr>
        <p:spPr>
          <a:xfrm>
            <a:off x="548640" y="4251960"/>
            <a:ext cx="4754880" cy="192024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13232" y="4416552"/>
            <a:ext cx="4425696" cy="365760"/>
          </a:xfrm>
          <a:prstGeom prst="rect">
            <a:avLst/>
          </a:prstGeom>
          <a:noFill/>
        </p:spPr>
        <p:txBody>
          <a:bodyPr wrap="square" lIns="45720" rIns="45720" anchor="t">
            <a:spAutoFit/>
          </a:bodyPr>
          <a:lstStyle/>
          <a:p>
            <a:pPr algn="l">
              <a:lnSpc>
                <a:spcPct val="108000"/>
              </a:lnSpc>
              <a:spcAft>
                <a:spcPts val="400"/>
              </a:spcAft>
            </a:pPr>
            <a:r>
              <a:rPr sz="1300" b="1" i="0">
                <a:solidFill>
                  <a:srgbClr val="0B2240"/>
                </a:solidFill>
                <a:latin typeface="Calibri"/>
              </a:rPr>
              <a:t>Layer 1, access: verify actual fetches</a:t>
            </a:r>
          </a:p>
        </p:txBody>
      </p:sp>
      <p:sp>
        <p:nvSpPr>
          <p:cNvPr id="10" name="TextBox 9"/>
          <p:cNvSpPr txBox="1"/>
          <p:nvPr/>
        </p:nvSpPr>
        <p:spPr>
          <a:xfrm>
            <a:off x="713232" y="4800600"/>
            <a:ext cx="4425696" cy="1207008"/>
          </a:xfrm>
          <a:prstGeom prst="rect">
            <a:avLst/>
          </a:prstGeom>
          <a:noFill/>
        </p:spPr>
        <p:txBody>
          <a:bodyPr wrap="square" lIns="45720" rIns="45720" anchor="t">
            <a:spAutoFit/>
          </a:bodyPr>
          <a:lstStyle/>
          <a:p>
            <a:pPr algn="l">
              <a:lnSpc>
                <a:spcPct val="108000"/>
              </a:lnSpc>
              <a:spcAft>
                <a:spcPts val="400"/>
              </a:spcAft>
            </a:pPr>
            <a:r>
              <a:rPr sz="1100" b="0" i="0">
                <a:solidFill>
                  <a:srgbClr val="1F2937"/>
                </a:solidFill>
                <a:latin typeface="Calibri"/>
              </a:rPr>
              <a:t>Preserve intended robots restrictions. Also confirm in CDN or server logs that OAI-SearchBot, PerplexityBot and Claude's bots fetch route and holiday pages with status 200, because a CDN or firewall rule can still block a bot that robots.txt allows.</a:t>
            </a:r>
          </a:p>
        </p:txBody>
      </p:sp>
      <p:pic>
        <p:nvPicPr>
          <p:cNvPr id="11" name="Picture 10" descr="fc_mel_lon_js_deals.png"/>
          <p:cNvPicPr>
            <a:picLocks noChangeAspect="1"/>
          </p:cNvPicPr>
          <p:nvPr/>
        </p:nvPicPr>
        <p:blipFill>
          <a:blip r:embed="rId3"/>
          <a:stretch>
            <a:fillRect/>
          </a:stretch>
        </p:blipFill>
        <p:spPr>
          <a:xfrm>
            <a:off x="5532120" y="1600200"/>
            <a:ext cx="3017520" cy="1899756"/>
          </a:xfrm>
          <a:prstGeom prst="rect">
            <a:avLst/>
          </a:prstGeom>
          <a:ln w="9525">
            <a:solidFill>
              <a:srgbClr val="D9DEE5"/>
            </a:solidFill>
          </a:ln>
        </p:spPr>
      </p:pic>
      <p:pic>
        <p:nvPicPr>
          <p:cNvPr id="12" name="Picture 11" descr="fc_mel_lon_nojs_deals.png"/>
          <p:cNvPicPr>
            <a:picLocks noChangeAspect="1"/>
          </p:cNvPicPr>
          <p:nvPr/>
        </p:nvPicPr>
        <p:blipFill>
          <a:blip r:embed="rId4"/>
          <a:stretch>
            <a:fillRect/>
          </a:stretch>
        </p:blipFill>
        <p:spPr>
          <a:xfrm>
            <a:off x="8641080" y="1600200"/>
            <a:ext cx="3017520" cy="1899756"/>
          </a:xfrm>
          <a:prstGeom prst="rect">
            <a:avLst/>
          </a:prstGeom>
          <a:ln w="9525">
            <a:solidFill>
              <a:srgbClr val="D9DEE5"/>
            </a:solidFill>
          </a:ln>
        </p:spPr>
      </p:pic>
      <p:sp>
        <p:nvSpPr>
          <p:cNvPr id="13" name="TextBox 12"/>
          <p:cNvSpPr txBox="1"/>
          <p:nvPr/>
        </p:nvSpPr>
        <p:spPr>
          <a:xfrm>
            <a:off x="5532120" y="3520440"/>
            <a:ext cx="6126480" cy="548640"/>
          </a:xfrm>
          <a:prstGeom prst="rect">
            <a:avLst/>
          </a:prstGeom>
          <a:noFill/>
        </p:spPr>
        <p:txBody>
          <a:bodyPr wrap="square" lIns="45720" rIns="45720" anchor="t">
            <a:spAutoFit/>
          </a:bodyPr>
          <a:lstStyle/>
          <a:p>
            <a:pPr algn="l">
              <a:lnSpc>
                <a:spcPct val="100000"/>
              </a:lnSpc>
              <a:spcAft>
                <a:spcPts val="400"/>
              </a:spcAft>
            </a:pPr>
            <a:r>
              <a:rPr sz="950" b="0" i="1">
                <a:solidFill>
                  <a:srgbClr val="5B6573"/>
                </a:solidFill>
                <a:latin typeface="Calibri"/>
              </a:rPr>
              <a:t>FC Melbourne–London, 25 Oct 2026. Left: with JavaScript, six dated deals from $1,605. Right: the same page without JavaScript, as most AI fetchers receive it: six empty placeholders. Bali and Fiji holiday pages: deal tiles empty and no JSON-LD. The 2024 crawler study is historical; present capabilities vary by fetch path.</a:t>
            </a:r>
          </a:p>
        </p:txBody>
      </p:sp>
      <p:sp>
        <p:nvSpPr>
          <p:cNvPr id="14" name="Rounded Rectangle 13"/>
          <p:cNvSpPr/>
          <p:nvPr/>
        </p:nvSpPr>
        <p:spPr>
          <a:xfrm>
            <a:off x="5532120" y="4114800"/>
            <a:ext cx="6126480" cy="2057400"/>
          </a:xfrm>
          <a:prstGeom prst="roundRect">
            <a:avLst>
              <a:gd name="adj" fmla="val 4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696712" y="4224528"/>
            <a:ext cx="5797296" cy="1856231"/>
          </a:xfrm>
          <a:prstGeom prst="rect">
            <a:avLst/>
          </a:prstGeom>
          <a:noFill/>
        </p:spPr>
        <p:txBody>
          <a:bodyPr wrap="square" lIns="45720" rIns="45720" anchor="t">
            <a:spAutoFit/>
          </a:bodyPr>
          <a:lstStyle/>
          <a:p>
            <a:pPr algn="l">
              <a:lnSpc>
                <a:spcPct val="105000"/>
              </a:lnSpc>
              <a:spcAft>
                <a:spcPts val="0"/>
              </a:spcAft>
            </a:pPr>
            <a:r>
              <a:rPr sz="950" b="0" i="0">
                <a:solidFill>
                  <a:srgbClr val="9FB3CC"/>
                </a:solidFill>
                <a:latin typeface="Consolas"/>
              </a:rPr>
              <a:t># Acceptance test for every pilot template (no JavaScript)</a:t>
            </a:r>
          </a:p>
          <a:p>
            <a:pPr algn="l">
              <a:lnSpc>
                <a:spcPct val="105000"/>
              </a:lnSpc>
              <a:spcAft>
                <a:spcPts val="0"/>
              </a:spcAft>
            </a:pPr>
            <a:r>
              <a:rPr sz="950" b="0" i="0">
                <a:solidFill>
                  <a:srgbClr val="E6EDF7"/>
                </a:solidFill>
                <a:latin typeface="Consolas"/>
              </a:rPr>
              <a:t>curl -s -A "OAI-SearchBot" https://www.flightcentre.com.au/flights/au-vic-melbourne/gb-eng-london \</a:t>
            </a:r>
          </a:p>
          <a:p>
            <a:pPr algn="l">
              <a:lnSpc>
                <a:spcPct val="105000"/>
              </a:lnSpc>
              <a:spcAft>
                <a:spcPts val="0"/>
              </a:spcAft>
            </a:pPr>
            <a:r>
              <a:rPr sz="950" b="0" i="0">
                <a:solidFill>
                  <a:srgbClr val="E6EDF7"/>
                </a:solidFill>
                <a:latin typeface="Consolas"/>
              </a:rPr>
              <a:t>  | grep -c "Available between"</a:t>
            </a:r>
          </a:p>
          <a:p>
            <a:pPr algn="l">
              <a:lnSpc>
                <a:spcPct val="105000"/>
              </a:lnSpc>
              <a:spcAft>
                <a:spcPts val="0"/>
              </a:spcAft>
            </a:pPr>
            <a:r>
              <a:rPr sz="950" b="0" i="0">
                <a:solidFill>
                  <a:srgbClr val="FF8A99"/>
                </a:solidFill>
                <a:latin typeface="Consolas"/>
              </a:rPr>
              <a:t># Marker count is a diagnostic, not proof of bot access. Check extracted facts.</a:t>
            </a:r>
          </a:p>
          <a:p>
            <a:pPr algn="l">
              <a:lnSpc>
                <a:spcPct val="105000"/>
              </a:lnSpc>
              <a:spcAft>
                <a:spcPts val="0"/>
              </a:spcAft>
            </a:pPr>
            <a:r>
              <a:rPr sz="950" b="0" i="0">
                <a:solidFill>
                  <a:srgbClr val="9FB3CC"/>
                </a:solidFill>
                <a:latin typeface="Consolas"/>
              </a:rPr>
              <a:t># Verify real crawler requests in logs; a user-agent label does not authenticate a bot.</a:t>
            </a:r>
          </a:p>
          <a:p>
            <a:pPr algn="l">
              <a:lnSpc>
                <a:spcPct val="105000"/>
              </a:lnSpc>
              <a:spcAft>
                <a:spcPts val="0"/>
              </a:spcAft>
            </a:pPr>
            <a:r>
              <a:rPr sz="950" b="0" i="0">
                <a:solidFill>
                  <a:srgbClr val="9FB3CC"/>
                </a:solidFill>
                <a:latin typeface="Consolas"/>
              </a:rPr>
              <a:t># (Google cautions against AI-specific versions; fact divergence is a legal risk).</a:t>
            </a:r>
          </a:p>
        </p:txBody>
      </p:sp>
      <p:sp>
        <p:nvSpPr>
          <p:cNvPr id="16" name="TextBox 1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live fetches 25 Oct 2026 of flightcentre.com.au, webjet.com.au and expedia.com.au (robots.txt, llms.txt; Playwright captures with JavaScript on and off, evidence/capture_log.json); OpenAI crawler documentation; Vercel/MERJ crawler study (Dec 2024); Pillar 1 audit §2 (May 2026). Robots permission is not proof of crawling: confirm in logs.</a:t>
            </a:r>
          </a:p>
        </p:txBody>
      </p:sp>
      <p:sp>
        <p:nvSpPr>
          <p:cNvPr id="17" name="TextBox 16"/>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HOW</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Layers 3–4: the route-page template, with what each block is for and which parts we measured</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8796528"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sp>
        <p:nvSpPr>
          <p:cNvPr id="6" name="Rounded Rectangle 5"/>
          <p:cNvSpPr/>
          <p:nvPr/>
        </p:nvSpPr>
        <p:spPr>
          <a:xfrm>
            <a:off x="72329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7" name="Rectangle 6"/>
          <p:cNvSpPr/>
          <p:nvPr/>
        </p:nvSpPr>
        <p:spPr>
          <a:xfrm>
            <a:off x="548640" y="1600200"/>
            <a:ext cx="4663440" cy="4526280"/>
          </a:xfrm>
          <a:prstGeom prst="rect">
            <a:avLst/>
          </a:prstGeom>
          <a:solidFill>
            <a:srgbClr val="FFFFFF"/>
          </a:solidFill>
          <a:ln w="9525">
            <a:solidFill>
              <a:srgbClr val="D9DEE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ounded Rectangle 7"/>
          <p:cNvSpPr/>
          <p:nvPr/>
        </p:nvSpPr>
        <p:spPr>
          <a:xfrm>
            <a:off x="640080" y="1691640"/>
            <a:ext cx="4480560" cy="6858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31520" y="171907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A  Definition-first opening (3 sentences)</a:t>
            </a:r>
          </a:p>
        </p:txBody>
      </p:sp>
      <p:sp>
        <p:nvSpPr>
          <p:cNvPr id="10" name="TextBox 9"/>
          <p:cNvSpPr txBox="1"/>
          <p:nvPr/>
        </p:nvSpPr>
        <p:spPr>
          <a:xfrm>
            <a:off x="731520" y="1947672"/>
            <a:ext cx="3246120" cy="429768"/>
          </a:xfrm>
          <a:prstGeom prst="rect">
            <a:avLst/>
          </a:prstGeom>
          <a:noFill/>
        </p:spPr>
        <p:txBody>
          <a:bodyPr wrap="square" lIns="45720" rIns="45720" anchor="t">
            <a:spAutoFit/>
          </a:bodyPr>
          <a:lstStyle/>
          <a:p>
            <a:pPr algn="l">
              <a:lnSpc>
                <a:spcPct val="100000"/>
              </a:lnSpc>
              <a:spcAft>
                <a:spcPts val="400"/>
              </a:spcAft>
            </a:pPr>
            <a:r>
              <a:rPr sz="850" b="0" i="0">
                <a:solidFill>
                  <a:srgbClr val="1F2937"/>
                </a:solidFill>
                <a:latin typeface="Calibri"/>
              </a:rPr>
              <a:t>Route, starting fare with date and conditions, fee rule, next step (quote / store / expert). Our audit suggests clear openings; this does not establish a universal placement rule.</a:t>
            </a:r>
          </a:p>
        </p:txBody>
      </p:sp>
      <p:sp>
        <p:nvSpPr>
          <p:cNvPr id="11" name="Rounded Rectangle 10"/>
          <p:cNvSpPr/>
          <p:nvPr/>
        </p:nvSpPr>
        <p:spPr>
          <a:xfrm>
            <a:off x="4023360" y="1764792"/>
            <a:ext cx="1024128"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research</a:t>
            </a:r>
          </a:p>
        </p:txBody>
      </p:sp>
      <p:sp>
        <p:nvSpPr>
          <p:cNvPr id="12" name="Rounded Rectangle 11"/>
          <p:cNvSpPr/>
          <p:nvPr/>
        </p:nvSpPr>
        <p:spPr>
          <a:xfrm>
            <a:off x="640080" y="2423160"/>
            <a:ext cx="4480560" cy="685800"/>
          </a:xfrm>
          <a:prstGeom prst="roundRect">
            <a:avLst>
              <a:gd name="adj" fmla="val 8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31520" y="245059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B  Dated deal cards in HTML</a:t>
            </a:r>
          </a:p>
        </p:txBody>
      </p:sp>
      <p:sp>
        <p:nvSpPr>
          <p:cNvPr id="14" name="TextBox 13"/>
          <p:cNvSpPr txBox="1"/>
          <p:nvPr/>
        </p:nvSpPr>
        <p:spPr>
          <a:xfrm>
            <a:off x="731520" y="2679192"/>
            <a:ext cx="3246120" cy="429768"/>
          </a:xfrm>
          <a:prstGeom prst="rect">
            <a:avLst/>
          </a:prstGeom>
          <a:noFill/>
        </p:spPr>
        <p:txBody>
          <a:bodyPr wrap="square" lIns="45720" rIns="45720" anchor="t">
            <a:spAutoFit/>
          </a:bodyPr>
          <a:lstStyle/>
          <a:p>
            <a:pPr algn="l">
              <a:lnSpc>
                <a:spcPct val="100000"/>
              </a:lnSpc>
              <a:spcAft>
                <a:spcPts val="400"/>
              </a:spcAft>
            </a:pPr>
            <a:r>
              <a:rPr sz="850" b="0" i="0">
                <a:solidFill>
                  <a:srgbClr val="1F2937"/>
                </a:solidFill>
                <a:latin typeface="Calibri"/>
              </a:rPr>
              <a:t>Airline · cabin · date window · price. Tested: rendered content +6.6; base of the final page.</a:t>
            </a:r>
          </a:p>
        </p:txBody>
      </p:sp>
      <p:sp>
        <p:nvSpPr>
          <p:cNvPr id="15" name="Rounded Rectangle 14"/>
          <p:cNvSpPr/>
          <p:nvPr/>
        </p:nvSpPr>
        <p:spPr>
          <a:xfrm>
            <a:off x="4023360" y="2496312"/>
            <a:ext cx="102412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+6.6</a:t>
            </a:r>
          </a:p>
        </p:txBody>
      </p:sp>
      <p:sp>
        <p:nvSpPr>
          <p:cNvPr id="16" name="Rounded Rectangle 15"/>
          <p:cNvSpPr/>
          <p:nvPr/>
        </p:nvSpPr>
        <p:spPr>
          <a:xfrm>
            <a:off x="640080" y="3154680"/>
            <a:ext cx="4480560" cy="685800"/>
          </a:xfrm>
          <a:prstGeom prst="roundRect">
            <a:avLst>
              <a:gd name="adj" fmla="val 8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31520" y="318211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C  Fare-and-fee block</a:t>
            </a:r>
          </a:p>
        </p:txBody>
      </p:sp>
      <p:sp>
        <p:nvSpPr>
          <p:cNvPr id="18" name="TextBox 17"/>
          <p:cNvSpPr txBox="1"/>
          <p:nvPr/>
        </p:nvSpPr>
        <p:spPr>
          <a:xfrm>
            <a:off x="731520" y="3410712"/>
            <a:ext cx="3246120" cy="429768"/>
          </a:xfrm>
          <a:prstGeom prst="rect">
            <a:avLst/>
          </a:prstGeom>
          <a:noFill/>
        </p:spPr>
        <p:txBody>
          <a:bodyPr wrap="square" lIns="45720" rIns="45720" anchor="t">
            <a:spAutoFit/>
          </a:bodyPr>
          <a:lstStyle/>
          <a:p>
            <a:pPr algn="l">
              <a:lnSpc>
                <a:spcPct val="100000"/>
              </a:lnSpc>
              <a:spcAft>
                <a:spcPts val="400"/>
              </a:spcAft>
            </a:pPr>
            <a:r>
              <a:rPr sz="850" b="0" i="0">
                <a:solidFill>
                  <a:srgbClr val="1F2937"/>
                </a:solidFill>
                <a:latin typeface="Calibri"/>
              </a:rPr>
              <a:t>'What starting fare and fees does this page state for X to Y?' Separate related arms: structured facts +7.6; FAQ +6.9. Not effects of this block alone.</a:t>
            </a:r>
          </a:p>
        </p:txBody>
      </p:sp>
      <p:sp>
        <p:nvSpPr>
          <p:cNvPr id="19" name="Rounded Rectangle 18"/>
          <p:cNvSpPr/>
          <p:nvPr/>
        </p:nvSpPr>
        <p:spPr>
          <a:xfrm>
            <a:off x="4023360" y="3227832"/>
            <a:ext cx="102412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+7.6 / +6.9</a:t>
            </a:r>
          </a:p>
        </p:txBody>
      </p:sp>
      <p:sp>
        <p:nvSpPr>
          <p:cNvPr id="20" name="Rounded Rectangle 19"/>
          <p:cNvSpPr/>
          <p:nvPr/>
        </p:nvSpPr>
        <p:spPr>
          <a:xfrm>
            <a:off x="640080" y="3886200"/>
            <a:ext cx="4480560" cy="685800"/>
          </a:xfrm>
          <a:prstGeom prst="roundRect">
            <a:avLst>
              <a:gd name="adj" fmla="val 8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31520" y="391363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D  Page-specific FAQ in text</a:t>
            </a:r>
          </a:p>
        </p:txBody>
      </p:sp>
      <p:sp>
        <p:nvSpPr>
          <p:cNvPr id="22" name="TextBox 21"/>
          <p:cNvSpPr txBox="1"/>
          <p:nvPr/>
        </p:nvSpPr>
        <p:spPr>
          <a:xfrm>
            <a:off x="731520" y="4142232"/>
            <a:ext cx="3246120" cy="429768"/>
          </a:xfrm>
          <a:prstGeom prst="rect">
            <a:avLst/>
          </a:prstGeom>
          <a:noFill/>
        </p:spPr>
        <p:txBody>
          <a:bodyPr wrap="square" lIns="45720" rIns="45720" anchor="t">
            <a:spAutoFit/>
          </a:bodyPr>
          <a:lstStyle/>
          <a:p>
            <a:pPr algn="l">
              <a:lnSpc>
                <a:spcPct val="100000"/>
              </a:lnSpc>
              <a:spcAft>
                <a:spcPts val="400"/>
              </a:spcAft>
            </a:pPr>
            <a:r>
              <a:rPr sz="850" b="0" i="0">
                <a:solidFill>
                  <a:srgbClr val="1F2937"/>
                </a:solidFill>
                <a:latin typeface="Calibri"/>
              </a:rPr>
              <a:t>Questions beside answers, above 'Explore'. Add route questions (airports, flight time, flexibility), not only brand FAQs.</a:t>
            </a:r>
          </a:p>
        </p:txBody>
      </p:sp>
      <p:sp>
        <p:nvSpPr>
          <p:cNvPr id="23" name="Rounded Rectangle 22"/>
          <p:cNvSpPr/>
          <p:nvPr/>
        </p:nvSpPr>
        <p:spPr>
          <a:xfrm>
            <a:off x="4023360" y="3959352"/>
            <a:ext cx="102412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in final page</a:t>
            </a:r>
          </a:p>
        </p:txBody>
      </p:sp>
      <p:sp>
        <p:nvSpPr>
          <p:cNvPr id="24" name="Rounded Rectangle 23"/>
          <p:cNvSpPr/>
          <p:nvPr/>
        </p:nvSpPr>
        <p:spPr>
          <a:xfrm>
            <a:off x="640080" y="4617720"/>
            <a:ext cx="4480560" cy="6858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31520" y="464515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E  Differentiators in plain text</a:t>
            </a:r>
          </a:p>
        </p:txBody>
      </p:sp>
      <p:sp>
        <p:nvSpPr>
          <p:cNvPr id="26" name="TextBox 25"/>
          <p:cNvSpPr txBox="1"/>
          <p:nvPr/>
        </p:nvSpPr>
        <p:spPr>
          <a:xfrm>
            <a:off x="731520" y="4873752"/>
            <a:ext cx="3246120" cy="429768"/>
          </a:xfrm>
          <a:prstGeom prst="rect">
            <a:avLst/>
          </a:prstGeom>
          <a:noFill/>
        </p:spPr>
        <p:txBody>
          <a:bodyPr wrap="square" lIns="45720" rIns="45720" anchor="t">
            <a:spAutoFit/>
          </a:bodyPr>
          <a:lstStyle/>
          <a:p>
            <a:pPr algn="l">
              <a:lnSpc>
                <a:spcPct val="100000"/>
              </a:lnSpc>
              <a:spcAft>
                <a:spcPts val="400"/>
              </a:spcAft>
            </a:pPr>
            <a:r>
              <a:rPr sz="850" b="0" i="0">
                <a:solidFill>
                  <a:srgbClr val="1F2937"/>
                </a:solidFill>
                <a:latin typeface="Calibri"/>
              </a:rPr>
              <a:t>Fee transparency, named expert, store and quote path, World360. The facts only FC can state.</a:t>
            </a:r>
          </a:p>
        </p:txBody>
      </p:sp>
      <p:sp>
        <p:nvSpPr>
          <p:cNvPr id="27" name="Rounded Rectangle 26"/>
          <p:cNvSpPr/>
          <p:nvPr/>
        </p:nvSpPr>
        <p:spPr>
          <a:xfrm>
            <a:off x="4023360" y="4690872"/>
            <a:ext cx="1024128"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research</a:t>
            </a:r>
          </a:p>
        </p:txBody>
      </p:sp>
      <p:sp>
        <p:nvSpPr>
          <p:cNvPr id="28" name="Rounded Rectangle 27"/>
          <p:cNvSpPr/>
          <p:nvPr/>
        </p:nvSpPr>
        <p:spPr>
          <a:xfrm>
            <a:off x="640080" y="5349240"/>
            <a:ext cx="4480560" cy="6858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31520" y="537667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F  JSON-LD from the same record</a:t>
            </a:r>
          </a:p>
        </p:txBody>
      </p:sp>
      <p:sp>
        <p:nvSpPr>
          <p:cNvPr id="30" name="TextBox 29"/>
          <p:cNvSpPr txBox="1"/>
          <p:nvPr/>
        </p:nvSpPr>
        <p:spPr>
          <a:xfrm>
            <a:off x="731520" y="5605272"/>
            <a:ext cx="3246120" cy="429768"/>
          </a:xfrm>
          <a:prstGeom prst="rect">
            <a:avLst/>
          </a:prstGeom>
          <a:noFill/>
        </p:spPr>
        <p:txBody>
          <a:bodyPr wrap="square" lIns="45720" rIns="45720" anchor="t">
            <a:spAutoFit/>
          </a:bodyPr>
          <a:lstStyle/>
          <a:p>
            <a:pPr algn="l">
              <a:lnSpc>
                <a:spcPct val="100000"/>
              </a:lnSpc>
              <a:spcAft>
                <a:spcPts val="400"/>
              </a:spcAft>
            </a:pPr>
            <a:r>
              <a:rPr sz="850" b="0" i="0">
                <a:solidFill>
                  <a:srgbClr val="1F2937"/>
                </a:solidFill>
                <a:latin typeface="Calibri"/>
              </a:rPr>
              <a:t>Use appropriate schema from the visible record. Specific Flight markup requires a real itinerary.</a:t>
            </a:r>
          </a:p>
        </p:txBody>
      </p:sp>
      <p:sp>
        <p:nvSpPr>
          <p:cNvPr id="31" name="Rounded Rectangle 30"/>
          <p:cNvSpPr/>
          <p:nvPr/>
        </p:nvSpPr>
        <p:spPr>
          <a:xfrm>
            <a:off x="4023360" y="5422392"/>
            <a:ext cx="102412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+6.2 (confounded)</a:t>
            </a:r>
          </a:p>
        </p:txBody>
      </p:sp>
      <p:sp>
        <p:nvSpPr>
          <p:cNvPr id="32" name="Rounded Rectangle 31"/>
          <p:cNvSpPr/>
          <p:nvPr/>
        </p:nvSpPr>
        <p:spPr>
          <a:xfrm>
            <a:off x="5440680" y="1600200"/>
            <a:ext cx="6217920" cy="3063240"/>
          </a:xfrm>
          <a:prstGeom prst="roundRect">
            <a:avLst>
              <a:gd name="adj" fmla="val 4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5605272" y="1709928"/>
            <a:ext cx="5888736" cy="2862072"/>
          </a:xfrm>
          <a:prstGeom prst="rect">
            <a:avLst/>
          </a:prstGeom>
          <a:noFill/>
        </p:spPr>
        <p:txBody>
          <a:bodyPr wrap="square" lIns="45720" rIns="45720" anchor="t">
            <a:spAutoFit/>
          </a:bodyPr>
          <a:lstStyle/>
          <a:p>
            <a:pPr algn="l">
              <a:lnSpc>
                <a:spcPct val="105000"/>
              </a:lnSpc>
              <a:spcAft>
                <a:spcPts val="0"/>
              </a:spcAft>
            </a:pPr>
            <a:r>
              <a:rPr sz="950" b="0" i="0">
                <a:solidFill>
                  <a:srgbClr val="9FB3CC"/>
                </a:solidFill>
                <a:latin typeface="Consolas"/>
              </a:rPr>
              <a:t>&lt;!-- C: production template; individual-arm gains cannot be assigned to this block --&gt;</a:t>
            </a:r>
          </a:p>
          <a:p>
            <a:pPr algn="l">
              <a:lnSpc>
                <a:spcPct val="105000"/>
              </a:lnSpc>
              <a:spcAft>
                <a:spcPts val="0"/>
              </a:spcAft>
            </a:pPr>
            <a:r>
              <a:rPr sz="950" b="0" i="0">
                <a:solidFill>
                  <a:srgbClr val="E6EDF7"/>
                </a:solidFill>
                <a:latin typeface="Consolas"/>
              </a:rPr>
              <a:t>&lt;section id="geo-final-route"&gt;</a:t>
            </a:r>
          </a:p>
          <a:p>
            <a:pPr algn="l">
              <a:lnSpc>
                <a:spcPct val="105000"/>
              </a:lnSpc>
              <a:spcAft>
                <a:spcPts val="0"/>
              </a:spcAft>
            </a:pPr>
            <a:r>
              <a:rPr sz="950" b="0" i="0">
                <a:solidFill>
                  <a:srgbClr val="E6EDF7"/>
                </a:solidFill>
                <a:latin typeface="Consolas"/>
              </a:rPr>
              <a:t>  &lt;h2&gt;What starting fare and fees does this page state for</a:t>
            </a:r>
          </a:p>
          <a:p>
            <a:pPr algn="l">
              <a:lnSpc>
                <a:spcPct val="105000"/>
              </a:lnSpc>
              <a:spcAft>
                <a:spcPts val="0"/>
              </a:spcAft>
            </a:pPr>
            <a:r>
              <a:rPr sz="950" b="0" i="0">
                <a:solidFill>
                  <a:srgbClr val="E6EDF7"/>
                </a:solidFill>
                <a:latin typeface="Consolas"/>
              </a:rPr>
              <a:t>      Melbourne to London?&lt;/h2&gt;</a:t>
            </a:r>
          </a:p>
          <a:p>
            <a:pPr algn="l">
              <a:lnSpc>
                <a:spcPct val="105000"/>
              </a:lnSpc>
              <a:spcAft>
                <a:spcPts val="0"/>
              </a:spcAft>
            </a:pPr>
            <a:r>
              <a:rPr sz="950" b="0" i="0">
                <a:solidFill>
                  <a:srgbClr val="E6EDF7"/>
                </a:solidFill>
                <a:latin typeface="Consolas"/>
              </a:rPr>
              <a:t>  &lt;dl&gt;</a:t>
            </a:r>
          </a:p>
          <a:p>
            <a:pPr algn="l">
              <a:lnSpc>
                <a:spcPct val="105000"/>
              </a:lnSpc>
              <a:spcAft>
                <a:spcPts val="0"/>
              </a:spcAft>
            </a:pPr>
            <a:r>
              <a:rPr sz="950" b="0" i="0">
                <a:solidFill>
                  <a:srgbClr val="E6EDF7"/>
                </a:solidFill>
                <a:latin typeface="Consolas"/>
              </a:rPr>
              <a:t>    &lt;dt&gt;Departure&lt;/dt&gt;&lt;dd&gt;Melbourne (MEL)&lt;/dd&gt;</a:t>
            </a:r>
          </a:p>
          <a:p>
            <a:pPr algn="l">
              <a:lnSpc>
                <a:spcPct val="105000"/>
              </a:lnSpc>
              <a:spcAft>
                <a:spcPts val="0"/>
              </a:spcAft>
            </a:pPr>
            <a:r>
              <a:rPr sz="950" b="0" i="0">
                <a:solidFill>
                  <a:srgbClr val="E6EDF7"/>
                </a:solidFill>
                <a:latin typeface="Consolas"/>
              </a:rPr>
              <a:t>    &lt;dt&gt;Destination&lt;/dt&gt;&lt;dd&gt;London (LON)&lt;/dd&gt;</a:t>
            </a:r>
          </a:p>
          <a:p>
            <a:pPr algn="l">
              <a:lnSpc>
                <a:spcPct val="105000"/>
              </a:lnSpc>
              <a:spcAft>
                <a:spcPts val="0"/>
              </a:spcAft>
            </a:pPr>
            <a:r>
              <a:rPr sz="950" b="0" i="0">
                <a:solidFill>
                  <a:srgbClr val="E6EDF7"/>
                </a:solidFill>
                <a:latin typeface="Consolas"/>
              </a:rPr>
              <a:t>    &lt;dt&gt;Starting fare&lt;/dt&gt;&lt;dd&gt;[current validated fare]&lt;/dd&gt;</a:t>
            </a:r>
          </a:p>
          <a:p>
            <a:pPr algn="l">
              <a:lnSpc>
                <a:spcPct val="105000"/>
              </a:lnSpc>
              <a:spcAft>
                <a:spcPts val="0"/>
              </a:spcAft>
            </a:pPr>
            <a:r>
              <a:rPr sz="950" b="0" i="0">
                <a:solidFill>
                  <a:srgbClr val="E6EDF7"/>
                </a:solidFill>
                <a:latin typeface="Consolas"/>
              </a:rPr>
              <a:t>    &lt;dt&gt;Fees&lt;/dt&gt;&lt;dd&gt;Displayed fares exclude Online Booking Fee</a:t>
            </a:r>
          </a:p>
          <a:p>
            <a:pPr algn="l">
              <a:lnSpc>
                <a:spcPct val="105000"/>
              </a:lnSpc>
              <a:spcAft>
                <a:spcPts val="0"/>
              </a:spcAft>
            </a:pPr>
            <a:r>
              <a:rPr sz="950" b="0" i="0">
                <a:solidFill>
                  <a:srgbClr val="E6EDF7"/>
                </a:solidFill>
                <a:latin typeface="Consolas"/>
              </a:rPr>
              <a:t>        &amp;amp; Merchant Fee. Fees are applied once at checkout.&lt;/dd&gt;</a:t>
            </a:r>
          </a:p>
          <a:p>
            <a:pPr algn="l">
              <a:lnSpc>
                <a:spcPct val="105000"/>
              </a:lnSpc>
              <a:spcAft>
                <a:spcPts val="0"/>
              </a:spcAft>
            </a:pPr>
            <a:r>
              <a:rPr sz="950" b="0" i="0">
                <a:solidFill>
                  <a:srgbClr val="E6EDF7"/>
                </a:solidFill>
                <a:latin typeface="Consolas"/>
              </a:rPr>
              <a:t>    &lt;dt&gt;Last updated&lt;/dt&gt;&lt;dd&gt;[offer record date]&lt;/dd&gt;</a:t>
            </a:r>
          </a:p>
          <a:p>
            <a:pPr algn="l">
              <a:lnSpc>
                <a:spcPct val="105000"/>
              </a:lnSpc>
              <a:spcAft>
                <a:spcPts val="0"/>
              </a:spcAft>
            </a:pPr>
            <a:r>
              <a:rPr sz="950" b="0" i="0">
                <a:solidFill>
                  <a:srgbClr val="E6EDF7"/>
                </a:solidFill>
                <a:latin typeface="Consolas"/>
              </a:rPr>
              <a:t>  &lt;/dl&gt;</a:t>
            </a:r>
          </a:p>
          <a:p>
            <a:pPr algn="l">
              <a:lnSpc>
                <a:spcPct val="105000"/>
              </a:lnSpc>
              <a:spcAft>
                <a:spcPts val="0"/>
              </a:spcAft>
            </a:pPr>
            <a:r>
              <a:rPr sz="950" b="0" i="0">
                <a:solidFill>
                  <a:srgbClr val="E6EDF7"/>
                </a:solidFill>
                <a:latin typeface="Consolas"/>
              </a:rPr>
              <a:t>&lt;/section&gt;</a:t>
            </a:r>
          </a:p>
        </p:txBody>
      </p:sp>
      <p:sp>
        <p:nvSpPr>
          <p:cNvPr id="34" name="Rounded Rectangle 33"/>
          <p:cNvSpPr/>
          <p:nvPr/>
        </p:nvSpPr>
        <p:spPr>
          <a:xfrm>
            <a:off x="5440680" y="4800600"/>
            <a:ext cx="6217920" cy="1325880"/>
          </a:xfrm>
          <a:prstGeom prst="roundRect">
            <a:avLst>
              <a:gd name="adj" fmla="val 4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605272" y="4910328"/>
            <a:ext cx="5888736" cy="1124711"/>
          </a:xfrm>
          <a:prstGeom prst="rect">
            <a:avLst/>
          </a:prstGeom>
          <a:noFill/>
        </p:spPr>
        <p:txBody>
          <a:bodyPr wrap="square" lIns="45720" rIns="45720" anchor="t">
            <a:spAutoFit/>
          </a:bodyPr>
          <a:lstStyle/>
          <a:p>
            <a:pPr algn="l">
              <a:lnSpc>
                <a:spcPct val="105000"/>
              </a:lnSpc>
              <a:spcAft>
                <a:spcPts val="0"/>
              </a:spcAft>
            </a:pPr>
            <a:r>
              <a:rPr sz="900" b="0" i="0">
                <a:solidFill>
                  <a:srgbClr val="9FB3CC"/>
                </a:solidFill>
                <a:latin typeface="Consolas"/>
              </a:rPr>
              <a:t>&lt;!-- F: illustrative template; fill approved values before publishing --&gt;</a:t>
            </a:r>
          </a:p>
          <a:p>
            <a:pPr algn="l">
              <a:lnSpc>
                <a:spcPct val="105000"/>
              </a:lnSpc>
              <a:spcAft>
                <a:spcPts val="0"/>
              </a:spcAft>
            </a:pPr>
            <a:r>
              <a:rPr sz="900" b="0" i="0">
                <a:solidFill>
                  <a:srgbClr val="E6EDF7"/>
                </a:solidFill>
                <a:latin typeface="Consolas"/>
              </a:rPr>
              <a:t>{"@context":"https://schema.org","@type":"Offer",</a:t>
            </a:r>
          </a:p>
          <a:p>
            <a:pPr algn="l">
              <a:lnSpc>
                <a:spcPct val="105000"/>
              </a:lnSpc>
              <a:spcAft>
                <a:spcPts val="0"/>
              </a:spcAft>
            </a:pPr>
            <a:r>
              <a:rPr sz="900" b="0" i="0">
                <a:solidFill>
                  <a:srgbClr val="E6EDF7"/>
                </a:solidFill>
                <a:latin typeface="Consolas"/>
              </a:rPr>
              <a:t> "price":"[current price]","priceCurrency":"AUD","url":"[offer URL]"}</a:t>
            </a:r>
          </a:p>
        </p:txBody>
      </p:sp>
      <p:sp>
        <p:nvSpPr>
          <p:cNvPr id="36" name="TextBox 3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optimisation_v3/structured_refinement.py and faq_refinement.py (tested code); Pillar 2 audit §8.3–8.4 (chunk-position and definition-first findings, May 2026); arXiv 2605.25517 (price and timestamp effects); Google: structured data must match visible text. Blocks A, E and the route-specific FAQs are research-based extensions not yet tested in the sandbox.</a:t>
            </a:r>
          </a:p>
        </p:txBody>
      </p:sp>
      <p:sp>
        <p:nvSpPr>
          <p:cNvPr id="37" name="TextBox 36"/>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HOW</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Holiday and destination pages: close the entity, intent and FAQ gaps with a governed fact store, not more prose</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8097012" y="329184"/>
            <a:ext cx="2464308"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Semester 1 audit (May 2026)</a:t>
            </a:r>
          </a:p>
        </p:txBody>
      </p:sp>
      <p:graphicFrame>
        <p:nvGraphicFramePr>
          <p:cNvPr id="6" name="Table 5"/>
          <p:cNvGraphicFramePr>
            <a:graphicFrameLocks noGrp="1"/>
          </p:cNvGraphicFramePr>
          <p:nvPr/>
        </p:nvGraphicFramePr>
        <p:xfrm>
          <a:off x="548640" y="1600200"/>
          <a:ext cx="5120640" cy="2103115"/>
        </p:xfrm>
        <a:graphic>
          <a:graphicData uri="http://schemas.openxmlformats.org/drawingml/2006/table">
            <a:tbl>
              <a:tblPr/>
              <a:tblGrid>
                <a:gridCol w="23774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420623">
                <a:tc>
                  <a:txBody>
                    <a:bodyPr/>
                    <a:lstStyle/>
                    <a:p>
                      <a:r>
                        <a:rPr sz="900" b="1" i="0">
                          <a:solidFill>
                            <a:srgbClr val="FFFFFF"/>
                          </a:solidFill>
                          <a:latin typeface="Calibri"/>
                        </a:rPr>
                        <a:t>Entities visible in raw HTML (May 2026)</a:t>
                      </a:r>
                    </a:p>
                  </a:txBody>
                  <a:tcPr marL="64008" marR="64008" marT="36576" marB="36576" anchor="ctr">
                    <a:solidFill>
                      <a:srgbClr val="0B2240"/>
                    </a:solidFill>
                  </a:tcPr>
                </a:tc>
                <a:tc>
                  <a:txBody>
                    <a:bodyPr/>
                    <a:lstStyle/>
                    <a:p>
                      <a:pPr algn="ctr"/>
                      <a:r>
                        <a:rPr sz="900" b="1" i="0">
                          <a:solidFill>
                            <a:srgbClr val="FFFFFF"/>
                          </a:solidFill>
                          <a:latin typeface="Calibri"/>
                        </a:rPr>
                        <a:t>Flight Centre</a:t>
                      </a:r>
                    </a:p>
                  </a:txBody>
                  <a:tcPr marL="64008" marR="64008" marT="36576" marB="36576" anchor="ctr">
                    <a:solidFill>
                      <a:srgbClr val="0B2240"/>
                    </a:solidFill>
                  </a:tcPr>
                </a:tc>
                <a:tc>
                  <a:txBody>
                    <a:bodyPr/>
                    <a:lstStyle/>
                    <a:p>
                      <a:pPr algn="ctr"/>
                      <a:r>
                        <a:rPr sz="900" b="1" i="0">
                          <a:solidFill>
                            <a:srgbClr val="FFFFFF"/>
                          </a:solidFill>
                          <a:latin typeface="Calibri"/>
                        </a:rPr>
                        <a:t>Expedia AU</a:t>
                      </a:r>
                    </a:p>
                  </a:txBody>
                  <a:tcPr marL="64008" marR="64008" marT="36576" marB="36576" anchor="ctr">
                    <a:solidFill>
                      <a:srgbClr val="0B2240"/>
                    </a:solidFill>
                  </a:tcPr>
                </a:tc>
                <a:tc>
                  <a:txBody>
                    <a:bodyPr/>
                    <a:lstStyle/>
                    <a:p>
                      <a:pPr algn="ctr"/>
                      <a:r>
                        <a:rPr sz="900" b="1" i="0">
                          <a:solidFill>
                            <a:srgbClr val="FFFFFF"/>
                          </a:solidFill>
                          <a:latin typeface="Calibri"/>
                        </a:rPr>
                        <a:t>Booking.com</a:t>
                      </a:r>
                    </a:p>
                  </a:txBody>
                  <a:tcPr marL="64008" marR="64008" marT="36576" marB="36576" anchor="ctr">
                    <a:solidFill>
                      <a:srgbClr val="0B2240"/>
                    </a:solidFill>
                  </a:tcPr>
                </a:tc>
                <a:extLst>
                  <a:ext uri="{0D108BD9-81ED-4DB2-BD59-A6C34878D82A}">
                    <a16:rowId xmlns:a16="http://schemas.microsoft.com/office/drawing/2014/main" val="10000"/>
                  </a:ext>
                </a:extLst>
              </a:tr>
              <a:tr h="420623">
                <a:tc>
                  <a:txBody>
                    <a:bodyPr/>
                    <a:lstStyle/>
                    <a:p>
                      <a:r>
                        <a:rPr sz="950" b="0" i="0">
                          <a:solidFill>
                            <a:srgbClr val="1F2937"/>
                          </a:solidFill>
                          <a:latin typeface="Calibri"/>
                        </a:rPr>
                        <a:t>Bali destination page</a:t>
                      </a:r>
                    </a:p>
                  </a:txBody>
                  <a:tcPr marL="64008" marR="64008" marT="36576" marB="36576">
                    <a:solidFill>
                      <a:srgbClr val="FFFFFF"/>
                    </a:solidFill>
                  </a:tcPr>
                </a:tc>
                <a:tc>
                  <a:txBody>
                    <a:bodyPr/>
                    <a:lstStyle/>
                    <a:p>
                      <a:pPr algn="ctr"/>
                      <a:r>
                        <a:rPr sz="950" b="0" i="0">
                          <a:solidFill>
                            <a:srgbClr val="1F2937"/>
                          </a:solidFill>
                          <a:latin typeface="Calibri"/>
                        </a:rPr>
                        <a:t>~9</a:t>
                      </a:r>
                    </a:p>
                  </a:txBody>
                  <a:tcPr marL="64008" marR="64008" marT="36576" marB="36576">
                    <a:solidFill>
                      <a:srgbClr val="FBE8EA"/>
                    </a:solidFill>
                  </a:tcPr>
                </a:tc>
                <a:tc>
                  <a:txBody>
                    <a:bodyPr/>
                    <a:lstStyle/>
                    <a:p>
                      <a:pPr algn="ctr"/>
                      <a:r>
                        <a:rPr sz="950" b="0" i="0">
                          <a:solidFill>
                            <a:srgbClr val="1F2937"/>
                          </a:solidFill>
                          <a:latin typeface="Calibri"/>
                        </a:rPr>
                        <a:t>~28</a:t>
                      </a:r>
                    </a:p>
                  </a:txBody>
                  <a:tcPr marL="64008" marR="64008" marT="36576" marB="36576">
                    <a:solidFill>
                      <a:srgbClr val="FFFFFF"/>
                    </a:solidFill>
                  </a:tcPr>
                </a:tc>
                <a:tc>
                  <a:txBody>
                    <a:bodyPr/>
                    <a:lstStyle/>
                    <a:p>
                      <a:pPr algn="ctr"/>
                      <a:r>
                        <a:rPr sz="950" b="0" i="0">
                          <a:solidFill>
                            <a:srgbClr val="1F2937"/>
                          </a:solidFill>
                          <a:latin typeface="Calibri"/>
                        </a:rPr>
                        <a:t>~55</a:t>
                      </a:r>
                    </a:p>
                  </a:txBody>
                  <a:tcPr marL="64008" marR="64008" marT="36576" marB="36576">
                    <a:solidFill>
                      <a:srgbClr val="FFFFFF"/>
                    </a:solidFill>
                  </a:tcPr>
                </a:tc>
                <a:extLst>
                  <a:ext uri="{0D108BD9-81ED-4DB2-BD59-A6C34878D82A}">
                    <a16:rowId xmlns:a16="http://schemas.microsoft.com/office/drawing/2014/main" val="10001"/>
                  </a:ext>
                </a:extLst>
              </a:tr>
              <a:tr h="420623">
                <a:tc>
                  <a:txBody>
                    <a:bodyPr/>
                    <a:lstStyle/>
                    <a:p>
                      <a:r>
                        <a:rPr sz="950" b="0" i="0">
                          <a:solidFill>
                            <a:srgbClr val="1F2937"/>
                          </a:solidFill>
                          <a:latin typeface="Calibri"/>
                        </a:rPr>
                        <a:t>Dubai destination page</a:t>
                      </a:r>
                    </a:p>
                  </a:txBody>
                  <a:tcPr marL="64008" marR="64008" marT="36576" marB="36576">
                    <a:solidFill>
                      <a:srgbClr val="F3F5F8"/>
                    </a:solidFill>
                  </a:tcPr>
                </a:tc>
                <a:tc>
                  <a:txBody>
                    <a:bodyPr/>
                    <a:lstStyle/>
                    <a:p>
                      <a:pPr algn="ctr"/>
                      <a:r>
                        <a:rPr sz="950" b="0" i="0">
                          <a:solidFill>
                            <a:srgbClr val="1F2937"/>
                          </a:solidFill>
                          <a:latin typeface="Calibri"/>
                        </a:rPr>
                        <a:t>~12</a:t>
                      </a:r>
                    </a:p>
                  </a:txBody>
                  <a:tcPr marL="64008" marR="64008" marT="36576" marB="36576">
                    <a:solidFill>
                      <a:srgbClr val="FBE8EA"/>
                    </a:solidFill>
                  </a:tcPr>
                </a:tc>
                <a:tc>
                  <a:txBody>
                    <a:bodyPr/>
                    <a:lstStyle/>
                    <a:p>
                      <a:pPr algn="ctr"/>
                      <a:r>
                        <a:rPr sz="950" b="0" i="0">
                          <a:solidFill>
                            <a:srgbClr val="1F2937"/>
                          </a:solidFill>
                          <a:latin typeface="Calibri"/>
                        </a:rPr>
                        <a:t>~32</a:t>
                      </a:r>
                    </a:p>
                  </a:txBody>
                  <a:tcPr marL="64008" marR="64008" marT="36576" marB="36576">
                    <a:solidFill>
                      <a:srgbClr val="F3F5F8"/>
                    </a:solidFill>
                  </a:tcPr>
                </a:tc>
                <a:tc>
                  <a:txBody>
                    <a:bodyPr/>
                    <a:lstStyle/>
                    <a:p>
                      <a:pPr algn="ctr"/>
                      <a:r>
                        <a:rPr sz="950" b="0" i="0">
                          <a:solidFill>
                            <a:srgbClr val="1F2937"/>
                          </a:solidFill>
                          <a:latin typeface="Calibri"/>
                        </a:rPr>
                        <a:t>~65+</a:t>
                      </a:r>
                    </a:p>
                  </a:txBody>
                  <a:tcPr marL="64008" marR="64008" marT="36576" marB="36576">
                    <a:solidFill>
                      <a:srgbClr val="F3F5F8"/>
                    </a:solidFill>
                  </a:tcPr>
                </a:tc>
                <a:extLst>
                  <a:ext uri="{0D108BD9-81ED-4DB2-BD59-A6C34878D82A}">
                    <a16:rowId xmlns:a16="http://schemas.microsoft.com/office/drawing/2014/main" val="10002"/>
                  </a:ext>
                </a:extLst>
              </a:tr>
              <a:tr h="420623">
                <a:tc>
                  <a:txBody>
                    <a:bodyPr/>
                    <a:lstStyle/>
                    <a:p>
                      <a:r>
                        <a:rPr sz="950" b="0" i="0">
                          <a:solidFill>
                            <a:srgbClr val="1F2937"/>
                          </a:solidFill>
                          <a:latin typeface="Calibri"/>
                        </a:rPr>
                        <a:t>Specific prices with currency (Bali)</a:t>
                      </a:r>
                    </a:p>
                  </a:txBody>
                  <a:tcPr marL="64008" marR="64008" marT="36576" marB="36576">
                    <a:solidFill>
                      <a:srgbClr val="FFFFFF"/>
                    </a:solidFill>
                  </a:tcPr>
                </a:tc>
                <a:tc>
                  <a:txBody>
                    <a:bodyPr/>
                    <a:lstStyle/>
                    <a:p>
                      <a:pPr algn="ctr"/>
                      <a:r>
                        <a:rPr sz="950" b="0" i="0">
                          <a:solidFill>
                            <a:srgbClr val="1F2937"/>
                          </a:solidFill>
                          <a:latin typeface="Calibri"/>
                        </a:rPr>
                        <a:t>0 (alt text only)</a:t>
                      </a:r>
                    </a:p>
                  </a:txBody>
                  <a:tcPr marL="64008" marR="64008" marT="36576" marB="36576">
                    <a:solidFill>
                      <a:srgbClr val="FBE8EA"/>
                    </a:solidFill>
                  </a:tcPr>
                </a:tc>
                <a:tc>
                  <a:txBody>
                    <a:bodyPr/>
                    <a:lstStyle/>
                    <a:p>
                      <a:pPr algn="ctr"/>
                      <a:r>
                        <a:rPr sz="950" b="0" i="0">
                          <a:solidFill>
                            <a:srgbClr val="1F2937"/>
                          </a:solidFill>
                          <a:latin typeface="Calibri"/>
                        </a:rPr>
                        <a:t>2</a:t>
                      </a:r>
                    </a:p>
                  </a:txBody>
                  <a:tcPr marL="64008" marR="64008" marT="36576" marB="36576">
                    <a:solidFill>
                      <a:srgbClr val="FFFFFF"/>
                    </a:solidFill>
                  </a:tcPr>
                </a:tc>
                <a:tc>
                  <a:txBody>
                    <a:bodyPr/>
                    <a:lstStyle/>
                    <a:p>
                      <a:pPr algn="ctr"/>
                      <a:r>
                        <a:rPr sz="950" b="0" i="0">
                          <a:solidFill>
                            <a:srgbClr val="1F2937"/>
                          </a:solidFill>
                          <a:latin typeface="Calibri"/>
                        </a:rPr>
                        <a:t>3+ tiers</a:t>
                      </a:r>
                    </a:p>
                  </a:txBody>
                  <a:tcPr marL="64008" marR="64008" marT="36576" marB="36576">
                    <a:solidFill>
                      <a:srgbClr val="FFFFFF"/>
                    </a:solidFill>
                  </a:tcPr>
                </a:tc>
                <a:extLst>
                  <a:ext uri="{0D108BD9-81ED-4DB2-BD59-A6C34878D82A}">
                    <a16:rowId xmlns:a16="http://schemas.microsoft.com/office/drawing/2014/main" val="10003"/>
                  </a:ext>
                </a:extLst>
              </a:tr>
              <a:tr h="420623">
                <a:tc>
                  <a:txBody>
                    <a:bodyPr/>
                    <a:lstStyle/>
                    <a:p>
                      <a:r>
                        <a:rPr sz="950" b="0" i="0">
                          <a:solidFill>
                            <a:srgbClr val="1F2937"/>
                          </a:solidFill>
                          <a:latin typeface="Calibri"/>
                        </a:rPr>
                        <a:t>Quantitative facts (Bali)</a:t>
                      </a:r>
                    </a:p>
                  </a:txBody>
                  <a:tcPr marL="64008" marR="64008" marT="36576" marB="36576">
                    <a:solidFill>
                      <a:srgbClr val="F3F5F8"/>
                    </a:solidFill>
                  </a:tcPr>
                </a:tc>
                <a:tc>
                  <a:txBody>
                    <a:bodyPr/>
                    <a:lstStyle/>
                    <a:p>
                      <a:pPr algn="ctr"/>
                      <a:r>
                        <a:rPr sz="950" b="0" i="0">
                          <a:solidFill>
                            <a:srgbClr val="1F2937"/>
                          </a:solidFill>
                          <a:latin typeface="Calibri"/>
                        </a:rPr>
                        <a:t>1</a:t>
                      </a:r>
                    </a:p>
                  </a:txBody>
                  <a:tcPr marL="64008" marR="64008" marT="36576" marB="36576">
                    <a:solidFill>
                      <a:srgbClr val="FBE8EA"/>
                    </a:solidFill>
                  </a:tcPr>
                </a:tc>
                <a:tc>
                  <a:txBody>
                    <a:bodyPr/>
                    <a:lstStyle/>
                    <a:p>
                      <a:pPr algn="ctr"/>
                      <a:r>
                        <a:rPr sz="950" b="0" i="0">
                          <a:solidFill>
                            <a:srgbClr val="1F2937"/>
                          </a:solidFill>
                          <a:latin typeface="Calibri"/>
                        </a:rPr>
                        <a:t>3</a:t>
                      </a:r>
                    </a:p>
                  </a:txBody>
                  <a:tcPr marL="64008" marR="64008" marT="36576" marB="36576">
                    <a:solidFill>
                      <a:srgbClr val="F3F5F8"/>
                    </a:solidFill>
                  </a:tcPr>
                </a:tc>
                <a:tc>
                  <a:txBody>
                    <a:bodyPr/>
                    <a:lstStyle/>
                    <a:p>
                      <a:pPr algn="ctr"/>
                      <a:r>
                        <a:rPr sz="950" b="0" i="0">
                          <a:solidFill>
                            <a:srgbClr val="1F2937"/>
                          </a:solidFill>
                          <a:latin typeface="Calibri"/>
                        </a:rPr>
                        <a:t>8+</a:t>
                      </a:r>
                    </a:p>
                  </a:txBody>
                  <a:tcPr marL="64008" marR="64008" marT="36576" marB="36576">
                    <a:solidFill>
                      <a:srgbClr val="F3F5F8"/>
                    </a:solidFill>
                  </a:tcPr>
                </a:tc>
                <a:extLst>
                  <a:ext uri="{0D108BD9-81ED-4DB2-BD59-A6C34878D82A}">
                    <a16:rowId xmlns:a16="http://schemas.microsoft.com/office/drawing/2014/main" val="10004"/>
                  </a:ext>
                </a:extLst>
              </a:tr>
            </a:tbl>
          </a:graphicData>
        </a:graphic>
      </p:graphicFrame>
      <p:graphicFrame>
        <p:nvGraphicFramePr>
          <p:cNvPr id="7" name="Table 6"/>
          <p:cNvGraphicFramePr>
            <a:graphicFrameLocks noGrp="1"/>
          </p:cNvGraphicFramePr>
          <p:nvPr/>
        </p:nvGraphicFramePr>
        <p:xfrm>
          <a:off x="548640" y="3840480"/>
          <a:ext cx="5120640" cy="2286000"/>
        </p:xfrm>
        <a:graphic>
          <a:graphicData uri="http://schemas.openxmlformats.org/drawingml/2006/table">
            <a:tbl>
              <a:tblPr/>
              <a:tblGrid>
                <a:gridCol w="26517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tblGrid>
              <a:tr h="381000">
                <a:tc>
                  <a:txBody>
                    <a:bodyPr/>
                    <a:lstStyle/>
                    <a:p>
                      <a:r>
                        <a:rPr sz="900" b="1" i="0">
                          <a:solidFill>
                            <a:srgbClr val="FFFFFF"/>
                          </a:solidFill>
                          <a:latin typeface="Calibri"/>
                        </a:rPr>
                        <a:t>Bali intent coverage (dedicated, indexable page)</a:t>
                      </a:r>
                    </a:p>
                  </a:txBody>
                  <a:tcPr marL="64008" marR="64008" marT="36576" marB="36576" anchor="ctr">
                    <a:solidFill>
                      <a:srgbClr val="0B2240"/>
                    </a:solidFill>
                  </a:tcPr>
                </a:tc>
                <a:tc>
                  <a:txBody>
                    <a:bodyPr/>
                    <a:lstStyle/>
                    <a:p>
                      <a:pPr algn="ctr"/>
                      <a:r>
                        <a:rPr sz="900" b="1" i="0">
                          <a:solidFill>
                            <a:srgbClr val="FFFFFF"/>
                          </a:solidFill>
                          <a:latin typeface="Calibri"/>
                        </a:rPr>
                        <a:t>FC</a:t>
                      </a:r>
                    </a:p>
                  </a:txBody>
                  <a:tcPr marL="64008" marR="64008" marT="36576" marB="36576" anchor="ctr">
                    <a:solidFill>
                      <a:srgbClr val="0B2240"/>
                    </a:solidFill>
                  </a:tcPr>
                </a:tc>
                <a:tc>
                  <a:txBody>
                    <a:bodyPr/>
                    <a:lstStyle/>
                    <a:p>
                      <a:pPr algn="ctr"/>
                      <a:r>
                        <a:rPr sz="900" b="1" i="0">
                          <a:solidFill>
                            <a:srgbClr val="FFFFFF"/>
                          </a:solidFill>
                          <a:latin typeface="Calibri"/>
                        </a:rPr>
                        <a:t>Expedia</a:t>
                      </a:r>
                    </a:p>
                  </a:txBody>
                  <a:tcPr marL="64008" marR="64008" marT="36576" marB="36576" anchor="ctr">
                    <a:solidFill>
                      <a:srgbClr val="0B2240"/>
                    </a:solidFill>
                  </a:tcPr>
                </a:tc>
                <a:tc>
                  <a:txBody>
                    <a:bodyPr/>
                    <a:lstStyle/>
                    <a:p>
                      <a:pPr algn="ctr"/>
                      <a:r>
                        <a:rPr sz="900" b="1" i="0">
                          <a:solidFill>
                            <a:srgbClr val="FFFFFF"/>
                          </a:solidFill>
                          <a:latin typeface="Calibri"/>
                        </a:rPr>
                        <a:t>Booking</a:t>
                      </a:r>
                    </a:p>
                  </a:txBody>
                  <a:tcPr marL="64008" marR="64008" marT="36576" marB="36576" anchor="ctr">
                    <a:solidFill>
                      <a:srgbClr val="0B2240"/>
                    </a:solidFill>
                  </a:tcPr>
                </a:tc>
                <a:extLst>
                  <a:ext uri="{0D108BD9-81ED-4DB2-BD59-A6C34878D82A}">
                    <a16:rowId xmlns:a16="http://schemas.microsoft.com/office/drawing/2014/main" val="10000"/>
                  </a:ext>
                </a:extLst>
              </a:tr>
              <a:tr h="381000">
                <a:tc>
                  <a:txBody>
                    <a:bodyPr/>
                    <a:lstStyle/>
                    <a:p>
                      <a:r>
                        <a:rPr sz="950" b="0" i="0">
                          <a:solidFill>
                            <a:srgbClr val="1F2937"/>
                          </a:solidFill>
                          <a:latin typeface="Calibri"/>
                        </a:rPr>
                        <a:t>Budget / cheap</a:t>
                      </a:r>
                    </a:p>
                  </a:txBody>
                  <a:tcPr marL="64008" marR="64008" marT="36576" marB="36576">
                    <a:solidFill>
                      <a:srgbClr val="FFFFFF"/>
                    </a:solidFill>
                  </a:tcPr>
                </a:tc>
                <a:tc>
                  <a:txBody>
                    <a:bodyPr/>
                    <a:lstStyle/>
                    <a:p>
                      <a:pPr algn="ctr"/>
                      <a:r>
                        <a:rPr sz="950" b="0" i="0">
                          <a:solidFill>
                            <a:srgbClr val="1F2937"/>
                          </a:solidFill>
                          <a:latin typeface="Calibri"/>
                        </a:rPr>
                        <a:t>No</a:t>
                      </a:r>
                    </a:p>
                  </a:txBody>
                  <a:tcPr marL="64008" marR="64008" marT="36576" marB="36576">
                    <a:solidFill>
                      <a:srgbClr val="FBE8EA"/>
                    </a:solidFill>
                  </a:tcPr>
                </a:tc>
                <a:tc>
                  <a:txBody>
                    <a:bodyPr/>
                    <a:lstStyle/>
                    <a:p>
                      <a:pPr algn="ctr"/>
                      <a:r>
                        <a:rPr sz="950" b="0" i="0">
                          <a:solidFill>
                            <a:srgbClr val="1F2937"/>
                          </a:solidFill>
                          <a:latin typeface="Calibri"/>
                        </a:rPr>
                        <a:t>Yes</a:t>
                      </a:r>
                    </a:p>
                  </a:txBody>
                  <a:tcPr marL="64008" marR="64008" marT="36576" marB="36576">
                    <a:solidFill>
                      <a:srgbClr val="FFFFFF"/>
                    </a:solidFill>
                  </a:tcPr>
                </a:tc>
                <a:tc>
                  <a:txBody>
                    <a:bodyPr/>
                    <a:lstStyle/>
                    <a:p>
                      <a:pPr algn="ctr"/>
                      <a:r>
                        <a:rPr sz="950" b="0" i="0">
                          <a:solidFill>
                            <a:srgbClr val="1F2937"/>
                          </a:solidFill>
                          <a:latin typeface="Calibri"/>
                        </a:rPr>
                        <a:t>Yes</a:t>
                      </a:r>
                    </a:p>
                  </a:txBody>
                  <a:tcPr marL="64008" marR="64008" marT="36576" marB="36576">
                    <a:solidFill>
                      <a:srgbClr val="FFFFFF"/>
                    </a:solidFill>
                  </a:tcPr>
                </a:tc>
                <a:extLst>
                  <a:ext uri="{0D108BD9-81ED-4DB2-BD59-A6C34878D82A}">
                    <a16:rowId xmlns:a16="http://schemas.microsoft.com/office/drawing/2014/main" val="10001"/>
                  </a:ext>
                </a:extLst>
              </a:tr>
              <a:tr h="381000">
                <a:tc>
                  <a:txBody>
                    <a:bodyPr/>
                    <a:lstStyle/>
                    <a:p>
                      <a:r>
                        <a:rPr sz="950" b="0" i="0">
                          <a:solidFill>
                            <a:srgbClr val="1F2937"/>
                          </a:solidFill>
                          <a:latin typeface="Calibri"/>
                        </a:rPr>
                        <a:t>Family</a:t>
                      </a:r>
                    </a:p>
                  </a:txBody>
                  <a:tcPr marL="64008" marR="64008" marT="36576" marB="36576">
                    <a:solidFill>
                      <a:srgbClr val="F3F5F8"/>
                    </a:solidFill>
                  </a:tcPr>
                </a:tc>
                <a:tc>
                  <a:txBody>
                    <a:bodyPr/>
                    <a:lstStyle/>
                    <a:p>
                      <a:pPr algn="ctr"/>
                      <a:r>
                        <a:rPr sz="950" b="0" i="0">
                          <a:solidFill>
                            <a:srgbClr val="1F2937"/>
                          </a:solidFill>
                          <a:latin typeface="Calibri"/>
                        </a:rPr>
                        <a:t>Partial</a:t>
                      </a:r>
                    </a:p>
                  </a:txBody>
                  <a:tcPr marL="64008" marR="64008" marT="36576" marB="36576">
                    <a:solidFill>
                      <a:srgbClr val="FFF3DC"/>
                    </a:solidFill>
                  </a:tcPr>
                </a:tc>
                <a:tc>
                  <a:txBody>
                    <a:bodyPr/>
                    <a:lstStyle/>
                    <a:p>
                      <a:pPr algn="ctr"/>
                      <a:r>
                        <a:rPr sz="950" b="0" i="0">
                          <a:solidFill>
                            <a:srgbClr val="1F2937"/>
                          </a:solidFill>
                          <a:latin typeface="Calibri"/>
                        </a:rPr>
                        <a:t>Yes</a:t>
                      </a:r>
                    </a:p>
                  </a:txBody>
                  <a:tcPr marL="64008" marR="64008" marT="36576" marB="36576">
                    <a:solidFill>
                      <a:srgbClr val="F3F5F8"/>
                    </a:solidFill>
                  </a:tcPr>
                </a:tc>
                <a:tc>
                  <a:txBody>
                    <a:bodyPr/>
                    <a:lstStyle/>
                    <a:p>
                      <a:pPr algn="ctr"/>
                      <a:r>
                        <a:rPr sz="950" b="0" i="0">
                          <a:solidFill>
                            <a:srgbClr val="1F2937"/>
                          </a:solidFill>
                          <a:latin typeface="Calibri"/>
                        </a:rPr>
                        <a:t>Partial</a:t>
                      </a:r>
                    </a:p>
                  </a:txBody>
                  <a:tcPr marL="64008" marR="64008" marT="36576" marB="36576">
                    <a:solidFill>
                      <a:srgbClr val="F3F5F8"/>
                    </a:solidFill>
                  </a:tcPr>
                </a:tc>
                <a:extLst>
                  <a:ext uri="{0D108BD9-81ED-4DB2-BD59-A6C34878D82A}">
                    <a16:rowId xmlns:a16="http://schemas.microsoft.com/office/drawing/2014/main" val="10002"/>
                  </a:ext>
                </a:extLst>
              </a:tr>
              <a:tr h="381000">
                <a:tc>
                  <a:txBody>
                    <a:bodyPr/>
                    <a:lstStyle/>
                    <a:p>
                      <a:r>
                        <a:rPr sz="950" b="0" i="0">
                          <a:solidFill>
                            <a:srgbClr val="1F2937"/>
                          </a:solidFill>
                          <a:latin typeface="Calibri"/>
                        </a:rPr>
                        <a:t>Honeymoon / romantic</a:t>
                      </a:r>
                    </a:p>
                  </a:txBody>
                  <a:tcPr marL="64008" marR="64008" marT="36576" marB="36576">
                    <a:solidFill>
                      <a:srgbClr val="FFFFFF"/>
                    </a:solidFill>
                  </a:tcPr>
                </a:tc>
                <a:tc>
                  <a:txBody>
                    <a:bodyPr/>
                    <a:lstStyle/>
                    <a:p>
                      <a:pPr algn="ctr"/>
                      <a:r>
                        <a:rPr sz="950" b="0" i="0">
                          <a:solidFill>
                            <a:srgbClr val="1F2937"/>
                          </a:solidFill>
                          <a:latin typeface="Calibri"/>
                        </a:rPr>
                        <a:t>No</a:t>
                      </a:r>
                    </a:p>
                  </a:txBody>
                  <a:tcPr marL="64008" marR="64008" marT="36576" marB="36576">
                    <a:solidFill>
                      <a:srgbClr val="FBE8EA"/>
                    </a:solidFill>
                  </a:tcPr>
                </a:tc>
                <a:tc>
                  <a:txBody>
                    <a:bodyPr/>
                    <a:lstStyle/>
                    <a:p>
                      <a:pPr algn="ctr"/>
                      <a:r>
                        <a:rPr sz="950" b="0" i="0">
                          <a:solidFill>
                            <a:srgbClr val="1F2937"/>
                          </a:solidFill>
                          <a:latin typeface="Calibri"/>
                        </a:rPr>
                        <a:t>Yes</a:t>
                      </a:r>
                    </a:p>
                  </a:txBody>
                  <a:tcPr marL="64008" marR="64008" marT="36576" marB="36576">
                    <a:solidFill>
                      <a:srgbClr val="FFFFFF"/>
                    </a:solidFill>
                  </a:tcPr>
                </a:tc>
                <a:tc>
                  <a:txBody>
                    <a:bodyPr/>
                    <a:lstStyle/>
                    <a:p>
                      <a:pPr algn="ctr"/>
                      <a:r>
                        <a:rPr sz="950" b="0" i="0">
                          <a:solidFill>
                            <a:srgbClr val="1F2937"/>
                          </a:solidFill>
                          <a:latin typeface="Calibri"/>
                        </a:rPr>
                        <a:t>Partial</a:t>
                      </a:r>
                    </a:p>
                  </a:txBody>
                  <a:tcPr marL="64008" marR="64008" marT="36576" marB="36576">
                    <a:solidFill>
                      <a:srgbClr val="FFFFFF"/>
                    </a:solidFill>
                  </a:tcPr>
                </a:tc>
                <a:extLst>
                  <a:ext uri="{0D108BD9-81ED-4DB2-BD59-A6C34878D82A}">
                    <a16:rowId xmlns:a16="http://schemas.microsoft.com/office/drawing/2014/main" val="10003"/>
                  </a:ext>
                </a:extLst>
              </a:tr>
              <a:tr h="381000">
                <a:tc>
                  <a:txBody>
                    <a:bodyPr/>
                    <a:lstStyle/>
                    <a:p>
                      <a:r>
                        <a:rPr sz="950" b="0" i="0">
                          <a:solidFill>
                            <a:srgbClr val="1F2937"/>
                          </a:solidFill>
                          <a:latin typeface="Calibri"/>
                        </a:rPr>
                        <a:t>Luxury / premium</a:t>
                      </a:r>
                    </a:p>
                  </a:txBody>
                  <a:tcPr marL="64008" marR="64008" marT="36576" marB="36576">
                    <a:solidFill>
                      <a:srgbClr val="F3F5F8"/>
                    </a:solidFill>
                  </a:tcPr>
                </a:tc>
                <a:tc>
                  <a:txBody>
                    <a:bodyPr/>
                    <a:lstStyle/>
                    <a:p>
                      <a:pPr algn="ctr"/>
                      <a:r>
                        <a:rPr sz="950" b="0" i="0">
                          <a:solidFill>
                            <a:srgbClr val="1F2937"/>
                          </a:solidFill>
                          <a:latin typeface="Calibri"/>
                        </a:rPr>
                        <a:t>Partial</a:t>
                      </a:r>
                    </a:p>
                  </a:txBody>
                  <a:tcPr marL="64008" marR="64008" marT="36576" marB="36576">
                    <a:solidFill>
                      <a:srgbClr val="FFF3DC"/>
                    </a:solidFill>
                  </a:tcPr>
                </a:tc>
                <a:tc>
                  <a:txBody>
                    <a:bodyPr/>
                    <a:lstStyle/>
                    <a:p>
                      <a:pPr algn="ctr"/>
                      <a:r>
                        <a:rPr sz="950" b="0" i="0">
                          <a:solidFill>
                            <a:srgbClr val="1F2937"/>
                          </a:solidFill>
                          <a:latin typeface="Calibri"/>
                        </a:rPr>
                        <a:t>Yes</a:t>
                      </a:r>
                    </a:p>
                  </a:txBody>
                  <a:tcPr marL="64008" marR="64008" marT="36576" marB="36576">
                    <a:solidFill>
                      <a:srgbClr val="F3F5F8"/>
                    </a:solidFill>
                  </a:tcPr>
                </a:tc>
                <a:tc>
                  <a:txBody>
                    <a:bodyPr/>
                    <a:lstStyle/>
                    <a:p>
                      <a:pPr algn="ctr"/>
                      <a:r>
                        <a:rPr sz="950" b="0" i="0">
                          <a:solidFill>
                            <a:srgbClr val="1F2937"/>
                          </a:solidFill>
                          <a:latin typeface="Calibri"/>
                        </a:rPr>
                        <a:t>Yes</a:t>
                      </a:r>
                    </a:p>
                  </a:txBody>
                  <a:tcPr marL="64008" marR="64008" marT="36576" marB="36576">
                    <a:solidFill>
                      <a:srgbClr val="F3F5F8"/>
                    </a:solidFill>
                  </a:tcPr>
                </a:tc>
                <a:extLst>
                  <a:ext uri="{0D108BD9-81ED-4DB2-BD59-A6C34878D82A}">
                    <a16:rowId xmlns:a16="http://schemas.microsoft.com/office/drawing/2014/main" val="10004"/>
                  </a:ext>
                </a:extLst>
              </a:tr>
              <a:tr h="381000">
                <a:tc>
                  <a:txBody>
                    <a:bodyPr/>
                    <a:lstStyle/>
                    <a:p>
                      <a:r>
                        <a:rPr sz="950" b="0" i="0">
                          <a:solidFill>
                            <a:srgbClr val="1F2937"/>
                          </a:solidFill>
                          <a:latin typeface="Calibri"/>
                        </a:rPr>
                        <a:t>Transactional (package with flights)</a:t>
                      </a:r>
                    </a:p>
                  </a:txBody>
                  <a:tcPr marL="64008" marR="64008" marT="36576" marB="36576">
                    <a:solidFill>
                      <a:srgbClr val="FFFFFF"/>
                    </a:solidFill>
                  </a:tcPr>
                </a:tc>
                <a:tc>
                  <a:txBody>
                    <a:bodyPr/>
                    <a:lstStyle/>
                    <a:p>
                      <a:pPr algn="ctr"/>
                      <a:r>
                        <a:rPr sz="950" b="0" i="0">
                          <a:solidFill>
                            <a:srgbClr val="1F2937"/>
                          </a:solidFill>
                          <a:latin typeface="Calibri"/>
                        </a:rPr>
                        <a:t>Yes</a:t>
                      </a:r>
                    </a:p>
                  </a:txBody>
                  <a:tcPr marL="64008" marR="64008" marT="36576" marB="36576">
                    <a:solidFill>
                      <a:srgbClr val="E4F1E8"/>
                    </a:solidFill>
                  </a:tcPr>
                </a:tc>
                <a:tc>
                  <a:txBody>
                    <a:bodyPr/>
                    <a:lstStyle/>
                    <a:p>
                      <a:pPr algn="ctr"/>
                      <a:r>
                        <a:rPr sz="950" b="0" i="0">
                          <a:solidFill>
                            <a:srgbClr val="1F2937"/>
                          </a:solidFill>
                          <a:latin typeface="Calibri"/>
                        </a:rPr>
                        <a:t>Yes</a:t>
                      </a:r>
                    </a:p>
                  </a:txBody>
                  <a:tcPr marL="64008" marR="64008" marT="36576" marB="36576">
                    <a:solidFill>
                      <a:srgbClr val="FFFFFF"/>
                    </a:solidFill>
                  </a:tcPr>
                </a:tc>
                <a:tc>
                  <a:txBody>
                    <a:bodyPr/>
                    <a:lstStyle/>
                    <a:p>
                      <a:pPr algn="ctr"/>
                      <a:r>
                        <a:rPr sz="950" b="0" i="0">
                          <a:solidFill>
                            <a:srgbClr val="1F2937"/>
                          </a:solidFill>
                          <a:latin typeface="Calibri"/>
                        </a:rPr>
                        <a:t>Yes</a:t>
                      </a:r>
                    </a:p>
                  </a:txBody>
                  <a:tcPr marL="64008" marR="64008" marT="36576" marB="36576">
                    <a:solidFill>
                      <a:srgbClr val="FFFFFF"/>
                    </a:solidFill>
                  </a:tcPr>
                </a:tc>
                <a:extLst>
                  <a:ext uri="{0D108BD9-81ED-4DB2-BD59-A6C34878D82A}">
                    <a16:rowId xmlns:a16="http://schemas.microsoft.com/office/drawing/2014/main" val="10005"/>
                  </a:ext>
                </a:extLst>
              </a:tr>
            </a:tbl>
          </a:graphicData>
        </a:graphic>
      </p:graphicFrame>
      <p:sp>
        <p:nvSpPr>
          <p:cNvPr id="8" name="Rounded Rectangle 7"/>
          <p:cNvSpPr/>
          <p:nvPr/>
        </p:nvSpPr>
        <p:spPr>
          <a:xfrm>
            <a:off x="5897880" y="1600200"/>
            <a:ext cx="5760720" cy="224028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062472" y="1764792"/>
            <a:ext cx="543153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Build: programmatic destination FAQ and facts (Pillar 3 design)</a:t>
            </a:r>
          </a:p>
        </p:txBody>
      </p:sp>
      <p:sp>
        <p:nvSpPr>
          <p:cNvPr id="10" name="TextBox 9"/>
          <p:cNvSpPr txBox="1"/>
          <p:nvPr/>
        </p:nvSpPr>
        <p:spPr>
          <a:xfrm>
            <a:off x="6062472" y="2148840"/>
            <a:ext cx="5431536" cy="1527048"/>
          </a:xfrm>
          <a:prstGeom prst="rect">
            <a:avLst/>
          </a:prstGeom>
          <a:noFill/>
        </p:spPr>
        <p:txBody>
          <a:bodyPr wrap="square" lIns="45720" rIns="45720" anchor="t">
            <a:spAutoFit/>
          </a:bodyPr>
          <a:lstStyle/>
          <a:p>
            <a:pPr algn="l">
              <a:lnSpc>
                <a:spcPct val="108000"/>
              </a:lnSpc>
              <a:spcAft>
                <a:spcPts val="400"/>
              </a:spcAft>
            </a:pPr>
            <a:r>
              <a:rPr sz="1100" b="0" i="0">
                <a:solidFill>
                  <a:srgbClr val="1F2937"/>
                </a:solidFill>
                <a:latin typeface="Calibri"/>
              </a:rPr>
              <a:t>Fact store → template bank → generator → server-rendered HTML + FAQPage JSON-LD. Each fact has an owner, a source and a last-reviewed date. Questions are single-intent: 'Do Australians need a visa to visit Bali?', 'How long is the flight from Australia to Fiji?', 'Where should I stay in Fiji?'</a:t>
            </a:r>
          </a:p>
          <a:p>
            <a:pPr algn="l">
              <a:lnSpc>
                <a:spcPct val="108000"/>
              </a:lnSpc>
              <a:spcBef>
                <a:spcPts val="500"/>
              </a:spcBef>
              <a:spcAft>
                <a:spcPts val="400"/>
              </a:spcAft>
            </a:pPr>
            <a:r>
              <a:rPr sz="1100" b="0" i="0">
                <a:solidFill>
                  <a:srgbClr val="1F2937"/>
                </a:solidFill>
                <a:latin typeface="Calibri"/>
              </a:rPr>
              <a:t>Answer rule: sentence one answers; sentence two adds named places, durations, currency codes; sentence three states how an FC expert helps, without turning the block into an advert.</a:t>
            </a:r>
          </a:p>
        </p:txBody>
      </p:sp>
      <p:sp>
        <p:nvSpPr>
          <p:cNvPr id="11" name="Rounded Rectangle 10"/>
          <p:cNvSpPr/>
          <p:nvPr/>
        </p:nvSpPr>
        <p:spPr>
          <a:xfrm>
            <a:off x="5897880" y="3977639"/>
            <a:ext cx="5760720" cy="2148840"/>
          </a:xfrm>
          <a:prstGeom prst="roundRect">
            <a:avLst>
              <a:gd name="adj" fmla="val 4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062472" y="4087368"/>
            <a:ext cx="5431536" cy="1947672"/>
          </a:xfrm>
          <a:prstGeom prst="rect">
            <a:avLst/>
          </a:prstGeom>
          <a:noFill/>
        </p:spPr>
        <p:txBody>
          <a:bodyPr wrap="square" lIns="45720" rIns="45720" anchor="t">
            <a:spAutoFit/>
          </a:bodyPr>
          <a:lstStyle/>
          <a:p>
            <a:pPr algn="l">
              <a:lnSpc>
                <a:spcPct val="105000"/>
              </a:lnSpc>
              <a:spcAft>
                <a:spcPts val="0"/>
              </a:spcAft>
            </a:pPr>
            <a:r>
              <a:rPr sz="900" b="0" i="0">
                <a:solidFill>
                  <a:srgbClr val="9FB3CC"/>
                </a:solidFill>
                <a:latin typeface="Consolas"/>
              </a:rPr>
              <a:t># Illustrative record only: verify visa rules and travel facts before publication</a:t>
            </a:r>
          </a:p>
          <a:p>
            <a:pPr algn="l">
              <a:lnSpc>
                <a:spcPct val="105000"/>
              </a:lnSpc>
              <a:spcAft>
                <a:spcPts val="0"/>
              </a:spcAft>
            </a:pPr>
            <a:r>
              <a:rPr sz="900" b="0" i="0">
                <a:solidFill>
                  <a:srgbClr val="E6EDF7"/>
                </a:solidFill>
                <a:latin typeface="Consolas"/>
              </a:rPr>
              <a:t>{"destination":"Fiji","visa":"No visa required for Australian citizens</a:t>
            </a:r>
          </a:p>
          <a:p>
            <a:pPr algn="l">
              <a:lnSpc>
                <a:spcPct val="105000"/>
              </a:lnSpc>
              <a:spcAft>
                <a:spcPts val="0"/>
              </a:spcAft>
            </a:pPr>
            <a:r>
              <a:rPr sz="900" b="0" i="0">
                <a:solidFill>
                  <a:srgbClr val="E6EDF7"/>
                </a:solidFill>
                <a:latin typeface="Consolas"/>
              </a:rPr>
              <a:t>  for stays up to 4 months","best_time":"May to October (dry season)",</a:t>
            </a:r>
          </a:p>
          <a:p>
            <a:pPr algn="l">
              <a:lnSpc>
                <a:spcPct val="105000"/>
              </a:lnSpc>
              <a:spcAft>
                <a:spcPts val="0"/>
              </a:spcAft>
            </a:pPr>
            <a:r>
              <a:rPr sz="900" b="0" i="0">
                <a:solidFill>
                  <a:srgbClr val="E6EDF7"/>
                </a:solidFill>
                <a:latin typeface="Consolas"/>
              </a:rPr>
              <a:t> "flight_time":"About 4 hours from east-coast Australia",</a:t>
            </a:r>
          </a:p>
          <a:p>
            <a:pPr algn="l">
              <a:lnSpc>
                <a:spcPct val="105000"/>
              </a:lnSpc>
              <a:spcAft>
                <a:spcPts val="0"/>
              </a:spcAft>
            </a:pPr>
            <a:r>
              <a:rPr sz="900" b="0" i="0">
                <a:solidFill>
                  <a:srgbClr val="E6EDF7"/>
                </a:solidFill>
                <a:latin typeface="Consolas"/>
              </a:rPr>
              <a:t> "currency":"Fijian Dollar (FJD)","regions":["Denarau","Coral Coast",</a:t>
            </a:r>
          </a:p>
          <a:p>
            <a:pPr algn="l">
              <a:lnSpc>
                <a:spcPct val="105000"/>
              </a:lnSpc>
              <a:spcAft>
                <a:spcPts val="0"/>
              </a:spcAft>
            </a:pPr>
            <a:r>
              <a:rPr sz="900" b="0" i="0">
                <a:solidFill>
                  <a:srgbClr val="E6EDF7"/>
                </a:solidFill>
                <a:latin typeface="Consolas"/>
              </a:rPr>
              <a:t>  "Mamanuca Islands"],"last_reviewed":"[actual verification date]","owner":"Pacific content"}</a:t>
            </a:r>
          </a:p>
          <a:p>
            <a:pPr algn="l">
              <a:lnSpc>
                <a:spcPct val="105000"/>
              </a:lnSpc>
              <a:spcAft>
                <a:spcPts val="0"/>
              </a:spcAft>
            </a:pPr>
            <a:r>
              <a:rPr sz="900" b="0" i="0">
                <a:solidFill>
                  <a:srgbClr val="9FB3CC"/>
                </a:solidFill>
                <a:latin typeface="Consolas"/>
              </a:rPr>
              <a:t># Visible &lt;h3&gt;question&lt;/h3&gt;&lt;p&gt;answer&lt;/p&gt; and FAQPage JSON-LD come from this one record.</a:t>
            </a:r>
          </a:p>
        </p:txBody>
      </p:sp>
      <p:sp>
        <p:nvSpPr>
          <p:cNvPr id="13" name="TextBox 12"/>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Pillar 2 audit §8.2 and §10.2 (entity density and intent coverage, captured 10–15 May 2026); Pillar 3 audit §11 (programmatic FAQ specification and generator). Expedia replicates intent pages per destination ('Bali Cheap Holidays', 'Fiji Cheap Holidays'); FC's destination structure varies by region (Bali has six 'where to stay' areas, Japan has none).</a:t>
            </a:r>
          </a:p>
        </p:txBody>
      </p:sp>
      <p:sp>
        <p:nvSpPr>
          <p:cNvPr id="14" name="TextBox 13"/>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HOW</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Layers 5–6: one fare truth, earned authority, and the human-expert advantage made machine-readable</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8796528"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sp>
        <p:nvSpPr>
          <p:cNvPr id="6" name="Rounded Rectangle 5"/>
          <p:cNvSpPr/>
          <p:nvPr/>
        </p:nvSpPr>
        <p:spPr>
          <a:xfrm>
            <a:off x="6611112" y="329184"/>
            <a:ext cx="207568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Live check 25 Oct 2026</a:t>
            </a:r>
          </a:p>
        </p:txBody>
      </p:sp>
      <p:sp>
        <p:nvSpPr>
          <p:cNvPr id="7" name="Rounded Rectangle 6"/>
          <p:cNvSpPr/>
          <p:nvPr/>
        </p:nvSpPr>
        <p:spPr>
          <a:xfrm>
            <a:off x="548640" y="1600200"/>
            <a:ext cx="3611880" cy="452628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13232" y="1764792"/>
            <a:ext cx="32826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One fare truth (freshness)</a:t>
            </a:r>
          </a:p>
        </p:txBody>
      </p:sp>
      <p:sp>
        <p:nvSpPr>
          <p:cNvPr id="9" name="TextBox 8"/>
          <p:cNvSpPr txBox="1"/>
          <p:nvPr/>
        </p:nvSpPr>
        <p:spPr>
          <a:xfrm>
            <a:off x="713232" y="2148840"/>
            <a:ext cx="3282696" cy="3813048"/>
          </a:xfrm>
          <a:prstGeom prst="rect">
            <a:avLst/>
          </a:prstGeom>
          <a:noFill/>
        </p:spPr>
        <p:txBody>
          <a:bodyPr wrap="square" lIns="45720" rIns="45720" anchor="t">
            <a:spAutoFit/>
          </a:bodyPr>
          <a:lstStyle/>
          <a:p>
            <a:pPr algn="l">
              <a:lnSpc>
                <a:spcPct val="108000"/>
              </a:lnSpc>
              <a:spcAft>
                <a:spcPts val="400"/>
              </a:spcAft>
            </a:pPr>
            <a:r>
              <a:rPr sz="1100" b="0" i="0">
                <a:solidFill>
                  <a:srgbClr val="1F2937"/>
                </a:solidFill>
                <a:latin typeface="Calibri"/>
              </a:rPr>
              <a:t>The same Melbourne–London URL has shown four different starting fares: $1,434 (Aug capture), $1,386 (rendered capture), $1,272 (23 Oct title) and $1,342 (24–25 Oct title and JSON-LD). On 25 Oct the cheapest deal card on that page said $1,605. Each may be right for its own fare type; an assistant quotes whichever it fetched. Webjet stamps every fare 'Last updated'.</a:t>
            </a:r>
          </a:p>
          <a:p>
            <a:pPr algn="l">
              <a:lnSpc>
                <a:spcPct val="108000"/>
              </a:lnSpc>
              <a:spcBef>
                <a:spcPts val="600"/>
              </a:spcBef>
              <a:spcAft>
                <a:spcPts val="400"/>
              </a:spcAft>
            </a:pPr>
            <a:r>
              <a:rPr sz="1100" b="0" i="0">
                <a:solidFill>
                  <a:srgbClr val="1F2937"/>
                </a:solidFill>
                <a:latin typeface="Calibri"/>
              </a:rPr>
              <a:t>Do: one offer record feeds the page text, the fare-and-fee block and JSON-LD; show 'last updated'; define a staleness window; investigate mismatches for equivalent dates, cabin, fees and availability.</a:t>
            </a:r>
          </a:p>
          <a:p>
            <a:pPr algn="l">
              <a:lnSpc>
                <a:spcPct val="108000"/>
              </a:lnSpc>
              <a:spcBef>
                <a:spcPts val="600"/>
              </a:spcBef>
              <a:spcAft>
                <a:spcPts val="400"/>
              </a:spcAft>
            </a:pPr>
            <a:r>
              <a:rPr sz="1100" b="0" i="0">
                <a:solidFill>
                  <a:srgbClr val="0B2240"/>
                </a:solidFill>
                <a:latin typeface="Calibri"/>
              </a:rPr>
              <a:t>Research: an explicit price and a recent timestamp are among the few content factors that 'help consistently' (252,000-trial study, 2026). Legal: Australian Consumer Law on misleading price claims.</a:t>
            </a:r>
          </a:p>
        </p:txBody>
      </p:sp>
      <p:sp>
        <p:nvSpPr>
          <p:cNvPr id="10" name="Rounded Rectangle 9"/>
          <p:cNvSpPr/>
          <p:nvPr/>
        </p:nvSpPr>
        <p:spPr>
          <a:xfrm>
            <a:off x="4297680" y="1600200"/>
            <a:ext cx="3611880" cy="452628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462272" y="1764792"/>
            <a:ext cx="32826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Earned authority, not declared</a:t>
            </a:r>
          </a:p>
        </p:txBody>
      </p:sp>
      <p:sp>
        <p:nvSpPr>
          <p:cNvPr id="12" name="TextBox 11"/>
          <p:cNvSpPr txBox="1"/>
          <p:nvPr/>
        </p:nvSpPr>
        <p:spPr>
          <a:xfrm>
            <a:off x="4462272" y="2148840"/>
            <a:ext cx="3282696" cy="3813048"/>
          </a:xfrm>
          <a:prstGeom prst="rect">
            <a:avLst/>
          </a:prstGeom>
          <a:noFill/>
        </p:spPr>
        <p:txBody>
          <a:bodyPr wrap="square" lIns="45720" rIns="45720" anchor="t">
            <a:spAutoFit/>
          </a:bodyPr>
          <a:lstStyle/>
          <a:p>
            <a:pPr algn="l">
              <a:lnSpc>
                <a:spcPct val="108000"/>
              </a:lnSpc>
              <a:spcAft>
                <a:spcPts val="400"/>
              </a:spcAft>
            </a:pPr>
            <a:r>
              <a:rPr sz="1100" b="0" i="0">
                <a:solidFill>
                  <a:srgbClr val="1F2937"/>
                </a:solidFill>
                <a:latin typeface="Calibri"/>
              </a:rPr>
              <a:t>What engines cite: Reddit 16.8% and Wikipedia 7.0% of ChatGPT citations; Tripadvisor is the only travel domain in the top 50 (1.5%). Perplexity and AI Overviews lean even harder on forums and reviews. In May 2026 the unbranded agency answer cited OzBargain, Frequent Flyer forums and ProductReview.</a:t>
            </a:r>
          </a:p>
          <a:p>
            <a:pPr algn="l">
              <a:lnSpc>
                <a:spcPct val="108000"/>
              </a:lnSpc>
              <a:spcBef>
                <a:spcPts val="600"/>
              </a:spcBef>
              <a:spcAft>
                <a:spcPts val="400"/>
              </a:spcAft>
            </a:pPr>
            <a:r>
              <a:rPr sz="1100" b="0" i="0">
                <a:solidFill>
                  <a:srgbClr val="1F2937"/>
                </a:solidFill>
                <a:latin typeface="Calibri"/>
              </a:rPr>
              <a:t>FC's off-site assets are real: a mature Wikipedia/Wikidata entity (Q5459202), 27,355 Trustpilot reviews in the May audit, including consultant and store mentions, strong trade-press coverage. The sampled unbranded agency answer did not cite fc.com; this is not universal absence.</a:t>
            </a:r>
          </a:p>
          <a:p>
            <a:pPr algn="l">
              <a:lnSpc>
                <a:spcPct val="108000"/>
              </a:lnSpc>
              <a:spcBef>
                <a:spcPts val="600"/>
              </a:spcBef>
              <a:spcAft>
                <a:spcPts val="400"/>
              </a:spcAft>
            </a:pPr>
            <a:r>
              <a:rPr sz="1100" b="0" i="0">
                <a:solidFill>
                  <a:srgbClr val="0B2240"/>
                </a:solidFill>
                <a:latin typeface="Calibri"/>
              </a:rPr>
              <a:t>Do: keep Wikipedia/Wikidata current (World360, Iglu); answer reviews; publish original, citable research (fare calendars, destination data); no paid posts.</a:t>
            </a:r>
          </a:p>
        </p:txBody>
      </p:sp>
      <p:sp>
        <p:nvSpPr>
          <p:cNvPr id="13" name="Rounded Rectangle 12"/>
          <p:cNvSpPr/>
          <p:nvPr/>
        </p:nvSpPr>
        <p:spPr>
          <a:xfrm>
            <a:off x="8046720" y="1600200"/>
            <a:ext cx="3611880" cy="452628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211312" y="1764792"/>
            <a:ext cx="32826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Expert and store path, machine-readable</a:t>
            </a:r>
          </a:p>
        </p:txBody>
      </p:sp>
      <p:sp>
        <p:nvSpPr>
          <p:cNvPr id="15" name="TextBox 14"/>
          <p:cNvSpPr txBox="1"/>
          <p:nvPr/>
        </p:nvSpPr>
        <p:spPr>
          <a:xfrm>
            <a:off x="8211312" y="2148840"/>
            <a:ext cx="3282696" cy="3813048"/>
          </a:xfrm>
          <a:prstGeom prst="rect">
            <a:avLst/>
          </a:prstGeom>
          <a:noFill/>
        </p:spPr>
        <p:txBody>
          <a:bodyPr wrap="square" lIns="45720" rIns="45720" anchor="t">
            <a:spAutoFit/>
          </a:bodyPr>
          <a:lstStyle/>
          <a:p>
            <a:pPr algn="l">
              <a:lnSpc>
                <a:spcPct val="108000"/>
              </a:lnSpc>
              <a:spcAft>
                <a:spcPts val="400"/>
              </a:spcAft>
            </a:pPr>
            <a:r>
              <a:rPr sz="1100" b="0" i="0">
                <a:solidFill>
                  <a:srgbClr val="1F2937"/>
                </a:solidFill>
                <a:latin typeface="Calibri"/>
              </a:rPr>
              <a:t>FC's differentiator is a human expert, a store and a quote. Make those routes explicit in relevant page text as well as navigation and buttons; current coverage needs page-level checking.</a:t>
            </a:r>
          </a:p>
          <a:p>
            <a:pPr algn="l">
              <a:lnSpc>
                <a:spcPct val="108000"/>
              </a:lnSpc>
              <a:spcBef>
                <a:spcPts val="600"/>
              </a:spcBef>
              <a:spcAft>
                <a:spcPts val="400"/>
              </a:spcAft>
            </a:pPr>
            <a:r>
              <a:rPr sz="1100" b="0" i="0">
                <a:solidFill>
                  <a:srgbClr val="1F2937"/>
                </a:solidFill>
                <a:latin typeface="Calibri"/>
              </a:rPr>
              <a:t>Do: state it in text on every route and holiday page ('Talk to a Flight Centre Travel Expert, in 300+ stores or by phone'); LocalBusiness schema and consistent name, address, hours per store; reconcile Google Business Profile.</a:t>
            </a:r>
          </a:p>
          <a:p>
            <a:pPr algn="l">
              <a:lnSpc>
                <a:spcPct val="108000"/>
              </a:lnSpc>
              <a:spcBef>
                <a:spcPts val="600"/>
              </a:spcBef>
              <a:spcAft>
                <a:spcPts val="400"/>
              </a:spcAft>
            </a:pPr>
            <a:r>
              <a:rPr sz="1100" b="0" i="0">
                <a:solidFill>
                  <a:srgbClr val="0B2240"/>
                </a:solidFill>
                <a:latin typeface="Calibri"/>
              </a:rPr>
              <a:t>Start with priority stores and monitor local discovery separately. This is where FC's human advantage becomes visible to a machine, and the step a later connector (app or MCP) would route to.</a:t>
            </a:r>
          </a:p>
        </p:txBody>
      </p:sp>
      <p:sp>
        <p:nvSpPr>
          <p:cNvPr id="16" name="TextBox 1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live fares 23–25 Oct 2026 (page heading, JSON-LD Offer and deal cards); Ahrefs most-cited domains (Sep 2026) and Profound citation patterns (680M citations, 2024–25); Pillar 3 audit §12 (Wikipedia, Wikidata, Trustpilot 15 May 2026); arXiv 2605.25517; Google guidance on inauthentic mentions; ACCC false or misleading claims.</a:t>
            </a:r>
          </a:p>
        </p:txBody>
      </p:sp>
      <p:sp>
        <p:nvSpPr>
          <p:cNvPr id="17" name="TextBox 16"/>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HOW</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Putting the findings into practice: prioritise templates, publish approved facts and monitor outcomes</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548640" y="1600200"/>
            <a:ext cx="3611880" cy="452628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1691640"/>
            <a:ext cx="3291840" cy="320040"/>
          </a:xfrm>
          <a:prstGeom prst="rect">
            <a:avLst/>
          </a:prstGeom>
          <a:noFill/>
        </p:spPr>
        <p:txBody>
          <a:bodyPr wrap="square" lIns="45720" rIns="45720" anchor="t">
            <a:spAutoFit/>
          </a:bodyPr>
          <a:lstStyle/>
          <a:p>
            <a:pPr algn="l">
              <a:lnSpc>
                <a:spcPct val="108000"/>
              </a:lnSpc>
              <a:spcAft>
                <a:spcPts val="400"/>
              </a:spcAft>
            </a:pPr>
            <a:r>
              <a:rPr sz="1100" b="1" i="0">
                <a:solidFill>
                  <a:srgbClr val="C8102E"/>
                </a:solidFill>
                <a:latin typeface="Calibri"/>
              </a:rPr>
              <a:t>Priority 1</a:t>
            </a:r>
          </a:p>
        </p:txBody>
      </p:sp>
      <p:sp>
        <p:nvSpPr>
          <p:cNvPr id="7" name="TextBox 6"/>
          <p:cNvSpPr txBox="1"/>
          <p:nvPr/>
        </p:nvSpPr>
        <p:spPr>
          <a:xfrm>
            <a:off x="731520" y="1938528"/>
            <a:ext cx="3291840" cy="365760"/>
          </a:xfrm>
          <a:prstGeom prst="rect">
            <a:avLst/>
          </a:prstGeom>
          <a:noFill/>
        </p:spPr>
        <p:txBody>
          <a:bodyPr wrap="square" lIns="45720" rIns="45720" anchor="t">
            <a:spAutoFit/>
          </a:bodyPr>
          <a:lstStyle/>
          <a:p>
            <a:pPr algn="l">
              <a:lnSpc>
                <a:spcPct val="108000"/>
              </a:lnSpc>
              <a:spcAft>
                <a:spcPts val="400"/>
              </a:spcAft>
            </a:pPr>
            <a:r>
              <a:rPr sz="1600" b="1" i="0">
                <a:solidFill>
                  <a:srgbClr val="0B2240"/>
                </a:solidFill>
                <a:latin typeface="Calibri"/>
              </a:rPr>
              <a:t>Assign ownership</a:t>
            </a:r>
          </a:p>
        </p:txBody>
      </p:sp>
      <p:sp>
        <p:nvSpPr>
          <p:cNvPr id="8" name="TextBox 7"/>
          <p:cNvSpPr txBox="1"/>
          <p:nvPr/>
        </p:nvSpPr>
        <p:spPr>
          <a:xfrm>
            <a:off x="731520" y="2377440"/>
            <a:ext cx="3291840" cy="2743200"/>
          </a:xfrm>
          <a:prstGeom prst="rect">
            <a:avLst/>
          </a:prstGeom>
          <a:noFill/>
        </p:spPr>
        <p:txBody>
          <a:bodyPr wrap="square" lIns="45720" rIns="45720" anchor="t">
            <a:spAutoFit/>
          </a:bodyPr>
          <a:lstStyle/>
          <a:p>
            <a:pPr marL="201168" indent="-182880" algn="l">
              <a:lnSpc>
                <a:spcPct val="108000"/>
              </a:lnSpc>
              <a:spcAft>
                <a:spcPts val="400"/>
              </a:spcAft>
              <a:buChar char="•"/>
            </a:pPr>
            <a:r>
              <a:rPr sz="1080" b="0" i="0">
                <a:solidFill>
                  <a:srgbClr val="1F2937"/>
                </a:solidFill>
                <a:latin typeface="Calibri"/>
              </a:rPr>
              <a:t>Choose priority route and holiday templates from customer demand and the audit findings. Assign engineering, content and commercial owners.</a:t>
            </a:r>
          </a:p>
          <a:p>
            <a:pPr marL="201168" indent="-182880" algn="l">
              <a:lnSpc>
                <a:spcPct val="108000"/>
              </a:lnSpc>
              <a:spcAft>
                <a:spcPts val="400"/>
              </a:spcAft>
              <a:buChar char="•"/>
            </a:pPr>
            <a:r>
              <a:rPr sz="1080" b="0" i="0">
                <a:solidFill>
                  <a:srgbClr val="1F2937"/>
                </a:solidFill>
                <a:latin typeface="Calibri"/>
              </a:rPr>
              <a:t>Review available Search Console and Bing reports, referral analytics and verified crawler logs to understand current coverage.</a:t>
            </a:r>
          </a:p>
          <a:p>
            <a:pPr marL="201168" indent="-182880" algn="l">
              <a:lnSpc>
                <a:spcPct val="108000"/>
              </a:lnSpc>
              <a:spcAft>
                <a:spcPts val="400"/>
              </a:spcAft>
              <a:buChar char="•"/>
            </a:pPr>
            <a:r>
              <a:rPr sz="1080" b="0" i="0">
                <a:solidFill>
                  <a:srgbClr val="1F2937"/>
                </a:solidFill>
                <a:latin typeface="Calibri"/>
              </a:rPr>
              <a:t>Record the current position and planned release dates.</a:t>
            </a:r>
          </a:p>
        </p:txBody>
      </p:sp>
      <p:sp>
        <p:nvSpPr>
          <p:cNvPr id="9" name="Rounded Rectangle 8"/>
          <p:cNvSpPr/>
          <p:nvPr/>
        </p:nvSpPr>
        <p:spPr>
          <a:xfrm>
            <a:off x="731520" y="5166360"/>
            <a:ext cx="3246120" cy="8229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59" y="5212080"/>
            <a:ext cx="3108960" cy="777240"/>
          </a:xfrm>
          <a:prstGeom prst="rect">
            <a:avLst/>
          </a:prstGeom>
          <a:noFill/>
        </p:spPr>
        <p:txBody>
          <a:bodyPr wrap="square" lIns="45720" rIns="45720" anchor="ctr">
            <a:spAutoFit/>
          </a:bodyPr>
          <a:lstStyle/>
          <a:p>
            <a:pPr algn="l">
              <a:lnSpc>
                <a:spcPct val="108000"/>
              </a:lnSpc>
              <a:spcAft>
                <a:spcPts val="400"/>
              </a:spcAft>
            </a:pPr>
            <a:r>
              <a:rPr sz="1000" b="1" i="0">
                <a:solidFill>
                  <a:srgbClr val="0B2240"/>
                </a:solidFill>
                <a:latin typeface="Calibri"/>
              </a:rPr>
              <a:t>Output: an owned backlog of page and template improvements.</a:t>
            </a:r>
          </a:p>
        </p:txBody>
      </p:sp>
      <p:sp>
        <p:nvSpPr>
          <p:cNvPr id="11" name="Rounded Rectangle 10"/>
          <p:cNvSpPr/>
          <p:nvPr/>
        </p:nvSpPr>
        <p:spPr>
          <a:xfrm>
            <a:off x="4297679" y="1600200"/>
            <a:ext cx="3611880" cy="452628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480559" y="1691640"/>
            <a:ext cx="3291840" cy="320040"/>
          </a:xfrm>
          <a:prstGeom prst="rect">
            <a:avLst/>
          </a:prstGeom>
          <a:noFill/>
        </p:spPr>
        <p:txBody>
          <a:bodyPr wrap="square" lIns="45720" rIns="45720" anchor="t">
            <a:spAutoFit/>
          </a:bodyPr>
          <a:lstStyle/>
          <a:p>
            <a:pPr algn="l">
              <a:lnSpc>
                <a:spcPct val="108000"/>
              </a:lnSpc>
              <a:spcAft>
                <a:spcPts val="400"/>
              </a:spcAft>
            </a:pPr>
            <a:r>
              <a:rPr sz="1100" b="1" i="0">
                <a:solidFill>
                  <a:srgbClr val="C8102E"/>
                </a:solidFill>
                <a:latin typeface="Calibri"/>
              </a:rPr>
              <a:t>Priority 2</a:t>
            </a:r>
          </a:p>
        </p:txBody>
      </p:sp>
      <p:sp>
        <p:nvSpPr>
          <p:cNvPr id="13" name="TextBox 12"/>
          <p:cNvSpPr txBox="1"/>
          <p:nvPr/>
        </p:nvSpPr>
        <p:spPr>
          <a:xfrm>
            <a:off x="4480559" y="1938528"/>
            <a:ext cx="3291840" cy="365760"/>
          </a:xfrm>
          <a:prstGeom prst="rect">
            <a:avLst/>
          </a:prstGeom>
          <a:noFill/>
        </p:spPr>
        <p:txBody>
          <a:bodyPr wrap="square" lIns="45720" rIns="45720" anchor="t">
            <a:spAutoFit/>
          </a:bodyPr>
          <a:lstStyle/>
          <a:p>
            <a:pPr algn="l">
              <a:lnSpc>
                <a:spcPct val="108000"/>
              </a:lnSpc>
              <a:spcAft>
                <a:spcPts val="400"/>
              </a:spcAft>
            </a:pPr>
            <a:r>
              <a:rPr sz="1600" b="1" i="0">
                <a:solidFill>
                  <a:srgbClr val="0B2240"/>
                </a:solidFill>
                <a:latin typeface="Calibri"/>
              </a:rPr>
              <a:t>Implement</a:t>
            </a:r>
          </a:p>
        </p:txBody>
      </p:sp>
      <p:sp>
        <p:nvSpPr>
          <p:cNvPr id="14" name="TextBox 13"/>
          <p:cNvSpPr txBox="1"/>
          <p:nvPr/>
        </p:nvSpPr>
        <p:spPr>
          <a:xfrm>
            <a:off x="4480559" y="2377440"/>
            <a:ext cx="3291840" cy="2743200"/>
          </a:xfrm>
          <a:prstGeom prst="rect">
            <a:avLst/>
          </a:prstGeom>
          <a:noFill/>
        </p:spPr>
        <p:txBody>
          <a:bodyPr wrap="square" lIns="45720" rIns="45720" anchor="t">
            <a:spAutoFit/>
          </a:bodyPr>
          <a:lstStyle/>
          <a:p>
            <a:pPr marL="201168" indent="-182880" algn="l">
              <a:lnSpc>
                <a:spcPct val="108000"/>
              </a:lnSpc>
              <a:spcAft>
                <a:spcPts val="400"/>
              </a:spcAft>
              <a:buChar char="•"/>
            </a:pPr>
            <a:r>
              <a:rPr sz="1080" b="0" i="0">
                <a:solidFill>
                  <a:srgbClr val="1F2937"/>
                </a:solidFill>
                <a:latin typeface="Calibri"/>
              </a:rPr>
              <a:t>Make current offers, dates, fees and FAQ questions readable in page text. Use the tested labelled fact block where it fits the page.</a:t>
            </a:r>
          </a:p>
          <a:p>
            <a:pPr marL="201168" indent="-182880" algn="l">
              <a:lnSpc>
                <a:spcPct val="108000"/>
              </a:lnSpc>
              <a:spcAft>
                <a:spcPts val="400"/>
              </a:spcAft>
              <a:buChar char="•"/>
            </a:pPr>
            <a:r>
              <a:rPr sz="1080" b="0" i="0">
                <a:solidFill>
                  <a:srgbClr val="1F2937"/>
                </a:solidFill>
                <a:latin typeface="Calibri"/>
              </a:rPr>
              <a:t>Generate appropriate structured data from the same approved record. Preserve booking, store and expert pathways.</a:t>
            </a:r>
          </a:p>
          <a:p>
            <a:pPr marL="201168" indent="-182880" algn="l">
              <a:lnSpc>
                <a:spcPct val="108000"/>
              </a:lnSpc>
              <a:spcAft>
                <a:spcPts val="400"/>
              </a:spcAft>
              <a:buChar char="•"/>
            </a:pPr>
            <a:r>
              <a:rPr sz="1080" b="0" i="0">
                <a:solidFill>
                  <a:srgbClr val="1F2937"/>
                </a:solidFill>
                <a:latin typeface="Calibri"/>
              </a:rPr>
              <a:t>Complete normal pricing, content and release checks.</a:t>
            </a:r>
          </a:p>
        </p:txBody>
      </p:sp>
      <p:sp>
        <p:nvSpPr>
          <p:cNvPr id="15" name="Rounded Rectangle 14"/>
          <p:cNvSpPr/>
          <p:nvPr/>
        </p:nvSpPr>
        <p:spPr>
          <a:xfrm>
            <a:off x="4480559" y="5166360"/>
            <a:ext cx="3246120" cy="8229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571999" y="5212080"/>
            <a:ext cx="3108960" cy="777240"/>
          </a:xfrm>
          <a:prstGeom prst="rect">
            <a:avLst/>
          </a:prstGeom>
          <a:noFill/>
        </p:spPr>
        <p:txBody>
          <a:bodyPr wrap="square" lIns="45720" rIns="45720" anchor="ctr">
            <a:spAutoFit/>
          </a:bodyPr>
          <a:lstStyle/>
          <a:p>
            <a:pPr algn="l">
              <a:lnSpc>
                <a:spcPct val="108000"/>
              </a:lnSpc>
              <a:spcAft>
                <a:spcPts val="400"/>
              </a:spcAft>
            </a:pPr>
            <a:r>
              <a:rPr sz="1000" b="1" i="0">
                <a:solidFill>
                  <a:srgbClr val="0B2240"/>
                </a:solidFill>
                <a:latin typeface="Calibri"/>
              </a:rPr>
              <a:t>Output: published templates with readable, consistent commercial facts.</a:t>
            </a:r>
          </a:p>
        </p:txBody>
      </p:sp>
      <p:sp>
        <p:nvSpPr>
          <p:cNvPr id="17" name="Rounded Rectangle 16"/>
          <p:cNvSpPr/>
          <p:nvPr/>
        </p:nvSpPr>
        <p:spPr>
          <a:xfrm>
            <a:off x="8046719" y="1600200"/>
            <a:ext cx="3611880" cy="452628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229599" y="1691640"/>
            <a:ext cx="3291840" cy="320040"/>
          </a:xfrm>
          <a:prstGeom prst="rect">
            <a:avLst/>
          </a:prstGeom>
          <a:noFill/>
        </p:spPr>
        <p:txBody>
          <a:bodyPr wrap="square" lIns="45720" rIns="45720" anchor="t">
            <a:spAutoFit/>
          </a:bodyPr>
          <a:lstStyle/>
          <a:p>
            <a:pPr algn="l">
              <a:lnSpc>
                <a:spcPct val="108000"/>
              </a:lnSpc>
              <a:spcAft>
                <a:spcPts val="400"/>
              </a:spcAft>
            </a:pPr>
            <a:r>
              <a:rPr sz="1100" b="1" i="0">
                <a:solidFill>
                  <a:srgbClr val="C8102E"/>
                </a:solidFill>
                <a:latin typeface="Calibri"/>
              </a:rPr>
              <a:t>Priority 3</a:t>
            </a:r>
          </a:p>
        </p:txBody>
      </p:sp>
      <p:sp>
        <p:nvSpPr>
          <p:cNvPr id="19" name="TextBox 18"/>
          <p:cNvSpPr txBox="1"/>
          <p:nvPr/>
        </p:nvSpPr>
        <p:spPr>
          <a:xfrm>
            <a:off x="8229599" y="1938528"/>
            <a:ext cx="3291840" cy="365760"/>
          </a:xfrm>
          <a:prstGeom prst="rect">
            <a:avLst/>
          </a:prstGeom>
          <a:noFill/>
        </p:spPr>
        <p:txBody>
          <a:bodyPr wrap="square" lIns="45720" rIns="45720" anchor="t">
            <a:spAutoFit/>
          </a:bodyPr>
          <a:lstStyle/>
          <a:p>
            <a:pPr algn="l">
              <a:lnSpc>
                <a:spcPct val="108000"/>
              </a:lnSpc>
              <a:spcAft>
                <a:spcPts val="400"/>
              </a:spcAft>
            </a:pPr>
            <a:r>
              <a:rPr sz="1600" b="1" i="0">
                <a:solidFill>
                  <a:srgbClr val="0B2240"/>
                </a:solidFill>
                <a:latin typeface="Calibri"/>
              </a:rPr>
              <a:t>Monitor and maintain</a:t>
            </a:r>
          </a:p>
        </p:txBody>
      </p:sp>
      <p:sp>
        <p:nvSpPr>
          <p:cNvPr id="20" name="TextBox 19"/>
          <p:cNvSpPr txBox="1"/>
          <p:nvPr/>
        </p:nvSpPr>
        <p:spPr>
          <a:xfrm>
            <a:off x="8229599" y="2377440"/>
            <a:ext cx="3291840" cy="2743200"/>
          </a:xfrm>
          <a:prstGeom prst="rect">
            <a:avLst/>
          </a:prstGeom>
          <a:noFill/>
        </p:spPr>
        <p:txBody>
          <a:bodyPr wrap="square" lIns="45720" rIns="45720" anchor="t">
            <a:spAutoFit/>
          </a:bodyPr>
          <a:lstStyle/>
          <a:p>
            <a:pPr marL="201168" indent="-182880" algn="l">
              <a:lnSpc>
                <a:spcPct val="108000"/>
              </a:lnSpc>
              <a:spcAft>
                <a:spcPts val="400"/>
              </a:spcAft>
              <a:buChar char="•"/>
            </a:pPr>
            <a:r>
              <a:rPr sz="1080" b="0" i="0">
                <a:solidFill>
                  <a:srgbClr val="1F2937"/>
                </a:solidFill>
                <a:latin typeface="Calibri"/>
              </a:rPr>
              <a:t>Monitor page access, citations and brand mentions, alongside referred visits, enquiries and quotes.</a:t>
            </a:r>
          </a:p>
          <a:p>
            <a:pPr marL="201168" indent="-182880" algn="l">
              <a:lnSpc>
                <a:spcPct val="108000"/>
              </a:lnSpc>
              <a:spcAft>
                <a:spcPts val="400"/>
              </a:spcAft>
              <a:buChar char="•"/>
            </a:pPr>
            <a:r>
              <a:rPr sz="1080" b="0" i="0">
                <a:solidFill>
                  <a:srgbClr val="1F2937"/>
                </a:solidFill>
                <a:latin typeface="Calibri"/>
              </a:rPr>
              <a:t>Review changes over time using available platform reports and saved answer examples. Platform changes and seasonality also affect results.</a:t>
            </a:r>
          </a:p>
          <a:p>
            <a:pPr marL="201168" indent="-182880" algn="l">
              <a:lnSpc>
                <a:spcPct val="108000"/>
              </a:lnSpc>
              <a:spcAft>
                <a:spcPts val="400"/>
              </a:spcAft>
              <a:buChar char="•"/>
            </a:pPr>
            <a:r>
              <a:rPr sz="1080" b="0" i="0">
                <a:solidFill>
                  <a:srgbClr val="1F2937"/>
                </a:solidFill>
                <a:latin typeface="Calibri"/>
              </a:rPr>
              <a:t>Check sampled citations support their sentences and offers remain current.</a:t>
            </a:r>
          </a:p>
        </p:txBody>
      </p:sp>
      <p:sp>
        <p:nvSpPr>
          <p:cNvPr id="21" name="Rounded Rectangle 20"/>
          <p:cNvSpPr/>
          <p:nvPr/>
        </p:nvSpPr>
        <p:spPr>
          <a:xfrm>
            <a:off x="8229599" y="5166360"/>
            <a:ext cx="3246120" cy="8229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321040" y="5212080"/>
            <a:ext cx="3108960" cy="777240"/>
          </a:xfrm>
          <a:prstGeom prst="rect">
            <a:avLst/>
          </a:prstGeom>
          <a:noFill/>
        </p:spPr>
        <p:txBody>
          <a:bodyPr wrap="square" lIns="45720" rIns="45720" anchor="ctr">
            <a:spAutoFit/>
          </a:bodyPr>
          <a:lstStyle/>
          <a:p>
            <a:pPr algn="l">
              <a:lnSpc>
                <a:spcPct val="108000"/>
              </a:lnSpc>
              <a:spcAft>
                <a:spcPts val="400"/>
              </a:spcAft>
            </a:pPr>
            <a:r>
              <a:rPr sz="1000" b="1" i="0">
                <a:solidFill>
                  <a:srgbClr val="0B2240"/>
                </a:solidFill>
                <a:latin typeface="Calibri"/>
              </a:rPr>
              <a:t>Output: regular business reporting and an updated improvement backlog.</a:t>
            </a:r>
          </a:p>
        </p:txBody>
      </p:sp>
      <p:sp>
        <p:nvSpPr>
          <p:cNvPr id="23" name="TextBox 22"/>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Our completed experiment provides evidence for content improvement. FC does not need to reproduce our sandbox to implement these recommendations. Routine monitoring checks business progress; it does not by itself prove causation. Vendor visibility scores use different denominators and should not be compared directly with 52.4%.</a:t>
            </a:r>
          </a:p>
        </p:txBody>
      </p:sp>
      <p:sp>
        <p:nvSpPr>
          <p:cNvPr id="24" name="TextBox 23"/>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WHAT IF</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What if we invest, and what if we wait</a:t>
            </a:r>
          </a:p>
        </p:txBody>
      </p:sp>
      <p:sp>
        <p:nvSpPr>
          <p:cNvPr id="4" name="Rounded Rectangle 3"/>
          <p:cNvSpPr/>
          <p:nvPr/>
        </p:nvSpPr>
        <p:spPr>
          <a:xfrm>
            <a:off x="10049256" y="329184"/>
            <a:ext cx="1609344"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External signals</a:t>
            </a:r>
          </a:p>
        </p:txBody>
      </p:sp>
      <p:sp>
        <p:nvSpPr>
          <p:cNvPr id="5" name="Rounded Rectangle 4"/>
          <p:cNvSpPr/>
          <p:nvPr/>
        </p:nvSpPr>
        <p:spPr>
          <a:xfrm>
            <a:off x="8485632"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6" name="Rounded Rectangle 5"/>
          <p:cNvSpPr/>
          <p:nvPr/>
        </p:nvSpPr>
        <p:spPr>
          <a:xfrm>
            <a:off x="548640" y="1600200"/>
            <a:ext cx="5440680" cy="393192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1323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If FC works the pipeline</a:t>
            </a:r>
          </a:p>
        </p:txBody>
      </p:sp>
      <p:sp>
        <p:nvSpPr>
          <p:cNvPr id="8" name="TextBox 7"/>
          <p:cNvSpPr txBox="1"/>
          <p:nvPr/>
        </p:nvSpPr>
        <p:spPr>
          <a:xfrm>
            <a:off x="713232" y="2148840"/>
            <a:ext cx="5111496" cy="3218687"/>
          </a:xfrm>
          <a:prstGeom prst="rect">
            <a:avLst/>
          </a:prstGeom>
          <a:noFill/>
        </p:spPr>
        <p:txBody>
          <a:bodyPr wrap="square" lIns="45720" rIns="45720" anchor="t">
            <a:spAutoFit/>
          </a:bodyPr>
          <a:lstStyle/>
          <a:p>
            <a:pPr algn="l">
              <a:lnSpc>
                <a:spcPct val="108000"/>
              </a:lnSpc>
              <a:spcAft>
                <a:spcPts val="400"/>
              </a:spcAft>
            </a:pPr>
            <a:r>
              <a:rPr sz="1200" b="0" i="0">
                <a:solidFill>
                  <a:srgbClr val="1F2937"/>
                </a:solidFill>
                <a:latin typeface="Calibri"/>
              </a:rPr>
              <a:t>In our selected saved-source comparison, citations rose from 116 to 152 of 290 answers. This supports improving content, but does not forecast a live-platform uplift.</a:t>
            </a:r>
          </a:p>
          <a:p>
            <a:pPr algn="l">
              <a:lnSpc>
                <a:spcPct val="108000"/>
              </a:lnSpc>
              <a:spcBef>
                <a:spcPts val="600"/>
              </a:spcBef>
              <a:spcAft>
                <a:spcPts val="400"/>
              </a:spcAft>
            </a:pPr>
            <a:r>
              <a:rPr sz="1200" b="0" i="0">
                <a:solidFill>
                  <a:srgbClr val="1F2937"/>
                </a:solidFill>
                <a:latin typeface="Calibri"/>
              </a:rPr>
              <a:t>Deal, fare and fee facts become available without requiring JavaScript, not only browsers; holiday pages gain the structure route pages already have.</a:t>
            </a:r>
          </a:p>
          <a:p>
            <a:pPr algn="l">
              <a:lnSpc>
                <a:spcPct val="108000"/>
              </a:lnSpc>
              <a:spcBef>
                <a:spcPts val="600"/>
              </a:spcBef>
              <a:spcAft>
                <a:spcPts val="400"/>
              </a:spcAft>
            </a:pPr>
            <a:r>
              <a:rPr sz="1200" b="0" i="0">
                <a:solidFill>
                  <a:srgbClr val="1F2937"/>
                </a:solidFill>
                <a:latin typeface="Calibri"/>
              </a:rPr>
              <a:t>Leadership gets a monthly read of reached, cited and referred, with Search Console and Bing AI data, instead of anecdotes and screenshots.</a:t>
            </a:r>
          </a:p>
          <a:p>
            <a:pPr algn="l">
              <a:lnSpc>
                <a:spcPct val="108000"/>
              </a:lnSpc>
              <a:spcBef>
                <a:spcPts val="600"/>
              </a:spcBef>
              <a:spcAft>
                <a:spcPts val="400"/>
              </a:spcAft>
            </a:pPr>
            <a:r>
              <a:rPr sz="1200" b="0" i="0">
                <a:solidFill>
                  <a:srgbClr val="1F2937"/>
                </a:solidFill>
                <a:latin typeface="Calibri"/>
              </a:rPr>
              <a:t>The expert-and-store path becomes something an assistant can describe and route to, and any later connector decision (app, MCP, UCP) starts from a readable site.</a:t>
            </a:r>
          </a:p>
          <a:p>
            <a:pPr algn="l">
              <a:lnSpc>
                <a:spcPct val="108000"/>
              </a:lnSpc>
              <a:spcBef>
                <a:spcPts val="600"/>
              </a:spcBef>
              <a:spcAft>
                <a:spcPts val="400"/>
              </a:spcAft>
            </a:pPr>
            <a:r>
              <a:rPr sz="1200" b="0" i="0">
                <a:solidFill>
                  <a:srgbClr val="1F2937"/>
                </a:solidFill>
                <a:latin typeface="Calibri"/>
              </a:rPr>
              <a:t>Any future vendor spend can be judged against a real baseline.</a:t>
            </a:r>
          </a:p>
        </p:txBody>
      </p:sp>
      <p:sp>
        <p:nvSpPr>
          <p:cNvPr id="9" name="Rounded Rectangle 8"/>
          <p:cNvSpPr/>
          <p:nvPr/>
        </p:nvSpPr>
        <p:spPr>
          <a:xfrm>
            <a:off x="6217920" y="1600200"/>
            <a:ext cx="5440680" cy="393192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38251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If FC waits</a:t>
            </a:r>
          </a:p>
        </p:txBody>
      </p:sp>
      <p:sp>
        <p:nvSpPr>
          <p:cNvPr id="11" name="TextBox 10"/>
          <p:cNvSpPr txBox="1"/>
          <p:nvPr/>
        </p:nvSpPr>
        <p:spPr>
          <a:xfrm>
            <a:off x="6382512" y="2148840"/>
            <a:ext cx="5111496" cy="3218687"/>
          </a:xfrm>
          <a:prstGeom prst="rect">
            <a:avLst/>
          </a:prstGeom>
          <a:noFill/>
        </p:spPr>
        <p:txBody>
          <a:bodyPr wrap="square" lIns="45720" rIns="45720" anchor="t">
            <a:spAutoFit/>
          </a:bodyPr>
          <a:lstStyle/>
          <a:p>
            <a:pPr algn="l">
              <a:lnSpc>
                <a:spcPct val="108000"/>
              </a:lnSpc>
              <a:spcAft>
                <a:spcPts val="400"/>
              </a:spcAft>
            </a:pPr>
            <a:r>
              <a:rPr sz="1200" b="0" i="0">
                <a:solidFill>
                  <a:srgbClr val="1F2937"/>
                </a:solidFill>
                <a:latin typeface="Calibri"/>
              </a:rPr>
              <a:t>Unbranded questions keep being answered from aggregators, airlines, forums and competitors. In our snapshot, none of the eight 'why use a travel agent' questions returned an FC page in the top 10.</a:t>
            </a:r>
          </a:p>
          <a:p>
            <a:pPr algn="l">
              <a:lnSpc>
                <a:spcPct val="108000"/>
              </a:lnSpc>
              <a:spcBef>
                <a:spcPts val="600"/>
              </a:spcBef>
              <a:spcAft>
                <a:spcPts val="400"/>
              </a:spcAft>
            </a:pPr>
            <a:r>
              <a:rPr sz="1200" b="0" i="0">
                <a:solidFill>
                  <a:srgbClr val="1F2937"/>
                </a:solidFill>
                <a:latin typeface="Calibri"/>
              </a:rPr>
              <a:t>Deal cards stay invisible to fetchers that do not run JavaScript; holiday pages stay without structured data; unclear fare scope and freshness can confuse answer generation.</a:t>
            </a:r>
          </a:p>
          <a:p>
            <a:pPr algn="l">
              <a:lnSpc>
                <a:spcPct val="108000"/>
              </a:lnSpc>
              <a:spcBef>
                <a:spcPts val="600"/>
              </a:spcBef>
              <a:spcAft>
                <a:spcPts val="400"/>
              </a:spcAft>
            </a:pPr>
            <a:r>
              <a:rPr sz="1200" b="0" i="0">
                <a:solidFill>
                  <a:srgbClr val="1F2937"/>
                </a:solidFill>
                <a:latin typeface="Calibri"/>
              </a:rPr>
              <a:t>Expedia, Booking.com, Skyscanner and Virgin Australia already answer inside ChatGPT; Google's UCP is adding hotels. AI-referred travel traffic grew 119% in a year and FC's share of it is unmeasured.</a:t>
            </a:r>
          </a:p>
          <a:p>
            <a:pPr algn="l">
              <a:lnSpc>
                <a:spcPct val="108000"/>
              </a:lnSpc>
              <a:spcBef>
                <a:spcPts val="600"/>
              </a:spcBef>
              <a:spcAft>
                <a:spcPts val="400"/>
              </a:spcAft>
            </a:pPr>
            <a:r>
              <a:rPr sz="1200" b="1" i="0">
                <a:solidFill>
                  <a:srgbClr val="0B2240"/>
                </a:solidFill>
                <a:latin typeface="Calibri"/>
              </a:rPr>
              <a:t>The window is real: most travellers still use AI to research, not to book. It will not stay open indefinitely.</a:t>
            </a:r>
          </a:p>
        </p:txBody>
      </p:sp>
      <p:sp>
        <p:nvSpPr>
          <p:cNvPr id="12" name="TextBox 11"/>
          <p:cNvSpPr txBox="1"/>
          <p:nvPr/>
        </p:nvSpPr>
        <p:spPr>
          <a:xfrm>
            <a:off x="548640" y="5669280"/>
            <a:ext cx="11064240" cy="594360"/>
          </a:xfrm>
          <a:prstGeom prst="rect">
            <a:avLst/>
          </a:prstGeom>
          <a:noFill/>
        </p:spPr>
        <p:txBody>
          <a:bodyPr wrap="square" lIns="45720" rIns="45720" anchor="t">
            <a:spAutoFit/>
          </a:bodyPr>
          <a:lstStyle/>
          <a:p>
            <a:pPr algn="l">
              <a:lnSpc>
                <a:spcPct val="108000"/>
              </a:lnSpc>
              <a:spcAft>
                <a:spcPts val="400"/>
              </a:spcAft>
            </a:pPr>
            <a:r>
              <a:rPr sz="1150" b="0" i="0">
                <a:solidFill>
                  <a:srgbClr val="5B6573"/>
                </a:solidFill>
                <a:latin typeface="Calibri"/>
              </a:rPr>
              <a:t>What this is not: a traffic or revenue forecast. 52.4% is the content step in a controlled sandbox, not a live-platform prediction. Commercial value must be monitored separately through relevant visits, enquiries and bookings.</a:t>
            </a:r>
          </a:p>
        </p:txBody>
      </p:sp>
      <p:sp>
        <p:nvSpPr>
          <p:cNvPr id="13" name="TextBox 12"/>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Technical Report v1.1, Section 8.4 (36 more answers of 290); Brave snapshot Aug 2026 (questions Q23–Q30); Adobe Digital Insights (Aug 2026); competitor app launches as cited on slide 5.</a:t>
            </a:r>
          </a:p>
        </p:txBody>
      </p:sp>
      <p:sp>
        <p:nvSpPr>
          <p:cNvPr id="14" name="TextBox 13"/>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WHAT IF</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Four decisions we are asking for today</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548640" y="1600200"/>
            <a:ext cx="11109960" cy="9601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685800" y="1783080"/>
            <a:ext cx="594360" cy="594360"/>
          </a:xfrm>
          <a:prstGeom prst="ellipse">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85800" y="1783080"/>
            <a:ext cx="594360" cy="594360"/>
          </a:xfrm>
          <a:prstGeom prst="rect">
            <a:avLst/>
          </a:prstGeom>
          <a:noFill/>
        </p:spPr>
        <p:txBody>
          <a:bodyPr wrap="square" lIns="45720" rIns="45720" anchor="ctr">
            <a:spAutoFit/>
          </a:bodyPr>
          <a:lstStyle/>
          <a:p>
            <a:pPr algn="ctr">
              <a:lnSpc>
                <a:spcPct val="108000"/>
              </a:lnSpc>
              <a:spcAft>
                <a:spcPts val="400"/>
              </a:spcAft>
            </a:pPr>
            <a:r>
              <a:rPr sz="2000" b="1" i="0">
                <a:solidFill>
                  <a:srgbClr val="FFFFFF"/>
                </a:solidFill>
                <a:latin typeface="Calibri"/>
              </a:rPr>
              <a:t>1</a:t>
            </a:r>
          </a:p>
        </p:txBody>
      </p:sp>
      <p:sp>
        <p:nvSpPr>
          <p:cNvPr id="8" name="TextBox 7"/>
          <p:cNvSpPr txBox="1"/>
          <p:nvPr/>
        </p:nvSpPr>
        <p:spPr>
          <a:xfrm>
            <a:off x="1463040" y="1691640"/>
            <a:ext cx="10058400" cy="365760"/>
          </a:xfrm>
          <a:prstGeom prst="rect">
            <a:avLst/>
          </a:prstGeom>
          <a:noFill/>
        </p:spPr>
        <p:txBody>
          <a:bodyPr wrap="square" lIns="45720" rIns="45720" anchor="t">
            <a:spAutoFit/>
          </a:bodyPr>
          <a:lstStyle/>
          <a:p>
            <a:pPr algn="l">
              <a:lnSpc>
                <a:spcPct val="108000"/>
              </a:lnSpc>
              <a:spcAft>
                <a:spcPts val="400"/>
              </a:spcAft>
            </a:pPr>
            <a:r>
              <a:rPr sz="1450" b="1" i="0">
                <a:solidFill>
                  <a:srgbClr val="0B2240"/>
                </a:solidFill>
                <a:latin typeface="Calibri"/>
              </a:rPr>
              <a:t>Stand up measurement this month</a:t>
            </a:r>
          </a:p>
        </p:txBody>
      </p:sp>
      <p:sp>
        <p:nvSpPr>
          <p:cNvPr id="9" name="TextBox 8"/>
          <p:cNvSpPr txBox="1"/>
          <p:nvPr/>
        </p:nvSpPr>
        <p:spPr>
          <a:xfrm>
            <a:off x="1463040" y="2039112"/>
            <a:ext cx="10058400" cy="502920"/>
          </a:xfrm>
          <a:prstGeom prst="rect">
            <a:avLst/>
          </a:prstGeom>
          <a:noFill/>
        </p:spPr>
        <p:txBody>
          <a:bodyPr wrap="square" lIns="45720" rIns="45720" anchor="t">
            <a:spAutoFit/>
          </a:bodyPr>
          <a:lstStyle/>
          <a:p>
            <a:pPr algn="l">
              <a:lnSpc>
                <a:spcPct val="100000"/>
              </a:lnSpc>
              <a:spcAft>
                <a:spcPts val="400"/>
              </a:spcAft>
            </a:pPr>
            <a:r>
              <a:rPr sz="1150" b="0" i="0">
                <a:solidFill>
                  <a:srgbClr val="1F2937"/>
                </a:solidFill>
                <a:latin typeface="Calibri"/>
              </a:rPr>
              <a:t>Assign marketing analytics to available platform reports, referral outcomes and dated answer examples. Confirm reporting access and resource needs.</a:t>
            </a:r>
          </a:p>
        </p:txBody>
      </p:sp>
      <p:sp>
        <p:nvSpPr>
          <p:cNvPr id="10" name="Rounded Rectangle 9"/>
          <p:cNvSpPr/>
          <p:nvPr/>
        </p:nvSpPr>
        <p:spPr>
          <a:xfrm>
            <a:off x="548640" y="2651760"/>
            <a:ext cx="11109960" cy="9601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685800" y="2834640"/>
            <a:ext cx="594360" cy="594360"/>
          </a:xfrm>
          <a:prstGeom prst="ellipse">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85800" y="2834640"/>
            <a:ext cx="594360" cy="594360"/>
          </a:xfrm>
          <a:prstGeom prst="rect">
            <a:avLst/>
          </a:prstGeom>
          <a:noFill/>
        </p:spPr>
        <p:txBody>
          <a:bodyPr wrap="square" lIns="45720" rIns="45720" anchor="ctr">
            <a:spAutoFit/>
          </a:bodyPr>
          <a:lstStyle/>
          <a:p>
            <a:pPr algn="ctr">
              <a:lnSpc>
                <a:spcPct val="108000"/>
              </a:lnSpc>
              <a:spcAft>
                <a:spcPts val="400"/>
              </a:spcAft>
            </a:pPr>
            <a:r>
              <a:rPr sz="2000" b="1" i="0">
                <a:solidFill>
                  <a:srgbClr val="FFFFFF"/>
                </a:solidFill>
                <a:latin typeface="Calibri"/>
              </a:rPr>
              <a:t>2</a:t>
            </a:r>
          </a:p>
        </p:txBody>
      </p:sp>
      <p:sp>
        <p:nvSpPr>
          <p:cNvPr id="13" name="TextBox 12"/>
          <p:cNvSpPr txBox="1"/>
          <p:nvPr/>
        </p:nvSpPr>
        <p:spPr>
          <a:xfrm>
            <a:off x="1463040" y="2743200"/>
            <a:ext cx="10058400" cy="365760"/>
          </a:xfrm>
          <a:prstGeom prst="rect">
            <a:avLst/>
          </a:prstGeom>
          <a:noFill/>
        </p:spPr>
        <p:txBody>
          <a:bodyPr wrap="square" lIns="45720" rIns="45720" anchor="t">
            <a:spAutoFit/>
          </a:bodyPr>
          <a:lstStyle/>
          <a:p>
            <a:pPr algn="l">
              <a:lnSpc>
                <a:spcPct val="108000"/>
              </a:lnSpc>
              <a:spcAft>
                <a:spcPts val="400"/>
              </a:spcAft>
            </a:pPr>
            <a:r>
              <a:rPr sz="1450" b="1" i="0">
                <a:solidFill>
                  <a:srgbClr val="0B2240"/>
                </a:solidFill>
                <a:latin typeface="Calibri"/>
              </a:rPr>
              <a:t>Nominate engineering and content owners for a bounded build</a:t>
            </a:r>
          </a:p>
        </p:txBody>
      </p:sp>
      <p:sp>
        <p:nvSpPr>
          <p:cNvPr id="14" name="TextBox 13"/>
          <p:cNvSpPr txBox="1"/>
          <p:nvPr/>
        </p:nvSpPr>
        <p:spPr>
          <a:xfrm>
            <a:off x="1463040" y="3090672"/>
            <a:ext cx="10058400" cy="502920"/>
          </a:xfrm>
          <a:prstGeom prst="rect">
            <a:avLst/>
          </a:prstGeom>
          <a:noFill/>
        </p:spPr>
        <p:txBody>
          <a:bodyPr wrap="square" lIns="45720" rIns="45720" anchor="t">
            <a:spAutoFit/>
          </a:bodyPr>
          <a:lstStyle/>
          <a:p>
            <a:pPr algn="l">
              <a:lnSpc>
                <a:spcPct val="100000"/>
              </a:lnSpc>
              <a:spcAft>
                <a:spcPts val="400"/>
              </a:spcAft>
            </a:pPr>
            <a:r>
              <a:rPr sz="1150" b="0" i="0">
                <a:solidFill>
                  <a:srgbClr val="1F2937"/>
                </a:solidFill>
                <a:latin typeface="Calibri"/>
              </a:rPr>
              <a:t>Server-rendered commercial facts, the fare-and-fee block and FAQ text on a bounded set of route pages, plus JSON-LD and destination FAQs on two holiday templates.</a:t>
            </a:r>
          </a:p>
        </p:txBody>
      </p:sp>
      <p:sp>
        <p:nvSpPr>
          <p:cNvPr id="15" name="Rounded Rectangle 14"/>
          <p:cNvSpPr/>
          <p:nvPr/>
        </p:nvSpPr>
        <p:spPr>
          <a:xfrm>
            <a:off x="548640" y="3703320"/>
            <a:ext cx="11109960" cy="9601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85800" y="3886200"/>
            <a:ext cx="594360" cy="594360"/>
          </a:xfrm>
          <a:prstGeom prst="ellipse">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85800" y="3886200"/>
            <a:ext cx="594360" cy="594360"/>
          </a:xfrm>
          <a:prstGeom prst="rect">
            <a:avLst/>
          </a:prstGeom>
          <a:noFill/>
        </p:spPr>
        <p:txBody>
          <a:bodyPr wrap="square" lIns="45720" rIns="45720" anchor="ctr">
            <a:spAutoFit/>
          </a:bodyPr>
          <a:lstStyle/>
          <a:p>
            <a:pPr algn="ctr">
              <a:lnSpc>
                <a:spcPct val="108000"/>
              </a:lnSpc>
              <a:spcAft>
                <a:spcPts val="400"/>
              </a:spcAft>
            </a:pPr>
            <a:r>
              <a:rPr sz="2000" b="1" i="0">
                <a:solidFill>
                  <a:srgbClr val="FFFFFF"/>
                </a:solidFill>
                <a:latin typeface="Calibri"/>
              </a:rPr>
              <a:t>3</a:t>
            </a:r>
          </a:p>
        </p:txBody>
      </p:sp>
      <p:sp>
        <p:nvSpPr>
          <p:cNvPr id="18" name="TextBox 17"/>
          <p:cNvSpPr txBox="1"/>
          <p:nvPr/>
        </p:nvSpPr>
        <p:spPr>
          <a:xfrm>
            <a:off x="1463040" y="3794759"/>
            <a:ext cx="10058400" cy="365760"/>
          </a:xfrm>
          <a:prstGeom prst="rect">
            <a:avLst/>
          </a:prstGeom>
          <a:noFill/>
        </p:spPr>
        <p:txBody>
          <a:bodyPr wrap="square" lIns="45720" rIns="45720" anchor="t">
            <a:spAutoFit/>
          </a:bodyPr>
          <a:lstStyle/>
          <a:p>
            <a:pPr algn="l">
              <a:lnSpc>
                <a:spcPct val="108000"/>
              </a:lnSpc>
              <a:spcAft>
                <a:spcPts val="400"/>
              </a:spcAft>
            </a:pPr>
            <a:r>
              <a:rPr sz="1450" b="1" i="0">
                <a:solidFill>
                  <a:srgbClr val="0B2240"/>
                </a:solidFill>
                <a:latin typeface="Calibri"/>
              </a:rPr>
              <a:t>Treat offer integrity as a product requirement</a:t>
            </a:r>
          </a:p>
        </p:txBody>
      </p:sp>
      <p:sp>
        <p:nvSpPr>
          <p:cNvPr id="19" name="TextBox 18"/>
          <p:cNvSpPr txBox="1"/>
          <p:nvPr/>
        </p:nvSpPr>
        <p:spPr>
          <a:xfrm>
            <a:off x="1463040" y="4142231"/>
            <a:ext cx="10058400" cy="502920"/>
          </a:xfrm>
          <a:prstGeom prst="rect">
            <a:avLst/>
          </a:prstGeom>
          <a:noFill/>
        </p:spPr>
        <p:txBody>
          <a:bodyPr wrap="square" lIns="45720" rIns="45720" anchor="t">
            <a:spAutoFit/>
          </a:bodyPr>
          <a:lstStyle/>
          <a:p>
            <a:pPr algn="l">
              <a:lnSpc>
                <a:spcPct val="100000"/>
              </a:lnSpc>
              <a:spcAft>
                <a:spcPts val="400"/>
              </a:spcAft>
            </a:pPr>
            <a:r>
              <a:rPr sz="1150" b="0" i="0">
                <a:solidFill>
                  <a:srgbClr val="1F2937"/>
                </a:solidFill>
                <a:latin typeface="Calibri"/>
              </a:rPr>
              <a:t>One fare record feeding page, block and schema, with a staleness window and pricing/legal sign-off. This supports accurate customer information; it does not guarantee citations or legal compliance.</a:t>
            </a:r>
          </a:p>
        </p:txBody>
      </p:sp>
      <p:sp>
        <p:nvSpPr>
          <p:cNvPr id="20" name="Rounded Rectangle 19"/>
          <p:cNvSpPr/>
          <p:nvPr/>
        </p:nvSpPr>
        <p:spPr>
          <a:xfrm>
            <a:off x="548640" y="4754879"/>
            <a:ext cx="11109960" cy="9601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685800" y="4937759"/>
            <a:ext cx="594360" cy="594360"/>
          </a:xfrm>
          <a:prstGeom prst="ellipse">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85800" y="4937759"/>
            <a:ext cx="594360" cy="594360"/>
          </a:xfrm>
          <a:prstGeom prst="rect">
            <a:avLst/>
          </a:prstGeom>
          <a:noFill/>
        </p:spPr>
        <p:txBody>
          <a:bodyPr wrap="square" lIns="45720" rIns="45720" anchor="ctr">
            <a:spAutoFit/>
          </a:bodyPr>
          <a:lstStyle/>
          <a:p>
            <a:pPr algn="ctr">
              <a:lnSpc>
                <a:spcPct val="108000"/>
              </a:lnSpc>
              <a:spcAft>
                <a:spcPts val="400"/>
              </a:spcAft>
            </a:pPr>
            <a:r>
              <a:rPr sz="2000" b="1" i="0">
                <a:solidFill>
                  <a:srgbClr val="FFFFFF"/>
                </a:solidFill>
                <a:latin typeface="Calibri"/>
              </a:rPr>
              <a:t>4</a:t>
            </a:r>
          </a:p>
        </p:txBody>
      </p:sp>
      <p:sp>
        <p:nvSpPr>
          <p:cNvPr id="23" name="TextBox 22"/>
          <p:cNvSpPr txBox="1"/>
          <p:nvPr/>
        </p:nvSpPr>
        <p:spPr>
          <a:xfrm>
            <a:off x="1463040" y="4846319"/>
            <a:ext cx="10058400" cy="365760"/>
          </a:xfrm>
          <a:prstGeom prst="rect">
            <a:avLst/>
          </a:prstGeom>
          <a:noFill/>
        </p:spPr>
        <p:txBody>
          <a:bodyPr wrap="square" lIns="45720" rIns="45720" anchor="t">
            <a:spAutoFit/>
          </a:bodyPr>
          <a:lstStyle/>
          <a:p>
            <a:pPr algn="l">
              <a:lnSpc>
                <a:spcPct val="108000"/>
              </a:lnSpc>
              <a:spcAft>
                <a:spcPts val="400"/>
              </a:spcAft>
            </a:pPr>
            <a:r>
              <a:rPr sz="1450" b="1" i="0">
                <a:solidFill>
                  <a:srgbClr val="0B2240"/>
                </a:solidFill>
                <a:latin typeface="Calibri"/>
              </a:rPr>
              <a:t>Review business outcomes and prioritise further investment</a:t>
            </a:r>
          </a:p>
        </p:txBody>
      </p:sp>
      <p:sp>
        <p:nvSpPr>
          <p:cNvPr id="24" name="TextBox 23"/>
          <p:cNvSpPr txBox="1"/>
          <p:nvPr/>
        </p:nvSpPr>
        <p:spPr>
          <a:xfrm>
            <a:off x="1463040" y="5193792"/>
            <a:ext cx="10058400" cy="502920"/>
          </a:xfrm>
          <a:prstGeom prst="rect">
            <a:avLst/>
          </a:prstGeom>
          <a:noFill/>
        </p:spPr>
        <p:txBody>
          <a:bodyPr wrap="square" lIns="45720" rIns="45720" anchor="t">
            <a:spAutoFit/>
          </a:bodyPr>
          <a:lstStyle/>
          <a:p>
            <a:pPr algn="l">
              <a:lnSpc>
                <a:spcPct val="100000"/>
              </a:lnSpc>
              <a:spcAft>
                <a:spcPts val="400"/>
              </a:spcAft>
            </a:pPr>
            <a:r>
              <a:rPr sz="1150" b="0" i="0">
                <a:solidFill>
                  <a:srgbClr val="1F2937"/>
                </a:solidFill>
                <a:latin typeface="Calibri"/>
              </a:rPr>
              <a:t>Review access, content quality, citations and customer enquiries. Assess vendors and app/API integrations on their own business cases; repeating our sandbox is not a prerequisite.</a:t>
            </a:r>
          </a:p>
        </p:txBody>
      </p:sp>
      <p:sp>
        <p:nvSpPr>
          <p:cNvPr id="25" name="TextBox 24"/>
          <p:cNvSpPr txBox="1"/>
          <p:nvPr/>
        </p:nvSpPr>
        <p:spPr>
          <a:xfrm>
            <a:off x="548640" y="5852160"/>
            <a:ext cx="11064240" cy="457200"/>
          </a:xfrm>
          <a:prstGeom prst="rect">
            <a:avLst/>
          </a:prstGeom>
          <a:noFill/>
        </p:spPr>
        <p:txBody>
          <a:bodyPr wrap="square" lIns="45720" rIns="45720" anchor="t">
            <a:spAutoFit/>
          </a:bodyPr>
          <a:lstStyle/>
          <a:p>
            <a:pPr algn="l">
              <a:lnSpc>
                <a:spcPct val="108000"/>
              </a:lnSpc>
              <a:spcAft>
                <a:spcPts val="400"/>
              </a:spcAft>
            </a:pPr>
            <a:r>
              <a:rPr sz="1100" b="0" i="0">
                <a:solidFill>
                  <a:srgbClr val="5B6573"/>
                </a:solidFill>
                <a:latin typeface="Calibri"/>
              </a:rPr>
              <a:t>Everything needed to continue without the team is in the handover: the sandbox code, 52 page pairs with fingerprints, every saved answer, the offline recount scripts, and the Technical Report and Handover Guide v1.1 with this evidence base.</a:t>
            </a:r>
          </a:p>
        </p:txBody>
      </p:sp>
      <p:sp>
        <p:nvSpPr>
          <p:cNvPr id="26" name="TextBox 25"/>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1188720"/>
            <a:ext cx="10515600" cy="2011680"/>
          </a:xfrm>
          <a:prstGeom prst="rect">
            <a:avLst/>
          </a:prstGeom>
          <a:noFill/>
        </p:spPr>
        <p:txBody>
          <a:bodyPr wrap="square" lIns="45720" rIns="45720" anchor="t">
            <a:spAutoFit/>
          </a:bodyPr>
          <a:lstStyle/>
          <a:p>
            <a:pPr algn="l">
              <a:lnSpc>
                <a:spcPct val="100000"/>
              </a:lnSpc>
              <a:spcAft>
                <a:spcPts val="400"/>
              </a:spcAft>
            </a:pPr>
            <a:r>
              <a:rPr sz="3800" b="1" i="0">
                <a:solidFill>
                  <a:srgbClr val="FFFFFF"/>
                </a:solidFill>
                <a:latin typeface="Calibri"/>
              </a:rPr>
              <a:t>Readable, useful content gives FC a stronger opportunity to be cited.</a:t>
            </a:r>
          </a:p>
          <a:p>
            <a:pPr algn="l">
              <a:lnSpc>
                <a:spcPct val="100000"/>
              </a:lnSpc>
              <a:spcAft>
                <a:spcPts val="400"/>
              </a:spcAft>
            </a:pPr>
            <a:r>
              <a:rPr sz="3800" b="1" i="0">
                <a:solidFill>
                  <a:srgbClr val="FF8A99"/>
                </a:solidFill>
                <a:latin typeface="Calibri"/>
              </a:rPr>
              <a:t>Our selected comparison: 40.0% to 52.4% citation inclusion.</a:t>
            </a:r>
          </a:p>
        </p:txBody>
      </p:sp>
      <p:sp>
        <p:nvSpPr>
          <p:cNvPr id="4" name="TextBox 3"/>
          <p:cNvSpPr txBox="1"/>
          <p:nvPr/>
        </p:nvSpPr>
        <p:spPr>
          <a:xfrm>
            <a:off x="822960" y="3566160"/>
            <a:ext cx="10332720" cy="1463040"/>
          </a:xfrm>
          <a:prstGeom prst="rect">
            <a:avLst/>
          </a:prstGeom>
          <a:noFill/>
        </p:spPr>
        <p:txBody>
          <a:bodyPr wrap="square" lIns="45720" rIns="45720" anchor="t">
            <a:spAutoFit/>
          </a:bodyPr>
          <a:lstStyle/>
          <a:p>
            <a:pPr algn="l">
              <a:lnSpc>
                <a:spcPct val="108000"/>
              </a:lnSpc>
              <a:spcAft>
                <a:spcPts val="400"/>
              </a:spcAft>
            </a:pPr>
            <a:r>
              <a:rPr sz="1800" b="0" i="0">
                <a:solidFill>
                  <a:srgbClr val="C9D6EA"/>
                </a:solidFill>
                <a:latin typeface="Calibri"/>
              </a:rPr>
              <a:t>The work is therefore: measure, make the facts fetchable, apply the tested content pattern where appropriate, keep one fare truth, earn mentions, make the expert path machine-readable, and monitor real customer outcomes.</a:t>
            </a:r>
          </a:p>
        </p:txBody>
      </p:sp>
      <p:sp>
        <p:nvSpPr>
          <p:cNvPr id="5" name="TextBox 4"/>
          <p:cNvSpPr txBox="1"/>
          <p:nvPr/>
        </p:nvSpPr>
        <p:spPr>
          <a:xfrm>
            <a:off x="822960" y="5303520"/>
            <a:ext cx="10332720" cy="822960"/>
          </a:xfrm>
          <a:prstGeom prst="rect">
            <a:avLst/>
          </a:prstGeom>
          <a:noFill/>
        </p:spPr>
        <p:txBody>
          <a:bodyPr wrap="square" lIns="45720" rIns="45720" anchor="t">
            <a:spAutoFit/>
          </a:bodyPr>
          <a:lstStyle/>
          <a:p>
            <a:pPr algn="l">
              <a:lnSpc>
                <a:spcPct val="108000"/>
              </a:lnSpc>
              <a:spcAft>
                <a:spcPts val="400"/>
              </a:spcAft>
            </a:pPr>
            <a:r>
              <a:rPr sz="1200" b="0" i="0">
                <a:solidFill>
                  <a:srgbClr val="FFFFFF"/>
                </a:solidFill>
                <a:latin typeface="Calibri"/>
              </a:rPr>
              <a:t>Team 62 (Signal Six), Queensland University of Technology  ·  github.com/muhammadmubbashar/GEO--Generative-Engine-Optimisation</a:t>
            </a:r>
          </a:p>
          <a:p>
            <a:pPr algn="l">
              <a:lnSpc>
                <a:spcPct val="108000"/>
              </a:lnSpc>
              <a:spcAft>
                <a:spcPts val="400"/>
              </a:spcAft>
            </a:pPr>
            <a:r>
              <a:rPr sz="1100" b="0" i="0">
                <a:solidFill>
                  <a:srgbClr val="9FB3CC"/>
                </a:solidFill>
                <a:latin typeface="Calibri"/>
              </a:rPr>
              <a:t>Hidden backup slides follow: experiment statistics, live inspection, research sources, method catalogue, glossary.</a:t>
            </a:r>
          </a:p>
        </p:txBody>
      </p:sp>
      <p:sp>
        <p:nvSpPr>
          <p:cNvPr id="6" name="TextBox 5"/>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9FB3CC"/>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BACKUP (HIDDEN) · FOR Q&amp;A</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400" b="1" i="0">
                <a:solidFill>
                  <a:srgbClr val="0B2240"/>
                </a:solidFill>
                <a:latin typeface="Calibri"/>
              </a:rPr>
              <a:t>Backup: experiment statistics</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graphicFrame>
        <p:nvGraphicFramePr>
          <p:cNvPr id="5" name="Table 4"/>
          <p:cNvGraphicFramePr>
            <a:graphicFrameLocks noGrp="1"/>
          </p:cNvGraphicFramePr>
          <p:nvPr/>
        </p:nvGraphicFramePr>
        <p:xfrm>
          <a:off x="548640" y="1600200"/>
          <a:ext cx="11109960" cy="4206235"/>
        </p:xfrm>
        <a:graphic>
          <a:graphicData uri="http://schemas.openxmlformats.org/drawingml/2006/table">
            <a:tbl>
              <a:tblPr/>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382385">
                <a:tc>
                  <a:txBody>
                    <a:bodyPr/>
                    <a:lstStyle/>
                    <a:p>
                      <a:r>
                        <a:rPr sz="1050" b="1" i="0">
                          <a:solidFill>
                            <a:srgbClr val="FFFFFF"/>
                          </a:solidFill>
                          <a:latin typeface="Calibri"/>
                        </a:rPr>
                        <a:t>Quantity</a:t>
                      </a:r>
                    </a:p>
                  </a:txBody>
                  <a:tcPr marL="64008" marR="64008" marT="36576" marB="36576" anchor="ctr">
                    <a:solidFill>
                      <a:srgbClr val="0B2240"/>
                    </a:solidFill>
                  </a:tcPr>
                </a:tc>
                <a:tc>
                  <a:txBody>
                    <a:bodyPr/>
                    <a:lstStyle/>
                    <a:p>
                      <a:r>
                        <a:rPr sz="1050" b="1" i="0">
                          <a:solidFill>
                            <a:srgbClr val="FFFFFF"/>
                          </a:solidFill>
                          <a:latin typeface="Calibri"/>
                        </a:rPr>
                        <a:t>Value</a:t>
                      </a:r>
                    </a:p>
                  </a:txBody>
                  <a:tcPr marL="64008" marR="64008" marT="36576" marB="36576" anchor="ctr">
                    <a:solidFill>
                      <a:srgbClr val="0B2240"/>
                    </a:solidFill>
                  </a:tcPr>
                </a:tc>
                <a:extLst>
                  <a:ext uri="{0D108BD9-81ED-4DB2-BD59-A6C34878D82A}">
                    <a16:rowId xmlns:a16="http://schemas.microsoft.com/office/drawing/2014/main" val="10000"/>
                  </a:ext>
                </a:extLst>
              </a:tr>
              <a:tr h="382385">
                <a:tc>
                  <a:txBody>
                    <a:bodyPr/>
                    <a:lstStyle/>
                    <a:p>
                      <a:r>
                        <a:rPr sz="1000" b="0" i="0">
                          <a:solidFill>
                            <a:srgbClr val="1F2937"/>
                          </a:solidFill>
                          <a:latin typeface="Calibri"/>
                        </a:rPr>
                        <a:t>Snapshot</a:t>
                      </a:r>
                    </a:p>
                  </a:txBody>
                  <a:tcPr marL="64008" marR="64008" marT="36576" marB="36576">
                    <a:solidFill>
                      <a:srgbClr val="FFFFFF"/>
                    </a:solidFill>
                  </a:tcPr>
                </a:tc>
                <a:tc>
                  <a:txBody>
                    <a:bodyPr/>
                    <a:lstStyle/>
                    <a:p>
                      <a:r>
                        <a:rPr sz="1000" b="0" i="0">
                          <a:solidFill>
                            <a:srgbClr val="1F2937"/>
                          </a:solidFill>
                          <a:latin typeface="Calibri"/>
                        </a:rPr>
                        <a:t>Brave Search AU, August 2026; 50 questions × 3 wordings; top 20 captured, top 10 analysed; 953 pages, 688 usable</a:t>
                      </a:r>
                    </a:p>
                  </a:txBody>
                  <a:tcPr marL="64008" marR="64008" marT="36576" marB="36576">
                    <a:solidFill>
                      <a:srgbClr val="FFFFFF"/>
                    </a:solidFill>
                  </a:tcPr>
                </a:tc>
                <a:extLst>
                  <a:ext uri="{0D108BD9-81ED-4DB2-BD59-A6C34878D82A}">
                    <a16:rowId xmlns:a16="http://schemas.microsoft.com/office/drawing/2014/main" val="10001"/>
                  </a:ext>
                </a:extLst>
              </a:tr>
              <a:tr h="382385">
                <a:tc>
                  <a:txBody>
                    <a:bodyPr/>
                    <a:lstStyle/>
                    <a:p>
                      <a:r>
                        <a:rPr sz="1000" b="0" i="0">
                          <a:solidFill>
                            <a:srgbClr val="1F2937"/>
                          </a:solidFill>
                          <a:latin typeface="Calibri"/>
                        </a:rPr>
                        <a:t>Main (fixed) setup</a:t>
                      </a:r>
                    </a:p>
                  </a:txBody>
                  <a:tcPr marL="64008" marR="64008" marT="36576" marB="36576">
                    <a:solidFill>
                      <a:srgbClr val="F3F5F8"/>
                    </a:solidFill>
                  </a:tcPr>
                </a:tc>
                <a:tc>
                  <a:txBody>
                    <a:bodyPr/>
                    <a:lstStyle/>
                    <a:p>
                      <a:r>
                        <a:rPr sz="1000" b="0" i="0">
                          <a:solidFill>
                            <a:srgbClr val="1F2937"/>
                          </a:solidFill>
                          <a:latin typeface="Calibri"/>
                        </a:rPr>
                        <a:t>29 eligible flight questions with FC in the saved source pool; whole page text up to 24,000 characters per source; 2 source orders × 5 repeats = 290 answers per version</a:t>
                      </a:r>
                    </a:p>
                  </a:txBody>
                  <a:tcPr marL="64008" marR="64008" marT="36576" marB="36576">
                    <a:solidFill>
                      <a:srgbClr val="F3F5F8"/>
                    </a:solidFill>
                  </a:tcPr>
                </a:tc>
                <a:extLst>
                  <a:ext uri="{0D108BD9-81ED-4DB2-BD59-A6C34878D82A}">
                    <a16:rowId xmlns:a16="http://schemas.microsoft.com/office/drawing/2014/main" val="10002"/>
                  </a:ext>
                </a:extLst>
              </a:tr>
              <a:tr h="382385">
                <a:tc>
                  <a:txBody>
                    <a:bodyPr/>
                    <a:lstStyle/>
                    <a:p>
                      <a:r>
                        <a:rPr sz="1000" b="0" i="0">
                          <a:solidFill>
                            <a:srgbClr val="1F2937"/>
                          </a:solidFill>
                          <a:latin typeface="Calibri"/>
                        </a:rPr>
                        <a:t>Model and prompt</a:t>
                      </a:r>
                    </a:p>
                  </a:txBody>
                  <a:tcPr marL="64008" marR="64008" marT="36576" marB="36576">
                    <a:solidFill>
                      <a:srgbClr val="FFFFFF"/>
                    </a:solidFill>
                  </a:tcPr>
                </a:tc>
                <a:tc>
                  <a:txBody>
                    <a:bodyPr/>
                    <a:lstStyle/>
                    <a:p>
                      <a:r>
                        <a:rPr sz="1000" b="0" i="0">
                          <a:solidFill>
                            <a:srgbClr val="1F2937"/>
                          </a:solidFill>
                          <a:latin typeface="Calibri"/>
                        </a:rPr>
                        <a:t>OpenAI gpt-5.6-luna, provider defaults; GEO-paper prompt ('cite using [index]'); no internet access during answering</a:t>
                      </a:r>
                    </a:p>
                  </a:txBody>
                  <a:tcPr marL="64008" marR="64008" marT="36576" marB="36576">
                    <a:solidFill>
                      <a:srgbClr val="FFFFFF"/>
                    </a:solidFill>
                  </a:tcPr>
                </a:tc>
                <a:extLst>
                  <a:ext uri="{0D108BD9-81ED-4DB2-BD59-A6C34878D82A}">
                    <a16:rowId xmlns:a16="http://schemas.microsoft.com/office/drawing/2014/main" val="10003"/>
                  </a:ext>
                </a:extLst>
              </a:tr>
              <a:tr h="382385">
                <a:tc>
                  <a:txBody>
                    <a:bodyPr/>
                    <a:lstStyle/>
                    <a:p>
                      <a:r>
                        <a:rPr sz="1000" b="0" i="0">
                          <a:solidFill>
                            <a:srgbClr val="1F2937"/>
                          </a:solidFill>
                          <a:latin typeface="Calibri"/>
                        </a:rPr>
                        <a:t>Original pages</a:t>
                      </a:r>
                    </a:p>
                  </a:txBody>
                  <a:tcPr marL="64008" marR="64008" marT="36576" marB="36576">
                    <a:solidFill>
                      <a:srgbClr val="F3F5F8"/>
                    </a:solidFill>
                  </a:tcPr>
                </a:tc>
                <a:tc>
                  <a:txBody>
                    <a:bodyPr/>
                    <a:lstStyle/>
                    <a:p>
                      <a:r>
                        <a:rPr sz="1000" b="0" i="0">
                          <a:solidFill>
                            <a:srgbClr val="1F2937"/>
                          </a:solidFill>
                          <a:latin typeface="Calibri"/>
                        </a:rPr>
                        <a:t>116 / 290 = 40.0%</a:t>
                      </a:r>
                    </a:p>
                  </a:txBody>
                  <a:tcPr marL="64008" marR="64008" marT="36576" marB="36576">
                    <a:solidFill>
                      <a:srgbClr val="F3F5F8"/>
                    </a:solidFill>
                  </a:tcPr>
                </a:tc>
                <a:extLst>
                  <a:ext uri="{0D108BD9-81ED-4DB2-BD59-A6C34878D82A}">
                    <a16:rowId xmlns:a16="http://schemas.microsoft.com/office/drawing/2014/main" val="10004"/>
                  </a:ext>
                </a:extLst>
              </a:tr>
              <a:tr h="382385">
                <a:tc>
                  <a:txBody>
                    <a:bodyPr/>
                    <a:lstStyle/>
                    <a:p>
                      <a:r>
                        <a:rPr sz="1000" b="0" i="0">
                          <a:solidFill>
                            <a:srgbClr val="1F2937"/>
                          </a:solidFill>
                          <a:latin typeface="Calibri"/>
                        </a:rPr>
                        <a:t>Optimised pages</a:t>
                      </a:r>
                    </a:p>
                  </a:txBody>
                  <a:tcPr marL="64008" marR="64008" marT="36576" marB="36576">
                    <a:solidFill>
                      <a:srgbClr val="FFFFFF"/>
                    </a:solidFill>
                  </a:tcPr>
                </a:tc>
                <a:tc>
                  <a:txBody>
                    <a:bodyPr/>
                    <a:lstStyle/>
                    <a:p>
                      <a:r>
                        <a:rPr sz="1000" b="0" i="0">
                          <a:solidFill>
                            <a:srgbClr val="1F2937"/>
                          </a:solidFill>
                          <a:latin typeface="Calibri"/>
                        </a:rPr>
                        <a:t>152 / 290 = 52.4%; +12.4 points; 95% interval +5.2 to +20.0; 21 up / 6 down / 2 same</a:t>
                      </a:r>
                    </a:p>
                  </a:txBody>
                  <a:tcPr marL="64008" marR="64008" marT="36576" marB="36576">
                    <a:solidFill>
                      <a:srgbClr val="FFFFFF"/>
                    </a:solidFill>
                  </a:tcPr>
                </a:tc>
                <a:extLst>
                  <a:ext uri="{0D108BD9-81ED-4DB2-BD59-A6C34878D82A}">
                    <a16:rowId xmlns:a16="http://schemas.microsoft.com/office/drawing/2014/main" val="10005"/>
                  </a:ext>
                </a:extLst>
              </a:tr>
              <a:tr h="382385">
                <a:tc>
                  <a:txBody>
                    <a:bodyPr/>
                    <a:lstStyle/>
                    <a:p>
                      <a:r>
                        <a:rPr sz="1000" b="0" i="0">
                          <a:solidFill>
                            <a:srgbClr val="1F2937"/>
                          </a:solidFill>
                          <a:latin typeface="Calibri"/>
                        </a:rPr>
                        <a:t>Individual methods (vs 114 / 290)</a:t>
                      </a:r>
                    </a:p>
                  </a:txBody>
                  <a:tcPr marL="64008" marR="64008" marT="36576" marB="36576">
                    <a:solidFill>
                      <a:srgbClr val="F3F5F8"/>
                    </a:solidFill>
                  </a:tcPr>
                </a:tc>
                <a:tc>
                  <a:txBody>
                    <a:bodyPr/>
                    <a:lstStyle/>
                    <a:p>
                      <a:r>
                        <a:rPr sz="1000" b="0" i="0">
                          <a:solidFill>
                            <a:srgbClr val="1F2937"/>
                          </a:solidFill>
                          <a:latin typeface="Calibri"/>
                        </a:rPr>
                        <a:t>Structured facts +7.6; FAQ +6.9; rendered +6.6; schema + visible +6.2; external facts +3.4; AI rewrite −5.5; position benchmark +18.3</a:t>
                      </a:r>
                    </a:p>
                  </a:txBody>
                  <a:tcPr marL="64008" marR="64008" marT="36576" marB="36576">
                    <a:solidFill>
                      <a:srgbClr val="F3F5F8"/>
                    </a:solidFill>
                  </a:tcPr>
                </a:tc>
                <a:extLst>
                  <a:ext uri="{0D108BD9-81ED-4DB2-BD59-A6C34878D82A}">
                    <a16:rowId xmlns:a16="http://schemas.microsoft.com/office/drawing/2014/main" val="10006"/>
                  </a:ext>
                </a:extLst>
              </a:tr>
              <a:tr h="382385">
                <a:tc>
                  <a:txBody>
                    <a:bodyPr/>
                    <a:lstStyle/>
                    <a:p>
                      <a:r>
                        <a:rPr sz="1000" b="0" i="0">
                          <a:solidFill>
                            <a:srgbClr val="1F2937"/>
                          </a:solidFill>
                          <a:latin typeface="Calibri"/>
                        </a:rPr>
                        <a:t>Secondary (reindexed) setup</a:t>
                      </a:r>
                    </a:p>
                  </a:txBody>
                  <a:tcPr marL="64008" marR="64008" marT="36576" marB="36576">
                    <a:solidFill>
                      <a:srgbClr val="FFFFFF"/>
                    </a:solidFill>
                  </a:tcPr>
                </a:tc>
                <a:tc>
                  <a:txBody>
                    <a:bodyPr/>
                    <a:lstStyle/>
                    <a:p>
                      <a:r>
                        <a:rPr sz="1000" b="0" i="0">
                          <a:solidFill>
                            <a:srgbClr val="1F2937"/>
                          </a:solidFill>
                          <a:latin typeface="Calibri"/>
                        </a:rPr>
                        <a:t>26 / 400 → 27 / 400 (6.50% → 6.75%): no discovery gain; this was the pre-declared primary measure</a:t>
                      </a:r>
                    </a:p>
                  </a:txBody>
                  <a:tcPr marL="64008" marR="64008" marT="36576" marB="36576">
                    <a:solidFill>
                      <a:srgbClr val="FFFFFF"/>
                    </a:solidFill>
                  </a:tcPr>
                </a:tc>
                <a:extLst>
                  <a:ext uri="{0D108BD9-81ED-4DB2-BD59-A6C34878D82A}">
                    <a16:rowId xmlns:a16="http://schemas.microsoft.com/office/drawing/2014/main" val="10007"/>
                  </a:ext>
                </a:extLst>
              </a:tr>
              <a:tr h="382385">
                <a:tc>
                  <a:txBody>
                    <a:bodyPr/>
                    <a:lstStyle/>
                    <a:p>
                      <a:r>
                        <a:rPr sz="1000" b="0" i="0">
                          <a:solidFill>
                            <a:srgbClr val="1F2937"/>
                          </a:solidFill>
                          <a:latin typeface="Calibri"/>
                        </a:rPr>
                        <a:t>Reworded questions (9 Oct 2026)</a:t>
                      </a:r>
                    </a:p>
                  </a:txBody>
                  <a:tcPr marL="64008" marR="64008" marT="36576" marB="36576">
                    <a:solidFill>
                      <a:srgbClr val="F3F5F8"/>
                    </a:solidFill>
                  </a:tcPr>
                </a:tc>
                <a:tc>
                  <a:txBody>
                    <a:bodyPr/>
                    <a:lstStyle/>
                    <a:p>
                      <a:r>
                        <a:rPr sz="1000" b="0" i="0">
                          <a:solidFill>
                            <a:srgbClr val="1F2937"/>
                          </a:solidFill>
                          <a:latin typeface="Calibri"/>
                        </a:rPr>
                        <a:t>199 → 223 / 290 (+8.3 points; interval −1.0 to +17.9; p = 0.12)</a:t>
                      </a:r>
                    </a:p>
                  </a:txBody>
                  <a:tcPr marL="64008" marR="64008" marT="36576" marB="36576">
                    <a:solidFill>
                      <a:srgbClr val="F3F5F8"/>
                    </a:solidFill>
                  </a:tcPr>
                </a:tc>
                <a:extLst>
                  <a:ext uri="{0D108BD9-81ED-4DB2-BD59-A6C34878D82A}">
                    <a16:rowId xmlns:a16="http://schemas.microsoft.com/office/drawing/2014/main" val="10008"/>
                  </a:ext>
                </a:extLst>
              </a:tr>
              <a:tr h="382385">
                <a:tc>
                  <a:txBody>
                    <a:bodyPr/>
                    <a:lstStyle/>
                    <a:p>
                      <a:r>
                        <a:rPr sz="1000" b="0" i="0">
                          <a:solidFill>
                            <a:srgbClr val="1F2937"/>
                          </a:solidFill>
                          <a:latin typeface="Calibri"/>
                        </a:rPr>
                        <a:t>Future sample size</a:t>
                      </a:r>
                    </a:p>
                  </a:txBody>
                  <a:tcPr marL="64008" marR="64008" marT="36576" marB="36576">
                    <a:solidFill>
                      <a:srgbClr val="FFFFFF"/>
                    </a:solidFill>
                  </a:tcPr>
                </a:tc>
                <a:tc>
                  <a:txBody>
                    <a:bodyPr/>
                    <a:lstStyle/>
                    <a:p>
                      <a:r>
                        <a:rPr sz="1000" b="0" i="0">
                          <a:solidFill>
                            <a:srgbClr val="1F2937"/>
                          </a:solidFill>
                          <a:latin typeface="Calibri"/>
                        </a:rPr>
                        <a:t>Estimate from pilot variance and the smallest worthwhile effect; 29 questions limit precision</a:t>
                      </a:r>
                    </a:p>
                  </a:txBody>
                  <a:tcPr marL="64008" marR="64008" marT="36576" marB="36576">
                    <a:solidFill>
                      <a:srgbClr val="FFFFFF"/>
                    </a:solidFill>
                  </a:tcPr>
                </a:tc>
                <a:extLst>
                  <a:ext uri="{0D108BD9-81ED-4DB2-BD59-A6C34878D82A}">
                    <a16:rowId xmlns:a16="http://schemas.microsoft.com/office/drawing/2014/main" val="10009"/>
                  </a:ext>
                </a:extLst>
              </a:tr>
              <a:tr h="382385">
                <a:tc>
                  <a:txBody>
                    <a:bodyPr/>
                    <a:lstStyle/>
                    <a:p>
                      <a:r>
                        <a:rPr sz="1000" b="0" i="0">
                          <a:solidFill>
                            <a:srgbClr val="1F2937"/>
                          </a:solidFill>
                          <a:latin typeface="Calibri"/>
                        </a:rPr>
                        <a:t>Fairness checks</a:t>
                      </a:r>
                    </a:p>
                  </a:txBody>
                  <a:tcPr marL="64008" marR="64008" marT="36576" marB="36576">
                    <a:solidFill>
                      <a:srgbClr val="F3F5F8"/>
                    </a:solidFill>
                  </a:tcPr>
                </a:tc>
                <a:tc>
                  <a:txBody>
                    <a:bodyPr/>
                    <a:lstStyle/>
                    <a:p>
                      <a:r>
                        <a:rPr sz="1000" b="0" i="0">
                          <a:solidFill>
                            <a:srgbClr val="1F2937"/>
                          </a:solidFill>
                          <a:latin typeface="Calibri"/>
                        </a:rPr>
                        <a:t>All 290 headline pairs matched URLs, order and unchanged competitor text; offline recount reproduces 116 and 152</a:t>
                      </a:r>
                    </a:p>
                  </a:txBody>
                  <a:tcPr marL="64008" marR="64008" marT="36576" marB="36576">
                    <a:solidFill>
                      <a:srgbClr val="F3F5F8"/>
                    </a:solidFill>
                  </a:tcPr>
                </a:tc>
                <a:extLst>
                  <a:ext uri="{0D108BD9-81ED-4DB2-BD59-A6C34878D82A}">
                    <a16:rowId xmlns:a16="http://schemas.microsoft.com/office/drawing/2014/main" val="10010"/>
                  </a:ext>
                </a:extLst>
              </a:tr>
            </a:tbl>
          </a:graphicData>
        </a:graphic>
      </p:graphicFrame>
      <p:sp>
        <p:nvSpPr>
          <p:cNvPr id="6" name="TextBox 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Technical Report v1.1, Sections 6, 8 and 10; Offline_Verification.json PASS.</a:t>
            </a:r>
          </a:p>
        </p:txBody>
      </p:sp>
      <p:sp>
        <p:nvSpPr>
          <p:cNvPr id="7" name="TextBox 6"/>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BACKUP (HIDDEN) · FOR Q&amp;A</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400" b="1" i="0">
                <a:solidFill>
                  <a:srgbClr val="0B2240"/>
                </a:solidFill>
                <a:latin typeface="Calibri"/>
              </a:rPr>
              <a:t>Backup: live inspection, 25 October 2026 (headless Chromium, JavaScript on and off; curl)</a:t>
            </a:r>
          </a:p>
        </p:txBody>
      </p:sp>
      <p:sp>
        <p:nvSpPr>
          <p:cNvPr id="4" name="Rounded Rectangle 3"/>
          <p:cNvSpPr/>
          <p:nvPr/>
        </p:nvSpPr>
        <p:spPr>
          <a:xfrm>
            <a:off x="9582912" y="329184"/>
            <a:ext cx="207568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Live check 25 Oct 2026</a:t>
            </a:r>
          </a:p>
        </p:txBody>
      </p:sp>
      <p:graphicFrame>
        <p:nvGraphicFramePr>
          <p:cNvPr id="5" name="Table 4"/>
          <p:cNvGraphicFramePr>
            <a:graphicFrameLocks noGrp="1"/>
          </p:cNvGraphicFramePr>
          <p:nvPr/>
        </p:nvGraphicFramePr>
        <p:xfrm>
          <a:off x="548640" y="1600200"/>
          <a:ext cx="11109960" cy="4206235"/>
        </p:xfrm>
        <a:graphic>
          <a:graphicData uri="http://schemas.openxmlformats.org/drawingml/2006/table">
            <a:tbl>
              <a:tblPr/>
              <a:tblGrid>
                <a:gridCol w="2377440">
                  <a:extLst>
                    <a:ext uri="{9D8B030D-6E8A-4147-A177-3AD203B41FA5}">
                      <a16:colId xmlns:a16="http://schemas.microsoft.com/office/drawing/2014/main" val="20000"/>
                    </a:ext>
                  </a:extLst>
                </a:gridCol>
                <a:gridCol w="8732520">
                  <a:extLst>
                    <a:ext uri="{9D8B030D-6E8A-4147-A177-3AD203B41FA5}">
                      <a16:colId xmlns:a16="http://schemas.microsoft.com/office/drawing/2014/main" val="20001"/>
                    </a:ext>
                  </a:extLst>
                </a:gridCol>
              </a:tblGrid>
              <a:tr h="382385">
                <a:tc>
                  <a:txBody>
                    <a:bodyPr/>
                    <a:lstStyle/>
                    <a:p>
                      <a:r>
                        <a:rPr sz="1050" b="1" i="0">
                          <a:solidFill>
                            <a:srgbClr val="FFFFFF"/>
                          </a:solidFill>
                          <a:latin typeface="Calibri"/>
                        </a:rPr>
                        <a:t>Check</a:t>
                      </a:r>
                    </a:p>
                  </a:txBody>
                  <a:tcPr marL="64008" marR="64008" marT="36576" marB="36576" anchor="ctr">
                    <a:solidFill>
                      <a:srgbClr val="0B2240"/>
                    </a:solidFill>
                  </a:tcPr>
                </a:tc>
                <a:tc>
                  <a:txBody>
                    <a:bodyPr/>
                    <a:lstStyle/>
                    <a:p>
                      <a:r>
                        <a:rPr sz="1050" b="1" i="0">
                          <a:solidFill>
                            <a:srgbClr val="FFFFFF"/>
                          </a:solidFill>
                          <a:latin typeface="Calibri"/>
                        </a:rPr>
                        <a:t>Result</a:t>
                      </a:r>
                    </a:p>
                  </a:txBody>
                  <a:tcPr marL="64008" marR="64008" marT="36576" marB="36576" anchor="ctr">
                    <a:solidFill>
                      <a:srgbClr val="0B2240"/>
                    </a:solidFill>
                  </a:tcPr>
                </a:tc>
                <a:extLst>
                  <a:ext uri="{0D108BD9-81ED-4DB2-BD59-A6C34878D82A}">
                    <a16:rowId xmlns:a16="http://schemas.microsoft.com/office/drawing/2014/main" val="10000"/>
                  </a:ext>
                </a:extLst>
              </a:tr>
              <a:tr h="382385">
                <a:tc>
                  <a:txBody>
                    <a:bodyPr/>
                    <a:lstStyle/>
                    <a:p>
                      <a:r>
                        <a:rPr sz="1000" b="0" i="0">
                          <a:solidFill>
                            <a:srgbClr val="1F2937"/>
                          </a:solidFill>
                          <a:latin typeface="Calibri"/>
                        </a:rPr>
                        <a:t>flightcentre.com.au/robots.txt</a:t>
                      </a:r>
                    </a:p>
                  </a:txBody>
                  <a:tcPr marL="64008" marR="64008" marT="36576" marB="36576">
                    <a:solidFill>
                      <a:srgbClr val="FFFFFF"/>
                    </a:solidFill>
                  </a:tcPr>
                </a:tc>
                <a:tc>
                  <a:txBody>
                    <a:bodyPr/>
                    <a:lstStyle/>
                    <a:p>
                      <a:r>
                        <a:rPr sz="1000" b="0" i="0">
                          <a:solidFill>
                            <a:srgbClr val="1F2937"/>
                          </a:solidFill>
                          <a:latin typeface="Calibri"/>
                        </a:rPr>
                        <a:t>200. Allow / for *; explicit Allow for GPTBot, Google-Extended, PerplexityBot, AnthropicBot, Applebot, Google-CloudVertexBot; SEO crawlers (Semrush, Ahrefs, MJ12) disallowed; 8 sitemaps; no OAI-SearchBot, ChatGPT-User or Claude-SearchBot lines; no crawl-delay (the May 2026 audit's crawl-delay and GPTBot block are no longer present)</a:t>
                      </a:r>
                    </a:p>
                  </a:txBody>
                  <a:tcPr marL="64008" marR="64008" marT="36576" marB="36576">
                    <a:solidFill>
                      <a:srgbClr val="FFFFFF"/>
                    </a:solidFill>
                  </a:tcPr>
                </a:tc>
                <a:extLst>
                  <a:ext uri="{0D108BD9-81ED-4DB2-BD59-A6C34878D82A}">
                    <a16:rowId xmlns:a16="http://schemas.microsoft.com/office/drawing/2014/main" val="10001"/>
                  </a:ext>
                </a:extLst>
              </a:tr>
              <a:tr h="382385">
                <a:tc>
                  <a:txBody>
                    <a:bodyPr/>
                    <a:lstStyle/>
                    <a:p>
                      <a:r>
                        <a:rPr sz="1000" b="0" i="0">
                          <a:solidFill>
                            <a:srgbClr val="1F2937"/>
                          </a:solidFill>
                          <a:latin typeface="Calibri"/>
                        </a:rPr>
                        <a:t>webjet.com.au/robots.txt</a:t>
                      </a:r>
                    </a:p>
                  </a:txBody>
                  <a:tcPr marL="64008" marR="64008" marT="36576" marB="36576">
                    <a:solidFill>
                      <a:srgbClr val="F3F5F8"/>
                    </a:solidFill>
                  </a:tcPr>
                </a:tc>
                <a:tc>
                  <a:txBody>
                    <a:bodyPr/>
                    <a:lstStyle/>
                    <a:p>
                      <a:r>
                        <a:rPr sz="1000" b="0" i="0">
                          <a:solidFill>
                            <a:srgbClr val="1F2937"/>
                          </a:solidFill>
                          <a:latin typeface="Calibri"/>
                        </a:rPr>
                        <a:t>200. '# AI Search Bots': OAI-SearchBot, Claude-SearchBot, PerplexityBot Allow. '# AI Training Bots': GPTBot, ClaudeBot Disallow</a:t>
                      </a:r>
                    </a:p>
                  </a:txBody>
                  <a:tcPr marL="64008" marR="64008" marT="36576" marB="36576">
                    <a:solidFill>
                      <a:srgbClr val="F3F5F8"/>
                    </a:solidFill>
                  </a:tcPr>
                </a:tc>
                <a:extLst>
                  <a:ext uri="{0D108BD9-81ED-4DB2-BD59-A6C34878D82A}">
                    <a16:rowId xmlns:a16="http://schemas.microsoft.com/office/drawing/2014/main" val="10002"/>
                  </a:ext>
                </a:extLst>
              </a:tr>
              <a:tr h="382385">
                <a:tc>
                  <a:txBody>
                    <a:bodyPr/>
                    <a:lstStyle/>
                    <a:p>
                      <a:r>
                        <a:rPr sz="1000" b="0" i="0">
                          <a:solidFill>
                            <a:srgbClr val="1F2937"/>
                          </a:solidFill>
                          <a:latin typeface="Calibri"/>
                        </a:rPr>
                        <a:t>expedia.com.au</a:t>
                      </a:r>
                    </a:p>
                  </a:txBody>
                  <a:tcPr marL="64008" marR="64008" marT="36576" marB="36576">
                    <a:solidFill>
                      <a:srgbClr val="FFFFFF"/>
                    </a:solidFill>
                  </a:tcPr>
                </a:tc>
                <a:tc>
                  <a:txBody>
                    <a:bodyPr/>
                    <a:lstStyle/>
                    <a:p>
                      <a:r>
                        <a:rPr sz="1000" b="0" i="0">
                          <a:solidFill>
                            <a:srgbClr val="1F2937"/>
                          </a:solidFill>
                          <a:latin typeface="Calibri"/>
                        </a:rPr>
                        <a:t>robots.txt '# Allow Agentic Search' block (OAI-SearchBot, ChatGPT-User, PerplexityBot, Perplexity-User, Claude-User, Claude-SearchBot); GPTBot not named; /llms.txt HTTP 200, 6,642 characters, including a 'Directions for AI Systems' section</a:t>
                      </a:r>
                    </a:p>
                  </a:txBody>
                  <a:tcPr marL="64008" marR="64008" marT="36576" marB="36576">
                    <a:solidFill>
                      <a:srgbClr val="FFFFFF"/>
                    </a:solidFill>
                  </a:tcPr>
                </a:tc>
                <a:extLst>
                  <a:ext uri="{0D108BD9-81ED-4DB2-BD59-A6C34878D82A}">
                    <a16:rowId xmlns:a16="http://schemas.microsoft.com/office/drawing/2014/main" val="10003"/>
                  </a:ext>
                </a:extLst>
              </a:tr>
              <a:tr h="382385">
                <a:tc>
                  <a:txBody>
                    <a:bodyPr/>
                    <a:lstStyle/>
                    <a:p>
                      <a:r>
                        <a:rPr sz="1000" b="0" i="0">
                          <a:solidFill>
                            <a:srgbClr val="1F2937"/>
                          </a:solidFill>
                          <a:latin typeface="Calibri"/>
                        </a:rPr>
                        <a:t>/llms.txt elsewhere</a:t>
                      </a:r>
                    </a:p>
                  </a:txBody>
                  <a:tcPr marL="64008" marR="64008" marT="36576" marB="36576">
                    <a:solidFill>
                      <a:srgbClr val="F3F5F8"/>
                    </a:solidFill>
                  </a:tcPr>
                </a:tc>
                <a:tc>
                  <a:txBody>
                    <a:bodyPr/>
                    <a:lstStyle/>
                    <a:p>
                      <a:r>
                        <a:rPr sz="1000" b="0" i="0">
                          <a:solidFill>
                            <a:srgbClr val="1F2937"/>
                          </a:solidFill>
                          <a:latin typeface="Calibri"/>
                        </a:rPr>
                        <a:t>Flight Centre 404 (/llm.txt also 404); Webjet, Qantas, Skyscanner redirect (no file); Booking.com 404</a:t>
                      </a:r>
                    </a:p>
                  </a:txBody>
                  <a:tcPr marL="64008" marR="64008" marT="36576" marB="36576">
                    <a:solidFill>
                      <a:srgbClr val="F3F5F8"/>
                    </a:solidFill>
                  </a:tcPr>
                </a:tc>
                <a:extLst>
                  <a:ext uri="{0D108BD9-81ED-4DB2-BD59-A6C34878D82A}">
                    <a16:rowId xmlns:a16="http://schemas.microsoft.com/office/drawing/2014/main" val="10004"/>
                  </a:ext>
                </a:extLst>
              </a:tr>
              <a:tr h="382385">
                <a:tc>
                  <a:txBody>
                    <a:bodyPr/>
                    <a:lstStyle/>
                    <a:p>
                      <a:r>
                        <a:rPr sz="1000" b="0" i="0">
                          <a:solidFill>
                            <a:srgbClr val="1F2937"/>
                          </a:solidFill>
                          <a:latin typeface="Calibri"/>
                        </a:rPr>
                        <a:t>FC route Melbourne–London</a:t>
                      </a:r>
                    </a:p>
                  </a:txBody>
                  <a:tcPr marL="64008" marR="64008" marT="36576" marB="36576">
                    <a:solidFill>
                      <a:srgbClr val="FFFFFF"/>
                    </a:solidFill>
                  </a:tcPr>
                </a:tc>
                <a:tc>
                  <a:txBody>
                    <a:bodyPr/>
                    <a:lstStyle/>
                    <a:p>
                      <a:r>
                        <a:rPr sz="1000" b="0" i="0">
                          <a:solidFill>
                            <a:srgbClr val="1F2937"/>
                          </a:solidFill>
                          <a:latin typeface="Calibri"/>
                        </a:rPr>
                        <a:t>JSON-LD: FAQPage (8 questions), Flight, Offer (price 1342), Airport, BreadcrumbList. Deal cards ('Available between'): 6 with JavaScript, 0 without. FAQ questions present without JavaScript. Heading fare $1,342 (was $1,272 on 23 Oct, $1,434 in Aug capture); cheapest deal card $1,605</a:t>
                      </a:r>
                    </a:p>
                  </a:txBody>
                  <a:tcPr marL="64008" marR="64008" marT="36576" marB="36576">
                    <a:solidFill>
                      <a:srgbClr val="FFFFFF"/>
                    </a:solidFill>
                  </a:tcPr>
                </a:tc>
                <a:extLst>
                  <a:ext uri="{0D108BD9-81ED-4DB2-BD59-A6C34878D82A}">
                    <a16:rowId xmlns:a16="http://schemas.microsoft.com/office/drawing/2014/main" val="10005"/>
                  </a:ext>
                </a:extLst>
              </a:tr>
              <a:tr h="382385">
                <a:tc>
                  <a:txBody>
                    <a:bodyPr/>
                    <a:lstStyle/>
                    <a:p>
                      <a:r>
                        <a:rPr sz="1000" b="0" i="0">
                          <a:solidFill>
                            <a:srgbClr val="1F2937"/>
                          </a:solidFill>
                          <a:latin typeface="Calibri"/>
                        </a:rPr>
                        <a:t>FC route Brisbane–Bali</a:t>
                      </a:r>
                    </a:p>
                  </a:txBody>
                  <a:tcPr marL="64008" marR="64008" marT="36576" marB="36576">
                    <a:solidFill>
                      <a:srgbClr val="F3F5F8"/>
                    </a:solidFill>
                  </a:tcPr>
                </a:tc>
                <a:tc>
                  <a:txBody>
                    <a:bodyPr/>
                    <a:lstStyle/>
                    <a:p>
                      <a:r>
                        <a:rPr sz="1000" b="0" i="0">
                          <a:solidFill>
                            <a:srgbClr val="1F2937"/>
                          </a:solidFill>
                          <a:latin typeface="Calibri"/>
                        </a:rPr>
                        <a:t>521 KB; 1 JSON-LD block with FAQPage; no deal-card text; title fare $626</a:t>
                      </a:r>
                    </a:p>
                  </a:txBody>
                  <a:tcPr marL="64008" marR="64008" marT="36576" marB="36576">
                    <a:solidFill>
                      <a:srgbClr val="F3F5F8"/>
                    </a:solidFill>
                  </a:tcPr>
                </a:tc>
                <a:extLst>
                  <a:ext uri="{0D108BD9-81ED-4DB2-BD59-A6C34878D82A}">
                    <a16:rowId xmlns:a16="http://schemas.microsoft.com/office/drawing/2014/main" val="10006"/>
                  </a:ext>
                </a:extLst>
              </a:tr>
              <a:tr h="382385">
                <a:tc>
                  <a:txBody>
                    <a:bodyPr/>
                    <a:lstStyle/>
                    <a:p>
                      <a:r>
                        <a:rPr sz="1000" b="0" i="0">
                          <a:solidFill>
                            <a:srgbClr val="1F2937"/>
                          </a:solidFill>
                          <a:latin typeface="Calibri"/>
                        </a:rPr>
                        <a:t>FC holiday Bali and Fiji</a:t>
                      </a:r>
                    </a:p>
                  </a:txBody>
                  <a:tcPr marL="64008" marR="64008" marT="36576" marB="36576">
                    <a:solidFill>
                      <a:srgbClr val="FFFFFF"/>
                    </a:solidFill>
                  </a:tcPr>
                </a:tc>
                <a:tc>
                  <a:txBody>
                    <a:bodyPr/>
                    <a:lstStyle/>
                    <a:p>
                      <a:r>
                        <a:rPr sz="1000" b="0" i="0">
                          <a:solidFill>
                            <a:srgbClr val="1F2937"/>
                          </a:solidFill>
                          <a:latin typeface="Calibri"/>
                        </a:rPr>
                        <a:t>0 JSON-LD blocks; FAQ questions present as text without JavaScript; deal tiles empty without JavaScript; Bali visible text 14,107 characters with JavaScript, 6,483 without</a:t>
                      </a:r>
                    </a:p>
                  </a:txBody>
                  <a:tcPr marL="64008" marR="64008" marT="36576" marB="36576">
                    <a:solidFill>
                      <a:srgbClr val="FFFFFF"/>
                    </a:solidFill>
                  </a:tcPr>
                </a:tc>
                <a:extLst>
                  <a:ext uri="{0D108BD9-81ED-4DB2-BD59-A6C34878D82A}">
                    <a16:rowId xmlns:a16="http://schemas.microsoft.com/office/drawing/2014/main" val="10007"/>
                  </a:ext>
                </a:extLst>
              </a:tr>
              <a:tr h="382385">
                <a:tc>
                  <a:txBody>
                    <a:bodyPr/>
                    <a:lstStyle/>
                    <a:p>
                      <a:r>
                        <a:rPr sz="1000" b="0" i="0">
                          <a:solidFill>
                            <a:srgbClr val="1F2937"/>
                          </a:solidFill>
                          <a:latin typeface="Calibri"/>
                        </a:rPr>
                        <a:t>Qantas, Skyscanner, Booking.com robots.txt</a:t>
                      </a:r>
                    </a:p>
                  </a:txBody>
                  <a:tcPr marL="64008" marR="64008" marT="36576" marB="36576">
                    <a:solidFill>
                      <a:srgbClr val="F3F5F8"/>
                    </a:solidFill>
                  </a:tcPr>
                </a:tc>
                <a:tc>
                  <a:txBody>
                    <a:bodyPr/>
                    <a:lstStyle/>
                    <a:p>
                      <a:r>
                        <a:rPr sz="1000" b="0" i="0">
                          <a:solidFill>
                            <a:srgbClr val="1F2937"/>
                          </a:solidFill>
                          <a:latin typeface="Calibri"/>
                        </a:rPr>
                        <a:t>No AI-bot-specific lines found (wildcard rules apply)</a:t>
                      </a:r>
                    </a:p>
                  </a:txBody>
                  <a:tcPr marL="64008" marR="64008" marT="36576" marB="36576">
                    <a:solidFill>
                      <a:srgbClr val="F3F5F8"/>
                    </a:solidFill>
                  </a:tcPr>
                </a:tc>
                <a:extLst>
                  <a:ext uri="{0D108BD9-81ED-4DB2-BD59-A6C34878D82A}">
                    <a16:rowId xmlns:a16="http://schemas.microsoft.com/office/drawing/2014/main" val="10008"/>
                  </a:ext>
                </a:extLst>
              </a:tr>
              <a:tr h="382385">
                <a:tc>
                  <a:txBody>
                    <a:bodyPr/>
                    <a:lstStyle/>
                    <a:p>
                      <a:r>
                        <a:rPr sz="1000" b="0" i="0">
                          <a:solidFill>
                            <a:srgbClr val="1F2937"/>
                          </a:solidFill>
                          <a:latin typeface="Calibri"/>
                        </a:rPr>
                        <a:t>Webjet Melbourne–London</a:t>
                      </a:r>
                    </a:p>
                  </a:txBody>
                  <a:tcPr marL="64008" marR="64008" marT="36576" marB="36576">
                    <a:solidFill>
                      <a:srgbClr val="FFFFFF"/>
                    </a:solidFill>
                  </a:tcPr>
                </a:tc>
                <a:tc>
                  <a:txBody>
                    <a:bodyPr/>
                    <a:lstStyle/>
                    <a:p>
                      <a:r>
                        <a:rPr sz="1000" b="0" i="0">
                          <a:solidFill>
                            <a:srgbClr val="1F2937"/>
                          </a:solidFill>
                          <a:latin typeface="Calibri"/>
                        </a:rPr>
                        <a:t>17,728 visible characters with JavaScript, 17,527 without; seven dated fares each marked 'Last updated'; fee amounts stated in page text</a:t>
                      </a:r>
                    </a:p>
                  </a:txBody>
                  <a:tcPr marL="64008" marR="64008" marT="36576" marB="36576">
                    <a:solidFill>
                      <a:srgbClr val="FFFFFF"/>
                    </a:solidFill>
                  </a:tcPr>
                </a:tc>
                <a:extLst>
                  <a:ext uri="{0D108BD9-81ED-4DB2-BD59-A6C34878D82A}">
                    <a16:rowId xmlns:a16="http://schemas.microsoft.com/office/drawing/2014/main" val="10009"/>
                  </a:ext>
                </a:extLst>
              </a:tr>
              <a:tr h="382385">
                <a:tc>
                  <a:txBody>
                    <a:bodyPr/>
                    <a:lstStyle/>
                    <a:p>
                      <a:r>
                        <a:rPr sz="1000" b="0" i="0">
                          <a:solidFill>
                            <a:srgbClr val="1F2937"/>
                          </a:solidFill>
                          <a:latin typeface="Calibri"/>
                        </a:rPr>
                        <a:t>Expedia, Skyscanner route pages</a:t>
                      </a:r>
                    </a:p>
                  </a:txBody>
                  <a:tcPr marL="64008" marR="64008" marT="36576" marB="36576">
                    <a:solidFill>
                      <a:srgbClr val="F3F5F8"/>
                    </a:solidFill>
                  </a:tcPr>
                </a:tc>
                <a:tc>
                  <a:txBody>
                    <a:bodyPr/>
                    <a:lstStyle/>
                    <a:p>
                      <a:r>
                        <a:rPr sz="1000" b="0" i="0">
                          <a:solidFill>
                            <a:srgbClr val="1F2937"/>
                          </a:solidFill>
                          <a:latin typeface="Calibri"/>
                        </a:rPr>
                        <a:t>Expedia HTTP 429 (rate-limited); Skyscanner bot challenge; not compared</a:t>
                      </a:r>
                    </a:p>
                  </a:txBody>
                  <a:tcPr marL="64008" marR="64008" marT="36576" marB="36576">
                    <a:solidFill>
                      <a:srgbClr val="F3F5F8"/>
                    </a:solidFill>
                  </a:tcPr>
                </a:tc>
                <a:extLst>
                  <a:ext uri="{0D108BD9-81ED-4DB2-BD59-A6C34878D82A}">
                    <a16:rowId xmlns:a16="http://schemas.microsoft.com/office/drawing/2014/main" val="10010"/>
                  </a:ext>
                </a:extLst>
              </a:tr>
            </a:tbl>
          </a:graphicData>
        </a:graphic>
      </p:graphicFrame>
      <p:sp>
        <p:nvSpPr>
          <p:cNvPr id="6" name="TextBox 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Method: Playwright (Chromium) with JavaScript on and off and curl, desktop Chrome user agent; files in evidence/. Paired browser captures show a rendering difference in this sample; HTTP status alone does not establish crawler readability.</a:t>
            </a:r>
          </a:p>
        </p:txBody>
      </p:sp>
      <p:sp>
        <p:nvSpPr>
          <p:cNvPr id="7" name="TextBox 6"/>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BACKUP (HIDDEN) · FOR Q&amp;A</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400" b="1" i="0">
                <a:solidFill>
                  <a:srgbClr val="0B2240"/>
                </a:solidFill>
                <a:latin typeface="Calibri"/>
              </a:rPr>
              <a:t>Backup: research and documentation sources used in this briefing</a:t>
            </a:r>
          </a:p>
        </p:txBody>
      </p:sp>
      <p:sp>
        <p:nvSpPr>
          <p:cNvPr id="4" name="Rounded Rectangle 3"/>
          <p:cNvSpPr/>
          <p:nvPr/>
        </p:nvSpPr>
        <p:spPr>
          <a:xfrm>
            <a:off x="9582912" y="329184"/>
            <a:ext cx="2075688"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Official documentation</a:t>
            </a:r>
          </a:p>
        </p:txBody>
      </p:sp>
      <p:sp>
        <p:nvSpPr>
          <p:cNvPr id="5" name="Rounded Rectangle 4"/>
          <p:cNvSpPr/>
          <p:nvPr/>
        </p:nvSpPr>
        <p:spPr>
          <a:xfrm>
            <a:off x="7708392"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graphicFrame>
        <p:nvGraphicFramePr>
          <p:cNvPr id="6" name="Table 5"/>
          <p:cNvGraphicFramePr>
            <a:graphicFrameLocks noGrp="1"/>
          </p:cNvGraphicFramePr>
          <p:nvPr/>
        </p:nvGraphicFramePr>
        <p:xfrm>
          <a:off x="548640" y="1600200"/>
          <a:ext cx="11109960" cy="4343394"/>
        </p:xfrm>
        <a:graphic>
          <a:graphicData uri="http://schemas.openxmlformats.org/drawingml/2006/table">
            <a:tbl>
              <a:tblPr/>
              <a:tblGrid>
                <a:gridCol w="4206240">
                  <a:extLst>
                    <a:ext uri="{9D8B030D-6E8A-4147-A177-3AD203B41FA5}">
                      <a16:colId xmlns:a16="http://schemas.microsoft.com/office/drawing/2014/main" val="20000"/>
                    </a:ext>
                  </a:extLst>
                </a:gridCol>
                <a:gridCol w="6903720">
                  <a:extLst>
                    <a:ext uri="{9D8B030D-6E8A-4147-A177-3AD203B41FA5}">
                      <a16:colId xmlns:a16="http://schemas.microsoft.com/office/drawing/2014/main" val="20001"/>
                    </a:ext>
                  </a:extLst>
                </a:gridCol>
              </a:tblGrid>
              <a:tr h="394854">
                <a:tc>
                  <a:txBody>
                    <a:bodyPr/>
                    <a:lstStyle/>
                    <a:p>
                      <a:r>
                        <a:rPr sz="1000" b="1" i="0">
                          <a:solidFill>
                            <a:srgbClr val="FFFFFF"/>
                          </a:solidFill>
                          <a:latin typeface="Calibri"/>
                        </a:rPr>
                        <a:t>Source</a:t>
                      </a:r>
                    </a:p>
                  </a:txBody>
                  <a:tcPr marL="64008" marR="64008" marT="36576" marB="36576" anchor="ctr">
                    <a:solidFill>
                      <a:srgbClr val="0B2240"/>
                    </a:solidFill>
                  </a:tcPr>
                </a:tc>
                <a:tc>
                  <a:txBody>
                    <a:bodyPr/>
                    <a:lstStyle/>
                    <a:p>
                      <a:r>
                        <a:rPr sz="1000" b="1" i="0">
                          <a:solidFill>
                            <a:srgbClr val="FFFFFF"/>
                          </a:solidFill>
                          <a:latin typeface="Calibri"/>
                        </a:rPr>
                        <a:t>What it contributes</a:t>
                      </a:r>
                    </a:p>
                  </a:txBody>
                  <a:tcPr marL="64008" marR="64008" marT="36576" marB="36576" anchor="ctr">
                    <a:solidFill>
                      <a:srgbClr val="0B2240"/>
                    </a:solidFill>
                  </a:tcPr>
                </a:tc>
                <a:extLst>
                  <a:ext uri="{0D108BD9-81ED-4DB2-BD59-A6C34878D82A}">
                    <a16:rowId xmlns:a16="http://schemas.microsoft.com/office/drawing/2014/main" val="10000"/>
                  </a:ext>
                </a:extLst>
              </a:tr>
              <a:tr h="394854">
                <a:tc>
                  <a:txBody>
                    <a:bodyPr/>
                    <a:lstStyle/>
                    <a:p>
                      <a:r>
                        <a:rPr sz="950" b="0" i="0">
                          <a:solidFill>
                            <a:srgbClr val="1F2937"/>
                          </a:solidFill>
                          <a:latin typeface="Calibri"/>
                        </a:rPr>
                        <a:t>Aggarwal et al., GEO: Generative Engine Optimization, KDD 2024</a:t>
                      </a:r>
                    </a:p>
                  </a:txBody>
                  <a:tcPr marL="64008" marR="64008" marT="36576" marB="36576">
                    <a:solidFill>
                      <a:srgbClr val="FFFFFF"/>
                    </a:solidFill>
                  </a:tcPr>
                </a:tc>
                <a:tc>
                  <a:txBody>
                    <a:bodyPr/>
                    <a:lstStyle/>
                    <a:p>
                      <a:r>
                        <a:rPr sz="950" b="0" i="0">
                          <a:solidFill>
                            <a:srgbClr val="1F2937"/>
                          </a:solidFill>
                          <a:latin typeface="Calibri"/>
                        </a:rPr>
                        <a:t>Benchmark and prompt we reuse; statistics, quotations and structure raised visibility up to ~40% on its benchmark; keyword stuffing did not</a:t>
                      </a:r>
                    </a:p>
                  </a:txBody>
                  <a:tcPr marL="64008" marR="64008" marT="36576" marB="36576">
                    <a:solidFill>
                      <a:srgbClr val="FFFFFF"/>
                    </a:solidFill>
                  </a:tcPr>
                </a:tc>
                <a:extLst>
                  <a:ext uri="{0D108BD9-81ED-4DB2-BD59-A6C34878D82A}">
                    <a16:rowId xmlns:a16="http://schemas.microsoft.com/office/drawing/2014/main" val="10001"/>
                  </a:ext>
                </a:extLst>
              </a:tr>
              <a:tr h="394854">
                <a:tc>
                  <a:txBody>
                    <a:bodyPr/>
                    <a:lstStyle/>
                    <a:p>
                      <a:r>
                        <a:rPr sz="950" b="0" i="0">
                          <a:solidFill>
                            <a:srgbClr val="1F2937"/>
                          </a:solidFill>
                          <a:latin typeface="Calibri"/>
                        </a:rPr>
                        <a:t>Puerto et al., C-SEO Bench, NeurIPS 2025 Datasets &amp; Benchmarks</a:t>
                      </a:r>
                    </a:p>
                  </a:txBody>
                  <a:tcPr marL="64008" marR="64008" marT="36576" marB="36576">
                    <a:solidFill>
                      <a:srgbClr val="F3F5F8"/>
                    </a:solidFill>
                  </a:tcPr>
                </a:tc>
                <a:tc>
                  <a:txBody>
                    <a:bodyPr/>
                    <a:lstStyle/>
                    <a:p>
                      <a:r>
                        <a:rPr sz="950" b="0" i="0">
                          <a:solidFill>
                            <a:srgbClr val="1F2937"/>
                          </a:solidFill>
                          <a:latin typeface="Calibri"/>
                        </a:rPr>
                        <a:t>Most conversational-SEO rewrites ineffective or negative; traditional SEO more effective; gains shrink as more actors adopt (zero-sum)</a:t>
                      </a:r>
                    </a:p>
                  </a:txBody>
                  <a:tcPr marL="64008" marR="64008" marT="36576" marB="36576">
                    <a:solidFill>
                      <a:srgbClr val="F3F5F8"/>
                    </a:solidFill>
                  </a:tcPr>
                </a:tc>
                <a:extLst>
                  <a:ext uri="{0D108BD9-81ED-4DB2-BD59-A6C34878D82A}">
                    <a16:rowId xmlns:a16="http://schemas.microsoft.com/office/drawing/2014/main" val="10002"/>
                  </a:ext>
                </a:extLst>
              </a:tr>
              <a:tr h="394854">
                <a:tc>
                  <a:txBody>
                    <a:bodyPr/>
                    <a:lstStyle/>
                    <a:p>
                      <a:r>
                        <a:rPr sz="950" b="0" i="0">
                          <a:solidFill>
                            <a:srgbClr val="1F2937"/>
                          </a:solidFill>
                          <a:latin typeface="Calibri"/>
                        </a:rPr>
                        <a:t>'What Gets Cited: Competitive GEO in AI Answer Engines', arXiv 2605.25517 (2026)</a:t>
                      </a:r>
                    </a:p>
                  </a:txBody>
                  <a:tcPr marL="64008" marR="64008" marT="36576" marB="36576">
                    <a:solidFill>
                      <a:srgbClr val="FFFFFF"/>
                    </a:solidFill>
                  </a:tcPr>
                </a:tc>
                <a:tc>
                  <a:txBody>
                    <a:bodyPr/>
                    <a:lstStyle/>
                    <a:p>
                      <a:r>
                        <a:rPr sz="950" b="0" i="0">
                          <a:solidFill>
                            <a:srgbClr val="1F2937"/>
                          </a:solidFill>
                          <a:latin typeface="Calibri"/>
                        </a:rPr>
                        <a:t>252,000 trials, six LLMs, 18 factors: relevance and position dominate; explicit price and recent timestamp help consistently; formatting-only edits have little impact</a:t>
                      </a:r>
                    </a:p>
                  </a:txBody>
                  <a:tcPr marL="64008" marR="64008" marT="36576" marB="36576">
                    <a:solidFill>
                      <a:srgbClr val="FFFFFF"/>
                    </a:solidFill>
                  </a:tcPr>
                </a:tc>
                <a:extLst>
                  <a:ext uri="{0D108BD9-81ED-4DB2-BD59-A6C34878D82A}">
                    <a16:rowId xmlns:a16="http://schemas.microsoft.com/office/drawing/2014/main" val="10003"/>
                  </a:ext>
                </a:extLst>
              </a:tr>
              <a:tr h="394854">
                <a:tc>
                  <a:txBody>
                    <a:bodyPr/>
                    <a:lstStyle/>
                    <a:p>
                      <a:r>
                        <a:rPr sz="950" b="0" i="0">
                          <a:solidFill>
                            <a:srgbClr val="1F2937"/>
                          </a:solidFill>
                          <a:latin typeface="Calibri"/>
                        </a:rPr>
                        <a:t>'Optimizing Visibility in Generative Engines: A Critical Survey (2023–2026)', arXiv 2607.14035</a:t>
                      </a:r>
                    </a:p>
                  </a:txBody>
                  <a:tcPr marL="64008" marR="64008" marT="36576" marB="36576">
                    <a:solidFill>
                      <a:srgbClr val="F3F5F8"/>
                    </a:solidFill>
                  </a:tcPr>
                </a:tc>
                <a:tc>
                  <a:txBody>
                    <a:bodyPr/>
                    <a:lstStyle/>
                    <a:p>
                      <a:r>
                        <a:rPr sz="950" b="0" i="0">
                          <a:solidFill>
                            <a:srgbClr val="1F2937"/>
                          </a:solidFill>
                          <a:latin typeface="Calibri"/>
                        </a:rPr>
                        <a:t>45 studies: content gains hold only when the source is already in a fixed context; no durable cross-platform effect on organic discoverability shown; measure repeatedly</a:t>
                      </a:r>
                    </a:p>
                  </a:txBody>
                  <a:tcPr marL="64008" marR="64008" marT="36576" marB="36576">
                    <a:solidFill>
                      <a:srgbClr val="F3F5F8"/>
                    </a:solidFill>
                  </a:tcPr>
                </a:tc>
                <a:extLst>
                  <a:ext uri="{0D108BD9-81ED-4DB2-BD59-A6C34878D82A}">
                    <a16:rowId xmlns:a16="http://schemas.microsoft.com/office/drawing/2014/main" val="10004"/>
                  </a:ext>
                </a:extLst>
              </a:tr>
              <a:tr h="394854">
                <a:tc>
                  <a:txBody>
                    <a:bodyPr/>
                    <a:lstStyle/>
                    <a:p>
                      <a:r>
                        <a:rPr sz="950" b="0" i="0">
                          <a:solidFill>
                            <a:srgbClr val="1F2937"/>
                          </a:solidFill>
                          <a:latin typeface="Calibri"/>
                        </a:rPr>
                        <a:t>'From Citation Selection to Citation Absorption', arXiv 2604.25707 (2026)</a:t>
                      </a:r>
                    </a:p>
                  </a:txBody>
                  <a:tcPr marL="64008" marR="64008" marT="36576" marB="36576">
                    <a:solidFill>
                      <a:srgbClr val="FFFFFF"/>
                    </a:solidFill>
                  </a:tcPr>
                </a:tc>
                <a:tc>
                  <a:txBody>
                    <a:bodyPr/>
                    <a:lstStyle/>
                    <a:p>
                      <a:r>
                        <a:rPr sz="950" b="0" i="0">
                          <a:solidFill>
                            <a:srgbClr val="1F2937"/>
                          </a:solidFill>
                          <a:latin typeface="Calibri"/>
                        </a:rPr>
                        <a:t>602 prompts, 21,143 citations across ChatGPT, Google, Perplexity: high-influence pages are longer, structured, with definitions, numbers, comparisons</a:t>
                      </a:r>
                    </a:p>
                  </a:txBody>
                  <a:tcPr marL="64008" marR="64008" marT="36576" marB="36576">
                    <a:solidFill>
                      <a:srgbClr val="FFFFFF"/>
                    </a:solidFill>
                  </a:tcPr>
                </a:tc>
                <a:extLst>
                  <a:ext uri="{0D108BD9-81ED-4DB2-BD59-A6C34878D82A}">
                    <a16:rowId xmlns:a16="http://schemas.microsoft.com/office/drawing/2014/main" val="10005"/>
                  </a:ext>
                </a:extLst>
              </a:tr>
              <a:tr h="394854">
                <a:tc>
                  <a:txBody>
                    <a:bodyPr/>
                    <a:lstStyle/>
                    <a:p>
                      <a:r>
                        <a:rPr sz="950" b="0" i="0">
                          <a:solidFill>
                            <a:srgbClr val="1F2937"/>
                          </a:solidFill>
                          <a:latin typeface="Calibri"/>
                        </a:rPr>
                        <a:t>'Structural Feature Engineering for GEO', arXiv 2603.29979; AgentGEO, arXiv 2603.09296 (2026)</a:t>
                      </a:r>
                    </a:p>
                  </a:txBody>
                  <a:tcPr marL="64008" marR="64008" marT="36576" marB="36576">
                    <a:solidFill>
                      <a:srgbClr val="F3F5F8"/>
                    </a:solidFill>
                  </a:tcPr>
                </a:tc>
                <a:tc>
                  <a:txBody>
                    <a:bodyPr/>
                    <a:lstStyle/>
                    <a:p>
                      <a:r>
                        <a:rPr sz="950" b="0" i="0">
                          <a:solidFill>
                            <a:srgbClr val="1F2937"/>
                          </a:solidFill>
                          <a:latin typeface="Calibri"/>
                        </a:rPr>
                        <a:t>+17.3% citation rate from document structure across six engines; targeted repairs beat generic rewriting; generic optimisation can harm long-tail content</a:t>
                      </a:r>
                    </a:p>
                  </a:txBody>
                  <a:tcPr marL="64008" marR="64008" marT="36576" marB="36576">
                    <a:solidFill>
                      <a:srgbClr val="F3F5F8"/>
                    </a:solidFill>
                  </a:tcPr>
                </a:tc>
                <a:extLst>
                  <a:ext uri="{0D108BD9-81ED-4DB2-BD59-A6C34878D82A}">
                    <a16:rowId xmlns:a16="http://schemas.microsoft.com/office/drawing/2014/main" val="10006"/>
                  </a:ext>
                </a:extLst>
              </a:tr>
              <a:tr h="394854">
                <a:tc>
                  <a:txBody>
                    <a:bodyPr/>
                    <a:lstStyle/>
                    <a:p>
                      <a:r>
                        <a:rPr sz="950" b="0" i="0">
                          <a:solidFill>
                            <a:srgbClr val="1F2937"/>
                          </a:solidFill>
                          <a:latin typeface="Calibri"/>
                        </a:rPr>
                        <a:t>Liu et al., 'Lost in the Middle', TACL 2024; Gao et al., ALCE, EMNLP 2023</a:t>
                      </a:r>
                    </a:p>
                  </a:txBody>
                  <a:tcPr marL="64008" marR="64008" marT="36576" marB="36576">
                    <a:solidFill>
                      <a:srgbClr val="FFFFFF"/>
                    </a:solidFill>
                  </a:tcPr>
                </a:tc>
                <a:tc>
                  <a:txBody>
                    <a:bodyPr/>
                    <a:lstStyle/>
                    <a:p>
                      <a:r>
                        <a:rPr sz="950" b="0" i="0">
                          <a:solidFill>
                            <a:srgbClr val="1F2937"/>
                          </a:solidFill>
                          <a:latin typeface="Calibri"/>
                        </a:rPr>
                        <a:t>Position effects in long contexts; citing a source and being supported by it are separate questions</a:t>
                      </a:r>
                    </a:p>
                  </a:txBody>
                  <a:tcPr marL="64008" marR="64008" marT="36576" marB="36576">
                    <a:solidFill>
                      <a:srgbClr val="FFFFFF"/>
                    </a:solidFill>
                  </a:tcPr>
                </a:tc>
                <a:extLst>
                  <a:ext uri="{0D108BD9-81ED-4DB2-BD59-A6C34878D82A}">
                    <a16:rowId xmlns:a16="http://schemas.microsoft.com/office/drawing/2014/main" val="10007"/>
                  </a:ext>
                </a:extLst>
              </a:tr>
              <a:tr h="394854">
                <a:tc>
                  <a:txBody>
                    <a:bodyPr/>
                    <a:lstStyle/>
                    <a:p>
                      <a:r>
                        <a:rPr sz="950" b="0" i="0">
                          <a:solidFill>
                            <a:srgbClr val="1F2937"/>
                          </a:solidFill>
                          <a:latin typeface="Calibri"/>
                        </a:rPr>
                        <a:t>Google Search Central (10 Dec 2025; 15 May 2026); OpenAI crawler docs; Bing Webmaster Guidelines (27 Feb 2026)</a:t>
                      </a:r>
                    </a:p>
                  </a:txBody>
                  <a:tcPr marL="64008" marR="64008" marT="36576" marB="36576">
                    <a:solidFill>
                      <a:srgbClr val="F3F5F8"/>
                    </a:solidFill>
                  </a:tcPr>
                </a:tc>
                <a:tc>
                  <a:txBody>
                    <a:bodyPr/>
                    <a:lstStyle/>
                    <a:p>
                      <a:r>
                        <a:rPr sz="950" b="0" i="0">
                          <a:solidFill>
                            <a:srgbClr val="1F2937"/>
                          </a:solidFill>
                          <a:latin typeface="Calibri"/>
                        </a:rPr>
                        <a:t>No special files or schema; still SEO; non-commodity content; OAI-SearchBot controls ChatGPT search; GEO does not guarantee citations; NOARCHIVE removes Copilot use</a:t>
                      </a:r>
                    </a:p>
                  </a:txBody>
                  <a:tcPr marL="64008" marR="64008" marT="36576" marB="36576">
                    <a:solidFill>
                      <a:srgbClr val="F3F5F8"/>
                    </a:solidFill>
                  </a:tcPr>
                </a:tc>
                <a:extLst>
                  <a:ext uri="{0D108BD9-81ED-4DB2-BD59-A6C34878D82A}">
                    <a16:rowId xmlns:a16="http://schemas.microsoft.com/office/drawing/2014/main" val="10008"/>
                  </a:ext>
                </a:extLst>
              </a:tr>
              <a:tr h="394854">
                <a:tc>
                  <a:txBody>
                    <a:bodyPr/>
                    <a:lstStyle/>
                    <a:p>
                      <a:r>
                        <a:rPr sz="950" b="0" i="0">
                          <a:solidFill>
                            <a:srgbClr val="1F2937"/>
                          </a:solidFill>
                          <a:latin typeface="Calibri"/>
                        </a:rPr>
                        <a:t>Vercel/MERJ (Dec 2024); Ahrefs (Jun, Sep 2026); Profound (2025)</a:t>
                      </a:r>
                    </a:p>
                  </a:txBody>
                  <a:tcPr marL="64008" marR="64008" marT="36576" marB="36576">
                    <a:solidFill>
                      <a:srgbClr val="FFFFFF"/>
                    </a:solidFill>
                  </a:tcPr>
                </a:tc>
                <a:tc>
                  <a:txBody>
                    <a:bodyPr/>
                    <a:lstStyle/>
                    <a:p>
                      <a:r>
                        <a:rPr sz="950" b="0" i="0">
                          <a:solidFill>
                            <a:srgbClr val="1F2937"/>
                          </a:solidFill>
                          <a:latin typeface="Calibri"/>
                        </a:rPr>
                        <a:t>Sampled AI crawlers had limited JavaScript rendering; llms.txt rarely fetched; which domains engines cite</a:t>
                      </a:r>
                    </a:p>
                  </a:txBody>
                  <a:tcPr marL="64008" marR="64008" marT="36576" marB="36576">
                    <a:solidFill>
                      <a:srgbClr val="FFFFFF"/>
                    </a:solidFill>
                  </a:tcPr>
                </a:tc>
                <a:extLst>
                  <a:ext uri="{0D108BD9-81ED-4DB2-BD59-A6C34878D82A}">
                    <a16:rowId xmlns:a16="http://schemas.microsoft.com/office/drawing/2014/main" val="10009"/>
                  </a:ext>
                </a:extLst>
              </a:tr>
              <a:tr h="394854">
                <a:tc>
                  <a:txBody>
                    <a:bodyPr/>
                    <a:lstStyle/>
                    <a:p>
                      <a:r>
                        <a:rPr sz="950" b="0" i="0">
                          <a:solidFill>
                            <a:srgbClr val="1F2937"/>
                          </a:solidFill>
                          <a:latin typeface="Calibri"/>
                        </a:rPr>
                        <a:t>Phocuswright The AI Surge (2026); Adobe (Aug 2026); Pew (Jul 2025); Compare the Market AU (2026); FCTG FY26</a:t>
                      </a:r>
                    </a:p>
                  </a:txBody>
                  <a:tcPr marL="64008" marR="64008" marT="36576" marB="36576">
                    <a:solidFill>
                      <a:srgbClr val="F3F5F8"/>
                    </a:solidFill>
                  </a:tcPr>
                </a:tc>
                <a:tc>
                  <a:txBody>
                    <a:bodyPr/>
                    <a:lstStyle/>
                    <a:p>
                      <a:r>
                        <a:rPr sz="950" b="0" i="0">
                          <a:solidFill>
                            <a:srgbClr val="1F2937"/>
                          </a:solidFill>
                          <a:latin typeface="Calibri"/>
                        </a:rPr>
                        <a:t>Adoption, referral growth, click behaviour, Australian usage, FC's own digital trajectory</a:t>
                      </a:r>
                    </a:p>
                  </a:txBody>
                  <a:tcPr marL="64008" marR="64008" marT="36576" marB="36576">
                    <a:solidFill>
                      <a:srgbClr val="F3F5F8"/>
                    </a:solidFill>
                  </a:tcPr>
                </a:tc>
                <a:extLst>
                  <a:ext uri="{0D108BD9-81ED-4DB2-BD59-A6C34878D82A}">
                    <a16:rowId xmlns:a16="http://schemas.microsoft.com/office/drawing/2014/main" val="10010"/>
                  </a:ext>
                </a:extLst>
              </a:tr>
            </a:tbl>
          </a:graphicData>
        </a:graphic>
      </p:graphicFrame>
      <p:sp>
        <p:nvSpPr>
          <p:cNvPr id="7" name="TextBox 6"/>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Full references with URLs are in the Technical Report and Handover Guide v1.1. Preprints are not peer-reviewed; vendor studies are directional.</a:t>
            </a:r>
          </a:p>
        </p:txBody>
      </p:sp>
      <p:sp>
        <p:nvSpPr>
          <p:cNvPr id="8" name="TextBox 7"/>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BACKUP (HIDDEN) · FOR Q&amp;A</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400" b="1" i="0">
                <a:solidFill>
                  <a:srgbClr val="0B2240"/>
                </a:solidFill>
                <a:latin typeface="Calibri"/>
              </a:rPr>
              <a:t>Backup: GEO services on the market, what they operate, and how FC should use each</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graphicFrame>
        <p:nvGraphicFramePr>
          <p:cNvPr id="5" name="Table 4"/>
          <p:cNvGraphicFramePr>
            <a:graphicFrameLocks noGrp="1"/>
          </p:cNvGraphicFramePr>
          <p:nvPr/>
        </p:nvGraphicFramePr>
        <p:xfrm>
          <a:off x="548640" y="1600200"/>
          <a:ext cx="11109960" cy="4343400"/>
        </p:xfrm>
        <a:graphic>
          <a:graphicData uri="http://schemas.openxmlformats.org/drawingml/2006/table">
            <a:tbl>
              <a:tblPr/>
              <a:tblGrid>
                <a:gridCol w="1828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2606040">
                  <a:extLst>
                    <a:ext uri="{9D8B030D-6E8A-4147-A177-3AD203B41FA5}">
                      <a16:colId xmlns:a16="http://schemas.microsoft.com/office/drawing/2014/main" val="20003"/>
                    </a:ext>
                  </a:extLst>
                </a:gridCol>
              </a:tblGrid>
              <a:tr h="723900">
                <a:tc>
                  <a:txBody>
                    <a:bodyPr/>
                    <a:lstStyle/>
                    <a:p>
                      <a:r>
                        <a:rPr sz="1000" b="1" i="0">
                          <a:solidFill>
                            <a:srgbClr val="FFFFFF"/>
                          </a:solidFill>
                          <a:latin typeface="Calibri"/>
                        </a:rPr>
                        <a:t>Service type</a:t>
                      </a:r>
                    </a:p>
                  </a:txBody>
                  <a:tcPr marL="64008" marR="64008" marT="36576" marB="36576" anchor="ctr">
                    <a:solidFill>
                      <a:srgbClr val="0B2240"/>
                    </a:solidFill>
                  </a:tcPr>
                </a:tc>
                <a:tc>
                  <a:txBody>
                    <a:bodyPr/>
                    <a:lstStyle/>
                    <a:p>
                      <a:r>
                        <a:rPr sz="1000" b="1" i="0">
                          <a:solidFill>
                            <a:srgbClr val="FFFFFF"/>
                          </a:solidFill>
                          <a:latin typeface="Calibri"/>
                        </a:rPr>
                        <a:t>Examples (offers, not proof of lift)</a:t>
                      </a:r>
                    </a:p>
                  </a:txBody>
                  <a:tcPr marL="64008" marR="64008" marT="36576" marB="36576" anchor="ctr">
                    <a:solidFill>
                      <a:srgbClr val="0B2240"/>
                    </a:solidFill>
                  </a:tcPr>
                </a:tc>
                <a:tc>
                  <a:txBody>
                    <a:bodyPr/>
                    <a:lstStyle/>
                    <a:p>
                      <a:r>
                        <a:rPr sz="1000" b="1" i="0">
                          <a:solidFill>
                            <a:srgbClr val="FFFFFF"/>
                          </a:solidFill>
                          <a:latin typeface="Calibri"/>
                        </a:rPr>
                        <a:t>What they operate</a:t>
                      </a:r>
                    </a:p>
                  </a:txBody>
                  <a:tcPr marL="64008" marR="64008" marT="36576" marB="36576" anchor="ctr">
                    <a:solidFill>
                      <a:srgbClr val="0B2240"/>
                    </a:solidFill>
                  </a:tcPr>
                </a:tc>
                <a:tc>
                  <a:txBody>
                    <a:bodyPr/>
                    <a:lstStyle/>
                    <a:p>
                      <a:r>
                        <a:rPr sz="1000" b="1" i="0">
                          <a:solidFill>
                            <a:srgbClr val="FFFFFF"/>
                          </a:solidFill>
                          <a:latin typeface="Calibri"/>
                        </a:rPr>
                        <a:t>FC decision</a:t>
                      </a:r>
                    </a:p>
                  </a:txBody>
                  <a:tcPr marL="64008" marR="64008" marT="36576" marB="36576" anchor="ctr">
                    <a:solidFill>
                      <a:srgbClr val="0B2240"/>
                    </a:solidFill>
                  </a:tcPr>
                </a:tc>
                <a:extLst>
                  <a:ext uri="{0D108BD9-81ED-4DB2-BD59-A6C34878D82A}">
                    <a16:rowId xmlns:a16="http://schemas.microsoft.com/office/drawing/2014/main" val="10000"/>
                  </a:ext>
                </a:extLst>
              </a:tr>
              <a:tr h="723900">
                <a:tc>
                  <a:txBody>
                    <a:bodyPr/>
                    <a:lstStyle/>
                    <a:p>
                      <a:r>
                        <a:rPr sz="950" b="0" i="0">
                          <a:solidFill>
                            <a:srgbClr val="1F2937"/>
                          </a:solidFill>
                          <a:latin typeface="Calibri"/>
                        </a:rPr>
                        <a:t>Agencies / consultancies</a:t>
                      </a:r>
                    </a:p>
                  </a:txBody>
                  <a:tcPr marL="64008" marR="64008" marT="36576" marB="36576">
                    <a:solidFill>
                      <a:srgbClr val="FFFFFF"/>
                    </a:solidFill>
                  </a:tcPr>
                </a:tc>
                <a:tc>
                  <a:txBody>
                    <a:bodyPr/>
                    <a:lstStyle/>
                    <a:p>
                      <a:r>
                        <a:rPr sz="950" b="0" i="0">
                          <a:solidFill>
                            <a:srgbClr val="1F2937"/>
                          </a:solidFill>
                          <a:latin typeface="Calibri"/>
                        </a:rPr>
                        <a:t>Intender, Luminary, 23 Digital (AU); iPullRank, Seer, Cited, Demand Local</a:t>
                      </a:r>
                    </a:p>
                  </a:txBody>
                  <a:tcPr marL="64008" marR="64008" marT="36576" marB="36576">
                    <a:solidFill>
                      <a:srgbClr val="FFFFFF"/>
                    </a:solidFill>
                  </a:tcPr>
                </a:tc>
                <a:tc>
                  <a:txBody>
                    <a:bodyPr/>
                    <a:lstStyle/>
                    <a:p>
                      <a:r>
                        <a:rPr sz="950" b="0" i="0">
                          <a:solidFill>
                            <a:srgbClr val="1F2937"/>
                          </a:solidFill>
                          <a:latin typeface="Calibri"/>
                        </a:rPr>
                        <a:t>Audit → content, technical and PR work → monitoring retainer. Intender: 'Can you really influence what ChatGPT says? Not directly.'</a:t>
                      </a:r>
                    </a:p>
                  </a:txBody>
                  <a:tcPr marL="64008" marR="64008" marT="36576" marB="36576">
                    <a:solidFill>
                      <a:srgbClr val="FFFFFF"/>
                    </a:solidFill>
                  </a:tcPr>
                </a:tc>
                <a:tc>
                  <a:txBody>
                    <a:bodyPr/>
                    <a:lstStyle/>
                    <a:p>
                      <a:r>
                        <a:rPr sz="950" b="0" i="0">
                          <a:solidFill>
                            <a:srgbClr val="1F2937"/>
                          </a:solidFill>
                          <a:latin typeface="Calibri"/>
                        </a:rPr>
                        <a:t>Use their checklists as a work list; require clear scope, evidence and reporting</a:t>
                      </a:r>
                    </a:p>
                  </a:txBody>
                  <a:tcPr marL="64008" marR="64008" marT="36576" marB="36576">
                    <a:solidFill>
                      <a:srgbClr val="FFFFFF"/>
                    </a:solidFill>
                  </a:tcPr>
                </a:tc>
                <a:extLst>
                  <a:ext uri="{0D108BD9-81ED-4DB2-BD59-A6C34878D82A}">
                    <a16:rowId xmlns:a16="http://schemas.microsoft.com/office/drawing/2014/main" val="10001"/>
                  </a:ext>
                </a:extLst>
              </a:tr>
              <a:tr h="723900">
                <a:tc>
                  <a:txBody>
                    <a:bodyPr/>
                    <a:lstStyle/>
                    <a:p>
                      <a:r>
                        <a:rPr sz="950" b="0" i="0">
                          <a:solidFill>
                            <a:srgbClr val="1F2937"/>
                          </a:solidFill>
                          <a:latin typeface="Calibri"/>
                        </a:rPr>
                        <a:t>Visibility software</a:t>
                      </a:r>
                    </a:p>
                  </a:txBody>
                  <a:tcPr marL="64008" marR="64008" marT="36576" marB="36576">
                    <a:solidFill>
                      <a:srgbClr val="F3F5F8"/>
                    </a:solidFill>
                  </a:tcPr>
                </a:tc>
                <a:tc>
                  <a:txBody>
                    <a:bodyPr/>
                    <a:lstStyle/>
                    <a:p>
                      <a:r>
                        <a:rPr sz="950" b="0" i="0">
                          <a:solidFill>
                            <a:srgbClr val="1F2937"/>
                          </a:solidFill>
                          <a:latin typeface="Calibri"/>
                        </a:rPr>
                        <a:t>Profound, Otterly, Ahrefs Brand Radar, Semrush AI Toolkit, Peec</a:t>
                      </a:r>
                    </a:p>
                  </a:txBody>
                  <a:tcPr marL="64008" marR="64008" marT="36576" marB="36576">
                    <a:solidFill>
                      <a:srgbClr val="F3F5F8"/>
                    </a:solidFill>
                  </a:tcPr>
                </a:tc>
                <a:tc>
                  <a:txBody>
                    <a:bodyPr/>
                    <a:lstStyle/>
                    <a:p>
                      <a:r>
                        <a:rPr sz="950" b="0" i="0">
                          <a:solidFill>
                            <a:srgbClr val="1F2937"/>
                          </a:solidFill>
                          <a:latin typeface="Calibri"/>
                        </a:rPr>
                        <a:t>Prompt panels across engines; mention, citation, share of voice, sentiment. Scores are conditional and vendor-specific; not comparable to our 40% / 52%</a:t>
                      </a:r>
                    </a:p>
                  </a:txBody>
                  <a:tcPr marL="64008" marR="64008" marT="36576" marB="36576">
                    <a:solidFill>
                      <a:srgbClr val="F3F5F8"/>
                    </a:solidFill>
                  </a:tcPr>
                </a:tc>
                <a:tc>
                  <a:txBody>
                    <a:bodyPr/>
                    <a:lstStyle/>
                    <a:p>
                      <a:r>
                        <a:rPr sz="950" b="0" i="0">
                          <a:solidFill>
                            <a:srgbClr val="1F2937"/>
                          </a:solidFill>
                          <a:latin typeface="Calibri"/>
                        </a:rPr>
                        <a:t>Build the panel in-house first; if buying later, demand formula, raw answers and denominator</a:t>
                      </a:r>
                    </a:p>
                  </a:txBody>
                  <a:tcPr marL="64008" marR="64008" marT="36576" marB="36576">
                    <a:solidFill>
                      <a:srgbClr val="F3F5F8"/>
                    </a:solidFill>
                  </a:tcPr>
                </a:tc>
                <a:extLst>
                  <a:ext uri="{0D108BD9-81ED-4DB2-BD59-A6C34878D82A}">
                    <a16:rowId xmlns:a16="http://schemas.microsoft.com/office/drawing/2014/main" val="10002"/>
                  </a:ext>
                </a:extLst>
              </a:tr>
              <a:tr h="723900">
                <a:tc>
                  <a:txBody>
                    <a:bodyPr/>
                    <a:lstStyle/>
                    <a:p>
                      <a:r>
                        <a:rPr sz="950" b="0" i="0">
                          <a:solidFill>
                            <a:srgbClr val="1F2937"/>
                          </a:solidFill>
                          <a:latin typeface="Calibri"/>
                        </a:rPr>
                        <a:t>Execution / entity platforms</a:t>
                      </a:r>
                    </a:p>
                  </a:txBody>
                  <a:tcPr marL="64008" marR="64008" marT="36576" marB="36576">
                    <a:solidFill>
                      <a:srgbClr val="FFFFFF"/>
                    </a:solidFill>
                  </a:tcPr>
                </a:tc>
                <a:tc>
                  <a:txBody>
                    <a:bodyPr/>
                    <a:lstStyle/>
                    <a:p>
                      <a:r>
                        <a:rPr sz="950" b="0" i="0">
                          <a:solidFill>
                            <a:srgbClr val="1F2937"/>
                          </a:solidFill>
                          <a:latin typeface="Calibri"/>
                        </a:rPr>
                        <a:t>Scrunch (Sitecore), Optimizely, AirOps, Yext Scout</a:t>
                      </a:r>
                    </a:p>
                  </a:txBody>
                  <a:tcPr marL="64008" marR="64008" marT="36576" marB="36576">
                    <a:solidFill>
                      <a:srgbClr val="FFFFFF"/>
                    </a:solidFill>
                  </a:tcPr>
                </a:tc>
                <a:tc>
                  <a:txBody>
                    <a:bodyPr/>
                    <a:lstStyle/>
                    <a:p>
                      <a:r>
                        <a:rPr sz="950" b="0" i="0">
                          <a:solidFill>
                            <a:srgbClr val="1F2937"/>
                          </a:solidFill>
                          <a:latin typeface="Calibri"/>
                        </a:rPr>
                        <a:t>Publish or serve content; listings and knowledge graph; Scrunch can serve a simplified page to bots (AXP)</a:t>
                      </a:r>
                    </a:p>
                  </a:txBody>
                  <a:tcPr marL="64008" marR="64008" marT="36576" marB="36576">
                    <a:solidFill>
                      <a:srgbClr val="FFFFFF"/>
                    </a:solidFill>
                  </a:tcPr>
                </a:tc>
                <a:tc>
                  <a:txBody>
                    <a:bodyPr/>
                    <a:lstStyle/>
                    <a:p>
                      <a:r>
                        <a:rPr sz="950" b="0" i="0">
                          <a:solidFill>
                            <a:srgbClr val="1F2937"/>
                          </a:solidFill>
                          <a:latin typeface="Calibri"/>
                        </a:rPr>
                        <a:t>Yext-style listings for stores is relevant; AI-only page variants deferred unless facts are bitwise identical</a:t>
                      </a:r>
                    </a:p>
                  </a:txBody>
                  <a:tcPr marL="64008" marR="64008" marT="36576" marB="36576">
                    <a:solidFill>
                      <a:srgbClr val="FFFFFF"/>
                    </a:solidFill>
                  </a:tcPr>
                </a:tc>
                <a:extLst>
                  <a:ext uri="{0D108BD9-81ED-4DB2-BD59-A6C34878D82A}">
                    <a16:rowId xmlns:a16="http://schemas.microsoft.com/office/drawing/2014/main" val="10003"/>
                  </a:ext>
                </a:extLst>
              </a:tr>
              <a:tr h="723900">
                <a:tc>
                  <a:txBody>
                    <a:bodyPr/>
                    <a:lstStyle/>
                    <a:p>
                      <a:r>
                        <a:rPr sz="950" b="0" i="0">
                          <a:solidFill>
                            <a:srgbClr val="1F2937"/>
                          </a:solidFill>
                          <a:latin typeface="Calibri"/>
                        </a:rPr>
                        <a:t>Connectors</a:t>
                      </a:r>
                    </a:p>
                  </a:txBody>
                  <a:tcPr marL="64008" marR="64008" marT="36576" marB="36576">
                    <a:solidFill>
                      <a:srgbClr val="F3F5F8"/>
                    </a:solidFill>
                  </a:tcPr>
                </a:tc>
                <a:tc>
                  <a:txBody>
                    <a:bodyPr/>
                    <a:lstStyle/>
                    <a:p>
                      <a:r>
                        <a:rPr sz="950" b="0" i="0">
                          <a:solidFill>
                            <a:srgbClr val="1F2937"/>
                          </a:solidFill>
                          <a:latin typeface="Calibri"/>
                        </a:rPr>
                        <a:t>Expedia and Booking.com ChatGPT apps; Virgin Australia app; Google UCP; MCP</a:t>
                      </a:r>
                    </a:p>
                  </a:txBody>
                  <a:tcPr marL="64008" marR="64008" marT="36576" marB="36576">
                    <a:solidFill>
                      <a:srgbClr val="F3F5F8"/>
                    </a:solidFill>
                  </a:tcPr>
                </a:tc>
                <a:tc>
                  <a:txBody>
                    <a:bodyPr/>
                    <a:lstStyle/>
                    <a:p>
                      <a:r>
                        <a:rPr sz="950" b="0" i="0">
                          <a:solidFill>
                            <a:srgbClr val="1F2937"/>
                          </a:solidFill>
                          <a:latin typeface="Calibri"/>
                        </a:rPr>
                        <a:t>Inventory inside the chat; checkout on merchant</a:t>
                      </a:r>
                    </a:p>
                  </a:txBody>
                  <a:tcPr marL="64008" marR="64008" marT="36576" marB="36576">
                    <a:solidFill>
                      <a:srgbClr val="F3F5F8"/>
                    </a:solidFill>
                  </a:tcPr>
                </a:tc>
                <a:tc>
                  <a:txBody>
                    <a:bodyPr/>
                    <a:lstStyle/>
                    <a:p>
                      <a:r>
                        <a:rPr sz="950" b="0" i="0">
                          <a:solidFill>
                            <a:srgbClr val="1F2937"/>
                          </a:solidFill>
                          <a:latin typeface="Calibri"/>
                        </a:rPr>
                        <a:t>Options paper only; FC's routable asset is the expert/store path, not OTA inventory</a:t>
                      </a:r>
                    </a:p>
                  </a:txBody>
                  <a:tcPr marL="64008" marR="64008" marT="36576" marB="36576">
                    <a:solidFill>
                      <a:srgbClr val="F3F5F8"/>
                    </a:solidFill>
                  </a:tcPr>
                </a:tc>
                <a:extLst>
                  <a:ext uri="{0D108BD9-81ED-4DB2-BD59-A6C34878D82A}">
                    <a16:rowId xmlns:a16="http://schemas.microsoft.com/office/drawing/2014/main" val="10004"/>
                  </a:ext>
                </a:extLst>
              </a:tr>
              <a:tr h="723900">
                <a:tc>
                  <a:txBody>
                    <a:bodyPr/>
                    <a:lstStyle/>
                    <a:p>
                      <a:r>
                        <a:rPr sz="950" b="0" i="0">
                          <a:solidFill>
                            <a:srgbClr val="1F2937"/>
                          </a:solidFill>
                          <a:latin typeface="Calibri"/>
                        </a:rPr>
                        <a:t>Controlled experiment</a:t>
                      </a:r>
                    </a:p>
                  </a:txBody>
                  <a:tcPr marL="64008" marR="64008" marT="36576" marB="36576">
                    <a:solidFill>
                      <a:srgbClr val="FFFFFF"/>
                    </a:solidFill>
                  </a:tcPr>
                </a:tc>
                <a:tc>
                  <a:txBody>
                    <a:bodyPr/>
                    <a:lstStyle/>
                    <a:p>
                      <a:r>
                        <a:rPr sz="950" b="0" i="0">
                          <a:solidFill>
                            <a:srgbClr val="1F2937"/>
                          </a:solidFill>
                          <a:latin typeface="Calibri"/>
                        </a:rPr>
                        <a:t>This project</a:t>
                      </a:r>
                    </a:p>
                  </a:txBody>
                  <a:tcPr marL="64008" marR="64008" marT="36576" marB="36576">
                    <a:solidFill>
                      <a:srgbClr val="FFFFFF"/>
                    </a:solidFill>
                  </a:tcPr>
                </a:tc>
                <a:tc>
                  <a:txBody>
                    <a:bodyPr/>
                    <a:lstStyle/>
                    <a:p>
                      <a:r>
                        <a:rPr sz="950" b="0" i="0">
                          <a:solidFill>
                            <a:srgbClr val="1F2937"/>
                          </a:solidFill>
                          <a:latin typeface="Calibri"/>
                        </a:rPr>
                        <a:t>Frozen sources, repeated answers, question-level statistics</a:t>
                      </a:r>
                    </a:p>
                  </a:txBody>
                  <a:tcPr marL="64008" marR="64008" marT="36576" marB="36576">
                    <a:solidFill>
                      <a:srgbClr val="FFFFFF"/>
                    </a:solidFill>
                  </a:tcPr>
                </a:tc>
                <a:tc>
                  <a:txBody>
                    <a:bodyPr/>
                    <a:lstStyle/>
                    <a:p>
                      <a:r>
                        <a:rPr sz="950" b="0" i="0">
                          <a:solidFill>
                            <a:srgbClr val="1F2937"/>
                          </a:solidFill>
                          <a:latin typeface="Calibri"/>
                        </a:rPr>
                        <a:t>Completed research evidence; FC can implement the findings without reproducing the sandbox</a:t>
                      </a:r>
                    </a:p>
                  </a:txBody>
                  <a:tcPr marL="64008" marR="64008" marT="36576" marB="36576">
                    <a:solidFill>
                      <a:srgbClr val="FFFFFF"/>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Sampled 14–24 Oct 2026 from public service pages. Public pages say what a company sells; they do not prove the service will move Flight Centre citations or bookings.</a:t>
            </a:r>
          </a:p>
        </p:txBody>
      </p:sp>
      <p:sp>
        <p:nvSpPr>
          <p:cNvPr id="7" name="TextBox 6"/>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BACKUP (HIDDEN) · FOR Q&amp;A</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400" b="1" i="0">
                <a:solidFill>
                  <a:srgbClr val="0B2240"/>
                </a:solidFill>
                <a:latin typeface="Calibri"/>
              </a:rPr>
              <a:t>Backup: glossary</a:t>
            </a:r>
          </a:p>
        </p:txBody>
      </p:sp>
      <p:graphicFrame>
        <p:nvGraphicFramePr>
          <p:cNvPr id="4" name="Table 3"/>
          <p:cNvGraphicFramePr>
            <a:graphicFrameLocks noGrp="1"/>
          </p:cNvGraphicFramePr>
          <p:nvPr/>
        </p:nvGraphicFramePr>
        <p:xfrm>
          <a:off x="548640" y="1600200"/>
          <a:ext cx="11109960" cy="4023360"/>
        </p:xfrm>
        <a:graphic>
          <a:graphicData uri="http://schemas.openxmlformats.org/drawingml/2006/table">
            <a:tbl>
              <a:tblPr/>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335280">
                <a:tc>
                  <a:txBody>
                    <a:bodyPr/>
                    <a:lstStyle/>
                    <a:p>
                      <a:r>
                        <a:rPr sz="1050" b="1" i="0">
                          <a:solidFill>
                            <a:srgbClr val="FFFFFF"/>
                          </a:solidFill>
                          <a:latin typeface="Calibri"/>
                        </a:rPr>
                        <a:t>Term</a:t>
                      </a:r>
                    </a:p>
                  </a:txBody>
                  <a:tcPr marL="64008" marR="64008" marT="36576" marB="36576" anchor="ctr">
                    <a:solidFill>
                      <a:srgbClr val="0B2240"/>
                    </a:solidFill>
                  </a:tcPr>
                </a:tc>
                <a:tc>
                  <a:txBody>
                    <a:bodyPr/>
                    <a:lstStyle/>
                    <a:p>
                      <a:r>
                        <a:rPr sz="1050" b="1" i="0">
                          <a:solidFill>
                            <a:srgbClr val="FFFFFF"/>
                          </a:solidFill>
                          <a:latin typeface="Calibri"/>
                        </a:rPr>
                        <a:t>Meaning in this briefing</a:t>
                      </a:r>
                    </a:p>
                  </a:txBody>
                  <a:tcPr marL="64008" marR="64008" marT="36576" marB="36576" anchor="ctr">
                    <a:solidFill>
                      <a:srgbClr val="0B2240"/>
                    </a:solidFill>
                  </a:tcPr>
                </a:tc>
                <a:extLst>
                  <a:ext uri="{0D108BD9-81ED-4DB2-BD59-A6C34878D82A}">
                    <a16:rowId xmlns:a16="http://schemas.microsoft.com/office/drawing/2014/main" val="10000"/>
                  </a:ext>
                </a:extLst>
              </a:tr>
              <a:tr h="335280">
                <a:tc>
                  <a:txBody>
                    <a:bodyPr/>
                    <a:lstStyle/>
                    <a:p>
                      <a:r>
                        <a:rPr sz="1000" b="0" i="0">
                          <a:solidFill>
                            <a:srgbClr val="1F2937"/>
                          </a:solidFill>
                          <a:latin typeface="Calibri"/>
                        </a:rPr>
                        <a:t>GEO / AEO / AI SEO</a:t>
                      </a:r>
                    </a:p>
                  </a:txBody>
                  <a:tcPr marL="64008" marR="64008" marT="36576" marB="36576">
                    <a:solidFill>
                      <a:srgbClr val="FFFFFF"/>
                    </a:solidFill>
                  </a:tcPr>
                </a:tc>
                <a:tc>
                  <a:txBody>
                    <a:bodyPr/>
                    <a:lstStyle/>
                    <a:p>
                      <a:r>
                        <a:rPr sz="1000" b="0" i="0">
                          <a:solidFill>
                            <a:srgbClr val="1F2937"/>
                          </a:solidFill>
                          <a:latin typeface="Calibri"/>
                        </a:rPr>
                        <a:t>Making a brand findable, readable, citable and (where possible) actionable inside AI-generated answers</a:t>
                      </a:r>
                    </a:p>
                  </a:txBody>
                  <a:tcPr marL="64008" marR="64008" marT="36576" marB="36576">
                    <a:solidFill>
                      <a:srgbClr val="FFFFFF"/>
                    </a:solidFill>
                  </a:tcPr>
                </a:tc>
                <a:extLst>
                  <a:ext uri="{0D108BD9-81ED-4DB2-BD59-A6C34878D82A}">
                    <a16:rowId xmlns:a16="http://schemas.microsoft.com/office/drawing/2014/main" val="10001"/>
                  </a:ext>
                </a:extLst>
              </a:tr>
              <a:tr h="335280">
                <a:tc>
                  <a:txBody>
                    <a:bodyPr/>
                    <a:lstStyle/>
                    <a:p>
                      <a:r>
                        <a:rPr sz="1000" b="0" i="0">
                          <a:solidFill>
                            <a:srgbClr val="1F2937"/>
                          </a:solidFill>
                          <a:latin typeface="Calibri"/>
                        </a:rPr>
                        <a:t>Citation inclusion</a:t>
                      </a:r>
                    </a:p>
                  </a:txBody>
                  <a:tcPr marL="64008" marR="64008" marT="36576" marB="36576">
                    <a:solidFill>
                      <a:srgbClr val="F3F5F8"/>
                    </a:solidFill>
                  </a:tcPr>
                </a:tc>
                <a:tc>
                  <a:txBody>
                    <a:bodyPr/>
                    <a:lstStyle/>
                    <a:p>
                      <a:r>
                        <a:rPr sz="1000" b="0" i="0">
                          <a:solidFill>
                            <a:srgbClr val="1F2937"/>
                          </a:solidFill>
                          <a:latin typeface="Calibri"/>
                        </a:rPr>
                        <a:t>Share of answers with at least one numbered reference to a Flight Centre source; several references count once</a:t>
                      </a:r>
                    </a:p>
                  </a:txBody>
                  <a:tcPr marL="64008" marR="64008" marT="36576" marB="36576">
                    <a:solidFill>
                      <a:srgbClr val="F3F5F8"/>
                    </a:solidFill>
                  </a:tcPr>
                </a:tc>
                <a:extLst>
                  <a:ext uri="{0D108BD9-81ED-4DB2-BD59-A6C34878D82A}">
                    <a16:rowId xmlns:a16="http://schemas.microsoft.com/office/drawing/2014/main" val="10002"/>
                  </a:ext>
                </a:extLst>
              </a:tr>
              <a:tr h="335280">
                <a:tc>
                  <a:txBody>
                    <a:bodyPr/>
                    <a:lstStyle/>
                    <a:p>
                      <a:r>
                        <a:rPr sz="1000" b="0" i="0">
                          <a:solidFill>
                            <a:srgbClr val="1F2937"/>
                          </a:solidFill>
                          <a:latin typeface="Calibri"/>
                        </a:rPr>
                        <a:t>Percentage point vs relative</a:t>
                      </a:r>
                    </a:p>
                  </a:txBody>
                  <a:tcPr marL="64008" marR="64008" marT="36576" marB="36576">
                    <a:solidFill>
                      <a:srgbClr val="FFFFFF"/>
                    </a:solidFill>
                  </a:tcPr>
                </a:tc>
                <a:tc>
                  <a:txBody>
                    <a:bodyPr/>
                    <a:lstStyle/>
                    <a:p>
                      <a:r>
                        <a:rPr sz="1000" b="0" i="0">
                          <a:solidFill>
                            <a:srgbClr val="1F2937"/>
                          </a:solidFill>
                          <a:latin typeface="Calibri"/>
                        </a:rPr>
                        <a:t>40.0% → 52.4% is +12.4 points and +31% relative; it is not a 52% improvement</a:t>
                      </a:r>
                    </a:p>
                  </a:txBody>
                  <a:tcPr marL="64008" marR="64008" marT="36576" marB="36576">
                    <a:solidFill>
                      <a:srgbClr val="FFFFFF"/>
                    </a:solidFill>
                  </a:tcPr>
                </a:tc>
                <a:extLst>
                  <a:ext uri="{0D108BD9-81ED-4DB2-BD59-A6C34878D82A}">
                    <a16:rowId xmlns:a16="http://schemas.microsoft.com/office/drawing/2014/main" val="10003"/>
                  </a:ext>
                </a:extLst>
              </a:tr>
              <a:tr h="335280">
                <a:tc>
                  <a:txBody>
                    <a:bodyPr/>
                    <a:lstStyle/>
                    <a:p>
                      <a:r>
                        <a:rPr sz="1000" b="0" i="0">
                          <a:solidFill>
                            <a:srgbClr val="1F2937"/>
                          </a:solidFill>
                          <a:latin typeface="Calibri"/>
                        </a:rPr>
                        <a:t>Retrieved / cited / absorbed</a:t>
                      </a:r>
                    </a:p>
                  </a:txBody>
                  <a:tcPr marL="64008" marR="64008" marT="36576" marB="36576">
                    <a:solidFill>
                      <a:srgbClr val="F3F5F8"/>
                    </a:solidFill>
                  </a:tcPr>
                </a:tc>
                <a:tc>
                  <a:txBody>
                    <a:bodyPr/>
                    <a:lstStyle/>
                    <a:p>
                      <a:r>
                        <a:rPr sz="1000" b="0" i="0">
                          <a:solidFill>
                            <a:srgbClr val="1F2937"/>
                          </a:solidFill>
                          <a:latin typeface="Calibri"/>
                        </a:rPr>
                        <a:t>Page in the model's source list / page referenced in the answer / page's facts actually used in the answer text</a:t>
                      </a:r>
                    </a:p>
                  </a:txBody>
                  <a:tcPr marL="64008" marR="64008" marT="36576" marB="36576">
                    <a:solidFill>
                      <a:srgbClr val="F3F5F8"/>
                    </a:solidFill>
                  </a:tcPr>
                </a:tc>
                <a:extLst>
                  <a:ext uri="{0D108BD9-81ED-4DB2-BD59-A6C34878D82A}">
                    <a16:rowId xmlns:a16="http://schemas.microsoft.com/office/drawing/2014/main" val="10004"/>
                  </a:ext>
                </a:extLst>
              </a:tr>
              <a:tr h="335280">
                <a:tc>
                  <a:txBody>
                    <a:bodyPr/>
                    <a:lstStyle/>
                    <a:p>
                      <a:r>
                        <a:rPr sz="1000" b="0" i="0">
                          <a:solidFill>
                            <a:srgbClr val="1F2937"/>
                          </a:solidFill>
                          <a:latin typeface="Calibri"/>
                        </a:rPr>
                        <a:t>Fixed vs reindexed setup</a:t>
                      </a:r>
                    </a:p>
                  </a:txBody>
                  <a:tcPr marL="64008" marR="64008" marT="36576" marB="36576">
                    <a:solidFill>
                      <a:srgbClr val="FFFFFF"/>
                    </a:solidFill>
                  </a:tcPr>
                </a:tc>
                <a:tc>
                  <a:txBody>
                    <a:bodyPr/>
                    <a:lstStyle/>
                    <a:p>
                      <a:r>
                        <a:rPr sz="1000" b="0" i="0">
                          <a:solidFill>
                            <a:srgbClr val="1F2937"/>
                          </a:solidFill>
                          <a:latin typeface="Calibri"/>
                        </a:rPr>
                        <a:t>Main test: same whole pages given to the model in both versions. Secondary: the retrieval pipeline selects passages from the indexed usable corpus</a:t>
                      </a:r>
                    </a:p>
                  </a:txBody>
                  <a:tcPr marL="64008" marR="64008" marT="36576" marB="36576">
                    <a:solidFill>
                      <a:srgbClr val="FFFFFF"/>
                    </a:solidFill>
                  </a:tcPr>
                </a:tc>
                <a:extLst>
                  <a:ext uri="{0D108BD9-81ED-4DB2-BD59-A6C34878D82A}">
                    <a16:rowId xmlns:a16="http://schemas.microsoft.com/office/drawing/2014/main" val="10005"/>
                  </a:ext>
                </a:extLst>
              </a:tr>
              <a:tr h="335280">
                <a:tc>
                  <a:txBody>
                    <a:bodyPr/>
                    <a:lstStyle/>
                    <a:p>
                      <a:r>
                        <a:rPr sz="1000" b="0" i="0">
                          <a:solidFill>
                            <a:srgbClr val="1F2937"/>
                          </a:solidFill>
                          <a:latin typeface="Calibri"/>
                        </a:rPr>
                        <a:t>SSR / CSR</a:t>
                      </a:r>
                    </a:p>
                  </a:txBody>
                  <a:tcPr marL="64008" marR="64008" marT="36576" marB="36576">
                    <a:solidFill>
                      <a:srgbClr val="F3F5F8"/>
                    </a:solidFill>
                  </a:tcPr>
                </a:tc>
                <a:tc>
                  <a:txBody>
                    <a:bodyPr/>
                    <a:lstStyle/>
                    <a:p>
                      <a:r>
                        <a:rPr sz="1000" b="0" i="0">
                          <a:solidFill>
                            <a:srgbClr val="1F2937"/>
                          </a:solidFill>
                          <a:latin typeface="Calibri"/>
                        </a:rPr>
                        <a:t>Content present in the first HTML response vs content that appears only after JavaScript runs in a browser</a:t>
                      </a:r>
                    </a:p>
                  </a:txBody>
                  <a:tcPr marL="64008" marR="64008" marT="36576" marB="36576">
                    <a:solidFill>
                      <a:srgbClr val="F3F5F8"/>
                    </a:solidFill>
                  </a:tcPr>
                </a:tc>
                <a:extLst>
                  <a:ext uri="{0D108BD9-81ED-4DB2-BD59-A6C34878D82A}">
                    <a16:rowId xmlns:a16="http://schemas.microsoft.com/office/drawing/2014/main" val="10006"/>
                  </a:ext>
                </a:extLst>
              </a:tr>
              <a:tr h="335280">
                <a:tc>
                  <a:txBody>
                    <a:bodyPr/>
                    <a:lstStyle/>
                    <a:p>
                      <a:r>
                        <a:rPr sz="1000" b="0" i="0">
                          <a:solidFill>
                            <a:srgbClr val="1F2937"/>
                          </a:solidFill>
                          <a:latin typeface="Calibri"/>
                        </a:rPr>
                        <a:t>OAI-SearchBot / GPTBot / ChatGPT-User</a:t>
                      </a:r>
                    </a:p>
                  </a:txBody>
                  <a:tcPr marL="64008" marR="64008" marT="36576" marB="36576">
                    <a:solidFill>
                      <a:srgbClr val="FFFFFF"/>
                    </a:solidFill>
                  </a:tcPr>
                </a:tc>
                <a:tc>
                  <a:txBody>
                    <a:bodyPr/>
                    <a:lstStyle/>
                    <a:p>
                      <a:r>
                        <a:rPr sz="1000" b="0" i="0">
                          <a:solidFill>
                            <a:srgbClr val="1F2937"/>
                          </a:solidFill>
                          <a:latin typeface="Calibri"/>
                        </a:rPr>
                        <a:t>ChatGPT search crawler / training crawler / fetcher acting for a user (may ignore robots.txt)</a:t>
                      </a:r>
                    </a:p>
                  </a:txBody>
                  <a:tcPr marL="64008" marR="64008" marT="36576" marB="36576">
                    <a:solidFill>
                      <a:srgbClr val="FFFFFF"/>
                    </a:solidFill>
                  </a:tcPr>
                </a:tc>
                <a:extLst>
                  <a:ext uri="{0D108BD9-81ED-4DB2-BD59-A6C34878D82A}">
                    <a16:rowId xmlns:a16="http://schemas.microsoft.com/office/drawing/2014/main" val="10007"/>
                  </a:ext>
                </a:extLst>
              </a:tr>
              <a:tr h="335280">
                <a:tc>
                  <a:txBody>
                    <a:bodyPr/>
                    <a:lstStyle/>
                    <a:p>
                      <a:r>
                        <a:rPr sz="1000" b="0" i="0">
                          <a:solidFill>
                            <a:srgbClr val="1F2937"/>
                          </a:solidFill>
                          <a:latin typeface="Calibri"/>
                        </a:rPr>
                        <a:t>JSON-LD, FAQPage, Offer</a:t>
                      </a:r>
                    </a:p>
                  </a:txBody>
                  <a:tcPr marL="64008" marR="64008" marT="36576" marB="36576">
                    <a:solidFill>
                      <a:srgbClr val="F3F5F8"/>
                    </a:solidFill>
                  </a:tcPr>
                </a:tc>
                <a:tc>
                  <a:txBody>
                    <a:bodyPr/>
                    <a:lstStyle/>
                    <a:p>
                      <a:r>
                        <a:rPr sz="1000" b="0" i="0">
                          <a:solidFill>
                            <a:srgbClr val="1F2937"/>
                          </a:solidFill>
                          <a:latin typeface="Calibri"/>
                        </a:rPr>
                        <a:t>Structured-data formats restating visible facts for machines; must match the visible text</a:t>
                      </a:r>
                    </a:p>
                  </a:txBody>
                  <a:tcPr marL="64008" marR="64008" marT="36576" marB="36576">
                    <a:solidFill>
                      <a:srgbClr val="F3F5F8"/>
                    </a:solidFill>
                  </a:tcPr>
                </a:tc>
                <a:extLst>
                  <a:ext uri="{0D108BD9-81ED-4DB2-BD59-A6C34878D82A}">
                    <a16:rowId xmlns:a16="http://schemas.microsoft.com/office/drawing/2014/main" val="10008"/>
                  </a:ext>
                </a:extLst>
              </a:tr>
              <a:tr h="335280">
                <a:tc>
                  <a:txBody>
                    <a:bodyPr/>
                    <a:lstStyle/>
                    <a:p>
                      <a:r>
                        <a:rPr sz="1000" b="0" i="0">
                          <a:solidFill>
                            <a:srgbClr val="1F2937"/>
                          </a:solidFill>
                          <a:latin typeface="Calibri"/>
                        </a:rPr>
                        <a:t>llms.txt</a:t>
                      </a:r>
                    </a:p>
                  </a:txBody>
                  <a:tcPr marL="64008" marR="64008" marT="36576" marB="36576">
                    <a:solidFill>
                      <a:srgbClr val="FFFFFF"/>
                    </a:solidFill>
                  </a:tcPr>
                </a:tc>
                <a:tc>
                  <a:txBody>
                    <a:bodyPr/>
                    <a:lstStyle/>
                    <a:p>
                      <a:r>
                        <a:rPr sz="1000" b="0" i="0">
                          <a:solidFill>
                            <a:srgbClr val="1F2937"/>
                          </a:solidFill>
                          <a:latin typeface="Calibri"/>
                        </a:rPr>
                        <a:t>Vendor-promoted Markdown map for AI systems; Google ignores it; rarely fetched</a:t>
                      </a:r>
                    </a:p>
                  </a:txBody>
                  <a:tcPr marL="64008" marR="64008" marT="36576" marB="36576">
                    <a:solidFill>
                      <a:srgbClr val="FFFFFF"/>
                    </a:solidFill>
                  </a:tcPr>
                </a:tc>
                <a:extLst>
                  <a:ext uri="{0D108BD9-81ED-4DB2-BD59-A6C34878D82A}">
                    <a16:rowId xmlns:a16="http://schemas.microsoft.com/office/drawing/2014/main" val="10009"/>
                  </a:ext>
                </a:extLst>
              </a:tr>
              <a:tr h="335280">
                <a:tc>
                  <a:txBody>
                    <a:bodyPr/>
                    <a:lstStyle/>
                    <a:p>
                      <a:r>
                        <a:rPr sz="1000" b="0" i="0">
                          <a:solidFill>
                            <a:srgbClr val="1F2937"/>
                          </a:solidFill>
                          <a:latin typeface="Calibri"/>
                        </a:rPr>
                        <a:t>MCP / ACP / UCP</a:t>
                      </a:r>
                    </a:p>
                  </a:txBody>
                  <a:tcPr marL="64008" marR="64008" marT="36576" marB="36576">
                    <a:solidFill>
                      <a:srgbClr val="F3F5F8"/>
                    </a:solidFill>
                  </a:tcPr>
                </a:tc>
                <a:tc>
                  <a:txBody>
                    <a:bodyPr/>
                    <a:lstStyle/>
                    <a:p>
                      <a:r>
                        <a:rPr sz="1000" b="0" i="0">
                          <a:solidFill>
                            <a:srgbClr val="1F2937"/>
                          </a:solidFill>
                          <a:latin typeface="Calibri"/>
                        </a:rPr>
                        <a:t>Agent-connection protocol (Anthropic), OpenAI's Agentic Commerce Protocol, Google's Universal Commerce Protocol</a:t>
                      </a:r>
                    </a:p>
                  </a:txBody>
                  <a:tcPr marL="64008" marR="64008" marT="36576" marB="36576">
                    <a:solidFill>
                      <a:srgbClr val="F3F5F8"/>
                    </a:solidFill>
                  </a:tcPr>
                </a:tc>
                <a:extLst>
                  <a:ext uri="{0D108BD9-81ED-4DB2-BD59-A6C34878D82A}">
                    <a16:rowId xmlns:a16="http://schemas.microsoft.com/office/drawing/2014/main" val="10010"/>
                  </a:ext>
                </a:extLst>
              </a:tr>
              <a:tr h="335280">
                <a:tc>
                  <a:txBody>
                    <a:bodyPr/>
                    <a:lstStyle/>
                    <a:p>
                      <a:r>
                        <a:rPr sz="1000" b="0" i="0">
                          <a:solidFill>
                            <a:srgbClr val="1F2937"/>
                          </a:solidFill>
                          <a:latin typeface="Calibri"/>
                        </a:rPr>
                        <a:t>Fingerprint (SHA-256)</a:t>
                      </a:r>
                    </a:p>
                  </a:txBody>
                  <a:tcPr marL="64008" marR="64008" marT="36576" marB="36576">
                    <a:solidFill>
                      <a:srgbClr val="FFFFFF"/>
                    </a:solidFill>
                  </a:tcPr>
                </a:tc>
                <a:tc>
                  <a:txBody>
                    <a:bodyPr/>
                    <a:lstStyle/>
                    <a:p>
                      <a:r>
                        <a:rPr sz="1000" b="0" i="0">
                          <a:solidFill>
                            <a:srgbClr val="1F2937"/>
                          </a:solidFill>
                          <a:latin typeface="Calibri"/>
                        </a:rPr>
                        <a:t>A code computed from a file; changes if a single character changes</a:t>
                      </a:r>
                    </a:p>
                  </a:txBody>
                  <a:tcPr marL="64008" marR="64008" marT="36576" marB="36576">
                    <a:solidFill>
                      <a:srgbClr val="FFFFFF"/>
                    </a:solidFill>
                  </a:tcPr>
                </a:tc>
                <a:extLst>
                  <a:ext uri="{0D108BD9-81ED-4DB2-BD59-A6C34878D82A}">
                    <a16:rowId xmlns:a16="http://schemas.microsoft.com/office/drawing/2014/main" val="10011"/>
                  </a:ext>
                </a:extLst>
              </a:tr>
            </a:tbl>
          </a:graphicData>
        </a:graphic>
      </p:graphicFrame>
      <p:sp>
        <p:nvSpPr>
          <p:cNvPr id="5" name="TextBox 4"/>
          <p:cNvSpPr txBox="1"/>
          <p:nvPr/>
        </p:nvSpPr>
        <p:spPr>
          <a:xfrm>
            <a:off x="11247120" y="6382512"/>
            <a:ext cx="411480" cy="274320"/>
          </a:xfrm>
          <a:prstGeom prst="rect">
            <a:avLst/>
          </a:prstGeom>
          <a:noFill/>
        </p:spPr>
        <p:txBody>
          <a:bodyPr wrap="square" lIns="45720" rIns="45720" anchor="t">
            <a:spAutoFit/>
          </a:bodyPr>
          <a:lstStyle/>
          <a:p>
            <a:pPr algn="r">
              <a:lnSpc>
                <a:spcPct val="108000"/>
              </a:lnSpc>
              <a:spcAft>
                <a:spcPts val="400"/>
              </a:spcAft>
            </a:pPr>
            <a:r>
              <a:rPr sz="900" b="0" i="0">
                <a:solidFill>
                  <a:srgbClr val="5B6573"/>
                </a:solidFill>
                <a:latin typeface="Calibri"/>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11548</Words>
  <Application>Microsoft Office PowerPoint</Application>
  <PresentationFormat>Widescreen</PresentationFormat>
  <Paragraphs>806</Paragraphs>
  <Slides>31</Slides>
  <Notes>28</Notes>
  <HiddenSlides>5</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Muhammad Mubbashar</cp:lastModifiedBy>
  <cp:revision>1</cp:revision>
  <dcterms:created xsi:type="dcterms:W3CDTF">2013-01-27T09:14:16Z</dcterms:created>
  <dcterms:modified xsi:type="dcterms:W3CDTF">2026-10-24T16:09:30Z</dcterms:modified>
  <cp:category/>
</cp:coreProperties>
</file>