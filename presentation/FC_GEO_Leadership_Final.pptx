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slides/slide1009.xml" ContentType="application/vnd.openxmlformats-officedocument.presentationml.slide+xml"/>
  <Override PartName="/ppt/slides/slide1010.xml" ContentType="application/vnd.openxmlformats-officedocument.presentationml.slide+xml"/>
  <Override PartName="/ppt/slides/slide1011.xml" ContentType="application/vnd.openxmlformats-officedocument.presentationml.slide+xml"/>
  <Override PartName="/ppt/slides/slide1012.xml" ContentType="application/vnd.openxmlformats-officedocument.presentationml.slide+xml"/>
  <Override PartName="/ppt/slides/slide1013.xml" ContentType="application/vnd.openxmlformats-officedocument.presentationml.slide+xml"/>
  <Override PartName="/ppt/slides/slide1014.xml" ContentType="application/vnd.openxmlformats-officedocument.presentationml.slide+xml"/>
  <Override PartName="/ppt/slides/slide1015.xml" ContentType="application/vnd.openxmlformats-officedocument.presentationml.slide+xml"/>
  <Override PartName="/ppt/slides/slide1024.xml" ContentType="application/vnd.openxmlformats-officedocument.presentationml.slide+xml"/>
  <Override PartName="/ppt/slides/slide1025.xml" ContentType="application/vnd.openxmlformats-officedocument.presentationml.slide+xml"/>
  <Override PartName="/ppt/slides/slide1026.xml" ContentType="application/vnd.openxmlformats-officedocument.presentationml.slide+xml"/>
  <Override PartName="/ppt/slides/slide1027.xml" ContentType="application/vnd.openxmlformats-officedocument.presentationml.slide+xml"/>
  <Override PartName="/ppt/slides/slide1028.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300" r:id="rId3"/>
    <p:sldId id="258" r:id="rId4"/>
    <p:sldId id="301" r:id="rId5"/>
    <p:sldId id="302" r:id="rId6"/>
    <p:sldId id="303" r:id="rId7"/>
    <p:sldId id="261" r:id="rId8"/>
    <p:sldId id="262" r:id="rId9"/>
    <p:sldId id="309" r:id="rId10"/>
    <p:sldId id="264" r:id="rId11"/>
    <p:sldId id="265" r:id="rId12"/>
    <p:sldId id="263" r:id="rId13"/>
    <p:sldId id="287" r:id="rId14"/>
    <p:sldId id="288" r:id="rId15"/>
    <p:sldId id="289" r:id="rId16"/>
    <p:sldId id="290" r:id="rId17"/>
    <p:sldId id="310" r:id="rId25"/>
    <p:sldId id="311" r:id="rId24"/>
    <p:sldId id="312" r:id="rId23"/>
    <p:sldId id="313" r:id="rId22"/>
    <p:sldId id="314" r:id="rId21"/>
    <p:sldId id="315" r:id="rId20"/>
    <p:sldId id="316" r:id="rId19"/>
    <p:sldId id="317" r:id="rId18"/>
    <p:sldId id="282" r:id="rId26"/>
    <p:sldId id="283" r:id="rId27"/>
    <p:sldId id="284" r:id="rId28"/>
    <p:sldId id="285" r:id="rId29"/>
    <p:sldId id="28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0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000.xml"/><Relationship Id="rId3" Type="http://schemas.openxmlformats.org/officeDocument/2006/relationships/slide" Target="slides/slide1001.xml"/><Relationship Id="rId4" Type="http://schemas.openxmlformats.org/officeDocument/2006/relationships/slide" Target="slides/slide1002.xml"/><Relationship Id="rId5" Type="http://schemas.openxmlformats.org/officeDocument/2006/relationships/slide" Target="slides/slide1003.xml"/><Relationship Id="rId6" Type="http://schemas.openxmlformats.org/officeDocument/2006/relationships/slide" Target="slides/slide1004.xml"/><Relationship Id="rId7" Type="http://schemas.openxmlformats.org/officeDocument/2006/relationships/slide" Target="slides/slide1005.xml"/><Relationship Id="rId8" Type="http://schemas.openxmlformats.org/officeDocument/2006/relationships/slide" Target="slides/slide1006.xml"/><Relationship Id="rId9" Type="http://schemas.openxmlformats.org/officeDocument/2006/relationships/slide" Target="slides/slide1007.xml"/><Relationship Id="rId10" Type="http://schemas.openxmlformats.org/officeDocument/2006/relationships/slide" Target="slides/slide1008.xml"/><Relationship Id="rId11" Type="http://schemas.openxmlformats.org/officeDocument/2006/relationships/slide" Target="slides/slide1009.xml"/><Relationship Id="rId12" Type="http://schemas.openxmlformats.org/officeDocument/2006/relationships/slide" Target="slides/slide1010.xml"/><Relationship Id="rId13" Type="http://schemas.openxmlformats.org/officeDocument/2006/relationships/slide" Target="slides/slide1011.xml"/><Relationship Id="rId14" Type="http://schemas.openxmlformats.org/officeDocument/2006/relationships/slide" Target="slides/slide1012.xml"/><Relationship Id="rId15" Type="http://schemas.openxmlformats.org/officeDocument/2006/relationships/slide" Target="slides/slide1013.xml"/><Relationship Id="rId16" Type="http://schemas.openxmlformats.org/officeDocument/2006/relationships/slide" Target="slides/slide1014.xml"/><Relationship Id="rId17" Type="http://schemas.openxmlformats.org/officeDocument/2006/relationships/slide" Target="slides/slide1015.xml"/><Relationship Id="rId18" Type="http://schemas.openxmlformats.org/officeDocument/2006/relationships/slide" Target="slides/slide29.xml"/><Relationship Id="rId19" Type="http://schemas.openxmlformats.org/officeDocument/2006/relationships/slide" Target="slides/slide28.xml"/><Relationship Id="rId20" Type="http://schemas.openxmlformats.org/officeDocument/2006/relationships/slide" Target="slides/slide27.xml"/><Relationship Id="rId21" Type="http://schemas.openxmlformats.org/officeDocument/2006/relationships/slide" Target="slides/slide26.xml"/><Relationship Id="rId22" Type="http://schemas.openxmlformats.org/officeDocument/2006/relationships/slide" Target="slides/slide25.xml"/><Relationship Id="rId23" Type="http://schemas.openxmlformats.org/officeDocument/2006/relationships/slide" Target="slides/slide24.xml"/><Relationship Id="rId24" Type="http://schemas.openxmlformats.org/officeDocument/2006/relationships/slide" Target="slides/slide23.xml"/><Relationship Id="rId25" Type="http://schemas.openxmlformats.org/officeDocument/2006/relationships/slide" Target="slides/slide22.xml"/><Relationship Id="rId26" Type="http://schemas.openxmlformats.org/officeDocument/2006/relationships/slide" Target="slides/slide1024.xml"/><Relationship Id="rId27" Type="http://schemas.openxmlformats.org/officeDocument/2006/relationships/slide" Target="slides/slide1025.xml"/><Relationship Id="rId28" Type="http://schemas.openxmlformats.org/officeDocument/2006/relationships/slide" Target="slides/slide1026.xml"/><Relationship Id="rId29" Type="http://schemas.openxmlformats.org/officeDocument/2006/relationships/slide" Target="slides/slide1027.xml"/><Relationship Id="rId30" Type="http://schemas.openxmlformats.org/officeDocument/2006/relationships/slide" Target="slides/slide1028.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Flight Centre</c:v>
                </c:pt>
              </c:strCache>
            </c:strRef>
          </c:tx>
          <c:spPr>
            <a:solidFill>
              <a:srgbClr val="E31B23"/>
            </a:solidFill>
            <a:effectLst/>
          </c:spPr>
          <c:invertIfNegative val="0"/>
          <c:dLbls>
            <c:numFmt formatCode="[&gt;=65]0&quot;+&quot;;0" sourceLinked="0"/>
            <c:spPr>
              <a:noFill/>
              <a:ln>
                <a:noFill/>
              </a:ln>
              <a:effectLst/>
            </c:spPr>
            <c:txPr>
              <a:bodyPr/>
              <a:lstStyle/>
              <a:p>
                <a:pPr>
                  <a:defRPr sz="1500" b="1" i="0" u="none" strike="noStrike">
                    <a:solidFill>
                      <a:srgbClr val="1E2B3B"/>
                    </a:solidFill>
                    <a:latin typeface="+mn-lt"/>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Bali page</c:v>
                </c:pt>
                <c:pt idx="1">
                  <c:v>Dubai page</c:v>
                </c:pt>
              </c:strCache>
            </c:strRef>
          </c:cat>
          <c:val>
            <c:numRef>
              <c:f>Sheet1!$B$2:$B$3</c:f>
              <c:numCache>
                <c:formatCode>General</c:formatCode>
                <c:ptCount val="2"/>
                <c:pt idx="0">
                  <c:v>9</c:v>
                </c:pt>
                <c:pt idx="1">
                  <c:v>12</c:v>
                </c:pt>
              </c:numCache>
            </c:numRef>
          </c:val>
          <c:extLst>
            <c:ext xmlns:c16="http://schemas.microsoft.com/office/drawing/2014/chart" uri="{C3380CC4-5D6E-409C-BE32-E72D297353CC}">
              <c16:uniqueId val="{00000000-1C6B-4F6B-A417-52C52BD7A198}"/>
            </c:ext>
          </c:extLst>
        </c:ser>
        <c:ser>
          <c:idx val="1"/>
          <c:order val="1"/>
          <c:tx>
            <c:strRef>
              <c:f>Sheet1!$C$1</c:f>
              <c:strCache>
                <c:ptCount val="1"/>
                <c:pt idx="0">
                  <c:v>Expedia AU</c:v>
                </c:pt>
              </c:strCache>
            </c:strRef>
          </c:tx>
          <c:spPr>
            <a:solidFill>
              <a:srgbClr val="8593A8"/>
            </a:solidFill>
            <a:effectLst/>
          </c:spPr>
          <c:invertIfNegative val="0"/>
          <c:dLbls>
            <c:numFmt formatCode="[&gt;=65]0&quot;+&quot;;0" sourceLinked="0"/>
            <c:spPr>
              <a:noFill/>
              <a:ln>
                <a:noFill/>
              </a:ln>
              <a:effectLst/>
            </c:spPr>
            <c:txPr>
              <a:bodyPr/>
              <a:lstStyle/>
              <a:p>
                <a:pPr>
                  <a:defRPr sz="1500" b="1" i="0" u="none" strike="noStrike">
                    <a:solidFill>
                      <a:srgbClr val="1E2B3B"/>
                    </a:solidFill>
                    <a:latin typeface="+mn-lt"/>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Bali page</c:v>
                </c:pt>
                <c:pt idx="1">
                  <c:v>Dubai page</c:v>
                </c:pt>
              </c:strCache>
            </c:strRef>
          </c:cat>
          <c:val>
            <c:numRef>
              <c:f>Sheet1!$C$2:$C$3</c:f>
              <c:numCache>
                <c:formatCode>General</c:formatCode>
                <c:ptCount val="2"/>
                <c:pt idx="0">
                  <c:v>28</c:v>
                </c:pt>
                <c:pt idx="1">
                  <c:v>32</c:v>
                </c:pt>
              </c:numCache>
            </c:numRef>
          </c:val>
          <c:extLst>
            <c:ext xmlns:c16="http://schemas.microsoft.com/office/drawing/2014/chart" uri="{C3380CC4-5D6E-409C-BE32-E72D297353CC}">
              <c16:uniqueId val="{00000001-1C6B-4F6B-A417-52C52BD7A198}"/>
            </c:ext>
          </c:extLst>
        </c:ser>
        <c:ser>
          <c:idx val="2"/>
          <c:order val="2"/>
          <c:tx>
            <c:strRef>
              <c:f>Sheet1!$D$1</c:f>
              <c:strCache>
                <c:ptCount val="1"/>
                <c:pt idx="0">
                  <c:v>Booking.com</c:v>
                </c:pt>
              </c:strCache>
            </c:strRef>
          </c:tx>
          <c:spPr>
            <a:solidFill>
              <a:srgbClr val="0B2A5B"/>
            </a:solidFill>
            <a:effectLst/>
          </c:spPr>
          <c:invertIfNegative val="0"/>
          <c:dLbls>
            <c:numFmt formatCode="[&gt;=65]0&quot;+&quot;;0" sourceLinked="0"/>
            <c:spPr>
              <a:noFill/>
              <a:ln>
                <a:noFill/>
              </a:ln>
              <a:effectLst/>
            </c:spPr>
            <c:txPr>
              <a:bodyPr/>
              <a:lstStyle/>
              <a:p>
                <a:pPr>
                  <a:defRPr sz="1500" b="1" i="0" u="none" strike="noStrike">
                    <a:solidFill>
                      <a:srgbClr val="1E2B3B"/>
                    </a:solidFill>
                    <a:latin typeface="+mn-lt"/>
                  </a:defRPr>
                </a:pPr>
                <a:endParaRPr lang="LID4096"/>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Bali page</c:v>
                </c:pt>
                <c:pt idx="1">
                  <c:v>Dubai page</c:v>
                </c:pt>
              </c:strCache>
            </c:strRef>
          </c:cat>
          <c:val>
            <c:numRef>
              <c:f>Sheet1!$D$2:$D$3</c:f>
              <c:numCache>
                <c:formatCode>General</c:formatCode>
                <c:ptCount val="2"/>
                <c:pt idx="0">
                  <c:v>55</c:v>
                </c:pt>
                <c:pt idx="1">
                  <c:v>65</c:v>
                </c:pt>
              </c:numCache>
            </c:numRef>
          </c:val>
          <c:extLst>
            <c:ext xmlns:c16="http://schemas.microsoft.com/office/drawing/2014/chart" uri="{C3380CC4-5D6E-409C-BE32-E72D297353CC}">
              <c16:uniqueId val="{00000002-1C6B-4F6B-A417-52C52BD7A198}"/>
            </c:ext>
          </c:extLst>
        </c:ser>
        <c:dLbls>
          <c:showLegendKey val="0"/>
          <c:showVal val="1"/>
          <c:showCatName val="0"/>
          <c:showSerName val="0"/>
          <c:showPercent val="0"/>
          <c:showBubbleSize val="0"/>
        </c:dLbls>
        <c:gapWidth val="70"/>
        <c:overlap val="-8"/>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500" b="0" i="0" u="none" strike="noStrike">
                <a:solidFill>
                  <a:srgbClr val="56677D"/>
                </a:solidFill>
                <a:latin typeface="+mn-lt"/>
              </a:defRPr>
            </a:pPr>
            <a:endParaRPr lang="en-US"/>
          </a:p>
        </c:txPr>
        <c:crossAx val="2094734552"/>
        <c:crosses val="autoZero"/>
        <c:auto val="1"/>
        <c:lblAlgn val="ctr"/>
        <c:lblOffset val="100"/>
        <c:noMultiLvlLbl val="1"/>
      </c:catAx>
      <c:valAx>
        <c:axId val="2094734552"/>
        <c:scaling>
          <c:orientation val="minMax"/>
          <c:max val="7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400">
              <a:solidFill>
                <a:srgbClr val="1E2B3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i="0">
                <a:solidFill>
                  <a:srgbClr val="0B2240"/>
                </a:solidFill>
                <a:latin typeface="Calibri"/>
              </a:rPr>
              <a:t>Share of 290 answers citing Flight Centre (%)</a:t>
            </a:r>
          </a:p>
        </c:rich>
      </c:tx>
      <c:overlay val="0"/>
    </c:title>
    <c:autoTitleDeleted val="0"/>
    <c:plotArea>
      <c:layout/>
      <c:barChart>
        <c:barDir val="col"/>
        <c:grouping val="clustered"/>
        <c:varyColors val="1"/>
        <c:ser>
          <c:idx val="0"/>
          <c:order val="0"/>
          <c:tx>
            <c:strRef>
              <c:f>Sheet1!$B$1</c:f>
              <c:strCache>
                <c:ptCount val="1"/>
                <c:pt idx="0">
                  <c:v>Share citing FC</c:v>
                </c:pt>
              </c:strCache>
            </c:strRef>
          </c:tx>
          <c:invertIfNegative val="1"/>
          <c:dPt>
            <c:idx val="0"/>
            <c:invertIfNegative val="1"/>
            <c:bubble3D val="0"/>
            <c:spPr>
              <a:solidFill>
                <a:srgbClr val="5B6573"/>
              </a:solidFill>
            </c:spPr>
            <c:extLst>
              <c:ext xmlns:c16="http://schemas.microsoft.com/office/drawing/2014/chart" uri="{C3380CC4-5D6E-409C-BE32-E72D297353CC}">
                <c16:uniqueId val="{00000001-5C5E-4BBE-BCB1-4FCD34AA0D7A}"/>
              </c:ext>
            </c:extLst>
          </c:dPt>
          <c:dPt>
            <c:idx val="1"/>
            <c:invertIfNegative val="1"/>
            <c:bubble3D val="0"/>
            <c:spPr>
              <a:solidFill>
                <a:srgbClr val="1E7A46"/>
              </a:solidFill>
            </c:spPr>
            <c:extLst>
              <c:ext xmlns:c16="http://schemas.microsoft.com/office/drawing/2014/chart" uri="{C3380CC4-5D6E-409C-BE32-E72D297353CC}">
                <c16:uniqueId val="{00000003-5C5E-4BBE-BCB1-4FCD34AA0D7A}"/>
              </c:ext>
            </c:extLst>
          </c:dPt>
          <c:dLbls>
            <c:numFmt formatCode="0.0&quot;%&quot;" sourceLinked="0"/>
            <c:spPr>
              <a:noFill/>
              <a:ln>
                <a:noFill/>
              </a:ln>
              <a:effectLst/>
            </c:spPr>
            <c:txPr>
              <a:bodyPr/>
              <a:lstStyle/>
              <a:p>
                <a:pPr>
                  <a:defRPr sz="2000" b="1">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Baseline FC pages</c:v>
                </c:pt>
                <c:pt idx="1">
                  <c:v>Optimised FC pages</c:v>
                </c:pt>
              </c:strCache>
            </c:strRef>
          </c:cat>
          <c:val>
            <c:numRef>
              <c:f>Sheet1!$B$2:$B$3</c:f>
              <c:numCache>
                <c:formatCode>General</c:formatCode>
                <c:ptCount val="2"/>
                <c:pt idx="0">
                  <c:v>40</c:v>
                </c:pt>
                <c:pt idx="1">
                  <c:v>52.4</c:v>
                </c:pt>
              </c:numCache>
            </c:numRef>
          </c:val>
          <c:extLst>
            <c:ext xmlns:c16="http://schemas.microsoft.com/office/drawing/2014/chart" uri="{C3380CC4-5D6E-409C-BE32-E72D297353CC}">
              <c16:uniqueId val="{00000004-5C5E-4BBE-BCB1-4FCD34AA0D7A}"/>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EE5"/>
            </a:solidFill>
          </a:ln>
        </c:spPr>
        <c:txPr>
          <a:bodyPr/>
          <a:lstStyle/>
          <a:p>
            <a:pPr>
              <a:defRPr sz="1300">
                <a:latin typeface="Calibri"/>
              </a:defRPr>
            </a:pPr>
            <a:endParaRPr lang="en-US"/>
          </a:p>
        </c:txPr>
        <c:crossAx val="-2113994440"/>
        <c:crosses val="autoZero"/>
        <c:auto val="1"/>
        <c:lblAlgn val="ctr"/>
        <c:lblOffset val="100"/>
        <c:noMultiLvlLbl val="0"/>
      </c:catAx>
      <c:valAx>
        <c:axId val="-2113994440"/>
        <c:scaling>
          <c:orientation val="minMax"/>
          <c:max val="70"/>
          <c:min val="0"/>
        </c:scaling>
        <c:delete val="0"/>
        <c:axPos val="l"/>
        <c:majorGridlines>
          <c:spPr>
            <a:ln>
              <a:solidFill>
                <a:srgbClr val="D9DEE5"/>
              </a:solidFill>
            </a:ln>
          </c:spPr>
        </c:majorGridlines>
        <c:numFmt formatCode="General" sourceLinked="1"/>
        <c:majorTickMark val="out"/>
        <c:minorTickMark val="none"/>
        <c:tickLblPos val="nextTo"/>
        <c:spPr>
          <a:ln>
            <a:solidFill>
              <a:srgbClr val="D9DEE5"/>
            </a:solidFill>
          </a:ln>
        </c:spPr>
        <c:txPr>
          <a:bodyPr/>
          <a:lstStyle/>
          <a:p>
            <a:pPr>
              <a:defRPr sz="1000">
                <a:latin typeface="Calibri"/>
              </a:defRPr>
            </a:pPr>
            <a:endParaRPr lang="en-US"/>
          </a:p>
        </c:txPr>
        <c:crossAx val="-2068027336"/>
        <c:crosses val="autoZero"/>
        <c:crossBetween val="between"/>
        <c:majorUnit val="10"/>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0B2240"/>
                </a:solidFill>
                <a:latin typeface="Calibri"/>
              </a:rPr>
              <a:t>Facts and names a page states in its raw HTML (approx., May 2026)</a:t>
            </a:r>
          </a:p>
        </c:rich>
      </c:tx>
      <c:layout/>
      <c:overlay val="0"/>
    </c:title>
    <c:autoTitleDeleted val="0"/>
    <c:plotArea>
      <c:barChart>
        <c:barDir val="col"/>
        <c:grouping val="clustered"/>
        <c:ser>
          <c:idx val="0"/>
          <c:order val="0"/>
          <c:tx>
            <c:strRef>
              <c:f>Sheet1!$B$1</c:f>
              <c:strCache>
                <c:ptCount val="1"/>
                <c:pt idx="0">
                  <c:v>Flight Centre</c:v>
                </c:pt>
              </c:strCache>
            </c:strRef>
          </c:tx>
          <c:spPr>
            <a:solidFill>
              <a:srgbClr val="C8102E"/>
            </a:solidFill>
          </c:spPr>
          <c:cat>
            <c:strRef>
              <c:f>Sheet1!$A$2:$A$3</c:f>
              <c:strCache>
                <c:ptCount val="2"/>
                <c:pt idx="0">
                  <c:v>Bali page</c:v>
                </c:pt>
                <c:pt idx="1">
                  <c:v>Dubai page</c:v>
                </c:pt>
              </c:strCache>
            </c:strRef>
          </c:cat>
          <c:val>
            <c:numRef>
              <c:f>Sheet1!$B$2:$B$3</c:f>
              <c:numCache>
                <c:formatCode>General</c:formatCode>
                <c:ptCount val="2"/>
                <c:pt idx="0">
                  <c:v>9</c:v>
                </c:pt>
                <c:pt idx="1">
                  <c:v>12</c:v>
                </c:pt>
              </c:numCache>
            </c:numRef>
          </c:val>
        </c:ser>
        <c:ser>
          <c:idx val="1"/>
          <c:order val="1"/>
          <c:tx>
            <c:strRef>
              <c:f>Sheet1!$C$1</c:f>
              <c:strCache>
                <c:ptCount val="1"/>
                <c:pt idx="0">
                  <c:v>Expedia AU</c:v>
                </c:pt>
              </c:strCache>
            </c:strRef>
          </c:tx>
          <c:spPr>
            <a:solidFill>
              <a:srgbClr val="5B6573"/>
            </a:solidFill>
          </c:spPr>
          <c:cat>
            <c:strRef>
              <c:f>Sheet1!$A$2:$A$3</c:f>
              <c:strCache>
                <c:ptCount val="2"/>
                <c:pt idx="0">
                  <c:v>Bali page</c:v>
                </c:pt>
                <c:pt idx="1">
                  <c:v>Dubai page</c:v>
                </c:pt>
              </c:strCache>
            </c:strRef>
          </c:cat>
          <c:val>
            <c:numRef>
              <c:f>Sheet1!$C$2:$C$3</c:f>
              <c:numCache>
                <c:formatCode>General</c:formatCode>
                <c:ptCount val="2"/>
                <c:pt idx="0">
                  <c:v>28</c:v>
                </c:pt>
                <c:pt idx="1">
                  <c:v>32</c:v>
                </c:pt>
              </c:numCache>
            </c:numRef>
          </c:val>
        </c:ser>
        <c:ser>
          <c:idx val="2"/>
          <c:order val="2"/>
          <c:tx>
            <c:strRef>
              <c:f>Sheet1!$D$1</c:f>
              <c:strCache>
                <c:ptCount val="1"/>
                <c:pt idx="0">
                  <c:v>Booking.com</c:v>
                </c:pt>
              </c:strCache>
            </c:strRef>
          </c:tx>
          <c:spPr>
            <a:solidFill>
              <a:srgbClr val="0B2240"/>
            </a:solidFill>
          </c:spPr>
          <c:cat>
            <c:strRef>
              <c:f>Sheet1!$A$2:$A$3</c:f>
              <c:strCache>
                <c:ptCount val="2"/>
                <c:pt idx="0">
                  <c:v>Bali page</c:v>
                </c:pt>
                <c:pt idx="1">
                  <c:v>Dubai page</c:v>
                </c:pt>
              </c:strCache>
            </c:strRef>
          </c:cat>
          <c:val>
            <c:numRef>
              <c:f>Sheet1!$D$2:$D$3</c:f>
              <c:numCache>
                <c:formatCode>General</c:formatCode>
                <c:ptCount val="2"/>
                <c:pt idx="0">
                  <c:v>55</c:v>
                </c:pt>
                <c:pt idx="1">
                  <c:v>65</c:v>
                </c:pt>
              </c:numCache>
            </c:numRef>
          </c:val>
        </c:ser>
        <c:dLbls>
          <c:txPr>
            <a:bodyPr/>
            <a:lstStyle/>
            <a:p>
              <a:pPr>
                <a:defRPr sz="1100" b="1"/>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9DEE5"/>
            </a:solidFill>
          </a:ln>
        </c:spPr>
        <c:txPr>
          <a:bodyPr/>
          <a:lstStyle/>
          <a:p>
            <a:pPr>
              <a:defRPr sz="1150"/>
            </a:pPr>
          </a:p>
        </c:txPr>
        <c:crossAx val="-2113994440"/>
        <c:crosses val="autoZero"/>
        <c:auto val="1"/>
        <c:lblAlgn val="ctr"/>
        <c:lblOffset val="100"/>
        <c:noMultiLvlLbl val="0"/>
      </c:catAx>
      <c:valAx>
        <c:axId val="-2113994440"/>
        <c:scaling>
          <c:max val="80.0"/>
          <c:min val="0.0"/>
        </c:scaling>
        <c:delete val="0"/>
        <c:axPos val="l"/>
        <c:majorGridlines>
          <c:spPr>
            <a:ln>
              <a:solidFill>
                <a:srgbClr val="D9DEE5"/>
              </a:solidFill>
            </a:ln>
          </c:spPr>
        </c:majorGridlines>
        <c:majorTickMark val="out"/>
        <c:minorTickMark val="none"/>
        <c:tickLblPos val="nextTo"/>
        <c:spPr>
          <a:ln>
            <a:solidFill>
              <a:srgbClr val="D9DEE5"/>
            </a:solidFill>
          </a:ln>
        </c:spPr>
        <c:txPr>
          <a:bodyPr/>
          <a:lstStyle/>
          <a:p>
            <a:pPr>
              <a:defRPr sz="1000">
                <a:latin typeface="Calibri"/>
              </a:defRPr>
            </a:pPr>
          </a:p>
        </c:txPr>
        <c:crossAx val="-2068027336"/>
        <c:crosses val="autoZero"/>
        <c:majorUnit val="20.0"/>
      </c:valAx>
    </c:plotArea>
    <c:legend>
      <c:legendPos/>
      <c:overlay val="0"/>
      <c:txPr>
        <a:bodyPr/>
        <a:lstStyle/>
        <a:p>
          <a:pPr>
            <a:defRPr sz="105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2101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[0:00–0:30] Open with one sentence: 'Customers are starting to ask an assistant instead of a search box, and today the assistant rarely names Flight Centre unless the customer does. We measured why, we fixed one part of it in a controlled test, and we have a programme to do the rest.'</a:t>
            </a:r>
          </a:p>
          <a:p>
            <a:r>
              <a:t>Then go straight to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Presentation timing: 00:25-01:00 (35 seconds).</a:t>
            </a:r>
          </a:p>
          <a:p>
            <a:r>
              <a:rPr lang="en-US"/>
              <a:t>Transition: First, the change in customer behaviour.</a:t>
            </a:r>
          </a:p>
          <a:p>
            <a:endParaRPr lang="en-US"/>
          </a:p>
          <a:p>
            <a:r>
              <a:rPr lang="en-US"/>
              <a:t>Two priorities: improve discovery coverage and improve the content an engine can read. The selected saved-source comparison increased citation inclusion from 116 to 152 of 290 answers. This is exploratory evidence, not a live business forecast. Implementation owners are proposals.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Presentation timing: 01:00-02:05 (65 seconds).</a:t>
            </a:r>
          </a:p>
          <a:p>
            <a:r>
              <a:rPr lang="en-US"/>
              <a:t>Transition: Here is how that customer question turns into an answer.</a:t>
            </a:r>
          </a:p>
          <a:p>
            <a:endParaRPr lang="en-US"/>
          </a:p>
          <a:p>
            <a:r>
              <a:rPr lang="en-US"/>
              <a:t>The Phocuswright 56% figure refers to reported use on at least one trip in the preceding 12 months, not solely during H1 2026. Adoption and referral studies use different populations and denominators. Pew measures observed click differences, not our causal effect. Sources: https://www.phocuswright.com/Travel-Research/Research-Updates/2026/The-fastest-shift-in-travel-behavior-just-became-the-default ; https://business.adobe.com/resources/sdk/ai-traffic-trends-report-august-2026.html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timing: 02:05-03:35 (90 seconds).</a:t>
            </a:r>
          </a:p>
          <a:p>
            <a:r>
              <a:rPr lang="en-US"/>
              <a:t>Transition: Now map FC evidence to this journey.</a:t>
            </a:r>
          </a:p>
          <a:p>
            <a:endParaRPr lang="en-US"/>
          </a:p>
          <a:p>
            <a:r>
              <a:rPr lang="en-US"/>
              <a:t>Sources checked 25 October 2026: https://developers.google.com/search/docs/appearance/ai-features ; https://developers.openai.com/api/docs/bots ; https://developers.openai.com/plugins . Google documents query fan-out; behaviour varies across engines. An assistant may answer without browsing. The arrows simplify the web-grounded case. Apps are an alternative information/action route, not proof that a website is bypassed every time.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7252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Presentation timing: 03:35-04:45 (70 seconds).</a:t>
            </a:r>
          </a:p>
          <a:p>
            <a:r>
              <a:rPr lang="en-US"/>
              <a:t>Transition: Start with access and readable information.</a:t>
            </a:r>
          </a:p>
          <a:p>
            <a:endParaRPr lang="en-US"/>
          </a:p>
          <a:p>
            <a:r>
              <a:rPr lang="en-US"/>
              <a:t>These are dated samples, not proof of universal brand absence. The May score is a word-share measure, not our answer-level citation metric. Best rank across query wordings is not an organic production ranking. Robots permissions do not establish successful crawler access.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04:45–06:15 (90 seconds).
SCRIPT
“I’ll cover five things that decide whether an AI answer can use Flight Centre: can it read the page, can it find it, does the page answer the question, can it trust the facts, and can the customer act.” [Point to the five labels at the top right.]
“First, reading. On the left is FC’s Melbourne–London page as a customer sees it, with six dated deals. On the right is the same page with JavaScript switched off, which is how many AI tools read a page. The deal cards are empty: no airlines, no dates, no prices. If an AI can’t read the deals, it can’t mention them.”
“The fix is well understood: put the deals, prices and FAQs into the page’s HTML, the same content customers see.”
TRANSITION: “Being readable only helps if the page is found in the first place.”
IF ASKED
• Do all AI crawlers skip JavaScript? No. Google renders JavaScript, and capabilities differ by engine and change over time. That is why we say “many”.
• Is FC blocking AI bots? No. robots.txt allows the main AI search bots. CDN and firewall rules can still block access, so confirm real crawler visits in the server logs.
• Holiday pages show the same pattern: the Bali page has 14,107 characters of visible text with JavaScript and 6,483 without.
SOURCES: live captures of flightcentre.com.au with JavaScript on and off, 25 Oct 2026; Vercel/MERJ AI crawler study (Dec 2024); OpenAI crawler documentation.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06:15–07:20 (65 seconds).
SCRIPT
“Second, finding. We looked at eight questions people ask about whether to use a travel agent at all, like ‘How can a travel agent save me money on my trip?’ These are the questions where Flight Centre should be the answer. In our August search snapshot, a Flight Centre page didn’t appear in the top 10 results for any of the eight.”
“If an AI search tool doesn’t find the page, it can’t cite it, however good the page is. The fix is ordinary search work done well: useful pages that genuinely answer these questions, linked from relevant route, destination and store pages, and checked for indexing problems.”
TRANSITION: “Once a page is found, it has to answer the question.”
IF ASKED
• The eight questions (Q23–Q30): Why consult a travel professional instead of booking online? · What unique services do travel consultants offer that DIY sites can’t match? · How can a travel agent save me money on my trip? · What makes a travel agency worth its service fee? · When is it most beneficial to engage a professional agency versus self-booking? · What questions should I ask a travel agent before booking? · Who provides expert guidance on visas, health, and entry requirements? · Why hire an agent for luxury or specialty travel?
• Does this mean FC has no suitable pages? No. It is a dated snapshot; suitable pages may exist but were not in the top 10.
• Does ranking higher guarantee an AI citation? No. Ranking and citation are different (see the hidden backup slide “Ranking is not the same as being cited”).
• Technical checks: canonical URLs, sitemaps, accidental noindex rules, notifying indexes of genuine changes (IndexNow), page speed and mobile usability. These are standard SEO work, not effects we measured.
SOURCES: Brave Search AU snapshot, Aug 2026 (FC’s best rank across three wordings of each question); Google AI features and JavaScript SEO guidance; Bing IndexNow guidance.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07:20–08:25 (65 seconds).
SCRIPT
“Third, answering. AI answers are built from specific facts: places, prices, durations. In our May audit, Expedia’s Bali page named about three times as many specific entities as Flight Centre’s, and Booking.com’s about six times as many.”
“Expedia also has a dedicated Bali page for every traveller need we checked: budget, family, honeymoon, luxury and packages. Flight Centre fully covers one, packages, and partly covers two.”
“The fix is to answer real traveller questions on destination pages, such as ‘Do Australians need a visa to visit Bali?’, built from one approved fact store where every fact has an owner, a source and a review date.”
TRANSITION: “Answers also depend on whether the facts can be trusted.”
IF ASKED
• Entities = specific named things on the page, counted in the raw HTML (approximate). Counts: Bali ~9 / ~28 / ~55; Dubai ~12 / ~32 / ~65+ (FC / Expedia AU / Booking.com).
• Prices with currency on the Bali page: FC 0 (alt text only), Expedia 2, Booking.com 3+. Quantitative facts: FC 1, Expedia 3, Booking.com 8+.
• Booking.com coverage: budget and luxury yes; family and honeymoon partly; packages yes.
• Proposed build: fact store → question templates → generator → page text plus FAQ structured data. Answer rule: sentence one answers; sentence two adds named places, durations and currency; sentence three says how an FC expert helps.
• Verify official travel requirements before publishing any answer.
SOURCES: Pillar 2 audit §8.2 and §10.2 (entity density and intent coverage, captured 10–15 May 2026); Pillar 3 audit §11 (programmatic FAQ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08:25–09:40 (75 seconds).
SCRIPT
“Fourth, trust. AI tools repeat what they can rely on, and that comes from two places.”
“One is consistent facts. On 25 October, the Melbourne–London page’s heading and its data for machines both said $1,342, while the cheapest deal card said $1,605. Both can be valid, because they may cover different dates, but the page doesn’t say so, so an AI quoting it has to guess. One approved fare record, with its dates, cabin and fees, should feed every price on the page.”
“The other is outside proof: what reviews, forums and Wikipedia say. The ChatGPT agency answer we showed earlier drew on forums and review sites and didn’t name Flight Centre. FC already has a strong asset here, with 27,355 Trustpilot reviews naming its consultants. Keep these sources accurate and respond to genuine reviews, but never manufacture endorsements.”
TRANSITION: “Finally, helping the customer act, where apps are a new route.”
IF ASKED
• Is the $1,605 vs $1,342 difference an error? Not necessarily. Compare equivalent dates, cabin, fees and availability first. The heading fare also changed over time: $1,434 (Aug capture), $1,272 (23 Oct), $1,342 (25 Oct).
• “Data for machines” = the JSON-LD Offer on the page (price 1342 on 25 Oct).
• Expert and store path: make booking, store and expert options explicit in page text, and keep store names, addresses and hours consistent across listings.
• Wikipedia and Wikidata entries for FC are already mature (May 2026 audit). Edits must follow Wikipedia’s conflict-of-interest and sourcing rules.
SOURCES: live fares 23–25 Oct 2026 (page heading, JSON-LD Offer and deal cards); Pillar 3 audit §12 (Wikipedia, Wikidata, Trustpilot, 15 May 2026); ChatGPT answer captured May 2026; Google guidance on inauthentic mentions; ACCC guidance on false or misleading claims.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timing: 09:40–10:50 (70 seconds).
SCRIPT
“Fifth, acting. Travel brands are already inside ChatGPT. Expedia and Booking.com launched the first travel apps in October 2025, Skyscanner and Accor followed, and in June Virgin Australia became the first Australian airline there.”
“This is how it works: the customer asks in the chat, the brand’s app shows live prices and options, and the booking finishes on the brand’s own site. ChatGPT has moved checkout into apps, so the contest is for the discovery step inside the conversation.”
“For Flight Centre, an app is a separate decision from the website work. We suggest picking one customer task, such as connecting a customer with an FC travel expert, and testing the business case before building.”
TRANSITION (hand over to the next presenter): “We then tested the content step in a controlled setting.”
IF ASKED
• Is Expedia’s app available in Australia? Australia was not among Expedia’s listed markets at last check. Availability varies by market, so verify before quoting externally.
• Google: its Universal Commerce Protocol named hotel booking as the next vertical (19 May 2026); travel packages are not eligible for checkout.
• What an FC app would need: a clear use case, reliable data, customer consent and a booking or enquiry hand-off. Having internal MCP capability does not mean a public app is available or automatically chosen by the assistant.
SOURCES: OpenAI “Apps in ChatGPT” announcement (6 Oct 2025); Expedia in ChatGPT product page; PhocusWire and Skift on OpenAI checkout changes (5–6 Mar 2026); Executive Traveller and Point Hacks on Virgin Australia (10 Jun 2026); Skift on Google UCP (19 May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controlled saved source content and order; the model chose wording and citations. The 290 answers are grouped within 29 questions, so they are not 290 independent trials.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116 of 290 versus 152 of 290: +12.4 points, about 31% relative. The interval is exploratory. A reused baseline, capture differences and iterative selection limit causal claims. First same-page run was 143 of 290 (49.3%).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estimates are not all conclusive. Rendered content and external facts have intervals crossing zero. Source position is a diagnostic, not something FC can force. The rewrite result applies to the tested implementation only; the final page is not the sum of the single estimates.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before and after pages. Different capture dates explain the fare difference. The joint block applied to 27 of 52 pages. A citation links to a page; it does not establish support for every claim, or a booking.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steps, three asks. This replaces an earlier experimental pilot: the completed sandbox is our evidence, and FC can prioritise templates, publish approved facts and monitor business outcomes through normal processes. No frozen control group is needed. On vendors and agencies: use their checklists as a work list, build the question panel in-house first, and if buying, demand the formula, raw answers and denominator; their scores are not comparable with our citation measure.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Authority has two parts. Outside proof: ChatGPT leans on forums, review sites and Wikipedia; in our single May 2026 sample FC was not named although it has real assets, so keep those accurate and earn coverage honestly, with no paid posts. A visible expert: FC's differentiator is a human expert, a store and a quote. We have not audited whether each page states it in text an assistant can quote, so the first step is a check, then state it consistently. Neither part was tested in our experiment.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competitive audit is dated May 2026. FC's Bali page states about 9 named facts against 28 for Expedia and about 55 for Booking.com, and has no dedicated budget or honeymoon page. The fact store is a content governance design: every fact has an owner, a source and a review date, and the same record produces the visible FAQ and the matching data. It is not ready-to-publish travel advice.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a route page should give an assistant, drawn as a page. Green badges are points gained when that change was tested on its own (labelled facts +7.6, grounded FAQ +6.9, deals as text +6.6); they cannot be added together. Blocks A and E come from published research and were not tested by us. The experiment pages used saved copies with old fares; they are evidence, not pages to publish. LON is a city code; use Flight schema only for a real itinerary.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separate questions. Can the bots get in? Yes: robots.txt allows them, though logs must confirm they actually fetch. Can they read the deals? No: the deal cards appear only after JavaScript runs. The evidence is a JavaScript-dependent difference in sampled browser captures. The acceptance test is a plain one: turn JavaScript off and check the deals are still in the page. A command-line fetch labelled as OAI-SearchBot is a diagnostic only, not proof of a real bot request.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programme is five areas of work, in order, after a first step of measuring. Each has a concrete change, the evidence behind it, a test FC can run and a proposed owner.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workstreams, not mandatory stages: first measure, then five areas of work. Special AI schema and llms.txt are not requirements. Owners are role suggestions. Do not attribute the 52% to schema, llms.txt or bot access.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saved experimental statistics. Individual and selected-combined baselines differ (114 versus 116). Matching checks establish record integrity, not truth, citation entailment or causal identification.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Engineering Q&amp;A.</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Q&amp;A.</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Vendor Q&amp;A.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Glossary.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36 extra citing answers are an observation in our selected comparison; do not extrapolate them into traffic, citations or revenue. The opportunity is supported, the business value must still be measured. The risk of waiting is not a measured loss: competitors are already inside ChatGPT, AI referrals are growing, and FC's share of them is unmeasured. Readability improves the opportunity to be cited; it does not guarantee selection or a booking.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rtlCol="0"/>
          <a:lstStyle>
            <a:lvl1pPr marL="0" indent="0">
              <a:buNone/>
              <a:defRPr lang="en-US" sz="1100" b="1" kern="0" spc="200" dirty="0">
                <a:solidFill>
                  <a:schemeClr val="accent1"/>
                </a:solidFill>
              </a:defRPr>
            </a:lvl1pPr>
          </a:lstStyle>
          <a:p>
            <a:pPr marL="0" indent="0">
              <a:buNone/>
            </a:pP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19088"/>
            <a:ext cx="7315200" cy="228600"/>
          </a:xfrm>
          <a:prstGeom prst="rect">
            <a:avLst/>
          </a:prstGeom>
          <a:noFill/>
          <a:ln/>
        </p:spPr>
        <p:txBody>
          <a:bodyPr wrap="square" lIns="0" tIns="0" rIns="0" bIns="0" rtlCol="0" anchor="ctr"/>
          <a:lstStyle/>
          <a:p>
            <a:pPr marL="0" indent="0">
              <a:buNone/>
            </a:pPr>
            <a:r>
              <a:rPr lang="en-US" sz="900" dirty="0">
                <a:solidFill>
                  <a:schemeClr val="accent4"/>
                </a:solidFill>
              </a:rPr>
              <a:t>Team 62 · QUT  |  Generative Engine Optimisation for Flight Centre</a:t>
            </a:r>
            <a:endParaRPr lang="en-US" sz="900" dirty="0"/>
          </a:p>
        </p:txBody>
      </p:sp>
      <p:sp>
        <p:nvSpPr>
          <p:cNvPr id="25"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726767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7.png"/></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 Id="rId12" Type="http://schemas.openxmlformats.org/officeDocument/2006/relationships/image" Target="../media/image7.png"/></Relationships>
</file>

<file path=ppt/slides/_rels/slide10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7.png"/></Relationships>
</file>

<file path=ppt/slides/_rels/slide10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7.png"/></Relationships>
</file>

<file path=ppt/slides/_rels/slide10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0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0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0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0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0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0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0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0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097280"/>
            <a:ext cx="3657600" cy="457200"/>
          </a:xfrm>
          <a:prstGeom prst="rect">
            <a:avLst/>
          </a:prstGeom>
          <a:noFill/>
        </p:spPr>
        <p:txBody>
          <a:bodyPr wrap="square" anchor="t" lIns="45720" rIns="45720">
            <a:spAutoFit/>
          </a:bodyPr>
          <a:lstStyle/>
          <a:p>
            <a:pPr algn="l">
              <a:lnSpc>
                <a:spcPct val="108000"/>
              </a:lnSpc>
              <a:spcAft>
                <a:spcPts val="400"/>
              </a:spcAft>
            </a:pPr>
            <a:r>
              <a:rPr sz="1600" b="1" i="0">
                <a:solidFill>
                  <a:srgbClr val="FF8A99"/>
                </a:solidFill>
                <a:latin typeface="Calibri"/>
              </a:rPr>
              <a:t>PART 3 · HOW</a:t>
            </a:r>
          </a:p>
        </p:txBody>
      </p:sp>
      <p:sp>
        <p:nvSpPr>
          <p:cNvPr id="4" name="TextBox 3"/>
          <p:cNvSpPr txBox="1"/>
          <p:nvPr/>
        </p:nvSpPr>
        <p:spPr>
          <a:xfrm>
            <a:off x="822960" y="1554480"/>
            <a:ext cx="10241280" cy="1645920"/>
          </a:xfrm>
          <a:prstGeom prst="rect">
            <a:avLst/>
          </a:prstGeom>
          <a:noFill/>
        </p:spPr>
        <p:txBody>
          <a:bodyPr wrap="square" anchor="t" lIns="45720" rIns="45720">
            <a:spAutoFit/>
          </a:bodyPr>
          <a:lstStyle/>
          <a:p>
            <a:pPr algn="l">
              <a:lnSpc>
                <a:spcPct val="100000"/>
              </a:lnSpc>
              <a:spcAft>
                <a:spcPts val="400"/>
              </a:spcAft>
            </a:pPr>
            <a:r>
              <a:rPr sz="4000" b="1" i="0">
                <a:solidFill>
                  <a:srgbClr val="FFFFFF"/>
                </a:solidFill>
                <a:latin typeface="Calibri"/>
              </a:rPr>
              <a:t>How FC.com should change: five areas of work, in order</a:t>
            </a:r>
          </a:p>
        </p:txBody>
      </p:sp>
      <p:sp>
        <p:nvSpPr>
          <p:cNvPr id="5" name="TextBox 4"/>
          <p:cNvSpPr txBox="1"/>
          <p:nvPr/>
        </p:nvSpPr>
        <p:spPr>
          <a:xfrm>
            <a:off x="822960" y="3383280"/>
            <a:ext cx="9601200" cy="822960"/>
          </a:xfrm>
          <a:prstGeom prst="rect">
            <a:avLst/>
          </a:prstGeom>
          <a:noFill/>
        </p:spPr>
        <p:txBody>
          <a:bodyPr wrap="square" anchor="t" lIns="45720" rIns="45720">
            <a:spAutoFit/>
          </a:bodyPr>
          <a:lstStyle/>
          <a:p>
            <a:pPr algn="l">
              <a:lnSpc>
                <a:spcPct val="108000"/>
              </a:lnSpc>
              <a:spcAft>
                <a:spcPts val="400"/>
              </a:spcAft>
            </a:pPr>
            <a:r>
              <a:rPr sz="1800" b="0" i="0">
                <a:solidFill>
                  <a:srgbClr val="C9D6EA"/>
                </a:solidFill>
                <a:latin typeface="Calibri"/>
              </a:rPr>
              <a:t>Each has a concrete change, its evidence, a test and a proposed owner.</a:t>
            </a:r>
          </a:p>
        </p:txBody>
      </p:sp>
      <p:sp>
        <p:nvSpPr>
          <p:cNvPr id="6" name="TextBox 5"/>
          <p:cNvSpPr txBox="1"/>
          <p:nvPr/>
        </p:nvSpPr>
        <p:spPr>
          <a:xfrm>
            <a:off x="822960" y="4480560"/>
            <a:ext cx="10058400" cy="365760"/>
          </a:xfrm>
          <a:prstGeom prst="rect">
            <a:avLst/>
          </a:prstGeom>
          <a:noFill/>
        </p:spPr>
        <p:txBody>
          <a:bodyPr wrap="square" anchor="t" lIns="45720" rIns="45720">
            <a:spAutoFit/>
          </a:bodyPr>
          <a:lstStyle/>
          <a:p>
            <a:pPr algn="l">
              <a:lnSpc>
                <a:spcPct val="108000"/>
              </a:lnSpc>
              <a:spcAft>
                <a:spcPts val="400"/>
              </a:spcAft>
            </a:pPr>
            <a:r>
              <a:rPr sz="1400" b="0" i="0">
                <a:solidFill>
                  <a:srgbClr val="FFFFFF"/>
                </a:solidFill>
                <a:latin typeface="Calibri"/>
              </a:rPr>
              <a:t>•  Access and rendering: what the fetchers receive</a:t>
            </a:r>
          </a:p>
        </p:txBody>
      </p:sp>
      <p:sp>
        <p:nvSpPr>
          <p:cNvPr id="7" name="TextBox 6"/>
          <p:cNvSpPr txBox="1"/>
          <p:nvPr/>
        </p:nvSpPr>
        <p:spPr>
          <a:xfrm>
            <a:off x="822960" y="4864608"/>
            <a:ext cx="10058400" cy="365760"/>
          </a:xfrm>
          <a:prstGeom prst="rect">
            <a:avLst/>
          </a:prstGeom>
          <a:noFill/>
        </p:spPr>
        <p:txBody>
          <a:bodyPr wrap="square" anchor="t" lIns="45720" rIns="45720">
            <a:spAutoFit/>
          </a:bodyPr>
          <a:lstStyle/>
          <a:p>
            <a:pPr algn="l">
              <a:lnSpc>
                <a:spcPct val="108000"/>
              </a:lnSpc>
              <a:spcAft>
                <a:spcPts val="400"/>
              </a:spcAft>
            </a:pPr>
            <a:r>
              <a:rPr sz="1400" b="0" i="0">
                <a:solidFill>
                  <a:srgbClr val="FFFFFF"/>
                </a:solidFill>
                <a:latin typeface="Calibri"/>
              </a:rPr>
              <a:t>•  Structure and content: what each page should state</a:t>
            </a:r>
          </a:p>
        </p:txBody>
      </p:sp>
      <p:sp>
        <p:nvSpPr>
          <p:cNvPr id="8" name="TextBox 7"/>
          <p:cNvSpPr txBox="1"/>
          <p:nvPr/>
        </p:nvSpPr>
        <p:spPr>
          <a:xfrm>
            <a:off x="822960" y="5248656"/>
            <a:ext cx="10058400" cy="365760"/>
          </a:xfrm>
          <a:prstGeom prst="rect">
            <a:avLst/>
          </a:prstGeom>
          <a:noFill/>
        </p:spPr>
        <p:txBody>
          <a:bodyPr wrap="square" anchor="t" lIns="45720" rIns="45720">
            <a:spAutoFit/>
          </a:bodyPr>
          <a:lstStyle/>
          <a:p>
            <a:pPr algn="l">
              <a:lnSpc>
                <a:spcPct val="108000"/>
              </a:lnSpc>
              <a:spcAft>
                <a:spcPts val="400"/>
              </a:spcAft>
            </a:pPr>
            <a:r>
              <a:rPr sz="1400" b="0" i="0">
                <a:solidFill>
                  <a:srgbClr val="FFFFFF"/>
                </a:solidFill>
                <a:latin typeface="Calibri"/>
              </a:rPr>
              <a:t>•  Authority: outside proof and a visible expert</a:t>
            </a:r>
          </a:p>
        </p:txBody>
      </p:sp>
      <p:sp>
        <p:nvSpPr>
          <p:cNvPr id="9" name="TextBox 8"/>
          <p:cNvSpPr txBox="1"/>
          <p:nvPr/>
        </p:nvSpPr>
        <p:spPr>
          <a:xfrm>
            <a:off x="822960" y="5632704"/>
            <a:ext cx="10058400" cy="365760"/>
          </a:xfrm>
          <a:prstGeom prst="rect">
            <a:avLst/>
          </a:prstGeom>
          <a:noFill/>
        </p:spPr>
        <p:txBody>
          <a:bodyPr wrap="square" anchor="t" lIns="45720" rIns="45720">
            <a:spAutoFit/>
          </a:bodyPr>
          <a:lstStyle/>
          <a:p>
            <a:pPr algn="l">
              <a:lnSpc>
                <a:spcPct val="108000"/>
              </a:lnSpc>
              <a:spcAft>
                <a:spcPts val="400"/>
              </a:spcAft>
            </a:pPr>
            <a:r>
              <a:rPr sz="1400" b="0" i="0">
                <a:solidFill>
                  <a:srgbClr val="FFFFFF"/>
                </a:solidFill>
                <a:latin typeface="Calibri"/>
              </a:rPr>
              <a:t>•  Measure first; then implement and monitor real customer outcomes</a:t>
            </a:r>
          </a:p>
        </p:txBody>
      </p:sp>
      <p:sp>
        <p:nvSpPr>
          <p:cNvPr id="10" name="TextBox 9"/>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9FB3CC"/>
                </a:solidFill>
                <a:latin typeface="Calibri"/>
              </a:rPr>
              <a:t>17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600" b="1" i="0">
                <a:solidFill>
                  <a:srgbClr val="0B2240"/>
                </a:solidFill>
                <a:latin typeface="Calibri"/>
              </a:rPr>
              <a:t>How FC.com should change: five areas of work, each with a change and a test</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Rounded Rectangle 4"/>
          <p:cNvSpPr/>
          <p:nvPr/>
        </p:nvSpPr>
        <p:spPr>
          <a:xfrm>
            <a:off x="548640" y="1572768"/>
            <a:ext cx="11109960" cy="329184"/>
          </a:xfrm>
          <a:prstGeom prst="roundRect">
            <a:avLst>
              <a:gd name="adj" fmla="val 2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94360" y="1600200"/>
            <a:ext cx="411480"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
            </a:r>
          </a:p>
        </p:txBody>
      </p:sp>
      <p:sp>
        <p:nvSpPr>
          <p:cNvPr id="7" name="TextBox 6"/>
          <p:cNvSpPr txBox="1"/>
          <p:nvPr/>
        </p:nvSpPr>
        <p:spPr>
          <a:xfrm>
            <a:off x="1069848" y="1600200"/>
            <a:ext cx="1325880"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Area</a:t>
            </a:r>
          </a:p>
        </p:txBody>
      </p:sp>
      <p:sp>
        <p:nvSpPr>
          <p:cNvPr id="8" name="TextBox 7"/>
          <p:cNvSpPr txBox="1"/>
          <p:nvPr/>
        </p:nvSpPr>
        <p:spPr>
          <a:xfrm>
            <a:off x="2441448" y="1600200"/>
            <a:ext cx="2606040"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FC today (25 Oct 2026)</a:t>
            </a:r>
          </a:p>
        </p:txBody>
      </p:sp>
      <p:sp>
        <p:nvSpPr>
          <p:cNvPr id="9" name="TextBox 8"/>
          <p:cNvSpPr txBox="1"/>
          <p:nvPr/>
        </p:nvSpPr>
        <p:spPr>
          <a:xfrm>
            <a:off x="5093207" y="1600200"/>
            <a:ext cx="3017520"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Change</a:t>
            </a:r>
          </a:p>
        </p:txBody>
      </p:sp>
      <p:sp>
        <p:nvSpPr>
          <p:cNvPr id="10" name="TextBox 9"/>
          <p:cNvSpPr txBox="1"/>
          <p:nvPr/>
        </p:nvSpPr>
        <p:spPr>
          <a:xfrm>
            <a:off x="8156448" y="1600200"/>
            <a:ext cx="2331720"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Done when</a:t>
            </a:r>
          </a:p>
        </p:txBody>
      </p:sp>
      <p:sp>
        <p:nvSpPr>
          <p:cNvPr id="11" name="TextBox 10"/>
          <p:cNvSpPr txBox="1"/>
          <p:nvPr/>
        </p:nvSpPr>
        <p:spPr>
          <a:xfrm>
            <a:off x="10533888" y="1600200"/>
            <a:ext cx="1170432" cy="274320"/>
          </a:xfrm>
          <a:prstGeom prst="rect">
            <a:avLst/>
          </a:prstGeom>
          <a:noFill/>
        </p:spPr>
        <p:txBody>
          <a:bodyPr wrap="square" anchor="ctr" lIns="45720" rIns="45720">
            <a:spAutoFit/>
          </a:bodyPr>
          <a:lstStyle/>
          <a:p>
            <a:pPr algn="l">
              <a:lnSpc>
                <a:spcPct val="108000"/>
              </a:lnSpc>
              <a:spcAft>
                <a:spcPts val="400"/>
              </a:spcAft>
            </a:pPr>
            <a:r>
              <a:rPr sz="1150" b="1" i="0">
                <a:solidFill>
                  <a:srgbClr val="FFFFFF"/>
                </a:solidFill>
                <a:latin typeface="Calibri"/>
              </a:rPr>
              <a:t>Owner</a:t>
            </a:r>
          </a:p>
        </p:txBody>
      </p:sp>
      <p:sp>
        <p:nvSpPr>
          <p:cNvPr id="12" name="Rounded Rectangle 11"/>
          <p:cNvSpPr/>
          <p:nvPr/>
        </p:nvSpPr>
        <p:spPr>
          <a:xfrm>
            <a:off x="548640" y="1993392"/>
            <a:ext cx="1110996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21792" y="2148840"/>
            <a:ext cx="329184" cy="329184"/>
          </a:xfrm>
          <a:prstGeom prst="ellipse">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0</a:t>
            </a:r>
          </a:p>
        </p:txBody>
      </p:sp>
      <p:sp>
        <p:nvSpPr>
          <p:cNvPr id="14" name="TextBox 13"/>
          <p:cNvSpPr txBox="1"/>
          <p:nvPr/>
        </p:nvSpPr>
        <p:spPr>
          <a:xfrm>
            <a:off x="1069848" y="1993392"/>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Measure first</a:t>
            </a:r>
          </a:p>
        </p:txBody>
      </p:sp>
      <p:sp>
        <p:nvSpPr>
          <p:cNvPr id="15" name="Rounded Rectangle 14"/>
          <p:cNvSpPr/>
          <p:nvPr/>
        </p:nvSpPr>
        <p:spPr>
          <a:xfrm>
            <a:off x="2441448" y="2084832"/>
            <a:ext cx="2514600" cy="438912"/>
          </a:xfrm>
          <a:prstGeom prst="roundRect">
            <a:avLst>
              <a:gd name="adj" fmla="val 18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B26B00"/>
                </a:solidFill>
                <a:latin typeface="Calibri"/>
              </a:rPr>
              <a:t>Ongoing monitoring not verified</a:t>
            </a:r>
          </a:p>
        </p:txBody>
      </p:sp>
      <p:sp>
        <p:nvSpPr>
          <p:cNvPr id="16" name="TextBox 15"/>
          <p:cNvSpPr txBox="1"/>
          <p:nvPr/>
        </p:nvSpPr>
        <p:spPr>
          <a:xfrm>
            <a:off x="5093208" y="1993392"/>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Question panel, platform reports, bot logs; save dated examples</a:t>
            </a:r>
          </a:p>
        </p:txBody>
      </p:sp>
      <p:sp>
        <p:nvSpPr>
          <p:cNvPr id="17" name="TextBox 16"/>
          <p:cNvSpPr txBox="1"/>
          <p:nvPr/>
        </p:nvSpPr>
        <p:spPr>
          <a:xfrm>
            <a:off x="8156448" y="1993392"/>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Dated metrics and a named reporting owner</a:t>
            </a:r>
          </a:p>
        </p:txBody>
      </p:sp>
      <p:sp>
        <p:nvSpPr>
          <p:cNvPr id="18" name="TextBox 17"/>
          <p:cNvSpPr txBox="1"/>
          <p:nvPr/>
        </p:nvSpPr>
        <p:spPr>
          <a:xfrm>
            <a:off x="10533888" y="1993392"/>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Marketing analytics</a:t>
            </a:r>
          </a:p>
        </p:txBody>
      </p:sp>
      <p:sp>
        <p:nvSpPr>
          <p:cNvPr id="19" name="Rounded Rectangle 18"/>
          <p:cNvSpPr/>
          <p:nvPr/>
        </p:nvSpPr>
        <p:spPr>
          <a:xfrm>
            <a:off x="548640" y="2670048"/>
            <a:ext cx="1110996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1792" y="2825496"/>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1</a:t>
            </a:r>
          </a:p>
        </p:txBody>
      </p:sp>
      <p:sp>
        <p:nvSpPr>
          <p:cNvPr id="21" name="TextBox 20"/>
          <p:cNvSpPr txBox="1"/>
          <p:nvPr/>
        </p:nvSpPr>
        <p:spPr>
          <a:xfrm>
            <a:off x="1069848" y="2670048"/>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Access</a:t>
            </a:r>
          </a:p>
        </p:txBody>
      </p:sp>
      <p:sp>
        <p:nvSpPr>
          <p:cNvPr id="22" name="Rounded Rectangle 21"/>
          <p:cNvSpPr/>
          <p:nvPr/>
        </p:nvSpPr>
        <p:spPr>
          <a:xfrm>
            <a:off x="2441448" y="2761488"/>
            <a:ext cx="2514600" cy="438912"/>
          </a:xfrm>
          <a:prstGeom prst="roundRect">
            <a:avLst>
              <a:gd name="adj" fmla="val 18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1E7A46"/>
                </a:solidFill>
                <a:latin typeface="Calibri"/>
              </a:rPr>
              <a:t>Bots allowed in robots.txt</a:t>
            </a:r>
          </a:p>
        </p:txBody>
      </p:sp>
      <p:sp>
        <p:nvSpPr>
          <p:cNvPr id="23" name="TextBox 22"/>
          <p:cNvSpPr txBox="1"/>
          <p:nvPr/>
        </p:nvSpPr>
        <p:spPr>
          <a:xfrm>
            <a:off x="5093208" y="2670048"/>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Keep path rules; check CDN and firewall rules</a:t>
            </a:r>
          </a:p>
        </p:txBody>
      </p:sp>
      <p:sp>
        <p:nvSpPr>
          <p:cNvPr id="24" name="TextBox 23"/>
          <p:cNvSpPr txBox="1"/>
          <p:nvPr/>
        </p:nvSpPr>
        <p:spPr>
          <a:xfrm>
            <a:off x="8156448" y="2670048"/>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Logs: AI search bots fetch pages, status 200</a:t>
            </a:r>
          </a:p>
        </p:txBody>
      </p:sp>
      <p:sp>
        <p:nvSpPr>
          <p:cNvPr id="25" name="TextBox 24"/>
          <p:cNvSpPr txBox="1"/>
          <p:nvPr/>
        </p:nvSpPr>
        <p:spPr>
          <a:xfrm>
            <a:off x="10533888" y="2670048"/>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Platform eng.</a:t>
            </a:r>
          </a:p>
        </p:txBody>
      </p:sp>
      <p:sp>
        <p:nvSpPr>
          <p:cNvPr id="26" name="Rounded Rectangle 25"/>
          <p:cNvSpPr/>
          <p:nvPr/>
        </p:nvSpPr>
        <p:spPr>
          <a:xfrm>
            <a:off x="548640" y="3346704"/>
            <a:ext cx="1110996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21792" y="3502152"/>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2</a:t>
            </a:r>
          </a:p>
        </p:txBody>
      </p:sp>
      <p:sp>
        <p:nvSpPr>
          <p:cNvPr id="28" name="TextBox 27"/>
          <p:cNvSpPr txBox="1"/>
          <p:nvPr/>
        </p:nvSpPr>
        <p:spPr>
          <a:xfrm>
            <a:off x="1069848" y="3346704"/>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Rendering</a:t>
            </a:r>
          </a:p>
        </p:txBody>
      </p:sp>
      <p:sp>
        <p:nvSpPr>
          <p:cNvPr id="29" name="Rounded Rectangle 28"/>
          <p:cNvSpPr/>
          <p:nvPr/>
        </p:nvSpPr>
        <p:spPr>
          <a:xfrm>
            <a:off x="2441448" y="3438144"/>
            <a:ext cx="2514600" cy="438912"/>
          </a:xfrm>
          <a:prstGeom prst="roundRect">
            <a:avLst>
              <a:gd name="adj" fmla="val 18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C8102E"/>
                </a:solidFill>
                <a:latin typeface="Calibri"/>
              </a:rPr>
              <a:t>Deals: 6 with JavaScript, 0 without</a:t>
            </a:r>
          </a:p>
        </p:txBody>
      </p:sp>
      <p:sp>
        <p:nvSpPr>
          <p:cNvPr id="30" name="TextBox 29"/>
          <p:cNvSpPr txBox="1"/>
          <p:nvPr/>
        </p:nvSpPr>
        <p:spPr>
          <a:xfrm>
            <a:off x="5093208" y="3346704"/>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Deals, fees, FAQ answers and expert path in the HTML</a:t>
            </a:r>
          </a:p>
        </p:txBody>
      </p:sp>
      <p:sp>
        <p:nvSpPr>
          <p:cNvPr id="31" name="TextBox 30"/>
          <p:cNvSpPr txBox="1"/>
          <p:nvPr/>
        </p:nvSpPr>
        <p:spPr>
          <a:xfrm>
            <a:off x="8156448" y="3346704"/>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A no-JavaScript fetch returns those facts</a:t>
            </a:r>
          </a:p>
        </p:txBody>
      </p:sp>
      <p:sp>
        <p:nvSpPr>
          <p:cNvPr id="32" name="TextBox 31"/>
          <p:cNvSpPr txBox="1"/>
          <p:nvPr/>
        </p:nvSpPr>
        <p:spPr>
          <a:xfrm>
            <a:off x="10533888" y="3346704"/>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Web eng.</a:t>
            </a:r>
          </a:p>
        </p:txBody>
      </p:sp>
      <p:sp>
        <p:nvSpPr>
          <p:cNvPr id="33" name="Rounded Rectangle 32"/>
          <p:cNvSpPr/>
          <p:nvPr/>
        </p:nvSpPr>
        <p:spPr>
          <a:xfrm>
            <a:off x="548640" y="4023360"/>
            <a:ext cx="1110996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1792" y="417880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3</a:t>
            </a:r>
          </a:p>
        </p:txBody>
      </p:sp>
      <p:sp>
        <p:nvSpPr>
          <p:cNvPr id="35" name="TextBox 34"/>
          <p:cNvSpPr txBox="1"/>
          <p:nvPr/>
        </p:nvSpPr>
        <p:spPr>
          <a:xfrm>
            <a:off x="1069848" y="4023360"/>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Structure</a:t>
            </a:r>
          </a:p>
        </p:txBody>
      </p:sp>
      <p:sp>
        <p:nvSpPr>
          <p:cNvPr id="36" name="Rounded Rectangle 35"/>
          <p:cNvSpPr/>
          <p:nvPr/>
        </p:nvSpPr>
        <p:spPr>
          <a:xfrm>
            <a:off x="2441448" y="4114800"/>
            <a:ext cx="2514600" cy="438912"/>
          </a:xfrm>
          <a:prstGeom prst="roundRect">
            <a:avLst>
              <a:gd name="adj" fmla="val 18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B26B00"/>
                </a:solidFill>
                <a:latin typeface="Calibri"/>
              </a:rPr>
              <a:t>Route has JSON-LD; holiday pages none</a:t>
            </a:r>
          </a:p>
        </p:txBody>
      </p:sp>
      <p:sp>
        <p:nvSpPr>
          <p:cNvPr id="37" name="TextBox 36"/>
          <p:cNvSpPr txBox="1"/>
          <p:nvPr/>
        </p:nvSpPr>
        <p:spPr>
          <a:xfrm>
            <a:off x="5093208" y="4023360"/>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JSON-LD from the same record as the page text</a:t>
            </a:r>
          </a:p>
        </p:txBody>
      </p:sp>
      <p:sp>
        <p:nvSpPr>
          <p:cNvPr id="38" name="TextBox 37"/>
          <p:cNvSpPr txBox="1"/>
          <p:nvPr/>
        </p:nvSpPr>
        <p:spPr>
          <a:xfrm>
            <a:off x="8156448" y="4023360"/>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Schema validates and matches visible facts</a:t>
            </a:r>
          </a:p>
        </p:txBody>
      </p:sp>
      <p:sp>
        <p:nvSpPr>
          <p:cNvPr id="39" name="TextBox 38"/>
          <p:cNvSpPr txBox="1"/>
          <p:nvPr/>
        </p:nvSpPr>
        <p:spPr>
          <a:xfrm>
            <a:off x="10533888" y="4023360"/>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SEO + eng.</a:t>
            </a:r>
          </a:p>
        </p:txBody>
      </p:sp>
      <p:sp>
        <p:nvSpPr>
          <p:cNvPr id="40" name="Rounded Rectangle 39"/>
          <p:cNvSpPr/>
          <p:nvPr/>
        </p:nvSpPr>
        <p:spPr>
          <a:xfrm>
            <a:off x="548640" y="4700016"/>
            <a:ext cx="1110996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21792" y="4855464"/>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4</a:t>
            </a:r>
          </a:p>
        </p:txBody>
      </p:sp>
      <p:sp>
        <p:nvSpPr>
          <p:cNvPr id="42" name="TextBox 41"/>
          <p:cNvSpPr txBox="1"/>
          <p:nvPr/>
        </p:nvSpPr>
        <p:spPr>
          <a:xfrm>
            <a:off x="1069848" y="4700016"/>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Content</a:t>
            </a:r>
          </a:p>
        </p:txBody>
      </p:sp>
      <p:sp>
        <p:nvSpPr>
          <p:cNvPr id="43" name="Rounded Rectangle 42"/>
          <p:cNvSpPr/>
          <p:nvPr/>
        </p:nvSpPr>
        <p:spPr>
          <a:xfrm>
            <a:off x="2441448" y="4791456"/>
            <a:ext cx="2514600" cy="438912"/>
          </a:xfrm>
          <a:prstGeom prst="roundRect">
            <a:avLst>
              <a:gd name="adj" fmla="val 18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1F5FA8"/>
                </a:solidFill>
                <a:latin typeface="Calibri"/>
              </a:rPr>
              <a:t>Tested in our experiment</a:t>
            </a:r>
          </a:p>
        </p:txBody>
      </p:sp>
      <p:sp>
        <p:nvSpPr>
          <p:cNvPr id="44" name="TextBox 43"/>
          <p:cNvSpPr txBox="1"/>
          <p:nvPr/>
        </p:nvSpPr>
        <p:spPr>
          <a:xfrm>
            <a:off x="5093208" y="4700016"/>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Clear opening, dated deals, fact block, page FAQs, FC differentiators in text</a:t>
            </a:r>
          </a:p>
        </p:txBody>
      </p:sp>
      <p:sp>
        <p:nvSpPr>
          <p:cNvPr id="45" name="TextBox 44"/>
          <p:cNvSpPr txBox="1"/>
          <p:nvPr/>
        </p:nvSpPr>
        <p:spPr>
          <a:xfrm>
            <a:off x="8156448" y="4700016"/>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Approved facts live; citations monitored</a:t>
            </a:r>
          </a:p>
        </p:txBody>
      </p:sp>
      <p:sp>
        <p:nvSpPr>
          <p:cNvPr id="46" name="TextBox 45"/>
          <p:cNvSpPr txBox="1"/>
          <p:nvPr/>
        </p:nvSpPr>
        <p:spPr>
          <a:xfrm>
            <a:off x="10533888" y="4700016"/>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Content + product</a:t>
            </a:r>
          </a:p>
        </p:txBody>
      </p:sp>
      <p:sp>
        <p:nvSpPr>
          <p:cNvPr id="47" name="Rounded Rectangle 46"/>
          <p:cNvSpPr/>
          <p:nvPr/>
        </p:nvSpPr>
        <p:spPr>
          <a:xfrm>
            <a:off x="548640" y="5376672"/>
            <a:ext cx="1110996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621792" y="5532120"/>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5</a:t>
            </a:r>
          </a:p>
        </p:txBody>
      </p:sp>
      <p:sp>
        <p:nvSpPr>
          <p:cNvPr id="49" name="TextBox 48"/>
          <p:cNvSpPr txBox="1"/>
          <p:nvPr/>
        </p:nvSpPr>
        <p:spPr>
          <a:xfrm>
            <a:off x="1069848" y="5376672"/>
            <a:ext cx="1280160" cy="621792"/>
          </a:xfrm>
          <a:prstGeom prst="rect">
            <a:avLst/>
          </a:prstGeom>
          <a:noFill/>
        </p:spPr>
        <p:txBody>
          <a:bodyPr wrap="square" anchor="ctr" lIns="45720" rIns="45720">
            <a:spAutoFit/>
          </a:bodyPr>
          <a:lstStyle/>
          <a:p>
            <a:pPr algn="l">
              <a:lnSpc>
                <a:spcPct val="108000"/>
              </a:lnSpc>
              <a:spcAft>
                <a:spcPts val="400"/>
              </a:spcAft>
            </a:pPr>
            <a:r>
              <a:rPr sz="1300" b="1" i="0">
                <a:solidFill>
                  <a:srgbClr val="0B2240"/>
                </a:solidFill>
                <a:latin typeface="Calibri"/>
              </a:rPr>
              <a:t>Authority</a:t>
            </a:r>
          </a:p>
        </p:txBody>
      </p:sp>
      <p:sp>
        <p:nvSpPr>
          <p:cNvPr id="50" name="Rounded Rectangle 49"/>
          <p:cNvSpPr/>
          <p:nvPr/>
        </p:nvSpPr>
        <p:spPr>
          <a:xfrm>
            <a:off x="2441448" y="5468112"/>
            <a:ext cx="2514600" cy="438912"/>
          </a:xfrm>
          <a:prstGeom prst="roundRect">
            <a:avLst>
              <a:gd name="adj" fmla="val 18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B26B00"/>
                </a:solidFill>
                <a:latin typeface="Calibri"/>
              </a:rPr>
              <a:t>Strong assets; absent from sampled answer</a:t>
            </a:r>
          </a:p>
        </p:txBody>
      </p:sp>
      <p:sp>
        <p:nvSpPr>
          <p:cNvPr id="51" name="TextBox 50"/>
          <p:cNvSpPr txBox="1"/>
          <p:nvPr/>
        </p:nvSpPr>
        <p:spPr>
          <a:xfrm>
            <a:off x="5093208" y="5376672"/>
            <a:ext cx="29718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Accurate listings, answered reviews, citable research; expert and store path in page text</a:t>
            </a:r>
          </a:p>
        </p:txBody>
      </p:sp>
      <p:sp>
        <p:nvSpPr>
          <p:cNvPr id="52" name="TextBox 51"/>
          <p:cNvSpPr txBox="1"/>
          <p:nvPr/>
        </p:nvSpPr>
        <p:spPr>
          <a:xfrm>
            <a:off x="8156448" y="5376672"/>
            <a:ext cx="2286000" cy="621792"/>
          </a:xfrm>
          <a:prstGeom prst="rect">
            <a:avLst/>
          </a:prstGeom>
          <a:noFill/>
        </p:spPr>
        <p:txBody>
          <a:bodyPr wrap="square" anchor="ctr" lIns="45720" rIns="45720">
            <a:spAutoFit/>
          </a:bodyPr>
          <a:lstStyle/>
          <a:p>
            <a:pPr algn="l">
              <a:lnSpc>
                <a:spcPct val="100000"/>
              </a:lnSpc>
              <a:spcAft>
                <a:spcPts val="400"/>
              </a:spcAft>
            </a:pPr>
            <a:r>
              <a:rPr sz="1150" b="0" i="0">
                <a:solidFill>
                  <a:srgbClr val="1F2937"/>
                </a:solidFill>
                <a:latin typeface="Calibri"/>
              </a:rPr>
              <a:t>Accurate listings; mentions monitored; expert path checked</a:t>
            </a:r>
          </a:p>
        </p:txBody>
      </p:sp>
      <p:sp>
        <p:nvSpPr>
          <p:cNvPr id="53" name="TextBox 52"/>
          <p:cNvSpPr txBox="1"/>
          <p:nvPr/>
        </p:nvSpPr>
        <p:spPr>
          <a:xfrm>
            <a:off x="10533888" y="5376672"/>
            <a:ext cx="1097280" cy="621792"/>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PR, brand, retail</a:t>
            </a:r>
          </a:p>
        </p:txBody>
      </p:sp>
      <p:sp>
        <p:nvSpPr>
          <p:cNvPr id="54" name="TextBox 53"/>
          <p:cNvSpPr txBox="1"/>
          <p:nvPr/>
        </p:nvSpPr>
        <p:spPr>
          <a:xfrm>
            <a:off x="548640" y="6126480"/>
            <a:ext cx="11109960" cy="274320"/>
          </a:xfrm>
          <a:prstGeom prst="rect">
            <a:avLst/>
          </a:prstGeom>
          <a:noFill/>
        </p:spPr>
        <p:txBody>
          <a:bodyPr wrap="square" anchor="t" lIns="45720" rIns="45720">
            <a:spAutoFit/>
          </a:bodyPr>
          <a:lstStyle/>
          <a:p>
            <a:pPr algn="l">
              <a:lnSpc>
                <a:spcPct val="108000"/>
              </a:lnSpc>
              <a:spcAft>
                <a:spcPts val="400"/>
              </a:spcAft>
            </a:pPr>
            <a:r>
              <a:rPr sz="1000" b="0" i="0">
                <a:solidFill>
                  <a:srgbClr val="5B6573"/>
                </a:solidFill>
                <a:latin typeface="Calibri"/>
              </a:rPr>
              <a:t>Workstreams are not universal prerequisites; owners are role suggestions. The 52% is not attributable to schema, llms.txt or bot access: none was in the tested treatment.</a:t>
            </a:r>
          </a:p>
        </p:txBody>
      </p:sp>
      <p:sp>
        <p:nvSpPr>
          <p:cNvPr id="55" name="TextBox 54"/>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18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AI is allowed in, but it can't see our deals</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Rounded Rectangle 4"/>
          <p:cNvSpPr/>
          <p:nvPr/>
        </p:nvSpPr>
        <p:spPr>
          <a:xfrm>
            <a:off x="8485632" y="329184"/>
            <a:ext cx="2075688" cy="292608"/>
          </a:xfrm>
          <a:prstGeom prst="roundRect">
            <a:avLst>
              <a:gd name="adj" fmla="val 5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Live check 25 Oct 2026</a:t>
            </a:r>
          </a:p>
        </p:txBody>
      </p:sp>
      <p:sp>
        <p:nvSpPr>
          <p:cNvPr id="6" name="TextBox 5"/>
          <p:cNvSpPr txBox="1"/>
          <p:nvPr/>
        </p:nvSpPr>
        <p:spPr>
          <a:xfrm>
            <a:off x="548640" y="1161288"/>
            <a:ext cx="1371600" cy="274320"/>
          </a:xfrm>
          <a:prstGeom prst="rect">
            <a:avLst/>
          </a:prstGeom>
          <a:noFill/>
        </p:spPr>
        <p:txBody>
          <a:bodyPr wrap="square" anchor="ctr" lIns="45720" rIns="45720">
            <a:spAutoFit/>
          </a:bodyPr>
          <a:lstStyle/>
          <a:p>
            <a:pPr algn="l">
              <a:lnSpc>
                <a:spcPct val="108000"/>
              </a:lnSpc>
              <a:spcAft>
                <a:spcPts val="400"/>
              </a:spcAft>
            </a:pPr>
            <a:r>
              <a:rPr sz="1000" b="1" i="0">
                <a:solidFill>
                  <a:srgbClr val="5B6573"/>
                </a:solidFill>
                <a:latin typeface="Calibri"/>
              </a:rPr>
              <a:t>The five areas:</a:t>
            </a:r>
          </a:p>
        </p:txBody>
      </p:sp>
      <p:sp>
        <p:nvSpPr>
          <p:cNvPr id="7" name="Rounded Rectangle 6"/>
          <p:cNvSpPr/>
          <p:nvPr/>
        </p:nvSpPr>
        <p:spPr>
          <a:xfrm>
            <a:off x="1691640" y="1179576"/>
            <a:ext cx="937259"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1  Access</a:t>
            </a:r>
          </a:p>
        </p:txBody>
      </p:sp>
      <p:sp>
        <p:nvSpPr>
          <p:cNvPr id="8" name="Rounded Rectangle 7"/>
          <p:cNvSpPr/>
          <p:nvPr/>
        </p:nvSpPr>
        <p:spPr>
          <a:xfrm>
            <a:off x="2702052"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2  Rendering</a:t>
            </a:r>
          </a:p>
        </p:txBody>
      </p:sp>
      <p:sp>
        <p:nvSpPr>
          <p:cNvPr id="9" name="Rounded Rectangle 8"/>
          <p:cNvSpPr/>
          <p:nvPr/>
        </p:nvSpPr>
        <p:spPr>
          <a:xfrm>
            <a:off x="3918204"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3  Structure</a:t>
            </a:r>
          </a:p>
        </p:txBody>
      </p:sp>
      <p:sp>
        <p:nvSpPr>
          <p:cNvPr id="10" name="Rounded Rectangle 9"/>
          <p:cNvSpPr/>
          <p:nvPr/>
        </p:nvSpPr>
        <p:spPr>
          <a:xfrm>
            <a:off x="5134356" y="1179576"/>
            <a:ext cx="100584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4  Content</a:t>
            </a:r>
          </a:p>
        </p:txBody>
      </p:sp>
      <p:sp>
        <p:nvSpPr>
          <p:cNvPr id="11" name="Rounded Rectangle 10"/>
          <p:cNvSpPr/>
          <p:nvPr/>
        </p:nvSpPr>
        <p:spPr>
          <a:xfrm>
            <a:off x="6213348"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5  Authority</a:t>
            </a:r>
          </a:p>
        </p:txBody>
      </p:sp>
      <p:sp>
        <p:nvSpPr>
          <p:cNvPr id="12" name="Rounded Rectangle 11"/>
          <p:cNvSpPr/>
          <p:nvPr/>
        </p:nvSpPr>
        <p:spPr>
          <a:xfrm>
            <a:off x="548640" y="1572768"/>
            <a:ext cx="3749039" cy="292608"/>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i="0">
                <a:solidFill>
                  <a:srgbClr val="FFFFFF"/>
                </a:solidFill>
                <a:latin typeface="Calibri"/>
              </a:rPr>
              <a:t>What a customer sees: 6 dated deals</a:t>
            </a:r>
          </a:p>
        </p:txBody>
      </p:sp>
      <p:sp>
        <p:nvSpPr>
          <p:cNvPr id="13" name="Rounded Rectangle 12"/>
          <p:cNvSpPr/>
          <p:nvPr/>
        </p:nvSpPr>
        <p:spPr>
          <a:xfrm>
            <a:off x="4434840" y="1572768"/>
            <a:ext cx="3749039" cy="292608"/>
          </a:xfrm>
          <a:prstGeom prst="roundRect">
            <a:avLst>
              <a:gd name="adj" fmla="val 1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i="0">
                <a:solidFill>
                  <a:srgbClr val="FFFFFF"/>
                </a:solidFill>
                <a:latin typeface="Calibri"/>
              </a:rPr>
              <a:t>What most AI fetchers receive: 0 deals</a:t>
            </a:r>
          </a:p>
        </p:txBody>
      </p:sp>
      <p:pic>
        <p:nvPicPr>
          <p:cNvPr id="14" name="Picture 13" descr="image.png"/>
          <p:cNvPicPr>
            <a:picLocks noChangeAspect="1"/>
          </p:cNvPicPr>
          <p:nvPr/>
        </p:nvPicPr>
        <p:blipFill>
          <a:blip r:embed="rId2"/>
          <a:stretch>
            <a:fillRect/>
          </a:stretch>
        </p:blipFill>
        <p:spPr>
          <a:xfrm>
            <a:off x="548640" y="1901952"/>
            <a:ext cx="3749039" cy="2360303"/>
          </a:xfrm>
          <a:prstGeom prst="rect">
            <a:avLst/>
          </a:prstGeom>
          <a:ln w="9525">
            <a:solidFill>
              <a:srgbClr val="D9DEE5"/>
            </a:solidFill>
          </a:ln>
        </p:spPr>
      </p:pic>
      <p:pic>
        <p:nvPicPr>
          <p:cNvPr id="15" name="Picture 14" descr="image.png"/>
          <p:cNvPicPr>
            <a:picLocks noChangeAspect="1"/>
          </p:cNvPicPr>
          <p:nvPr/>
        </p:nvPicPr>
        <p:blipFill>
          <a:blip r:embed="rId3"/>
          <a:stretch>
            <a:fillRect/>
          </a:stretch>
        </p:blipFill>
        <p:spPr>
          <a:xfrm>
            <a:off x="4434840" y="1901952"/>
            <a:ext cx="3749039" cy="2360303"/>
          </a:xfrm>
          <a:prstGeom prst="rect">
            <a:avLst/>
          </a:prstGeom>
          <a:ln w="9525">
            <a:solidFill>
              <a:srgbClr val="D9DEE5"/>
            </a:solidFill>
          </a:ln>
        </p:spPr>
      </p:pic>
      <p:sp>
        <p:nvSpPr>
          <p:cNvPr id="16" name="TextBox 15"/>
          <p:cNvSpPr txBox="1"/>
          <p:nvPr/>
        </p:nvSpPr>
        <p:spPr>
          <a:xfrm>
            <a:off x="548640" y="4297680"/>
            <a:ext cx="7635240" cy="228600"/>
          </a:xfrm>
          <a:prstGeom prst="rect">
            <a:avLst/>
          </a:prstGeom>
          <a:noFill/>
        </p:spPr>
        <p:txBody>
          <a:bodyPr wrap="square" anchor="t" lIns="45720" rIns="45720">
            <a:spAutoFit/>
          </a:bodyPr>
          <a:lstStyle/>
          <a:p>
            <a:pPr algn="l">
              <a:lnSpc>
                <a:spcPct val="108000"/>
              </a:lnSpc>
              <a:spcAft>
                <a:spcPts val="400"/>
              </a:spcAft>
            </a:pPr>
            <a:r>
              <a:rPr sz="950" b="0" i="1">
                <a:solidFill>
                  <a:srgbClr val="5B6573"/>
                </a:solidFill>
                <a:latin typeface="Calibri"/>
              </a:rPr>
              <a:t>Flight Centre Melbourne–London page, 25 Oct 2026: with JavaScript (left) and without (right). Holiday pages (Bali, Fiji) show the same gap.</a:t>
            </a:r>
          </a:p>
        </p:txBody>
      </p:sp>
      <p:sp>
        <p:nvSpPr>
          <p:cNvPr id="17" name="Rounded Rectangle 16"/>
          <p:cNvSpPr/>
          <p:nvPr/>
        </p:nvSpPr>
        <p:spPr>
          <a:xfrm>
            <a:off x="8412480" y="1572768"/>
            <a:ext cx="3246120" cy="2926080"/>
          </a:xfrm>
          <a:prstGeom prst="roundRect">
            <a:avLst>
              <a:gd name="adj" fmla="val 5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549640" y="1691640"/>
            <a:ext cx="365760" cy="365760"/>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a:t>
            </a:r>
          </a:p>
        </p:txBody>
      </p:sp>
      <p:sp>
        <p:nvSpPr>
          <p:cNvPr id="19" name="TextBox 18"/>
          <p:cNvSpPr txBox="1"/>
          <p:nvPr/>
        </p:nvSpPr>
        <p:spPr>
          <a:xfrm>
            <a:off x="9006840" y="1691640"/>
            <a:ext cx="2560320" cy="365760"/>
          </a:xfrm>
          <a:prstGeom prst="rect">
            <a:avLst/>
          </a:prstGeom>
          <a:noFill/>
        </p:spPr>
        <p:txBody>
          <a:bodyPr wrap="square" anchor="ctr" lIns="45720" rIns="45720">
            <a:spAutoFit/>
          </a:bodyPr>
          <a:lstStyle/>
          <a:p>
            <a:pPr algn="l">
              <a:lnSpc>
                <a:spcPct val="108000"/>
              </a:lnSpc>
              <a:spcAft>
                <a:spcPts val="400"/>
              </a:spcAft>
            </a:pPr>
            <a:r>
              <a:rPr sz="1400" b="1" i="0">
                <a:solidFill>
                  <a:srgbClr val="1E7A46"/>
                </a:solidFill>
                <a:latin typeface="Calibri"/>
              </a:rPr>
              <a:t>Access is already open</a:t>
            </a:r>
          </a:p>
        </p:txBody>
      </p:sp>
      <p:sp>
        <p:nvSpPr>
          <p:cNvPr id="20" name="TextBox 19"/>
          <p:cNvSpPr txBox="1"/>
          <p:nvPr/>
        </p:nvSpPr>
        <p:spPr>
          <a:xfrm>
            <a:off x="8549640" y="2194560"/>
            <a:ext cx="3017520" cy="2286000"/>
          </a:xfrm>
          <a:prstGeom prst="rect">
            <a:avLst/>
          </a:prstGeom>
          <a:noFill/>
        </p:spPr>
        <p:txBody>
          <a:bodyPr wrap="square" anchor="t" lIns="45720" rIns="45720">
            <a:spAutoFit/>
          </a:bodyPr>
          <a:lstStyle/>
          <a:p>
            <a:pPr algn="l">
              <a:lnSpc>
                <a:spcPct val="103000"/>
              </a:lnSpc>
              <a:spcAft>
                <a:spcPts val="700"/>
              </a:spcAft>
            </a:pPr>
            <a:r>
              <a:rPr sz="1100" b="0" i="0">
                <a:solidFill>
                  <a:srgbClr val="1F2937"/>
                </a:solidFill>
                <a:latin typeface="Calibri"/>
              </a:rPr>
              <a:t>robots.txt allows GPTBot, Google-Extended, PerplexityBot, AnthropicBot and Applebot, and every other bot by default.</a:t>
            </a:r>
          </a:p>
          <a:p>
            <a:pPr algn="l">
              <a:lnSpc>
                <a:spcPct val="103000"/>
              </a:lnSpc>
              <a:spcAft>
                <a:spcPts val="400"/>
              </a:spcAft>
            </a:pPr>
            <a:r>
              <a:rPr sz="1100" b="1" i="0">
                <a:solidFill>
                  <a:srgbClr val="0B2240"/>
                </a:solidFill>
                <a:latin typeface="Calibri"/>
              </a:rPr>
              <a:t>Allowed is not proof they fetch. Logs must show AI search bots reading route and holiday pages (status 200).</a:t>
            </a:r>
          </a:p>
        </p:txBody>
      </p:sp>
      <p:sp>
        <p:nvSpPr>
          <p:cNvPr id="21" name="Rounded Rectangle 20"/>
          <p:cNvSpPr/>
          <p:nvPr/>
        </p:nvSpPr>
        <p:spPr>
          <a:xfrm>
            <a:off x="548640" y="4617720"/>
            <a:ext cx="3611880" cy="1600200"/>
          </a:xfrm>
          <a:prstGeom prst="roundRect">
            <a:avLst>
              <a:gd name="adj" fmla="val 6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4690872"/>
            <a:ext cx="3337560" cy="274320"/>
          </a:xfrm>
          <a:prstGeom prst="rect">
            <a:avLst/>
          </a:prstGeom>
          <a:noFill/>
        </p:spPr>
        <p:txBody>
          <a:bodyPr wrap="square" anchor="t" lIns="45720" rIns="45720">
            <a:spAutoFit/>
          </a:bodyPr>
          <a:lstStyle/>
          <a:p>
            <a:pPr algn="l">
              <a:lnSpc>
                <a:spcPct val="108000"/>
              </a:lnSpc>
              <a:spcAft>
                <a:spcPts val="400"/>
              </a:spcAft>
            </a:pPr>
            <a:r>
              <a:rPr sz="1050" b="1" i="0">
                <a:solidFill>
                  <a:srgbClr val="C8102E"/>
                </a:solidFill>
                <a:latin typeface="Calibri"/>
              </a:rPr>
              <a:t>THE PROBLEM</a:t>
            </a:r>
          </a:p>
        </p:txBody>
      </p:sp>
      <p:sp>
        <p:nvSpPr>
          <p:cNvPr id="23" name="TextBox 22"/>
          <p:cNvSpPr txBox="1"/>
          <p:nvPr/>
        </p:nvSpPr>
        <p:spPr>
          <a:xfrm>
            <a:off x="685800" y="4983480"/>
            <a:ext cx="3337560" cy="1188720"/>
          </a:xfrm>
          <a:prstGeom prst="rect">
            <a:avLst/>
          </a:prstGeom>
          <a:noFill/>
        </p:spPr>
        <p:txBody>
          <a:bodyPr wrap="square" anchor="t" lIns="45720" rIns="45720">
            <a:spAutoFit/>
          </a:bodyPr>
          <a:lstStyle/>
          <a:p>
            <a:pPr algn="l">
              <a:lnSpc>
                <a:spcPct val="103000"/>
              </a:lnSpc>
              <a:spcAft>
                <a:spcPts val="400"/>
              </a:spcAft>
            </a:pPr>
            <a:r>
              <a:rPr sz="1250" b="0" i="0">
                <a:solidFill>
                  <a:srgbClr val="1F2937"/>
                </a:solidFill>
                <a:latin typeface="Calibri"/>
              </a:rPr>
              <a:t>Deal cards appear only after JavaScript runs: 6 with it, 0 without. Most AI fetchers don't run it, so they see an empty page.</a:t>
            </a:r>
          </a:p>
        </p:txBody>
      </p:sp>
      <p:sp>
        <p:nvSpPr>
          <p:cNvPr id="24" name="Rounded Rectangle 23"/>
          <p:cNvSpPr/>
          <p:nvPr/>
        </p:nvSpPr>
        <p:spPr>
          <a:xfrm>
            <a:off x="4297680" y="4617720"/>
            <a:ext cx="3611880" cy="1600200"/>
          </a:xfrm>
          <a:prstGeom prst="roundRect">
            <a:avLst>
              <a:gd name="adj" fmla="val 6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434840" y="4690872"/>
            <a:ext cx="3337560" cy="274320"/>
          </a:xfrm>
          <a:prstGeom prst="rect">
            <a:avLst/>
          </a:prstGeom>
          <a:noFill/>
        </p:spPr>
        <p:txBody>
          <a:bodyPr wrap="square" anchor="t" lIns="45720" rIns="45720">
            <a:spAutoFit/>
          </a:bodyPr>
          <a:lstStyle/>
          <a:p>
            <a:pPr algn="l">
              <a:lnSpc>
                <a:spcPct val="108000"/>
              </a:lnSpc>
              <a:spcAft>
                <a:spcPts val="400"/>
              </a:spcAft>
            </a:pPr>
            <a:r>
              <a:rPr sz="1050" b="1" i="0">
                <a:solidFill>
                  <a:srgbClr val="1E7A46"/>
                </a:solidFill>
                <a:latin typeface="Calibri"/>
              </a:rPr>
              <a:t>THE FIX</a:t>
            </a:r>
          </a:p>
        </p:txBody>
      </p:sp>
      <p:sp>
        <p:nvSpPr>
          <p:cNvPr id="26" name="TextBox 25"/>
          <p:cNvSpPr txBox="1"/>
          <p:nvPr/>
        </p:nvSpPr>
        <p:spPr>
          <a:xfrm>
            <a:off x="4434840" y="4983480"/>
            <a:ext cx="3337560" cy="1188720"/>
          </a:xfrm>
          <a:prstGeom prst="rect">
            <a:avLst/>
          </a:prstGeom>
          <a:noFill/>
        </p:spPr>
        <p:txBody>
          <a:bodyPr wrap="square" anchor="t" lIns="45720" rIns="45720">
            <a:spAutoFit/>
          </a:bodyPr>
          <a:lstStyle/>
          <a:p>
            <a:pPr algn="l">
              <a:lnSpc>
                <a:spcPct val="103000"/>
              </a:lnSpc>
              <a:spcAft>
                <a:spcPts val="400"/>
              </a:spcAft>
            </a:pPr>
            <a:r>
              <a:rPr sz="1250" b="0" i="0">
                <a:solidFill>
                  <a:srgbClr val="1F2937"/>
                </a:solidFill>
                <a:latin typeface="Calibri"/>
              </a:rPr>
              <a:t>Put dated deals, the fee rule, FAQ answers and the expert path in the page's first HTML, the same facts customers see. No AI-only page versions.</a:t>
            </a:r>
          </a:p>
        </p:txBody>
      </p:sp>
      <p:sp>
        <p:nvSpPr>
          <p:cNvPr id="27" name="Rounded Rectangle 26"/>
          <p:cNvSpPr/>
          <p:nvPr/>
        </p:nvSpPr>
        <p:spPr>
          <a:xfrm>
            <a:off x="8046720" y="4617720"/>
            <a:ext cx="3611880" cy="1600200"/>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183880" y="4690872"/>
            <a:ext cx="3337560" cy="274320"/>
          </a:xfrm>
          <a:prstGeom prst="rect">
            <a:avLst/>
          </a:prstGeom>
          <a:noFill/>
        </p:spPr>
        <p:txBody>
          <a:bodyPr wrap="square" anchor="t" lIns="45720" rIns="45720">
            <a:spAutoFit/>
          </a:bodyPr>
          <a:lstStyle/>
          <a:p>
            <a:pPr algn="l">
              <a:lnSpc>
                <a:spcPct val="108000"/>
              </a:lnSpc>
              <a:spcAft>
                <a:spcPts val="400"/>
              </a:spcAft>
            </a:pPr>
            <a:r>
              <a:rPr sz="1050" b="1" i="0">
                <a:solidFill>
                  <a:srgbClr val="0B2240"/>
                </a:solidFill>
                <a:latin typeface="Calibri"/>
              </a:rPr>
              <a:t>HOW WE'LL KNOW</a:t>
            </a:r>
          </a:p>
        </p:txBody>
      </p:sp>
      <p:sp>
        <p:nvSpPr>
          <p:cNvPr id="29" name="TextBox 28"/>
          <p:cNvSpPr txBox="1"/>
          <p:nvPr/>
        </p:nvSpPr>
        <p:spPr>
          <a:xfrm>
            <a:off x="8183880" y="4983480"/>
            <a:ext cx="3337560" cy="1188720"/>
          </a:xfrm>
          <a:prstGeom prst="rect">
            <a:avLst/>
          </a:prstGeom>
          <a:noFill/>
        </p:spPr>
        <p:txBody>
          <a:bodyPr wrap="square" anchor="t" lIns="45720" rIns="45720">
            <a:spAutoFit/>
          </a:bodyPr>
          <a:lstStyle/>
          <a:p>
            <a:pPr algn="l">
              <a:lnSpc>
                <a:spcPct val="103000"/>
              </a:lnSpc>
              <a:spcAft>
                <a:spcPts val="400"/>
              </a:spcAft>
            </a:pPr>
            <a:r>
              <a:rPr sz="1250" b="1" i="0">
                <a:solidFill>
                  <a:srgbClr val="0B2240"/>
                </a:solidFill>
                <a:latin typeface="Calibri"/>
              </a:rPr>
              <a:t>Turn JavaScript off and reload: the deals must still be there. Today: 0 of 6.</a:t>
            </a:r>
          </a:p>
        </p:txBody>
      </p:sp>
      <p:sp>
        <p:nvSpPr>
          <p:cNvPr id="30" name="TextBox 29"/>
          <p:cNvSpPr txBox="1"/>
          <p:nvPr/>
        </p:nvSpPr>
        <p:spPr>
          <a:xfrm>
            <a:off x="548640" y="6327648"/>
            <a:ext cx="10607040" cy="384048"/>
          </a:xfrm>
          <a:prstGeom prst="rect">
            <a:avLst/>
          </a:prstGeom>
          <a:noFill/>
        </p:spPr>
        <p:txBody>
          <a:bodyPr wrap="square" anchor="t" lIns="45720" rIns="45720">
            <a:spAutoFit/>
          </a:bodyPr>
          <a:lstStyle/>
          <a:p>
            <a:pPr algn="l">
              <a:lnSpc>
                <a:spcPct val="100000"/>
              </a:lnSpc>
              <a:spcAft>
                <a:spcPts val="400"/>
              </a:spcAft>
            </a:pPr>
            <a:r>
              <a:rPr sz="900" b="0" i="0">
                <a:solidFill>
                  <a:srgbClr val="5B6573"/>
                </a:solidFill>
                <a:latin typeface="Calibri"/>
              </a:rPr>
              <a:t>Sources: live fetches 25 Oct 2026 (Playwright, JavaScript on and off); OpenAI crawler documentation; Vercel/MERJ (Dec 2024, historical: capabilities vary by fetch path); Pillar 1 audit §2 (May 2026).</a:t>
            </a:r>
          </a:p>
        </p:txBody>
      </p:sp>
      <p:sp>
        <p:nvSpPr>
          <p:cNvPr id="31" name="TextBox 30"/>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Every route page should state six things plainly</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Rounded Rectangle 4"/>
          <p:cNvSpPr/>
          <p:nvPr/>
        </p:nvSpPr>
        <p:spPr>
          <a:xfrm>
            <a:off x="8796528" y="329184"/>
            <a:ext cx="1764792"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Published research</a:t>
            </a:r>
          </a:p>
        </p:txBody>
      </p:sp>
      <p:sp>
        <p:nvSpPr>
          <p:cNvPr id="6" name="Rounded Rectangle 5"/>
          <p:cNvSpPr/>
          <p:nvPr/>
        </p:nvSpPr>
        <p:spPr>
          <a:xfrm>
            <a:off x="723290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Our experiment</a:t>
            </a:r>
          </a:p>
        </p:txBody>
      </p:sp>
      <p:sp>
        <p:nvSpPr>
          <p:cNvPr id="7" name="TextBox 6"/>
          <p:cNvSpPr txBox="1"/>
          <p:nvPr/>
        </p:nvSpPr>
        <p:spPr>
          <a:xfrm>
            <a:off x="548640" y="1161288"/>
            <a:ext cx="1371600" cy="274320"/>
          </a:xfrm>
          <a:prstGeom prst="rect">
            <a:avLst/>
          </a:prstGeom>
          <a:noFill/>
        </p:spPr>
        <p:txBody>
          <a:bodyPr wrap="square" anchor="ctr" lIns="45720" rIns="45720">
            <a:spAutoFit/>
          </a:bodyPr>
          <a:lstStyle/>
          <a:p>
            <a:pPr algn="l">
              <a:lnSpc>
                <a:spcPct val="108000"/>
              </a:lnSpc>
              <a:spcAft>
                <a:spcPts val="400"/>
              </a:spcAft>
            </a:pPr>
            <a:r>
              <a:rPr sz="1000" b="1" i="0">
                <a:solidFill>
                  <a:srgbClr val="5B6573"/>
                </a:solidFill>
                <a:latin typeface="Calibri"/>
              </a:rPr>
              <a:t>The five areas:</a:t>
            </a:r>
          </a:p>
        </p:txBody>
      </p:sp>
      <p:sp>
        <p:nvSpPr>
          <p:cNvPr id="8" name="Rounded Rectangle 7"/>
          <p:cNvSpPr/>
          <p:nvPr/>
        </p:nvSpPr>
        <p:spPr>
          <a:xfrm>
            <a:off x="1691640" y="1179576"/>
            <a:ext cx="937259"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1  Access</a:t>
            </a:r>
          </a:p>
        </p:txBody>
      </p:sp>
      <p:sp>
        <p:nvSpPr>
          <p:cNvPr id="9" name="Rounded Rectangle 8"/>
          <p:cNvSpPr/>
          <p:nvPr/>
        </p:nvSpPr>
        <p:spPr>
          <a:xfrm>
            <a:off x="2702052"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2  Rendering</a:t>
            </a:r>
          </a:p>
        </p:txBody>
      </p:sp>
      <p:sp>
        <p:nvSpPr>
          <p:cNvPr id="10" name="Rounded Rectangle 9"/>
          <p:cNvSpPr/>
          <p:nvPr/>
        </p:nvSpPr>
        <p:spPr>
          <a:xfrm>
            <a:off x="3918204"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3  Structure</a:t>
            </a:r>
          </a:p>
        </p:txBody>
      </p:sp>
      <p:sp>
        <p:nvSpPr>
          <p:cNvPr id="11" name="Rounded Rectangle 10"/>
          <p:cNvSpPr/>
          <p:nvPr/>
        </p:nvSpPr>
        <p:spPr>
          <a:xfrm>
            <a:off x="5134356" y="1179576"/>
            <a:ext cx="100584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4  Content</a:t>
            </a:r>
          </a:p>
        </p:txBody>
      </p:sp>
      <p:sp>
        <p:nvSpPr>
          <p:cNvPr id="12" name="Rounded Rectangle 11"/>
          <p:cNvSpPr/>
          <p:nvPr/>
        </p:nvSpPr>
        <p:spPr>
          <a:xfrm>
            <a:off x="6213348"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5  Authority</a:t>
            </a:r>
          </a:p>
        </p:txBody>
      </p:sp>
      <p:sp>
        <p:nvSpPr>
          <p:cNvPr id="13" name="Rounded Rectangle 12"/>
          <p:cNvSpPr/>
          <p:nvPr/>
        </p:nvSpPr>
        <p:spPr>
          <a:xfrm>
            <a:off x="548640" y="1572768"/>
            <a:ext cx="4297680" cy="4434840"/>
          </a:xfrm>
          <a:prstGeom prst="roundRect">
            <a:avLst>
              <a:gd name="adj" fmla="val 3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8640" y="1572768"/>
            <a:ext cx="4297680" cy="274320"/>
          </a:xfrm>
          <a:prstGeom prst="roundRect">
            <a:avLst>
              <a:gd name="adj" fmla="val 30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658368" y="1664208"/>
            <a:ext cx="91440" cy="91440"/>
          </a:xfrm>
          <a:prstGeom prst="ellipse">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3816" y="1664208"/>
            <a:ext cx="91440" cy="91440"/>
          </a:xfrm>
          <a:prstGeom prst="ellipse">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69264" y="1664208"/>
            <a:ext cx="91440" cy="91440"/>
          </a:xfrm>
          <a:prstGeom prst="ellipse">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34440" y="1572768"/>
            <a:ext cx="3474720" cy="274320"/>
          </a:xfrm>
          <a:prstGeom prst="rect">
            <a:avLst/>
          </a:prstGeom>
          <a:noFill/>
        </p:spPr>
        <p:txBody>
          <a:bodyPr wrap="square" anchor="ctr" lIns="45720" rIns="45720">
            <a:spAutoFit/>
          </a:bodyPr>
          <a:lstStyle/>
          <a:p>
            <a:pPr algn="l">
              <a:lnSpc>
                <a:spcPct val="108000"/>
              </a:lnSpc>
              <a:spcAft>
                <a:spcPts val="400"/>
              </a:spcAft>
            </a:pPr>
            <a:r>
              <a:rPr sz="900" b="0" i="0">
                <a:solidFill>
                  <a:srgbClr val="5B6573"/>
                </a:solidFill>
                <a:latin typeface="Calibri"/>
              </a:rPr>
              <a:t>flightcentre.com.au/flights/melbourne-london</a:t>
            </a:r>
          </a:p>
        </p:txBody>
      </p:sp>
      <p:sp>
        <p:nvSpPr>
          <p:cNvPr id="19" name="Rounded Rectangle 18"/>
          <p:cNvSpPr/>
          <p:nvPr/>
        </p:nvSpPr>
        <p:spPr>
          <a:xfrm>
            <a:off x="868680" y="1965960"/>
            <a:ext cx="3840480" cy="54864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21792" y="2103120"/>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A</a:t>
            </a:r>
          </a:p>
        </p:txBody>
      </p:sp>
      <p:sp>
        <p:nvSpPr>
          <p:cNvPr id="21" name="TextBox 20"/>
          <p:cNvSpPr txBox="1"/>
          <p:nvPr/>
        </p:nvSpPr>
        <p:spPr>
          <a:xfrm>
            <a:off x="960120" y="1984248"/>
            <a:ext cx="3657600" cy="512064"/>
          </a:xfrm>
          <a:prstGeom prst="rect">
            <a:avLst/>
          </a:prstGeom>
          <a:noFill/>
        </p:spPr>
        <p:txBody>
          <a:bodyPr wrap="square" anchor="ctr" lIns="45720" rIns="45720">
            <a:spAutoFit/>
          </a:bodyPr>
          <a:lstStyle/>
          <a:p>
            <a:pPr algn="l">
              <a:lnSpc>
                <a:spcPct val="100000"/>
              </a:lnSpc>
              <a:spcAft>
                <a:spcPts val="400"/>
              </a:spcAft>
            </a:pPr>
            <a:r>
              <a:rPr sz="1050" b="1" i="0">
                <a:solidFill>
                  <a:srgbClr val="0B2240"/>
                </a:solidFill>
                <a:latin typeface="Calibri"/>
              </a:rPr>
              <a:t>Flights Melbourne to London from [live fare]</a:t>
            </a:r>
          </a:p>
          <a:p>
            <a:pPr algn="l">
              <a:lnSpc>
                <a:spcPct val="100000"/>
              </a:lnSpc>
              <a:spcAft>
                <a:spcPts val="400"/>
              </a:spcAft>
            </a:pPr>
            <a:r>
              <a:rPr sz="900" b="0" i="0">
                <a:solidFill>
                  <a:srgbClr val="5B6573"/>
                </a:solidFill>
                <a:latin typeface="Calibri"/>
              </a:rPr>
              <a:t>Fee rule stated  ·  Next step: quote, store or expert</a:t>
            </a:r>
          </a:p>
        </p:txBody>
      </p:sp>
      <p:sp>
        <p:nvSpPr>
          <p:cNvPr id="22" name="Rounded Rectangle 21"/>
          <p:cNvSpPr/>
          <p:nvPr/>
        </p:nvSpPr>
        <p:spPr>
          <a:xfrm>
            <a:off x="868680" y="2606040"/>
            <a:ext cx="3840480" cy="731520"/>
          </a:xfrm>
          <a:prstGeom prst="roundRect">
            <a:avLst>
              <a:gd name="adj" fmla="val 8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21792" y="2834640"/>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B</a:t>
            </a:r>
          </a:p>
        </p:txBody>
      </p:sp>
      <p:sp>
        <p:nvSpPr>
          <p:cNvPr id="24" name="Rounded Rectangle 23"/>
          <p:cNvSpPr/>
          <p:nvPr/>
        </p:nvSpPr>
        <p:spPr>
          <a:xfrm>
            <a:off x="960120" y="2715768"/>
            <a:ext cx="1188720" cy="512064"/>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78408" y="2715768"/>
            <a:ext cx="1152144" cy="512064"/>
          </a:xfrm>
          <a:prstGeom prst="rect">
            <a:avLst/>
          </a:prstGeom>
          <a:noFill/>
        </p:spPr>
        <p:txBody>
          <a:bodyPr wrap="square" anchor="ctr" lIns="45720" rIns="45720">
            <a:spAutoFit/>
          </a:bodyPr>
          <a:lstStyle/>
          <a:p>
            <a:pPr algn="ctr">
              <a:lnSpc>
                <a:spcPct val="100000"/>
              </a:lnSpc>
              <a:spcAft>
                <a:spcPts val="0"/>
              </a:spcAft>
            </a:pPr>
            <a:r>
              <a:rPr sz="850" b="1" i="0">
                <a:solidFill>
                  <a:srgbClr val="0B2240"/>
                </a:solidFill>
                <a:latin typeface="Calibri"/>
              </a:rPr>
              <a:t>[Airline] [cabin]</a:t>
            </a:r>
          </a:p>
          <a:p>
            <a:pPr algn="ctr">
              <a:lnSpc>
                <a:spcPct val="100000"/>
              </a:lnSpc>
              <a:spcAft>
                <a:spcPts val="400"/>
              </a:spcAft>
            </a:pPr>
            <a:r>
              <a:rPr sz="850" b="0" i="0">
                <a:solidFill>
                  <a:srgbClr val="5B6573"/>
                </a:solidFill>
                <a:latin typeface="Calibri"/>
              </a:rPr>
              <a:t>[dates]  [price]</a:t>
            </a:r>
          </a:p>
        </p:txBody>
      </p:sp>
      <p:sp>
        <p:nvSpPr>
          <p:cNvPr id="26" name="Rounded Rectangle 25"/>
          <p:cNvSpPr/>
          <p:nvPr/>
        </p:nvSpPr>
        <p:spPr>
          <a:xfrm>
            <a:off x="2212848" y="2715768"/>
            <a:ext cx="1188720" cy="512064"/>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2231136" y="2715768"/>
            <a:ext cx="1152144" cy="512064"/>
          </a:xfrm>
          <a:prstGeom prst="rect">
            <a:avLst/>
          </a:prstGeom>
          <a:noFill/>
        </p:spPr>
        <p:txBody>
          <a:bodyPr wrap="square" anchor="ctr" lIns="45720" rIns="45720">
            <a:spAutoFit/>
          </a:bodyPr>
          <a:lstStyle/>
          <a:p>
            <a:pPr algn="ctr">
              <a:lnSpc>
                <a:spcPct val="100000"/>
              </a:lnSpc>
              <a:spcAft>
                <a:spcPts val="0"/>
              </a:spcAft>
            </a:pPr>
            <a:r>
              <a:rPr sz="850" b="1" i="0">
                <a:solidFill>
                  <a:srgbClr val="0B2240"/>
                </a:solidFill>
                <a:latin typeface="Calibri"/>
              </a:rPr>
              <a:t>[Airline] [cabin]</a:t>
            </a:r>
          </a:p>
          <a:p>
            <a:pPr algn="ctr">
              <a:lnSpc>
                <a:spcPct val="100000"/>
              </a:lnSpc>
              <a:spcAft>
                <a:spcPts val="400"/>
              </a:spcAft>
            </a:pPr>
            <a:r>
              <a:rPr sz="850" b="0" i="0">
                <a:solidFill>
                  <a:srgbClr val="5B6573"/>
                </a:solidFill>
                <a:latin typeface="Calibri"/>
              </a:rPr>
              <a:t>[dates]  [price]</a:t>
            </a:r>
          </a:p>
        </p:txBody>
      </p:sp>
      <p:sp>
        <p:nvSpPr>
          <p:cNvPr id="28" name="Rounded Rectangle 27"/>
          <p:cNvSpPr/>
          <p:nvPr/>
        </p:nvSpPr>
        <p:spPr>
          <a:xfrm>
            <a:off x="3465576" y="2715768"/>
            <a:ext cx="1188720" cy="512064"/>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3483864" y="2715768"/>
            <a:ext cx="1152144" cy="512064"/>
          </a:xfrm>
          <a:prstGeom prst="rect">
            <a:avLst/>
          </a:prstGeom>
          <a:noFill/>
        </p:spPr>
        <p:txBody>
          <a:bodyPr wrap="square" anchor="ctr" lIns="45720" rIns="45720">
            <a:spAutoFit/>
          </a:bodyPr>
          <a:lstStyle/>
          <a:p>
            <a:pPr algn="ctr">
              <a:lnSpc>
                <a:spcPct val="100000"/>
              </a:lnSpc>
              <a:spcAft>
                <a:spcPts val="0"/>
              </a:spcAft>
            </a:pPr>
            <a:r>
              <a:rPr sz="850" b="1" i="0">
                <a:solidFill>
                  <a:srgbClr val="0B2240"/>
                </a:solidFill>
                <a:latin typeface="Calibri"/>
              </a:rPr>
              <a:t>[Airline] [cabin]</a:t>
            </a:r>
          </a:p>
          <a:p>
            <a:pPr algn="ctr">
              <a:lnSpc>
                <a:spcPct val="100000"/>
              </a:lnSpc>
              <a:spcAft>
                <a:spcPts val="400"/>
              </a:spcAft>
            </a:pPr>
            <a:r>
              <a:rPr sz="850" b="0" i="0">
                <a:solidFill>
                  <a:srgbClr val="5B6573"/>
                </a:solidFill>
                <a:latin typeface="Calibri"/>
              </a:rPr>
              <a:t>[dates]  [price]</a:t>
            </a:r>
          </a:p>
        </p:txBody>
      </p:sp>
      <p:sp>
        <p:nvSpPr>
          <p:cNvPr id="30" name="Rounded Rectangle 29"/>
          <p:cNvSpPr/>
          <p:nvPr/>
        </p:nvSpPr>
        <p:spPr>
          <a:xfrm>
            <a:off x="868680" y="3429000"/>
            <a:ext cx="3840480" cy="1097280"/>
          </a:xfrm>
          <a:prstGeom prst="roundRect">
            <a:avLst>
              <a:gd name="adj" fmla="val 8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21792" y="3840479"/>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C</a:t>
            </a:r>
          </a:p>
        </p:txBody>
      </p:sp>
      <p:sp>
        <p:nvSpPr>
          <p:cNvPr id="32" name="TextBox 31"/>
          <p:cNvSpPr txBox="1"/>
          <p:nvPr/>
        </p:nvSpPr>
        <p:spPr>
          <a:xfrm>
            <a:off x="960120" y="3456432"/>
            <a:ext cx="1280160" cy="219456"/>
          </a:xfrm>
          <a:prstGeom prst="rect">
            <a:avLst/>
          </a:prstGeom>
          <a:noFill/>
        </p:spPr>
        <p:txBody>
          <a:bodyPr wrap="square" anchor="t" lIns="45720" rIns="45720">
            <a:spAutoFit/>
          </a:bodyPr>
          <a:lstStyle/>
          <a:p>
            <a:pPr algn="l">
              <a:lnSpc>
                <a:spcPct val="108000"/>
              </a:lnSpc>
              <a:spcAft>
                <a:spcPts val="400"/>
              </a:spcAft>
            </a:pPr>
            <a:r>
              <a:rPr sz="950" b="1" i="0">
                <a:solidFill>
                  <a:srgbClr val="0B2240"/>
                </a:solidFill>
                <a:latin typeface="Calibri"/>
              </a:rPr>
              <a:t>Departure</a:t>
            </a:r>
          </a:p>
        </p:txBody>
      </p:sp>
      <p:sp>
        <p:nvSpPr>
          <p:cNvPr id="33" name="TextBox 32"/>
          <p:cNvSpPr txBox="1"/>
          <p:nvPr/>
        </p:nvSpPr>
        <p:spPr>
          <a:xfrm>
            <a:off x="2240280" y="3456432"/>
            <a:ext cx="2377440" cy="219456"/>
          </a:xfrm>
          <a:prstGeom prst="rect">
            <a:avLst/>
          </a:prstGeom>
          <a:noFill/>
        </p:spPr>
        <p:txBody>
          <a:bodyPr wrap="square" anchor="t" lIns="45720" rIns="45720">
            <a:spAutoFit/>
          </a:bodyPr>
          <a:lstStyle/>
          <a:p>
            <a:pPr algn="l">
              <a:lnSpc>
                <a:spcPct val="108000"/>
              </a:lnSpc>
              <a:spcAft>
                <a:spcPts val="400"/>
              </a:spcAft>
            </a:pPr>
            <a:r>
              <a:rPr sz="950" b="0" i="0">
                <a:solidFill>
                  <a:srgbClr val="1F2937"/>
                </a:solidFill>
                <a:latin typeface="Calibri"/>
              </a:rPr>
              <a:t>MEL</a:t>
            </a:r>
          </a:p>
        </p:txBody>
      </p:sp>
      <p:sp>
        <p:nvSpPr>
          <p:cNvPr id="34" name="TextBox 33"/>
          <p:cNvSpPr txBox="1"/>
          <p:nvPr/>
        </p:nvSpPr>
        <p:spPr>
          <a:xfrm>
            <a:off x="960120" y="3666744"/>
            <a:ext cx="1280160" cy="219456"/>
          </a:xfrm>
          <a:prstGeom prst="rect">
            <a:avLst/>
          </a:prstGeom>
          <a:noFill/>
        </p:spPr>
        <p:txBody>
          <a:bodyPr wrap="square" anchor="t" lIns="45720" rIns="45720">
            <a:spAutoFit/>
          </a:bodyPr>
          <a:lstStyle/>
          <a:p>
            <a:pPr algn="l">
              <a:lnSpc>
                <a:spcPct val="108000"/>
              </a:lnSpc>
              <a:spcAft>
                <a:spcPts val="400"/>
              </a:spcAft>
            </a:pPr>
            <a:r>
              <a:rPr sz="950" b="1" i="0">
                <a:solidFill>
                  <a:srgbClr val="0B2240"/>
                </a:solidFill>
                <a:latin typeface="Calibri"/>
              </a:rPr>
              <a:t>Destination</a:t>
            </a:r>
          </a:p>
        </p:txBody>
      </p:sp>
      <p:sp>
        <p:nvSpPr>
          <p:cNvPr id="35" name="TextBox 34"/>
          <p:cNvSpPr txBox="1"/>
          <p:nvPr/>
        </p:nvSpPr>
        <p:spPr>
          <a:xfrm>
            <a:off x="2240280" y="3666744"/>
            <a:ext cx="2377440" cy="219456"/>
          </a:xfrm>
          <a:prstGeom prst="rect">
            <a:avLst/>
          </a:prstGeom>
          <a:noFill/>
        </p:spPr>
        <p:txBody>
          <a:bodyPr wrap="square" anchor="t" lIns="45720" rIns="45720">
            <a:spAutoFit/>
          </a:bodyPr>
          <a:lstStyle/>
          <a:p>
            <a:pPr algn="l">
              <a:lnSpc>
                <a:spcPct val="108000"/>
              </a:lnSpc>
              <a:spcAft>
                <a:spcPts val="400"/>
              </a:spcAft>
            </a:pPr>
            <a:r>
              <a:rPr sz="950" b="0" i="0">
                <a:solidFill>
                  <a:srgbClr val="1F2937"/>
                </a:solidFill>
                <a:latin typeface="Calibri"/>
              </a:rPr>
              <a:t>LON</a:t>
            </a:r>
          </a:p>
        </p:txBody>
      </p:sp>
      <p:sp>
        <p:nvSpPr>
          <p:cNvPr id="36" name="TextBox 35"/>
          <p:cNvSpPr txBox="1"/>
          <p:nvPr/>
        </p:nvSpPr>
        <p:spPr>
          <a:xfrm>
            <a:off x="960120" y="3877056"/>
            <a:ext cx="1280160" cy="219456"/>
          </a:xfrm>
          <a:prstGeom prst="rect">
            <a:avLst/>
          </a:prstGeom>
          <a:noFill/>
        </p:spPr>
        <p:txBody>
          <a:bodyPr wrap="square" anchor="t" lIns="45720" rIns="45720">
            <a:spAutoFit/>
          </a:bodyPr>
          <a:lstStyle/>
          <a:p>
            <a:pPr algn="l">
              <a:lnSpc>
                <a:spcPct val="108000"/>
              </a:lnSpc>
              <a:spcAft>
                <a:spcPts val="400"/>
              </a:spcAft>
            </a:pPr>
            <a:r>
              <a:rPr sz="950" b="1" i="0">
                <a:solidFill>
                  <a:srgbClr val="0B2240"/>
                </a:solidFill>
                <a:latin typeface="Calibri"/>
              </a:rPr>
              <a:t>Starting fare</a:t>
            </a:r>
          </a:p>
        </p:txBody>
      </p:sp>
      <p:sp>
        <p:nvSpPr>
          <p:cNvPr id="37" name="TextBox 36"/>
          <p:cNvSpPr txBox="1"/>
          <p:nvPr/>
        </p:nvSpPr>
        <p:spPr>
          <a:xfrm>
            <a:off x="2240280" y="3877056"/>
            <a:ext cx="2377440" cy="219456"/>
          </a:xfrm>
          <a:prstGeom prst="rect">
            <a:avLst/>
          </a:prstGeom>
          <a:noFill/>
        </p:spPr>
        <p:txBody>
          <a:bodyPr wrap="square" anchor="t" lIns="45720" rIns="45720">
            <a:spAutoFit/>
          </a:bodyPr>
          <a:lstStyle/>
          <a:p>
            <a:pPr algn="l">
              <a:lnSpc>
                <a:spcPct val="108000"/>
              </a:lnSpc>
              <a:spcAft>
                <a:spcPts val="400"/>
              </a:spcAft>
            </a:pPr>
            <a:r>
              <a:rPr sz="950" b="0" i="0">
                <a:solidFill>
                  <a:srgbClr val="1F2937"/>
                </a:solidFill>
                <a:latin typeface="Calibri"/>
              </a:rPr>
              <a:t>[live fare]</a:t>
            </a:r>
          </a:p>
        </p:txBody>
      </p:sp>
      <p:sp>
        <p:nvSpPr>
          <p:cNvPr id="38" name="TextBox 37"/>
          <p:cNvSpPr txBox="1"/>
          <p:nvPr/>
        </p:nvSpPr>
        <p:spPr>
          <a:xfrm>
            <a:off x="960120" y="4087368"/>
            <a:ext cx="1280160" cy="219456"/>
          </a:xfrm>
          <a:prstGeom prst="rect">
            <a:avLst/>
          </a:prstGeom>
          <a:noFill/>
        </p:spPr>
        <p:txBody>
          <a:bodyPr wrap="square" anchor="t" lIns="45720" rIns="45720">
            <a:spAutoFit/>
          </a:bodyPr>
          <a:lstStyle/>
          <a:p>
            <a:pPr algn="l">
              <a:lnSpc>
                <a:spcPct val="108000"/>
              </a:lnSpc>
              <a:spcAft>
                <a:spcPts val="400"/>
              </a:spcAft>
            </a:pPr>
            <a:r>
              <a:rPr sz="950" b="1" i="0">
                <a:solidFill>
                  <a:srgbClr val="0B2240"/>
                </a:solidFill>
                <a:latin typeface="Calibri"/>
              </a:rPr>
              <a:t>Fees</a:t>
            </a:r>
          </a:p>
        </p:txBody>
      </p:sp>
      <p:sp>
        <p:nvSpPr>
          <p:cNvPr id="39" name="TextBox 38"/>
          <p:cNvSpPr txBox="1"/>
          <p:nvPr/>
        </p:nvSpPr>
        <p:spPr>
          <a:xfrm>
            <a:off x="2240280" y="4087368"/>
            <a:ext cx="2377440" cy="219456"/>
          </a:xfrm>
          <a:prstGeom prst="rect">
            <a:avLst/>
          </a:prstGeom>
          <a:noFill/>
        </p:spPr>
        <p:txBody>
          <a:bodyPr wrap="square" anchor="t" lIns="45720" rIns="45720">
            <a:spAutoFit/>
          </a:bodyPr>
          <a:lstStyle/>
          <a:p>
            <a:pPr algn="l">
              <a:lnSpc>
                <a:spcPct val="108000"/>
              </a:lnSpc>
              <a:spcAft>
                <a:spcPts val="400"/>
              </a:spcAft>
            </a:pPr>
            <a:r>
              <a:rPr sz="950" b="0" i="0">
                <a:solidFill>
                  <a:srgbClr val="1F2937"/>
                </a:solidFill>
                <a:latin typeface="Calibri"/>
              </a:rPr>
              <a:t>[fee notice]</a:t>
            </a:r>
          </a:p>
        </p:txBody>
      </p:sp>
      <p:sp>
        <p:nvSpPr>
          <p:cNvPr id="40" name="TextBox 39"/>
          <p:cNvSpPr txBox="1"/>
          <p:nvPr/>
        </p:nvSpPr>
        <p:spPr>
          <a:xfrm>
            <a:off x="960120" y="4297680"/>
            <a:ext cx="1280160" cy="219456"/>
          </a:xfrm>
          <a:prstGeom prst="rect">
            <a:avLst/>
          </a:prstGeom>
          <a:noFill/>
        </p:spPr>
        <p:txBody>
          <a:bodyPr wrap="square" anchor="t" lIns="45720" rIns="45720">
            <a:spAutoFit/>
          </a:bodyPr>
          <a:lstStyle/>
          <a:p>
            <a:pPr algn="l">
              <a:lnSpc>
                <a:spcPct val="108000"/>
              </a:lnSpc>
              <a:spcAft>
                <a:spcPts val="400"/>
              </a:spcAft>
            </a:pPr>
            <a:r>
              <a:rPr sz="950" b="1" i="0">
                <a:solidFill>
                  <a:srgbClr val="0B2240"/>
                </a:solidFill>
                <a:latin typeface="Calibri"/>
              </a:rPr>
              <a:t>Last updated</a:t>
            </a:r>
          </a:p>
        </p:txBody>
      </p:sp>
      <p:sp>
        <p:nvSpPr>
          <p:cNvPr id="41" name="TextBox 40"/>
          <p:cNvSpPr txBox="1"/>
          <p:nvPr/>
        </p:nvSpPr>
        <p:spPr>
          <a:xfrm>
            <a:off x="2240280" y="4297680"/>
            <a:ext cx="2377440" cy="219456"/>
          </a:xfrm>
          <a:prstGeom prst="rect">
            <a:avLst/>
          </a:prstGeom>
          <a:noFill/>
        </p:spPr>
        <p:txBody>
          <a:bodyPr wrap="square" anchor="t" lIns="45720" rIns="45720">
            <a:spAutoFit/>
          </a:bodyPr>
          <a:lstStyle/>
          <a:p>
            <a:pPr algn="l">
              <a:lnSpc>
                <a:spcPct val="108000"/>
              </a:lnSpc>
              <a:spcAft>
                <a:spcPts val="400"/>
              </a:spcAft>
            </a:pPr>
            <a:r>
              <a:rPr sz="950" b="0" i="0">
                <a:solidFill>
                  <a:srgbClr val="1F2937"/>
                </a:solidFill>
                <a:latin typeface="Calibri"/>
              </a:rPr>
              <a:t>[date]</a:t>
            </a:r>
          </a:p>
        </p:txBody>
      </p:sp>
      <p:sp>
        <p:nvSpPr>
          <p:cNvPr id="42" name="Rounded Rectangle 41"/>
          <p:cNvSpPr/>
          <p:nvPr/>
        </p:nvSpPr>
        <p:spPr>
          <a:xfrm>
            <a:off x="868680" y="4617720"/>
            <a:ext cx="3840480" cy="594360"/>
          </a:xfrm>
          <a:prstGeom prst="roundRect">
            <a:avLst>
              <a:gd name="adj" fmla="val 8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21792" y="4777740"/>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D</a:t>
            </a:r>
          </a:p>
        </p:txBody>
      </p:sp>
      <p:sp>
        <p:nvSpPr>
          <p:cNvPr id="44" name="TextBox 43"/>
          <p:cNvSpPr txBox="1"/>
          <p:nvPr/>
        </p:nvSpPr>
        <p:spPr>
          <a:xfrm>
            <a:off x="960120" y="4636008"/>
            <a:ext cx="3657600" cy="548640"/>
          </a:xfrm>
          <a:prstGeom prst="rect">
            <a:avLst/>
          </a:prstGeom>
          <a:noFill/>
        </p:spPr>
        <p:txBody>
          <a:bodyPr wrap="square" anchor="ctr" lIns="45720" rIns="45720">
            <a:spAutoFit/>
          </a:bodyPr>
          <a:lstStyle/>
          <a:p>
            <a:pPr algn="l">
              <a:lnSpc>
                <a:spcPct val="100000"/>
              </a:lnSpc>
              <a:spcAft>
                <a:spcPts val="400"/>
              </a:spcAft>
            </a:pPr>
            <a:r>
              <a:rPr sz="950" b="1" i="0">
                <a:solidFill>
                  <a:srgbClr val="1E7A46"/>
                </a:solidFill>
                <a:latin typeface="Calibri"/>
              </a:rPr>
              <a:t>Q  </a:t>
            </a:r>
            <a:r>
              <a:rPr sz="950" b="1" i="0">
                <a:solidFill>
                  <a:srgbClr val="1F2937"/>
                </a:solidFill>
                <a:latin typeface="Calibri"/>
              </a:rPr>
              <a:t>How long is the flight from Melbourne to London?</a:t>
            </a:r>
          </a:p>
          <a:p>
            <a:pPr algn="l">
              <a:lnSpc>
                <a:spcPct val="100000"/>
              </a:lnSpc>
              <a:spcAft>
                <a:spcPts val="400"/>
              </a:spcAft>
            </a:pPr>
            <a:r>
              <a:rPr sz="950" b="1" i="0">
                <a:solidFill>
                  <a:srgbClr val="1E7A46"/>
                </a:solidFill>
                <a:latin typeface="Calibri"/>
              </a:rPr>
              <a:t>A  </a:t>
            </a:r>
            <a:r>
              <a:rPr sz="950" b="0" i="0">
                <a:solidFill>
                  <a:srgbClr val="5B6573"/>
                </a:solidFill>
                <a:latin typeface="Calibri"/>
              </a:rPr>
              <a:t>[approved answer from the page's facts]</a:t>
            </a:r>
          </a:p>
        </p:txBody>
      </p:sp>
      <p:sp>
        <p:nvSpPr>
          <p:cNvPr id="45" name="Rounded Rectangle 44"/>
          <p:cNvSpPr/>
          <p:nvPr/>
        </p:nvSpPr>
        <p:spPr>
          <a:xfrm>
            <a:off x="868680" y="5285232"/>
            <a:ext cx="3840480" cy="329184"/>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21792" y="5312664"/>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E</a:t>
            </a:r>
          </a:p>
        </p:txBody>
      </p:sp>
      <p:sp>
        <p:nvSpPr>
          <p:cNvPr id="47" name="TextBox 46"/>
          <p:cNvSpPr txBox="1"/>
          <p:nvPr/>
        </p:nvSpPr>
        <p:spPr>
          <a:xfrm>
            <a:off x="960120" y="5285232"/>
            <a:ext cx="3657600" cy="329184"/>
          </a:xfrm>
          <a:prstGeom prst="rect">
            <a:avLst/>
          </a:prstGeom>
          <a:noFill/>
        </p:spPr>
        <p:txBody>
          <a:bodyPr wrap="square" anchor="ctr" lIns="45720" rIns="45720">
            <a:spAutoFit/>
          </a:bodyPr>
          <a:lstStyle/>
          <a:p>
            <a:pPr algn="l">
              <a:lnSpc>
                <a:spcPct val="108000"/>
              </a:lnSpc>
              <a:spcAft>
                <a:spcPts val="400"/>
              </a:spcAft>
            </a:pPr>
            <a:r>
              <a:rPr sz="950" b="1" i="0">
                <a:solidFill>
                  <a:srgbClr val="0B2240"/>
                </a:solidFill>
                <a:latin typeface="Calibri"/>
              </a:rPr>
              <a:t>Talk to a Flight Centre Travel Expert · stores · quotes</a:t>
            </a:r>
          </a:p>
        </p:txBody>
      </p:sp>
      <p:sp>
        <p:nvSpPr>
          <p:cNvPr id="48" name="Rounded Rectangle 47"/>
          <p:cNvSpPr/>
          <p:nvPr/>
        </p:nvSpPr>
        <p:spPr>
          <a:xfrm>
            <a:off x="868680" y="5669280"/>
            <a:ext cx="3840480" cy="274320"/>
          </a:xfrm>
          <a:prstGeom prst="roundRect">
            <a:avLst>
              <a:gd name="adj" fmla="val 8000"/>
            </a:avLst>
          </a:prstGeom>
          <a:solidFill>
            <a:srgbClr val="FFFFFF"/>
          </a:solidFill>
          <a:ln w="9525">
            <a:solidFill>
              <a:srgbClr val="5B657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621792" y="5669280"/>
            <a:ext cx="274320" cy="274320"/>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F</a:t>
            </a:r>
          </a:p>
        </p:txBody>
      </p:sp>
      <p:sp>
        <p:nvSpPr>
          <p:cNvPr id="50" name="TextBox 49"/>
          <p:cNvSpPr txBox="1"/>
          <p:nvPr/>
        </p:nvSpPr>
        <p:spPr>
          <a:xfrm>
            <a:off x="960120" y="5669280"/>
            <a:ext cx="3657600" cy="274320"/>
          </a:xfrm>
          <a:prstGeom prst="rect">
            <a:avLst/>
          </a:prstGeom>
          <a:noFill/>
        </p:spPr>
        <p:txBody>
          <a:bodyPr wrap="square" anchor="ctr" lIns="45720" rIns="45720">
            <a:spAutoFit/>
          </a:bodyPr>
          <a:lstStyle/>
          <a:p>
            <a:pPr algn="l">
              <a:lnSpc>
                <a:spcPct val="108000"/>
              </a:lnSpc>
              <a:spcAft>
                <a:spcPts val="400"/>
              </a:spcAft>
            </a:pPr>
            <a:r>
              <a:rPr sz="900" b="0" i="1">
                <a:solidFill>
                  <a:srgbClr val="5B6573"/>
                </a:solidFill>
                <a:latin typeface="Calibri"/>
              </a:rPr>
              <a:t>Behind the page: data labels match the text above</a:t>
            </a:r>
          </a:p>
        </p:txBody>
      </p:sp>
      <p:sp>
        <p:nvSpPr>
          <p:cNvPr id="51" name="Rounded Rectangle 50"/>
          <p:cNvSpPr/>
          <p:nvPr/>
        </p:nvSpPr>
        <p:spPr>
          <a:xfrm>
            <a:off x="5074920" y="1572768"/>
            <a:ext cx="658368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5166360" y="1728216"/>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A</a:t>
            </a:r>
          </a:p>
        </p:txBody>
      </p:sp>
      <p:sp>
        <p:nvSpPr>
          <p:cNvPr id="53" name="TextBox 52"/>
          <p:cNvSpPr txBox="1"/>
          <p:nvPr/>
        </p:nvSpPr>
        <p:spPr>
          <a:xfrm>
            <a:off x="5596128" y="1600200"/>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Open with the answer</a:t>
            </a:r>
          </a:p>
        </p:txBody>
      </p:sp>
      <p:sp>
        <p:nvSpPr>
          <p:cNvPr id="54" name="TextBox 53"/>
          <p:cNvSpPr txBox="1"/>
          <p:nvPr/>
        </p:nvSpPr>
        <p:spPr>
          <a:xfrm>
            <a:off x="5596128" y="1883664"/>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Route, starting fare with date and conditions, fee rule and next step.</a:t>
            </a:r>
          </a:p>
        </p:txBody>
      </p:sp>
      <p:sp>
        <p:nvSpPr>
          <p:cNvPr id="55" name="Rounded Rectangle 54"/>
          <p:cNvSpPr/>
          <p:nvPr/>
        </p:nvSpPr>
        <p:spPr>
          <a:xfrm>
            <a:off x="10241280" y="1728216"/>
            <a:ext cx="1325880" cy="310896"/>
          </a:xfrm>
          <a:prstGeom prst="roundRect">
            <a:avLst>
              <a:gd name="adj" fmla="val 18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research</a:t>
            </a:r>
          </a:p>
        </p:txBody>
      </p:sp>
      <p:sp>
        <p:nvSpPr>
          <p:cNvPr id="56" name="Rounded Rectangle 55"/>
          <p:cNvSpPr/>
          <p:nvPr/>
        </p:nvSpPr>
        <p:spPr>
          <a:xfrm>
            <a:off x="5074920" y="2249424"/>
            <a:ext cx="658368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5166360" y="2404872"/>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B</a:t>
            </a:r>
          </a:p>
        </p:txBody>
      </p:sp>
      <p:sp>
        <p:nvSpPr>
          <p:cNvPr id="58" name="TextBox 57"/>
          <p:cNvSpPr txBox="1"/>
          <p:nvPr/>
        </p:nvSpPr>
        <p:spPr>
          <a:xfrm>
            <a:off x="5596128" y="2276856"/>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Show dated deals as text</a:t>
            </a:r>
          </a:p>
        </p:txBody>
      </p:sp>
      <p:sp>
        <p:nvSpPr>
          <p:cNvPr id="59" name="TextBox 58"/>
          <p:cNvSpPr txBox="1"/>
          <p:nvPr/>
        </p:nvSpPr>
        <p:spPr>
          <a:xfrm>
            <a:off x="5596128" y="2560320"/>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Airline, cabin, dates and price in the page itself, not loaded by script.</a:t>
            </a:r>
          </a:p>
        </p:txBody>
      </p:sp>
      <p:sp>
        <p:nvSpPr>
          <p:cNvPr id="60" name="Rounded Rectangle 59"/>
          <p:cNvSpPr/>
          <p:nvPr/>
        </p:nvSpPr>
        <p:spPr>
          <a:xfrm>
            <a:off x="10241280" y="2404872"/>
            <a:ext cx="1325880" cy="310896"/>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+6.6 tested</a:t>
            </a:r>
          </a:p>
        </p:txBody>
      </p:sp>
      <p:sp>
        <p:nvSpPr>
          <p:cNvPr id="61" name="Rounded Rectangle 60"/>
          <p:cNvSpPr/>
          <p:nvPr/>
        </p:nvSpPr>
        <p:spPr>
          <a:xfrm>
            <a:off x="5074920" y="2926080"/>
            <a:ext cx="658368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5166360" y="3081528"/>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C</a:t>
            </a:r>
          </a:p>
        </p:txBody>
      </p:sp>
      <p:sp>
        <p:nvSpPr>
          <p:cNvPr id="63" name="TextBox 62"/>
          <p:cNvSpPr txBox="1"/>
          <p:nvPr/>
        </p:nvSpPr>
        <p:spPr>
          <a:xfrm>
            <a:off x="5596128" y="2953512"/>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Label the key facts</a:t>
            </a:r>
          </a:p>
        </p:txBody>
      </p:sp>
      <p:sp>
        <p:nvSpPr>
          <p:cNvPr id="64" name="TextBox 63"/>
          <p:cNvSpPr txBox="1"/>
          <p:nvPr/>
        </p:nvSpPr>
        <p:spPr>
          <a:xfrm>
            <a:off x="5596128" y="3236976"/>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Departure, destination, starting fare, fees, last updated: stated once, plainly.</a:t>
            </a:r>
          </a:p>
        </p:txBody>
      </p:sp>
      <p:sp>
        <p:nvSpPr>
          <p:cNvPr id="65" name="Rounded Rectangle 64"/>
          <p:cNvSpPr/>
          <p:nvPr/>
        </p:nvSpPr>
        <p:spPr>
          <a:xfrm>
            <a:off x="10241280" y="3081528"/>
            <a:ext cx="1325880" cy="310896"/>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+7.6 tested</a:t>
            </a:r>
          </a:p>
        </p:txBody>
      </p:sp>
      <p:sp>
        <p:nvSpPr>
          <p:cNvPr id="66" name="Rounded Rectangle 65"/>
          <p:cNvSpPr/>
          <p:nvPr/>
        </p:nvSpPr>
        <p:spPr>
          <a:xfrm>
            <a:off x="5074920" y="3602736"/>
            <a:ext cx="658368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5166360" y="3758184"/>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D</a:t>
            </a:r>
          </a:p>
        </p:txBody>
      </p:sp>
      <p:sp>
        <p:nvSpPr>
          <p:cNvPr id="68" name="TextBox 67"/>
          <p:cNvSpPr txBox="1"/>
          <p:nvPr/>
        </p:nvSpPr>
        <p:spPr>
          <a:xfrm>
            <a:off x="5596128" y="3630168"/>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Put FAQ questions beside answers</a:t>
            </a:r>
          </a:p>
        </p:txBody>
      </p:sp>
      <p:sp>
        <p:nvSpPr>
          <p:cNvPr id="69" name="TextBox 68"/>
          <p:cNvSpPr txBox="1"/>
          <p:nvPr/>
        </p:nvSpPr>
        <p:spPr>
          <a:xfrm>
            <a:off x="5596128" y="3913632"/>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Add the route questions customers ask: airports, flight time, flexibility.</a:t>
            </a:r>
          </a:p>
        </p:txBody>
      </p:sp>
      <p:sp>
        <p:nvSpPr>
          <p:cNvPr id="70" name="Rounded Rectangle 69"/>
          <p:cNvSpPr/>
          <p:nvPr/>
        </p:nvSpPr>
        <p:spPr>
          <a:xfrm>
            <a:off x="10241280" y="3758184"/>
            <a:ext cx="1325880" cy="310896"/>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+6.9 tested</a:t>
            </a:r>
          </a:p>
        </p:txBody>
      </p:sp>
      <p:sp>
        <p:nvSpPr>
          <p:cNvPr id="71" name="Rounded Rectangle 70"/>
          <p:cNvSpPr/>
          <p:nvPr/>
        </p:nvSpPr>
        <p:spPr>
          <a:xfrm>
            <a:off x="5074920" y="4279392"/>
            <a:ext cx="6583680" cy="621792"/>
          </a:xfrm>
          <a:prstGeom prst="roundRect">
            <a:avLst>
              <a:gd name="adj" fmla="val 10000"/>
            </a:avLst>
          </a:prstGeom>
          <a:solidFill>
            <a:srgbClr val="F3F5F8"/>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5166360" y="4434840"/>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E</a:t>
            </a:r>
          </a:p>
        </p:txBody>
      </p:sp>
      <p:sp>
        <p:nvSpPr>
          <p:cNvPr id="73" name="TextBox 72"/>
          <p:cNvSpPr txBox="1"/>
          <p:nvPr/>
        </p:nvSpPr>
        <p:spPr>
          <a:xfrm>
            <a:off x="5596128" y="4306824"/>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State what only FC offers</a:t>
            </a:r>
          </a:p>
        </p:txBody>
      </p:sp>
      <p:sp>
        <p:nvSpPr>
          <p:cNvPr id="74" name="TextBox 73"/>
          <p:cNvSpPr txBox="1"/>
          <p:nvPr/>
        </p:nvSpPr>
        <p:spPr>
          <a:xfrm>
            <a:off x="5596128" y="4590288"/>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Fee transparency, named expert, stores and quotes, World360.</a:t>
            </a:r>
          </a:p>
        </p:txBody>
      </p:sp>
      <p:sp>
        <p:nvSpPr>
          <p:cNvPr id="75" name="Rounded Rectangle 74"/>
          <p:cNvSpPr/>
          <p:nvPr/>
        </p:nvSpPr>
        <p:spPr>
          <a:xfrm>
            <a:off x="10241280" y="4434840"/>
            <a:ext cx="1325880" cy="310896"/>
          </a:xfrm>
          <a:prstGeom prst="roundRect">
            <a:avLst>
              <a:gd name="adj" fmla="val 18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research</a:t>
            </a:r>
          </a:p>
        </p:txBody>
      </p:sp>
      <p:sp>
        <p:nvSpPr>
          <p:cNvPr id="76" name="Rounded Rectangle 75"/>
          <p:cNvSpPr/>
          <p:nvPr/>
        </p:nvSpPr>
        <p:spPr>
          <a:xfrm>
            <a:off x="5074920" y="4956048"/>
            <a:ext cx="6583680" cy="621792"/>
          </a:xfrm>
          <a:prstGeom prst="roundRect">
            <a:avLst>
              <a:gd name="adj" fmla="val 10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5166360" y="5111496"/>
            <a:ext cx="310896" cy="310896"/>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Calibri"/>
              </a:rPr>
              <a:t>F</a:t>
            </a:r>
          </a:p>
        </p:txBody>
      </p:sp>
      <p:sp>
        <p:nvSpPr>
          <p:cNvPr id="78" name="TextBox 77"/>
          <p:cNvSpPr txBox="1"/>
          <p:nvPr/>
        </p:nvSpPr>
        <p:spPr>
          <a:xfrm>
            <a:off x="5596128" y="4983480"/>
            <a:ext cx="4297680" cy="274320"/>
          </a:xfrm>
          <a:prstGeom prst="rect">
            <a:avLst/>
          </a:prstGeom>
          <a:noFill/>
        </p:spPr>
        <p:txBody>
          <a:bodyPr wrap="square" anchor="t" lIns="45720" rIns="45720">
            <a:spAutoFit/>
          </a:bodyPr>
          <a:lstStyle/>
          <a:p>
            <a:pPr algn="l">
              <a:lnSpc>
                <a:spcPct val="108000"/>
              </a:lnSpc>
              <a:spcAft>
                <a:spcPts val="400"/>
              </a:spcAft>
            </a:pPr>
            <a:r>
              <a:rPr sz="1300" b="1" i="0">
                <a:solidFill>
                  <a:srgbClr val="0B2240"/>
                </a:solidFill>
                <a:latin typeface="Calibri"/>
              </a:rPr>
              <a:t>Make the hidden data match</a:t>
            </a:r>
          </a:p>
        </p:txBody>
      </p:sp>
      <p:sp>
        <p:nvSpPr>
          <p:cNvPr id="79" name="TextBox 78"/>
          <p:cNvSpPr txBox="1"/>
          <p:nvPr/>
        </p:nvSpPr>
        <p:spPr>
          <a:xfrm>
            <a:off x="5596128" y="5266944"/>
            <a:ext cx="4389120" cy="301752"/>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JSON-LD built from the same live record. Flight markup only for a real itinerary.</a:t>
            </a:r>
          </a:p>
        </p:txBody>
      </p:sp>
      <p:sp>
        <p:nvSpPr>
          <p:cNvPr id="80" name="Rounded Rectangle 79"/>
          <p:cNvSpPr/>
          <p:nvPr/>
        </p:nvSpPr>
        <p:spPr>
          <a:xfrm>
            <a:off x="10241280" y="5111496"/>
            <a:ext cx="1325880" cy="310896"/>
          </a:xfrm>
          <a:prstGeom prst="roundRect">
            <a:avLst>
              <a:gd name="adj" fmla="val 18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i="0">
                <a:solidFill>
                  <a:srgbClr val="FFFFFF"/>
                </a:solidFill>
                <a:latin typeface="Calibri"/>
              </a:rPr>
              <a:t>+6.2 (mixed)</a:t>
            </a:r>
          </a:p>
        </p:txBody>
      </p:sp>
      <p:sp>
        <p:nvSpPr>
          <p:cNvPr id="81" name="Rounded Rectangle 80"/>
          <p:cNvSpPr/>
          <p:nvPr/>
        </p:nvSpPr>
        <p:spPr>
          <a:xfrm>
            <a:off x="5074920" y="5669280"/>
            <a:ext cx="6583680" cy="365760"/>
          </a:xfrm>
          <a:prstGeom prst="roundRect">
            <a:avLst>
              <a:gd name="adj" fmla="val 15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5166360" y="5669280"/>
            <a:ext cx="6400800" cy="365760"/>
          </a:xfrm>
          <a:prstGeom prst="rect">
            <a:avLst/>
          </a:prstGeom>
          <a:noFill/>
        </p:spPr>
        <p:txBody>
          <a:bodyPr wrap="square" anchor="ctr" lIns="45720" rIns="45720">
            <a:spAutoFit/>
          </a:bodyPr>
          <a:lstStyle/>
          <a:p>
            <a:pPr algn="l">
              <a:lnSpc>
                <a:spcPct val="108000"/>
              </a:lnSpc>
              <a:spcAft>
                <a:spcPts val="400"/>
              </a:spcAft>
            </a:pPr>
            <a:r>
              <a:rPr sz="950" b="1" i="0">
                <a:solidFill>
                  <a:srgbClr val="1E7A46"/>
                </a:solidFill>
                <a:latin typeface="Calibri"/>
              </a:rPr>
              <a:t>Green = points gained when tested alone in our experiment. </a:t>
            </a:r>
            <a:r>
              <a:rPr sz="950" b="0" i="0">
                <a:solidFill>
                  <a:srgbClr val="1F2937"/>
                </a:solidFill>
                <a:latin typeface="Calibri"/>
              </a:rPr>
              <a:t>Grey = published research, not tested by us. Gains don't add up.</a:t>
            </a:r>
          </a:p>
        </p:txBody>
      </p:sp>
      <p:sp>
        <p:nvSpPr>
          <p:cNvPr id="83" name="TextBox 82"/>
          <p:cNvSpPr txBox="1"/>
          <p:nvPr/>
        </p:nvSpPr>
        <p:spPr>
          <a:xfrm>
            <a:off x="548640" y="6327648"/>
            <a:ext cx="10607040" cy="384048"/>
          </a:xfrm>
          <a:prstGeom prst="rect">
            <a:avLst/>
          </a:prstGeom>
          <a:noFill/>
        </p:spPr>
        <p:txBody>
          <a:bodyPr wrap="square" anchor="t" lIns="45720" rIns="45720">
            <a:spAutoFit/>
          </a:bodyPr>
          <a:lstStyle/>
          <a:p>
            <a:pPr algn="l">
              <a:lnSpc>
                <a:spcPct val="100000"/>
              </a:lnSpc>
              <a:spcAft>
                <a:spcPts val="400"/>
              </a:spcAft>
            </a:pPr>
            <a:r>
              <a:rPr sz="900" b="0" i="0">
                <a:solidFill>
                  <a:srgbClr val="5B6573"/>
                </a:solidFill>
                <a:latin typeface="Calibri"/>
              </a:rPr>
              <a:t>A design, not a result: experiment pages used old fares and are not for publishing; FC builds these blocks from live approved data. Sources: Technical Report v1.1 Table 7 and §8.1; Pillar 2 audit §8.3–8.4 (May 2026); Google: structured data must match visible text.</a:t>
            </a:r>
          </a:p>
        </p:txBody>
      </p:sp>
      <p:sp>
        <p:nvSpPr>
          <p:cNvPr id="84" name="TextBox 83"/>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Holiday pages tell AI far less than competitors do</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Rounded Rectangle 4"/>
          <p:cNvSpPr/>
          <p:nvPr/>
        </p:nvSpPr>
        <p:spPr>
          <a:xfrm>
            <a:off x="8097012" y="329184"/>
            <a:ext cx="2464308"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Semester 1 audit (May 2026)</a:t>
            </a:r>
          </a:p>
        </p:txBody>
      </p:sp>
      <p:sp>
        <p:nvSpPr>
          <p:cNvPr id="6" name="TextBox 5"/>
          <p:cNvSpPr txBox="1"/>
          <p:nvPr/>
        </p:nvSpPr>
        <p:spPr>
          <a:xfrm>
            <a:off x="548640" y="1161288"/>
            <a:ext cx="1371600" cy="274320"/>
          </a:xfrm>
          <a:prstGeom prst="rect">
            <a:avLst/>
          </a:prstGeom>
          <a:noFill/>
        </p:spPr>
        <p:txBody>
          <a:bodyPr wrap="square" anchor="ctr" lIns="45720" rIns="45720">
            <a:spAutoFit/>
          </a:bodyPr>
          <a:lstStyle/>
          <a:p>
            <a:pPr algn="l">
              <a:lnSpc>
                <a:spcPct val="108000"/>
              </a:lnSpc>
              <a:spcAft>
                <a:spcPts val="400"/>
              </a:spcAft>
            </a:pPr>
            <a:r>
              <a:rPr sz="1000" b="1" i="0">
                <a:solidFill>
                  <a:srgbClr val="5B6573"/>
                </a:solidFill>
                <a:latin typeface="Calibri"/>
              </a:rPr>
              <a:t>The five areas:</a:t>
            </a:r>
          </a:p>
        </p:txBody>
      </p:sp>
      <p:sp>
        <p:nvSpPr>
          <p:cNvPr id="7" name="Rounded Rectangle 6"/>
          <p:cNvSpPr/>
          <p:nvPr/>
        </p:nvSpPr>
        <p:spPr>
          <a:xfrm>
            <a:off x="1691640" y="1179576"/>
            <a:ext cx="937259"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1  Access</a:t>
            </a:r>
          </a:p>
        </p:txBody>
      </p:sp>
      <p:sp>
        <p:nvSpPr>
          <p:cNvPr id="8" name="Rounded Rectangle 7"/>
          <p:cNvSpPr/>
          <p:nvPr/>
        </p:nvSpPr>
        <p:spPr>
          <a:xfrm>
            <a:off x="2702052"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2  Rendering</a:t>
            </a:r>
          </a:p>
        </p:txBody>
      </p:sp>
      <p:sp>
        <p:nvSpPr>
          <p:cNvPr id="9" name="Rounded Rectangle 8"/>
          <p:cNvSpPr/>
          <p:nvPr/>
        </p:nvSpPr>
        <p:spPr>
          <a:xfrm>
            <a:off x="3918204"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3  Structure</a:t>
            </a:r>
          </a:p>
        </p:txBody>
      </p:sp>
      <p:sp>
        <p:nvSpPr>
          <p:cNvPr id="10" name="Rounded Rectangle 9"/>
          <p:cNvSpPr/>
          <p:nvPr/>
        </p:nvSpPr>
        <p:spPr>
          <a:xfrm>
            <a:off x="5134356" y="1179576"/>
            <a:ext cx="100584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4  Content</a:t>
            </a:r>
          </a:p>
        </p:txBody>
      </p:sp>
      <p:sp>
        <p:nvSpPr>
          <p:cNvPr id="11" name="Rounded Rectangle 10"/>
          <p:cNvSpPr/>
          <p:nvPr/>
        </p:nvSpPr>
        <p:spPr>
          <a:xfrm>
            <a:off x="6213348"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5  Authority</a:t>
            </a:r>
          </a:p>
        </p:txBody>
      </p:sp>
      <p:graphicFrame>
        <p:nvGraphicFramePr>
          <p:cNvPr id="12" name="Chart 11"/>
          <p:cNvGraphicFramePr>
            <a:graphicFrameLocks noGrp="1"/>
          </p:cNvGraphicFramePr>
          <p:nvPr/>
        </p:nvGraphicFramePr>
        <p:xfrm>
          <a:off x="548640" y="1554480"/>
          <a:ext cx="5577840" cy="2377440"/>
        </p:xfrm>
        <a:graphic>
          <a:graphicData uri="http://schemas.openxmlformats.org/drawingml/2006/chart">
            <c:chart xmlns:c="http://schemas.openxmlformats.org/drawingml/2006/chart" r:id="rId2"/>
          </a:graphicData>
        </a:graphic>
      </p:graphicFrame>
      <p:sp>
        <p:nvSpPr>
          <p:cNvPr id="13" name="TextBox 12"/>
          <p:cNvSpPr txBox="1"/>
          <p:nvPr/>
        </p:nvSpPr>
        <p:spPr>
          <a:xfrm>
            <a:off x="548640" y="4023360"/>
            <a:ext cx="5577840" cy="274320"/>
          </a:xfrm>
          <a:prstGeom prst="rect">
            <a:avLst/>
          </a:prstGeom>
          <a:noFill/>
        </p:spPr>
        <p:txBody>
          <a:bodyPr wrap="square" anchor="t" lIns="45720" rIns="45720">
            <a:spAutoFit/>
          </a:bodyPr>
          <a:lstStyle/>
          <a:p>
            <a:pPr algn="l">
              <a:lnSpc>
                <a:spcPct val="108000"/>
              </a:lnSpc>
              <a:spcAft>
                <a:spcPts val="400"/>
              </a:spcAft>
            </a:pPr>
            <a:r>
              <a:rPr sz="1150" b="1" i="0">
                <a:solidFill>
                  <a:srgbClr val="0B2240"/>
                </a:solidFill>
                <a:latin typeface="Calibri"/>
              </a:rPr>
              <a:t>Does the Bali page have a dedicated page for each type of traveller?</a:t>
            </a:r>
          </a:p>
        </p:txBody>
      </p:sp>
      <p:sp>
        <p:nvSpPr>
          <p:cNvPr id="14" name="TextBox 13"/>
          <p:cNvSpPr txBox="1"/>
          <p:nvPr/>
        </p:nvSpPr>
        <p:spPr>
          <a:xfrm>
            <a:off x="2331720" y="4297680"/>
            <a:ext cx="1188720" cy="228600"/>
          </a:xfrm>
          <a:prstGeom prst="rect">
            <a:avLst/>
          </a:prstGeom>
          <a:noFill/>
        </p:spPr>
        <p:txBody>
          <a:bodyPr wrap="square" anchor="t" lIns="45720" rIns="45720">
            <a:spAutoFit/>
          </a:bodyPr>
          <a:lstStyle/>
          <a:p>
            <a:pPr algn="ctr">
              <a:lnSpc>
                <a:spcPct val="108000"/>
              </a:lnSpc>
              <a:spcAft>
                <a:spcPts val="400"/>
              </a:spcAft>
            </a:pPr>
            <a:r>
              <a:rPr sz="950" b="1" i="0">
                <a:solidFill>
                  <a:srgbClr val="5B6573"/>
                </a:solidFill>
                <a:latin typeface="Calibri"/>
              </a:rPr>
              <a:t>Flight Centre</a:t>
            </a:r>
          </a:p>
        </p:txBody>
      </p:sp>
      <p:sp>
        <p:nvSpPr>
          <p:cNvPr id="15" name="TextBox 14"/>
          <p:cNvSpPr txBox="1"/>
          <p:nvPr/>
        </p:nvSpPr>
        <p:spPr>
          <a:xfrm>
            <a:off x="3611879" y="4297680"/>
            <a:ext cx="1188720" cy="228600"/>
          </a:xfrm>
          <a:prstGeom prst="rect">
            <a:avLst/>
          </a:prstGeom>
          <a:noFill/>
        </p:spPr>
        <p:txBody>
          <a:bodyPr wrap="square" anchor="t" lIns="45720" rIns="45720">
            <a:spAutoFit/>
          </a:bodyPr>
          <a:lstStyle/>
          <a:p>
            <a:pPr algn="ctr">
              <a:lnSpc>
                <a:spcPct val="108000"/>
              </a:lnSpc>
              <a:spcAft>
                <a:spcPts val="400"/>
              </a:spcAft>
            </a:pPr>
            <a:r>
              <a:rPr sz="950" b="1" i="0">
                <a:solidFill>
                  <a:srgbClr val="5B6573"/>
                </a:solidFill>
                <a:latin typeface="Calibri"/>
              </a:rPr>
              <a:t>Expedia</a:t>
            </a:r>
          </a:p>
        </p:txBody>
      </p:sp>
      <p:sp>
        <p:nvSpPr>
          <p:cNvPr id="16" name="TextBox 15"/>
          <p:cNvSpPr txBox="1"/>
          <p:nvPr/>
        </p:nvSpPr>
        <p:spPr>
          <a:xfrm>
            <a:off x="4892040" y="4297680"/>
            <a:ext cx="1188720" cy="228600"/>
          </a:xfrm>
          <a:prstGeom prst="rect">
            <a:avLst/>
          </a:prstGeom>
          <a:noFill/>
        </p:spPr>
        <p:txBody>
          <a:bodyPr wrap="square" anchor="t" lIns="45720" rIns="45720">
            <a:spAutoFit/>
          </a:bodyPr>
          <a:lstStyle/>
          <a:p>
            <a:pPr algn="ctr">
              <a:lnSpc>
                <a:spcPct val="108000"/>
              </a:lnSpc>
              <a:spcAft>
                <a:spcPts val="400"/>
              </a:spcAft>
            </a:pPr>
            <a:r>
              <a:rPr sz="950" b="1" i="0">
                <a:solidFill>
                  <a:srgbClr val="5B6573"/>
                </a:solidFill>
                <a:latin typeface="Calibri"/>
              </a:rPr>
              <a:t>Booking</a:t>
            </a:r>
          </a:p>
        </p:txBody>
      </p:sp>
      <p:sp>
        <p:nvSpPr>
          <p:cNvPr id="17" name="TextBox 16"/>
          <p:cNvSpPr txBox="1"/>
          <p:nvPr/>
        </p:nvSpPr>
        <p:spPr>
          <a:xfrm>
            <a:off x="640080" y="4526280"/>
            <a:ext cx="1645920" cy="274320"/>
          </a:xfrm>
          <a:prstGeom prst="rect">
            <a:avLst/>
          </a:prstGeom>
          <a:noFill/>
        </p:spPr>
        <p:txBody>
          <a:bodyPr wrap="square" anchor="ctr" lIns="45720" rIns="45720">
            <a:spAutoFit/>
          </a:bodyPr>
          <a:lstStyle/>
          <a:p>
            <a:pPr algn="l">
              <a:lnSpc>
                <a:spcPct val="108000"/>
              </a:lnSpc>
              <a:spcAft>
                <a:spcPts val="400"/>
              </a:spcAft>
            </a:pPr>
            <a:r>
              <a:rPr sz="1050" b="1" i="0">
                <a:solidFill>
                  <a:srgbClr val="1F2937"/>
                </a:solidFill>
                <a:latin typeface="Calibri"/>
              </a:rPr>
              <a:t>Budget</a:t>
            </a:r>
          </a:p>
        </p:txBody>
      </p:sp>
      <p:sp>
        <p:nvSpPr>
          <p:cNvPr id="18" name="Rounded Rectangle 17"/>
          <p:cNvSpPr/>
          <p:nvPr/>
        </p:nvSpPr>
        <p:spPr>
          <a:xfrm>
            <a:off x="2423160" y="4544568"/>
            <a:ext cx="1005840" cy="237744"/>
          </a:xfrm>
          <a:prstGeom prst="roundRect">
            <a:avLst>
              <a:gd name="adj" fmla="val 1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No</a:t>
            </a:r>
          </a:p>
        </p:txBody>
      </p:sp>
      <p:sp>
        <p:nvSpPr>
          <p:cNvPr id="19" name="Rounded Rectangle 18"/>
          <p:cNvSpPr/>
          <p:nvPr/>
        </p:nvSpPr>
        <p:spPr>
          <a:xfrm>
            <a:off x="3703320" y="4544568"/>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20" name="Rounded Rectangle 19"/>
          <p:cNvSpPr/>
          <p:nvPr/>
        </p:nvSpPr>
        <p:spPr>
          <a:xfrm>
            <a:off x="4983479" y="4544568"/>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21" name="TextBox 20"/>
          <p:cNvSpPr txBox="1"/>
          <p:nvPr/>
        </p:nvSpPr>
        <p:spPr>
          <a:xfrm>
            <a:off x="640080" y="4828032"/>
            <a:ext cx="1645920" cy="274320"/>
          </a:xfrm>
          <a:prstGeom prst="rect">
            <a:avLst/>
          </a:prstGeom>
          <a:noFill/>
        </p:spPr>
        <p:txBody>
          <a:bodyPr wrap="square" anchor="ctr" lIns="45720" rIns="45720">
            <a:spAutoFit/>
          </a:bodyPr>
          <a:lstStyle/>
          <a:p>
            <a:pPr algn="l">
              <a:lnSpc>
                <a:spcPct val="108000"/>
              </a:lnSpc>
              <a:spcAft>
                <a:spcPts val="400"/>
              </a:spcAft>
            </a:pPr>
            <a:r>
              <a:rPr sz="1050" b="1" i="0">
                <a:solidFill>
                  <a:srgbClr val="1F2937"/>
                </a:solidFill>
                <a:latin typeface="Calibri"/>
              </a:rPr>
              <a:t>Family</a:t>
            </a:r>
          </a:p>
        </p:txBody>
      </p:sp>
      <p:sp>
        <p:nvSpPr>
          <p:cNvPr id="22" name="Rounded Rectangle 21"/>
          <p:cNvSpPr/>
          <p:nvPr/>
        </p:nvSpPr>
        <p:spPr>
          <a:xfrm>
            <a:off x="2423160" y="4846320"/>
            <a:ext cx="1005840" cy="237744"/>
          </a:xfrm>
          <a:prstGeom prst="roundRect">
            <a:avLst>
              <a:gd name="adj" fmla="val 18000"/>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Partial</a:t>
            </a:r>
          </a:p>
        </p:txBody>
      </p:sp>
      <p:sp>
        <p:nvSpPr>
          <p:cNvPr id="23" name="Rounded Rectangle 22"/>
          <p:cNvSpPr/>
          <p:nvPr/>
        </p:nvSpPr>
        <p:spPr>
          <a:xfrm>
            <a:off x="3703320" y="4846320"/>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24" name="Rounded Rectangle 23"/>
          <p:cNvSpPr/>
          <p:nvPr/>
        </p:nvSpPr>
        <p:spPr>
          <a:xfrm>
            <a:off x="4983479" y="4846320"/>
            <a:ext cx="1005840" cy="237744"/>
          </a:xfrm>
          <a:prstGeom prst="roundRect">
            <a:avLst>
              <a:gd name="adj" fmla="val 18000"/>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Partial</a:t>
            </a:r>
          </a:p>
        </p:txBody>
      </p:sp>
      <p:sp>
        <p:nvSpPr>
          <p:cNvPr id="25" name="TextBox 24"/>
          <p:cNvSpPr txBox="1"/>
          <p:nvPr/>
        </p:nvSpPr>
        <p:spPr>
          <a:xfrm>
            <a:off x="640080" y="5129784"/>
            <a:ext cx="1645920" cy="274320"/>
          </a:xfrm>
          <a:prstGeom prst="rect">
            <a:avLst/>
          </a:prstGeom>
          <a:noFill/>
        </p:spPr>
        <p:txBody>
          <a:bodyPr wrap="square" anchor="ctr" lIns="45720" rIns="45720">
            <a:spAutoFit/>
          </a:bodyPr>
          <a:lstStyle/>
          <a:p>
            <a:pPr algn="l">
              <a:lnSpc>
                <a:spcPct val="108000"/>
              </a:lnSpc>
              <a:spcAft>
                <a:spcPts val="400"/>
              </a:spcAft>
            </a:pPr>
            <a:r>
              <a:rPr sz="1050" b="1" i="0">
                <a:solidFill>
                  <a:srgbClr val="1F2937"/>
                </a:solidFill>
                <a:latin typeface="Calibri"/>
              </a:rPr>
              <a:t>Honeymoon</a:t>
            </a:r>
          </a:p>
        </p:txBody>
      </p:sp>
      <p:sp>
        <p:nvSpPr>
          <p:cNvPr id="26" name="Rounded Rectangle 25"/>
          <p:cNvSpPr/>
          <p:nvPr/>
        </p:nvSpPr>
        <p:spPr>
          <a:xfrm>
            <a:off x="2423160" y="5148072"/>
            <a:ext cx="1005840" cy="237744"/>
          </a:xfrm>
          <a:prstGeom prst="roundRect">
            <a:avLst>
              <a:gd name="adj" fmla="val 18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No</a:t>
            </a:r>
          </a:p>
        </p:txBody>
      </p:sp>
      <p:sp>
        <p:nvSpPr>
          <p:cNvPr id="27" name="Rounded Rectangle 26"/>
          <p:cNvSpPr/>
          <p:nvPr/>
        </p:nvSpPr>
        <p:spPr>
          <a:xfrm>
            <a:off x="3703320" y="5148072"/>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28" name="Rounded Rectangle 27"/>
          <p:cNvSpPr/>
          <p:nvPr/>
        </p:nvSpPr>
        <p:spPr>
          <a:xfrm>
            <a:off x="4983479" y="5148072"/>
            <a:ext cx="1005840" cy="237744"/>
          </a:xfrm>
          <a:prstGeom prst="roundRect">
            <a:avLst>
              <a:gd name="adj" fmla="val 18000"/>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Partial</a:t>
            </a:r>
          </a:p>
        </p:txBody>
      </p:sp>
      <p:sp>
        <p:nvSpPr>
          <p:cNvPr id="29" name="TextBox 28"/>
          <p:cNvSpPr txBox="1"/>
          <p:nvPr/>
        </p:nvSpPr>
        <p:spPr>
          <a:xfrm>
            <a:off x="640080" y="5431536"/>
            <a:ext cx="1645920" cy="274320"/>
          </a:xfrm>
          <a:prstGeom prst="rect">
            <a:avLst/>
          </a:prstGeom>
          <a:noFill/>
        </p:spPr>
        <p:txBody>
          <a:bodyPr wrap="square" anchor="ctr" lIns="45720" rIns="45720">
            <a:spAutoFit/>
          </a:bodyPr>
          <a:lstStyle/>
          <a:p>
            <a:pPr algn="l">
              <a:lnSpc>
                <a:spcPct val="108000"/>
              </a:lnSpc>
              <a:spcAft>
                <a:spcPts val="400"/>
              </a:spcAft>
            </a:pPr>
            <a:r>
              <a:rPr sz="1050" b="1" i="0">
                <a:solidFill>
                  <a:srgbClr val="1F2937"/>
                </a:solidFill>
                <a:latin typeface="Calibri"/>
              </a:rPr>
              <a:t>Luxury</a:t>
            </a:r>
          </a:p>
        </p:txBody>
      </p:sp>
      <p:sp>
        <p:nvSpPr>
          <p:cNvPr id="30" name="Rounded Rectangle 29"/>
          <p:cNvSpPr/>
          <p:nvPr/>
        </p:nvSpPr>
        <p:spPr>
          <a:xfrm>
            <a:off x="2423160" y="5449824"/>
            <a:ext cx="1005840" cy="237744"/>
          </a:xfrm>
          <a:prstGeom prst="roundRect">
            <a:avLst>
              <a:gd name="adj" fmla="val 18000"/>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Partial</a:t>
            </a:r>
          </a:p>
        </p:txBody>
      </p:sp>
      <p:sp>
        <p:nvSpPr>
          <p:cNvPr id="31" name="Rounded Rectangle 30"/>
          <p:cNvSpPr/>
          <p:nvPr/>
        </p:nvSpPr>
        <p:spPr>
          <a:xfrm>
            <a:off x="3703320" y="5449824"/>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32" name="Rounded Rectangle 31"/>
          <p:cNvSpPr/>
          <p:nvPr/>
        </p:nvSpPr>
        <p:spPr>
          <a:xfrm>
            <a:off x="4983479" y="5449824"/>
            <a:ext cx="1005840" cy="237744"/>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Yes</a:t>
            </a:r>
          </a:p>
        </p:txBody>
      </p:sp>
      <p:sp>
        <p:nvSpPr>
          <p:cNvPr id="33" name="TextBox 32"/>
          <p:cNvSpPr txBox="1"/>
          <p:nvPr/>
        </p:nvSpPr>
        <p:spPr>
          <a:xfrm>
            <a:off x="548640" y="5760720"/>
            <a:ext cx="5577840" cy="502920"/>
          </a:xfrm>
          <a:prstGeom prst="rect">
            <a:avLst/>
          </a:prstGeom>
          <a:noFill/>
        </p:spPr>
        <p:txBody>
          <a:bodyPr wrap="square" anchor="t" lIns="45720" rIns="45720">
            <a:spAutoFit/>
          </a:bodyPr>
          <a:lstStyle/>
          <a:p>
            <a:pPr algn="l">
              <a:lnSpc>
                <a:spcPct val="100000"/>
              </a:lnSpc>
              <a:spcAft>
                <a:spcPts val="400"/>
              </a:spcAft>
            </a:pPr>
            <a:r>
              <a:rPr sz="1000" b="0" i="0">
                <a:solidFill>
                  <a:srgbClr val="5B6573"/>
                </a:solidFill>
                <a:latin typeface="Calibri"/>
              </a:rPr>
              <a:t>Bali prices with a currency: FC 0, Expedia 2, Booking 3+. Quantitative facts: FC 1, Expedia 3, Booking 8+.</a:t>
            </a:r>
          </a:p>
        </p:txBody>
      </p:sp>
      <p:sp>
        <p:nvSpPr>
          <p:cNvPr id="34" name="TextBox 33"/>
          <p:cNvSpPr txBox="1"/>
          <p:nvPr/>
        </p:nvSpPr>
        <p:spPr>
          <a:xfrm>
            <a:off x="6355080" y="1572768"/>
            <a:ext cx="5303520" cy="320040"/>
          </a:xfrm>
          <a:prstGeom prst="rect">
            <a:avLst/>
          </a:prstGeom>
          <a:noFill/>
        </p:spPr>
        <p:txBody>
          <a:bodyPr wrap="square" anchor="t" lIns="45720" rIns="45720">
            <a:spAutoFit/>
          </a:bodyPr>
          <a:lstStyle/>
          <a:p>
            <a:pPr algn="l">
              <a:lnSpc>
                <a:spcPct val="108000"/>
              </a:lnSpc>
              <a:spcAft>
                <a:spcPts val="400"/>
              </a:spcAft>
            </a:pPr>
            <a:r>
              <a:rPr sz="1400" b="1" i="0">
                <a:solidFill>
                  <a:srgbClr val="0B2240"/>
                </a:solidFill>
                <a:latin typeface="Calibri"/>
              </a:rPr>
              <a:t>The fix: one fact store feeds every destination page</a:t>
            </a:r>
          </a:p>
        </p:txBody>
      </p:sp>
      <p:sp>
        <p:nvSpPr>
          <p:cNvPr id="35" name="Rounded Rectangle 34"/>
          <p:cNvSpPr/>
          <p:nvPr/>
        </p:nvSpPr>
        <p:spPr>
          <a:xfrm>
            <a:off x="6355080" y="1965960"/>
            <a:ext cx="1188720" cy="1097280"/>
          </a:xfrm>
          <a:prstGeom prst="roundRect">
            <a:avLst>
              <a:gd name="adj" fmla="val 8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428232" y="2029968"/>
            <a:ext cx="237744" cy="23774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1</a:t>
            </a:r>
          </a:p>
        </p:txBody>
      </p:sp>
      <p:sp>
        <p:nvSpPr>
          <p:cNvPr id="37" name="TextBox 36"/>
          <p:cNvSpPr txBox="1"/>
          <p:nvPr/>
        </p:nvSpPr>
        <p:spPr>
          <a:xfrm>
            <a:off x="6391656" y="2286000"/>
            <a:ext cx="1115568" cy="320040"/>
          </a:xfrm>
          <a:prstGeom prst="rect">
            <a:avLst/>
          </a:prstGeom>
          <a:noFill/>
        </p:spPr>
        <p:txBody>
          <a:bodyPr wrap="square" anchor="t" lIns="45720" rIns="45720">
            <a:spAutoFit/>
          </a:bodyPr>
          <a:lstStyle/>
          <a:p>
            <a:pPr algn="ctr">
              <a:lnSpc>
                <a:spcPct val="100000"/>
              </a:lnSpc>
              <a:spcAft>
                <a:spcPts val="400"/>
              </a:spcAft>
            </a:pPr>
            <a:r>
              <a:rPr sz="1100" b="1" i="0">
                <a:solidFill>
                  <a:srgbClr val="0B2240"/>
                </a:solidFill>
                <a:latin typeface="Calibri"/>
              </a:rPr>
              <a:t>Fact store</a:t>
            </a:r>
          </a:p>
        </p:txBody>
      </p:sp>
      <p:sp>
        <p:nvSpPr>
          <p:cNvPr id="38" name="TextBox 37"/>
          <p:cNvSpPr txBox="1"/>
          <p:nvPr/>
        </p:nvSpPr>
        <p:spPr>
          <a:xfrm>
            <a:off x="6400800" y="2606040"/>
            <a:ext cx="1097280" cy="457200"/>
          </a:xfrm>
          <a:prstGeom prst="rect">
            <a:avLst/>
          </a:prstGeom>
          <a:noFill/>
        </p:spPr>
        <p:txBody>
          <a:bodyPr wrap="square" anchor="t" lIns="45720" rIns="45720">
            <a:spAutoFit/>
          </a:bodyPr>
          <a:lstStyle/>
          <a:p>
            <a:pPr algn="ctr">
              <a:lnSpc>
                <a:spcPct val="100000"/>
              </a:lnSpc>
              <a:spcAft>
                <a:spcPts val="400"/>
              </a:spcAft>
            </a:pPr>
            <a:r>
              <a:rPr sz="900" b="0" i="0">
                <a:solidFill>
                  <a:srgbClr val="5B6573"/>
                </a:solidFill>
                <a:latin typeface="Calibri"/>
              </a:rPr>
              <a:t>each fact: owner, source, review date</a:t>
            </a:r>
          </a:p>
        </p:txBody>
      </p:sp>
      <p:sp>
        <p:nvSpPr>
          <p:cNvPr id="39" name="Right Arrow 38"/>
          <p:cNvSpPr/>
          <p:nvPr/>
        </p:nvSpPr>
        <p:spPr>
          <a:xfrm>
            <a:off x="7552944" y="2423160"/>
            <a:ext cx="137160" cy="201168"/>
          </a:xfrm>
          <a:prstGeom prst="rightArrow">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7726679" y="1965960"/>
            <a:ext cx="1188720" cy="1097280"/>
          </a:xfrm>
          <a:prstGeom prst="roundRect">
            <a:avLst>
              <a:gd name="adj" fmla="val 8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799831" y="2029968"/>
            <a:ext cx="237744" cy="23774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2</a:t>
            </a:r>
          </a:p>
        </p:txBody>
      </p:sp>
      <p:sp>
        <p:nvSpPr>
          <p:cNvPr id="42" name="TextBox 41"/>
          <p:cNvSpPr txBox="1"/>
          <p:nvPr/>
        </p:nvSpPr>
        <p:spPr>
          <a:xfrm>
            <a:off x="7763255" y="2286000"/>
            <a:ext cx="1115568" cy="320040"/>
          </a:xfrm>
          <a:prstGeom prst="rect">
            <a:avLst/>
          </a:prstGeom>
          <a:noFill/>
        </p:spPr>
        <p:txBody>
          <a:bodyPr wrap="square" anchor="t" lIns="45720" rIns="45720">
            <a:spAutoFit/>
          </a:bodyPr>
          <a:lstStyle/>
          <a:p>
            <a:pPr algn="ctr">
              <a:lnSpc>
                <a:spcPct val="100000"/>
              </a:lnSpc>
              <a:spcAft>
                <a:spcPts val="400"/>
              </a:spcAft>
            </a:pPr>
            <a:r>
              <a:rPr sz="1100" b="1" i="0">
                <a:solidFill>
                  <a:srgbClr val="0B2240"/>
                </a:solidFill>
                <a:latin typeface="Calibri"/>
              </a:rPr>
              <a:t>Question bank</a:t>
            </a:r>
          </a:p>
        </p:txBody>
      </p:sp>
      <p:sp>
        <p:nvSpPr>
          <p:cNvPr id="43" name="TextBox 42"/>
          <p:cNvSpPr txBox="1"/>
          <p:nvPr/>
        </p:nvSpPr>
        <p:spPr>
          <a:xfrm>
            <a:off x="7772400" y="2606040"/>
            <a:ext cx="1097280" cy="457200"/>
          </a:xfrm>
          <a:prstGeom prst="rect">
            <a:avLst/>
          </a:prstGeom>
          <a:noFill/>
        </p:spPr>
        <p:txBody>
          <a:bodyPr wrap="square" anchor="t" lIns="45720" rIns="45720">
            <a:spAutoFit/>
          </a:bodyPr>
          <a:lstStyle/>
          <a:p>
            <a:pPr algn="ctr">
              <a:lnSpc>
                <a:spcPct val="100000"/>
              </a:lnSpc>
              <a:spcAft>
                <a:spcPts val="400"/>
              </a:spcAft>
            </a:pPr>
            <a:r>
              <a:rPr sz="900" b="0" i="0">
                <a:solidFill>
                  <a:srgbClr val="5B6573"/>
                </a:solidFill>
                <a:latin typeface="Calibri"/>
              </a:rPr>
              <a:t>one customer question each</a:t>
            </a:r>
          </a:p>
        </p:txBody>
      </p:sp>
      <p:sp>
        <p:nvSpPr>
          <p:cNvPr id="44" name="Right Arrow 43"/>
          <p:cNvSpPr/>
          <p:nvPr/>
        </p:nvSpPr>
        <p:spPr>
          <a:xfrm>
            <a:off x="8924544" y="2423160"/>
            <a:ext cx="137160" cy="201168"/>
          </a:xfrm>
          <a:prstGeom prst="rightArrow">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9098280" y="1965960"/>
            <a:ext cx="1188720" cy="1097280"/>
          </a:xfrm>
          <a:prstGeom prst="roundRect">
            <a:avLst>
              <a:gd name="adj" fmla="val 8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9171432" y="2029968"/>
            <a:ext cx="237744" cy="23774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3</a:t>
            </a:r>
          </a:p>
        </p:txBody>
      </p:sp>
      <p:sp>
        <p:nvSpPr>
          <p:cNvPr id="47" name="TextBox 46"/>
          <p:cNvSpPr txBox="1"/>
          <p:nvPr/>
        </p:nvSpPr>
        <p:spPr>
          <a:xfrm>
            <a:off x="9134855" y="2286000"/>
            <a:ext cx="1115568" cy="320040"/>
          </a:xfrm>
          <a:prstGeom prst="rect">
            <a:avLst/>
          </a:prstGeom>
          <a:noFill/>
        </p:spPr>
        <p:txBody>
          <a:bodyPr wrap="square" anchor="t" lIns="45720" rIns="45720">
            <a:spAutoFit/>
          </a:bodyPr>
          <a:lstStyle/>
          <a:p>
            <a:pPr algn="ctr">
              <a:lnSpc>
                <a:spcPct val="100000"/>
              </a:lnSpc>
              <a:spcAft>
                <a:spcPts val="400"/>
              </a:spcAft>
            </a:pPr>
            <a:r>
              <a:rPr sz="1100" b="1" i="0">
                <a:solidFill>
                  <a:srgbClr val="0B2240"/>
                </a:solidFill>
                <a:latin typeface="Calibri"/>
              </a:rPr>
              <a:t>Generator</a:t>
            </a:r>
          </a:p>
        </p:txBody>
      </p:sp>
      <p:sp>
        <p:nvSpPr>
          <p:cNvPr id="48" name="TextBox 47"/>
          <p:cNvSpPr txBox="1"/>
          <p:nvPr/>
        </p:nvSpPr>
        <p:spPr>
          <a:xfrm>
            <a:off x="9144000" y="2606040"/>
            <a:ext cx="1097280" cy="457200"/>
          </a:xfrm>
          <a:prstGeom prst="rect">
            <a:avLst/>
          </a:prstGeom>
          <a:noFill/>
        </p:spPr>
        <p:txBody>
          <a:bodyPr wrap="square" anchor="t" lIns="45720" rIns="45720">
            <a:spAutoFit/>
          </a:bodyPr>
          <a:lstStyle/>
          <a:p>
            <a:pPr algn="ctr">
              <a:lnSpc>
                <a:spcPct val="100000"/>
              </a:lnSpc>
              <a:spcAft>
                <a:spcPts val="400"/>
              </a:spcAft>
            </a:pPr>
            <a:r>
              <a:rPr sz="900" b="0" i="0">
                <a:solidFill>
                  <a:srgbClr val="5B6573"/>
                </a:solidFill>
                <a:latin typeface="Calibri"/>
              </a:rPr>
              <a:t>short, fact-based answers</a:t>
            </a:r>
          </a:p>
        </p:txBody>
      </p:sp>
      <p:sp>
        <p:nvSpPr>
          <p:cNvPr id="49" name="Right Arrow 48"/>
          <p:cNvSpPr/>
          <p:nvPr/>
        </p:nvSpPr>
        <p:spPr>
          <a:xfrm>
            <a:off x="10296144" y="2423160"/>
            <a:ext cx="137160" cy="201168"/>
          </a:xfrm>
          <a:prstGeom prst="rightArrow">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10469880" y="1965960"/>
            <a:ext cx="1188720" cy="1097280"/>
          </a:xfrm>
          <a:prstGeom prst="roundRect">
            <a:avLst>
              <a:gd name="adj" fmla="val 8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10543032" y="2029968"/>
            <a:ext cx="237744" cy="23774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Calibri"/>
              </a:rPr>
              <a:t>4</a:t>
            </a:r>
          </a:p>
        </p:txBody>
      </p:sp>
      <p:sp>
        <p:nvSpPr>
          <p:cNvPr id="52" name="TextBox 51"/>
          <p:cNvSpPr txBox="1"/>
          <p:nvPr/>
        </p:nvSpPr>
        <p:spPr>
          <a:xfrm>
            <a:off x="10506455" y="2286000"/>
            <a:ext cx="1115568" cy="320040"/>
          </a:xfrm>
          <a:prstGeom prst="rect">
            <a:avLst/>
          </a:prstGeom>
          <a:noFill/>
        </p:spPr>
        <p:txBody>
          <a:bodyPr wrap="square" anchor="t" lIns="45720" rIns="45720">
            <a:spAutoFit/>
          </a:bodyPr>
          <a:lstStyle/>
          <a:p>
            <a:pPr algn="ctr">
              <a:lnSpc>
                <a:spcPct val="100000"/>
              </a:lnSpc>
              <a:spcAft>
                <a:spcPts val="400"/>
              </a:spcAft>
            </a:pPr>
            <a:r>
              <a:rPr sz="1100" b="1" i="0">
                <a:solidFill>
                  <a:srgbClr val="0B2240"/>
                </a:solidFill>
                <a:latin typeface="Calibri"/>
              </a:rPr>
              <a:t>Live page</a:t>
            </a:r>
          </a:p>
        </p:txBody>
      </p:sp>
      <p:sp>
        <p:nvSpPr>
          <p:cNvPr id="53" name="TextBox 52"/>
          <p:cNvSpPr txBox="1"/>
          <p:nvPr/>
        </p:nvSpPr>
        <p:spPr>
          <a:xfrm>
            <a:off x="10515600" y="2606040"/>
            <a:ext cx="1097280" cy="457200"/>
          </a:xfrm>
          <a:prstGeom prst="rect">
            <a:avLst/>
          </a:prstGeom>
          <a:noFill/>
        </p:spPr>
        <p:txBody>
          <a:bodyPr wrap="square" anchor="t" lIns="45720" rIns="45720">
            <a:spAutoFit/>
          </a:bodyPr>
          <a:lstStyle/>
          <a:p>
            <a:pPr algn="ctr">
              <a:lnSpc>
                <a:spcPct val="100000"/>
              </a:lnSpc>
              <a:spcAft>
                <a:spcPts val="400"/>
              </a:spcAft>
            </a:pPr>
            <a:r>
              <a:rPr sz="900" b="0" i="0">
                <a:solidFill>
                  <a:srgbClr val="5B6573"/>
                </a:solidFill>
                <a:latin typeface="Calibri"/>
              </a:rPr>
              <a:t>visible FAQ + matching data</a:t>
            </a:r>
          </a:p>
        </p:txBody>
      </p:sp>
      <p:sp>
        <p:nvSpPr>
          <p:cNvPr id="54" name="TextBox 53"/>
          <p:cNvSpPr txBox="1"/>
          <p:nvPr/>
        </p:nvSpPr>
        <p:spPr>
          <a:xfrm>
            <a:off x="6355080" y="3200400"/>
            <a:ext cx="5303520" cy="274320"/>
          </a:xfrm>
          <a:prstGeom prst="rect">
            <a:avLst/>
          </a:prstGeom>
          <a:noFill/>
        </p:spPr>
        <p:txBody>
          <a:bodyPr wrap="square" anchor="t" lIns="45720" rIns="45720">
            <a:spAutoFit/>
          </a:bodyPr>
          <a:lstStyle/>
          <a:p>
            <a:pPr algn="l">
              <a:lnSpc>
                <a:spcPct val="108000"/>
              </a:lnSpc>
              <a:spcAft>
                <a:spcPts val="400"/>
              </a:spcAft>
            </a:pPr>
            <a:r>
              <a:rPr sz="1200" b="1" i="0">
                <a:solidFill>
                  <a:srgbClr val="0B2240"/>
                </a:solidFill>
                <a:latin typeface="Calibri"/>
              </a:rPr>
              <a:t>Each answer follows one rule: one question, three sentences</a:t>
            </a:r>
          </a:p>
        </p:txBody>
      </p:sp>
      <p:sp>
        <p:nvSpPr>
          <p:cNvPr id="55" name="Rounded Rectangle 54"/>
          <p:cNvSpPr/>
          <p:nvPr/>
        </p:nvSpPr>
        <p:spPr>
          <a:xfrm>
            <a:off x="6355080" y="3520440"/>
            <a:ext cx="5303520" cy="310896"/>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l"/>
            <a:r>
              <a:rPr sz="1100" b="1" i="0">
                <a:solidFill>
                  <a:srgbClr val="FFFFFF"/>
                </a:solidFill>
                <a:latin typeface="Calibri"/>
              </a:rPr>
              <a:t>Do Australians need a visa to visit Fiji?</a:t>
            </a:r>
          </a:p>
        </p:txBody>
      </p:sp>
      <p:sp>
        <p:nvSpPr>
          <p:cNvPr id="56" name="Rounded Rectangle 55"/>
          <p:cNvSpPr/>
          <p:nvPr/>
        </p:nvSpPr>
        <p:spPr>
          <a:xfrm>
            <a:off x="6355080" y="3931920"/>
            <a:ext cx="5303520" cy="475488"/>
          </a:xfrm>
          <a:prstGeom prst="roundRect">
            <a:avLst>
              <a:gd name="adj" fmla="val 10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6446520" y="4032504"/>
            <a:ext cx="274320" cy="274320"/>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1</a:t>
            </a:r>
          </a:p>
        </p:txBody>
      </p:sp>
      <p:sp>
        <p:nvSpPr>
          <p:cNvPr id="58" name="TextBox 57"/>
          <p:cNvSpPr txBox="1"/>
          <p:nvPr/>
        </p:nvSpPr>
        <p:spPr>
          <a:xfrm>
            <a:off x="6812280" y="3950207"/>
            <a:ext cx="1463040" cy="438912"/>
          </a:xfrm>
          <a:prstGeom prst="rect">
            <a:avLst/>
          </a:prstGeom>
          <a:noFill/>
        </p:spPr>
        <p:txBody>
          <a:bodyPr wrap="square" anchor="ctr" lIns="45720" rIns="45720">
            <a:spAutoFit/>
          </a:bodyPr>
          <a:lstStyle/>
          <a:p>
            <a:pPr algn="l">
              <a:lnSpc>
                <a:spcPct val="108000"/>
              </a:lnSpc>
              <a:spcAft>
                <a:spcPts val="400"/>
              </a:spcAft>
            </a:pPr>
            <a:r>
              <a:rPr sz="1100" b="1" i="0">
                <a:solidFill>
                  <a:srgbClr val="0B2240"/>
                </a:solidFill>
                <a:latin typeface="Calibri"/>
              </a:rPr>
              <a:t>Answer it</a:t>
            </a:r>
          </a:p>
        </p:txBody>
      </p:sp>
      <p:sp>
        <p:nvSpPr>
          <p:cNvPr id="59" name="TextBox 58"/>
          <p:cNvSpPr txBox="1"/>
          <p:nvPr/>
        </p:nvSpPr>
        <p:spPr>
          <a:xfrm>
            <a:off x="8229600" y="3950207"/>
            <a:ext cx="3383280" cy="438912"/>
          </a:xfrm>
          <a:prstGeom prst="rect">
            <a:avLst/>
          </a:prstGeom>
          <a:noFill/>
        </p:spPr>
        <p:txBody>
          <a:bodyPr wrap="square" anchor="ctr" lIns="45720" rIns="45720">
            <a:spAutoFit/>
          </a:bodyPr>
          <a:lstStyle/>
          <a:p>
            <a:pPr algn="l">
              <a:lnSpc>
                <a:spcPct val="100000"/>
              </a:lnSpc>
              <a:spcAft>
                <a:spcPts val="400"/>
              </a:spcAft>
            </a:pPr>
            <a:r>
              <a:rPr sz="1000" b="0" i="0">
                <a:solidFill>
                  <a:srgbClr val="1F2937"/>
                </a:solidFill>
                <a:latin typeface="Calibri"/>
              </a:rPr>
              <a:t>sentence 1: the direct answer, from the approved fact</a:t>
            </a:r>
          </a:p>
        </p:txBody>
      </p:sp>
      <p:sp>
        <p:nvSpPr>
          <p:cNvPr id="60" name="Rounded Rectangle 59"/>
          <p:cNvSpPr/>
          <p:nvPr/>
        </p:nvSpPr>
        <p:spPr>
          <a:xfrm>
            <a:off x="6355080" y="4462272"/>
            <a:ext cx="5303520" cy="475488"/>
          </a:xfrm>
          <a:prstGeom prst="roundRect">
            <a:avLst>
              <a:gd name="adj" fmla="val 10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6446520" y="4562856"/>
            <a:ext cx="274320" cy="274320"/>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2</a:t>
            </a:r>
          </a:p>
        </p:txBody>
      </p:sp>
      <p:sp>
        <p:nvSpPr>
          <p:cNvPr id="62" name="TextBox 61"/>
          <p:cNvSpPr txBox="1"/>
          <p:nvPr/>
        </p:nvSpPr>
        <p:spPr>
          <a:xfrm>
            <a:off x="6812280" y="4480559"/>
            <a:ext cx="1463040" cy="438912"/>
          </a:xfrm>
          <a:prstGeom prst="rect">
            <a:avLst/>
          </a:prstGeom>
          <a:noFill/>
        </p:spPr>
        <p:txBody>
          <a:bodyPr wrap="square" anchor="ctr" lIns="45720" rIns="45720">
            <a:spAutoFit/>
          </a:bodyPr>
          <a:lstStyle/>
          <a:p>
            <a:pPr algn="l">
              <a:lnSpc>
                <a:spcPct val="108000"/>
              </a:lnSpc>
              <a:spcAft>
                <a:spcPts val="400"/>
              </a:spcAft>
            </a:pPr>
            <a:r>
              <a:rPr sz="1100" b="1" i="0">
                <a:solidFill>
                  <a:srgbClr val="0B2240"/>
                </a:solidFill>
                <a:latin typeface="Calibri"/>
              </a:rPr>
              <a:t>Add specifics</a:t>
            </a:r>
          </a:p>
        </p:txBody>
      </p:sp>
      <p:sp>
        <p:nvSpPr>
          <p:cNvPr id="63" name="TextBox 62"/>
          <p:cNvSpPr txBox="1"/>
          <p:nvPr/>
        </p:nvSpPr>
        <p:spPr>
          <a:xfrm>
            <a:off x="8229600" y="4480559"/>
            <a:ext cx="3383280" cy="438912"/>
          </a:xfrm>
          <a:prstGeom prst="rect">
            <a:avLst/>
          </a:prstGeom>
          <a:noFill/>
        </p:spPr>
        <p:txBody>
          <a:bodyPr wrap="square" anchor="ctr" lIns="45720" rIns="45720">
            <a:spAutoFit/>
          </a:bodyPr>
          <a:lstStyle/>
          <a:p>
            <a:pPr algn="l">
              <a:lnSpc>
                <a:spcPct val="100000"/>
              </a:lnSpc>
              <a:spcAft>
                <a:spcPts val="400"/>
              </a:spcAft>
            </a:pPr>
            <a:r>
              <a:rPr sz="1000" b="0" i="0">
                <a:solidFill>
                  <a:srgbClr val="1F2937"/>
                </a:solidFill>
                <a:latin typeface="Calibri"/>
              </a:rPr>
              <a:t>sentence 2: named places, durations, currency</a:t>
            </a:r>
          </a:p>
        </p:txBody>
      </p:sp>
      <p:sp>
        <p:nvSpPr>
          <p:cNvPr id="64" name="Rounded Rectangle 63"/>
          <p:cNvSpPr/>
          <p:nvPr/>
        </p:nvSpPr>
        <p:spPr>
          <a:xfrm>
            <a:off x="6355080" y="4992624"/>
            <a:ext cx="5303520" cy="475488"/>
          </a:xfrm>
          <a:prstGeom prst="roundRect">
            <a:avLst>
              <a:gd name="adj" fmla="val 10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6446520" y="5093208"/>
            <a:ext cx="274320" cy="274320"/>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Calibri"/>
              </a:rPr>
              <a:t>3</a:t>
            </a:r>
          </a:p>
        </p:txBody>
      </p:sp>
      <p:sp>
        <p:nvSpPr>
          <p:cNvPr id="66" name="TextBox 65"/>
          <p:cNvSpPr txBox="1"/>
          <p:nvPr/>
        </p:nvSpPr>
        <p:spPr>
          <a:xfrm>
            <a:off x="6812280" y="5010912"/>
            <a:ext cx="1463040" cy="438912"/>
          </a:xfrm>
          <a:prstGeom prst="rect">
            <a:avLst/>
          </a:prstGeom>
          <a:noFill/>
        </p:spPr>
        <p:txBody>
          <a:bodyPr wrap="square" anchor="ctr" lIns="45720" rIns="45720">
            <a:spAutoFit/>
          </a:bodyPr>
          <a:lstStyle/>
          <a:p>
            <a:pPr algn="l">
              <a:lnSpc>
                <a:spcPct val="108000"/>
              </a:lnSpc>
              <a:spcAft>
                <a:spcPts val="400"/>
              </a:spcAft>
            </a:pPr>
            <a:r>
              <a:rPr sz="1100" b="1" i="0">
                <a:solidFill>
                  <a:srgbClr val="0B2240"/>
                </a:solidFill>
                <a:latin typeface="Calibri"/>
              </a:rPr>
              <a:t>Show the expert</a:t>
            </a:r>
          </a:p>
        </p:txBody>
      </p:sp>
      <p:sp>
        <p:nvSpPr>
          <p:cNvPr id="67" name="TextBox 66"/>
          <p:cNvSpPr txBox="1"/>
          <p:nvPr/>
        </p:nvSpPr>
        <p:spPr>
          <a:xfrm>
            <a:off x="8229600" y="5010912"/>
            <a:ext cx="3383280" cy="438912"/>
          </a:xfrm>
          <a:prstGeom prst="rect">
            <a:avLst/>
          </a:prstGeom>
          <a:noFill/>
        </p:spPr>
        <p:txBody>
          <a:bodyPr wrap="square" anchor="ctr" lIns="45720" rIns="45720">
            <a:spAutoFit/>
          </a:bodyPr>
          <a:lstStyle/>
          <a:p>
            <a:pPr algn="l">
              <a:lnSpc>
                <a:spcPct val="100000"/>
              </a:lnSpc>
              <a:spcAft>
                <a:spcPts val="400"/>
              </a:spcAft>
            </a:pPr>
            <a:r>
              <a:rPr sz="1000" b="0" i="0">
                <a:solidFill>
                  <a:srgbClr val="1F2937"/>
                </a:solidFill>
                <a:latin typeface="Calibri"/>
              </a:rPr>
              <a:t>sentence 3: how an FC expert helps, without turning into an advert</a:t>
            </a:r>
          </a:p>
        </p:txBody>
      </p:sp>
      <p:sp>
        <p:nvSpPr>
          <p:cNvPr id="68" name="Rounded Rectangle 67"/>
          <p:cNvSpPr/>
          <p:nvPr/>
        </p:nvSpPr>
        <p:spPr>
          <a:xfrm>
            <a:off x="6355080" y="5577840"/>
            <a:ext cx="5303520" cy="640080"/>
          </a:xfrm>
          <a:prstGeom prst="roundRect">
            <a:avLst>
              <a:gd name="adj" fmla="val 10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6492240" y="5577840"/>
            <a:ext cx="5029200" cy="640080"/>
          </a:xfrm>
          <a:prstGeom prst="rect">
            <a:avLst/>
          </a:prstGeom>
          <a:noFill/>
        </p:spPr>
        <p:txBody>
          <a:bodyPr wrap="square" anchor="ctr" lIns="45720" rIns="45720">
            <a:spAutoFit/>
          </a:bodyPr>
          <a:lstStyle/>
          <a:p>
            <a:pPr algn="l">
              <a:lnSpc>
                <a:spcPct val="100000"/>
              </a:lnSpc>
              <a:spcAft>
                <a:spcPts val="400"/>
              </a:spcAft>
            </a:pPr>
            <a:r>
              <a:rPr sz="1050" b="1" i="0">
                <a:solidFill>
                  <a:srgbClr val="B26B00"/>
                </a:solidFill>
                <a:latin typeface="Calibri"/>
              </a:rPr>
              <a:t>Verify visa rules and travel facts before publishing, and record the real review date. Facts shown are illustrative.</a:t>
            </a:r>
          </a:p>
        </p:txBody>
      </p:sp>
      <p:sp>
        <p:nvSpPr>
          <p:cNvPr id="70" name="TextBox 69"/>
          <p:cNvSpPr txBox="1"/>
          <p:nvPr/>
        </p:nvSpPr>
        <p:spPr>
          <a:xfrm>
            <a:off x="548640" y="6327648"/>
            <a:ext cx="10607040" cy="384048"/>
          </a:xfrm>
          <a:prstGeom prst="rect">
            <a:avLst/>
          </a:prstGeom>
          <a:noFill/>
        </p:spPr>
        <p:txBody>
          <a:bodyPr wrap="square" anchor="t" lIns="45720" rIns="45720">
            <a:spAutoFit/>
          </a:bodyPr>
          <a:lstStyle/>
          <a:p>
            <a:pPr algn="l">
              <a:lnSpc>
                <a:spcPct val="100000"/>
              </a:lnSpc>
              <a:spcAft>
                <a:spcPts val="400"/>
              </a:spcAft>
            </a:pPr>
            <a:r>
              <a:rPr sz="900" b="0" i="0">
                <a:solidFill>
                  <a:srgbClr val="5B6573"/>
                </a:solidFill>
                <a:latin typeface="Calibri"/>
              </a:rPr>
              <a:t>Sources: Pillar 2 audit §8.2, §10.2 (captured 10–15 May 2026; Dubai: Booking 65+); Pillar 3 audit §11. Expedia builds intent pages per destination; FC's structure varies by region.</a:t>
            </a:r>
          </a:p>
        </p:txBody>
      </p:sp>
      <p:sp>
        <p:nvSpPr>
          <p:cNvPr id="71" name="TextBox 70"/>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Authority: outside proof and a visible expert</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Rounded Rectangle 4"/>
          <p:cNvSpPr/>
          <p:nvPr/>
        </p:nvSpPr>
        <p:spPr>
          <a:xfrm>
            <a:off x="8796528" y="329184"/>
            <a:ext cx="1764792"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Published research</a:t>
            </a:r>
          </a:p>
        </p:txBody>
      </p:sp>
      <p:sp>
        <p:nvSpPr>
          <p:cNvPr id="6" name="Rounded Rectangle 5"/>
          <p:cNvSpPr/>
          <p:nvPr/>
        </p:nvSpPr>
        <p:spPr>
          <a:xfrm>
            <a:off x="6222492" y="329184"/>
            <a:ext cx="2464308"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Semester 1 audit (May 2026)</a:t>
            </a:r>
          </a:p>
        </p:txBody>
      </p:sp>
      <p:sp>
        <p:nvSpPr>
          <p:cNvPr id="7" name="TextBox 6"/>
          <p:cNvSpPr txBox="1"/>
          <p:nvPr/>
        </p:nvSpPr>
        <p:spPr>
          <a:xfrm>
            <a:off x="548640" y="1161288"/>
            <a:ext cx="1371600" cy="274320"/>
          </a:xfrm>
          <a:prstGeom prst="rect">
            <a:avLst/>
          </a:prstGeom>
          <a:noFill/>
        </p:spPr>
        <p:txBody>
          <a:bodyPr wrap="square" anchor="ctr" lIns="45720" rIns="45720">
            <a:spAutoFit/>
          </a:bodyPr>
          <a:lstStyle/>
          <a:p>
            <a:pPr algn="l">
              <a:lnSpc>
                <a:spcPct val="108000"/>
              </a:lnSpc>
              <a:spcAft>
                <a:spcPts val="400"/>
              </a:spcAft>
            </a:pPr>
            <a:r>
              <a:rPr sz="1000" b="1" i="0">
                <a:solidFill>
                  <a:srgbClr val="5B6573"/>
                </a:solidFill>
                <a:latin typeface="Calibri"/>
              </a:rPr>
              <a:t>The five areas:</a:t>
            </a:r>
          </a:p>
        </p:txBody>
      </p:sp>
      <p:sp>
        <p:nvSpPr>
          <p:cNvPr id="8" name="Rounded Rectangle 7"/>
          <p:cNvSpPr/>
          <p:nvPr/>
        </p:nvSpPr>
        <p:spPr>
          <a:xfrm>
            <a:off x="1691640" y="1179576"/>
            <a:ext cx="937259"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1  Access</a:t>
            </a:r>
          </a:p>
        </p:txBody>
      </p:sp>
      <p:sp>
        <p:nvSpPr>
          <p:cNvPr id="9" name="Rounded Rectangle 8"/>
          <p:cNvSpPr/>
          <p:nvPr/>
        </p:nvSpPr>
        <p:spPr>
          <a:xfrm>
            <a:off x="2702052"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2  Rendering</a:t>
            </a:r>
          </a:p>
        </p:txBody>
      </p:sp>
      <p:sp>
        <p:nvSpPr>
          <p:cNvPr id="10" name="Rounded Rectangle 9"/>
          <p:cNvSpPr/>
          <p:nvPr/>
        </p:nvSpPr>
        <p:spPr>
          <a:xfrm>
            <a:off x="3918204" y="1179576"/>
            <a:ext cx="114300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3  Structure</a:t>
            </a:r>
          </a:p>
        </p:txBody>
      </p:sp>
      <p:sp>
        <p:nvSpPr>
          <p:cNvPr id="11" name="Rounded Rectangle 10"/>
          <p:cNvSpPr/>
          <p:nvPr/>
        </p:nvSpPr>
        <p:spPr>
          <a:xfrm>
            <a:off x="5134356" y="1179576"/>
            <a:ext cx="1005840" cy="237744"/>
          </a:xfrm>
          <a:prstGeom prst="roundRect">
            <a:avLst>
              <a:gd name="adj" fmla="val 18000"/>
            </a:avLst>
          </a:prstGeom>
          <a:solidFill>
            <a:srgbClr val="E9ED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0" i="0">
                <a:solidFill>
                  <a:srgbClr val="8A94A3"/>
                </a:solidFill>
                <a:latin typeface="Calibri"/>
              </a:rPr>
              <a:t>4  Content</a:t>
            </a:r>
          </a:p>
        </p:txBody>
      </p:sp>
      <p:sp>
        <p:nvSpPr>
          <p:cNvPr id="12" name="Rounded Rectangle 11"/>
          <p:cNvSpPr/>
          <p:nvPr/>
        </p:nvSpPr>
        <p:spPr>
          <a:xfrm>
            <a:off x="6213348"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5  Authority</a:t>
            </a:r>
          </a:p>
        </p:txBody>
      </p:sp>
      <p:sp>
        <p:nvSpPr>
          <p:cNvPr id="13" name="Rounded Rectangle 12"/>
          <p:cNvSpPr/>
          <p:nvPr/>
        </p:nvSpPr>
        <p:spPr>
          <a:xfrm>
            <a:off x="548640" y="1572768"/>
            <a:ext cx="5440680" cy="4645152"/>
          </a:xfrm>
          <a:prstGeom prst="roundRect">
            <a:avLst>
              <a:gd name="adj" fmla="val 4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48640" y="1572768"/>
            <a:ext cx="5440680" cy="457200"/>
          </a:xfrm>
          <a:prstGeom prst="roundRect">
            <a:avLst>
              <a:gd name="adj" fmla="val 2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1600200"/>
            <a:ext cx="5029200" cy="411480"/>
          </a:xfrm>
          <a:prstGeom prst="rect">
            <a:avLst/>
          </a:prstGeom>
          <a:noFill/>
        </p:spPr>
        <p:txBody>
          <a:bodyPr wrap="square" anchor="ctr" lIns="45720" rIns="45720">
            <a:spAutoFit/>
          </a:bodyPr>
          <a:lstStyle/>
          <a:p>
            <a:pPr algn="l">
              <a:lnSpc>
                <a:spcPct val="108000"/>
              </a:lnSpc>
              <a:spcAft>
                <a:spcPts val="400"/>
              </a:spcAft>
            </a:pPr>
            <a:r>
              <a:rPr sz="1600" b="1" i="0">
                <a:solidFill>
                  <a:srgbClr val="FFFFFF"/>
                </a:solidFill>
                <a:latin typeface="Calibri"/>
              </a:rPr>
              <a:t>1  Outside proof</a:t>
            </a:r>
          </a:p>
        </p:txBody>
      </p:sp>
      <p:sp>
        <p:nvSpPr>
          <p:cNvPr id="16" name="TextBox 15"/>
          <p:cNvSpPr txBox="1"/>
          <p:nvPr/>
        </p:nvSpPr>
        <p:spPr>
          <a:xfrm>
            <a:off x="731520" y="2121408"/>
            <a:ext cx="5029200" cy="256032"/>
          </a:xfrm>
          <a:prstGeom prst="rect">
            <a:avLst/>
          </a:prstGeom>
          <a:noFill/>
        </p:spPr>
        <p:txBody>
          <a:bodyPr wrap="square" anchor="t" lIns="45720" rIns="45720">
            <a:spAutoFit/>
          </a:bodyPr>
          <a:lstStyle/>
          <a:p>
            <a:pPr algn="l">
              <a:lnSpc>
                <a:spcPct val="108000"/>
              </a:lnSpc>
              <a:spcAft>
                <a:spcPts val="400"/>
              </a:spcAft>
            </a:pPr>
            <a:r>
              <a:rPr sz="1050" b="1" i="0">
                <a:solidFill>
                  <a:srgbClr val="C8102E"/>
                </a:solidFill>
                <a:latin typeface="Calibri"/>
              </a:rPr>
              <a:t>THE ISSUE</a:t>
            </a:r>
          </a:p>
        </p:txBody>
      </p:sp>
      <p:sp>
        <p:nvSpPr>
          <p:cNvPr id="17" name="TextBox 16"/>
          <p:cNvSpPr txBox="1"/>
          <p:nvPr/>
        </p:nvSpPr>
        <p:spPr>
          <a:xfrm>
            <a:off x="731520" y="4681728"/>
            <a:ext cx="5029200" cy="256032"/>
          </a:xfrm>
          <a:prstGeom prst="rect">
            <a:avLst/>
          </a:prstGeom>
          <a:noFill/>
        </p:spPr>
        <p:txBody>
          <a:bodyPr wrap="square" anchor="t" lIns="45720" rIns="45720">
            <a:spAutoFit/>
          </a:bodyPr>
          <a:lstStyle/>
          <a:p>
            <a:pPr algn="l">
              <a:lnSpc>
                <a:spcPct val="108000"/>
              </a:lnSpc>
              <a:spcAft>
                <a:spcPts val="400"/>
              </a:spcAft>
            </a:pPr>
            <a:r>
              <a:rPr sz="1050" b="1" i="0">
                <a:solidFill>
                  <a:srgbClr val="1E7A46"/>
                </a:solidFill>
                <a:latin typeface="Calibri"/>
              </a:rPr>
              <a:t>THE FIX</a:t>
            </a:r>
          </a:p>
        </p:txBody>
      </p:sp>
      <p:sp>
        <p:nvSpPr>
          <p:cNvPr id="18" name="Rounded Rectangle 17"/>
          <p:cNvSpPr/>
          <p:nvPr/>
        </p:nvSpPr>
        <p:spPr>
          <a:xfrm>
            <a:off x="6217920" y="1572768"/>
            <a:ext cx="5440680" cy="4645152"/>
          </a:xfrm>
          <a:prstGeom prst="roundRect">
            <a:avLst>
              <a:gd name="adj" fmla="val 4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217920" y="1572768"/>
            <a:ext cx="5440680" cy="457200"/>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0" y="1600200"/>
            <a:ext cx="5029200" cy="411480"/>
          </a:xfrm>
          <a:prstGeom prst="rect">
            <a:avLst/>
          </a:prstGeom>
          <a:noFill/>
        </p:spPr>
        <p:txBody>
          <a:bodyPr wrap="square" anchor="ctr" lIns="45720" rIns="45720">
            <a:spAutoFit/>
          </a:bodyPr>
          <a:lstStyle/>
          <a:p>
            <a:pPr algn="l">
              <a:lnSpc>
                <a:spcPct val="108000"/>
              </a:lnSpc>
              <a:spcAft>
                <a:spcPts val="400"/>
              </a:spcAft>
            </a:pPr>
            <a:r>
              <a:rPr sz="1600" b="1" i="0">
                <a:solidFill>
                  <a:srgbClr val="FFFFFF"/>
                </a:solidFill>
                <a:latin typeface="Calibri"/>
              </a:rPr>
              <a:t>2  A visible expert</a:t>
            </a:r>
          </a:p>
        </p:txBody>
      </p:sp>
      <p:sp>
        <p:nvSpPr>
          <p:cNvPr id="21" name="TextBox 20"/>
          <p:cNvSpPr txBox="1"/>
          <p:nvPr/>
        </p:nvSpPr>
        <p:spPr>
          <a:xfrm>
            <a:off x="6400800" y="2121408"/>
            <a:ext cx="5029200" cy="256032"/>
          </a:xfrm>
          <a:prstGeom prst="rect">
            <a:avLst/>
          </a:prstGeom>
          <a:noFill/>
        </p:spPr>
        <p:txBody>
          <a:bodyPr wrap="square" anchor="t" lIns="45720" rIns="45720">
            <a:spAutoFit/>
          </a:bodyPr>
          <a:lstStyle/>
          <a:p>
            <a:pPr algn="l">
              <a:lnSpc>
                <a:spcPct val="108000"/>
              </a:lnSpc>
              <a:spcAft>
                <a:spcPts val="400"/>
              </a:spcAft>
            </a:pPr>
            <a:r>
              <a:rPr sz="1050" b="1" i="0">
                <a:solidFill>
                  <a:srgbClr val="C8102E"/>
                </a:solidFill>
                <a:latin typeface="Calibri"/>
              </a:rPr>
              <a:t>THE ISSUE</a:t>
            </a:r>
          </a:p>
        </p:txBody>
      </p:sp>
      <p:sp>
        <p:nvSpPr>
          <p:cNvPr id="22" name="TextBox 21"/>
          <p:cNvSpPr txBox="1"/>
          <p:nvPr/>
        </p:nvSpPr>
        <p:spPr>
          <a:xfrm>
            <a:off x="6400800" y="4681728"/>
            <a:ext cx="5029200" cy="256032"/>
          </a:xfrm>
          <a:prstGeom prst="rect">
            <a:avLst/>
          </a:prstGeom>
          <a:noFill/>
        </p:spPr>
        <p:txBody>
          <a:bodyPr wrap="square" anchor="t" lIns="45720" rIns="45720">
            <a:spAutoFit/>
          </a:bodyPr>
          <a:lstStyle/>
          <a:p>
            <a:pPr algn="l">
              <a:lnSpc>
                <a:spcPct val="108000"/>
              </a:lnSpc>
              <a:spcAft>
                <a:spcPts val="400"/>
              </a:spcAft>
            </a:pPr>
            <a:r>
              <a:rPr sz="1050" b="1" i="0">
                <a:solidFill>
                  <a:srgbClr val="1E7A46"/>
                </a:solidFill>
                <a:latin typeface="Calibri"/>
              </a:rPr>
              <a:t>THE FIX</a:t>
            </a:r>
          </a:p>
        </p:txBody>
      </p:sp>
      <p:sp>
        <p:nvSpPr>
          <p:cNvPr id="23" name="TextBox 22"/>
          <p:cNvSpPr txBox="1"/>
          <p:nvPr/>
        </p:nvSpPr>
        <p:spPr>
          <a:xfrm>
            <a:off x="731520" y="2395728"/>
            <a:ext cx="5029200" cy="274320"/>
          </a:xfrm>
          <a:prstGeom prst="rect">
            <a:avLst/>
          </a:prstGeom>
          <a:noFill/>
        </p:spPr>
        <p:txBody>
          <a:bodyPr wrap="square" anchor="t" lIns="45720" rIns="45720">
            <a:spAutoFit/>
          </a:bodyPr>
          <a:lstStyle/>
          <a:p>
            <a:pPr algn="l">
              <a:lnSpc>
                <a:spcPct val="108000"/>
              </a:lnSpc>
              <a:spcAft>
                <a:spcPts val="400"/>
              </a:spcAft>
            </a:pPr>
            <a:r>
              <a:rPr sz="1250" b="1" i="0">
                <a:solidFill>
                  <a:srgbClr val="0B2240"/>
                </a:solidFill>
                <a:latin typeface="Calibri"/>
              </a:rPr>
              <a:t>Where ChatGPT's citations come from</a:t>
            </a:r>
          </a:p>
        </p:txBody>
      </p:sp>
      <p:sp>
        <p:nvSpPr>
          <p:cNvPr id="24" name="TextBox 23"/>
          <p:cNvSpPr txBox="1"/>
          <p:nvPr/>
        </p:nvSpPr>
        <p:spPr>
          <a:xfrm>
            <a:off x="731520" y="2724912"/>
            <a:ext cx="4937760" cy="219456"/>
          </a:xfrm>
          <a:prstGeom prst="rect">
            <a:avLst/>
          </a:prstGeom>
          <a:noFill/>
        </p:spPr>
        <p:txBody>
          <a:bodyPr wrap="square" anchor="t" lIns="45720" rIns="45720">
            <a:spAutoFit/>
          </a:bodyPr>
          <a:lstStyle/>
          <a:p>
            <a:pPr algn="l">
              <a:lnSpc>
                <a:spcPct val="108000"/>
              </a:lnSpc>
              <a:spcAft>
                <a:spcPts val="400"/>
              </a:spcAft>
            </a:pPr>
            <a:r>
              <a:rPr sz="1050" b="0" i="0">
                <a:solidFill>
                  <a:srgbClr val="5B6573"/>
                </a:solidFill>
                <a:latin typeface="Calibri"/>
              </a:rPr>
              <a:t>Reddit</a:t>
            </a:r>
          </a:p>
        </p:txBody>
      </p:sp>
      <p:sp>
        <p:nvSpPr>
          <p:cNvPr id="25" name="Rounded Rectangle 24"/>
          <p:cNvSpPr/>
          <p:nvPr/>
        </p:nvSpPr>
        <p:spPr>
          <a:xfrm>
            <a:off x="731520" y="2944368"/>
            <a:ext cx="3877056" cy="201168"/>
          </a:xfrm>
          <a:prstGeom prst="roundRect">
            <a:avLst>
              <a:gd name="adj" fmla="val 3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45152" y="2898648"/>
            <a:ext cx="822960" cy="274320"/>
          </a:xfrm>
          <a:prstGeom prst="rect">
            <a:avLst/>
          </a:prstGeom>
          <a:noFill/>
        </p:spPr>
        <p:txBody>
          <a:bodyPr wrap="square" anchor="t" lIns="45720" rIns="45720">
            <a:spAutoFit/>
          </a:bodyPr>
          <a:lstStyle/>
          <a:p>
            <a:pPr algn="l">
              <a:lnSpc>
                <a:spcPct val="108000"/>
              </a:lnSpc>
              <a:spcAft>
                <a:spcPts val="400"/>
              </a:spcAft>
            </a:pPr>
            <a:r>
              <a:rPr sz="1150" b="1" i="0">
                <a:solidFill>
                  <a:srgbClr val="0B2240"/>
                </a:solidFill>
                <a:latin typeface="Calibri"/>
              </a:rPr>
              <a:t>16.8%</a:t>
            </a:r>
          </a:p>
        </p:txBody>
      </p:sp>
      <p:sp>
        <p:nvSpPr>
          <p:cNvPr id="27" name="TextBox 26"/>
          <p:cNvSpPr txBox="1"/>
          <p:nvPr/>
        </p:nvSpPr>
        <p:spPr>
          <a:xfrm>
            <a:off x="731520" y="3182112"/>
            <a:ext cx="4937760" cy="219456"/>
          </a:xfrm>
          <a:prstGeom prst="rect">
            <a:avLst/>
          </a:prstGeom>
          <a:noFill/>
        </p:spPr>
        <p:txBody>
          <a:bodyPr wrap="square" anchor="t" lIns="45720" rIns="45720">
            <a:spAutoFit/>
          </a:bodyPr>
          <a:lstStyle/>
          <a:p>
            <a:pPr algn="l">
              <a:lnSpc>
                <a:spcPct val="108000"/>
              </a:lnSpc>
              <a:spcAft>
                <a:spcPts val="400"/>
              </a:spcAft>
            </a:pPr>
            <a:r>
              <a:rPr sz="1050" b="0" i="0">
                <a:solidFill>
                  <a:srgbClr val="5B6573"/>
                </a:solidFill>
                <a:latin typeface="Calibri"/>
              </a:rPr>
              <a:t>Wikipedia</a:t>
            </a:r>
          </a:p>
        </p:txBody>
      </p:sp>
      <p:sp>
        <p:nvSpPr>
          <p:cNvPr id="28" name="Rounded Rectangle 27"/>
          <p:cNvSpPr/>
          <p:nvPr/>
        </p:nvSpPr>
        <p:spPr>
          <a:xfrm>
            <a:off x="731520" y="3401568"/>
            <a:ext cx="1636776" cy="201168"/>
          </a:xfrm>
          <a:prstGeom prst="roundRect">
            <a:avLst>
              <a:gd name="adj" fmla="val 3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2404872" y="3355848"/>
            <a:ext cx="822960" cy="274320"/>
          </a:xfrm>
          <a:prstGeom prst="rect">
            <a:avLst/>
          </a:prstGeom>
          <a:noFill/>
        </p:spPr>
        <p:txBody>
          <a:bodyPr wrap="square" anchor="t" lIns="45720" rIns="45720">
            <a:spAutoFit/>
          </a:bodyPr>
          <a:lstStyle/>
          <a:p>
            <a:pPr algn="l">
              <a:lnSpc>
                <a:spcPct val="108000"/>
              </a:lnSpc>
              <a:spcAft>
                <a:spcPts val="400"/>
              </a:spcAft>
            </a:pPr>
            <a:r>
              <a:rPr sz="1150" b="1" i="0">
                <a:solidFill>
                  <a:srgbClr val="0B2240"/>
                </a:solidFill>
                <a:latin typeface="Calibri"/>
              </a:rPr>
              <a:t>7.0%</a:t>
            </a:r>
          </a:p>
        </p:txBody>
      </p:sp>
      <p:sp>
        <p:nvSpPr>
          <p:cNvPr id="30" name="TextBox 29"/>
          <p:cNvSpPr txBox="1"/>
          <p:nvPr/>
        </p:nvSpPr>
        <p:spPr>
          <a:xfrm>
            <a:off x="731520" y="3639312"/>
            <a:ext cx="4937760" cy="219456"/>
          </a:xfrm>
          <a:prstGeom prst="rect">
            <a:avLst/>
          </a:prstGeom>
          <a:noFill/>
        </p:spPr>
        <p:txBody>
          <a:bodyPr wrap="square" anchor="t" lIns="45720" rIns="45720">
            <a:spAutoFit/>
          </a:bodyPr>
          <a:lstStyle/>
          <a:p>
            <a:pPr algn="l">
              <a:lnSpc>
                <a:spcPct val="108000"/>
              </a:lnSpc>
              <a:spcAft>
                <a:spcPts val="400"/>
              </a:spcAft>
            </a:pPr>
            <a:r>
              <a:rPr sz="1050" b="0" i="0">
                <a:solidFill>
                  <a:srgbClr val="5B6573"/>
                </a:solidFill>
                <a:latin typeface="Calibri"/>
              </a:rPr>
              <a:t>Tripadvisor (the only travel site)</a:t>
            </a:r>
          </a:p>
        </p:txBody>
      </p:sp>
      <p:sp>
        <p:nvSpPr>
          <p:cNvPr id="31" name="Rounded Rectangle 30"/>
          <p:cNvSpPr/>
          <p:nvPr/>
        </p:nvSpPr>
        <p:spPr>
          <a:xfrm>
            <a:off x="731520" y="3858768"/>
            <a:ext cx="379476" cy="201168"/>
          </a:xfrm>
          <a:prstGeom prst="roundRect">
            <a:avLst>
              <a:gd name="adj" fmla="val 30000"/>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147572" y="3813048"/>
            <a:ext cx="822960" cy="274320"/>
          </a:xfrm>
          <a:prstGeom prst="rect">
            <a:avLst/>
          </a:prstGeom>
          <a:noFill/>
        </p:spPr>
        <p:txBody>
          <a:bodyPr wrap="square" anchor="t" lIns="45720" rIns="45720">
            <a:spAutoFit/>
          </a:bodyPr>
          <a:lstStyle/>
          <a:p>
            <a:pPr algn="l">
              <a:lnSpc>
                <a:spcPct val="108000"/>
              </a:lnSpc>
              <a:spcAft>
                <a:spcPts val="400"/>
              </a:spcAft>
            </a:pPr>
            <a:r>
              <a:rPr sz="1150" b="1" i="0">
                <a:solidFill>
                  <a:srgbClr val="0B2240"/>
                </a:solidFill>
                <a:latin typeface="Calibri"/>
              </a:rPr>
              <a:t>1.5%</a:t>
            </a:r>
          </a:p>
        </p:txBody>
      </p:sp>
      <p:sp>
        <p:nvSpPr>
          <p:cNvPr id="33" name="TextBox 32"/>
          <p:cNvSpPr txBox="1"/>
          <p:nvPr/>
        </p:nvSpPr>
        <p:spPr>
          <a:xfrm>
            <a:off x="731520" y="4114800"/>
            <a:ext cx="5074920" cy="457200"/>
          </a:xfrm>
          <a:prstGeom prst="rect">
            <a:avLst/>
          </a:prstGeom>
          <a:noFill/>
        </p:spPr>
        <p:txBody>
          <a:bodyPr wrap="square" anchor="t" lIns="45720" rIns="45720">
            <a:spAutoFit/>
          </a:bodyPr>
          <a:lstStyle/>
          <a:p>
            <a:pPr algn="l">
              <a:lnSpc>
                <a:spcPct val="100000"/>
              </a:lnSpc>
              <a:spcAft>
                <a:spcPts val="400"/>
              </a:spcAft>
            </a:pPr>
            <a:r>
              <a:rPr sz="1050" b="0" i="0">
                <a:solidFill>
                  <a:srgbClr val="1F2937"/>
                </a:solidFill>
                <a:latin typeface="Calibri"/>
              </a:rPr>
              <a:t>In our May 2026 sample of an unbranded agency question, ChatGPT named other agencies and cited forums and review sites, not fc.com, despite FC's Wikipedia entity and 27,355 Trustpilot reviews.</a:t>
            </a:r>
          </a:p>
        </p:txBody>
      </p:sp>
      <p:sp>
        <p:nvSpPr>
          <p:cNvPr id="34" name="TextBox 33"/>
          <p:cNvSpPr txBox="1"/>
          <p:nvPr/>
        </p:nvSpPr>
        <p:spPr>
          <a:xfrm>
            <a:off x="731520" y="4956048"/>
            <a:ext cx="5074920" cy="822960"/>
          </a:xfrm>
          <a:prstGeom prst="rect">
            <a:avLst/>
          </a:prstGeom>
          <a:noFill/>
        </p:spPr>
        <p:txBody>
          <a:bodyPr wrap="square" anchor="t" lIns="45720" rIns="45720">
            <a:spAutoFit/>
          </a:bodyPr>
          <a:lstStyle/>
          <a:p>
            <a:pPr algn="l">
              <a:lnSpc>
                <a:spcPct val="103000"/>
              </a:lnSpc>
              <a:spcAft>
                <a:spcPts val="400"/>
              </a:spcAft>
            </a:pPr>
            <a:r>
              <a:rPr sz="1250" b="1" i="0">
                <a:solidFill>
                  <a:srgbClr val="0B2240"/>
                </a:solidFill>
                <a:latin typeface="Calibri"/>
              </a:rPr>
              <a:t>Keep Wikipedia and Wikidata accurate, answer reviews, and publish citable research such as fare calendars and destination data. No paid posts: Google says inauthentic mentions don't help.</a:t>
            </a:r>
          </a:p>
        </p:txBody>
      </p:sp>
      <p:sp>
        <p:nvSpPr>
          <p:cNvPr id="35" name="TextBox 34"/>
          <p:cNvSpPr txBox="1"/>
          <p:nvPr/>
        </p:nvSpPr>
        <p:spPr>
          <a:xfrm>
            <a:off x="731520" y="5760720"/>
            <a:ext cx="5074920" cy="411480"/>
          </a:xfrm>
          <a:prstGeom prst="rect">
            <a:avLst/>
          </a:prstGeom>
          <a:noFill/>
        </p:spPr>
        <p:txBody>
          <a:bodyPr wrap="square" anchor="t" lIns="45720" rIns="45720">
            <a:spAutoFit/>
          </a:bodyPr>
          <a:lstStyle/>
          <a:p>
            <a:pPr algn="l">
              <a:lnSpc>
                <a:spcPct val="100000"/>
              </a:lnSpc>
              <a:spcAft>
                <a:spcPts val="400"/>
              </a:spcAft>
            </a:pPr>
            <a:r>
              <a:rPr sz="950" b="0" i="0">
                <a:solidFill>
                  <a:srgbClr val="5B6573"/>
                </a:solidFill>
                <a:latin typeface="Calibri"/>
              </a:rPr>
              <a:t>Evidence: Ahrefs citation study (Sep 2026) and one dated sample; not tested in our experiment.</a:t>
            </a:r>
          </a:p>
        </p:txBody>
      </p:sp>
      <p:sp>
        <p:nvSpPr>
          <p:cNvPr id="36" name="Rounded Rectangle 35"/>
          <p:cNvSpPr/>
          <p:nvPr/>
        </p:nvSpPr>
        <p:spPr>
          <a:xfrm>
            <a:off x="6400800" y="2423160"/>
            <a:ext cx="5074920" cy="914400"/>
          </a:xfrm>
          <a:prstGeom prst="roundRect">
            <a:avLst>
              <a:gd name="adj" fmla="val 8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37959" y="2441448"/>
            <a:ext cx="4800600" cy="868680"/>
          </a:xfrm>
          <a:prstGeom prst="rect">
            <a:avLst/>
          </a:prstGeom>
          <a:noFill/>
        </p:spPr>
        <p:txBody>
          <a:bodyPr wrap="square" anchor="ctr" lIns="45720" rIns="45720">
            <a:spAutoFit/>
          </a:bodyPr>
          <a:lstStyle/>
          <a:p>
            <a:pPr algn="l">
              <a:lnSpc>
                <a:spcPct val="100000"/>
              </a:lnSpc>
              <a:spcAft>
                <a:spcPts val="400"/>
              </a:spcAft>
            </a:pPr>
            <a:r>
              <a:rPr sz="1400" b="1" i="1">
                <a:solidFill>
                  <a:srgbClr val="0B2240"/>
                </a:solidFill>
                <a:latin typeface="Calibri"/>
              </a:rPr>
              <a:t>"Talk to a Flight Centre Travel Expert, in 300+ stores or by phone"</a:t>
            </a:r>
          </a:p>
        </p:txBody>
      </p:sp>
      <p:sp>
        <p:nvSpPr>
          <p:cNvPr id="38" name="TextBox 37"/>
          <p:cNvSpPr txBox="1"/>
          <p:nvPr/>
        </p:nvSpPr>
        <p:spPr>
          <a:xfrm>
            <a:off x="6400800" y="3456432"/>
            <a:ext cx="5074920" cy="594360"/>
          </a:xfrm>
          <a:prstGeom prst="rect">
            <a:avLst/>
          </a:prstGeom>
          <a:noFill/>
        </p:spPr>
        <p:txBody>
          <a:bodyPr wrap="square" anchor="t" lIns="45720" rIns="45720">
            <a:spAutoFit/>
          </a:bodyPr>
          <a:lstStyle/>
          <a:p>
            <a:pPr algn="l">
              <a:lnSpc>
                <a:spcPct val="102000"/>
              </a:lnSpc>
              <a:spcAft>
                <a:spcPts val="400"/>
              </a:spcAft>
            </a:pPr>
            <a:r>
              <a:rPr sz="1100" b="0" i="0">
                <a:solidFill>
                  <a:srgbClr val="1F2937"/>
                </a:solidFill>
                <a:latin typeface="Calibri"/>
              </a:rPr>
              <a:t>FC's real edge is a human expert, a store and a quote. We have not yet checked that each page says so in text an assistant can quote.</a:t>
            </a:r>
          </a:p>
        </p:txBody>
      </p:sp>
      <p:sp>
        <p:nvSpPr>
          <p:cNvPr id="39" name="TextBox 38"/>
          <p:cNvSpPr txBox="1"/>
          <p:nvPr/>
        </p:nvSpPr>
        <p:spPr>
          <a:xfrm>
            <a:off x="6400800" y="4069080"/>
            <a:ext cx="5029200" cy="256032"/>
          </a:xfrm>
          <a:prstGeom prst="rect">
            <a:avLst/>
          </a:prstGeom>
          <a:noFill/>
        </p:spPr>
        <p:txBody>
          <a:bodyPr wrap="square" anchor="t" lIns="45720" rIns="45720">
            <a:spAutoFit/>
          </a:bodyPr>
          <a:lstStyle/>
          <a:p>
            <a:pPr algn="l">
              <a:lnSpc>
                <a:spcPct val="108000"/>
              </a:lnSpc>
              <a:spcAft>
                <a:spcPts val="400"/>
              </a:spcAft>
            </a:pPr>
            <a:r>
              <a:rPr sz="950" b="1" i="0">
                <a:solidFill>
                  <a:srgbClr val="5B6573"/>
                </a:solidFill>
                <a:latin typeface="Calibri"/>
              </a:rPr>
              <a:t>CHECK ON EVERY ROUTE AND HOLIDAY PAGE</a:t>
            </a:r>
          </a:p>
        </p:txBody>
      </p:sp>
      <p:sp>
        <p:nvSpPr>
          <p:cNvPr id="40" name="Rounded Rectangle 39"/>
          <p:cNvSpPr/>
          <p:nvPr/>
        </p:nvSpPr>
        <p:spPr>
          <a:xfrm>
            <a:off x="6400800" y="4297680"/>
            <a:ext cx="1627632" cy="274320"/>
          </a:xfrm>
          <a:prstGeom prst="roundRect">
            <a:avLst>
              <a:gd name="adj" fmla="val 18000"/>
            </a:avLst>
          </a:prstGeom>
          <a:solidFill>
            <a:srgbClr val="FFFFFF"/>
          </a:solidFill>
          <a:ln w="95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B26B00"/>
                </a:solidFill>
                <a:latin typeface="Calibri"/>
              </a:rPr>
              <a:t>Expert named?</a:t>
            </a:r>
          </a:p>
        </p:txBody>
      </p:sp>
      <p:sp>
        <p:nvSpPr>
          <p:cNvPr id="41" name="Rounded Rectangle 40"/>
          <p:cNvSpPr/>
          <p:nvPr/>
        </p:nvSpPr>
        <p:spPr>
          <a:xfrm>
            <a:off x="8119871" y="4297680"/>
            <a:ext cx="1627632" cy="274320"/>
          </a:xfrm>
          <a:prstGeom prst="roundRect">
            <a:avLst>
              <a:gd name="adj" fmla="val 18000"/>
            </a:avLst>
          </a:prstGeom>
          <a:solidFill>
            <a:srgbClr val="FFFFFF"/>
          </a:solidFill>
          <a:ln w="95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B26B00"/>
                </a:solidFill>
                <a:latin typeface="Calibri"/>
              </a:rPr>
              <a:t>Store details?</a:t>
            </a:r>
          </a:p>
        </p:txBody>
      </p:sp>
      <p:sp>
        <p:nvSpPr>
          <p:cNvPr id="42" name="Rounded Rectangle 41"/>
          <p:cNvSpPr/>
          <p:nvPr/>
        </p:nvSpPr>
        <p:spPr>
          <a:xfrm>
            <a:off x="9838944" y="4297680"/>
            <a:ext cx="1627632" cy="274320"/>
          </a:xfrm>
          <a:prstGeom prst="roundRect">
            <a:avLst>
              <a:gd name="adj" fmla="val 18000"/>
            </a:avLst>
          </a:prstGeom>
          <a:solidFill>
            <a:srgbClr val="FFFFFF"/>
          </a:solidFill>
          <a:ln w="95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B26B00"/>
                </a:solidFill>
                <a:latin typeface="Calibri"/>
              </a:rPr>
              <a:t>Quote path?</a:t>
            </a:r>
          </a:p>
        </p:txBody>
      </p:sp>
      <p:sp>
        <p:nvSpPr>
          <p:cNvPr id="43" name="TextBox 42"/>
          <p:cNvSpPr txBox="1"/>
          <p:nvPr/>
        </p:nvSpPr>
        <p:spPr>
          <a:xfrm>
            <a:off x="6400800" y="4956048"/>
            <a:ext cx="5074920" cy="822960"/>
          </a:xfrm>
          <a:prstGeom prst="rect">
            <a:avLst/>
          </a:prstGeom>
          <a:noFill/>
        </p:spPr>
        <p:txBody>
          <a:bodyPr wrap="square" anchor="t" lIns="45720" rIns="45720">
            <a:spAutoFit/>
          </a:bodyPr>
          <a:lstStyle/>
          <a:p>
            <a:pPr algn="l">
              <a:lnSpc>
                <a:spcPct val="103000"/>
              </a:lnSpc>
              <a:spcAft>
                <a:spcPts val="400"/>
              </a:spcAft>
            </a:pPr>
            <a:r>
              <a:rPr sz="1250" b="1" i="0">
                <a:solidFill>
                  <a:srgbClr val="0B2240"/>
                </a:solidFill>
                <a:latin typeface="Calibri"/>
              </a:rPr>
              <a:t>Check each page, then state it in text with consistent store name, address and hours. Start with priority stores. A later app or MCP connector would route here.</a:t>
            </a:r>
          </a:p>
        </p:txBody>
      </p:sp>
      <p:sp>
        <p:nvSpPr>
          <p:cNvPr id="44" name="TextBox 43"/>
          <p:cNvSpPr txBox="1"/>
          <p:nvPr/>
        </p:nvSpPr>
        <p:spPr>
          <a:xfrm>
            <a:off x="6400800" y="5760720"/>
            <a:ext cx="5074920" cy="411480"/>
          </a:xfrm>
          <a:prstGeom prst="rect">
            <a:avLst/>
          </a:prstGeom>
          <a:noFill/>
        </p:spPr>
        <p:txBody>
          <a:bodyPr wrap="square" anchor="t" lIns="45720" rIns="45720">
            <a:spAutoFit/>
          </a:bodyPr>
          <a:lstStyle/>
          <a:p>
            <a:pPr algn="l">
              <a:lnSpc>
                <a:spcPct val="100000"/>
              </a:lnSpc>
              <a:spcAft>
                <a:spcPts val="400"/>
              </a:spcAft>
            </a:pPr>
            <a:r>
              <a:rPr sz="950" b="0" i="0">
                <a:solidFill>
                  <a:srgbClr val="5B6573"/>
                </a:solidFill>
                <a:latin typeface="Calibri"/>
              </a:rPr>
              <a:t>Evidence: a proposed check; page-level coverage has not been audited.</a:t>
            </a:r>
          </a:p>
        </p:txBody>
      </p:sp>
      <p:sp>
        <p:nvSpPr>
          <p:cNvPr id="45" name="TextBox 44"/>
          <p:cNvSpPr txBox="1"/>
          <p:nvPr/>
        </p:nvSpPr>
        <p:spPr>
          <a:xfrm>
            <a:off x="548640" y="6327648"/>
            <a:ext cx="10607040" cy="384048"/>
          </a:xfrm>
          <a:prstGeom prst="rect">
            <a:avLst/>
          </a:prstGeom>
          <a:noFill/>
        </p:spPr>
        <p:txBody>
          <a:bodyPr wrap="square" anchor="t" lIns="45720" rIns="45720">
            <a:spAutoFit/>
          </a:bodyPr>
          <a:lstStyle/>
          <a:p>
            <a:pPr algn="l">
              <a:lnSpc>
                <a:spcPct val="100000"/>
              </a:lnSpc>
              <a:spcAft>
                <a:spcPts val="400"/>
              </a:spcAft>
            </a:pPr>
            <a:r>
              <a:rPr sz="900" b="0" i="0">
                <a:solidFill>
                  <a:srgbClr val="5B6573"/>
                </a:solidFill>
                <a:latin typeface="Calibri"/>
              </a:rPr>
              <a:t>Sources: Ahrefs most-cited domains (Sep 2026); Pillar 3 audit §12 (15 May 2026); arXiv 2605.25517; Google on inauthentic mentions.</a:t>
            </a:r>
          </a:p>
        </p:txBody>
      </p:sp>
      <p:sp>
        <p:nvSpPr>
          <p:cNvPr id="46" name="TextBox 45"/>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HOW</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The plan: three steps, and three decisions for today</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Proposed</a:t>
            </a:r>
          </a:p>
        </p:txBody>
      </p:sp>
      <p:sp>
        <p:nvSpPr>
          <p:cNvPr id="5" name="TextBox 4"/>
          <p:cNvSpPr txBox="1"/>
          <p:nvPr/>
        </p:nvSpPr>
        <p:spPr>
          <a:xfrm>
            <a:off x="548640" y="1161288"/>
            <a:ext cx="1371600" cy="274320"/>
          </a:xfrm>
          <a:prstGeom prst="rect">
            <a:avLst/>
          </a:prstGeom>
          <a:noFill/>
        </p:spPr>
        <p:txBody>
          <a:bodyPr wrap="square" anchor="ctr" lIns="45720" rIns="45720">
            <a:spAutoFit/>
          </a:bodyPr>
          <a:lstStyle/>
          <a:p>
            <a:pPr algn="l">
              <a:lnSpc>
                <a:spcPct val="108000"/>
              </a:lnSpc>
              <a:spcAft>
                <a:spcPts val="400"/>
              </a:spcAft>
            </a:pPr>
            <a:r>
              <a:rPr sz="1000" b="1" i="0">
                <a:solidFill>
                  <a:srgbClr val="5B6573"/>
                </a:solidFill>
                <a:latin typeface="Calibri"/>
              </a:rPr>
              <a:t>The five areas:</a:t>
            </a:r>
          </a:p>
        </p:txBody>
      </p:sp>
      <p:sp>
        <p:nvSpPr>
          <p:cNvPr id="6" name="Rounded Rectangle 5"/>
          <p:cNvSpPr/>
          <p:nvPr/>
        </p:nvSpPr>
        <p:spPr>
          <a:xfrm>
            <a:off x="1691640" y="1179576"/>
            <a:ext cx="937259"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1  Access</a:t>
            </a:r>
          </a:p>
        </p:txBody>
      </p:sp>
      <p:sp>
        <p:nvSpPr>
          <p:cNvPr id="7" name="Rounded Rectangle 6"/>
          <p:cNvSpPr/>
          <p:nvPr/>
        </p:nvSpPr>
        <p:spPr>
          <a:xfrm>
            <a:off x="2702052"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2  Rendering</a:t>
            </a:r>
          </a:p>
        </p:txBody>
      </p:sp>
      <p:sp>
        <p:nvSpPr>
          <p:cNvPr id="8" name="Rounded Rectangle 7"/>
          <p:cNvSpPr/>
          <p:nvPr/>
        </p:nvSpPr>
        <p:spPr>
          <a:xfrm>
            <a:off x="3918204"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3  Structure</a:t>
            </a:r>
          </a:p>
        </p:txBody>
      </p:sp>
      <p:sp>
        <p:nvSpPr>
          <p:cNvPr id="9" name="Rounded Rectangle 8"/>
          <p:cNvSpPr/>
          <p:nvPr/>
        </p:nvSpPr>
        <p:spPr>
          <a:xfrm>
            <a:off x="5134356" y="1179576"/>
            <a:ext cx="100584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4  Content</a:t>
            </a:r>
          </a:p>
        </p:txBody>
      </p:sp>
      <p:sp>
        <p:nvSpPr>
          <p:cNvPr id="10" name="Rounded Rectangle 9"/>
          <p:cNvSpPr/>
          <p:nvPr/>
        </p:nvSpPr>
        <p:spPr>
          <a:xfrm>
            <a:off x="6213348" y="1179576"/>
            <a:ext cx="1143000" cy="237744"/>
          </a:xfrm>
          <a:prstGeom prst="roundRect">
            <a:avLst>
              <a:gd name="adj" fmla="val 18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950" b="1" i="0">
                <a:solidFill>
                  <a:srgbClr val="FFFFFF"/>
                </a:solidFill>
                <a:latin typeface="Calibri"/>
              </a:rPr>
              <a:t>5  Authority</a:t>
            </a:r>
          </a:p>
        </p:txBody>
      </p:sp>
      <p:sp>
        <p:nvSpPr>
          <p:cNvPr id="11" name="Pentagon 10"/>
          <p:cNvSpPr/>
          <p:nvPr/>
        </p:nvSpPr>
        <p:spPr>
          <a:xfrm>
            <a:off x="548640" y="1572768"/>
            <a:ext cx="3611880" cy="777240"/>
          </a:xfrm>
          <a:prstGeom prst="homePlate">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1600200"/>
            <a:ext cx="3017520" cy="384048"/>
          </a:xfrm>
          <a:prstGeom prst="rect">
            <a:avLst/>
          </a:prstGeom>
          <a:noFill/>
        </p:spPr>
        <p:txBody>
          <a:bodyPr wrap="square" anchor="t" lIns="45720" rIns="45720">
            <a:spAutoFit/>
          </a:bodyPr>
          <a:lstStyle/>
          <a:p>
            <a:pPr algn="l">
              <a:lnSpc>
                <a:spcPct val="108000"/>
              </a:lnSpc>
              <a:spcAft>
                <a:spcPts val="400"/>
              </a:spcAft>
            </a:pPr>
            <a:r>
              <a:rPr sz="1700" b="1" i="0">
                <a:solidFill>
                  <a:srgbClr val="FFFFFF"/>
                </a:solidFill>
                <a:latin typeface="Calibri"/>
              </a:rPr>
              <a:t>1  Assign ownership</a:t>
            </a:r>
          </a:p>
        </p:txBody>
      </p:sp>
      <p:sp>
        <p:nvSpPr>
          <p:cNvPr id="13" name="TextBox 12"/>
          <p:cNvSpPr txBox="1"/>
          <p:nvPr/>
        </p:nvSpPr>
        <p:spPr>
          <a:xfrm>
            <a:off x="731520" y="1984248"/>
            <a:ext cx="3017520" cy="320040"/>
          </a:xfrm>
          <a:prstGeom prst="rect">
            <a:avLst/>
          </a:prstGeom>
          <a:noFill/>
        </p:spPr>
        <p:txBody>
          <a:bodyPr wrap="square" anchor="t" lIns="45720" rIns="45720">
            <a:spAutoFit/>
          </a:bodyPr>
          <a:lstStyle/>
          <a:p>
            <a:pPr algn="l">
              <a:lnSpc>
                <a:spcPct val="108000"/>
              </a:lnSpc>
              <a:spcAft>
                <a:spcPts val="400"/>
              </a:spcAft>
            </a:pPr>
            <a:r>
              <a:rPr sz="1050" b="0" i="0">
                <a:solidFill>
                  <a:srgbClr val="F0F4FA"/>
                </a:solidFill>
                <a:latin typeface="Calibri"/>
              </a:rPr>
              <a:t>Output: an owned backlog</a:t>
            </a:r>
          </a:p>
        </p:txBody>
      </p:sp>
      <p:sp>
        <p:nvSpPr>
          <p:cNvPr id="14" name="Rounded Rectangle 13"/>
          <p:cNvSpPr/>
          <p:nvPr/>
        </p:nvSpPr>
        <p:spPr>
          <a:xfrm>
            <a:off x="548640" y="2395728"/>
            <a:ext cx="3611880" cy="1691640"/>
          </a:xfrm>
          <a:prstGeom prst="roundRect">
            <a:avLst>
              <a:gd name="adj" fmla="val 5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3232" y="2487168"/>
            <a:ext cx="3291840" cy="1600200"/>
          </a:xfrm>
          <a:prstGeom prst="rect">
            <a:avLst/>
          </a:prstGeom>
          <a:noFill/>
        </p:spPr>
        <p:txBody>
          <a:bodyPr wrap="square" anchor="t" lIns="45720" rIns="45720">
            <a:spAutoFit/>
          </a:bodyPr>
          <a:lstStyle/>
          <a:p>
            <a:pPr algn="l" marL="201168" indent="-182880">
              <a:lnSpc>
                <a:spcPct val="102000"/>
              </a:lnSpc>
              <a:spcAft>
                <a:spcPts val="700"/>
              </a:spcAft>
              <a:buChar char="•"/>
            </a:pPr>
            <a:r>
              <a:rPr sz="1200" b="0" i="0">
                <a:solidFill>
                  <a:srgbClr val="1F2937"/>
                </a:solidFill>
                <a:latin typeface="Calibri"/>
              </a:rPr>
              <a:t>Choose the priority route and holiday templates</a:t>
            </a:r>
          </a:p>
          <a:p>
            <a:pPr algn="l" marL="201168" indent="-182880">
              <a:lnSpc>
                <a:spcPct val="102000"/>
              </a:lnSpc>
              <a:spcAft>
                <a:spcPts val="700"/>
              </a:spcAft>
              <a:buChar char="•"/>
            </a:pPr>
            <a:r>
              <a:rPr sz="1200" b="0" i="0">
                <a:solidFill>
                  <a:srgbClr val="1F2937"/>
                </a:solidFill>
                <a:latin typeface="Calibri"/>
              </a:rPr>
              <a:t>Name engineering, content and commercial owners</a:t>
            </a:r>
          </a:p>
          <a:p>
            <a:pPr algn="l" marL="201168" indent="-182880">
              <a:lnSpc>
                <a:spcPct val="102000"/>
              </a:lnSpc>
              <a:spcAft>
                <a:spcPts val="700"/>
              </a:spcAft>
              <a:buChar char="•"/>
            </a:pPr>
            <a:r>
              <a:rPr sz="1200" b="0" i="0">
                <a:solidFill>
                  <a:srgbClr val="1F2937"/>
                </a:solidFill>
                <a:latin typeface="Calibri"/>
              </a:rPr>
              <a:t>Record today's position: reports, referrals, bot logs</a:t>
            </a:r>
          </a:p>
        </p:txBody>
      </p:sp>
      <p:sp>
        <p:nvSpPr>
          <p:cNvPr id="16" name="Pentagon 15"/>
          <p:cNvSpPr/>
          <p:nvPr/>
        </p:nvSpPr>
        <p:spPr>
          <a:xfrm>
            <a:off x="4297679" y="1572768"/>
            <a:ext cx="3611880" cy="777240"/>
          </a:xfrm>
          <a:prstGeom prst="homePlate">
            <a:avLst/>
          </a:prstGeom>
          <a:solidFill>
            <a:srgbClr val="B26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80559" y="1600200"/>
            <a:ext cx="3017520" cy="384048"/>
          </a:xfrm>
          <a:prstGeom prst="rect">
            <a:avLst/>
          </a:prstGeom>
          <a:noFill/>
        </p:spPr>
        <p:txBody>
          <a:bodyPr wrap="square" anchor="t" lIns="45720" rIns="45720">
            <a:spAutoFit/>
          </a:bodyPr>
          <a:lstStyle/>
          <a:p>
            <a:pPr algn="l">
              <a:lnSpc>
                <a:spcPct val="108000"/>
              </a:lnSpc>
              <a:spcAft>
                <a:spcPts val="400"/>
              </a:spcAft>
            </a:pPr>
            <a:r>
              <a:rPr sz="1700" b="1" i="0">
                <a:solidFill>
                  <a:srgbClr val="FFFFFF"/>
                </a:solidFill>
                <a:latin typeface="Calibri"/>
              </a:rPr>
              <a:t>2  Implement</a:t>
            </a:r>
          </a:p>
        </p:txBody>
      </p:sp>
      <p:sp>
        <p:nvSpPr>
          <p:cNvPr id="18" name="TextBox 17"/>
          <p:cNvSpPr txBox="1"/>
          <p:nvPr/>
        </p:nvSpPr>
        <p:spPr>
          <a:xfrm>
            <a:off x="4480559" y="1984248"/>
            <a:ext cx="3017520" cy="320040"/>
          </a:xfrm>
          <a:prstGeom prst="rect">
            <a:avLst/>
          </a:prstGeom>
          <a:noFill/>
        </p:spPr>
        <p:txBody>
          <a:bodyPr wrap="square" anchor="t" lIns="45720" rIns="45720">
            <a:spAutoFit/>
          </a:bodyPr>
          <a:lstStyle/>
          <a:p>
            <a:pPr algn="l">
              <a:lnSpc>
                <a:spcPct val="108000"/>
              </a:lnSpc>
              <a:spcAft>
                <a:spcPts val="400"/>
              </a:spcAft>
            </a:pPr>
            <a:r>
              <a:rPr sz="1050" b="0" i="0">
                <a:solidFill>
                  <a:srgbClr val="F0F4FA"/>
                </a:solidFill>
                <a:latin typeface="Calibri"/>
              </a:rPr>
              <a:t>Output: templates with consistent facts</a:t>
            </a:r>
          </a:p>
        </p:txBody>
      </p:sp>
      <p:sp>
        <p:nvSpPr>
          <p:cNvPr id="19" name="Rounded Rectangle 18"/>
          <p:cNvSpPr/>
          <p:nvPr/>
        </p:nvSpPr>
        <p:spPr>
          <a:xfrm>
            <a:off x="4297679" y="2395728"/>
            <a:ext cx="3611880" cy="1691640"/>
          </a:xfrm>
          <a:prstGeom prst="roundRect">
            <a:avLst>
              <a:gd name="adj" fmla="val 5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462271" y="2487168"/>
            <a:ext cx="3291840" cy="1600200"/>
          </a:xfrm>
          <a:prstGeom prst="rect">
            <a:avLst/>
          </a:prstGeom>
          <a:noFill/>
        </p:spPr>
        <p:txBody>
          <a:bodyPr wrap="square" anchor="t" lIns="45720" rIns="45720">
            <a:spAutoFit/>
          </a:bodyPr>
          <a:lstStyle/>
          <a:p>
            <a:pPr algn="l" marL="201168" indent="-182880">
              <a:lnSpc>
                <a:spcPct val="102000"/>
              </a:lnSpc>
              <a:spcAft>
                <a:spcPts val="700"/>
              </a:spcAft>
              <a:buChar char="•"/>
            </a:pPr>
            <a:r>
              <a:rPr sz="1200" b="0" i="0">
                <a:solidFill>
                  <a:srgbClr val="1F2937"/>
                </a:solidFill>
                <a:latin typeface="Calibri"/>
              </a:rPr>
              <a:t>Put offers, dates, fees and FAQ questions in page text</a:t>
            </a:r>
          </a:p>
          <a:p>
            <a:pPr algn="l" marL="201168" indent="-182880">
              <a:lnSpc>
                <a:spcPct val="102000"/>
              </a:lnSpc>
              <a:spcAft>
                <a:spcPts val="700"/>
              </a:spcAft>
              <a:buChar char="•"/>
            </a:pPr>
            <a:r>
              <a:rPr sz="1200" b="0" i="0">
                <a:solidFill>
                  <a:srgbClr val="1F2937"/>
                </a:solidFill>
                <a:latin typeface="Calibri"/>
              </a:rPr>
              <a:t>Generate structured data from the same approved record</a:t>
            </a:r>
          </a:p>
          <a:p>
            <a:pPr algn="l" marL="201168" indent="-182880">
              <a:lnSpc>
                <a:spcPct val="102000"/>
              </a:lnSpc>
              <a:spcAft>
                <a:spcPts val="700"/>
              </a:spcAft>
              <a:buChar char="•"/>
            </a:pPr>
            <a:r>
              <a:rPr sz="1200" b="0" i="0">
                <a:solidFill>
                  <a:srgbClr val="1F2937"/>
                </a:solidFill>
                <a:latin typeface="Calibri"/>
              </a:rPr>
              <a:t>Keep booking, store and expert paths; normal legal checks</a:t>
            </a:r>
          </a:p>
        </p:txBody>
      </p:sp>
      <p:sp>
        <p:nvSpPr>
          <p:cNvPr id="21" name="Pentagon 20"/>
          <p:cNvSpPr/>
          <p:nvPr/>
        </p:nvSpPr>
        <p:spPr>
          <a:xfrm>
            <a:off x="8046719" y="1572768"/>
            <a:ext cx="3611880" cy="777240"/>
          </a:xfrm>
          <a:prstGeom prst="homePlat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599" y="1600200"/>
            <a:ext cx="3017520" cy="384048"/>
          </a:xfrm>
          <a:prstGeom prst="rect">
            <a:avLst/>
          </a:prstGeom>
          <a:noFill/>
        </p:spPr>
        <p:txBody>
          <a:bodyPr wrap="square" anchor="t" lIns="45720" rIns="45720">
            <a:spAutoFit/>
          </a:bodyPr>
          <a:lstStyle/>
          <a:p>
            <a:pPr algn="l">
              <a:lnSpc>
                <a:spcPct val="108000"/>
              </a:lnSpc>
              <a:spcAft>
                <a:spcPts val="400"/>
              </a:spcAft>
            </a:pPr>
            <a:r>
              <a:rPr sz="1700" b="1" i="0">
                <a:solidFill>
                  <a:srgbClr val="FFFFFF"/>
                </a:solidFill>
                <a:latin typeface="Calibri"/>
              </a:rPr>
              <a:t>3  Monitor and maintain</a:t>
            </a:r>
          </a:p>
        </p:txBody>
      </p:sp>
      <p:sp>
        <p:nvSpPr>
          <p:cNvPr id="23" name="TextBox 22"/>
          <p:cNvSpPr txBox="1"/>
          <p:nvPr/>
        </p:nvSpPr>
        <p:spPr>
          <a:xfrm>
            <a:off x="8229599" y="1984248"/>
            <a:ext cx="3017520" cy="320040"/>
          </a:xfrm>
          <a:prstGeom prst="rect">
            <a:avLst/>
          </a:prstGeom>
          <a:noFill/>
        </p:spPr>
        <p:txBody>
          <a:bodyPr wrap="square" anchor="t" lIns="45720" rIns="45720">
            <a:spAutoFit/>
          </a:bodyPr>
          <a:lstStyle/>
          <a:p>
            <a:pPr algn="l">
              <a:lnSpc>
                <a:spcPct val="108000"/>
              </a:lnSpc>
              <a:spcAft>
                <a:spcPts val="400"/>
              </a:spcAft>
            </a:pPr>
            <a:r>
              <a:rPr sz="1050" b="0" i="0">
                <a:solidFill>
                  <a:srgbClr val="F0F4FA"/>
                </a:solidFill>
                <a:latin typeface="Calibri"/>
              </a:rPr>
              <a:t>Output: regular reporting</a:t>
            </a:r>
          </a:p>
        </p:txBody>
      </p:sp>
      <p:sp>
        <p:nvSpPr>
          <p:cNvPr id="24" name="Rounded Rectangle 23"/>
          <p:cNvSpPr/>
          <p:nvPr/>
        </p:nvSpPr>
        <p:spPr>
          <a:xfrm>
            <a:off x="8046719" y="2395728"/>
            <a:ext cx="3611880" cy="1691640"/>
          </a:xfrm>
          <a:prstGeom prst="roundRect">
            <a:avLst>
              <a:gd name="adj" fmla="val 5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11311" y="2487168"/>
            <a:ext cx="3291840" cy="1600200"/>
          </a:xfrm>
          <a:prstGeom prst="rect">
            <a:avLst/>
          </a:prstGeom>
          <a:noFill/>
        </p:spPr>
        <p:txBody>
          <a:bodyPr wrap="square" anchor="t" lIns="45720" rIns="45720">
            <a:spAutoFit/>
          </a:bodyPr>
          <a:lstStyle/>
          <a:p>
            <a:pPr algn="l" marL="201168" indent="-182880">
              <a:lnSpc>
                <a:spcPct val="102000"/>
              </a:lnSpc>
              <a:spcAft>
                <a:spcPts val="700"/>
              </a:spcAft>
              <a:buChar char="•"/>
            </a:pPr>
            <a:r>
              <a:rPr sz="1200" b="0" i="0">
                <a:solidFill>
                  <a:srgbClr val="1F2937"/>
                </a:solidFill>
                <a:latin typeface="Calibri"/>
              </a:rPr>
              <a:t>Track citations and mentions with visits, enquiries, quotes</a:t>
            </a:r>
          </a:p>
          <a:p>
            <a:pPr algn="l" marL="201168" indent="-182880">
              <a:lnSpc>
                <a:spcPct val="102000"/>
              </a:lnSpc>
              <a:spcAft>
                <a:spcPts val="700"/>
              </a:spcAft>
              <a:buChar char="•"/>
            </a:pPr>
            <a:r>
              <a:rPr sz="1200" b="0" i="0">
                <a:solidFill>
                  <a:srgbClr val="1F2937"/>
                </a:solidFill>
                <a:latin typeface="Calibri"/>
              </a:rPr>
              <a:t>Check cited sentences are supported and offers current</a:t>
            </a:r>
          </a:p>
          <a:p>
            <a:pPr algn="l" marL="201168" indent="-182880">
              <a:lnSpc>
                <a:spcPct val="102000"/>
              </a:lnSpc>
              <a:spcAft>
                <a:spcPts val="700"/>
              </a:spcAft>
              <a:buChar char="•"/>
            </a:pPr>
            <a:r>
              <a:rPr sz="1200" b="0" i="0">
                <a:solidFill>
                  <a:srgbClr val="1F2937"/>
                </a:solidFill>
                <a:latin typeface="Calibri"/>
              </a:rPr>
              <a:t>Review over time: seasonality also moves results</a:t>
            </a:r>
          </a:p>
        </p:txBody>
      </p:sp>
      <p:sp>
        <p:nvSpPr>
          <p:cNvPr id="26" name="TextBox 25"/>
          <p:cNvSpPr txBox="1"/>
          <p:nvPr/>
        </p:nvSpPr>
        <p:spPr>
          <a:xfrm>
            <a:off x="548640" y="4224528"/>
            <a:ext cx="7315200" cy="320040"/>
          </a:xfrm>
          <a:prstGeom prst="rect">
            <a:avLst/>
          </a:prstGeom>
          <a:noFill/>
        </p:spPr>
        <p:txBody>
          <a:bodyPr wrap="square" anchor="t" lIns="45720" rIns="45720">
            <a:spAutoFit/>
          </a:bodyPr>
          <a:lstStyle/>
          <a:p>
            <a:pPr algn="l">
              <a:lnSpc>
                <a:spcPct val="108000"/>
              </a:lnSpc>
              <a:spcAft>
                <a:spcPts val="400"/>
              </a:spcAft>
            </a:pPr>
            <a:r>
              <a:rPr sz="1500" b="1" i="0">
                <a:solidFill>
                  <a:srgbClr val="0B2240"/>
                </a:solidFill>
                <a:latin typeface="Calibri"/>
              </a:rPr>
              <a:t>Three decisions we ask for today</a:t>
            </a:r>
          </a:p>
        </p:txBody>
      </p:sp>
      <p:sp>
        <p:nvSpPr>
          <p:cNvPr id="27" name="Rounded Rectangle 26"/>
          <p:cNvSpPr/>
          <p:nvPr/>
        </p:nvSpPr>
        <p:spPr>
          <a:xfrm>
            <a:off x="548640" y="4590288"/>
            <a:ext cx="3611880" cy="1627632"/>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85800" y="4700016"/>
            <a:ext cx="420624" cy="42062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a:t>
            </a:r>
          </a:p>
        </p:txBody>
      </p:sp>
      <p:sp>
        <p:nvSpPr>
          <p:cNvPr id="29" name="TextBox 28"/>
          <p:cNvSpPr txBox="1"/>
          <p:nvPr/>
        </p:nvSpPr>
        <p:spPr>
          <a:xfrm>
            <a:off x="1261872" y="4645152"/>
            <a:ext cx="2834640" cy="548640"/>
          </a:xfrm>
          <a:prstGeom prst="rect">
            <a:avLst/>
          </a:prstGeom>
          <a:noFill/>
        </p:spPr>
        <p:txBody>
          <a:bodyPr wrap="square" anchor="ctr" lIns="45720" rIns="45720">
            <a:spAutoFit/>
          </a:bodyPr>
          <a:lstStyle/>
          <a:p>
            <a:pPr algn="l">
              <a:lnSpc>
                <a:spcPct val="100000"/>
              </a:lnSpc>
              <a:spcAft>
                <a:spcPts val="0"/>
              </a:spcAft>
            </a:pPr>
            <a:r>
              <a:rPr sz="1400" b="1" i="0">
                <a:solidFill>
                  <a:srgbClr val="0B2240"/>
                </a:solidFill>
                <a:latin typeface="Calibri"/>
              </a:rPr>
              <a:t>Start measuring</a:t>
            </a:r>
          </a:p>
          <a:p>
            <a:pPr algn="l">
              <a:lnSpc>
                <a:spcPct val="100000"/>
              </a:lnSpc>
              <a:spcAft>
                <a:spcPts val="400"/>
              </a:spcAft>
            </a:pPr>
            <a:r>
              <a:rPr sz="1200" b="0" i="0">
                <a:solidFill>
                  <a:srgbClr val="0B2240"/>
                </a:solidFill>
                <a:latin typeface="Calibri"/>
              </a:rPr>
              <a:t>this month</a:t>
            </a:r>
          </a:p>
        </p:txBody>
      </p:sp>
      <p:sp>
        <p:nvSpPr>
          <p:cNvPr id="30" name="TextBox 29"/>
          <p:cNvSpPr txBox="1"/>
          <p:nvPr/>
        </p:nvSpPr>
        <p:spPr>
          <a:xfrm>
            <a:off x="685800" y="5303520"/>
            <a:ext cx="3337560" cy="868680"/>
          </a:xfrm>
          <a:prstGeom prst="rect">
            <a:avLst/>
          </a:prstGeom>
          <a:noFill/>
        </p:spPr>
        <p:txBody>
          <a:bodyPr wrap="square" anchor="t" lIns="45720" rIns="45720">
            <a:spAutoFit/>
          </a:bodyPr>
          <a:lstStyle/>
          <a:p>
            <a:pPr algn="l">
              <a:lnSpc>
                <a:spcPct val="102000"/>
              </a:lnSpc>
              <a:spcAft>
                <a:spcPts val="400"/>
              </a:spcAft>
            </a:pPr>
            <a:r>
              <a:rPr sz="1200" b="0" i="0">
                <a:solidFill>
                  <a:srgbClr val="1F2937"/>
                </a:solidFill>
                <a:latin typeface="Calibri"/>
              </a:rPr>
              <a:t>Analytics owns platform reports, referrals and dated answer examples.</a:t>
            </a:r>
          </a:p>
        </p:txBody>
      </p:sp>
      <p:sp>
        <p:nvSpPr>
          <p:cNvPr id="31" name="Rounded Rectangle 30"/>
          <p:cNvSpPr/>
          <p:nvPr/>
        </p:nvSpPr>
        <p:spPr>
          <a:xfrm>
            <a:off x="4297679" y="4590288"/>
            <a:ext cx="3611880" cy="1627632"/>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434840" y="4700016"/>
            <a:ext cx="420624" cy="42062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33" name="TextBox 32"/>
          <p:cNvSpPr txBox="1"/>
          <p:nvPr/>
        </p:nvSpPr>
        <p:spPr>
          <a:xfrm>
            <a:off x="5010912" y="4645152"/>
            <a:ext cx="2834640" cy="548640"/>
          </a:xfrm>
          <a:prstGeom prst="rect">
            <a:avLst/>
          </a:prstGeom>
          <a:noFill/>
        </p:spPr>
        <p:txBody>
          <a:bodyPr wrap="square" anchor="ctr" lIns="45720" rIns="45720">
            <a:spAutoFit/>
          </a:bodyPr>
          <a:lstStyle/>
          <a:p>
            <a:pPr algn="l">
              <a:lnSpc>
                <a:spcPct val="100000"/>
              </a:lnSpc>
              <a:spcAft>
                <a:spcPts val="0"/>
              </a:spcAft>
            </a:pPr>
            <a:r>
              <a:rPr sz="1400" b="1" i="0">
                <a:solidFill>
                  <a:srgbClr val="0B2240"/>
                </a:solidFill>
                <a:latin typeface="Calibri"/>
              </a:rPr>
              <a:t>Name owners</a:t>
            </a:r>
          </a:p>
          <a:p>
            <a:pPr algn="l">
              <a:lnSpc>
                <a:spcPct val="100000"/>
              </a:lnSpc>
              <a:spcAft>
                <a:spcPts val="400"/>
              </a:spcAft>
            </a:pPr>
            <a:r>
              <a:rPr sz="1200" b="0" i="0">
                <a:solidFill>
                  <a:srgbClr val="0B2240"/>
                </a:solidFill>
                <a:latin typeface="Calibri"/>
              </a:rPr>
              <a:t>for a bounded build</a:t>
            </a:r>
          </a:p>
        </p:txBody>
      </p:sp>
      <p:sp>
        <p:nvSpPr>
          <p:cNvPr id="34" name="TextBox 33"/>
          <p:cNvSpPr txBox="1"/>
          <p:nvPr/>
        </p:nvSpPr>
        <p:spPr>
          <a:xfrm>
            <a:off x="4434840" y="5303520"/>
            <a:ext cx="3337560" cy="868680"/>
          </a:xfrm>
          <a:prstGeom prst="rect">
            <a:avLst/>
          </a:prstGeom>
          <a:noFill/>
        </p:spPr>
        <p:txBody>
          <a:bodyPr wrap="square" anchor="t" lIns="45720" rIns="45720">
            <a:spAutoFit/>
          </a:bodyPr>
          <a:lstStyle/>
          <a:p>
            <a:pPr algn="l">
              <a:lnSpc>
                <a:spcPct val="102000"/>
              </a:lnSpc>
              <a:spcAft>
                <a:spcPts val="400"/>
              </a:spcAft>
            </a:pPr>
            <a:r>
              <a:rPr sz="1200" b="0" i="0">
                <a:solidFill>
                  <a:srgbClr val="1F2937"/>
                </a:solidFill>
                <a:latin typeface="Calibri"/>
              </a:rPr>
              <a:t>Readable deals, fact block and FAQ text on some route pages; two holiday templates.</a:t>
            </a:r>
          </a:p>
        </p:txBody>
      </p:sp>
      <p:sp>
        <p:nvSpPr>
          <p:cNvPr id="35" name="Rounded Rectangle 34"/>
          <p:cNvSpPr/>
          <p:nvPr/>
        </p:nvSpPr>
        <p:spPr>
          <a:xfrm>
            <a:off x="8046719" y="4590288"/>
            <a:ext cx="3611880" cy="1627632"/>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8183879" y="4700016"/>
            <a:ext cx="420624" cy="42062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37" name="TextBox 36"/>
          <p:cNvSpPr txBox="1"/>
          <p:nvPr/>
        </p:nvSpPr>
        <p:spPr>
          <a:xfrm>
            <a:off x="8759951" y="4645152"/>
            <a:ext cx="2834640" cy="548640"/>
          </a:xfrm>
          <a:prstGeom prst="rect">
            <a:avLst/>
          </a:prstGeom>
          <a:noFill/>
        </p:spPr>
        <p:txBody>
          <a:bodyPr wrap="square" anchor="ctr" lIns="45720" rIns="45720">
            <a:spAutoFit/>
          </a:bodyPr>
          <a:lstStyle/>
          <a:p>
            <a:pPr algn="l">
              <a:lnSpc>
                <a:spcPct val="100000"/>
              </a:lnSpc>
              <a:spcAft>
                <a:spcPts val="0"/>
              </a:spcAft>
            </a:pPr>
            <a:r>
              <a:rPr sz="1400" b="1" i="0">
                <a:solidFill>
                  <a:srgbClr val="0B2240"/>
                </a:solidFill>
                <a:latin typeface="Calibri"/>
              </a:rPr>
              <a:t>Review outcomes</a:t>
            </a:r>
          </a:p>
          <a:p>
            <a:pPr algn="l">
              <a:lnSpc>
                <a:spcPct val="100000"/>
              </a:lnSpc>
              <a:spcAft>
                <a:spcPts val="400"/>
              </a:spcAft>
            </a:pPr>
            <a:r>
              <a:rPr sz="1200" b="0" i="0">
                <a:solidFill>
                  <a:srgbClr val="0B2240"/>
                </a:solidFill>
                <a:latin typeface="Calibri"/>
              </a:rPr>
              <a:t>then decide investment</a:t>
            </a:r>
          </a:p>
        </p:txBody>
      </p:sp>
      <p:sp>
        <p:nvSpPr>
          <p:cNvPr id="38" name="TextBox 37"/>
          <p:cNvSpPr txBox="1"/>
          <p:nvPr/>
        </p:nvSpPr>
        <p:spPr>
          <a:xfrm>
            <a:off x="8183879" y="5303520"/>
            <a:ext cx="3337560" cy="868680"/>
          </a:xfrm>
          <a:prstGeom prst="rect">
            <a:avLst/>
          </a:prstGeom>
          <a:noFill/>
        </p:spPr>
        <p:txBody>
          <a:bodyPr wrap="square" anchor="t" lIns="45720" rIns="45720">
            <a:spAutoFit/>
          </a:bodyPr>
          <a:lstStyle/>
          <a:p>
            <a:pPr algn="l">
              <a:lnSpc>
                <a:spcPct val="102000"/>
              </a:lnSpc>
              <a:spcAft>
                <a:spcPts val="400"/>
              </a:spcAft>
            </a:pPr>
            <a:r>
              <a:rPr sz="1200" b="0" i="0">
                <a:solidFill>
                  <a:srgbClr val="1F2937"/>
                </a:solidFill>
                <a:latin typeface="Calibri"/>
              </a:rPr>
              <a:t>Judge vendors and app or API integrations on their own business cases.</a:t>
            </a:r>
          </a:p>
        </p:txBody>
      </p:sp>
      <p:sp>
        <p:nvSpPr>
          <p:cNvPr id="39" name="TextBox 38"/>
          <p:cNvSpPr txBox="1"/>
          <p:nvPr/>
        </p:nvSpPr>
        <p:spPr>
          <a:xfrm>
            <a:off x="548640" y="6327648"/>
            <a:ext cx="10607040" cy="384048"/>
          </a:xfrm>
          <a:prstGeom prst="rect">
            <a:avLst/>
          </a:prstGeom>
          <a:noFill/>
        </p:spPr>
        <p:txBody>
          <a:bodyPr wrap="square" anchor="t" lIns="45720" rIns="45720">
            <a:spAutoFit/>
          </a:bodyPr>
          <a:lstStyle/>
          <a:p>
            <a:pPr algn="l">
              <a:lnSpc>
                <a:spcPct val="100000"/>
              </a:lnSpc>
              <a:spcAft>
                <a:spcPts val="400"/>
              </a:spcAft>
            </a:pPr>
            <a:r>
              <a:rPr sz="900" b="0" i="0">
                <a:solidFill>
                  <a:srgbClr val="5B6573"/>
                </a:solidFill>
                <a:latin typeface="Calibri"/>
              </a:rPr>
              <a:t>FC does not need to reproduce our experiment to do this. Monitoring shows business progress, not causation. Vendor scores use different denominators and are not comparable with 52.4%.</a:t>
            </a:r>
          </a:p>
        </p:txBody>
      </p:sp>
      <p:sp>
        <p:nvSpPr>
          <p:cNvPr id="40" name="TextBox 39"/>
          <p:cNvSpPr txBox="1"/>
          <p:nvPr/>
        </p:nvSpPr>
        <p:spPr>
          <a:xfrm>
            <a:off x="11247120" y="6382512"/>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5B6573"/>
                </a:solidFill>
                <a:latin typeface="Calibri"/>
              </a:rPr>
              <a:t>23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2743200" cy="274320"/>
          </a:xfrm>
          <a:prstGeom prst="rect">
            <a:avLst/>
          </a:prstGeom>
          <a:noFill/>
        </p:spPr>
        <p:txBody>
          <a:bodyPr wrap="square" anchor="t" lIns="45720" rIns="45720">
            <a:spAutoFit/>
          </a:bodyPr>
          <a:lstStyle/>
          <a:p>
            <a:pPr algn="l">
              <a:lnSpc>
                <a:spcPct val="108000"/>
              </a:lnSpc>
              <a:spcAft>
                <a:spcPts val="400"/>
              </a:spcAft>
            </a:pPr>
            <a:r>
              <a:rPr sz="1150" b="1" i="0">
                <a:solidFill>
                  <a:srgbClr val="C8102E"/>
                </a:solidFill>
                <a:latin typeface="Calibri"/>
              </a:rPr>
              <a:t>WHAT IF</a:t>
            </a:r>
          </a:p>
        </p:txBody>
      </p:sp>
      <p:sp>
        <p:nvSpPr>
          <p:cNvPr id="3" name="TextBox 2"/>
          <p:cNvSpPr txBox="1"/>
          <p:nvPr/>
        </p:nvSpPr>
        <p:spPr>
          <a:xfrm>
            <a:off x="548640" y="530352"/>
            <a:ext cx="9692640" cy="1005840"/>
          </a:xfrm>
          <a:prstGeom prst="rect">
            <a:avLst/>
          </a:prstGeom>
          <a:noFill/>
        </p:spPr>
        <p:txBody>
          <a:bodyPr wrap="square" anchor="t" lIns="45720" rIns="45720">
            <a:spAutoFit/>
          </a:bodyPr>
          <a:lstStyle/>
          <a:p>
            <a:pPr algn="l">
              <a:lnSpc>
                <a:spcPct val="100000"/>
              </a:lnSpc>
              <a:spcAft>
                <a:spcPts val="400"/>
              </a:spcAft>
            </a:pPr>
            <a:r>
              <a:rPr sz="2800" b="1" i="0">
                <a:solidFill>
                  <a:srgbClr val="0B2240"/>
                </a:solidFill>
                <a:latin typeface="Calibri"/>
              </a:rPr>
              <a:t>What if we invest, and what if we wait</a:t>
            </a:r>
          </a:p>
        </p:txBody>
      </p:sp>
      <p:sp>
        <p:nvSpPr>
          <p:cNvPr id="4" name="Rounded Rectangle 3"/>
          <p:cNvSpPr/>
          <p:nvPr/>
        </p:nvSpPr>
        <p:spPr>
          <a:xfrm>
            <a:off x="10049256" y="329184"/>
            <a:ext cx="1609344"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External signals</a:t>
            </a:r>
          </a:p>
        </p:txBody>
      </p:sp>
      <p:sp>
        <p:nvSpPr>
          <p:cNvPr id="5" name="Rounded Rectangle 4"/>
          <p:cNvSpPr/>
          <p:nvPr/>
        </p:nvSpPr>
        <p:spPr>
          <a:xfrm>
            <a:off x="8485632"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50" b="1" i="0">
                <a:solidFill>
                  <a:srgbClr val="FFFFFF"/>
                </a:solidFill>
                <a:latin typeface="Calibri"/>
              </a:rPr>
              <a:t>Our experiment</a:t>
            </a:r>
          </a:p>
        </p:txBody>
      </p:sp>
      <p:sp>
        <p:nvSpPr>
          <p:cNvPr id="6" name="Rounded Rectangle 5"/>
          <p:cNvSpPr/>
          <p:nvPr/>
        </p:nvSpPr>
        <p:spPr>
          <a:xfrm>
            <a:off x="548640" y="1572768"/>
            <a:ext cx="5440680" cy="3154680"/>
          </a:xfrm>
          <a:prstGeom prst="roundRect">
            <a:avLst>
              <a:gd name="adj" fmla="val 4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48640" y="1572768"/>
            <a:ext cx="5440680" cy="457200"/>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600200"/>
            <a:ext cx="5029200" cy="411480"/>
          </a:xfrm>
          <a:prstGeom prst="rect">
            <a:avLst/>
          </a:prstGeom>
          <a:noFill/>
        </p:spPr>
        <p:txBody>
          <a:bodyPr wrap="square" anchor="ctr" lIns="45720" rIns="45720">
            <a:spAutoFit/>
          </a:bodyPr>
          <a:lstStyle/>
          <a:p>
            <a:pPr algn="l">
              <a:lnSpc>
                <a:spcPct val="108000"/>
              </a:lnSpc>
              <a:spcAft>
                <a:spcPts val="400"/>
              </a:spcAft>
            </a:pPr>
            <a:r>
              <a:rPr sz="1600" b="1" i="0">
                <a:solidFill>
                  <a:srgbClr val="FFFFFF"/>
                </a:solidFill>
                <a:latin typeface="Calibri"/>
              </a:rPr>
              <a:t>If FC invests</a:t>
            </a:r>
          </a:p>
        </p:txBody>
      </p:sp>
      <p:sp>
        <p:nvSpPr>
          <p:cNvPr id="9" name="TextBox 8"/>
          <p:cNvSpPr txBox="1"/>
          <p:nvPr/>
        </p:nvSpPr>
        <p:spPr>
          <a:xfrm>
            <a:off x="731520" y="2103120"/>
            <a:ext cx="5029200" cy="228600"/>
          </a:xfrm>
          <a:prstGeom prst="rect">
            <a:avLst/>
          </a:prstGeom>
          <a:noFill/>
        </p:spPr>
        <p:txBody>
          <a:bodyPr wrap="square" anchor="t" lIns="45720" rIns="45720">
            <a:spAutoFit/>
          </a:bodyPr>
          <a:lstStyle/>
          <a:p>
            <a:pPr algn="l">
              <a:lnSpc>
                <a:spcPct val="108000"/>
              </a:lnSpc>
              <a:spcAft>
                <a:spcPts val="400"/>
              </a:spcAft>
            </a:pPr>
            <a:r>
              <a:rPr sz="1000" b="1" i="0">
                <a:solidFill>
                  <a:srgbClr val="5B6573"/>
                </a:solidFill>
                <a:latin typeface="Calibri"/>
              </a:rPr>
              <a:t>THE EVIDENCE</a:t>
            </a:r>
          </a:p>
        </p:txBody>
      </p:sp>
      <p:sp>
        <p:nvSpPr>
          <p:cNvPr id="10" name="Rounded Rectangle 9"/>
          <p:cNvSpPr/>
          <p:nvPr/>
        </p:nvSpPr>
        <p:spPr>
          <a:xfrm>
            <a:off x="6217920" y="1572768"/>
            <a:ext cx="5440680" cy="3154680"/>
          </a:xfrm>
          <a:prstGeom prst="roundRect">
            <a:avLst>
              <a:gd name="adj" fmla="val 4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217920" y="1572768"/>
            <a:ext cx="5440680" cy="457200"/>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00800" y="1600200"/>
            <a:ext cx="5029200" cy="411480"/>
          </a:xfrm>
          <a:prstGeom prst="rect">
            <a:avLst/>
          </a:prstGeom>
          <a:noFill/>
        </p:spPr>
        <p:txBody>
          <a:bodyPr wrap="square" anchor="ctr" lIns="45720" rIns="45720">
            <a:spAutoFit/>
          </a:bodyPr>
          <a:lstStyle/>
          <a:p>
            <a:pPr algn="l">
              <a:lnSpc>
                <a:spcPct val="108000"/>
              </a:lnSpc>
              <a:spcAft>
                <a:spcPts val="400"/>
              </a:spcAft>
            </a:pPr>
            <a:r>
              <a:rPr sz="1600" b="1" i="0">
                <a:solidFill>
                  <a:srgbClr val="FFFFFF"/>
                </a:solidFill>
                <a:latin typeface="Calibri"/>
              </a:rPr>
              <a:t>If FC waits</a:t>
            </a:r>
          </a:p>
        </p:txBody>
      </p:sp>
      <p:sp>
        <p:nvSpPr>
          <p:cNvPr id="13" name="TextBox 12"/>
          <p:cNvSpPr txBox="1"/>
          <p:nvPr/>
        </p:nvSpPr>
        <p:spPr>
          <a:xfrm>
            <a:off x="6400800" y="2103120"/>
            <a:ext cx="5029200" cy="228600"/>
          </a:xfrm>
          <a:prstGeom prst="rect">
            <a:avLst/>
          </a:prstGeom>
          <a:noFill/>
        </p:spPr>
        <p:txBody>
          <a:bodyPr wrap="square" anchor="t" lIns="45720" rIns="45720">
            <a:spAutoFit/>
          </a:bodyPr>
          <a:lstStyle/>
          <a:p>
            <a:pPr algn="l">
              <a:lnSpc>
                <a:spcPct val="108000"/>
              </a:lnSpc>
              <a:spcAft>
                <a:spcPts val="400"/>
              </a:spcAft>
            </a:pPr>
            <a:r>
              <a:rPr sz="1000" b="1" i="0">
                <a:solidFill>
                  <a:srgbClr val="5B6573"/>
                </a:solidFill>
                <a:latin typeface="Calibri"/>
              </a:rPr>
              <a:t>THE EVIDENCE</a:t>
            </a:r>
          </a:p>
        </p:txBody>
      </p:sp>
      <p:sp>
        <p:nvSpPr>
          <p:cNvPr id="14" name="Rounded Rectangle 13"/>
          <p:cNvSpPr/>
          <p:nvPr/>
        </p:nvSpPr>
        <p:spPr>
          <a:xfrm>
            <a:off x="731520" y="2359152"/>
            <a:ext cx="246888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2377440"/>
            <a:ext cx="2286000" cy="457200"/>
          </a:xfrm>
          <a:prstGeom prst="rect">
            <a:avLst/>
          </a:prstGeom>
          <a:noFill/>
        </p:spPr>
        <p:txBody>
          <a:bodyPr wrap="square" anchor="t" lIns="45720" rIns="45720">
            <a:spAutoFit/>
          </a:bodyPr>
          <a:lstStyle/>
          <a:p>
            <a:pPr algn="l">
              <a:lnSpc>
                <a:spcPct val="100000"/>
              </a:lnSpc>
              <a:spcAft>
                <a:spcPts val="400"/>
              </a:spcAft>
            </a:pPr>
            <a:r>
              <a:rPr sz="2400" b="1" i="0">
                <a:solidFill>
                  <a:srgbClr val="0B2240"/>
                </a:solidFill>
                <a:latin typeface="Calibri"/>
              </a:rPr>
              <a:t>116 → 152</a:t>
            </a:r>
          </a:p>
        </p:txBody>
      </p:sp>
      <p:sp>
        <p:nvSpPr>
          <p:cNvPr id="16" name="TextBox 15"/>
          <p:cNvSpPr txBox="1"/>
          <p:nvPr/>
        </p:nvSpPr>
        <p:spPr>
          <a:xfrm>
            <a:off x="822960" y="2834640"/>
            <a:ext cx="2286000" cy="365760"/>
          </a:xfrm>
          <a:prstGeom prst="rect">
            <a:avLst/>
          </a:prstGeom>
          <a:noFill/>
        </p:spPr>
        <p:txBody>
          <a:bodyPr wrap="square" anchor="t" lIns="45720" rIns="45720">
            <a:spAutoFit/>
          </a:bodyPr>
          <a:lstStyle/>
          <a:p>
            <a:pPr algn="l">
              <a:lnSpc>
                <a:spcPct val="100000"/>
              </a:lnSpc>
              <a:spcAft>
                <a:spcPts val="400"/>
              </a:spcAft>
            </a:pPr>
            <a:r>
              <a:rPr sz="950" b="0" i="0">
                <a:solidFill>
                  <a:srgbClr val="5B6573"/>
                </a:solidFill>
                <a:latin typeface="Calibri"/>
              </a:rPr>
              <a:t>of 290 answers cited FC in our experiment</a:t>
            </a:r>
          </a:p>
        </p:txBody>
      </p:sp>
      <p:sp>
        <p:nvSpPr>
          <p:cNvPr id="17" name="TextBox 16"/>
          <p:cNvSpPr txBox="1"/>
          <p:nvPr/>
        </p:nvSpPr>
        <p:spPr>
          <a:xfrm>
            <a:off x="3337560" y="2359152"/>
            <a:ext cx="2560320" cy="868680"/>
          </a:xfrm>
          <a:prstGeom prst="rect">
            <a:avLst/>
          </a:prstGeom>
          <a:noFill/>
        </p:spPr>
        <p:txBody>
          <a:bodyPr wrap="square" anchor="ctr" lIns="45720" rIns="45720">
            <a:spAutoFit/>
          </a:bodyPr>
          <a:lstStyle/>
          <a:p>
            <a:pPr algn="l">
              <a:lnSpc>
                <a:spcPct val="100000"/>
              </a:lnSpc>
              <a:spcAft>
                <a:spcPts val="400"/>
              </a:spcAft>
            </a:pPr>
            <a:r>
              <a:rPr sz="1050" b="0" i="0">
                <a:solidFill>
                  <a:srgbClr val="5B6573"/>
                </a:solidFill>
                <a:latin typeface="Calibri"/>
              </a:rPr>
              <a:t>Evidence that clearer content helps. Not a forecast of live uplift or revenue.</a:t>
            </a:r>
          </a:p>
        </p:txBody>
      </p:sp>
      <p:sp>
        <p:nvSpPr>
          <p:cNvPr id="18" name="TextBox 17"/>
          <p:cNvSpPr txBox="1"/>
          <p:nvPr/>
        </p:nvSpPr>
        <p:spPr>
          <a:xfrm>
            <a:off x="731520" y="3337560"/>
            <a:ext cx="5120640" cy="228600"/>
          </a:xfrm>
          <a:prstGeom prst="rect">
            <a:avLst/>
          </a:prstGeom>
          <a:noFill/>
        </p:spPr>
        <p:txBody>
          <a:bodyPr wrap="square" anchor="t" lIns="45720" rIns="45720">
            <a:spAutoFit/>
          </a:bodyPr>
          <a:lstStyle/>
          <a:p>
            <a:pPr algn="l">
              <a:lnSpc>
                <a:spcPct val="108000"/>
              </a:lnSpc>
              <a:spcAft>
                <a:spcPts val="400"/>
              </a:spcAft>
            </a:pPr>
            <a:r>
              <a:rPr sz="1000" b="1" i="0">
                <a:solidFill>
                  <a:srgbClr val="1E7A46"/>
                </a:solidFill>
                <a:latin typeface="Calibri"/>
              </a:rPr>
              <a:t>WHAT FC GETS</a:t>
            </a:r>
          </a:p>
        </p:txBody>
      </p:sp>
      <p:sp>
        <p:nvSpPr>
          <p:cNvPr id="19" name="TextBox 18"/>
          <p:cNvSpPr txBox="1"/>
          <p:nvPr/>
        </p:nvSpPr>
        <p:spPr>
          <a:xfrm>
            <a:off x="731520" y="3584448"/>
            <a:ext cx="5120640" cy="1051560"/>
          </a:xfrm>
          <a:prstGeom prst="rect">
            <a:avLst/>
          </a:prstGeom>
          <a:noFill/>
        </p:spPr>
        <p:txBody>
          <a:bodyPr wrap="square" anchor="t" lIns="45720" rIns="45720">
            <a:spAutoFit/>
          </a:bodyPr>
          <a:lstStyle/>
          <a:p>
            <a:pPr algn="l" marL="201168" indent="-182880">
              <a:lnSpc>
                <a:spcPct val="108000"/>
              </a:lnSpc>
              <a:spcAft>
                <a:spcPts val="300"/>
              </a:spcAft>
              <a:buChar char="•"/>
            </a:pPr>
            <a:r>
              <a:rPr sz="1200" b="0" i="0">
                <a:solidFill>
                  <a:srgbClr val="1F2937"/>
                </a:solidFill>
                <a:latin typeface="Calibri"/>
              </a:rPr>
              <a:t>Deals and fees every assistant can read</a:t>
            </a:r>
          </a:p>
          <a:p>
            <a:pPr algn="l" marL="201168" indent="-182880">
              <a:lnSpc>
                <a:spcPct val="108000"/>
              </a:lnSpc>
              <a:spcAft>
                <a:spcPts val="300"/>
              </a:spcAft>
              <a:buChar char="•"/>
            </a:pPr>
            <a:r>
              <a:rPr sz="1200" b="0" i="0">
                <a:solidFill>
                  <a:srgbClr val="1F2937"/>
                </a:solidFill>
                <a:latin typeface="Calibri"/>
              </a:rPr>
              <a:t>A monthly read of AI visibility, not anecdotes</a:t>
            </a:r>
          </a:p>
          <a:p>
            <a:pPr algn="l" marL="201168" indent="-182880">
              <a:lnSpc>
                <a:spcPct val="108000"/>
              </a:lnSpc>
              <a:spcAft>
                <a:spcPts val="300"/>
              </a:spcAft>
              <a:buChar char="•"/>
            </a:pPr>
            <a:r>
              <a:rPr sz="1200" b="0" i="0">
                <a:solidFill>
                  <a:srgbClr val="1F2937"/>
                </a:solidFill>
                <a:latin typeface="Calibri"/>
              </a:rPr>
              <a:t>Expert path ready for a later app or MCP connector</a:t>
            </a:r>
          </a:p>
          <a:p>
            <a:pPr algn="l" marL="201168" indent="-182880">
              <a:lnSpc>
                <a:spcPct val="108000"/>
              </a:lnSpc>
              <a:spcAft>
                <a:spcPts val="300"/>
              </a:spcAft>
              <a:buChar char="•"/>
            </a:pPr>
            <a:r>
              <a:rPr sz="1200" b="0" i="0">
                <a:solidFill>
                  <a:srgbClr val="1F2937"/>
                </a:solidFill>
                <a:latin typeface="Calibri"/>
              </a:rPr>
              <a:t>Vendor spend judged against a real baseline</a:t>
            </a:r>
          </a:p>
        </p:txBody>
      </p:sp>
      <p:sp>
        <p:nvSpPr>
          <p:cNvPr id="20" name="Rounded Rectangle 19"/>
          <p:cNvSpPr/>
          <p:nvPr/>
        </p:nvSpPr>
        <p:spPr>
          <a:xfrm>
            <a:off x="6400800" y="2359152"/>
            <a:ext cx="246888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92240" y="2377440"/>
            <a:ext cx="2286000" cy="457200"/>
          </a:xfrm>
          <a:prstGeom prst="rect">
            <a:avLst/>
          </a:prstGeom>
          <a:noFill/>
        </p:spPr>
        <p:txBody>
          <a:bodyPr wrap="square" anchor="t" lIns="45720" rIns="45720">
            <a:spAutoFit/>
          </a:bodyPr>
          <a:lstStyle/>
          <a:p>
            <a:pPr algn="l">
              <a:lnSpc>
                <a:spcPct val="100000"/>
              </a:lnSpc>
              <a:spcAft>
                <a:spcPts val="400"/>
              </a:spcAft>
            </a:pPr>
            <a:r>
              <a:rPr sz="2400" b="1" i="0">
                <a:solidFill>
                  <a:srgbClr val="C8102E"/>
                </a:solidFill>
                <a:latin typeface="Calibri"/>
              </a:rPr>
              <a:t>0 of 8</a:t>
            </a:r>
          </a:p>
        </p:txBody>
      </p:sp>
      <p:sp>
        <p:nvSpPr>
          <p:cNvPr id="22" name="TextBox 21"/>
          <p:cNvSpPr txBox="1"/>
          <p:nvPr/>
        </p:nvSpPr>
        <p:spPr>
          <a:xfrm>
            <a:off x="6492240" y="2834640"/>
            <a:ext cx="2286000" cy="365760"/>
          </a:xfrm>
          <a:prstGeom prst="rect">
            <a:avLst/>
          </a:prstGeom>
          <a:noFill/>
        </p:spPr>
        <p:txBody>
          <a:bodyPr wrap="square" anchor="t" lIns="45720" rIns="45720">
            <a:spAutoFit/>
          </a:bodyPr>
          <a:lstStyle/>
          <a:p>
            <a:pPr algn="l">
              <a:lnSpc>
                <a:spcPct val="100000"/>
              </a:lnSpc>
              <a:spcAft>
                <a:spcPts val="400"/>
              </a:spcAft>
            </a:pPr>
            <a:r>
              <a:rPr sz="950" b="0" i="0">
                <a:solidFill>
                  <a:srgbClr val="5B6573"/>
                </a:solidFill>
                <a:latin typeface="Calibri"/>
              </a:rPr>
              <a:t>'why use a travel agent' questions returned an FC page</a:t>
            </a:r>
          </a:p>
        </p:txBody>
      </p:sp>
      <p:sp>
        <p:nvSpPr>
          <p:cNvPr id="23" name="Rounded Rectangle 22"/>
          <p:cNvSpPr/>
          <p:nvPr/>
        </p:nvSpPr>
        <p:spPr>
          <a:xfrm>
            <a:off x="9006840" y="2359152"/>
            <a:ext cx="2468880" cy="8686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098280" y="2377440"/>
            <a:ext cx="2286000" cy="457200"/>
          </a:xfrm>
          <a:prstGeom prst="rect">
            <a:avLst/>
          </a:prstGeom>
          <a:noFill/>
        </p:spPr>
        <p:txBody>
          <a:bodyPr wrap="square" anchor="t" lIns="45720" rIns="45720">
            <a:spAutoFit/>
          </a:bodyPr>
          <a:lstStyle/>
          <a:p>
            <a:pPr algn="l">
              <a:lnSpc>
                <a:spcPct val="100000"/>
              </a:lnSpc>
              <a:spcAft>
                <a:spcPts val="400"/>
              </a:spcAft>
            </a:pPr>
            <a:r>
              <a:rPr sz="2400" b="1" i="0">
                <a:solidFill>
                  <a:srgbClr val="C8102E"/>
                </a:solidFill>
                <a:latin typeface="Calibri"/>
              </a:rPr>
              <a:t>+119%</a:t>
            </a:r>
          </a:p>
        </p:txBody>
      </p:sp>
      <p:sp>
        <p:nvSpPr>
          <p:cNvPr id="25" name="TextBox 24"/>
          <p:cNvSpPr txBox="1"/>
          <p:nvPr/>
        </p:nvSpPr>
        <p:spPr>
          <a:xfrm>
            <a:off x="9098280" y="2834640"/>
            <a:ext cx="2286000" cy="365760"/>
          </a:xfrm>
          <a:prstGeom prst="rect">
            <a:avLst/>
          </a:prstGeom>
          <a:noFill/>
        </p:spPr>
        <p:txBody>
          <a:bodyPr wrap="square" anchor="t" lIns="45720" rIns="45720">
            <a:spAutoFit/>
          </a:bodyPr>
          <a:lstStyle/>
          <a:p>
            <a:pPr algn="l">
              <a:lnSpc>
                <a:spcPct val="100000"/>
              </a:lnSpc>
              <a:spcAft>
                <a:spcPts val="400"/>
              </a:spcAft>
            </a:pPr>
            <a:r>
              <a:rPr sz="950" b="0" i="0">
                <a:solidFill>
                  <a:srgbClr val="5B6573"/>
                </a:solidFill>
                <a:latin typeface="Calibri"/>
              </a:rPr>
              <a:t>AI referrals to travel sites in a year; FC's share unmeasured</a:t>
            </a:r>
          </a:p>
        </p:txBody>
      </p:sp>
      <p:sp>
        <p:nvSpPr>
          <p:cNvPr id="26" name="TextBox 25"/>
          <p:cNvSpPr txBox="1"/>
          <p:nvPr/>
        </p:nvSpPr>
        <p:spPr>
          <a:xfrm>
            <a:off x="6400800" y="3337560"/>
            <a:ext cx="5120640" cy="228600"/>
          </a:xfrm>
          <a:prstGeom prst="rect">
            <a:avLst/>
          </a:prstGeom>
          <a:noFill/>
        </p:spPr>
        <p:txBody>
          <a:bodyPr wrap="square" anchor="t" lIns="45720" rIns="45720">
            <a:spAutoFit/>
          </a:bodyPr>
          <a:lstStyle/>
          <a:p>
            <a:pPr algn="l">
              <a:lnSpc>
                <a:spcPct val="108000"/>
              </a:lnSpc>
              <a:spcAft>
                <a:spcPts val="400"/>
              </a:spcAft>
            </a:pPr>
            <a:r>
              <a:rPr sz="1000" b="1" i="0">
                <a:solidFill>
                  <a:srgbClr val="C8102E"/>
                </a:solidFill>
                <a:latin typeface="Calibri"/>
              </a:rPr>
              <a:t>WHAT FC RISKS</a:t>
            </a:r>
          </a:p>
        </p:txBody>
      </p:sp>
      <p:sp>
        <p:nvSpPr>
          <p:cNvPr id="27" name="TextBox 26"/>
          <p:cNvSpPr txBox="1"/>
          <p:nvPr/>
        </p:nvSpPr>
        <p:spPr>
          <a:xfrm>
            <a:off x="6400800" y="3584448"/>
            <a:ext cx="5120640" cy="1051560"/>
          </a:xfrm>
          <a:prstGeom prst="rect">
            <a:avLst/>
          </a:prstGeom>
          <a:noFill/>
        </p:spPr>
        <p:txBody>
          <a:bodyPr wrap="square" anchor="t" lIns="45720" rIns="45720">
            <a:spAutoFit/>
          </a:bodyPr>
          <a:lstStyle/>
          <a:p>
            <a:pPr algn="l" marL="201168" indent="-182880">
              <a:lnSpc>
                <a:spcPct val="108000"/>
              </a:lnSpc>
              <a:spcAft>
                <a:spcPts val="300"/>
              </a:spcAft>
              <a:buChar char="•"/>
            </a:pPr>
            <a:r>
              <a:rPr sz="1200" b="0" i="0">
                <a:solidFill>
                  <a:srgbClr val="1F2937"/>
                </a:solidFill>
                <a:latin typeface="Calibri"/>
              </a:rPr>
              <a:t>Aggregators and forums keep answering unbranded questions</a:t>
            </a:r>
          </a:p>
          <a:p>
            <a:pPr algn="l" marL="201168" indent="-182880">
              <a:lnSpc>
                <a:spcPct val="108000"/>
              </a:lnSpc>
              <a:spcAft>
                <a:spcPts val="300"/>
              </a:spcAft>
              <a:buChar char="•"/>
            </a:pPr>
            <a:r>
              <a:rPr sz="1200" b="0" i="0">
                <a:solidFill>
                  <a:srgbClr val="1F2937"/>
                </a:solidFill>
                <a:latin typeface="Calibri"/>
              </a:rPr>
              <a:t>Deals stay invisible to fetchers without JavaScript</a:t>
            </a:r>
          </a:p>
          <a:p>
            <a:pPr algn="l" marL="201168" indent="-182880">
              <a:lnSpc>
                <a:spcPct val="108000"/>
              </a:lnSpc>
              <a:spcAft>
                <a:spcPts val="300"/>
              </a:spcAft>
              <a:buChar char="•"/>
            </a:pPr>
            <a:r>
              <a:rPr sz="1200" b="0" i="0">
                <a:solidFill>
                  <a:srgbClr val="1F2937"/>
                </a:solidFill>
                <a:latin typeface="Calibri"/>
              </a:rPr>
              <a:t>Rivals keep building habits inside ChatGPT</a:t>
            </a:r>
          </a:p>
          <a:p>
            <a:pPr algn="l" marL="201168" indent="-182880">
              <a:lnSpc>
                <a:spcPct val="108000"/>
              </a:lnSpc>
              <a:spcAft>
                <a:spcPts val="0"/>
              </a:spcAft>
              <a:buChar char="•"/>
            </a:pPr>
            <a:r>
              <a:rPr sz="1200" b="1" i="0">
                <a:solidFill>
                  <a:srgbClr val="0B2240"/>
                </a:solidFill>
                <a:latin typeface="Calibri"/>
              </a:rPr>
              <a:t>The window is real, but it won't stay open</a:t>
            </a:r>
          </a:p>
        </p:txBody>
      </p:sp>
      <p:sp>
        <p:nvSpPr>
          <p:cNvPr id="28" name="Rectangle 27"/>
          <p:cNvSpPr/>
          <p:nvPr/>
        </p:nvSpPr>
        <p:spPr>
          <a:xfrm>
            <a:off x="0" y="4846320"/>
            <a:ext cx="12191695" cy="2011680"/>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22960" y="4901184"/>
            <a:ext cx="6949440" cy="868680"/>
          </a:xfrm>
          <a:prstGeom prst="rect">
            <a:avLst/>
          </a:prstGeom>
          <a:noFill/>
        </p:spPr>
        <p:txBody>
          <a:bodyPr wrap="square" anchor="t" lIns="45720" rIns="45720">
            <a:spAutoFit/>
          </a:bodyPr>
          <a:lstStyle/>
          <a:p>
            <a:pPr algn="l">
              <a:lnSpc>
                <a:spcPct val="102000"/>
              </a:lnSpc>
              <a:spcAft>
                <a:spcPts val="400"/>
              </a:spcAft>
            </a:pPr>
            <a:r>
              <a:rPr sz="2400" b="1" i="0">
                <a:solidFill>
                  <a:srgbClr val="FFFFFF"/>
                </a:solidFill>
                <a:latin typeface="Calibri"/>
              </a:rPr>
              <a:t>Readable, useful content gives FC a stronger opportunity to be cited.</a:t>
            </a:r>
          </a:p>
        </p:txBody>
      </p:sp>
      <p:sp>
        <p:nvSpPr>
          <p:cNvPr id="30" name="Rounded Rectangle 29"/>
          <p:cNvSpPr/>
          <p:nvPr/>
        </p:nvSpPr>
        <p:spPr>
          <a:xfrm>
            <a:off x="822960" y="5760720"/>
            <a:ext cx="832104"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Measure</a:t>
            </a:r>
          </a:p>
        </p:txBody>
      </p:sp>
      <p:sp>
        <p:nvSpPr>
          <p:cNvPr id="31" name="Rounded Rectangle 30"/>
          <p:cNvSpPr/>
          <p:nvPr/>
        </p:nvSpPr>
        <p:spPr>
          <a:xfrm>
            <a:off x="1746504" y="5760720"/>
            <a:ext cx="1783080"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Make facts fetchable</a:t>
            </a:r>
          </a:p>
        </p:txBody>
      </p:sp>
      <p:sp>
        <p:nvSpPr>
          <p:cNvPr id="32" name="Rounded Rectangle 31"/>
          <p:cNvSpPr/>
          <p:nvPr/>
        </p:nvSpPr>
        <p:spPr>
          <a:xfrm>
            <a:off x="3621024" y="5760720"/>
            <a:ext cx="2075688"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Apply the tested pattern</a:t>
            </a:r>
          </a:p>
        </p:txBody>
      </p:sp>
      <p:sp>
        <p:nvSpPr>
          <p:cNvPr id="33" name="Rounded Rectangle 32"/>
          <p:cNvSpPr/>
          <p:nvPr/>
        </p:nvSpPr>
        <p:spPr>
          <a:xfrm>
            <a:off x="5788152" y="5760720"/>
            <a:ext cx="1271016"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Outside proof</a:t>
            </a:r>
          </a:p>
        </p:txBody>
      </p:sp>
      <p:sp>
        <p:nvSpPr>
          <p:cNvPr id="34" name="Rounded Rectangle 33"/>
          <p:cNvSpPr/>
          <p:nvPr/>
        </p:nvSpPr>
        <p:spPr>
          <a:xfrm>
            <a:off x="822960" y="6126480"/>
            <a:ext cx="1417319"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Show the expert</a:t>
            </a:r>
          </a:p>
        </p:txBody>
      </p:sp>
      <p:sp>
        <p:nvSpPr>
          <p:cNvPr id="35" name="Rounded Rectangle 34"/>
          <p:cNvSpPr/>
          <p:nvPr/>
        </p:nvSpPr>
        <p:spPr>
          <a:xfrm>
            <a:off x="2331720" y="6126480"/>
            <a:ext cx="1490472" cy="292608"/>
          </a:xfrm>
          <a:prstGeom prst="roundRect">
            <a:avLst>
              <a:gd name="adj" fmla="val 1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00" b="1" i="0">
                <a:solidFill>
                  <a:srgbClr val="FFFFFF"/>
                </a:solidFill>
                <a:latin typeface="Calibri"/>
              </a:rPr>
              <a:t>Monitor outcomes</a:t>
            </a:r>
          </a:p>
        </p:txBody>
      </p:sp>
      <p:sp>
        <p:nvSpPr>
          <p:cNvPr id="36" name="Rounded Rectangle 35"/>
          <p:cNvSpPr/>
          <p:nvPr/>
        </p:nvSpPr>
        <p:spPr>
          <a:xfrm>
            <a:off x="8001000" y="4956048"/>
            <a:ext cx="1737360" cy="1188720"/>
          </a:xfrm>
          <a:prstGeom prst="roundRect">
            <a:avLst>
              <a:gd name="adj" fmla="val 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046720" y="5047488"/>
            <a:ext cx="1645920" cy="640080"/>
          </a:xfrm>
          <a:prstGeom prst="rect">
            <a:avLst/>
          </a:prstGeom>
          <a:noFill/>
        </p:spPr>
        <p:txBody>
          <a:bodyPr wrap="square" anchor="t" lIns="45720" rIns="45720">
            <a:spAutoFit/>
          </a:bodyPr>
          <a:lstStyle/>
          <a:p>
            <a:pPr algn="ctr">
              <a:lnSpc>
                <a:spcPct val="100000"/>
              </a:lnSpc>
              <a:spcAft>
                <a:spcPts val="400"/>
              </a:spcAft>
            </a:pPr>
            <a:r>
              <a:rPr sz="2800" b="1" i="0">
                <a:solidFill>
                  <a:srgbClr val="FFFFFF"/>
                </a:solidFill>
                <a:latin typeface="Calibri"/>
              </a:rPr>
              <a:t>40.0%</a:t>
            </a:r>
          </a:p>
        </p:txBody>
      </p:sp>
      <p:sp>
        <p:nvSpPr>
          <p:cNvPr id="38" name="TextBox 37"/>
          <p:cNvSpPr txBox="1"/>
          <p:nvPr/>
        </p:nvSpPr>
        <p:spPr>
          <a:xfrm>
            <a:off x="8046720" y="5687568"/>
            <a:ext cx="1645920" cy="365760"/>
          </a:xfrm>
          <a:prstGeom prst="rect">
            <a:avLst/>
          </a:prstGeom>
          <a:noFill/>
        </p:spPr>
        <p:txBody>
          <a:bodyPr wrap="square" anchor="t" lIns="45720" rIns="45720">
            <a:spAutoFit/>
          </a:bodyPr>
          <a:lstStyle/>
          <a:p>
            <a:pPr algn="ctr">
              <a:lnSpc>
                <a:spcPct val="108000"/>
              </a:lnSpc>
              <a:spcAft>
                <a:spcPts val="400"/>
              </a:spcAft>
            </a:pPr>
            <a:r>
              <a:rPr sz="1050" b="0" i="0">
                <a:solidFill>
                  <a:srgbClr val="C9D6EA"/>
                </a:solidFill>
                <a:latin typeface="Calibri"/>
              </a:rPr>
              <a:t>original pages</a:t>
            </a:r>
          </a:p>
        </p:txBody>
      </p:sp>
      <p:sp>
        <p:nvSpPr>
          <p:cNvPr id="39" name="Right Arrow 38"/>
          <p:cNvSpPr/>
          <p:nvPr/>
        </p:nvSpPr>
        <p:spPr>
          <a:xfrm>
            <a:off x="9784080" y="5367528"/>
            <a:ext cx="320040" cy="365760"/>
          </a:xfrm>
          <a:prstGeom prst="rightArrow">
            <a:avLst/>
          </a:prstGeom>
          <a:solidFill>
            <a:srgbClr val="FF8A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0149840" y="4956048"/>
            <a:ext cx="1508760" cy="1188720"/>
          </a:xfrm>
          <a:prstGeom prst="roundRect">
            <a:avLst>
              <a:gd name="adj" fmla="val 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0149840" y="5047488"/>
            <a:ext cx="1508760" cy="640080"/>
          </a:xfrm>
          <a:prstGeom prst="rect">
            <a:avLst/>
          </a:prstGeom>
          <a:noFill/>
        </p:spPr>
        <p:txBody>
          <a:bodyPr wrap="square" anchor="t" lIns="45720" rIns="45720">
            <a:spAutoFit/>
          </a:bodyPr>
          <a:lstStyle/>
          <a:p>
            <a:pPr algn="ctr">
              <a:lnSpc>
                <a:spcPct val="100000"/>
              </a:lnSpc>
              <a:spcAft>
                <a:spcPts val="400"/>
              </a:spcAft>
            </a:pPr>
            <a:r>
              <a:rPr sz="2800" b="1" i="0">
                <a:solidFill>
                  <a:srgbClr val="FFFFFF"/>
                </a:solidFill>
                <a:latin typeface="Calibri"/>
              </a:rPr>
              <a:t>52.4%</a:t>
            </a:r>
          </a:p>
        </p:txBody>
      </p:sp>
      <p:sp>
        <p:nvSpPr>
          <p:cNvPr id="42" name="TextBox 41"/>
          <p:cNvSpPr txBox="1"/>
          <p:nvPr/>
        </p:nvSpPr>
        <p:spPr>
          <a:xfrm>
            <a:off x="10149840" y="5687568"/>
            <a:ext cx="1508760" cy="365760"/>
          </a:xfrm>
          <a:prstGeom prst="rect">
            <a:avLst/>
          </a:prstGeom>
          <a:noFill/>
        </p:spPr>
        <p:txBody>
          <a:bodyPr wrap="square" anchor="t" lIns="45720" rIns="45720">
            <a:spAutoFit/>
          </a:bodyPr>
          <a:lstStyle/>
          <a:p>
            <a:pPr algn="ctr">
              <a:lnSpc>
                <a:spcPct val="108000"/>
              </a:lnSpc>
              <a:spcAft>
                <a:spcPts val="400"/>
              </a:spcAft>
            </a:pPr>
            <a:r>
              <a:rPr sz="1050" b="0" i="0">
                <a:solidFill>
                  <a:srgbClr val="FFFFFF"/>
                </a:solidFill>
                <a:latin typeface="Calibri"/>
              </a:rPr>
              <a:t>improved pages</a:t>
            </a:r>
          </a:p>
        </p:txBody>
      </p:sp>
      <p:sp>
        <p:nvSpPr>
          <p:cNvPr id="43" name="TextBox 42"/>
          <p:cNvSpPr txBox="1"/>
          <p:nvPr/>
        </p:nvSpPr>
        <p:spPr>
          <a:xfrm>
            <a:off x="822960" y="6419088"/>
            <a:ext cx="10515600" cy="201168"/>
          </a:xfrm>
          <a:prstGeom prst="rect">
            <a:avLst/>
          </a:prstGeom>
          <a:noFill/>
        </p:spPr>
        <p:txBody>
          <a:bodyPr wrap="square" anchor="t" lIns="45720" rIns="45720">
            <a:spAutoFit/>
          </a:bodyPr>
          <a:lstStyle/>
          <a:p>
            <a:pPr algn="l">
              <a:lnSpc>
                <a:spcPct val="108000"/>
              </a:lnSpc>
              <a:spcAft>
                <a:spcPts val="400"/>
              </a:spcAft>
            </a:pPr>
            <a:r>
              <a:rPr sz="850" b="0" i="0">
                <a:solidFill>
                  <a:srgbClr val="9FB3CC"/>
                </a:solidFill>
                <a:latin typeface="Calibri"/>
              </a:rPr>
              <a:t>Sources: Technical Report v1.1 §8.4; Brave snapshot Aug 2026 (Q23–Q30); Adobe Digital Insights (Aug 2026); competitor launches on slide 11.</a:t>
            </a:r>
          </a:p>
        </p:txBody>
      </p:sp>
      <p:sp>
        <p:nvSpPr>
          <p:cNvPr id="44" name="TextBox 43"/>
          <p:cNvSpPr txBox="1"/>
          <p:nvPr/>
        </p:nvSpPr>
        <p:spPr>
          <a:xfrm>
            <a:off x="822960" y="6583680"/>
            <a:ext cx="10515600" cy="201168"/>
          </a:xfrm>
          <a:prstGeom prst="rect">
            <a:avLst/>
          </a:prstGeom>
          <a:noFill/>
        </p:spPr>
        <p:txBody>
          <a:bodyPr wrap="square" anchor="t" lIns="45720" rIns="45720">
            <a:spAutoFit/>
          </a:bodyPr>
          <a:lstStyle/>
          <a:p>
            <a:pPr algn="l">
              <a:lnSpc>
                <a:spcPct val="108000"/>
              </a:lnSpc>
              <a:spcAft>
                <a:spcPts val="400"/>
              </a:spcAft>
            </a:pPr>
            <a:r>
              <a:rPr sz="850" b="0" i="0">
                <a:solidFill>
                  <a:srgbClr val="9FB3CC"/>
                </a:solidFill>
                <a:latin typeface="Calibri"/>
              </a:rPr>
              <a:t>Team 62 (Signal Six), QUT  ·  github.com/muhammadmubbashar/GEO--Generative-Engine-Optimisation  ·  The research handover is separate and not for publishing. Hidden backups follow.</a:t>
            </a:r>
          </a:p>
        </p:txBody>
      </p:sp>
      <p:sp>
        <p:nvSpPr>
          <p:cNvPr id="45" name="TextBox 44"/>
          <p:cNvSpPr txBox="1"/>
          <p:nvPr/>
        </p:nvSpPr>
        <p:spPr>
          <a:xfrm>
            <a:off x="11247120" y="6510528"/>
            <a:ext cx="411480" cy="274320"/>
          </a:xfrm>
          <a:prstGeom prst="rect">
            <a:avLst/>
          </a:prstGeom>
          <a:noFill/>
        </p:spPr>
        <p:txBody>
          <a:bodyPr wrap="square" anchor="t" lIns="45720" rIns="45720">
            <a:spAutoFit/>
          </a:bodyPr>
          <a:lstStyle/>
          <a:p>
            <a:pPr algn="r">
              <a:lnSpc>
                <a:spcPct val="108000"/>
              </a:lnSpc>
              <a:spcAft>
                <a:spcPts val="400"/>
              </a:spcAft>
            </a:pPr>
            <a:r>
              <a:rPr sz="900" b="0" i="0">
                <a:solidFill>
                  <a:srgbClr val="9FB3CC"/>
                </a:solidFill>
                <a:latin typeface="Calibri"/>
              </a:rPr>
              <a:t>24</a:t>
            </a:r>
          </a:p>
        </p:txBody>
      </p:sp>
    </p:spTree>
  </p:cSld>
  <p:clrMapOvr>
    <a:masterClrMapping/>
  </p:clrMapOvr>
</p:sld>
</file>

<file path=ppt/slides/slide10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640080"/>
            <a:ext cx="5486400" cy="365760"/>
          </a:xfrm>
          <a:prstGeom prst="rect">
            <a:avLst/>
          </a:prstGeom>
          <a:noFill/>
        </p:spPr>
        <p:txBody>
          <a:bodyPr wrap="square" lIns="45720" rIns="45720" anchor="t">
            <a:spAutoFit/>
          </a:bodyPr>
          <a:lstStyle/>
          <a:p>
            <a:pPr algn="l">
              <a:lnSpc>
                <a:spcPct val="108000"/>
              </a:lnSpc>
              <a:spcAft>
                <a:spcPts val="400"/>
              </a:spcAft>
            </a:pPr>
            <a:r>
              <a:rPr sz="1200" b="1" i="0">
                <a:solidFill>
                  <a:srgbClr val="FF8A99"/>
                </a:solidFill>
                <a:latin typeface="Calibri"/>
              </a:rPr>
              <a:t>FLIGHT CENTRE TRAVEL GROUP  ·  TEAM 62 (SIGNAL SIX), QUT</a:t>
            </a:r>
          </a:p>
        </p:txBody>
      </p:sp>
      <p:sp>
        <p:nvSpPr>
          <p:cNvPr id="4" name="TextBox 3"/>
          <p:cNvSpPr txBox="1"/>
          <p:nvPr/>
        </p:nvSpPr>
        <p:spPr>
          <a:xfrm>
            <a:off x="822960" y="1371600"/>
            <a:ext cx="10515600" cy="2194560"/>
          </a:xfrm>
          <a:prstGeom prst="rect">
            <a:avLst/>
          </a:prstGeom>
          <a:noFill/>
        </p:spPr>
        <p:txBody>
          <a:bodyPr wrap="square" lIns="45720" rIns="45720" anchor="t">
            <a:spAutoFit/>
          </a:bodyPr>
          <a:lstStyle/>
          <a:p>
            <a:pPr algn="l">
              <a:lnSpc>
                <a:spcPct val="100000"/>
              </a:lnSpc>
              <a:spcAft>
                <a:spcPts val="400"/>
              </a:spcAft>
            </a:pPr>
            <a:r>
              <a:rPr sz="4600" b="1" i="0">
                <a:solidFill>
                  <a:srgbClr val="FFFFFF"/>
                </a:solidFill>
                <a:latin typeface="Calibri"/>
              </a:rPr>
              <a:t>Being the answer:</a:t>
            </a:r>
          </a:p>
          <a:p>
            <a:pPr algn="l">
              <a:lnSpc>
                <a:spcPct val="100000"/>
              </a:lnSpc>
              <a:spcAft>
                <a:spcPts val="400"/>
              </a:spcAft>
            </a:pPr>
            <a:r>
              <a:rPr sz="4000" b="1" i="0">
                <a:solidFill>
                  <a:srgbClr val="FF8A99"/>
                </a:solidFill>
                <a:latin typeface="Calibri"/>
              </a:rPr>
              <a:t>Generative Engine Optimisation for FC.com</a:t>
            </a:r>
          </a:p>
        </p:txBody>
      </p:sp>
      <p:sp>
        <p:nvSpPr>
          <p:cNvPr id="5" name="TextBox 4"/>
          <p:cNvSpPr txBox="1"/>
          <p:nvPr/>
        </p:nvSpPr>
        <p:spPr>
          <a:xfrm>
            <a:off x="822960" y="3749039"/>
            <a:ext cx="10332720" cy="1188720"/>
          </a:xfrm>
          <a:prstGeom prst="rect">
            <a:avLst/>
          </a:prstGeom>
          <a:noFill/>
        </p:spPr>
        <p:txBody>
          <a:bodyPr wrap="square" lIns="45720" rIns="45720" anchor="t">
            <a:spAutoFit/>
          </a:bodyPr>
          <a:lstStyle/>
          <a:p>
            <a:pPr algn="l">
              <a:lnSpc>
                <a:spcPct val="108000"/>
              </a:lnSpc>
              <a:spcAft>
                <a:spcPts val="400"/>
              </a:spcAft>
            </a:pPr>
            <a:r>
              <a:rPr sz="1800" b="0" i="0">
                <a:solidFill>
                  <a:srgbClr val="C9D6EA"/>
                </a:solidFill>
                <a:latin typeface="Calibri"/>
              </a:rPr>
              <a:t>Why agentic commerce changes where customers find us, what the published evidence and our own controlled test show, and what FC.com should change first.</a:t>
            </a:r>
          </a:p>
        </p:txBody>
      </p:sp>
      <p:sp>
        <p:nvSpPr>
          <p:cNvPr id="6" name="TextBox 5"/>
          <p:cNvSpPr txBox="1"/>
          <p:nvPr/>
        </p:nvSpPr>
        <p:spPr>
          <a:xfrm>
            <a:off x="822960" y="5257800"/>
            <a:ext cx="10515600" cy="822960"/>
          </a:xfrm>
          <a:prstGeom prst="rect">
            <a:avLst/>
          </a:prstGeom>
          <a:noFill/>
        </p:spPr>
        <p:txBody>
          <a:bodyPr wrap="square" lIns="45720" rIns="45720" anchor="t">
            <a:spAutoFit/>
          </a:bodyPr>
          <a:lstStyle/>
          <a:p>
            <a:pPr algn="l">
              <a:lnSpc>
                <a:spcPct val="108000"/>
              </a:lnSpc>
              <a:spcAft>
                <a:spcPts val="400"/>
              </a:spcAft>
            </a:pPr>
            <a:r>
              <a:rPr sz="1300" b="0" i="0">
                <a:solidFill>
                  <a:srgbClr val="FFFFFF"/>
                </a:solidFill>
                <a:latin typeface="Calibri"/>
              </a:rPr>
              <a:t>Senior leadership briefing  ·  25 October 2026  ·  25 minutes + Q&amp;A</a:t>
            </a:r>
          </a:p>
          <a:p>
            <a:pPr algn="l">
              <a:lnSpc>
                <a:spcPct val="108000"/>
              </a:lnSpc>
              <a:spcAft>
                <a:spcPts val="400"/>
              </a:spcAft>
            </a:pPr>
            <a:r>
              <a:rPr sz="1100" b="0" i="0">
                <a:solidFill>
                  <a:srgbClr val="9FB3CC"/>
                </a:solidFill>
                <a:latin typeface="Calibri"/>
              </a:rPr>
              <a:t>Evidence: peer-reviewed and preprint GEO research (2024–2026); Google, OpenAI and Bing documentation; live checks of flightcentre.com.au and competitors (25 Oct 2026); Semester 1 website audit (May 2026); controlled sandbox experiment, 290 answers per version (Aug–Sep 2026).</a:t>
            </a:r>
          </a:p>
        </p:txBody>
      </p:sp>
    </p:spTree>
  </p:cSld>
  <p:clrMapOvr>
    <a:masterClrMapping/>
  </p:clrMapOvr>
</p:sld>
</file>

<file path=ppt/slides/slide10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WHY · WHAT · HOW · WHAT IF</a:t>
            </a:r>
          </a:p>
        </p:txBody>
      </p:sp>
      <p:sp>
        <p:nvSpPr>
          <p:cNvPr id="3" name="TextBox 2"/>
          <p:cNvSpPr txBox="1"/>
          <p:nvPr/>
        </p:nvSpPr>
        <p:spPr>
          <a:xfrm>
            <a:off x="548640" y="530352"/>
            <a:ext cx="9692640" cy="523220"/>
          </a:xfrm>
          <a:prstGeom prst="rect">
            <a:avLst/>
          </a:prstGeom>
          <a:noFill/>
        </p:spPr>
        <p:txBody>
          <a:bodyPr wrap="square" lIns="45720" rIns="45720" anchor="t">
            <a:spAutoFit/>
          </a:bodyPr>
          <a:lstStyle/>
          <a:p>
            <a:pPr algn="l">
              <a:spcBef>
                <a:spcPts val="0"/>
              </a:spcBef>
              <a:spcAft>
                <a:spcPts val="300"/>
              </a:spcAft>
            </a:pPr>
            <a:r>
              <a:rPr sz="2800" b="1" i="0" dirty="0">
                <a:solidFill>
                  <a:srgbClr val="0B2240"/>
                </a:solidFill>
                <a:latin typeface="Calibri"/>
              </a:rPr>
              <a:t>The </a:t>
            </a:r>
            <a:r>
              <a:rPr lang="en-SG" sz="2800" b="1" i="0" dirty="0">
                <a:solidFill>
                  <a:srgbClr val="0B2240"/>
                </a:solidFill>
                <a:latin typeface="Calibri"/>
              </a:rPr>
              <a:t>AIM: </a:t>
            </a:r>
            <a:r>
              <a:rPr sz="2800" b="1" i="0" dirty="0">
                <a:solidFill>
                  <a:srgbClr val="0B2240"/>
                </a:solidFill>
                <a:latin typeface="Calibri"/>
              </a:rPr>
              <a:t>how FC can become easier to find and cite</a:t>
            </a:r>
          </a:p>
        </p:txBody>
      </p:sp>
      <p:sp>
        <p:nvSpPr>
          <p:cNvPr id="4" name="Rounded Rectangle 3"/>
          <p:cNvSpPr/>
          <p:nvPr/>
        </p:nvSpPr>
        <p:spPr>
          <a:xfrm>
            <a:off x="548640" y="1600200"/>
            <a:ext cx="5440680" cy="4160520"/>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13232" y="1764792"/>
            <a:ext cx="5111496" cy="365760"/>
          </a:xfrm>
          <a:prstGeom prst="rect">
            <a:avLst/>
          </a:prstGeom>
          <a:noFill/>
        </p:spPr>
        <p:txBody>
          <a:bodyPr wrap="square" lIns="45720" rIns="45720" anchor="t">
            <a:spAutoFit/>
          </a:bodyPr>
          <a:lstStyle/>
          <a:p>
            <a:pPr algn="l">
              <a:spcBef>
                <a:spcPts val="0"/>
              </a:spcBef>
              <a:spcAft>
                <a:spcPts val="300"/>
              </a:spcAft>
            </a:pPr>
            <a:r>
              <a:rPr sz="1400" b="1" i="0">
                <a:solidFill>
                  <a:srgbClr val="0B2240"/>
                </a:solidFill>
                <a:latin typeface="Calibri"/>
              </a:rPr>
              <a:t>1. Understand the whole customer journey</a:t>
            </a:r>
          </a:p>
        </p:txBody>
      </p:sp>
      <p:sp>
        <p:nvSpPr>
          <p:cNvPr id="6" name="TextBox 5"/>
          <p:cNvSpPr txBox="1"/>
          <p:nvPr/>
        </p:nvSpPr>
        <p:spPr>
          <a:xfrm>
            <a:off x="713232" y="2148840"/>
            <a:ext cx="5111496" cy="2469907"/>
          </a:xfrm>
          <a:prstGeom prst="rect">
            <a:avLst/>
          </a:prstGeom>
          <a:noFill/>
        </p:spPr>
        <p:txBody>
          <a:bodyPr wrap="square" lIns="45720" rIns="45720" anchor="t">
            <a:spAutoFit/>
          </a:bodyPr>
          <a:lstStyle/>
          <a:p>
            <a:pPr marL="342900" indent="-342900" algn="l">
              <a:spcBef>
                <a:spcPts val="0"/>
              </a:spcBef>
              <a:spcAft>
                <a:spcPts val="300"/>
              </a:spcAft>
              <a:buFontTx/>
              <a:buChar char="-"/>
            </a:pPr>
            <a:r>
              <a:rPr lang="en-SG" sz="2100" b="0" i="0" dirty="0">
                <a:solidFill>
                  <a:srgbClr val="1F2937"/>
                </a:solidFill>
                <a:latin typeface="Calibri"/>
              </a:rPr>
              <a:t>Explore how customer journey is changing</a:t>
            </a:r>
          </a:p>
          <a:p>
            <a:pPr marL="342900" indent="-342900" algn="l">
              <a:spcBef>
                <a:spcPts val="0"/>
              </a:spcBef>
              <a:spcAft>
                <a:spcPts val="300"/>
              </a:spcAft>
              <a:buFontTx/>
              <a:buChar char="-"/>
            </a:pPr>
            <a:r>
              <a:rPr lang="en-SG" sz="2100" dirty="0">
                <a:solidFill>
                  <a:srgbClr val="1F2937"/>
                </a:solidFill>
                <a:latin typeface="Calibri"/>
              </a:rPr>
              <a:t>GOOGLE -&gt; Browse websites -&gt; compare and book</a:t>
            </a:r>
          </a:p>
          <a:p>
            <a:pPr marL="342900" indent="-342900" algn="l">
              <a:spcBef>
                <a:spcPts val="0"/>
              </a:spcBef>
              <a:spcAft>
                <a:spcPts val="300"/>
              </a:spcAft>
              <a:buFontTx/>
              <a:buChar char="-"/>
            </a:pPr>
            <a:r>
              <a:rPr lang="en-SG" sz="2100" b="0" i="0" dirty="0">
                <a:solidFill>
                  <a:srgbClr val="1F2937"/>
                </a:solidFill>
                <a:latin typeface="Calibri"/>
              </a:rPr>
              <a:t>AI streamlines the process into one conversation thread </a:t>
            </a:r>
          </a:p>
          <a:p>
            <a:pPr marL="342900" indent="-342900" algn="l">
              <a:spcBef>
                <a:spcPts val="0"/>
              </a:spcBef>
              <a:spcAft>
                <a:spcPts val="300"/>
              </a:spcAft>
              <a:buFontTx/>
              <a:buChar char="-"/>
            </a:pPr>
            <a:r>
              <a:rPr lang="en-SG" sz="2100" b="0" i="0" dirty="0">
                <a:solidFill>
                  <a:srgbClr val="1F2937"/>
                </a:solidFill>
                <a:latin typeface="Calibri"/>
              </a:rPr>
              <a:t>Show where FC fits into that journey currently </a:t>
            </a:r>
            <a:endParaRPr sz="2100" b="0" i="0" dirty="0">
              <a:solidFill>
                <a:srgbClr val="1F2937"/>
              </a:solidFill>
              <a:latin typeface="Calibri"/>
            </a:endParaRPr>
          </a:p>
        </p:txBody>
      </p:sp>
      <p:sp>
        <p:nvSpPr>
          <p:cNvPr id="7" name="Rounded Rectangle 6"/>
          <p:cNvSpPr/>
          <p:nvPr/>
        </p:nvSpPr>
        <p:spPr>
          <a:xfrm>
            <a:off x="6217920" y="1600200"/>
            <a:ext cx="5440680" cy="4160520"/>
          </a:xfrm>
          <a:prstGeom prst="roundRect">
            <a:avLst>
              <a:gd name="adj" fmla="val 6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382512" y="1764792"/>
            <a:ext cx="5111496" cy="307777"/>
          </a:xfrm>
          <a:prstGeom prst="rect">
            <a:avLst/>
          </a:prstGeom>
          <a:noFill/>
        </p:spPr>
        <p:txBody>
          <a:bodyPr wrap="square" lIns="45720" rIns="45720" anchor="t">
            <a:spAutoFit/>
          </a:bodyPr>
          <a:lstStyle/>
          <a:p>
            <a:pPr algn="l">
              <a:spcBef>
                <a:spcPts val="0"/>
              </a:spcBef>
              <a:spcAft>
                <a:spcPts val="300"/>
              </a:spcAft>
            </a:pPr>
            <a:r>
              <a:rPr sz="1400" b="1" i="0" dirty="0">
                <a:solidFill>
                  <a:srgbClr val="0B2240"/>
                </a:solidFill>
                <a:latin typeface="Calibri"/>
              </a:rPr>
              <a:t>2. Turn the evidence into an plan</a:t>
            </a:r>
          </a:p>
        </p:txBody>
      </p:sp>
      <p:sp>
        <p:nvSpPr>
          <p:cNvPr id="9" name="TextBox 8"/>
          <p:cNvSpPr txBox="1"/>
          <p:nvPr/>
        </p:nvSpPr>
        <p:spPr>
          <a:xfrm>
            <a:off x="6382512" y="2148840"/>
            <a:ext cx="5111496" cy="2392963"/>
          </a:xfrm>
          <a:prstGeom prst="rect">
            <a:avLst/>
          </a:prstGeom>
          <a:noFill/>
        </p:spPr>
        <p:txBody>
          <a:bodyPr wrap="square" lIns="45720" rIns="45720" anchor="t">
            <a:spAutoFit/>
          </a:bodyPr>
          <a:lstStyle/>
          <a:p>
            <a:pPr algn="l">
              <a:spcBef>
                <a:spcPts val="0"/>
              </a:spcBef>
              <a:spcAft>
                <a:spcPts val="300"/>
              </a:spcAft>
            </a:pPr>
            <a:r>
              <a:rPr lang="en-SG" sz="2100" b="0" i="0" dirty="0">
                <a:solidFill>
                  <a:srgbClr val="1F2937"/>
                </a:solidFill>
                <a:latin typeface="Calibri"/>
              </a:rPr>
              <a:t>- </a:t>
            </a:r>
            <a:r>
              <a:rPr sz="2100" b="0" i="0" dirty="0">
                <a:solidFill>
                  <a:srgbClr val="1F2937"/>
                </a:solidFill>
                <a:latin typeface="Calibri"/>
              </a:rPr>
              <a:t>Our completed experiment tests whether improved FC pages receive more citations once the model reads them.</a:t>
            </a:r>
          </a:p>
          <a:p>
            <a:pPr algn="l">
              <a:spcBef>
                <a:spcPts val="0"/>
              </a:spcBef>
              <a:spcAft>
                <a:spcPts val="300"/>
              </a:spcAft>
            </a:pPr>
            <a:r>
              <a:rPr lang="en-SG" sz="2100" b="0" i="0" dirty="0">
                <a:solidFill>
                  <a:srgbClr val="1F2937"/>
                </a:solidFill>
                <a:latin typeface="Calibri"/>
              </a:rPr>
              <a:t>- </a:t>
            </a:r>
            <a:r>
              <a:rPr sz="2100" b="0" i="0" dirty="0">
                <a:solidFill>
                  <a:srgbClr val="1F2937"/>
                </a:solidFill>
                <a:latin typeface="Calibri"/>
              </a:rPr>
              <a:t>We will show the page changes, the answers and the results, then finish with implementation owners and business measures.</a:t>
            </a:r>
          </a:p>
        </p:txBody>
      </p:sp>
      <p:sp>
        <p:nvSpPr>
          <p:cNvPr id="11" name="TextBox 10"/>
          <p:cNvSpPr txBox="1"/>
          <p:nvPr/>
        </p:nvSpPr>
        <p:spPr>
          <a:xfrm>
            <a:off x="11247120" y="6382512"/>
            <a:ext cx="411480" cy="235001"/>
          </a:xfrm>
          <a:prstGeom prst="rect">
            <a:avLst/>
          </a:prstGeom>
          <a:noFill/>
        </p:spPr>
        <p:txBody>
          <a:bodyPr wrap="square" lIns="45720" rIns="45720" anchor="t">
            <a:spAutoFit/>
          </a:bodyPr>
          <a:lstStyle/>
          <a:p>
            <a:pPr algn="r">
              <a:lnSpc>
                <a:spcPct val="108000"/>
              </a:lnSpc>
              <a:spcAft>
                <a:spcPts val="400"/>
              </a:spcAft>
            </a:pPr>
            <a:r>
              <a:rPr lang="en-US" sz="900" b="0" i="0">
                <a:solidFill>
                  <a:srgbClr val="5B6573"/>
                </a:solidFill>
                <a:latin typeface="Calibri"/>
              </a:rPr>
              <a:t>2</a:t>
            </a:r>
            <a:endParaRPr sz="900" b="0" i="0">
              <a:solidFill>
                <a:srgbClr val="5B6573"/>
              </a:solidFill>
              <a:latin typeface="Calibri"/>
            </a:endParaRPr>
          </a:p>
        </p:txBody>
      </p:sp>
    </p:spTree>
  </p:cSld>
  <p:clrMapOvr>
    <a:masterClrMapping/>
  </p:clrMapOvr>
</p:sld>
</file>

<file path=ppt/slides/slide10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1097280"/>
            <a:ext cx="3657600" cy="457200"/>
          </a:xfrm>
          <a:prstGeom prst="rect">
            <a:avLst/>
          </a:prstGeom>
          <a:noFill/>
        </p:spPr>
        <p:txBody>
          <a:bodyPr wrap="square" lIns="45720" rIns="45720" anchor="t">
            <a:spAutoFit/>
          </a:bodyPr>
          <a:lstStyle/>
          <a:p>
            <a:pPr algn="l">
              <a:lnSpc>
                <a:spcPct val="108000"/>
              </a:lnSpc>
              <a:spcAft>
                <a:spcPts val="400"/>
              </a:spcAft>
            </a:pPr>
            <a:r>
              <a:rPr sz="1600" b="1" i="0">
                <a:solidFill>
                  <a:srgbClr val="FF8A99"/>
                </a:solidFill>
                <a:latin typeface="Calibri"/>
              </a:rPr>
              <a:t>PART 1 · WHY</a:t>
            </a:r>
          </a:p>
        </p:txBody>
      </p:sp>
      <p:sp>
        <p:nvSpPr>
          <p:cNvPr id="4" name="TextBox 3"/>
          <p:cNvSpPr txBox="1"/>
          <p:nvPr/>
        </p:nvSpPr>
        <p:spPr>
          <a:xfrm>
            <a:off x="822960" y="1554480"/>
            <a:ext cx="10241280" cy="1645920"/>
          </a:xfrm>
          <a:prstGeom prst="rect">
            <a:avLst/>
          </a:prstGeom>
          <a:noFill/>
        </p:spPr>
        <p:txBody>
          <a:bodyPr wrap="square" lIns="45720" rIns="45720" anchor="t">
            <a:spAutoFit/>
          </a:bodyPr>
          <a:lstStyle/>
          <a:p>
            <a:pPr algn="l">
              <a:lnSpc>
                <a:spcPct val="100000"/>
              </a:lnSpc>
              <a:spcAft>
                <a:spcPts val="400"/>
              </a:spcAft>
            </a:pPr>
            <a:r>
              <a:rPr sz="4000" b="1" i="0">
                <a:solidFill>
                  <a:srgbClr val="FFFFFF"/>
                </a:solidFill>
                <a:latin typeface="Calibri"/>
              </a:rPr>
              <a:t>Travel discovery is moving into the assistant, and Flight Centre had gaps in the sampled unbranded answers</a:t>
            </a:r>
          </a:p>
        </p:txBody>
      </p:sp>
      <p:sp>
        <p:nvSpPr>
          <p:cNvPr id="5" name="TextBox 4"/>
          <p:cNvSpPr txBox="1"/>
          <p:nvPr/>
        </p:nvSpPr>
        <p:spPr>
          <a:xfrm>
            <a:off x="822960" y="3383280"/>
            <a:ext cx="9601200" cy="822960"/>
          </a:xfrm>
          <a:prstGeom prst="rect">
            <a:avLst/>
          </a:prstGeom>
          <a:noFill/>
        </p:spPr>
        <p:txBody>
          <a:bodyPr wrap="square" lIns="45720" rIns="45720" anchor="t">
            <a:spAutoFit/>
          </a:bodyPr>
          <a:lstStyle/>
          <a:p>
            <a:pPr algn="l">
              <a:lnSpc>
                <a:spcPct val="108000"/>
              </a:lnSpc>
              <a:spcAft>
                <a:spcPts val="400"/>
              </a:spcAft>
            </a:pPr>
            <a:r>
              <a:rPr sz="1800" b="0" i="0">
                <a:solidFill>
                  <a:srgbClr val="C9D6EA"/>
                </a:solidFill>
                <a:latin typeface="Calibri"/>
              </a:rPr>
              <a:t>External signals on agentic commerce, and what our audits found on FC.com.</a:t>
            </a:r>
          </a:p>
        </p:txBody>
      </p:sp>
      <p:sp>
        <p:nvSpPr>
          <p:cNvPr id="6" name="TextBox 5"/>
          <p:cNvSpPr txBox="1"/>
          <p:nvPr/>
        </p:nvSpPr>
        <p:spPr>
          <a:xfrm>
            <a:off x="822960" y="4480560"/>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How customers now start a trip, in the US and in Australia</a:t>
            </a:r>
          </a:p>
        </p:txBody>
      </p:sp>
      <p:sp>
        <p:nvSpPr>
          <p:cNvPr id="7" name="TextBox 6"/>
          <p:cNvSpPr txBox="1"/>
          <p:nvPr/>
        </p:nvSpPr>
        <p:spPr>
          <a:xfrm>
            <a:off x="822960" y="4864608"/>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Who is already inside the chat</a:t>
            </a:r>
          </a:p>
        </p:txBody>
      </p:sp>
      <p:sp>
        <p:nvSpPr>
          <p:cNvPr id="8" name="TextBox 7"/>
          <p:cNvSpPr txBox="1"/>
          <p:nvPr/>
        </p:nvSpPr>
        <p:spPr>
          <a:xfrm>
            <a:off x="822960" y="5248656"/>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Where FC.com stands today, layer by layer</a:t>
            </a:r>
          </a:p>
        </p:txBody>
      </p:sp>
      <p:sp>
        <p:nvSpPr>
          <p:cNvPr id="9" name="TextBox 8"/>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9FB3CC"/>
                </a:solidFill>
                <a:latin typeface="Calibri"/>
              </a:rPr>
              <a:t>3</a:t>
            </a:r>
          </a:p>
        </p:txBody>
      </p:sp>
    </p:spTree>
  </p:cSld>
  <p:clrMapOvr>
    <a:masterClrMapping/>
  </p:clrMapOvr>
</p:sld>
</file>

<file path=ppt/slides/slide10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FLIGHT CENTRE GEO</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spcBef>
                <a:spcPts val="0"/>
              </a:spcBef>
              <a:spcAft>
                <a:spcPts val="300"/>
              </a:spcAft>
            </a:pPr>
            <a:r>
              <a:rPr sz="2800" b="1" i="0">
                <a:solidFill>
                  <a:srgbClr val="0B2240"/>
                </a:solidFill>
                <a:latin typeface="Calibri"/>
              </a:rPr>
              <a:t>Why AI discovery matters to Flight Centre</a:t>
            </a:r>
          </a:p>
        </p:txBody>
      </p:sp>
      <p:sp>
        <p:nvSpPr>
          <p:cNvPr id="4" name="Rounded Rectangle 3"/>
          <p:cNvSpPr/>
          <p:nvPr/>
        </p:nvSpPr>
        <p:spPr>
          <a:xfrm>
            <a:off x="10049256" y="329184"/>
            <a:ext cx="1609344"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External signals</a:t>
            </a:r>
          </a:p>
        </p:txBody>
      </p:sp>
      <p:sp>
        <p:nvSpPr>
          <p:cNvPr id="5" name="Rounded Rectangle 4"/>
          <p:cNvSpPr/>
          <p:nvPr/>
        </p:nvSpPr>
        <p:spPr>
          <a:xfrm>
            <a:off x="2396275" y="1311294"/>
            <a:ext cx="2697480" cy="1600200"/>
          </a:xfrm>
          <a:prstGeom prst="roundRect">
            <a:avLst>
              <a:gd name="adj" fmla="val 6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6" name="TextBox 5"/>
          <p:cNvSpPr txBox="1"/>
          <p:nvPr/>
        </p:nvSpPr>
        <p:spPr>
          <a:xfrm>
            <a:off x="2910222" y="1437252"/>
            <a:ext cx="2423160" cy="707886"/>
          </a:xfrm>
          <a:prstGeom prst="rect">
            <a:avLst/>
          </a:prstGeom>
          <a:noFill/>
        </p:spPr>
        <p:txBody>
          <a:bodyPr wrap="square" lIns="45720" rIns="45720" anchor="t">
            <a:spAutoFit/>
          </a:bodyPr>
          <a:lstStyle/>
          <a:p>
            <a:pPr>
              <a:spcAft>
                <a:spcPts val="400"/>
              </a:spcAft>
            </a:pPr>
            <a:r>
              <a:rPr lang="en-SG" sz="4000" b="1" dirty="0">
                <a:solidFill>
                  <a:srgbClr val="FFFFFF"/>
                </a:solidFill>
              </a:rPr>
              <a:t>+28.8%</a:t>
            </a:r>
          </a:p>
        </p:txBody>
      </p:sp>
      <p:sp>
        <p:nvSpPr>
          <p:cNvPr id="7" name="TextBox 6"/>
          <p:cNvSpPr txBox="1"/>
          <p:nvPr/>
        </p:nvSpPr>
        <p:spPr>
          <a:xfrm>
            <a:off x="2533435" y="2004677"/>
            <a:ext cx="2423160" cy="828112"/>
          </a:xfrm>
          <a:prstGeom prst="rect">
            <a:avLst/>
          </a:prstGeom>
          <a:noFill/>
        </p:spPr>
        <p:txBody>
          <a:bodyPr wrap="square" lIns="45720" rIns="45720" anchor="t">
            <a:spAutoFit/>
          </a:bodyPr>
          <a:lstStyle/>
          <a:p>
            <a:pPr>
              <a:lnSpc>
                <a:spcPct val="105000"/>
              </a:lnSpc>
            </a:pPr>
            <a:r>
              <a:rPr lang="en-US" sz="1150" dirty="0">
                <a:solidFill>
                  <a:srgbClr val="FFFFFF"/>
                </a:solidFill>
              </a:rPr>
              <a:t>of Australian </a:t>
            </a:r>
            <a:r>
              <a:rPr lang="en-US" sz="1150" dirty="0" err="1">
                <a:solidFill>
                  <a:srgbClr val="FFFFFF"/>
                </a:solidFill>
              </a:rPr>
              <a:t>travellers</a:t>
            </a:r>
            <a:r>
              <a:rPr lang="en-US" sz="1150" dirty="0">
                <a:solidFill>
                  <a:srgbClr val="FFFFFF"/>
                </a:solidFill>
              </a:rPr>
              <a:t> used generative AI to find deals, research destinations or build itineraries (Compare the Market survey, 2026)</a:t>
            </a:r>
          </a:p>
        </p:txBody>
      </p:sp>
      <p:sp>
        <p:nvSpPr>
          <p:cNvPr id="8" name="Rounded Rectangle 7"/>
          <p:cNvSpPr/>
          <p:nvPr/>
        </p:nvSpPr>
        <p:spPr>
          <a:xfrm>
            <a:off x="6789420" y="1324490"/>
            <a:ext cx="2697480" cy="1600200"/>
          </a:xfrm>
          <a:prstGeom prst="roundRect">
            <a:avLst>
              <a:gd name="adj" fmla="val 6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368605" y="1407348"/>
            <a:ext cx="2423160" cy="707886"/>
          </a:xfrm>
          <a:prstGeom prst="rect">
            <a:avLst/>
          </a:prstGeom>
          <a:noFill/>
        </p:spPr>
        <p:txBody>
          <a:bodyPr wrap="square" lIns="45720" rIns="45720" anchor="t">
            <a:spAutoFit/>
          </a:bodyPr>
          <a:lstStyle/>
          <a:p>
            <a:pPr>
              <a:spcAft>
                <a:spcPts val="400"/>
              </a:spcAft>
            </a:pPr>
            <a:r>
              <a:rPr lang="en-SG" sz="4000" b="1" dirty="0">
                <a:solidFill>
                  <a:srgbClr val="FFFFFF"/>
                </a:solidFill>
              </a:rPr>
              <a:t>+119%</a:t>
            </a:r>
          </a:p>
        </p:txBody>
      </p:sp>
      <p:sp>
        <p:nvSpPr>
          <p:cNvPr id="10" name="TextBox 9"/>
          <p:cNvSpPr txBox="1"/>
          <p:nvPr/>
        </p:nvSpPr>
        <p:spPr>
          <a:xfrm>
            <a:off x="7029047" y="1995702"/>
            <a:ext cx="2423160" cy="1065228"/>
          </a:xfrm>
          <a:prstGeom prst="rect">
            <a:avLst/>
          </a:prstGeom>
          <a:noFill/>
        </p:spPr>
        <p:txBody>
          <a:bodyPr wrap="square" lIns="45720" rIns="45720" anchor="t">
            <a:spAutoFit/>
          </a:bodyPr>
          <a:lstStyle/>
          <a:p>
            <a:pPr>
              <a:lnSpc>
                <a:spcPct val="105000"/>
              </a:lnSpc>
              <a:spcAft>
                <a:spcPts val="400"/>
              </a:spcAft>
            </a:pPr>
            <a:r>
              <a:rPr lang="en-US" sz="1150" dirty="0">
                <a:solidFill>
                  <a:srgbClr val="FFFFFF"/>
                </a:solidFill>
              </a:rPr>
              <a:t>year-on-year growth in AI-referred visits to travel websites, July 2026; they convert within 1% of other traffic (Adobe Digital Insights)</a:t>
            </a:r>
          </a:p>
          <a:p>
            <a:pPr algn="l">
              <a:lnSpc>
                <a:spcPct val="105000"/>
              </a:lnSpc>
              <a:spcAft>
                <a:spcPts val="400"/>
              </a:spcAft>
            </a:pPr>
            <a:endParaRPr sz="1150" b="0" i="0" dirty="0">
              <a:solidFill>
                <a:srgbClr val="FFFFFF"/>
              </a:solidFill>
              <a:latin typeface="Calibri"/>
            </a:endParaRPr>
          </a:p>
        </p:txBody>
      </p:sp>
      <p:sp>
        <p:nvSpPr>
          <p:cNvPr id="17" name="Rounded Rectangle 16"/>
          <p:cNvSpPr/>
          <p:nvPr/>
        </p:nvSpPr>
        <p:spPr>
          <a:xfrm>
            <a:off x="548640" y="3520440"/>
            <a:ext cx="5486400" cy="2606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13232" y="3685032"/>
            <a:ext cx="5157216" cy="314253"/>
          </a:xfrm>
          <a:prstGeom prst="rect">
            <a:avLst/>
          </a:prstGeom>
          <a:noFill/>
        </p:spPr>
        <p:txBody>
          <a:bodyPr wrap="square" lIns="45720" rIns="45720" anchor="t">
            <a:spAutoFit/>
          </a:bodyPr>
          <a:lstStyle/>
          <a:p>
            <a:pPr algn="l">
              <a:lnSpc>
                <a:spcPct val="108000"/>
              </a:lnSpc>
              <a:spcAft>
                <a:spcPts val="400"/>
              </a:spcAft>
            </a:pPr>
            <a:r>
              <a:rPr lang="en-SG" sz="1400" b="1" i="0" dirty="0">
                <a:solidFill>
                  <a:srgbClr val="0B2240"/>
                </a:solidFill>
                <a:latin typeface="Calibri"/>
              </a:rPr>
              <a:t>Local Statistics: Australian market </a:t>
            </a:r>
            <a:endParaRPr sz="1400" b="1" i="0" dirty="0">
              <a:solidFill>
                <a:srgbClr val="0B2240"/>
              </a:solidFill>
              <a:latin typeface="Calibri"/>
            </a:endParaRPr>
          </a:p>
        </p:txBody>
      </p:sp>
      <p:sp>
        <p:nvSpPr>
          <p:cNvPr id="19" name="TextBox 18"/>
          <p:cNvSpPr txBox="1"/>
          <p:nvPr/>
        </p:nvSpPr>
        <p:spPr>
          <a:xfrm>
            <a:off x="713232" y="4069080"/>
            <a:ext cx="5157216" cy="2146742"/>
          </a:xfrm>
          <a:prstGeom prst="rect">
            <a:avLst/>
          </a:prstGeom>
          <a:noFill/>
        </p:spPr>
        <p:txBody>
          <a:bodyPr wrap="square" lIns="45720" rIns="45720" anchor="t">
            <a:spAutoFit/>
          </a:bodyPr>
          <a:lstStyle/>
          <a:p>
            <a:pPr>
              <a:spcAft>
                <a:spcPts val="300"/>
              </a:spcAft>
            </a:pPr>
            <a:r>
              <a:rPr lang="en-SG" sz="1800" b="0" i="0" dirty="0">
                <a:solidFill>
                  <a:srgbClr val="1F2937"/>
                </a:solidFill>
                <a:latin typeface="Calibri"/>
              </a:rPr>
              <a:t>- </a:t>
            </a:r>
            <a:r>
              <a:rPr lang="en-SG" dirty="0"/>
              <a:t>In Australia, almost 29% of travellers surveyed have already used generative AI to find deals</a:t>
            </a:r>
          </a:p>
          <a:p>
            <a:pPr algn="l">
              <a:spcBef>
                <a:spcPts val="0"/>
              </a:spcBef>
              <a:spcAft>
                <a:spcPts val="300"/>
              </a:spcAft>
            </a:pPr>
            <a:endParaRPr lang="en-SG" sz="1800" b="0" i="0" dirty="0">
              <a:solidFill>
                <a:srgbClr val="1F2937"/>
              </a:solidFill>
              <a:latin typeface="Calibri"/>
            </a:endParaRPr>
          </a:p>
          <a:p>
            <a:pPr>
              <a:spcAft>
                <a:spcPts val="300"/>
              </a:spcAft>
            </a:pPr>
            <a:r>
              <a:rPr sz="1800" b="1" i="0" dirty="0">
                <a:solidFill>
                  <a:srgbClr val="1F2937"/>
                </a:solidFill>
                <a:latin typeface="Calibri"/>
              </a:rPr>
              <a:t>Business </a:t>
            </a:r>
            <a:r>
              <a:rPr lang="en-SG" b="1" dirty="0">
                <a:solidFill>
                  <a:srgbClr val="1F2937"/>
                </a:solidFill>
                <a:latin typeface="Calibri"/>
              </a:rPr>
              <a:t>Opportunity </a:t>
            </a:r>
            <a:r>
              <a:rPr sz="1800" b="0" i="0" dirty="0">
                <a:solidFill>
                  <a:srgbClr val="1F2937"/>
                </a:solidFill>
                <a:latin typeface="Calibri"/>
              </a:rPr>
              <a:t>:</a:t>
            </a:r>
            <a:r>
              <a:rPr lang="en-SG" sz="1800" b="0" i="0" dirty="0">
                <a:solidFill>
                  <a:srgbClr val="1F2937"/>
                </a:solidFill>
                <a:latin typeface="Calibri"/>
              </a:rPr>
              <a:t> </a:t>
            </a:r>
            <a:r>
              <a:rPr lang="en-SG" dirty="0"/>
              <a:t>we want to make sure </a:t>
            </a:r>
            <a:r>
              <a:rPr lang="en-SG" b="1" dirty="0"/>
              <a:t>Flight Centre</a:t>
            </a:r>
            <a:r>
              <a:rPr lang="en-SG" dirty="0"/>
              <a:t> is one of the businesses they discover and consider when planning their holidays.</a:t>
            </a:r>
          </a:p>
          <a:p>
            <a:pPr algn="l">
              <a:spcBef>
                <a:spcPts val="0"/>
              </a:spcBef>
              <a:spcAft>
                <a:spcPts val="300"/>
              </a:spcAft>
            </a:pPr>
            <a:endParaRPr sz="1800" b="0" i="0" dirty="0">
              <a:solidFill>
                <a:srgbClr val="1F2937"/>
              </a:solidFill>
              <a:latin typeface="Calibri"/>
            </a:endParaRPr>
          </a:p>
        </p:txBody>
      </p:sp>
      <p:sp>
        <p:nvSpPr>
          <p:cNvPr id="20" name="Rounded Rectangle 19"/>
          <p:cNvSpPr/>
          <p:nvPr/>
        </p:nvSpPr>
        <p:spPr>
          <a:xfrm>
            <a:off x="6217920" y="3520440"/>
            <a:ext cx="5440680" cy="2606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382512" y="3685032"/>
            <a:ext cx="5111496" cy="314253"/>
          </a:xfrm>
          <a:prstGeom prst="rect">
            <a:avLst/>
          </a:prstGeom>
          <a:noFill/>
        </p:spPr>
        <p:txBody>
          <a:bodyPr wrap="square" lIns="45720" rIns="45720" anchor="t">
            <a:spAutoFit/>
          </a:bodyPr>
          <a:lstStyle/>
          <a:p>
            <a:pPr algn="l">
              <a:lnSpc>
                <a:spcPct val="108000"/>
              </a:lnSpc>
              <a:spcAft>
                <a:spcPts val="400"/>
              </a:spcAft>
            </a:pPr>
            <a:r>
              <a:rPr lang="en-SG" sz="1400" b="1" i="0" dirty="0">
                <a:solidFill>
                  <a:srgbClr val="0B2240"/>
                </a:solidFill>
                <a:latin typeface="Calibri"/>
              </a:rPr>
              <a:t>Global Statistic: US market</a:t>
            </a:r>
            <a:endParaRPr sz="1400" b="1" i="0" dirty="0">
              <a:solidFill>
                <a:srgbClr val="0B2240"/>
              </a:solidFill>
              <a:latin typeface="Calibri"/>
            </a:endParaRPr>
          </a:p>
        </p:txBody>
      </p:sp>
      <p:sp>
        <p:nvSpPr>
          <p:cNvPr id="22" name="TextBox 21"/>
          <p:cNvSpPr txBox="1"/>
          <p:nvPr/>
        </p:nvSpPr>
        <p:spPr>
          <a:xfrm>
            <a:off x="6382512" y="4069080"/>
            <a:ext cx="5111496" cy="1515800"/>
          </a:xfrm>
          <a:prstGeom prst="rect">
            <a:avLst/>
          </a:prstGeom>
          <a:noFill/>
        </p:spPr>
        <p:txBody>
          <a:bodyPr wrap="square" lIns="45720" rIns="45720" anchor="t">
            <a:spAutoFit/>
          </a:bodyPr>
          <a:lstStyle/>
          <a:p>
            <a:pPr>
              <a:spcAft>
                <a:spcPts val="300"/>
              </a:spcAft>
            </a:pPr>
            <a:r>
              <a:rPr lang="en-SG" sz="1800" b="0" i="0" dirty="0">
                <a:solidFill>
                  <a:srgbClr val="1F2937"/>
                </a:solidFill>
                <a:latin typeface="Calibri"/>
              </a:rPr>
              <a:t>- </a:t>
            </a:r>
            <a:r>
              <a:rPr lang="en-SG" dirty="0"/>
              <a:t>US travel websites experienced a </a:t>
            </a:r>
            <a:r>
              <a:rPr lang="en-SG" b="1" dirty="0"/>
              <a:t>119% increase in traffic coming from AI platforms compared to the previous year.</a:t>
            </a:r>
            <a:endParaRPr lang="en-SG" dirty="0"/>
          </a:p>
          <a:p>
            <a:pPr>
              <a:spcAft>
                <a:spcPts val="300"/>
              </a:spcAft>
            </a:pPr>
            <a:r>
              <a:rPr lang="en-SG" sz="1800" b="0" i="0" dirty="0">
                <a:solidFill>
                  <a:srgbClr val="1F2937"/>
                </a:solidFill>
                <a:latin typeface="Calibri"/>
              </a:rPr>
              <a:t>- I</a:t>
            </a:r>
            <a:r>
              <a:rPr lang="en-SG" dirty="0"/>
              <a:t>ndication of how AI is becoming another way for customers to discover travel agencies. </a:t>
            </a:r>
            <a:endParaRPr sz="1800" b="0" i="0" dirty="0">
              <a:solidFill>
                <a:srgbClr val="1F2937"/>
              </a:solidFill>
              <a:latin typeface="Calibri"/>
            </a:endParaRPr>
          </a:p>
        </p:txBody>
      </p:sp>
      <p:sp>
        <p:nvSpPr>
          <p:cNvPr id="23" name="TextBox 22"/>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dirty="0">
                <a:solidFill>
                  <a:srgbClr val="5B6573"/>
                </a:solidFill>
                <a:latin typeface="Calibri"/>
              </a:rPr>
              <a:t>Sources: </a:t>
            </a:r>
            <a:r>
              <a:rPr sz="900" b="0" i="0" dirty="0" err="1">
                <a:solidFill>
                  <a:srgbClr val="5B6573"/>
                </a:solidFill>
                <a:latin typeface="Calibri"/>
              </a:rPr>
              <a:t>Phocuswright</a:t>
            </a:r>
            <a:r>
              <a:rPr sz="900" b="0" i="0" dirty="0">
                <a:solidFill>
                  <a:srgbClr val="5B6573"/>
                </a:solidFill>
                <a:latin typeface="Calibri"/>
              </a:rPr>
              <a:t>, The AI Surge (2026) as reported by ITB Berlin and Travel Weekly; Compare the Market Australian </a:t>
            </a:r>
            <a:r>
              <a:rPr sz="900" b="0" i="0" dirty="0" err="1">
                <a:solidFill>
                  <a:srgbClr val="5B6573"/>
                </a:solidFill>
                <a:latin typeface="Calibri"/>
              </a:rPr>
              <a:t>traveller</a:t>
            </a:r>
            <a:r>
              <a:rPr sz="900" b="0" i="0" dirty="0">
                <a:solidFill>
                  <a:srgbClr val="5B6573"/>
                </a:solidFill>
                <a:latin typeface="Calibri"/>
              </a:rPr>
              <a:t> survey (2026, via </a:t>
            </a:r>
            <a:r>
              <a:rPr sz="900" b="0" i="0" dirty="0" err="1">
                <a:solidFill>
                  <a:srgbClr val="5B6573"/>
                </a:solidFill>
                <a:latin typeface="Calibri"/>
              </a:rPr>
              <a:t>ITBrief</a:t>
            </a:r>
            <a:r>
              <a:rPr sz="900" b="0" i="0" dirty="0">
                <a:solidFill>
                  <a:srgbClr val="5B6573"/>
                </a:solidFill>
                <a:latin typeface="Calibri"/>
              </a:rPr>
              <a:t>); Adobe Digital Insights AI Traffic Trends (19 Aug 2026); </a:t>
            </a:r>
            <a:r>
              <a:rPr sz="900" b="0" i="0" dirty="0" err="1">
                <a:solidFill>
                  <a:srgbClr val="5B6573"/>
                </a:solidFill>
                <a:latin typeface="Calibri"/>
              </a:rPr>
              <a:t>Chapekis</a:t>
            </a:r>
            <a:r>
              <a:rPr sz="900" b="0" i="0" dirty="0">
                <a:solidFill>
                  <a:srgbClr val="5B6573"/>
                </a:solidFill>
                <a:latin typeface="Calibri"/>
              </a:rPr>
              <a:t> &amp; Lieb, Pew Research Center (22 Jul 2025); FCTG FY26 ASX results (26 Aug 2026).</a:t>
            </a:r>
          </a:p>
        </p:txBody>
      </p:sp>
      <p:sp>
        <p:nvSpPr>
          <p:cNvPr id="24" name="TextBox 23"/>
          <p:cNvSpPr txBox="1"/>
          <p:nvPr/>
        </p:nvSpPr>
        <p:spPr>
          <a:xfrm>
            <a:off x="11247120" y="6382512"/>
            <a:ext cx="411480" cy="235001"/>
          </a:xfrm>
          <a:prstGeom prst="rect">
            <a:avLst/>
          </a:prstGeom>
          <a:noFill/>
        </p:spPr>
        <p:txBody>
          <a:bodyPr wrap="square" lIns="45720" rIns="45720" anchor="t">
            <a:spAutoFit/>
          </a:bodyPr>
          <a:lstStyle/>
          <a:p>
            <a:pPr algn="r">
              <a:lnSpc>
                <a:spcPct val="108000"/>
              </a:lnSpc>
              <a:spcAft>
                <a:spcPts val="400"/>
              </a:spcAft>
            </a:pPr>
            <a:r>
              <a:rPr lang="en-US" sz="900" b="0" i="0">
                <a:solidFill>
                  <a:srgbClr val="5B6573"/>
                </a:solidFill>
                <a:latin typeface="Calibri"/>
              </a:rPr>
              <a:t>3</a:t>
            </a:r>
            <a:endParaRPr sz="900" b="0" i="0">
              <a:solidFill>
                <a:srgbClr val="5B6573"/>
              </a:solidFill>
              <a:latin typeface="Calibri"/>
            </a:endParaRPr>
          </a:p>
        </p:txBody>
      </p:sp>
    </p:spTree>
  </p:cSld>
  <p:clrMapOvr>
    <a:masterClrMapping/>
  </p:clrMapOvr>
</p:sld>
</file>

<file path=ppt/slides/slide10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18B0C27-16DE-485C-965C-40256E794335}"/>
              </a:ext>
            </a:extLst>
          </p:cNvPr>
          <p:cNvSpPr>
            <a:spLocks noGrp="1"/>
          </p:cNvSpPr>
          <p:nvPr/>
        </p:nvSpPr>
        <p:spPr>
          <a:xfrm>
            <a:off x="457200" y="247650"/>
            <a:ext cx="11277600" cy="285750"/>
          </a:xfrm>
          <a:prstGeom prst="rect">
            <a:avLst/>
          </a:prstGeom>
          <a:noFill/>
          <a:ln w="0">
            <a:noFill/>
          </a:ln>
        </p:spPr>
        <p:txBody>
          <a:bodyPr anchor="ctr"/>
          <a:lstStyle>
            <a:defPPr>
              <a:defRPr sz="1200" b="1">
                <a:solidFill>
                  <a:srgbClr val="ED193A"/>
                </a:solidFill>
              </a:defRPr>
            </a:defPPr>
            <a:lvl1pPr>
              <a:defRPr sz="1200" b="1">
                <a:solidFill>
                  <a:srgbClr val="ED193A"/>
                </a:solidFill>
              </a:defRPr>
            </a:lvl1pPr>
            <a:lvl2pPr>
              <a:defRPr sz="1200" b="1">
                <a:solidFill>
                  <a:srgbClr val="ED193A"/>
                </a:solidFill>
              </a:defRPr>
            </a:lvl2pPr>
            <a:lvl3pPr>
              <a:defRPr sz="1200" b="1">
                <a:solidFill>
                  <a:srgbClr val="ED193A"/>
                </a:solidFill>
              </a:defRPr>
            </a:lvl3pPr>
            <a:lvl4pPr>
              <a:defRPr sz="1200" b="1">
                <a:solidFill>
                  <a:srgbClr val="ED193A"/>
                </a:solidFill>
              </a:defRPr>
            </a:lvl4pPr>
            <a:lvl5pPr>
              <a:defRPr sz="1200" b="1">
                <a:solidFill>
                  <a:srgbClr val="ED193A"/>
                </a:solidFill>
              </a:defRPr>
            </a:lvl5pPr>
            <a:lvl6pPr>
              <a:defRPr sz="1200" b="1">
                <a:solidFill>
                  <a:srgbClr val="ED193A"/>
                </a:solidFill>
              </a:defRPr>
            </a:lvl6pPr>
            <a:lvl7pPr>
              <a:defRPr sz="1200" b="1">
                <a:solidFill>
                  <a:srgbClr val="ED193A"/>
                </a:solidFill>
              </a:defRPr>
            </a:lvl7pPr>
            <a:lvl8pPr>
              <a:defRPr sz="1200" b="1">
                <a:solidFill>
                  <a:srgbClr val="ED193A"/>
                </a:solidFill>
              </a:defRPr>
            </a:lvl8pPr>
            <a:lvl9pPr>
              <a:defRPr sz="1200" b="1">
                <a:solidFill>
                  <a:srgbClr val="ED193A"/>
                </a:solidFill>
              </a:defRPr>
            </a:lvl9pPr>
          </a:lstStyle>
          <a:p>
            <a:pPr>
              <a:defRPr sz="1200" b="1">
                <a:solidFill>
                  <a:srgbClr val="ED193A"/>
                </a:solidFill>
              </a:defRPr>
            </a:pPr>
            <a:r>
              <a:rPr sz="1200" b="1">
                <a:solidFill>
                  <a:srgbClr val="ED193A"/>
                </a:solidFill>
              </a:rPr>
              <a:t>THE CUSTOMER JOURNEY</a:t>
            </a:r>
          </a:p>
        </p:txBody>
      </p:sp>
      <p:sp>
        <p:nvSpPr>
          <p:cNvPr id="2" name="Rectangle 1">
            <a:extLst>
              <a:ext uri="{FF2B5EF4-FFF2-40B4-BE49-F238E27FC236}">
                <a16:creationId xmlns:a16="http://schemas.microsoft.com/office/drawing/2014/main" id="{DAF86F41-C5C1-4141-8849-09A5446D6A3F}"/>
              </a:ext>
            </a:extLst>
          </p:cNvPr>
          <p:cNvSpPr>
            <a:spLocks noGrp="1"/>
          </p:cNvSpPr>
          <p:nvPr/>
        </p:nvSpPr>
        <p:spPr>
          <a:xfrm>
            <a:off x="457200" y="733425"/>
            <a:ext cx="11277600" cy="857250"/>
          </a:xfrm>
          <a:prstGeom prst="rect">
            <a:avLst/>
          </a:prstGeom>
          <a:noFill/>
          <a:ln w="0">
            <a:noFill/>
          </a:ln>
        </p:spPr>
        <p:txBody>
          <a:bodyPr anchor="ctr"/>
          <a:lstStyle>
            <a:defPPr>
              <a:defRPr sz="3000" b="1">
                <a:solidFill>
                  <a:srgbClr val="10253F"/>
                </a:solidFill>
              </a:defRPr>
            </a:defPPr>
            <a:lvl1pPr>
              <a:defRPr sz="3000" b="1">
                <a:solidFill>
                  <a:srgbClr val="10253F"/>
                </a:solidFill>
              </a:defRPr>
            </a:lvl1pPr>
            <a:lvl2pPr>
              <a:defRPr sz="3000" b="1">
                <a:solidFill>
                  <a:srgbClr val="10253F"/>
                </a:solidFill>
              </a:defRPr>
            </a:lvl2pPr>
            <a:lvl3pPr>
              <a:defRPr sz="3000" b="1">
                <a:solidFill>
                  <a:srgbClr val="10253F"/>
                </a:solidFill>
              </a:defRPr>
            </a:lvl3pPr>
            <a:lvl4pPr>
              <a:defRPr sz="3000" b="1">
                <a:solidFill>
                  <a:srgbClr val="10253F"/>
                </a:solidFill>
              </a:defRPr>
            </a:lvl4pPr>
            <a:lvl5pPr>
              <a:defRPr sz="3000" b="1">
                <a:solidFill>
                  <a:srgbClr val="10253F"/>
                </a:solidFill>
              </a:defRPr>
            </a:lvl5pPr>
            <a:lvl6pPr>
              <a:defRPr sz="3000" b="1">
                <a:solidFill>
                  <a:srgbClr val="10253F"/>
                </a:solidFill>
              </a:defRPr>
            </a:lvl6pPr>
            <a:lvl7pPr>
              <a:defRPr sz="3000" b="1">
                <a:solidFill>
                  <a:srgbClr val="10253F"/>
                </a:solidFill>
              </a:defRPr>
            </a:lvl7pPr>
            <a:lvl8pPr>
              <a:defRPr sz="3000" b="1">
                <a:solidFill>
                  <a:srgbClr val="10253F"/>
                </a:solidFill>
              </a:defRPr>
            </a:lvl8pPr>
            <a:lvl9pPr>
              <a:defRPr sz="3000" b="1">
                <a:solidFill>
                  <a:srgbClr val="10253F"/>
                </a:solidFill>
              </a:defRPr>
            </a:lvl9pPr>
          </a:lstStyle>
          <a:p>
            <a:pPr>
              <a:defRPr sz="3000" b="1">
                <a:solidFill>
                  <a:srgbClr val="10253F"/>
                </a:solidFill>
              </a:defRPr>
            </a:pPr>
            <a:r>
              <a:rPr sz="3000" b="1">
                <a:solidFill>
                  <a:srgbClr val="10253F"/>
                </a:solidFill>
              </a:rPr>
              <a:t>How a travel question becomes an AI answer</a:t>
            </a:r>
          </a:p>
        </p:txBody>
      </p:sp>
      <p:sp>
        <p:nvSpPr>
          <p:cNvPr id="3" name="Rectangle 2">
            <a:extLst>
              <a:ext uri="{FF2B5EF4-FFF2-40B4-BE49-F238E27FC236}">
                <a16:creationId xmlns:a16="http://schemas.microsoft.com/office/drawing/2014/main" id="{1A31FA8F-0C70-4CFF-BEC6-A6229AD2AFF7}"/>
              </a:ext>
            </a:extLst>
          </p:cNvPr>
          <p:cNvSpPr>
            <a:spLocks noGrp="1"/>
          </p:cNvSpPr>
          <p:nvPr/>
        </p:nvSpPr>
        <p:spPr>
          <a:xfrm>
            <a:off x="457200" y="6305550"/>
            <a:ext cx="11049000" cy="361950"/>
          </a:xfrm>
          <a:prstGeom prst="rect">
            <a:avLst/>
          </a:prstGeom>
          <a:noFill/>
          <a:ln w="0">
            <a:noFill/>
          </a:ln>
        </p:spPr>
        <p:txBody>
          <a:bodyPr anchor="ctr"/>
          <a:lstStyle>
            <a:defPPr>
              <a:defRPr sz="1050" b="0">
                <a:solidFill>
                  <a:srgbClr val="566B82"/>
                </a:solidFill>
              </a:defRPr>
            </a:defPPr>
            <a:lvl1pPr>
              <a:defRPr sz="1050" b="0">
                <a:solidFill>
                  <a:srgbClr val="566B82"/>
                </a:solidFill>
              </a:defRPr>
            </a:lvl1pPr>
            <a:lvl2pPr>
              <a:defRPr sz="1050" b="0">
                <a:solidFill>
                  <a:srgbClr val="566B82"/>
                </a:solidFill>
              </a:defRPr>
            </a:lvl2pPr>
            <a:lvl3pPr>
              <a:defRPr sz="1050" b="0">
                <a:solidFill>
                  <a:srgbClr val="566B82"/>
                </a:solidFill>
              </a:defRPr>
            </a:lvl3pPr>
            <a:lvl4pPr>
              <a:defRPr sz="1050" b="0">
                <a:solidFill>
                  <a:srgbClr val="566B82"/>
                </a:solidFill>
              </a:defRPr>
            </a:lvl4pPr>
            <a:lvl5pPr>
              <a:defRPr sz="1050" b="0">
                <a:solidFill>
                  <a:srgbClr val="566B82"/>
                </a:solidFill>
              </a:defRPr>
            </a:lvl5pPr>
            <a:lvl6pPr>
              <a:defRPr sz="1050" b="0">
                <a:solidFill>
                  <a:srgbClr val="566B82"/>
                </a:solidFill>
              </a:defRPr>
            </a:lvl6pPr>
            <a:lvl7pPr>
              <a:defRPr sz="1050" b="0">
                <a:solidFill>
                  <a:srgbClr val="566B82"/>
                </a:solidFill>
              </a:defRPr>
            </a:lvl7pPr>
            <a:lvl8pPr>
              <a:defRPr sz="1050" b="0">
                <a:solidFill>
                  <a:srgbClr val="566B82"/>
                </a:solidFill>
              </a:defRPr>
            </a:lvl8pPr>
            <a:lvl9pPr>
              <a:defRPr sz="1050" b="0">
                <a:solidFill>
                  <a:srgbClr val="566B82"/>
                </a:solidFill>
              </a:defRPr>
            </a:lvl9pPr>
          </a:lstStyle>
          <a:p>
            <a:pPr>
              <a:defRPr sz="1050" b="0">
                <a:solidFill>
                  <a:srgbClr val="566B82"/>
                </a:solidFill>
              </a:defRPr>
            </a:pPr>
            <a:r>
              <a:rPr sz="1050" b="0">
                <a:solidFill>
                  <a:srgbClr val="566B82"/>
                </a:solidFill>
              </a:rPr>
              <a:t>Conceptual map, not a universal engine specification. Sources: Google Search Central; OpenAI crawler and app documentation.</a:t>
            </a:r>
          </a:p>
        </p:txBody>
      </p:sp>
      <p:sp>
        <p:nvSpPr>
          <p:cNvPr id="4" name="Rectangle 3">
            <a:extLst>
              <a:ext uri="{FF2B5EF4-FFF2-40B4-BE49-F238E27FC236}">
                <a16:creationId xmlns:a16="http://schemas.microsoft.com/office/drawing/2014/main" id="{878A5AF8-75BB-414C-B8C1-B9B3AC83E9B1}"/>
              </a:ext>
            </a:extLst>
          </p:cNvPr>
          <p:cNvSpPr>
            <a:spLocks noGrp="1"/>
          </p:cNvSpPr>
          <p:nvPr/>
        </p:nvSpPr>
        <p:spPr>
          <a:xfrm>
            <a:off x="457200" y="1676400"/>
            <a:ext cx="11239500" cy="476250"/>
          </a:xfrm>
          <a:prstGeom prst="rect">
            <a:avLst/>
          </a:prstGeom>
          <a:noFill/>
          <a:ln w="0">
            <a:noFill/>
          </a:ln>
        </p:spPr>
        <p:txBody>
          <a:bodyPr anchor="ctr"/>
          <a:lstStyle>
            <a:defPPr>
              <a:defRPr sz="2175" b="1">
                <a:solidFill>
                  <a:srgbClr val="21354D"/>
                </a:solidFill>
              </a:defRPr>
            </a:defPPr>
            <a:lvl1pPr>
              <a:defRPr sz="2175" b="1">
                <a:solidFill>
                  <a:srgbClr val="21354D"/>
                </a:solidFill>
              </a:defRPr>
            </a:lvl1pPr>
            <a:lvl2pPr>
              <a:defRPr sz="2175" b="1">
                <a:solidFill>
                  <a:srgbClr val="21354D"/>
                </a:solidFill>
              </a:defRPr>
            </a:lvl2pPr>
            <a:lvl3pPr>
              <a:defRPr sz="2175" b="1">
                <a:solidFill>
                  <a:srgbClr val="21354D"/>
                </a:solidFill>
              </a:defRPr>
            </a:lvl3pPr>
            <a:lvl4pPr>
              <a:defRPr sz="2175" b="1">
                <a:solidFill>
                  <a:srgbClr val="21354D"/>
                </a:solidFill>
              </a:defRPr>
            </a:lvl4pPr>
            <a:lvl5pPr>
              <a:defRPr sz="2175" b="1">
                <a:solidFill>
                  <a:srgbClr val="21354D"/>
                </a:solidFill>
              </a:defRPr>
            </a:lvl5pPr>
            <a:lvl6pPr>
              <a:defRPr sz="2175" b="1">
                <a:solidFill>
                  <a:srgbClr val="21354D"/>
                </a:solidFill>
              </a:defRPr>
            </a:lvl6pPr>
            <a:lvl7pPr>
              <a:defRPr sz="2175" b="1">
                <a:solidFill>
                  <a:srgbClr val="21354D"/>
                </a:solidFill>
              </a:defRPr>
            </a:lvl7pPr>
            <a:lvl8pPr>
              <a:defRPr sz="2175" b="1">
                <a:solidFill>
                  <a:srgbClr val="21354D"/>
                </a:solidFill>
              </a:defRPr>
            </a:lvl8pPr>
            <a:lvl9pPr>
              <a:defRPr sz="2175" b="1">
                <a:solidFill>
                  <a:srgbClr val="21354D"/>
                </a:solidFill>
              </a:defRPr>
            </a:lvl9pPr>
          </a:lstStyle>
          <a:p>
            <a:pPr>
              <a:defRPr sz="2175" b="1">
                <a:solidFill>
                  <a:srgbClr val="21354D"/>
                </a:solidFill>
              </a:defRPr>
            </a:pPr>
            <a:r>
              <a:rPr sz="2175" b="1" dirty="0">
                <a:solidFill>
                  <a:srgbClr val="21354D"/>
                </a:solidFill>
              </a:rPr>
              <a:t>“</a:t>
            </a:r>
            <a:r>
              <a:rPr lang="en-SG" sz="2175" b="1" dirty="0">
                <a:solidFill>
                  <a:srgbClr val="21354D"/>
                </a:solidFill>
              </a:rPr>
              <a:t>Give me a package for a family holiday to Bali</a:t>
            </a:r>
            <a:r>
              <a:rPr sz="2175" b="1" dirty="0">
                <a:solidFill>
                  <a:srgbClr val="21354D"/>
                </a:solidFill>
              </a:rPr>
              <a:t>”</a:t>
            </a:r>
          </a:p>
        </p:txBody>
      </p:sp>
      <p:sp>
        <p:nvSpPr>
          <p:cNvPr id="5" name="Rectangle 4">
            <a:extLst>
              <a:ext uri="{FF2B5EF4-FFF2-40B4-BE49-F238E27FC236}">
                <a16:creationId xmlns:a16="http://schemas.microsoft.com/office/drawing/2014/main" id="{9CFC350D-7C44-4533-B90F-08C53415E37D}"/>
              </a:ext>
            </a:extLst>
          </p:cNvPr>
          <p:cNvSpPr>
            <a:spLocks noGrp="1"/>
          </p:cNvSpPr>
          <p:nvPr/>
        </p:nvSpPr>
        <p:spPr>
          <a:xfrm>
            <a:off x="457200" y="2486025"/>
            <a:ext cx="2114550" cy="657225"/>
          </a:xfrm>
          <a:prstGeom prst="rect">
            <a:avLst/>
          </a:prstGeom>
          <a:solidFill>
            <a:srgbClr val="EDF3F8"/>
          </a:solidFill>
          <a:ln w="9525">
            <a:solidFill>
              <a:srgbClr val="10253F"/>
            </a:solidFill>
          </a:ln>
        </p:spPr>
        <p:txBody>
          <a:bodyPr anchor="ctr"/>
          <a:lstStyle>
            <a:defPPr algn="ctr">
              <a:defRPr sz="1725" b="1">
                <a:solidFill>
                  <a:srgbClr val="10253F"/>
                </a:solidFill>
              </a:defRPr>
            </a:defPPr>
            <a:lvl1pPr algn="ctr">
              <a:defRPr sz="1725" b="1">
                <a:solidFill>
                  <a:srgbClr val="10253F"/>
                </a:solidFill>
              </a:defRPr>
            </a:lvl1pPr>
            <a:lvl2pPr algn="ctr">
              <a:defRPr sz="1725" b="1">
                <a:solidFill>
                  <a:srgbClr val="10253F"/>
                </a:solidFill>
              </a:defRPr>
            </a:lvl2pPr>
            <a:lvl3pPr algn="ctr">
              <a:defRPr sz="1725" b="1">
                <a:solidFill>
                  <a:srgbClr val="10253F"/>
                </a:solidFill>
              </a:defRPr>
            </a:lvl3pPr>
            <a:lvl4pPr algn="ctr">
              <a:defRPr sz="1725" b="1">
                <a:solidFill>
                  <a:srgbClr val="10253F"/>
                </a:solidFill>
              </a:defRPr>
            </a:lvl4pPr>
            <a:lvl5pPr algn="ctr">
              <a:defRPr sz="1725" b="1">
                <a:solidFill>
                  <a:srgbClr val="10253F"/>
                </a:solidFill>
              </a:defRPr>
            </a:lvl5pPr>
            <a:lvl6pPr algn="ctr">
              <a:defRPr sz="1725" b="1">
                <a:solidFill>
                  <a:srgbClr val="10253F"/>
                </a:solidFill>
              </a:defRPr>
            </a:lvl6pPr>
            <a:lvl7pPr algn="ctr">
              <a:defRPr sz="1725" b="1">
                <a:solidFill>
                  <a:srgbClr val="10253F"/>
                </a:solidFill>
              </a:defRPr>
            </a:lvl7pPr>
            <a:lvl8pPr algn="ctr">
              <a:defRPr sz="1725" b="1">
                <a:solidFill>
                  <a:srgbClr val="10253F"/>
                </a:solidFill>
              </a:defRPr>
            </a:lvl8pPr>
            <a:lvl9pPr algn="ctr">
              <a:defRPr sz="1725" b="1">
                <a:solidFill>
                  <a:srgbClr val="10253F"/>
                </a:solidFill>
              </a:defRPr>
            </a:lvl9pPr>
          </a:lstStyle>
          <a:p>
            <a:pPr algn="ctr">
              <a:defRPr sz="1725" b="1">
                <a:solidFill>
                  <a:srgbClr val="10253F"/>
                </a:solidFill>
              </a:defRPr>
            </a:pPr>
            <a:r>
              <a:rPr sz="1725" b="1">
                <a:solidFill>
                  <a:srgbClr val="10253F"/>
                </a:solidFill>
              </a:rPr>
              <a:t>1  Understand</a:t>
            </a:r>
          </a:p>
        </p:txBody>
      </p:sp>
      <p:sp>
        <p:nvSpPr>
          <p:cNvPr id="6" name="Rectangle 5">
            <a:extLst>
              <a:ext uri="{FF2B5EF4-FFF2-40B4-BE49-F238E27FC236}">
                <a16:creationId xmlns:a16="http://schemas.microsoft.com/office/drawing/2014/main" id="{39E772D7-BCB4-45D7-A7D1-2EAEB852C19C}"/>
              </a:ext>
            </a:extLst>
          </p:cNvPr>
          <p:cNvSpPr>
            <a:spLocks noGrp="1"/>
          </p:cNvSpPr>
          <p:nvPr/>
        </p:nvSpPr>
        <p:spPr>
          <a:xfrm>
            <a:off x="457200" y="3343275"/>
            <a:ext cx="2114550" cy="1171575"/>
          </a:xfrm>
          <a:prstGeom prst="rect">
            <a:avLst/>
          </a:prstGeom>
          <a:noFill/>
          <a:ln w="0">
            <a:noFill/>
          </a:ln>
        </p:spPr>
        <p:txBody>
          <a:bodyPr anchor="ctr"/>
          <a:lstStyle>
            <a:defPPr>
              <a:defRPr sz="1725" b="0">
                <a:solidFill>
                  <a:srgbClr val="21354D"/>
                </a:solidFill>
              </a:defRPr>
            </a:defPPr>
            <a:lvl1pPr>
              <a:defRPr sz="1725" b="0">
                <a:solidFill>
                  <a:srgbClr val="21354D"/>
                </a:solidFill>
              </a:defRPr>
            </a:lvl1pPr>
            <a:lvl2pPr>
              <a:defRPr sz="1725" b="0">
                <a:solidFill>
                  <a:srgbClr val="21354D"/>
                </a:solidFill>
              </a:defRPr>
            </a:lvl2pPr>
            <a:lvl3pPr>
              <a:defRPr sz="1725" b="0">
                <a:solidFill>
                  <a:srgbClr val="21354D"/>
                </a:solidFill>
              </a:defRPr>
            </a:lvl3pPr>
            <a:lvl4pPr>
              <a:defRPr sz="1725" b="0">
                <a:solidFill>
                  <a:srgbClr val="21354D"/>
                </a:solidFill>
              </a:defRPr>
            </a:lvl4pPr>
            <a:lvl5pPr>
              <a:defRPr sz="1725" b="0">
                <a:solidFill>
                  <a:srgbClr val="21354D"/>
                </a:solidFill>
              </a:defRPr>
            </a:lvl5pPr>
            <a:lvl6pPr>
              <a:defRPr sz="1725" b="0">
                <a:solidFill>
                  <a:srgbClr val="21354D"/>
                </a:solidFill>
              </a:defRPr>
            </a:lvl6pPr>
            <a:lvl7pPr>
              <a:defRPr sz="1725" b="0">
                <a:solidFill>
                  <a:srgbClr val="21354D"/>
                </a:solidFill>
              </a:defRPr>
            </a:lvl7pPr>
            <a:lvl8pPr>
              <a:defRPr sz="1725" b="0">
                <a:solidFill>
                  <a:srgbClr val="21354D"/>
                </a:solidFill>
              </a:defRPr>
            </a:lvl8pPr>
            <a:lvl9pPr>
              <a:defRPr sz="1725" b="0">
                <a:solidFill>
                  <a:srgbClr val="21354D"/>
                </a:solidFill>
              </a:defRPr>
            </a:lvl9pPr>
          </a:lstStyle>
          <a:p>
            <a:pPr>
              <a:defRPr sz="1725" b="0">
                <a:solidFill>
                  <a:srgbClr val="21354D"/>
                </a:solidFill>
              </a:defRPr>
            </a:pPr>
            <a:r>
              <a:rPr sz="1725" b="0">
                <a:solidFill>
                  <a:srgbClr val="21354D"/>
                </a:solidFill>
              </a:rPr>
              <a:t>Identify the traveller’s need.</a:t>
            </a:r>
          </a:p>
          <a:p>
            <a:pPr>
              <a:defRPr sz="1725" b="0">
                <a:solidFill>
                  <a:srgbClr val="21354D"/>
                </a:solidFill>
              </a:defRPr>
            </a:pPr>
            <a:r>
              <a:rPr sz="1725" b="0">
                <a:solidFill>
                  <a:srgbClr val="21354D"/>
                </a:solidFill>
              </a:rPr>
              <a:t>Some engines issue related searches.</a:t>
            </a:r>
          </a:p>
        </p:txBody>
      </p:sp>
      <p:sp>
        <p:nvSpPr>
          <p:cNvPr id="7" name="Arrow: Right 6">
            <a:extLst>
              <a:ext uri="{FF2B5EF4-FFF2-40B4-BE49-F238E27FC236}">
                <a16:creationId xmlns:a16="http://schemas.microsoft.com/office/drawing/2014/main" id="{4320AFA9-7DBC-4DCE-A418-F4057C0E1431}"/>
              </a:ext>
            </a:extLst>
          </p:cNvPr>
          <p:cNvSpPr>
            <a:spLocks noGrp="1"/>
          </p:cNvSpPr>
          <p:nvPr/>
        </p:nvSpPr>
        <p:spPr>
          <a:xfrm>
            <a:off x="2590800" y="2686050"/>
            <a:ext cx="142875" cy="209550"/>
          </a:xfrm>
          <a:prstGeom prst="rightArrow">
            <a:avLst/>
          </a:prstGeom>
          <a:solidFill>
            <a:srgbClr val="ED193A"/>
          </a:solidFill>
          <a:ln w="0">
            <a:noFill/>
          </a:ln>
        </p:spPr>
        <p:txBody>
          <a:bodyPr/>
          <a:lstStyle/>
          <a:p>
            <a:endParaRPr lang="en-SG"/>
          </a:p>
        </p:txBody>
      </p:sp>
      <p:sp>
        <p:nvSpPr>
          <p:cNvPr id="8" name="Rectangle 7">
            <a:extLst>
              <a:ext uri="{FF2B5EF4-FFF2-40B4-BE49-F238E27FC236}">
                <a16:creationId xmlns:a16="http://schemas.microsoft.com/office/drawing/2014/main" id="{C94ED10C-58ED-4CA5-ABC2-A4797659260B}"/>
              </a:ext>
            </a:extLst>
          </p:cNvPr>
          <p:cNvSpPr>
            <a:spLocks noGrp="1"/>
          </p:cNvSpPr>
          <p:nvPr/>
        </p:nvSpPr>
        <p:spPr>
          <a:xfrm>
            <a:off x="2762250" y="2486025"/>
            <a:ext cx="2114550" cy="657225"/>
          </a:xfrm>
          <a:prstGeom prst="rect">
            <a:avLst/>
          </a:prstGeom>
          <a:solidFill>
            <a:srgbClr val="EDF3F8"/>
          </a:solidFill>
          <a:ln w="9525">
            <a:solidFill>
              <a:srgbClr val="10253F"/>
            </a:solidFill>
          </a:ln>
        </p:spPr>
        <p:txBody>
          <a:bodyPr anchor="ctr"/>
          <a:lstStyle>
            <a:defPPr algn="ctr">
              <a:defRPr sz="1725" b="1">
                <a:solidFill>
                  <a:srgbClr val="10253F"/>
                </a:solidFill>
              </a:defRPr>
            </a:defPPr>
            <a:lvl1pPr algn="ctr">
              <a:defRPr sz="1725" b="1">
                <a:solidFill>
                  <a:srgbClr val="10253F"/>
                </a:solidFill>
              </a:defRPr>
            </a:lvl1pPr>
            <a:lvl2pPr algn="ctr">
              <a:defRPr sz="1725" b="1">
                <a:solidFill>
                  <a:srgbClr val="10253F"/>
                </a:solidFill>
              </a:defRPr>
            </a:lvl2pPr>
            <a:lvl3pPr algn="ctr">
              <a:defRPr sz="1725" b="1">
                <a:solidFill>
                  <a:srgbClr val="10253F"/>
                </a:solidFill>
              </a:defRPr>
            </a:lvl3pPr>
            <a:lvl4pPr algn="ctr">
              <a:defRPr sz="1725" b="1">
                <a:solidFill>
                  <a:srgbClr val="10253F"/>
                </a:solidFill>
              </a:defRPr>
            </a:lvl4pPr>
            <a:lvl5pPr algn="ctr">
              <a:defRPr sz="1725" b="1">
                <a:solidFill>
                  <a:srgbClr val="10253F"/>
                </a:solidFill>
              </a:defRPr>
            </a:lvl5pPr>
            <a:lvl6pPr algn="ctr">
              <a:defRPr sz="1725" b="1">
                <a:solidFill>
                  <a:srgbClr val="10253F"/>
                </a:solidFill>
              </a:defRPr>
            </a:lvl6pPr>
            <a:lvl7pPr algn="ctr">
              <a:defRPr sz="1725" b="1">
                <a:solidFill>
                  <a:srgbClr val="10253F"/>
                </a:solidFill>
              </a:defRPr>
            </a:lvl7pPr>
            <a:lvl8pPr algn="ctr">
              <a:defRPr sz="1725" b="1">
                <a:solidFill>
                  <a:srgbClr val="10253F"/>
                </a:solidFill>
              </a:defRPr>
            </a:lvl8pPr>
            <a:lvl9pPr algn="ctr">
              <a:defRPr sz="1725" b="1">
                <a:solidFill>
                  <a:srgbClr val="10253F"/>
                </a:solidFill>
              </a:defRPr>
            </a:lvl9pPr>
          </a:lstStyle>
          <a:p>
            <a:pPr algn="ctr">
              <a:defRPr sz="1725" b="1">
                <a:solidFill>
                  <a:srgbClr val="10253F"/>
                </a:solidFill>
              </a:defRPr>
            </a:pPr>
            <a:r>
              <a:rPr sz="1725" b="1">
                <a:solidFill>
                  <a:srgbClr val="10253F"/>
                </a:solidFill>
              </a:rPr>
              <a:t>2  Find information</a:t>
            </a:r>
          </a:p>
        </p:txBody>
      </p:sp>
      <p:sp>
        <p:nvSpPr>
          <p:cNvPr id="9" name="Rectangle 8">
            <a:extLst>
              <a:ext uri="{FF2B5EF4-FFF2-40B4-BE49-F238E27FC236}">
                <a16:creationId xmlns:a16="http://schemas.microsoft.com/office/drawing/2014/main" id="{AAE7150D-F8A2-4B73-B79F-2366233900FF}"/>
              </a:ext>
            </a:extLst>
          </p:cNvPr>
          <p:cNvSpPr>
            <a:spLocks noGrp="1"/>
          </p:cNvSpPr>
          <p:nvPr/>
        </p:nvSpPr>
        <p:spPr>
          <a:xfrm>
            <a:off x="2762250" y="3343275"/>
            <a:ext cx="2114550" cy="1171575"/>
          </a:xfrm>
          <a:prstGeom prst="rect">
            <a:avLst/>
          </a:prstGeom>
          <a:noFill/>
          <a:ln w="0">
            <a:noFill/>
          </a:ln>
        </p:spPr>
        <p:txBody>
          <a:bodyPr anchor="ctr"/>
          <a:lstStyle>
            <a:defPPr>
              <a:defRPr sz="1725" b="0">
                <a:solidFill>
                  <a:srgbClr val="21354D"/>
                </a:solidFill>
              </a:defRPr>
            </a:defPPr>
            <a:lvl1pPr>
              <a:defRPr sz="1725" b="0">
                <a:solidFill>
                  <a:srgbClr val="21354D"/>
                </a:solidFill>
              </a:defRPr>
            </a:lvl1pPr>
            <a:lvl2pPr>
              <a:defRPr sz="1725" b="0">
                <a:solidFill>
                  <a:srgbClr val="21354D"/>
                </a:solidFill>
              </a:defRPr>
            </a:lvl2pPr>
            <a:lvl3pPr>
              <a:defRPr sz="1725" b="0">
                <a:solidFill>
                  <a:srgbClr val="21354D"/>
                </a:solidFill>
              </a:defRPr>
            </a:lvl3pPr>
            <a:lvl4pPr>
              <a:defRPr sz="1725" b="0">
                <a:solidFill>
                  <a:srgbClr val="21354D"/>
                </a:solidFill>
              </a:defRPr>
            </a:lvl4pPr>
            <a:lvl5pPr>
              <a:defRPr sz="1725" b="0">
                <a:solidFill>
                  <a:srgbClr val="21354D"/>
                </a:solidFill>
              </a:defRPr>
            </a:lvl5pPr>
            <a:lvl6pPr>
              <a:defRPr sz="1725" b="0">
                <a:solidFill>
                  <a:srgbClr val="21354D"/>
                </a:solidFill>
              </a:defRPr>
            </a:lvl6pPr>
            <a:lvl7pPr>
              <a:defRPr sz="1725" b="0">
                <a:solidFill>
                  <a:srgbClr val="21354D"/>
                </a:solidFill>
              </a:defRPr>
            </a:lvl7pPr>
            <a:lvl8pPr>
              <a:defRPr sz="1725" b="0">
                <a:solidFill>
                  <a:srgbClr val="21354D"/>
                </a:solidFill>
              </a:defRPr>
            </a:lvl8pPr>
            <a:lvl9pPr>
              <a:defRPr sz="1725" b="0">
                <a:solidFill>
                  <a:srgbClr val="21354D"/>
                </a:solidFill>
              </a:defRPr>
            </a:lvl9pPr>
          </a:lstStyle>
          <a:p>
            <a:pPr>
              <a:defRPr sz="1725" b="0">
                <a:solidFill>
                  <a:srgbClr val="21354D"/>
                </a:solidFill>
              </a:defRPr>
            </a:pPr>
            <a:r>
              <a:rPr sz="1725" b="0">
                <a:solidFill>
                  <a:srgbClr val="21354D"/>
                </a:solidFill>
              </a:rPr>
              <a:t>Search indexed pages, or use</a:t>
            </a:r>
          </a:p>
          <a:p>
            <a:pPr>
              <a:defRPr sz="1725" b="0">
                <a:solidFill>
                  <a:srgbClr val="21354D"/>
                </a:solidFill>
              </a:defRPr>
            </a:pPr>
            <a:r>
              <a:rPr sz="1725" b="0">
                <a:solidFill>
                  <a:srgbClr val="21354D"/>
                </a:solidFill>
              </a:rPr>
              <a:t>an available app / data service.</a:t>
            </a:r>
          </a:p>
        </p:txBody>
      </p:sp>
      <p:sp>
        <p:nvSpPr>
          <p:cNvPr id="10" name="Arrow: Right 9">
            <a:extLst>
              <a:ext uri="{FF2B5EF4-FFF2-40B4-BE49-F238E27FC236}">
                <a16:creationId xmlns:a16="http://schemas.microsoft.com/office/drawing/2014/main" id="{E997D906-A69A-41AF-B455-D80852F69C3E}"/>
              </a:ext>
            </a:extLst>
          </p:cNvPr>
          <p:cNvSpPr>
            <a:spLocks noGrp="1"/>
          </p:cNvSpPr>
          <p:nvPr/>
        </p:nvSpPr>
        <p:spPr>
          <a:xfrm>
            <a:off x="4895850" y="2686050"/>
            <a:ext cx="142875" cy="209550"/>
          </a:xfrm>
          <a:prstGeom prst="rightArrow">
            <a:avLst/>
          </a:prstGeom>
          <a:solidFill>
            <a:srgbClr val="ED193A"/>
          </a:solidFill>
          <a:ln w="0">
            <a:noFill/>
          </a:ln>
        </p:spPr>
        <p:txBody>
          <a:bodyPr/>
          <a:lstStyle/>
          <a:p>
            <a:endParaRPr lang="en-SG"/>
          </a:p>
        </p:txBody>
      </p:sp>
      <p:sp>
        <p:nvSpPr>
          <p:cNvPr id="11" name="Rectangle 10">
            <a:extLst>
              <a:ext uri="{FF2B5EF4-FFF2-40B4-BE49-F238E27FC236}">
                <a16:creationId xmlns:a16="http://schemas.microsoft.com/office/drawing/2014/main" id="{E1C8D821-E935-436F-974A-FF0A17F90151}"/>
              </a:ext>
            </a:extLst>
          </p:cNvPr>
          <p:cNvSpPr>
            <a:spLocks noGrp="1"/>
          </p:cNvSpPr>
          <p:nvPr/>
        </p:nvSpPr>
        <p:spPr>
          <a:xfrm>
            <a:off x="5067300" y="2486025"/>
            <a:ext cx="2114550" cy="657225"/>
          </a:xfrm>
          <a:prstGeom prst="rect">
            <a:avLst/>
          </a:prstGeom>
          <a:solidFill>
            <a:srgbClr val="EDF3F8"/>
          </a:solidFill>
          <a:ln w="9525">
            <a:solidFill>
              <a:srgbClr val="10253F"/>
            </a:solidFill>
          </a:ln>
        </p:spPr>
        <p:txBody>
          <a:bodyPr anchor="ctr"/>
          <a:lstStyle>
            <a:defPPr algn="ctr">
              <a:defRPr sz="1725" b="1">
                <a:solidFill>
                  <a:srgbClr val="10253F"/>
                </a:solidFill>
              </a:defRPr>
            </a:defPPr>
            <a:lvl1pPr algn="ctr">
              <a:defRPr sz="1725" b="1">
                <a:solidFill>
                  <a:srgbClr val="10253F"/>
                </a:solidFill>
              </a:defRPr>
            </a:lvl1pPr>
            <a:lvl2pPr algn="ctr">
              <a:defRPr sz="1725" b="1">
                <a:solidFill>
                  <a:srgbClr val="10253F"/>
                </a:solidFill>
              </a:defRPr>
            </a:lvl2pPr>
            <a:lvl3pPr algn="ctr">
              <a:defRPr sz="1725" b="1">
                <a:solidFill>
                  <a:srgbClr val="10253F"/>
                </a:solidFill>
              </a:defRPr>
            </a:lvl3pPr>
            <a:lvl4pPr algn="ctr">
              <a:defRPr sz="1725" b="1">
                <a:solidFill>
                  <a:srgbClr val="10253F"/>
                </a:solidFill>
              </a:defRPr>
            </a:lvl4pPr>
            <a:lvl5pPr algn="ctr">
              <a:defRPr sz="1725" b="1">
                <a:solidFill>
                  <a:srgbClr val="10253F"/>
                </a:solidFill>
              </a:defRPr>
            </a:lvl5pPr>
            <a:lvl6pPr algn="ctr">
              <a:defRPr sz="1725" b="1">
                <a:solidFill>
                  <a:srgbClr val="10253F"/>
                </a:solidFill>
              </a:defRPr>
            </a:lvl6pPr>
            <a:lvl7pPr algn="ctr">
              <a:defRPr sz="1725" b="1">
                <a:solidFill>
                  <a:srgbClr val="10253F"/>
                </a:solidFill>
              </a:defRPr>
            </a:lvl7pPr>
            <a:lvl8pPr algn="ctr">
              <a:defRPr sz="1725" b="1">
                <a:solidFill>
                  <a:srgbClr val="10253F"/>
                </a:solidFill>
              </a:defRPr>
            </a:lvl8pPr>
            <a:lvl9pPr algn="ctr">
              <a:defRPr sz="1725" b="1">
                <a:solidFill>
                  <a:srgbClr val="10253F"/>
                </a:solidFill>
              </a:defRPr>
            </a:lvl9pPr>
          </a:lstStyle>
          <a:p>
            <a:pPr algn="ctr">
              <a:defRPr sz="1725" b="1">
                <a:solidFill>
                  <a:srgbClr val="10253F"/>
                </a:solidFill>
              </a:defRPr>
            </a:pPr>
            <a:r>
              <a:rPr sz="1725" b="1">
                <a:solidFill>
                  <a:srgbClr val="10253F"/>
                </a:solidFill>
              </a:rPr>
              <a:t>3  Read and compare</a:t>
            </a:r>
          </a:p>
        </p:txBody>
      </p:sp>
      <p:sp>
        <p:nvSpPr>
          <p:cNvPr id="12" name="Rectangle 11">
            <a:extLst>
              <a:ext uri="{FF2B5EF4-FFF2-40B4-BE49-F238E27FC236}">
                <a16:creationId xmlns:a16="http://schemas.microsoft.com/office/drawing/2014/main" id="{BAF657C8-1E61-4C38-B831-33484A626D41}"/>
              </a:ext>
            </a:extLst>
          </p:cNvPr>
          <p:cNvSpPr>
            <a:spLocks noGrp="1"/>
          </p:cNvSpPr>
          <p:nvPr/>
        </p:nvSpPr>
        <p:spPr>
          <a:xfrm>
            <a:off x="5067300" y="3343275"/>
            <a:ext cx="2114550" cy="1171575"/>
          </a:xfrm>
          <a:prstGeom prst="rect">
            <a:avLst/>
          </a:prstGeom>
          <a:noFill/>
          <a:ln w="0">
            <a:noFill/>
          </a:ln>
        </p:spPr>
        <p:txBody>
          <a:bodyPr anchor="ctr"/>
          <a:lstStyle>
            <a:defPPr>
              <a:defRPr sz="1725" b="0">
                <a:solidFill>
                  <a:srgbClr val="21354D"/>
                </a:solidFill>
              </a:defRPr>
            </a:defPPr>
            <a:lvl1pPr>
              <a:defRPr sz="1725" b="0">
                <a:solidFill>
                  <a:srgbClr val="21354D"/>
                </a:solidFill>
              </a:defRPr>
            </a:lvl1pPr>
            <a:lvl2pPr>
              <a:defRPr sz="1725" b="0">
                <a:solidFill>
                  <a:srgbClr val="21354D"/>
                </a:solidFill>
              </a:defRPr>
            </a:lvl2pPr>
            <a:lvl3pPr>
              <a:defRPr sz="1725" b="0">
                <a:solidFill>
                  <a:srgbClr val="21354D"/>
                </a:solidFill>
              </a:defRPr>
            </a:lvl3pPr>
            <a:lvl4pPr>
              <a:defRPr sz="1725" b="0">
                <a:solidFill>
                  <a:srgbClr val="21354D"/>
                </a:solidFill>
              </a:defRPr>
            </a:lvl4pPr>
            <a:lvl5pPr>
              <a:defRPr sz="1725" b="0">
                <a:solidFill>
                  <a:srgbClr val="21354D"/>
                </a:solidFill>
              </a:defRPr>
            </a:lvl5pPr>
            <a:lvl6pPr>
              <a:defRPr sz="1725" b="0">
                <a:solidFill>
                  <a:srgbClr val="21354D"/>
                </a:solidFill>
              </a:defRPr>
            </a:lvl6pPr>
            <a:lvl7pPr>
              <a:defRPr sz="1725" b="0">
                <a:solidFill>
                  <a:srgbClr val="21354D"/>
                </a:solidFill>
              </a:defRPr>
            </a:lvl7pPr>
            <a:lvl8pPr>
              <a:defRPr sz="1725" b="0">
                <a:solidFill>
                  <a:srgbClr val="21354D"/>
                </a:solidFill>
              </a:defRPr>
            </a:lvl8pPr>
            <a:lvl9pPr>
              <a:defRPr sz="1725" b="0">
                <a:solidFill>
                  <a:srgbClr val="21354D"/>
                </a:solidFill>
              </a:defRPr>
            </a:lvl9pPr>
          </a:lstStyle>
          <a:p>
            <a:pPr>
              <a:defRPr sz="1725" b="0">
                <a:solidFill>
                  <a:srgbClr val="21354D"/>
                </a:solidFill>
              </a:defRPr>
            </a:pPr>
            <a:r>
              <a:rPr sz="1725" b="0">
                <a:solidFill>
                  <a:srgbClr val="21354D"/>
                </a:solidFill>
              </a:rPr>
              <a:t>Select relevant evidence.</a:t>
            </a:r>
          </a:p>
          <a:p>
            <a:pPr>
              <a:defRPr sz="1725" b="0">
                <a:solidFill>
                  <a:srgbClr val="21354D"/>
                </a:solidFill>
              </a:defRPr>
            </a:pPr>
            <a:r>
              <a:rPr sz="1725" b="0">
                <a:solidFill>
                  <a:srgbClr val="21354D"/>
                </a:solidFill>
              </a:rPr>
              <a:t>Content access varies by engine.</a:t>
            </a:r>
          </a:p>
        </p:txBody>
      </p:sp>
      <p:sp>
        <p:nvSpPr>
          <p:cNvPr id="13" name="Arrow: Right 12">
            <a:extLst>
              <a:ext uri="{FF2B5EF4-FFF2-40B4-BE49-F238E27FC236}">
                <a16:creationId xmlns:a16="http://schemas.microsoft.com/office/drawing/2014/main" id="{25E32B6A-5B1B-4C3B-ACB1-7DE4DD77BBDA}"/>
              </a:ext>
            </a:extLst>
          </p:cNvPr>
          <p:cNvSpPr>
            <a:spLocks noGrp="1"/>
          </p:cNvSpPr>
          <p:nvPr/>
        </p:nvSpPr>
        <p:spPr>
          <a:xfrm>
            <a:off x="7200900" y="2686050"/>
            <a:ext cx="142875" cy="209550"/>
          </a:xfrm>
          <a:prstGeom prst="rightArrow">
            <a:avLst/>
          </a:prstGeom>
          <a:solidFill>
            <a:srgbClr val="ED193A"/>
          </a:solidFill>
          <a:ln w="0">
            <a:noFill/>
          </a:ln>
        </p:spPr>
        <p:txBody>
          <a:bodyPr/>
          <a:lstStyle/>
          <a:p>
            <a:endParaRPr lang="en-SG"/>
          </a:p>
        </p:txBody>
      </p:sp>
      <p:sp>
        <p:nvSpPr>
          <p:cNvPr id="14" name="Rectangle 13">
            <a:extLst>
              <a:ext uri="{FF2B5EF4-FFF2-40B4-BE49-F238E27FC236}">
                <a16:creationId xmlns:a16="http://schemas.microsoft.com/office/drawing/2014/main" id="{A3AF7F6A-55D3-4972-9FAD-7911FF295C9D}"/>
              </a:ext>
            </a:extLst>
          </p:cNvPr>
          <p:cNvSpPr>
            <a:spLocks noGrp="1"/>
          </p:cNvSpPr>
          <p:nvPr/>
        </p:nvSpPr>
        <p:spPr>
          <a:xfrm>
            <a:off x="7372350" y="2486025"/>
            <a:ext cx="2114550" cy="657225"/>
          </a:xfrm>
          <a:prstGeom prst="rect">
            <a:avLst/>
          </a:prstGeom>
          <a:solidFill>
            <a:srgbClr val="EDF3F8"/>
          </a:solidFill>
          <a:ln w="9525">
            <a:solidFill>
              <a:srgbClr val="10253F"/>
            </a:solidFill>
          </a:ln>
        </p:spPr>
        <p:txBody>
          <a:bodyPr anchor="ctr"/>
          <a:lstStyle>
            <a:defPPr algn="ctr">
              <a:defRPr sz="1725" b="1">
                <a:solidFill>
                  <a:srgbClr val="10253F"/>
                </a:solidFill>
              </a:defRPr>
            </a:defPPr>
            <a:lvl1pPr algn="ctr">
              <a:defRPr sz="1725" b="1">
                <a:solidFill>
                  <a:srgbClr val="10253F"/>
                </a:solidFill>
              </a:defRPr>
            </a:lvl1pPr>
            <a:lvl2pPr algn="ctr">
              <a:defRPr sz="1725" b="1">
                <a:solidFill>
                  <a:srgbClr val="10253F"/>
                </a:solidFill>
              </a:defRPr>
            </a:lvl2pPr>
            <a:lvl3pPr algn="ctr">
              <a:defRPr sz="1725" b="1">
                <a:solidFill>
                  <a:srgbClr val="10253F"/>
                </a:solidFill>
              </a:defRPr>
            </a:lvl3pPr>
            <a:lvl4pPr algn="ctr">
              <a:defRPr sz="1725" b="1">
                <a:solidFill>
                  <a:srgbClr val="10253F"/>
                </a:solidFill>
              </a:defRPr>
            </a:lvl4pPr>
            <a:lvl5pPr algn="ctr">
              <a:defRPr sz="1725" b="1">
                <a:solidFill>
                  <a:srgbClr val="10253F"/>
                </a:solidFill>
              </a:defRPr>
            </a:lvl5pPr>
            <a:lvl6pPr algn="ctr">
              <a:defRPr sz="1725" b="1">
                <a:solidFill>
                  <a:srgbClr val="10253F"/>
                </a:solidFill>
              </a:defRPr>
            </a:lvl6pPr>
            <a:lvl7pPr algn="ctr">
              <a:defRPr sz="1725" b="1">
                <a:solidFill>
                  <a:srgbClr val="10253F"/>
                </a:solidFill>
              </a:defRPr>
            </a:lvl7pPr>
            <a:lvl8pPr algn="ctr">
              <a:defRPr sz="1725" b="1">
                <a:solidFill>
                  <a:srgbClr val="10253F"/>
                </a:solidFill>
              </a:defRPr>
            </a:lvl8pPr>
            <a:lvl9pPr algn="ctr">
              <a:defRPr sz="1725" b="1">
                <a:solidFill>
                  <a:srgbClr val="10253F"/>
                </a:solidFill>
              </a:defRPr>
            </a:lvl9pPr>
          </a:lstStyle>
          <a:p>
            <a:pPr algn="ctr">
              <a:defRPr sz="1725" b="1">
                <a:solidFill>
                  <a:srgbClr val="10253F"/>
                </a:solidFill>
              </a:defRPr>
            </a:pPr>
            <a:r>
              <a:rPr sz="1725" b="1">
                <a:solidFill>
                  <a:srgbClr val="10253F"/>
                </a:solidFill>
              </a:rPr>
              <a:t>4  Write the answer</a:t>
            </a:r>
          </a:p>
        </p:txBody>
      </p:sp>
      <p:sp>
        <p:nvSpPr>
          <p:cNvPr id="15" name="Rectangle 14">
            <a:extLst>
              <a:ext uri="{FF2B5EF4-FFF2-40B4-BE49-F238E27FC236}">
                <a16:creationId xmlns:a16="http://schemas.microsoft.com/office/drawing/2014/main" id="{1EEC2385-E9BC-4EEB-8578-29D912C9A460}"/>
              </a:ext>
            </a:extLst>
          </p:cNvPr>
          <p:cNvSpPr>
            <a:spLocks noGrp="1"/>
          </p:cNvSpPr>
          <p:nvPr/>
        </p:nvSpPr>
        <p:spPr>
          <a:xfrm>
            <a:off x="7372350" y="3343275"/>
            <a:ext cx="2114550" cy="1171575"/>
          </a:xfrm>
          <a:prstGeom prst="rect">
            <a:avLst/>
          </a:prstGeom>
          <a:noFill/>
          <a:ln w="0">
            <a:noFill/>
          </a:ln>
        </p:spPr>
        <p:txBody>
          <a:bodyPr anchor="ctr"/>
          <a:lstStyle>
            <a:defPPr>
              <a:defRPr sz="1725" b="0">
                <a:solidFill>
                  <a:srgbClr val="21354D"/>
                </a:solidFill>
              </a:defRPr>
            </a:defPPr>
            <a:lvl1pPr>
              <a:defRPr sz="1725" b="0">
                <a:solidFill>
                  <a:srgbClr val="21354D"/>
                </a:solidFill>
              </a:defRPr>
            </a:lvl1pPr>
            <a:lvl2pPr>
              <a:defRPr sz="1725" b="0">
                <a:solidFill>
                  <a:srgbClr val="21354D"/>
                </a:solidFill>
              </a:defRPr>
            </a:lvl2pPr>
            <a:lvl3pPr>
              <a:defRPr sz="1725" b="0">
                <a:solidFill>
                  <a:srgbClr val="21354D"/>
                </a:solidFill>
              </a:defRPr>
            </a:lvl3pPr>
            <a:lvl4pPr>
              <a:defRPr sz="1725" b="0">
                <a:solidFill>
                  <a:srgbClr val="21354D"/>
                </a:solidFill>
              </a:defRPr>
            </a:lvl4pPr>
            <a:lvl5pPr>
              <a:defRPr sz="1725" b="0">
                <a:solidFill>
                  <a:srgbClr val="21354D"/>
                </a:solidFill>
              </a:defRPr>
            </a:lvl5pPr>
            <a:lvl6pPr>
              <a:defRPr sz="1725" b="0">
                <a:solidFill>
                  <a:srgbClr val="21354D"/>
                </a:solidFill>
              </a:defRPr>
            </a:lvl6pPr>
            <a:lvl7pPr>
              <a:defRPr sz="1725" b="0">
                <a:solidFill>
                  <a:srgbClr val="21354D"/>
                </a:solidFill>
              </a:defRPr>
            </a:lvl7pPr>
            <a:lvl8pPr>
              <a:defRPr sz="1725" b="0">
                <a:solidFill>
                  <a:srgbClr val="21354D"/>
                </a:solidFill>
              </a:defRPr>
            </a:lvl8pPr>
            <a:lvl9pPr>
              <a:defRPr sz="1725" b="0">
                <a:solidFill>
                  <a:srgbClr val="21354D"/>
                </a:solidFill>
              </a:defRPr>
            </a:lvl9pPr>
          </a:lstStyle>
          <a:p>
            <a:pPr>
              <a:defRPr sz="1725" b="0">
                <a:solidFill>
                  <a:srgbClr val="21354D"/>
                </a:solidFill>
              </a:defRPr>
            </a:pPr>
            <a:r>
              <a:rPr sz="1725" b="0">
                <a:solidFill>
                  <a:srgbClr val="21354D"/>
                </a:solidFill>
              </a:rPr>
              <a:t>Choose facts and sources to cite.</a:t>
            </a:r>
          </a:p>
          <a:p>
            <a:pPr>
              <a:defRPr sz="1725" b="0">
                <a:solidFill>
                  <a:srgbClr val="21354D"/>
                </a:solidFill>
              </a:defRPr>
            </a:pPr>
            <a:r>
              <a:rPr sz="1725" b="0">
                <a:solidFill>
                  <a:srgbClr val="21354D"/>
                </a:solidFill>
              </a:rPr>
              <a:t>A citation is not a recommendation.</a:t>
            </a:r>
          </a:p>
        </p:txBody>
      </p:sp>
      <p:sp>
        <p:nvSpPr>
          <p:cNvPr id="16" name="Arrow: Right 15">
            <a:extLst>
              <a:ext uri="{FF2B5EF4-FFF2-40B4-BE49-F238E27FC236}">
                <a16:creationId xmlns:a16="http://schemas.microsoft.com/office/drawing/2014/main" id="{4CC9EB07-0E87-45A1-9AA4-BC6B707DBFF3}"/>
              </a:ext>
            </a:extLst>
          </p:cNvPr>
          <p:cNvSpPr>
            <a:spLocks noGrp="1"/>
          </p:cNvSpPr>
          <p:nvPr/>
        </p:nvSpPr>
        <p:spPr>
          <a:xfrm>
            <a:off x="9505950" y="2686050"/>
            <a:ext cx="142875" cy="209550"/>
          </a:xfrm>
          <a:prstGeom prst="rightArrow">
            <a:avLst/>
          </a:prstGeom>
          <a:solidFill>
            <a:srgbClr val="ED193A"/>
          </a:solidFill>
          <a:ln w="0">
            <a:noFill/>
          </a:ln>
        </p:spPr>
        <p:txBody>
          <a:bodyPr/>
          <a:lstStyle/>
          <a:p>
            <a:endParaRPr lang="en-SG"/>
          </a:p>
        </p:txBody>
      </p:sp>
      <p:sp>
        <p:nvSpPr>
          <p:cNvPr id="17" name="Rectangle 16">
            <a:extLst>
              <a:ext uri="{FF2B5EF4-FFF2-40B4-BE49-F238E27FC236}">
                <a16:creationId xmlns:a16="http://schemas.microsoft.com/office/drawing/2014/main" id="{5FC9D263-BED1-4C80-9FB7-FD32F0D1538B}"/>
              </a:ext>
            </a:extLst>
          </p:cNvPr>
          <p:cNvSpPr>
            <a:spLocks noGrp="1"/>
          </p:cNvSpPr>
          <p:nvPr/>
        </p:nvSpPr>
        <p:spPr>
          <a:xfrm>
            <a:off x="9677400" y="2486025"/>
            <a:ext cx="2114550" cy="657225"/>
          </a:xfrm>
          <a:prstGeom prst="rect">
            <a:avLst/>
          </a:prstGeom>
          <a:solidFill>
            <a:srgbClr val="EDF3F8"/>
          </a:solidFill>
          <a:ln w="9525">
            <a:solidFill>
              <a:srgbClr val="10253F"/>
            </a:solidFill>
          </a:ln>
        </p:spPr>
        <p:txBody>
          <a:bodyPr anchor="ctr"/>
          <a:lstStyle>
            <a:defPPr algn="ctr">
              <a:defRPr sz="1725" b="1">
                <a:solidFill>
                  <a:srgbClr val="10253F"/>
                </a:solidFill>
              </a:defRPr>
            </a:defPPr>
            <a:lvl1pPr algn="ctr">
              <a:defRPr sz="1725" b="1">
                <a:solidFill>
                  <a:srgbClr val="10253F"/>
                </a:solidFill>
              </a:defRPr>
            </a:lvl1pPr>
            <a:lvl2pPr algn="ctr">
              <a:defRPr sz="1725" b="1">
                <a:solidFill>
                  <a:srgbClr val="10253F"/>
                </a:solidFill>
              </a:defRPr>
            </a:lvl2pPr>
            <a:lvl3pPr algn="ctr">
              <a:defRPr sz="1725" b="1">
                <a:solidFill>
                  <a:srgbClr val="10253F"/>
                </a:solidFill>
              </a:defRPr>
            </a:lvl3pPr>
            <a:lvl4pPr algn="ctr">
              <a:defRPr sz="1725" b="1">
                <a:solidFill>
                  <a:srgbClr val="10253F"/>
                </a:solidFill>
              </a:defRPr>
            </a:lvl4pPr>
            <a:lvl5pPr algn="ctr">
              <a:defRPr sz="1725" b="1">
                <a:solidFill>
                  <a:srgbClr val="10253F"/>
                </a:solidFill>
              </a:defRPr>
            </a:lvl5pPr>
            <a:lvl6pPr algn="ctr">
              <a:defRPr sz="1725" b="1">
                <a:solidFill>
                  <a:srgbClr val="10253F"/>
                </a:solidFill>
              </a:defRPr>
            </a:lvl6pPr>
            <a:lvl7pPr algn="ctr">
              <a:defRPr sz="1725" b="1">
                <a:solidFill>
                  <a:srgbClr val="10253F"/>
                </a:solidFill>
              </a:defRPr>
            </a:lvl7pPr>
            <a:lvl8pPr algn="ctr">
              <a:defRPr sz="1725" b="1">
                <a:solidFill>
                  <a:srgbClr val="10253F"/>
                </a:solidFill>
              </a:defRPr>
            </a:lvl8pPr>
            <a:lvl9pPr algn="ctr">
              <a:defRPr sz="1725" b="1">
                <a:solidFill>
                  <a:srgbClr val="10253F"/>
                </a:solidFill>
              </a:defRPr>
            </a:lvl9pPr>
          </a:lstStyle>
          <a:p>
            <a:pPr algn="ctr">
              <a:defRPr sz="1725" b="1">
                <a:solidFill>
                  <a:srgbClr val="10253F"/>
                </a:solidFill>
              </a:defRPr>
            </a:pPr>
            <a:r>
              <a:rPr sz="1725" b="1">
                <a:solidFill>
                  <a:srgbClr val="10253F"/>
                </a:solidFill>
              </a:rPr>
              <a:t>5  Help the customer act</a:t>
            </a:r>
          </a:p>
        </p:txBody>
      </p:sp>
      <p:sp>
        <p:nvSpPr>
          <p:cNvPr id="18" name="Rectangle 17">
            <a:extLst>
              <a:ext uri="{FF2B5EF4-FFF2-40B4-BE49-F238E27FC236}">
                <a16:creationId xmlns:a16="http://schemas.microsoft.com/office/drawing/2014/main" id="{EA7EA613-395E-4A67-A1EE-E70BD6B4969B}"/>
              </a:ext>
            </a:extLst>
          </p:cNvPr>
          <p:cNvSpPr>
            <a:spLocks noGrp="1"/>
          </p:cNvSpPr>
          <p:nvPr/>
        </p:nvSpPr>
        <p:spPr>
          <a:xfrm>
            <a:off x="9677400" y="3343275"/>
            <a:ext cx="2114550" cy="1171575"/>
          </a:xfrm>
          <a:prstGeom prst="rect">
            <a:avLst/>
          </a:prstGeom>
          <a:noFill/>
          <a:ln w="0">
            <a:noFill/>
          </a:ln>
        </p:spPr>
        <p:txBody>
          <a:bodyPr anchor="ctr"/>
          <a:lstStyle>
            <a:defPPr>
              <a:defRPr sz="1725" b="0">
                <a:solidFill>
                  <a:srgbClr val="21354D"/>
                </a:solidFill>
              </a:defRPr>
            </a:defPPr>
            <a:lvl1pPr>
              <a:defRPr sz="1725" b="0">
                <a:solidFill>
                  <a:srgbClr val="21354D"/>
                </a:solidFill>
              </a:defRPr>
            </a:lvl1pPr>
            <a:lvl2pPr>
              <a:defRPr sz="1725" b="0">
                <a:solidFill>
                  <a:srgbClr val="21354D"/>
                </a:solidFill>
              </a:defRPr>
            </a:lvl2pPr>
            <a:lvl3pPr>
              <a:defRPr sz="1725" b="0">
                <a:solidFill>
                  <a:srgbClr val="21354D"/>
                </a:solidFill>
              </a:defRPr>
            </a:lvl3pPr>
            <a:lvl4pPr>
              <a:defRPr sz="1725" b="0">
                <a:solidFill>
                  <a:srgbClr val="21354D"/>
                </a:solidFill>
              </a:defRPr>
            </a:lvl4pPr>
            <a:lvl5pPr>
              <a:defRPr sz="1725" b="0">
                <a:solidFill>
                  <a:srgbClr val="21354D"/>
                </a:solidFill>
              </a:defRPr>
            </a:lvl5pPr>
            <a:lvl6pPr>
              <a:defRPr sz="1725" b="0">
                <a:solidFill>
                  <a:srgbClr val="21354D"/>
                </a:solidFill>
              </a:defRPr>
            </a:lvl6pPr>
            <a:lvl7pPr>
              <a:defRPr sz="1725" b="0">
                <a:solidFill>
                  <a:srgbClr val="21354D"/>
                </a:solidFill>
              </a:defRPr>
            </a:lvl7pPr>
            <a:lvl8pPr>
              <a:defRPr sz="1725" b="0">
                <a:solidFill>
                  <a:srgbClr val="21354D"/>
                </a:solidFill>
              </a:defRPr>
            </a:lvl8pPr>
            <a:lvl9pPr>
              <a:defRPr sz="1725" b="0">
                <a:solidFill>
                  <a:srgbClr val="21354D"/>
                </a:solidFill>
              </a:defRPr>
            </a:lvl9pPr>
          </a:lstStyle>
          <a:p>
            <a:pPr>
              <a:defRPr sz="1725" b="0">
                <a:solidFill>
                  <a:srgbClr val="21354D"/>
                </a:solidFill>
              </a:defRPr>
            </a:pPr>
            <a:r>
              <a:rPr sz="1725" b="0">
                <a:solidFill>
                  <a:srgbClr val="21354D"/>
                </a:solidFill>
              </a:rPr>
              <a:t>Visit a site, request a quote,</a:t>
            </a:r>
          </a:p>
          <a:p>
            <a:pPr>
              <a:defRPr sz="1725" b="0">
                <a:solidFill>
                  <a:srgbClr val="21354D"/>
                </a:solidFill>
              </a:defRPr>
            </a:pPr>
            <a:r>
              <a:rPr sz="1725" b="0">
                <a:solidFill>
                  <a:srgbClr val="21354D"/>
                </a:solidFill>
              </a:rPr>
              <a:t>contact an expert or book.</a:t>
            </a:r>
          </a:p>
        </p:txBody>
      </p:sp>
      <p:sp>
        <p:nvSpPr>
          <p:cNvPr id="19" name="Rectangle 18">
            <a:extLst>
              <a:ext uri="{FF2B5EF4-FFF2-40B4-BE49-F238E27FC236}">
                <a16:creationId xmlns:a16="http://schemas.microsoft.com/office/drawing/2014/main" id="{6F2C0383-4F8E-415B-9E3D-B2EA056CC37F}"/>
              </a:ext>
            </a:extLst>
          </p:cNvPr>
          <p:cNvSpPr>
            <a:spLocks noGrp="1"/>
          </p:cNvSpPr>
          <p:nvPr/>
        </p:nvSpPr>
        <p:spPr>
          <a:xfrm>
            <a:off x="457200" y="4933950"/>
            <a:ext cx="11239500" cy="609600"/>
          </a:xfrm>
          <a:prstGeom prst="rect">
            <a:avLst/>
          </a:prstGeom>
          <a:noFill/>
          <a:ln w="0">
            <a:noFill/>
          </a:ln>
        </p:spPr>
        <p:txBody>
          <a:bodyPr anchor="ctr"/>
          <a:lstStyle>
            <a:defPPr>
              <a:defRPr sz="2175" b="1">
                <a:solidFill>
                  <a:srgbClr val="10253F"/>
                </a:solidFill>
              </a:defRPr>
            </a:defPPr>
            <a:lvl1pPr>
              <a:defRPr sz="2175" b="1">
                <a:solidFill>
                  <a:srgbClr val="10253F"/>
                </a:solidFill>
              </a:defRPr>
            </a:lvl1pPr>
            <a:lvl2pPr>
              <a:defRPr sz="2175" b="1">
                <a:solidFill>
                  <a:srgbClr val="10253F"/>
                </a:solidFill>
              </a:defRPr>
            </a:lvl2pPr>
            <a:lvl3pPr>
              <a:defRPr sz="2175" b="1">
                <a:solidFill>
                  <a:srgbClr val="10253F"/>
                </a:solidFill>
              </a:defRPr>
            </a:lvl3pPr>
            <a:lvl4pPr>
              <a:defRPr sz="2175" b="1">
                <a:solidFill>
                  <a:srgbClr val="10253F"/>
                </a:solidFill>
              </a:defRPr>
            </a:lvl4pPr>
            <a:lvl5pPr>
              <a:defRPr sz="2175" b="1">
                <a:solidFill>
                  <a:srgbClr val="10253F"/>
                </a:solidFill>
              </a:defRPr>
            </a:lvl5pPr>
            <a:lvl6pPr>
              <a:defRPr sz="2175" b="1">
                <a:solidFill>
                  <a:srgbClr val="10253F"/>
                </a:solidFill>
              </a:defRPr>
            </a:lvl6pPr>
            <a:lvl7pPr>
              <a:defRPr sz="2175" b="1">
                <a:solidFill>
                  <a:srgbClr val="10253F"/>
                </a:solidFill>
              </a:defRPr>
            </a:lvl7pPr>
            <a:lvl8pPr>
              <a:defRPr sz="2175" b="1">
                <a:solidFill>
                  <a:srgbClr val="10253F"/>
                </a:solidFill>
              </a:defRPr>
            </a:lvl8pPr>
            <a:lvl9pPr>
              <a:defRPr sz="2175" b="1">
                <a:solidFill>
                  <a:srgbClr val="10253F"/>
                </a:solidFill>
              </a:defRPr>
            </a:lvl9pPr>
          </a:lstStyle>
          <a:p>
            <a:pPr>
              <a:defRPr sz="2175" b="1">
                <a:solidFill>
                  <a:srgbClr val="10253F"/>
                </a:solidFill>
              </a:defRPr>
            </a:pPr>
            <a:endParaRPr sz="1875" b="1" dirty="0">
              <a:solidFill>
                <a:srgbClr val="10253F"/>
              </a:solidFill>
            </a:endParaRPr>
          </a:p>
        </p:txBody>
      </p:sp>
      <p:sp>
        <p:nvSpPr>
          <p:cNvPr id="20" name="Rectangle 19">
            <a:extLst>
              <a:ext uri="{FF2B5EF4-FFF2-40B4-BE49-F238E27FC236}">
                <a16:creationId xmlns:a16="http://schemas.microsoft.com/office/drawing/2014/main" id="{32D90612-2137-4F9B-8C7D-806D03A841B5}"/>
              </a:ext>
            </a:extLst>
          </p:cNvPr>
          <p:cNvSpPr>
            <a:spLocks noGrp="1"/>
          </p:cNvSpPr>
          <p:nvPr/>
        </p:nvSpPr>
        <p:spPr>
          <a:xfrm>
            <a:off x="457200" y="4838700"/>
            <a:ext cx="11239500" cy="400050"/>
          </a:xfrm>
          <a:prstGeom prst="rect">
            <a:avLst/>
          </a:prstGeom>
          <a:noFill/>
          <a:ln w="0">
            <a:noFill/>
          </a:ln>
        </p:spPr>
        <p:txBody>
          <a:bodyPr anchor="ctr"/>
          <a:lstStyle>
            <a:defPPr>
              <a:defRPr sz="1800" b="0">
                <a:solidFill>
                  <a:srgbClr val="ED193A"/>
                </a:solidFill>
              </a:defRPr>
            </a:defPPr>
            <a:lvl1pPr>
              <a:defRPr sz="1800" b="0">
                <a:solidFill>
                  <a:srgbClr val="ED193A"/>
                </a:solidFill>
              </a:defRPr>
            </a:lvl1pPr>
            <a:lvl2pPr>
              <a:defRPr sz="1800" b="0">
                <a:solidFill>
                  <a:srgbClr val="ED193A"/>
                </a:solidFill>
              </a:defRPr>
            </a:lvl2pPr>
            <a:lvl3pPr>
              <a:defRPr sz="1800" b="0">
                <a:solidFill>
                  <a:srgbClr val="ED193A"/>
                </a:solidFill>
              </a:defRPr>
            </a:lvl3pPr>
            <a:lvl4pPr>
              <a:defRPr sz="1800" b="0">
                <a:solidFill>
                  <a:srgbClr val="ED193A"/>
                </a:solidFill>
              </a:defRPr>
            </a:lvl4pPr>
            <a:lvl5pPr>
              <a:defRPr sz="1800" b="0">
                <a:solidFill>
                  <a:srgbClr val="ED193A"/>
                </a:solidFill>
              </a:defRPr>
            </a:lvl5pPr>
            <a:lvl6pPr>
              <a:defRPr sz="1800" b="0">
                <a:solidFill>
                  <a:srgbClr val="ED193A"/>
                </a:solidFill>
              </a:defRPr>
            </a:lvl6pPr>
            <a:lvl7pPr>
              <a:defRPr sz="1800" b="0">
                <a:solidFill>
                  <a:srgbClr val="ED193A"/>
                </a:solidFill>
              </a:defRPr>
            </a:lvl7pPr>
            <a:lvl8pPr>
              <a:defRPr sz="1800" b="0">
                <a:solidFill>
                  <a:srgbClr val="ED193A"/>
                </a:solidFill>
              </a:defRPr>
            </a:lvl8pPr>
            <a:lvl9pPr>
              <a:defRPr sz="1800" b="0">
                <a:solidFill>
                  <a:srgbClr val="ED193A"/>
                </a:solidFill>
              </a:defRPr>
            </a:lvl9pPr>
          </a:lstStyle>
          <a:p>
            <a:pPr>
              <a:defRPr sz="1800" b="0">
                <a:solidFill>
                  <a:srgbClr val="ED193A"/>
                </a:solidFill>
              </a:defRPr>
            </a:pPr>
            <a:r>
              <a:rPr lang="en-SG" sz="1800" b="0" dirty="0">
                <a:solidFill>
                  <a:srgbClr val="ED193A"/>
                </a:solidFill>
              </a:rPr>
              <a:t>*</a:t>
            </a:r>
            <a:r>
              <a:rPr sz="1800" b="0" dirty="0">
                <a:solidFill>
                  <a:srgbClr val="ED193A"/>
                </a:solidFill>
              </a:rPr>
              <a:t>Our experiment tests </a:t>
            </a:r>
            <a:r>
              <a:rPr lang="en-SG" dirty="0"/>
              <a:t>only steps 3 &amp; </a:t>
            </a:r>
            <a:r>
              <a:rPr sz="1800" b="0" dirty="0">
                <a:solidFill>
                  <a:srgbClr val="ED193A"/>
                </a:solidFill>
              </a:rPr>
              <a:t>4 after the sources have been supplied. It does not test this whole journey.</a:t>
            </a:r>
          </a:p>
        </p:txBody>
      </p:sp>
    </p:spTree>
    <p:extLst>
      <p:ext uri="{BB962C8B-B14F-4D97-AF65-F5344CB8AC3E}">
        <p14:creationId xmlns:p14="http://schemas.microsoft.com/office/powerpoint/2010/main" val="2844297657"/>
      </p:ext>
    </p:extLst>
  </p:cSld>
  <p:clrMapOvr>
    <a:masterClrMapping/>
  </p:clrMapOvr>
</p:sld>
</file>

<file path=ppt/slides/slide10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FLIGHT CENTRE GEO</a:t>
            </a:r>
          </a:p>
        </p:txBody>
      </p:sp>
      <p:sp>
        <p:nvSpPr>
          <p:cNvPr id="3" name="TextBox 2"/>
          <p:cNvSpPr txBox="1"/>
          <p:nvPr/>
        </p:nvSpPr>
        <p:spPr>
          <a:xfrm>
            <a:off x="548640" y="672084"/>
            <a:ext cx="9692640" cy="523220"/>
          </a:xfrm>
          <a:prstGeom prst="rect">
            <a:avLst/>
          </a:prstGeom>
          <a:noFill/>
        </p:spPr>
        <p:txBody>
          <a:bodyPr wrap="square" lIns="45720" rIns="45720" anchor="t">
            <a:spAutoFit/>
          </a:bodyPr>
          <a:lstStyle/>
          <a:p>
            <a:pPr>
              <a:spcAft>
                <a:spcPts val="300"/>
              </a:spcAft>
            </a:pPr>
            <a:r>
              <a:rPr lang="en-SG" sz="2800" b="1" dirty="0">
                <a:latin typeface="+mj-lt"/>
              </a:rPr>
              <a:t>How AI-Ready Is Flight Centre's Website?</a:t>
            </a:r>
            <a:endParaRPr sz="2800" b="1" i="0" dirty="0">
              <a:solidFill>
                <a:srgbClr val="0B2240"/>
              </a:solidFill>
              <a:latin typeface="+mj-lt"/>
            </a:endParaRPr>
          </a:p>
        </p:txBody>
      </p:sp>
      <p:sp>
        <p:nvSpPr>
          <p:cNvPr id="4" name="Rounded Rectangle 3"/>
          <p:cNvSpPr/>
          <p:nvPr/>
        </p:nvSpPr>
        <p:spPr>
          <a:xfrm>
            <a:off x="9582912" y="329184"/>
            <a:ext cx="2075688" cy="292608"/>
          </a:xfrm>
          <a:prstGeom prst="roundRect">
            <a:avLst>
              <a:gd name="adj" fmla="val 5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Live check 25 Oct 2026</a:t>
            </a:r>
          </a:p>
        </p:txBody>
      </p:sp>
      <p:sp>
        <p:nvSpPr>
          <p:cNvPr id="5" name="Rounded Rectangle 4"/>
          <p:cNvSpPr/>
          <p:nvPr/>
        </p:nvSpPr>
        <p:spPr>
          <a:xfrm>
            <a:off x="7008876" y="329184"/>
            <a:ext cx="2464308"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Semester 1 audit (May 2026)</a:t>
            </a:r>
          </a:p>
        </p:txBody>
      </p:sp>
      <p:pic>
        <p:nvPicPr>
          <p:cNvPr id="6" name="Picture 5" descr="hist_chatgpt_unbranded_answer_202605.png"/>
          <p:cNvPicPr>
            <a:picLocks noChangeAspect="1"/>
          </p:cNvPicPr>
          <p:nvPr/>
        </p:nvPicPr>
        <p:blipFill>
          <a:blip r:embed="rId3"/>
          <a:stretch>
            <a:fillRect/>
          </a:stretch>
        </p:blipFill>
        <p:spPr>
          <a:xfrm>
            <a:off x="345057" y="1600199"/>
            <a:ext cx="4135503" cy="3196087"/>
          </a:xfrm>
          <a:prstGeom prst="rect">
            <a:avLst/>
          </a:prstGeom>
        </p:spPr>
      </p:pic>
      <p:sp>
        <p:nvSpPr>
          <p:cNvPr id="7" name="TextBox 6"/>
          <p:cNvSpPr txBox="1"/>
          <p:nvPr/>
        </p:nvSpPr>
        <p:spPr>
          <a:xfrm>
            <a:off x="548640" y="4860293"/>
            <a:ext cx="3931920" cy="530915"/>
          </a:xfrm>
          <a:prstGeom prst="rect">
            <a:avLst/>
          </a:prstGeom>
          <a:noFill/>
        </p:spPr>
        <p:txBody>
          <a:bodyPr wrap="square" lIns="45720" rIns="45720" anchor="t">
            <a:spAutoFit/>
          </a:bodyPr>
          <a:lstStyle/>
          <a:p>
            <a:pPr algn="l">
              <a:lnSpc>
                <a:spcPct val="100000"/>
              </a:lnSpc>
            </a:pPr>
            <a:r>
              <a:rPr sz="950" b="0" i="1" dirty="0">
                <a:solidFill>
                  <a:srgbClr val="5B6573"/>
                </a:solidFill>
                <a:latin typeface="Calibri"/>
              </a:rPr>
              <a:t>ChatGPT, May 2026: 'Best travel agent for booking international package holidays from Australia'. Agencies named; Flight Centre absent; sources were forums and review sites.</a:t>
            </a:r>
          </a:p>
        </p:txBody>
      </p:sp>
      <p:graphicFrame>
        <p:nvGraphicFramePr>
          <p:cNvPr id="8" name="Table 7"/>
          <p:cNvGraphicFramePr>
            <a:graphicFrameLocks noGrp="1"/>
          </p:cNvGraphicFramePr>
          <p:nvPr/>
        </p:nvGraphicFramePr>
        <p:xfrm>
          <a:off x="4709160" y="1600200"/>
          <a:ext cx="6949440" cy="2168652"/>
        </p:xfrm>
        <a:graphic>
          <a:graphicData uri="http://schemas.openxmlformats.org/drawingml/2006/table">
            <a:tbl>
              <a:tblPr/>
              <a:tblGrid>
                <a:gridCol w="3017520">
                  <a:extLst>
                    <a:ext uri="{9D8B030D-6E8A-4147-A177-3AD203B41FA5}">
                      <a16:colId xmlns:a16="http://schemas.microsoft.com/office/drawing/2014/main" val="20000"/>
                    </a:ext>
                  </a:extLst>
                </a:gridCol>
                <a:gridCol w="1233290">
                  <a:extLst>
                    <a:ext uri="{9D8B030D-6E8A-4147-A177-3AD203B41FA5}">
                      <a16:colId xmlns:a16="http://schemas.microsoft.com/office/drawing/2014/main" val="20001"/>
                    </a:ext>
                  </a:extLst>
                </a:gridCol>
                <a:gridCol w="2698630">
                  <a:extLst>
                    <a:ext uri="{9D8B030D-6E8A-4147-A177-3AD203B41FA5}">
                      <a16:colId xmlns:a16="http://schemas.microsoft.com/office/drawing/2014/main" val="20002"/>
                    </a:ext>
                  </a:extLst>
                </a:gridCol>
              </a:tblGrid>
              <a:tr h="358140">
                <a:tc>
                  <a:txBody>
                    <a:bodyPr/>
                    <a:lstStyle/>
                    <a:p>
                      <a:pPr>
                        <a:buNone/>
                      </a:pPr>
                      <a:r>
                        <a:rPr lang="en-SG" sz="1000" b="1" dirty="0">
                          <a:solidFill>
                            <a:schemeClr val="bg2"/>
                          </a:solidFill>
                        </a:rPr>
                        <a:t>Type of customer question</a:t>
                      </a:r>
                    </a:p>
                  </a:txBody>
                  <a:tcPr anchor="ctr">
                    <a:solidFill>
                      <a:srgbClr val="0B2240"/>
                    </a:solidFill>
                  </a:tcPr>
                </a:tc>
                <a:tc>
                  <a:txBody>
                    <a:bodyPr/>
                    <a:lstStyle/>
                    <a:p>
                      <a:r>
                        <a:rPr sz="1000" b="1" i="0">
                          <a:solidFill>
                            <a:srgbClr val="FFFFFF"/>
                          </a:solidFill>
                          <a:latin typeface="Calibri"/>
                        </a:rPr>
                        <a:t>FC impression score</a:t>
                      </a:r>
                    </a:p>
                  </a:txBody>
                  <a:tcPr marL="64008" marR="64008" marT="36576" marB="36576" anchor="ctr">
                    <a:solidFill>
                      <a:srgbClr val="0B2240"/>
                    </a:solidFill>
                  </a:tcPr>
                </a:tc>
                <a:tc>
                  <a:txBody>
                    <a:bodyPr/>
                    <a:lstStyle/>
                    <a:p>
                      <a:r>
                        <a:rPr lang="en-SG" sz="1000" b="1" i="0" dirty="0">
                          <a:solidFill>
                            <a:srgbClr val="FFFFFF"/>
                          </a:solidFill>
                          <a:latin typeface="Calibri"/>
                        </a:rPr>
                        <a:t>Key Findings </a:t>
                      </a:r>
                      <a:endParaRPr sz="1000" b="1" i="0" dirty="0">
                        <a:solidFill>
                          <a:srgbClr val="FFFFFF"/>
                        </a:solidFill>
                        <a:latin typeface="Calibri"/>
                      </a:endParaRPr>
                    </a:p>
                  </a:txBody>
                  <a:tcPr marL="64008" marR="64008" marT="36576" marB="36576" anchor="ctr">
                    <a:solidFill>
                      <a:srgbClr val="0B2240"/>
                    </a:solidFill>
                  </a:tcPr>
                </a:tc>
                <a:extLst>
                  <a:ext uri="{0D108BD9-81ED-4DB2-BD59-A6C34878D82A}">
                    <a16:rowId xmlns:a16="http://schemas.microsoft.com/office/drawing/2014/main" val="10000"/>
                  </a:ext>
                </a:extLst>
              </a:tr>
              <a:tr h="358140">
                <a:tc>
                  <a:txBody>
                    <a:bodyPr/>
                    <a:lstStyle/>
                    <a:p>
                      <a:r>
                        <a:rPr lang="en-SG" sz="1000" dirty="0"/>
                        <a:t>Comparing travel providers</a:t>
                      </a:r>
                      <a:endParaRPr sz="1000" b="0" i="0" dirty="0">
                        <a:solidFill>
                          <a:srgbClr val="1F2937"/>
                        </a:solidFill>
                        <a:latin typeface="Calibri"/>
                      </a:endParaRPr>
                    </a:p>
                  </a:txBody>
                  <a:tcPr marL="64008" marR="64008" marT="36576" marB="36576">
                    <a:solidFill>
                      <a:srgbClr val="FFFFFF"/>
                    </a:solidFill>
                  </a:tcPr>
                </a:tc>
                <a:tc>
                  <a:txBody>
                    <a:bodyPr/>
                    <a:lstStyle/>
                    <a:p>
                      <a:r>
                        <a:rPr sz="1000" b="0" i="0">
                          <a:solidFill>
                            <a:srgbClr val="1F2937"/>
                          </a:solidFill>
                          <a:latin typeface="Calibri"/>
                        </a:rPr>
                        <a:t>2.34%</a:t>
                      </a:r>
                    </a:p>
                  </a:txBody>
                  <a:tcPr marL="64008" marR="64008" marT="36576" marB="36576">
                    <a:solidFill>
                      <a:srgbClr val="FFFFFF"/>
                    </a:solidFill>
                  </a:tcPr>
                </a:tc>
                <a:tc>
                  <a:txBody>
                    <a:bodyPr/>
                    <a:lstStyle/>
                    <a:p>
                      <a:r>
                        <a:rPr lang="en-SG" sz="1000" dirty="0"/>
                        <a:t>Highest visibility among unbranded questions tested</a:t>
                      </a:r>
                      <a:endParaRPr sz="1000" b="0" i="0" dirty="0">
                        <a:solidFill>
                          <a:srgbClr val="1F2937"/>
                        </a:solidFill>
                        <a:latin typeface="Calibri"/>
                      </a:endParaRPr>
                    </a:p>
                  </a:txBody>
                  <a:tcPr marL="64008" marR="64008" marT="36576" marB="36576">
                    <a:solidFill>
                      <a:srgbClr val="FFFFFF"/>
                    </a:solidFill>
                  </a:tcPr>
                </a:tc>
                <a:extLst>
                  <a:ext uri="{0D108BD9-81ED-4DB2-BD59-A6C34878D82A}">
                    <a16:rowId xmlns:a16="http://schemas.microsoft.com/office/drawing/2014/main" val="10001"/>
                  </a:ext>
                </a:extLst>
              </a:tr>
              <a:tr h="358140">
                <a:tc>
                  <a:txBody>
                    <a:bodyPr/>
                    <a:lstStyle/>
                    <a:p>
                      <a:r>
                        <a:rPr lang="en-SG" sz="1000" dirty="0"/>
                        <a:t>Finding a nearby travel agency</a:t>
                      </a:r>
                      <a:endParaRPr sz="1000" b="0" i="0" dirty="0">
                        <a:solidFill>
                          <a:srgbClr val="1F2937"/>
                        </a:solidFill>
                        <a:latin typeface="Calibri"/>
                      </a:endParaRPr>
                    </a:p>
                  </a:txBody>
                  <a:tcPr marL="64008" marR="64008" marT="36576" marB="36576">
                    <a:solidFill>
                      <a:srgbClr val="F3F5F8"/>
                    </a:solidFill>
                  </a:tcPr>
                </a:tc>
                <a:tc>
                  <a:txBody>
                    <a:bodyPr/>
                    <a:lstStyle/>
                    <a:p>
                      <a:r>
                        <a:rPr sz="1000" b="0" i="0">
                          <a:solidFill>
                            <a:srgbClr val="1F2937"/>
                          </a:solidFill>
                          <a:latin typeface="Calibri"/>
                        </a:rPr>
                        <a:t>1.75%</a:t>
                      </a:r>
                    </a:p>
                  </a:txBody>
                  <a:tcPr marL="64008" marR="64008" marT="36576" marB="36576">
                    <a:solidFill>
                      <a:srgbClr val="F3F5F8"/>
                    </a:solidFill>
                  </a:tcPr>
                </a:tc>
                <a:tc>
                  <a:txBody>
                    <a:bodyPr/>
                    <a:lstStyle/>
                    <a:p>
                      <a:r>
                        <a:rPr lang="en-SG" sz="1000" dirty="0"/>
                        <a:t>Limited visibility in a small sample</a:t>
                      </a:r>
                      <a:endParaRPr sz="1000" b="0" i="0" dirty="0">
                        <a:solidFill>
                          <a:srgbClr val="1F2937"/>
                        </a:solidFill>
                        <a:latin typeface="Calibri"/>
                      </a:endParaRPr>
                    </a:p>
                  </a:txBody>
                  <a:tcPr marL="64008" marR="64008" marT="36576" marB="36576">
                    <a:solidFill>
                      <a:srgbClr val="F3F5F8"/>
                    </a:solidFill>
                  </a:tcPr>
                </a:tc>
                <a:extLst>
                  <a:ext uri="{0D108BD9-81ED-4DB2-BD59-A6C34878D82A}">
                    <a16:rowId xmlns:a16="http://schemas.microsoft.com/office/drawing/2014/main" val="10002"/>
                  </a:ext>
                </a:extLst>
              </a:tr>
              <a:tr h="358140">
                <a:tc>
                  <a:txBody>
                    <a:bodyPr/>
                    <a:lstStyle/>
                    <a:p>
                      <a:r>
                        <a:rPr lang="en-SG" sz="1000" dirty="0"/>
                        <a:t>Researching travel information</a:t>
                      </a:r>
                      <a:endParaRPr sz="1000" b="0" i="0" dirty="0">
                        <a:solidFill>
                          <a:srgbClr val="1F2937"/>
                        </a:solidFill>
                        <a:latin typeface="Calibri"/>
                      </a:endParaRPr>
                    </a:p>
                  </a:txBody>
                  <a:tcPr marL="64008" marR="64008" marT="36576" marB="36576">
                    <a:solidFill>
                      <a:srgbClr val="FFFFFF"/>
                    </a:solidFill>
                  </a:tcPr>
                </a:tc>
                <a:tc>
                  <a:txBody>
                    <a:bodyPr/>
                    <a:lstStyle/>
                    <a:p>
                      <a:r>
                        <a:rPr sz="1000" b="0" i="0">
                          <a:solidFill>
                            <a:srgbClr val="1F2937"/>
                          </a:solidFill>
                          <a:latin typeface="Calibri"/>
                        </a:rPr>
                        <a:t>0.00%</a:t>
                      </a:r>
                    </a:p>
                  </a:txBody>
                  <a:tcPr marL="64008" marR="64008" marT="36576" marB="36576">
                    <a:solidFill>
                      <a:srgbClr val="FFFFFF"/>
                    </a:solidFill>
                  </a:tcPr>
                </a:tc>
                <a:tc>
                  <a:txBody>
                    <a:bodyPr/>
                    <a:lstStyle/>
                    <a:p>
                      <a:r>
                        <a:rPr lang="en-SG" sz="1000" dirty="0"/>
                        <a:t>FC did not appear in the tested answers</a:t>
                      </a:r>
                      <a:endParaRPr sz="1000" b="0" i="0" dirty="0">
                        <a:solidFill>
                          <a:srgbClr val="1F2937"/>
                        </a:solidFill>
                        <a:latin typeface="Calibri"/>
                      </a:endParaRPr>
                    </a:p>
                  </a:txBody>
                  <a:tcPr marL="64008" marR="64008" marT="36576" marB="36576">
                    <a:solidFill>
                      <a:srgbClr val="FFFFFF"/>
                    </a:solidFill>
                  </a:tcPr>
                </a:tc>
                <a:extLst>
                  <a:ext uri="{0D108BD9-81ED-4DB2-BD59-A6C34878D82A}">
                    <a16:rowId xmlns:a16="http://schemas.microsoft.com/office/drawing/2014/main" val="10003"/>
                  </a:ext>
                </a:extLst>
              </a:tr>
              <a:tr h="358140">
                <a:tc>
                  <a:txBody>
                    <a:bodyPr/>
                    <a:lstStyle/>
                    <a:p>
                      <a:r>
                        <a:rPr lang="en-SG" sz="1000" dirty="0"/>
                        <a:t>Looking to book travel</a:t>
                      </a:r>
                      <a:endParaRPr sz="1000" b="0" i="0" dirty="0">
                        <a:solidFill>
                          <a:srgbClr val="1F2937"/>
                        </a:solidFill>
                        <a:latin typeface="Calibri"/>
                      </a:endParaRPr>
                    </a:p>
                  </a:txBody>
                  <a:tcPr marL="64008" marR="64008" marT="36576" marB="36576">
                    <a:solidFill>
                      <a:srgbClr val="F3F5F8"/>
                    </a:solidFill>
                  </a:tcPr>
                </a:tc>
                <a:tc>
                  <a:txBody>
                    <a:bodyPr/>
                    <a:lstStyle/>
                    <a:p>
                      <a:r>
                        <a:rPr sz="1000" b="0" i="0">
                          <a:solidFill>
                            <a:srgbClr val="1F2937"/>
                          </a:solidFill>
                          <a:latin typeface="Calibri"/>
                        </a:rPr>
                        <a:t>0.00%</a:t>
                      </a:r>
                    </a:p>
                  </a:txBody>
                  <a:tcPr marL="64008" marR="64008" marT="36576" marB="36576">
                    <a:solidFill>
                      <a:srgbClr val="F3F5F8"/>
                    </a:solidFill>
                  </a:tcPr>
                </a:tc>
                <a:tc>
                  <a:txBody>
                    <a:bodyPr/>
                    <a:lstStyle/>
                    <a:p>
                      <a:r>
                        <a:rPr lang="en-US" sz="1000" dirty="0"/>
                        <a:t>FC did not appear in the tested answers</a:t>
                      </a:r>
                      <a:endParaRPr lang="en-US" sz="1000" b="0" i="0" dirty="0">
                        <a:solidFill>
                          <a:srgbClr val="1F2937"/>
                        </a:solidFill>
                        <a:latin typeface="+mn-lt"/>
                      </a:endParaRPr>
                    </a:p>
                  </a:txBody>
                  <a:tcPr marL="64008" marR="64008" marT="36576" marB="36576">
                    <a:solidFill>
                      <a:srgbClr val="F3F5F8"/>
                    </a:solidFill>
                  </a:tcPr>
                </a:tc>
                <a:extLst>
                  <a:ext uri="{0D108BD9-81ED-4DB2-BD59-A6C34878D82A}">
                    <a16:rowId xmlns:a16="http://schemas.microsoft.com/office/drawing/2014/main" val="10004"/>
                  </a:ext>
                </a:extLst>
              </a:tr>
              <a:tr h="358140">
                <a:tc>
                  <a:txBody>
                    <a:bodyPr/>
                    <a:lstStyle/>
                    <a:p>
                      <a:r>
                        <a:rPr lang="en-SG" sz="1000" dirty="0"/>
                        <a:t>Searching specifically for Flight Centre</a:t>
                      </a:r>
                      <a:endParaRPr sz="1000" b="0" i="0" dirty="0">
                        <a:solidFill>
                          <a:srgbClr val="1F2937"/>
                        </a:solidFill>
                        <a:latin typeface="Calibri"/>
                      </a:endParaRPr>
                    </a:p>
                  </a:txBody>
                  <a:tcPr marL="64008" marR="64008" marT="36576" marB="36576">
                    <a:solidFill>
                      <a:srgbClr val="FFFFFF"/>
                    </a:solidFill>
                  </a:tcPr>
                </a:tc>
                <a:tc>
                  <a:txBody>
                    <a:bodyPr/>
                    <a:lstStyle/>
                    <a:p>
                      <a:r>
                        <a:rPr sz="1000" b="0" i="0">
                          <a:solidFill>
                            <a:srgbClr val="1F2937"/>
                          </a:solidFill>
                          <a:latin typeface="Calibri"/>
                        </a:rPr>
                        <a:t>~100%</a:t>
                      </a:r>
                    </a:p>
                  </a:txBody>
                  <a:tcPr marL="64008" marR="64008" marT="36576" marB="36576">
                    <a:solidFill>
                      <a:srgbClr val="FFFFFF"/>
                    </a:solidFill>
                  </a:tcPr>
                </a:tc>
                <a:tc>
                  <a:txBody>
                    <a:bodyPr/>
                    <a:lstStyle/>
                    <a:p>
                      <a:r>
                        <a:rPr lang="en-SG" sz="1000" dirty="0"/>
                        <a:t>Strong visibility when customers state the brand</a:t>
                      </a:r>
                      <a:endParaRPr lang="en-US" sz="1000" b="0" i="0" dirty="0">
                        <a:solidFill>
                          <a:srgbClr val="1F2937"/>
                        </a:solidFill>
                        <a:latin typeface="+mn-lt"/>
                      </a:endParaRPr>
                    </a:p>
                  </a:txBody>
                  <a:tcPr marL="64008" marR="64008" marT="36576" marB="36576">
                    <a:solidFill>
                      <a:srgbClr val="FFFFFF"/>
                    </a:solidFill>
                  </a:tcPr>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nvGraphicFramePr>
        <p:xfrm>
          <a:off x="4709160" y="3931920"/>
          <a:ext cx="6949440" cy="2253996"/>
        </p:xfrm>
        <a:graphic>
          <a:graphicData uri="http://schemas.openxmlformats.org/drawingml/2006/table">
            <a:tbl>
              <a:tblPr/>
              <a:tblGrid>
                <a:gridCol w="5486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73380">
                <a:tc>
                  <a:txBody>
                    <a:bodyPr/>
                    <a:lstStyle/>
                    <a:p>
                      <a:r>
                        <a:rPr sz="1000" b="1" i="0">
                          <a:solidFill>
                            <a:srgbClr val="FFFFFF"/>
                          </a:solidFill>
                          <a:latin typeface="Calibri"/>
                        </a:rPr>
                        <a:t>Live check, 25 Oct 2026 (no JavaScript)</a:t>
                      </a:r>
                    </a:p>
                  </a:txBody>
                  <a:tcPr marL="64008" marR="64008" marT="36576" marB="36576" anchor="ctr">
                    <a:solidFill>
                      <a:srgbClr val="0B2240"/>
                    </a:solidFill>
                  </a:tcPr>
                </a:tc>
                <a:tc>
                  <a:txBody>
                    <a:bodyPr/>
                    <a:lstStyle/>
                    <a:p>
                      <a:r>
                        <a:rPr sz="1000" b="1" i="0">
                          <a:solidFill>
                            <a:srgbClr val="FFFFFF"/>
                          </a:solidFill>
                          <a:latin typeface="Calibri"/>
                        </a:rPr>
                        <a:t>Found</a:t>
                      </a:r>
                    </a:p>
                  </a:txBody>
                  <a:tcPr marL="64008" marR="64008" marT="36576" marB="36576" anchor="ctr">
                    <a:solidFill>
                      <a:srgbClr val="0B2240"/>
                    </a:solidFill>
                  </a:tcPr>
                </a:tc>
                <a:extLst>
                  <a:ext uri="{0D108BD9-81ED-4DB2-BD59-A6C34878D82A}">
                    <a16:rowId xmlns:a16="http://schemas.microsoft.com/office/drawing/2014/main" val="10000"/>
                  </a:ext>
                </a:extLst>
              </a:tr>
              <a:tr h="373380">
                <a:tc>
                  <a:txBody>
                    <a:bodyPr/>
                    <a:lstStyle/>
                    <a:p>
                      <a:r>
                        <a:rPr sz="1000" b="0" i="0">
                          <a:solidFill>
                            <a:srgbClr val="1F2937"/>
                          </a:solidFill>
                          <a:latin typeface="Calibri"/>
                        </a:rPr>
                        <a:t>Route pages (Melbourne–London, Brisbane–Bali): FAQ text and one JSON-LD block (FAQPage, Flight, Offer)</a:t>
                      </a:r>
                    </a:p>
                  </a:txBody>
                  <a:tcPr marL="64008" marR="64008" marT="36576" marB="36576">
                    <a:solidFill>
                      <a:srgbClr val="FFFFFF"/>
                    </a:solidFill>
                  </a:tcPr>
                </a:tc>
                <a:tc>
                  <a:txBody>
                    <a:bodyPr/>
                    <a:lstStyle/>
                    <a:p>
                      <a:r>
                        <a:rPr sz="1000" b="0" i="0">
                          <a:solidFill>
                            <a:srgbClr val="1F2937"/>
                          </a:solidFill>
                          <a:latin typeface="Calibri"/>
                        </a:rPr>
                        <a:t>Yes</a:t>
                      </a:r>
                    </a:p>
                  </a:txBody>
                  <a:tcPr marL="64008" marR="64008" marT="36576" marB="36576">
                    <a:solidFill>
                      <a:srgbClr val="E4F1E8"/>
                    </a:solidFill>
                  </a:tcPr>
                </a:tc>
                <a:extLst>
                  <a:ext uri="{0D108BD9-81ED-4DB2-BD59-A6C34878D82A}">
                    <a16:rowId xmlns:a16="http://schemas.microsoft.com/office/drawing/2014/main" val="10001"/>
                  </a:ext>
                </a:extLst>
              </a:tr>
              <a:tr h="373380">
                <a:tc>
                  <a:txBody>
                    <a:bodyPr/>
                    <a:lstStyle/>
                    <a:p>
                      <a:r>
                        <a:rPr sz="1000" b="0" i="0">
                          <a:solidFill>
                            <a:srgbClr val="1F2937"/>
                          </a:solidFill>
                          <a:latin typeface="Calibri"/>
                        </a:rPr>
                        <a:t>Route pages: dated deal cards (airline, dates, cabin, price) in the HTML</a:t>
                      </a:r>
                    </a:p>
                  </a:txBody>
                  <a:tcPr marL="64008" marR="64008" marT="36576" marB="36576">
                    <a:solidFill>
                      <a:srgbClr val="F3F5F8"/>
                    </a:solidFill>
                  </a:tcPr>
                </a:tc>
                <a:tc>
                  <a:txBody>
                    <a:bodyPr/>
                    <a:lstStyle/>
                    <a:p>
                      <a:r>
                        <a:rPr sz="1000" b="0" i="0">
                          <a:solidFill>
                            <a:srgbClr val="1F2937"/>
                          </a:solidFill>
                          <a:latin typeface="Calibri"/>
                        </a:rPr>
                        <a:t>No</a:t>
                      </a:r>
                    </a:p>
                  </a:txBody>
                  <a:tcPr marL="64008" marR="64008" marT="36576" marB="36576">
                    <a:solidFill>
                      <a:srgbClr val="FBE8EA"/>
                    </a:solidFill>
                  </a:tcPr>
                </a:tc>
                <a:extLst>
                  <a:ext uri="{0D108BD9-81ED-4DB2-BD59-A6C34878D82A}">
                    <a16:rowId xmlns:a16="http://schemas.microsoft.com/office/drawing/2014/main" val="10002"/>
                  </a:ext>
                </a:extLst>
              </a:tr>
              <a:tr h="373380">
                <a:tc>
                  <a:txBody>
                    <a:bodyPr/>
                    <a:lstStyle/>
                    <a:p>
                      <a:r>
                        <a:rPr sz="1000" b="0" i="0">
                          <a:solidFill>
                            <a:srgbClr val="1F2937"/>
                          </a:solidFill>
                          <a:latin typeface="Calibri"/>
                        </a:rPr>
                        <a:t>Holiday pages (Bali, Fiji): any JSON-LD (FAQ questions are now in the text, an improvement since August)</a:t>
                      </a:r>
                    </a:p>
                  </a:txBody>
                  <a:tcPr marL="64008" marR="64008" marT="36576" marB="36576">
                    <a:solidFill>
                      <a:srgbClr val="FFFFFF"/>
                    </a:solidFill>
                  </a:tcPr>
                </a:tc>
                <a:tc>
                  <a:txBody>
                    <a:bodyPr/>
                    <a:lstStyle/>
                    <a:p>
                      <a:r>
                        <a:rPr sz="1000" b="0" i="0">
                          <a:solidFill>
                            <a:srgbClr val="1F2937"/>
                          </a:solidFill>
                          <a:latin typeface="Calibri"/>
                        </a:rPr>
                        <a:t>No</a:t>
                      </a:r>
                    </a:p>
                  </a:txBody>
                  <a:tcPr marL="64008" marR="64008" marT="36576" marB="36576">
                    <a:solidFill>
                      <a:srgbClr val="FBE8EA"/>
                    </a:solidFill>
                  </a:tcPr>
                </a:tc>
                <a:extLst>
                  <a:ext uri="{0D108BD9-81ED-4DB2-BD59-A6C34878D82A}">
                    <a16:rowId xmlns:a16="http://schemas.microsoft.com/office/drawing/2014/main" val="10003"/>
                  </a:ext>
                </a:extLst>
              </a:tr>
              <a:tr h="373380">
                <a:tc>
                  <a:txBody>
                    <a:bodyPr/>
                    <a:lstStyle/>
                    <a:p>
                      <a:r>
                        <a:rPr sz="1000" b="0" i="0">
                          <a:solidFill>
                            <a:srgbClr val="1F2937"/>
                          </a:solidFill>
                          <a:latin typeface="Calibri"/>
                        </a:rPr>
                        <a:t>/llms.txt (Expedia publishes one; Google ignores it)</a:t>
                      </a:r>
                    </a:p>
                  </a:txBody>
                  <a:tcPr marL="64008" marR="64008" marT="36576" marB="36576">
                    <a:solidFill>
                      <a:srgbClr val="F3F5F8"/>
                    </a:solidFill>
                  </a:tcPr>
                </a:tc>
                <a:tc>
                  <a:txBody>
                    <a:bodyPr/>
                    <a:lstStyle/>
                    <a:p>
                      <a:r>
                        <a:rPr sz="1000" b="0" i="0">
                          <a:solidFill>
                            <a:srgbClr val="1F2937"/>
                          </a:solidFill>
                          <a:latin typeface="Calibri"/>
                        </a:rPr>
                        <a:t>404</a:t>
                      </a:r>
                    </a:p>
                  </a:txBody>
                  <a:tcPr marL="64008" marR="64008" marT="36576" marB="36576">
                    <a:solidFill>
                      <a:srgbClr val="FFF3DC"/>
                    </a:solidFill>
                  </a:tcPr>
                </a:tc>
                <a:extLst>
                  <a:ext uri="{0D108BD9-81ED-4DB2-BD59-A6C34878D82A}">
                    <a16:rowId xmlns:a16="http://schemas.microsoft.com/office/drawing/2014/main" val="10004"/>
                  </a:ext>
                </a:extLst>
              </a:tr>
              <a:tr h="373380">
                <a:tc>
                  <a:txBody>
                    <a:bodyPr/>
                    <a:lstStyle/>
                    <a:p>
                      <a:r>
                        <a:rPr sz="1000" b="0" i="0">
                          <a:solidFill>
                            <a:srgbClr val="1F2937"/>
                          </a:solidFill>
                          <a:latin typeface="Calibri"/>
                        </a:rPr>
                        <a:t>robots.txt allows AI search and training bots (wildcard Allow, plus GPTBot, PerplexityBot, AnthropicBot named)</a:t>
                      </a:r>
                    </a:p>
                  </a:txBody>
                  <a:tcPr marL="64008" marR="64008" marT="36576" marB="36576">
                    <a:solidFill>
                      <a:srgbClr val="FFFFFF"/>
                    </a:solidFill>
                  </a:tcPr>
                </a:tc>
                <a:tc>
                  <a:txBody>
                    <a:bodyPr/>
                    <a:lstStyle/>
                    <a:p>
                      <a:r>
                        <a:rPr sz="1000" b="0" i="0">
                          <a:solidFill>
                            <a:srgbClr val="1F2937"/>
                          </a:solidFill>
                          <a:latin typeface="Calibri"/>
                        </a:rPr>
                        <a:t>Yes</a:t>
                      </a:r>
                    </a:p>
                  </a:txBody>
                  <a:tcPr marL="64008" marR="64008" marT="36576" marB="36576">
                    <a:solidFill>
                      <a:srgbClr val="E4F1E8"/>
                    </a:solidFill>
                  </a:tcPr>
                </a:tc>
                <a:extLst>
                  <a:ext uri="{0D108BD9-81ED-4DB2-BD59-A6C34878D82A}">
                    <a16:rowId xmlns:a16="http://schemas.microsoft.com/office/drawing/2014/main" val="10005"/>
                  </a:ext>
                </a:extLst>
              </a:tr>
            </a:tbl>
          </a:graphicData>
        </a:graphic>
      </p:graphicFrame>
      <p:sp>
        <p:nvSpPr>
          <p:cNvPr id="11" name="TextBox 10"/>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Sources: Pillar 2 audit §10.3 (impression score = FC-related words as % of answer words; single run per cell; directional). Live fetches of flightcentre.com.au 25 Oct 2026 with JavaScript off (counts of application/ld+json, FAQPage, 'Available between'). Brave Search AU snapshot, Aug 2026 (fc_search_rank = best rank across three wordings; questions Q23–Q30). Not 'zero everywhere': a documented subset.</a:t>
            </a:r>
          </a:p>
        </p:txBody>
      </p:sp>
      <p:sp>
        <p:nvSpPr>
          <p:cNvPr id="12" name="TextBox 11"/>
          <p:cNvSpPr txBox="1"/>
          <p:nvPr/>
        </p:nvSpPr>
        <p:spPr>
          <a:xfrm>
            <a:off x="11247120" y="6382512"/>
            <a:ext cx="411480" cy="235001"/>
          </a:xfrm>
          <a:prstGeom prst="rect">
            <a:avLst/>
          </a:prstGeom>
          <a:noFill/>
        </p:spPr>
        <p:txBody>
          <a:bodyPr wrap="square" lIns="45720" rIns="45720" anchor="t">
            <a:spAutoFit/>
          </a:bodyPr>
          <a:lstStyle/>
          <a:p>
            <a:pPr algn="r">
              <a:lnSpc>
                <a:spcPct val="108000"/>
              </a:lnSpc>
              <a:spcAft>
                <a:spcPts val="400"/>
              </a:spcAft>
            </a:pPr>
            <a:r>
              <a:rPr lang="en-US" sz="900" b="0" i="0">
                <a:solidFill>
                  <a:srgbClr val="5B6573"/>
                </a:solidFill>
                <a:latin typeface="Calibri"/>
              </a:rPr>
              <a:t>5</a:t>
            </a:r>
            <a:endParaRPr sz="900" b="0" i="0">
              <a:solidFill>
                <a:srgbClr val="5B6573"/>
              </a:solidFill>
              <a:latin typeface="Calibri"/>
            </a:endParaRPr>
          </a:p>
        </p:txBody>
      </p:sp>
    </p:spTree>
  </p:cSld>
  <p:clrMapOvr>
    <a:masterClrMapping/>
  </p:clrMapOvr>
</p:sld>
</file>

<file path=ppt/slides/slide10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WHY  ·  WHAT AI NEEDS FROM FC</a:t>
            </a: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lIns="0" tIns="0" rIns="0" bIns="0" rtlCol="0" anchor="t"/>
          <a:lstStyle/>
          <a:p>
            <a:pPr marL="0" indent="0" algn="l">
              <a:buNone/>
            </a:pPr>
            <a:r>
              <a:rPr lang="en-US" sz="3200" b="1" dirty="0">
                <a:solidFill>
                  <a:schemeClr val="tx2"/>
                </a:solidFill>
              </a:rPr>
              <a:t>Without JavaScript, FC’s deals disappear</a:t>
            </a:r>
            <a:endParaRPr lang="en-US" sz="3200" dirty="0"/>
          </a:p>
        </p:txBody>
      </p:sp>
      <p:sp>
        <p:nvSpPr>
          <p:cNvPr id="4" name="Text 2"/>
          <p:cNvSpPr txBox="1"/>
          <p:nvPr/>
        </p:nvSpPr>
        <p:spPr>
          <a:xfrm>
            <a:off x="6869887" y="246888"/>
            <a:ext cx="896112" cy="310896"/>
          </a:xfrm>
          <a:prstGeom prst="roundRect">
            <a:avLst>
              <a:gd name="adj" fmla="val 50000"/>
            </a:avLst>
          </a:prstGeom>
          <a:solidFill>
            <a:schemeClr val="accent1"/>
          </a:solidFill>
          <a:ln w="12700">
            <a:solidFill>
              <a:srgbClr val="E31B23"/>
            </a:solidFill>
          </a:ln>
        </p:spPr>
        <p:txBody>
          <a:bodyPr wrap="square" lIns="0" tIns="0" rIns="0" bIns="0" rtlCol="0" anchor="ctr"/>
          <a:lstStyle/>
          <a:p>
            <a:pPr marL="0" indent="0" algn="ctr">
              <a:buNone/>
            </a:pPr>
            <a:r>
              <a:rPr lang="en-US" sz="1000" b="1" kern="0" spc="100" dirty="0">
                <a:solidFill>
                  <a:schemeClr val="bg1"/>
                </a:solidFill>
              </a:rPr>
              <a:t>1  READ</a:t>
            </a:r>
            <a:endParaRPr lang="en-US" sz="1000" dirty="0"/>
          </a:p>
        </p:txBody>
      </p:sp>
      <p:sp>
        <p:nvSpPr>
          <p:cNvPr id="5" name="Text 3"/>
          <p:cNvSpPr txBox="1"/>
          <p:nvPr/>
        </p:nvSpPr>
        <p:spPr>
          <a:xfrm>
            <a:off x="7839151"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2  FIND</a:t>
            </a:r>
            <a:endParaRPr lang="en-US" sz="1000" dirty="0"/>
          </a:p>
        </p:txBody>
      </p:sp>
      <p:sp>
        <p:nvSpPr>
          <p:cNvPr id="6" name="Text 4"/>
          <p:cNvSpPr txBox="1"/>
          <p:nvPr/>
        </p:nvSpPr>
        <p:spPr>
          <a:xfrm>
            <a:off x="8808415"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3  ANSWER</a:t>
            </a:r>
            <a:endParaRPr lang="en-US" sz="1000" dirty="0"/>
          </a:p>
        </p:txBody>
      </p:sp>
      <p:sp>
        <p:nvSpPr>
          <p:cNvPr id="7" name="Text 5"/>
          <p:cNvSpPr txBox="1"/>
          <p:nvPr/>
        </p:nvSpPr>
        <p:spPr>
          <a:xfrm>
            <a:off x="9777679"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4  TRUST</a:t>
            </a:r>
            <a:endParaRPr lang="en-US" sz="1000" dirty="0"/>
          </a:p>
        </p:txBody>
      </p:sp>
      <p:sp>
        <p:nvSpPr>
          <p:cNvPr id="8" name="Text 6"/>
          <p:cNvSpPr txBox="1"/>
          <p:nvPr/>
        </p:nvSpPr>
        <p:spPr>
          <a:xfrm>
            <a:off x="10746943"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5  ACT</a:t>
            </a:r>
            <a:endParaRPr lang="en-US" sz="1000" dirty="0"/>
          </a:p>
        </p:txBody>
      </p:sp>
      <p:pic>
        <p:nvPicPr>
          <p:cNvPr id="9" name="Image 0" descr="preencoded.png"/>
          <p:cNvPicPr>
            <a:picLocks noChangeAspect="1"/>
          </p:cNvPicPr>
          <p:nvPr/>
        </p:nvPicPr>
        <p:blipFill>
          <a:blip r:embed="rId3"/>
          <a:stretch>
            <a:fillRect/>
          </a:stretch>
        </p:blipFill>
        <p:spPr>
          <a:xfrm>
            <a:off x="603504" y="1517904"/>
            <a:ext cx="292608" cy="292608"/>
          </a:xfrm>
          <a:prstGeom prst="rect">
            <a:avLst/>
          </a:prstGeom>
        </p:spPr>
      </p:pic>
      <p:sp>
        <p:nvSpPr>
          <p:cNvPr id="10" name="Text 7"/>
          <p:cNvSpPr txBox="1"/>
          <p:nvPr/>
        </p:nvSpPr>
        <p:spPr>
          <a:xfrm>
            <a:off x="1014984" y="1499616"/>
            <a:ext cx="4526280" cy="329184"/>
          </a:xfrm>
          <a:prstGeom prst="rect">
            <a:avLst/>
          </a:prstGeom>
          <a:noFill/>
          <a:ln/>
        </p:spPr>
        <p:txBody>
          <a:bodyPr wrap="square" lIns="0" tIns="0" rIns="0" bIns="0" rtlCol="0" anchor="t"/>
          <a:lstStyle/>
          <a:p>
            <a:pPr marL="0" indent="0">
              <a:buNone/>
            </a:pPr>
            <a:r>
              <a:rPr lang="en-US" sz="1600" b="1" dirty="0">
                <a:solidFill>
                  <a:schemeClr val="tx2"/>
                </a:solidFill>
              </a:rPr>
              <a:t>What a customer sees</a:t>
            </a:r>
            <a:endParaRPr lang="en-US" sz="1600" dirty="0"/>
          </a:p>
        </p:txBody>
      </p:sp>
      <p:sp>
        <p:nvSpPr>
          <p:cNvPr id="11" name="Shape 8"/>
          <p:cNvSpPr/>
          <p:nvPr/>
        </p:nvSpPr>
        <p:spPr>
          <a:xfrm>
            <a:off x="548640" y="1847088"/>
            <a:ext cx="5047488" cy="3218420"/>
          </a:xfrm>
          <a:prstGeom prst="roundRect">
            <a:avLst>
              <a:gd name="adj" fmla="val 2841"/>
            </a:avLst>
          </a:prstGeom>
          <a:solidFill>
            <a:schemeClr val="bg1"/>
          </a:solidFill>
          <a:ln w="12700">
            <a:solidFill>
              <a:srgbClr val="D5DEEA"/>
            </a:solidFill>
            <a:prstDash val="solid"/>
          </a:ln>
          <a:effectLst>
            <a:outerShdw blurRad="127000" dist="25400" dir="5400000" algn="bl" rotWithShape="0">
              <a:srgbClr val="0B2A5B">
                <a:alpha val="14000"/>
              </a:srgbClr>
            </a:outerShdw>
          </a:effectLst>
        </p:spPr>
        <p:txBody>
          <a:bodyPr/>
          <a:lstStyle/>
          <a:p>
            <a:endParaRPr lang="LID4096"/>
          </a:p>
        </p:txBody>
      </p:sp>
      <p:pic>
        <p:nvPicPr>
          <p:cNvPr id="12" name="Image 1" descr="Flight Centre Melbourne to London page with six dated deal cards"/>
          <p:cNvPicPr>
            <a:picLocks noChangeAspect="1"/>
          </p:cNvPicPr>
          <p:nvPr/>
        </p:nvPicPr>
        <p:blipFill>
          <a:blip r:embed="rId4"/>
          <a:stretch>
            <a:fillRect/>
          </a:stretch>
        </p:blipFill>
        <p:spPr>
          <a:xfrm>
            <a:off x="603504" y="1901952"/>
            <a:ext cx="4937760" cy="3108692"/>
          </a:xfrm>
          <a:prstGeom prst="rect">
            <a:avLst/>
          </a:prstGeom>
        </p:spPr>
      </p:pic>
      <p:pic>
        <p:nvPicPr>
          <p:cNvPr id="13" name="Image 2" descr="preencoded.png"/>
          <p:cNvPicPr>
            <a:picLocks noChangeAspect="1"/>
          </p:cNvPicPr>
          <p:nvPr/>
        </p:nvPicPr>
        <p:blipFill>
          <a:blip r:embed="rId5"/>
          <a:stretch>
            <a:fillRect/>
          </a:stretch>
        </p:blipFill>
        <p:spPr>
          <a:xfrm>
            <a:off x="6650431" y="1517904"/>
            <a:ext cx="292608" cy="292608"/>
          </a:xfrm>
          <a:prstGeom prst="rect">
            <a:avLst/>
          </a:prstGeom>
        </p:spPr>
      </p:pic>
      <p:sp>
        <p:nvSpPr>
          <p:cNvPr id="14" name="Text 9"/>
          <p:cNvSpPr txBox="1"/>
          <p:nvPr/>
        </p:nvSpPr>
        <p:spPr>
          <a:xfrm>
            <a:off x="7061911" y="1499616"/>
            <a:ext cx="4526280" cy="329184"/>
          </a:xfrm>
          <a:prstGeom prst="rect">
            <a:avLst/>
          </a:prstGeom>
          <a:noFill/>
          <a:ln/>
        </p:spPr>
        <p:txBody>
          <a:bodyPr wrap="square" lIns="0" tIns="0" rIns="0" bIns="0" rtlCol="0" anchor="t"/>
          <a:lstStyle/>
          <a:p>
            <a:pPr marL="0" indent="0">
              <a:buNone/>
            </a:pPr>
            <a:r>
              <a:rPr lang="en-US" sz="1600" b="1" dirty="0">
                <a:solidFill>
                  <a:schemeClr val="tx2"/>
                </a:solidFill>
              </a:rPr>
              <a:t>What a text-only AI reader gets</a:t>
            </a:r>
            <a:endParaRPr lang="en-US" sz="1600" dirty="0"/>
          </a:p>
        </p:txBody>
      </p:sp>
      <p:sp>
        <p:nvSpPr>
          <p:cNvPr id="15" name="Shape 10"/>
          <p:cNvSpPr/>
          <p:nvPr/>
        </p:nvSpPr>
        <p:spPr>
          <a:xfrm>
            <a:off x="6595567" y="1847088"/>
            <a:ext cx="5047488" cy="3218420"/>
          </a:xfrm>
          <a:prstGeom prst="roundRect">
            <a:avLst>
              <a:gd name="adj" fmla="val 2841"/>
            </a:avLst>
          </a:prstGeom>
          <a:solidFill>
            <a:schemeClr val="bg1"/>
          </a:solidFill>
          <a:ln w="12700">
            <a:solidFill>
              <a:srgbClr val="D5DEEA"/>
            </a:solidFill>
            <a:prstDash val="solid"/>
          </a:ln>
          <a:effectLst>
            <a:outerShdw blurRad="127000" dist="25400" dir="5400000" algn="bl" rotWithShape="0">
              <a:srgbClr val="0B2A5B">
                <a:alpha val="14000"/>
              </a:srgbClr>
            </a:outerShdw>
          </a:effectLst>
        </p:spPr>
        <p:txBody>
          <a:bodyPr/>
          <a:lstStyle/>
          <a:p>
            <a:endParaRPr lang="LID4096"/>
          </a:p>
        </p:txBody>
      </p:sp>
      <p:pic>
        <p:nvPicPr>
          <p:cNvPr id="16" name="Image 3" descr="The same page with empty placeholders instead of deal cards"/>
          <p:cNvPicPr>
            <a:picLocks noChangeAspect="1"/>
          </p:cNvPicPr>
          <p:nvPr/>
        </p:nvPicPr>
        <p:blipFill>
          <a:blip r:embed="rId6"/>
          <a:stretch>
            <a:fillRect/>
          </a:stretch>
        </p:blipFill>
        <p:spPr>
          <a:xfrm>
            <a:off x="6650431" y="1901952"/>
            <a:ext cx="4937760" cy="3108692"/>
          </a:xfrm>
          <a:prstGeom prst="rect">
            <a:avLst/>
          </a:prstGeom>
        </p:spPr>
      </p:pic>
      <p:sp>
        <p:nvSpPr>
          <p:cNvPr id="17" name="Text 11"/>
          <p:cNvSpPr txBox="1"/>
          <p:nvPr/>
        </p:nvSpPr>
        <p:spPr>
          <a:xfrm>
            <a:off x="603504" y="4352276"/>
            <a:ext cx="4937760" cy="658368"/>
          </a:xfrm>
          <a:prstGeom prst="rect">
            <a:avLst/>
          </a:prstGeom>
          <a:solidFill>
            <a:schemeClr val="tx2"/>
          </a:solidFill>
          <a:ln/>
        </p:spPr>
        <p:txBody>
          <a:bodyPr wrap="square" lIns="0" tIns="0" rIns="0" bIns="0" rtlCol="0" anchor="ctr"/>
          <a:lstStyle/>
          <a:p>
            <a:pPr marL="0" indent="0" algn="ctr">
              <a:buNone/>
            </a:pPr>
            <a:r>
              <a:rPr lang="en-US" sz="2600" b="1" dirty="0">
                <a:solidFill>
                  <a:schemeClr val="bg1"/>
                </a:solidFill>
              </a:rPr>
              <a:t>6</a:t>
            </a:r>
            <a:r>
              <a:rPr lang="en-US" sz="1500" b="1" dirty="0">
                <a:solidFill>
                  <a:schemeClr val="bg1"/>
                </a:solidFill>
              </a:rPr>
              <a:t>   dated deals with prices</a:t>
            </a:r>
            <a:endParaRPr lang="en-US" sz="2600" dirty="0"/>
          </a:p>
        </p:txBody>
      </p:sp>
      <p:sp>
        <p:nvSpPr>
          <p:cNvPr id="18" name="Text 12"/>
          <p:cNvSpPr txBox="1"/>
          <p:nvPr/>
        </p:nvSpPr>
        <p:spPr>
          <a:xfrm>
            <a:off x="6650431" y="4352276"/>
            <a:ext cx="4937760" cy="658368"/>
          </a:xfrm>
          <a:prstGeom prst="rect">
            <a:avLst/>
          </a:prstGeom>
          <a:solidFill>
            <a:schemeClr val="accent1"/>
          </a:solidFill>
          <a:ln/>
        </p:spPr>
        <p:txBody>
          <a:bodyPr wrap="square" lIns="0" tIns="0" rIns="0" bIns="0" rtlCol="0" anchor="ctr"/>
          <a:lstStyle/>
          <a:p>
            <a:pPr marL="0" indent="0" algn="ctr">
              <a:buNone/>
            </a:pPr>
            <a:r>
              <a:rPr lang="en-US" sz="2600" b="1" dirty="0">
                <a:solidFill>
                  <a:schemeClr val="bg1"/>
                </a:solidFill>
              </a:rPr>
              <a:t>0</a:t>
            </a:r>
            <a:r>
              <a:rPr lang="en-US" sz="1500" b="1" dirty="0">
                <a:solidFill>
                  <a:schemeClr val="bg1"/>
                </a:solidFill>
              </a:rPr>
              <a:t>   deals, dates or prices</a:t>
            </a:r>
            <a:endParaRPr lang="en-US" sz="2600" dirty="0"/>
          </a:p>
        </p:txBody>
      </p:sp>
      <p:sp>
        <p:nvSpPr>
          <p:cNvPr id="19" name="Shape 13"/>
          <p:cNvSpPr/>
          <p:nvPr/>
        </p:nvSpPr>
        <p:spPr>
          <a:xfrm>
            <a:off x="5848960" y="3209410"/>
            <a:ext cx="493776" cy="493776"/>
          </a:xfrm>
          <a:prstGeom prst="ellipse">
            <a:avLst/>
          </a:prstGeom>
          <a:solidFill>
            <a:schemeClr val="accent1"/>
          </a:solidFill>
          <a:ln/>
        </p:spPr>
        <p:txBody>
          <a:bodyPr/>
          <a:lstStyle/>
          <a:p>
            <a:endParaRPr lang="LID4096"/>
          </a:p>
        </p:txBody>
      </p:sp>
      <p:pic>
        <p:nvPicPr>
          <p:cNvPr id="20" name="Image 4" descr="preencoded.png"/>
          <p:cNvPicPr>
            <a:picLocks noChangeAspect="1"/>
          </p:cNvPicPr>
          <p:nvPr/>
        </p:nvPicPr>
        <p:blipFill>
          <a:blip r:embed="rId7"/>
          <a:stretch>
            <a:fillRect/>
          </a:stretch>
        </p:blipFill>
        <p:spPr>
          <a:xfrm>
            <a:off x="5972404" y="3332854"/>
            <a:ext cx="246888" cy="246888"/>
          </a:xfrm>
          <a:prstGeom prst="rect">
            <a:avLst/>
          </a:prstGeom>
        </p:spPr>
      </p:pic>
      <p:sp>
        <p:nvSpPr>
          <p:cNvPr id="21" name="Text 14"/>
          <p:cNvSpPr txBox="1"/>
          <p:nvPr/>
        </p:nvSpPr>
        <p:spPr>
          <a:xfrm>
            <a:off x="548640" y="5193524"/>
            <a:ext cx="11094415" cy="292608"/>
          </a:xfrm>
          <a:prstGeom prst="rect">
            <a:avLst/>
          </a:prstGeom>
          <a:noFill/>
          <a:ln/>
        </p:spPr>
        <p:txBody>
          <a:bodyPr wrap="square" lIns="0" tIns="0" rIns="0" bIns="0" rtlCol="0" anchor="t"/>
          <a:lstStyle/>
          <a:p>
            <a:pPr marL="0" indent="0">
              <a:buNone/>
            </a:pPr>
            <a:r>
              <a:rPr lang="en-US" sz="1200" dirty="0">
                <a:solidFill>
                  <a:schemeClr val="accent3"/>
                </a:solidFill>
              </a:rPr>
              <a:t>Same Melbourne–London page, live check 25 Oct 2026. Many AI crawlers don’t run JavaScript (Vercel, Dec 2024).</a:t>
            </a:r>
            <a:endParaRPr lang="en-US" sz="1200" dirty="0"/>
          </a:p>
        </p:txBody>
      </p:sp>
      <p:sp>
        <p:nvSpPr>
          <p:cNvPr id="22" name="Shape 15"/>
          <p:cNvSpPr/>
          <p:nvPr/>
        </p:nvSpPr>
        <p:spPr>
          <a:xfrm>
            <a:off x="548640" y="5532120"/>
            <a:ext cx="11094415" cy="658368"/>
          </a:xfrm>
          <a:prstGeom prst="roundRect">
            <a:avLst>
              <a:gd name="adj" fmla="val 13889"/>
            </a:avLst>
          </a:prstGeom>
          <a:solidFill>
            <a:schemeClr val="tx2"/>
          </a:solidFill>
          <a:ln/>
        </p:spPr>
        <p:txBody>
          <a:bodyPr/>
          <a:lstStyle/>
          <a:p>
            <a:endParaRPr lang="LID4096"/>
          </a:p>
        </p:txBody>
      </p:sp>
      <p:sp>
        <p:nvSpPr>
          <p:cNvPr id="23" name="Shape 16"/>
          <p:cNvSpPr/>
          <p:nvPr/>
        </p:nvSpPr>
        <p:spPr>
          <a:xfrm>
            <a:off x="713232" y="5605272"/>
            <a:ext cx="512064" cy="512064"/>
          </a:xfrm>
          <a:prstGeom prst="ellipse">
            <a:avLst/>
          </a:prstGeom>
          <a:solidFill>
            <a:schemeClr val="accent1"/>
          </a:solidFill>
          <a:ln/>
        </p:spPr>
        <p:txBody>
          <a:bodyPr/>
          <a:lstStyle/>
          <a:p>
            <a:endParaRPr lang="LID4096"/>
          </a:p>
        </p:txBody>
      </p:sp>
      <p:pic>
        <p:nvPicPr>
          <p:cNvPr id="24" name="Image 5" descr="preencoded.png"/>
          <p:cNvPicPr>
            <a:picLocks noChangeAspect="1"/>
          </p:cNvPicPr>
          <p:nvPr/>
        </p:nvPicPr>
        <p:blipFill>
          <a:blip r:embed="rId8"/>
          <a:stretch>
            <a:fillRect/>
          </a:stretch>
        </p:blipFill>
        <p:spPr>
          <a:xfrm>
            <a:off x="841248" y="5733288"/>
            <a:ext cx="256032" cy="256032"/>
          </a:xfrm>
          <a:prstGeom prst="rect">
            <a:avLst/>
          </a:prstGeom>
        </p:spPr>
      </p:pic>
      <p:sp>
        <p:nvSpPr>
          <p:cNvPr id="25" name="Text 17"/>
          <p:cNvSpPr txBox="1"/>
          <p:nvPr/>
        </p:nvSpPr>
        <p:spPr>
          <a:xfrm>
            <a:off x="1417320" y="5532120"/>
            <a:ext cx="10058400" cy="658368"/>
          </a:xfrm>
          <a:prstGeom prst="rect">
            <a:avLst/>
          </a:prstGeom>
          <a:noFill/>
          <a:ln/>
        </p:spPr>
        <p:txBody>
          <a:bodyPr wrap="square" lIns="0" tIns="0" rIns="0" bIns="0" rtlCol="0" anchor="ctr"/>
          <a:lstStyle/>
          <a:p>
            <a:pPr marL="0" indent="0">
              <a:buNone/>
            </a:pPr>
            <a:r>
              <a:rPr lang="en-US" sz="1300" b="1" kern="0" spc="200" dirty="0">
                <a:solidFill>
                  <a:srgbClr val="F28B8F"/>
                </a:solidFill>
              </a:rPr>
              <a:t>FC ACTION   </a:t>
            </a:r>
            <a:r>
              <a:rPr lang="en-US" sz="1700" b="1" dirty="0">
                <a:solidFill>
                  <a:schemeClr val="bg1"/>
                </a:solidFill>
              </a:rPr>
              <a:t>Put deals, prices and FAQs in the page’s HTML, the same as customers see</a:t>
            </a:r>
            <a:endParaRPr lang="en-US" sz="1400" dirty="0"/>
          </a:p>
        </p:txBody>
      </p:sp>
      <p:sp>
        <p:nvSpPr>
          <p:cNvPr id="26"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10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WHY  ·  WHAT AI NEEDS FROM FC</a:t>
            </a: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lIns="0" tIns="0" rIns="0" bIns="0" rtlCol="0" anchor="t"/>
          <a:lstStyle/>
          <a:p>
            <a:pPr marL="0" indent="0" algn="l">
              <a:buNone/>
            </a:pPr>
            <a:r>
              <a:rPr lang="en-US" sz="3200" b="1" dirty="0">
                <a:solidFill>
                  <a:schemeClr val="tx2"/>
                </a:solidFill>
              </a:rPr>
              <a:t>FC is missing from “why use an agent?” searches</a:t>
            </a:r>
            <a:endParaRPr lang="en-US" sz="3200" dirty="0"/>
          </a:p>
        </p:txBody>
      </p:sp>
      <p:sp>
        <p:nvSpPr>
          <p:cNvPr id="4" name="Text 2"/>
          <p:cNvSpPr txBox="1"/>
          <p:nvPr/>
        </p:nvSpPr>
        <p:spPr>
          <a:xfrm>
            <a:off x="6869887"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1  READ</a:t>
            </a:r>
            <a:endParaRPr lang="en-US" sz="1000" dirty="0"/>
          </a:p>
        </p:txBody>
      </p:sp>
      <p:sp>
        <p:nvSpPr>
          <p:cNvPr id="5" name="Text 3"/>
          <p:cNvSpPr txBox="1"/>
          <p:nvPr/>
        </p:nvSpPr>
        <p:spPr>
          <a:xfrm>
            <a:off x="7839151" y="246888"/>
            <a:ext cx="896112" cy="310896"/>
          </a:xfrm>
          <a:prstGeom prst="roundRect">
            <a:avLst>
              <a:gd name="adj" fmla="val 50000"/>
            </a:avLst>
          </a:prstGeom>
          <a:solidFill>
            <a:schemeClr val="accent1"/>
          </a:solidFill>
          <a:ln w="12700">
            <a:solidFill>
              <a:srgbClr val="E31B23"/>
            </a:solidFill>
          </a:ln>
        </p:spPr>
        <p:txBody>
          <a:bodyPr wrap="square" lIns="0" tIns="0" rIns="0" bIns="0" rtlCol="0" anchor="ctr"/>
          <a:lstStyle/>
          <a:p>
            <a:pPr marL="0" indent="0" algn="ctr">
              <a:buNone/>
            </a:pPr>
            <a:r>
              <a:rPr lang="en-US" sz="1000" b="1" kern="0" spc="100" dirty="0">
                <a:solidFill>
                  <a:schemeClr val="bg1"/>
                </a:solidFill>
              </a:rPr>
              <a:t>2  FIND</a:t>
            </a:r>
            <a:endParaRPr lang="en-US" sz="1000" dirty="0"/>
          </a:p>
        </p:txBody>
      </p:sp>
      <p:sp>
        <p:nvSpPr>
          <p:cNvPr id="6" name="Text 4"/>
          <p:cNvSpPr txBox="1"/>
          <p:nvPr/>
        </p:nvSpPr>
        <p:spPr>
          <a:xfrm>
            <a:off x="8808415"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3  ANSWER</a:t>
            </a:r>
            <a:endParaRPr lang="en-US" sz="1000" dirty="0"/>
          </a:p>
        </p:txBody>
      </p:sp>
      <p:sp>
        <p:nvSpPr>
          <p:cNvPr id="7" name="Text 5"/>
          <p:cNvSpPr txBox="1"/>
          <p:nvPr/>
        </p:nvSpPr>
        <p:spPr>
          <a:xfrm>
            <a:off x="9777679"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4  TRUST</a:t>
            </a:r>
            <a:endParaRPr lang="en-US" sz="1000" dirty="0"/>
          </a:p>
        </p:txBody>
      </p:sp>
      <p:sp>
        <p:nvSpPr>
          <p:cNvPr id="8" name="Text 6"/>
          <p:cNvSpPr txBox="1"/>
          <p:nvPr/>
        </p:nvSpPr>
        <p:spPr>
          <a:xfrm>
            <a:off x="10746943"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5  ACT</a:t>
            </a:r>
            <a:endParaRPr lang="en-US" sz="1000" dirty="0"/>
          </a:p>
        </p:txBody>
      </p:sp>
      <p:sp>
        <p:nvSpPr>
          <p:cNvPr id="9" name="Text 7"/>
          <p:cNvSpPr txBox="1"/>
          <p:nvPr/>
        </p:nvSpPr>
        <p:spPr>
          <a:xfrm>
            <a:off x="548640" y="1481328"/>
            <a:ext cx="5120640" cy="1280160"/>
          </a:xfrm>
          <a:prstGeom prst="rect">
            <a:avLst/>
          </a:prstGeom>
          <a:noFill/>
          <a:ln/>
        </p:spPr>
        <p:txBody>
          <a:bodyPr wrap="square" lIns="0" tIns="0" rIns="0" bIns="0" rtlCol="0" anchor="t"/>
          <a:lstStyle/>
          <a:p>
            <a:pPr marL="0" indent="0">
              <a:buNone/>
            </a:pPr>
            <a:r>
              <a:rPr lang="en-US" sz="9600" b="1" dirty="0">
                <a:solidFill>
                  <a:schemeClr val="accent1"/>
                </a:solidFill>
              </a:rPr>
              <a:t>0 of 8</a:t>
            </a:r>
            <a:endParaRPr lang="en-US" sz="9600" dirty="0"/>
          </a:p>
        </p:txBody>
      </p:sp>
      <p:sp>
        <p:nvSpPr>
          <p:cNvPr id="10" name="Text 8"/>
          <p:cNvSpPr txBox="1"/>
          <p:nvPr/>
        </p:nvSpPr>
        <p:spPr>
          <a:xfrm>
            <a:off x="548640" y="2788920"/>
            <a:ext cx="4892040" cy="914400"/>
          </a:xfrm>
          <a:prstGeom prst="rect">
            <a:avLst/>
          </a:prstGeom>
          <a:noFill/>
          <a:ln/>
        </p:spPr>
        <p:txBody>
          <a:bodyPr wrap="square" lIns="0" tIns="0" rIns="0" bIns="0" rtlCol="0" anchor="t"/>
          <a:lstStyle/>
          <a:p>
            <a:pPr marL="0" indent="0">
              <a:buNone/>
            </a:pPr>
            <a:r>
              <a:rPr lang="en-US" sz="2000" dirty="0">
                <a:solidFill>
                  <a:schemeClr val="tx2"/>
                </a:solidFill>
              </a:rPr>
              <a:t>“Why use a travel agent?” questions had a Flight Centre page in the top 10 search results</a:t>
            </a:r>
            <a:endParaRPr lang="en-US" sz="2000" dirty="0"/>
          </a:p>
        </p:txBody>
      </p:sp>
      <p:sp>
        <p:nvSpPr>
          <p:cNvPr id="11" name="Shape 9"/>
          <p:cNvSpPr/>
          <p:nvPr/>
        </p:nvSpPr>
        <p:spPr>
          <a:xfrm>
            <a:off x="548640" y="3950208"/>
            <a:ext cx="512064" cy="512064"/>
          </a:xfrm>
          <a:prstGeom prst="roundRect">
            <a:avLst>
              <a:gd name="adj" fmla="val 17857"/>
            </a:avLst>
          </a:prstGeom>
          <a:solidFill>
            <a:schemeClr val="bg2"/>
          </a:solidFill>
          <a:ln/>
        </p:spPr>
        <p:txBody>
          <a:bodyPr/>
          <a:lstStyle/>
          <a:p>
            <a:endParaRPr lang="LID4096"/>
          </a:p>
        </p:txBody>
      </p:sp>
      <p:pic>
        <p:nvPicPr>
          <p:cNvPr id="12" name="Image 0" descr="preencoded.png"/>
          <p:cNvPicPr>
            <a:picLocks noChangeAspect="1"/>
          </p:cNvPicPr>
          <p:nvPr/>
        </p:nvPicPr>
        <p:blipFill>
          <a:blip r:embed="rId3"/>
          <a:stretch>
            <a:fillRect/>
          </a:stretch>
        </p:blipFill>
        <p:spPr>
          <a:xfrm>
            <a:off x="685800" y="4087368"/>
            <a:ext cx="237744" cy="237744"/>
          </a:xfrm>
          <a:prstGeom prst="rect">
            <a:avLst/>
          </a:prstGeom>
        </p:spPr>
      </p:pic>
      <p:pic>
        <p:nvPicPr>
          <p:cNvPr id="13" name="Image 1" descr="preencoded.png"/>
          <p:cNvPicPr>
            <a:picLocks noChangeAspect="1"/>
          </p:cNvPicPr>
          <p:nvPr/>
        </p:nvPicPr>
        <p:blipFill>
          <a:blip r:embed="rId4"/>
          <a:stretch>
            <a:fillRect/>
          </a:stretch>
        </p:blipFill>
        <p:spPr>
          <a:xfrm>
            <a:off x="877824" y="3794760"/>
            <a:ext cx="219456" cy="219456"/>
          </a:xfrm>
          <a:prstGeom prst="rect">
            <a:avLst/>
          </a:prstGeom>
        </p:spPr>
      </p:pic>
      <p:sp>
        <p:nvSpPr>
          <p:cNvPr id="14" name="Shape 10"/>
          <p:cNvSpPr/>
          <p:nvPr/>
        </p:nvSpPr>
        <p:spPr>
          <a:xfrm>
            <a:off x="1170432" y="3950208"/>
            <a:ext cx="512064" cy="512064"/>
          </a:xfrm>
          <a:prstGeom prst="roundRect">
            <a:avLst>
              <a:gd name="adj" fmla="val 17857"/>
            </a:avLst>
          </a:prstGeom>
          <a:solidFill>
            <a:schemeClr val="bg2"/>
          </a:solidFill>
          <a:ln/>
        </p:spPr>
        <p:txBody>
          <a:bodyPr/>
          <a:lstStyle/>
          <a:p>
            <a:endParaRPr lang="LID4096"/>
          </a:p>
        </p:txBody>
      </p:sp>
      <p:pic>
        <p:nvPicPr>
          <p:cNvPr id="15" name="Image 2" descr="preencoded.png"/>
          <p:cNvPicPr>
            <a:picLocks noChangeAspect="1"/>
          </p:cNvPicPr>
          <p:nvPr/>
        </p:nvPicPr>
        <p:blipFill>
          <a:blip r:embed="rId3"/>
          <a:stretch>
            <a:fillRect/>
          </a:stretch>
        </p:blipFill>
        <p:spPr>
          <a:xfrm>
            <a:off x="1307592" y="4087368"/>
            <a:ext cx="237744" cy="237744"/>
          </a:xfrm>
          <a:prstGeom prst="rect">
            <a:avLst/>
          </a:prstGeom>
        </p:spPr>
      </p:pic>
      <p:pic>
        <p:nvPicPr>
          <p:cNvPr id="16" name="Image 3" descr="preencoded.png"/>
          <p:cNvPicPr>
            <a:picLocks noChangeAspect="1"/>
          </p:cNvPicPr>
          <p:nvPr/>
        </p:nvPicPr>
        <p:blipFill>
          <a:blip r:embed="rId4"/>
          <a:stretch>
            <a:fillRect/>
          </a:stretch>
        </p:blipFill>
        <p:spPr>
          <a:xfrm>
            <a:off x="1499616" y="3794760"/>
            <a:ext cx="219456" cy="219456"/>
          </a:xfrm>
          <a:prstGeom prst="rect">
            <a:avLst/>
          </a:prstGeom>
        </p:spPr>
      </p:pic>
      <p:sp>
        <p:nvSpPr>
          <p:cNvPr id="17" name="Shape 11"/>
          <p:cNvSpPr/>
          <p:nvPr/>
        </p:nvSpPr>
        <p:spPr>
          <a:xfrm>
            <a:off x="1792224" y="3950208"/>
            <a:ext cx="512064" cy="512064"/>
          </a:xfrm>
          <a:prstGeom prst="roundRect">
            <a:avLst>
              <a:gd name="adj" fmla="val 17857"/>
            </a:avLst>
          </a:prstGeom>
          <a:solidFill>
            <a:schemeClr val="bg2"/>
          </a:solidFill>
          <a:ln/>
        </p:spPr>
        <p:txBody>
          <a:bodyPr/>
          <a:lstStyle/>
          <a:p>
            <a:endParaRPr lang="LID4096"/>
          </a:p>
        </p:txBody>
      </p:sp>
      <p:pic>
        <p:nvPicPr>
          <p:cNvPr id="18" name="Image 4" descr="preencoded.png"/>
          <p:cNvPicPr>
            <a:picLocks noChangeAspect="1"/>
          </p:cNvPicPr>
          <p:nvPr/>
        </p:nvPicPr>
        <p:blipFill>
          <a:blip r:embed="rId3"/>
          <a:stretch>
            <a:fillRect/>
          </a:stretch>
        </p:blipFill>
        <p:spPr>
          <a:xfrm>
            <a:off x="1929384" y="4087368"/>
            <a:ext cx="237744" cy="237744"/>
          </a:xfrm>
          <a:prstGeom prst="rect">
            <a:avLst/>
          </a:prstGeom>
        </p:spPr>
      </p:pic>
      <p:pic>
        <p:nvPicPr>
          <p:cNvPr id="19" name="Image 5" descr="preencoded.png"/>
          <p:cNvPicPr>
            <a:picLocks noChangeAspect="1"/>
          </p:cNvPicPr>
          <p:nvPr/>
        </p:nvPicPr>
        <p:blipFill>
          <a:blip r:embed="rId4"/>
          <a:stretch>
            <a:fillRect/>
          </a:stretch>
        </p:blipFill>
        <p:spPr>
          <a:xfrm>
            <a:off x="2121408" y="3794760"/>
            <a:ext cx="219456" cy="219456"/>
          </a:xfrm>
          <a:prstGeom prst="rect">
            <a:avLst/>
          </a:prstGeom>
        </p:spPr>
      </p:pic>
      <p:sp>
        <p:nvSpPr>
          <p:cNvPr id="20" name="Shape 12"/>
          <p:cNvSpPr/>
          <p:nvPr/>
        </p:nvSpPr>
        <p:spPr>
          <a:xfrm>
            <a:off x="2414016" y="3950208"/>
            <a:ext cx="512064" cy="512064"/>
          </a:xfrm>
          <a:prstGeom prst="roundRect">
            <a:avLst>
              <a:gd name="adj" fmla="val 17857"/>
            </a:avLst>
          </a:prstGeom>
          <a:solidFill>
            <a:schemeClr val="bg2"/>
          </a:solidFill>
          <a:ln/>
        </p:spPr>
        <p:txBody>
          <a:bodyPr/>
          <a:lstStyle/>
          <a:p>
            <a:endParaRPr lang="LID4096"/>
          </a:p>
        </p:txBody>
      </p:sp>
      <p:pic>
        <p:nvPicPr>
          <p:cNvPr id="21" name="Image 6" descr="preencoded.png"/>
          <p:cNvPicPr>
            <a:picLocks noChangeAspect="1"/>
          </p:cNvPicPr>
          <p:nvPr/>
        </p:nvPicPr>
        <p:blipFill>
          <a:blip r:embed="rId3"/>
          <a:stretch>
            <a:fillRect/>
          </a:stretch>
        </p:blipFill>
        <p:spPr>
          <a:xfrm>
            <a:off x="2551176" y="4087368"/>
            <a:ext cx="237744" cy="237744"/>
          </a:xfrm>
          <a:prstGeom prst="rect">
            <a:avLst/>
          </a:prstGeom>
        </p:spPr>
      </p:pic>
      <p:pic>
        <p:nvPicPr>
          <p:cNvPr id="22" name="Image 7" descr="preencoded.png"/>
          <p:cNvPicPr>
            <a:picLocks noChangeAspect="1"/>
          </p:cNvPicPr>
          <p:nvPr/>
        </p:nvPicPr>
        <p:blipFill>
          <a:blip r:embed="rId4"/>
          <a:stretch>
            <a:fillRect/>
          </a:stretch>
        </p:blipFill>
        <p:spPr>
          <a:xfrm>
            <a:off x="2743200" y="3794760"/>
            <a:ext cx="219456" cy="219456"/>
          </a:xfrm>
          <a:prstGeom prst="rect">
            <a:avLst/>
          </a:prstGeom>
        </p:spPr>
      </p:pic>
      <p:sp>
        <p:nvSpPr>
          <p:cNvPr id="23" name="Shape 13"/>
          <p:cNvSpPr/>
          <p:nvPr/>
        </p:nvSpPr>
        <p:spPr>
          <a:xfrm>
            <a:off x="3035808" y="3950208"/>
            <a:ext cx="512064" cy="512064"/>
          </a:xfrm>
          <a:prstGeom prst="roundRect">
            <a:avLst>
              <a:gd name="adj" fmla="val 17857"/>
            </a:avLst>
          </a:prstGeom>
          <a:solidFill>
            <a:schemeClr val="bg2"/>
          </a:solidFill>
          <a:ln/>
        </p:spPr>
        <p:txBody>
          <a:bodyPr/>
          <a:lstStyle/>
          <a:p>
            <a:endParaRPr lang="LID4096"/>
          </a:p>
        </p:txBody>
      </p:sp>
      <p:pic>
        <p:nvPicPr>
          <p:cNvPr id="24" name="Image 8" descr="preencoded.png"/>
          <p:cNvPicPr>
            <a:picLocks noChangeAspect="1"/>
          </p:cNvPicPr>
          <p:nvPr/>
        </p:nvPicPr>
        <p:blipFill>
          <a:blip r:embed="rId3"/>
          <a:stretch>
            <a:fillRect/>
          </a:stretch>
        </p:blipFill>
        <p:spPr>
          <a:xfrm>
            <a:off x="3172968" y="4087368"/>
            <a:ext cx="237744" cy="237744"/>
          </a:xfrm>
          <a:prstGeom prst="rect">
            <a:avLst/>
          </a:prstGeom>
        </p:spPr>
      </p:pic>
      <p:pic>
        <p:nvPicPr>
          <p:cNvPr id="25" name="Image 9" descr="preencoded.png"/>
          <p:cNvPicPr>
            <a:picLocks noChangeAspect="1"/>
          </p:cNvPicPr>
          <p:nvPr/>
        </p:nvPicPr>
        <p:blipFill>
          <a:blip r:embed="rId4"/>
          <a:stretch>
            <a:fillRect/>
          </a:stretch>
        </p:blipFill>
        <p:spPr>
          <a:xfrm>
            <a:off x="3364992" y="3794760"/>
            <a:ext cx="219456" cy="219456"/>
          </a:xfrm>
          <a:prstGeom prst="rect">
            <a:avLst/>
          </a:prstGeom>
        </p:spPr>
      </p:pic>
      <p:sp>
        <p:nvSpPr>
          <p:cNvPr id="26" name="Shape 14"/>
          <p:cNvSpPr/>
          <p:nvPr/>
        </p:nvSpPr>
        <p:spPr>
          <a:xfrm>
            <a:off x="3657600" y="3950208"/>
            <a:ext cx="512064" cy="512064"/>
          </a:xfrm>
          <a:prstGeom prst="roundRect">
            <a:avLst>
              <a:gd name="adj" fmla="val 17857"/>
            </a:avLst>
          </a:prstGeom>
          <a:solidFill>
            <a:schemeClr val="bg2"/>
          </a:solidFill>
          <a:ln/>
        </p:spPr>
        <p:txBody>
          <a:bodyPr/>
          <a:lstStyle/>
          <a:p>
            <a:endParaRPr lang="LID4096"/>
          </a:p>
        </p:txBody>
      </p:sp>
      <p:pic>
        <p:nvPicPr>
          <p:cNvPr id="27" name="Image 10" descr="preencoded.png"/>
          <p:cNvPicPr>
            <a:picLocks noChangeAspect="1"/>
          </p:cNvPicPr>
          <p:nvPr/>
        </p:nvPicPr>
        <p:blipFill>
          <a:blip r:embed="rId3"/>
          <a:stretch>
            <a:fillRect/>
          </a:stretch>
        </p:blipFill>
        <p:spPr>
          <a:xfrm>
            <a:off x="3794760" y="4087368"/>
            <a:ext cx="237744" cy="237744"/>
          </a:xfrm>
          <a:prstGeom prst="rect">
            <a:avLst/>
          </a:prstGeom>
        </p:spPr>
      </p:pic>
      <p:pic>
        <p:nvPicPr>
          <p:cNvPr id="28" name="Image 11" descr="preencoded.png"/>
          <p:cNvPicPr>
            <a:picLocks noChangeAspect="1"/>
          </p:cNvPicPr>
          <p:nvPr/>
        </p:nvPicPr>
        <p:blipFill>
          <a:blip r:embed="rId4"/>
          <a:stretch>
            <a:fillRect/>
          </a:stretch>
        </p:blipFill>
        <p:spPr>
          <a:xfrm>
            <a:off x="3986784" y="3794760"/>
            <a:ext cx="219456" cy="219456"/>
          </a:xfrm>
          <a:prstGeom prst="rect">
            <a:avLst/>
          </a:prstGeom>
        </p:spPr>
      </p:pic>
      <p:sp>
        <p:nvSpPr>
          <p:cNvPr id="29" name="Shape 15"/>
          <p:cNvSpPr/>
          <p:nvPr/>
        </p:nvSpPr>
        <p:spPr>
          <a:xfrm>
            <a:off x="4279392" y="3950208"/>
            <a:ext cx="512064" cy="512064"/>
          </a:xfrm>
          <a:prstGeom prst="roundRect">
            <a:avLst>
              <a:gd name="adj" fmla="val 17857"/>
            </a:avLst>
          </a:prstGeom>
          <a:solidFill>
            <a:schemeClr val="bg2"/>
          </a:solidFill>
          <a:ln/>
        </p:spPr>
        <p:txBody>
          <a:bodyPr/>
          <a:lstStyle/>
          <a:p>
            <a:endParaRPr lang="LID4096"/>
          </a:p>
        </p:txBody>
      </p:sp>
      <p:pic>
        <p:nvPicPr>
          <p:cNvPr id="30" name="Image 12" descr="preencoded.png"/>
          <p:cNvPicPr>
            <a:picLocks noChangeAspect="1"/>
          </p:cNvPicPr>
          <p:nvPr/>
        </p:nvPicPr>
        <p:blipFill>
          <a:blip r:embed="rId3"/>
          <a:stretch>
            <a:fillRect/>
          </a:stretch>
        </p:blipFill>
        <p:spPr>
          <a:xfrm>
            <a:off x="4416552" y="4087368"/>
            <a:ext cx="237744" cy="237744"/>
          </a:xfrm>
          <a:prstGeom prst="rect">
            <a:avLst/>
          </a:prstGeom>
        </p:spPr>
      </p:pic>
      <p:pic>
        <p:nvPicPr>
          <p:cNvPr id="31" name="Image 13" descr="preencoded.png"/>
          <p:cNvPicPr>
            <a:picLocks noChangeAspect="1"/>
          </p:cNvPicPr>
          <p:nvPr/>
        </p:nvPicPr>
        <p:blipFill>
          <a:blip r:embed="rId4"/>
          <a:stretch>
            <a:fillRect/>
          </a:stretch>
        </p:blipFill>
        <p:spPr>
          <a:xfrm>
            <a:off x="4608576" y="3794760"/>
            <a:ext cx="219456" cy="219456"/>
          </a:xfrm>
          <a:prstGeom prst="rect">
            <a:avLst/>
          </a:prstGeom>
        </p:spPr>
      </p:pic>
      <p:sp>
        <p:nvSpPr>
          <p:cNvPr id="32" name="Shape 16"/>
          <p:cNvSpPr/>
          <p:nvPr/>
        </p:nvSpPr>
        <p:spPr>
          <a:xfrm>
            <a:off x="4901184" y="3950208"/>
            <a:ext cx="512064" cy="512064"/>
          </a:xfrm>
          <a:prstGeom prst="roundRect">
            <a:avLst>
              <a:gd name="adj" fmla="val 17857"/>
            </a:avLst>
          </a:prstGeom>
          <a:solidFill>
            <a:schemeClr val="bg2"/>
          </a:solidFill>
          <a:ln/>
        </p:spPr>
        <p:txBody>
          <a:bodyPr/>
          <a:lstStyle/>
          <a:p>
            <a:endParaRPr lang="LID4096"/>
          </a:p>
        </p:txBody>
      </p:sp>
      <p:pic>
        <p:nvPicPr>
          <p:cNvPr id="33" name="Image 14" descr="preencoded.png"/>
          <p:cNvPicPr>
            <a:picLocks noChangeAspect="1"/>
          </p:cNvPicPr>
          <p:nvPr/>
        </p:nvPicPr>
        <p:blipFill>
          <a:blip r:embed="rId3"/>
          <a:stretch>
            <a:fillRect/>
          </a:stretch>
        </p:blipFill>
        <p:spPr>
          <a:xfrm>
            <a:off x="5038344" y="4087368"/>
            <a:ext cx="237744" cy="237744"/>
          </a:xfrm>
          <a:prstGeom prst="rect">
            <a:avLst/>
          </a:prstGeom>
        </p:spPr>
      </p:pic>
      <p:pic>
        <p:nvPicPr>
          <p:cNvPr id="34" name="Image 15" descr="preencoded.png"/>
          <p:cNvPicPr>
            <a:picLocks noChangeAspect="1"/>
          </p:cNvPicPr>
          <p:nvPr/>
        </p:nvPicPr>
        <p:blipFill>
          <a:blip r:embed="rId4"/>
          <a:stretch>
            <a:fillRect/>
          </a:stretch>
        </p:blipFill>
        <p:spPr>
          <a:xfrm>
            <a:off x="5230368" y="3794760"/>
            <a:ext cx="219456" cy="219456"/>
          </a:xfrm>
          <a:prstGeom prst="rect">
            <a:avLst/>
          </a:prstGeom>
        </p:spPr>
      </p:pic>
      <p:sp>
        <p:nvSpPr>
          <p:cNvPr id="35" name="Text 17"/>
          <p:cNvSpPr txBox="1"/>
          <p:nvPr/>
        </p:nvSpPr>
        <p:spPr>
          <a:xfrm>
            <a:off x="548640" y="4663440"/>
            <a:ext cx="4937760" cy="640080"/>
          </a:xfrm>
          <a:prstGeom prst="rect">
            <a:avLst/>
          </a:prstGeom>
          <a:noFill/>
          <a:ln/>
        </p:spPr>
        <p:txBody>
          <a:bodyPr wrap="square" lIns="0" tIns="0" rIns="0" bIns="0" rtlCol="0" anchor="t"/>
          <a:lstStyle/>
          <a:p>
            <a:pPr marL="0" indent="0">
              <a:buNone/>
            </a:pPr>
            <a:r>
              <a:rPr lang="en-US" sz="1200" dirty="0">
                <a:solidFill>
                  <a:schemeClr val="accent3"/>
                </a:solidFill>
              </a:rPr>
              <a:t>Brave Search Australia snapshot, Aug 2026: 8 questions (Q23–Q30), best result across three wordings of each.</a:t>
            </a:r>
            <a:endParaRPr lang="en-US" sz="1200" dirty="0"/>
          </a:p>
        </p:txBody>
      </p:sp>
      <p:sp>
        <p:nvSpPr>
          <p:cNvPr id="36" name="Shape 18"/>
          <p:cNvSpPr/>
          <p:nvPr/>
        </p:nvSpPr>
        <p:spPr>
          <a:xfrm>
            <a:off x="5989320" y="1536192"/>
            <a:ext cx="5653735" cy="3813048"/>
          </a:xfrm>
          <a:prstGeom prst="roundRect">
            <a:avLst>
              <a:gd name="adj" fmla="val 2398"/>
            </a:avLst>
          </a:prstGeom>
          <a:solidFill>
            <a:schemeClr val="bg1"/>
          </a:solidFill>
          <a:ln w="12700">
            <a:solidFill>
              <a:srgbClr val="D5DEEA"/>
            </a:solidFill>
            <a:prstDash val="solid"/>
          </a:ln>
          <a:effectLst>
            <a:outerShdw blurRad="127000" dist="25400" dir="5400000" algn="bl" rotWithShape="0">
              <a:srgbClr val="0B2A5B">
                <a:alpha val="14000"/>
              </a:srgbClr>
            </a:outerShdw>
          </a:effectLst>
        </p:spPr>
        <p:txBody>
          <a:bodyPr/>
          <a:lstStyle/>
          <a:p>
            <a:endParaRPr lang="LID4096"/>
          </a:p>
        </p:txBody>
      </p:sp>
      <p:sp>
        <p:nvSpPr>
          <p:cNvPr id="37" name="Shape 19"/>
          <p:cNvSpPr/>
          <p:nvPr/>
        </p:nvSpPr>
        <p:spPr>
          <a:xfrm>
            <a:off x="6217920" y="1719072"/>
            <a:ext cx="5196535" cy="475488"/>
          </a:xfrm>
          <a:prstGeom prst="roundRect">
            <a:avLst>
              <a:gd name="adj" fmla="val 50000"/>
            </a:avLst>
          </a:prstGeom>
          <a:solidFill>
            <a:schemeClr val="bg2"/>
          </a:solidFill>
          <a:ln/>
        </p:spPr>
        <p:txBody>
          <a:bodyPr/>
          <a:lstStyle/>
          <a:p>
            <a:endParaRPr lang="LID4096"/>
          </a:p>
        </p:txBody>
      </p:sp>
      <p:pic>
        <p:nvPicPr>
          <p:cNvPr id="38" name="Image 16" descr="preencoded.png"/>
          <p:cNvPicPr>
            <a:picLocks noChangeAspect="1"/>
          </p:cNvPicPr>
          <p:nvPr/>
        </p:nvPicPr>
        <p:blipFill>
          <a:blip r:embed="rId5"/>
          <a:stretch>
            <a:fillRect/>
          </a:stretch>
        </p:blipFill>
        <p:spPr>
          <a:xfrm>
            <a:off x="6400800" y="1837944"/>
            <a:ext cx="237744" cy="237744"/>
          </a:xfrm>
          <a:prstGeom prst="rect">
            <a:avLst/>
          </a:prstGeom>
        </p:spPr>
      </p:pic>
      <p:sp>
        <p:nvSpPr>
          <p:cNvPr id="39" name="Text 20"/>
          <p:cNvSpPr txBox="1"/>
          <p:nvPr/>
        </p:nvSpPr>
        <p:spPr>
          <a:xfrm>
            <a:off x="6766560" y="1719072"/>
            <a:ext cx="4556455" cy="475488"/>
          </a:xfrm>
          <a:prstGeom prst="rect">
            <a:avLst/>
          </a:prstGeom>
          <a:noFill/>
          <a:ln/>
        </p:spPr>
        <p:txBody>
          <a:bodyPr wrap="square" lIns="0" tIns="0" rIns="0" bIns="0" rtlCol="0" anchor="ctr"/>
          <a:lstStyle/>
          <a:p>
            <a:pPr marL="0" indent="0">
              <a:buNone/>
            </a:pPr>
            <a:r>
              <a:rPr lang="en-US" sz="1400" i="1" dirty="0">
                <a:solidFill>
                  <a:schemeClr val="tx2"/>
                </a:solidFill>
              </a:rPr>
              <a:t>How can a travel agent save me money on my trip?</a:t>
            </a:r>
            <a:endParaRPr lang="en-US" sz="1400" dirty="0"/>
          </a:p>
        </p:txBody>
      </p:sp>
      <p:sp>
        <p:nvSpPr>
          <p:cNvPr id="40" name="Text 21"/>
          <p:cNvSpPr txBox="1"/>
          <p:nvPr/>
        </p:nvSpPr>
        <p:spPr>
          <a:xfrm>
            <a:off x="6217920" y="2377440"/>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1</a:t>
            </a:r>
            <a:endParaRPr lang="en-US" sz="1000" dirty="0"/>
          </a:p>
        </p:txBody>
      </p:sp>
      <p:sp>
        <p:nvSpPr>
          <p:cNvPr id="41" name="Shape 22"/>
          <p:cNvSpPr/>
          <p:nvPr/>
        </p:nvSpPr>
        <p:spPr>
          <a:xfrm>
            <a:off x="6647688" y="2423160"/>
            <a:ext cx="3931920" cy="73152"/>
          </a:xfrm>
          <a:prstGeom prst="roundRect">
            <a:avLst>
              <a:gd name="adj" fmla="val 50000"/>
            </a:avLst>
          </a:prstGeom>
          <a:solidFill>
            <a:srgbClr val="C9D4E3"/>
          </a:solidFill>
          <a:ln/>
        </p:spPr>
        <p:txBody>
          <a:bodyPr/>
          <a:lstStyle/>
          <a:p>
            <a:endParaRPr lang="LID4096"/>
          </a:p>
        </p:txBody>
      </p:sp>
      <p:sp>
        <p:nvSpPr>
          <p:cNvPr id="42" name="Shape 23"/>
          <p:cNvSpPr/>
          <p:nvPr/>
        </p:nvSpPr>
        <p:spPr>
          <a:xfrm>
            <a:off x="6647688" y="2523744"/>
            <a:ext cx="1920240" cy="45720"/>
          </a:xfrm>
          <a:prstGeom prst="roundRect">
            <a:avLst>
              <a:gd name="adj" fmla="val 50000"/>
            </a:avLst>
          </a:prstGeom>
          <a:solidFill>
            <a:srgbClr val="E1E8F2"/>
          </a:solidFill>
          <a:ln/>
        </p:spPr>
        <p:txBody>
          <a:bodyPr/>
          <a:lstStyle/>
          <a:p>
            <a:endParaRPr lang="LID4096"/>
          </a:p>
        </p:txBody>
      </p:sp>
      <p:sp>
        <p:nvSpPr>
          <p:cNvPr id="43" name="Text 24"/>
          <p:cNvSpPr txBox="1"/>
          <p:nvPr/>
        </p:nvSpPr>
        <p:spPr>
          <a:xfrm>
            <a:off x="6217920" y="2624328"/>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2</a:t>
            </a:r>
            <a:endParaRPr lang="en-US" sz="1000" dirty="0"/>
          </a:p>
        </p:txBody>
      </p:sp>
      <p:sp>
        <p:nvSpPr>
          <p:cNvPr id="44" name="Shape 25"/>
          <p:cNvSpPr/>
          <p:nvPr/>
        </p:nvSpPr>
        <p:spPr>
          <a:xfrm>
            <a:off x="6647688" y="2670048"/>
            <a:ext cx="3291840" cy="73152"/>
          </a:xfrm>
          <a:prstGeom prst="roundRect">
            <a:avLst>
              <a:gd name="adj" fmla="val 50000"/>
            </a:avLst>
          </a:prstGeom>
          <a:solidFill>
            <a:srgbClr val="C9D4E3"/>
          </a:solidFill>
          <a:ln/>
        </p:spPr>
        <p:txBody>
          <a:bodyPr/>
          <a:lstStyle/>
          <a:p>
            <a:endParaRPr lang="LID4096"/>
          </a:p>
        </p:txBody>
      </p:sp>
      <p:sp>
        <p:nvSpPr>
          <p:cNvPr id="45" name="Shape 26"/>
          <p:cNvSpPr/>
          <p:nvPr/>
        </p:nvSpPr>
        <p:spPr>
          <a:xfrm>
            <a:off x="6647688" y="2770632"/>
            <a:ext cx="1554480" cy="45720"/>
          </a:xfrm>
          <a:prstGeom prst="roundRect">
            <a:avLst>
              <a:gd name="adj" fmla="val 50000"/>
            </a:avLst>
          </a:prstGeom>
          <a:solidFill>
            <a:srgbClr val="E1E8F2"/>
          </a:solidFill>
          <a:ln/>
        </p:spPr>
        <p:txBody>
          <a:bodyPr/>
          <a:lstStyle/>
          <a:p>
            <a:endParaRPr lang="LID4096"/>
          </a:p>
        </p:txBody>
      </p:sp>
      <p:sp>
        <p:nvSpPr>
          <p:cNvPr id="46" name="Text 27"/>
          <p:cNvSpPr txBox="1"/>
          <p:nvPr/>
        </p:nvSpPr>
        <p:spPr>
          <a:xfrm>
            <a:off x="6217920" y="2871216"/>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3</a:t>
            </a:r>
            <a:endParaRPr lang="en-US" sz="1000" dirty="0"/>
          </a:p>
        </p:txBody>
      </p:sp>
      <p:sp>
        <p:nvSpPr>
          <p:cNvPr id="47" name="Shape 28"/>
          <p:cNvSpPr/>
          <p:nvPr/>
        </p:nvSpPr>
        <p:spPr>
          <a:xfrm>
            <a:off x="6647688" y="2916936"/>
            <a:ext cx="4206240" cy="73152"/>
          </a:xfrm>
          <a:prstGeom prst="roundRect">
            <a:avLst>
              <a:gd name="adj" fmla="val 50000"/>
            </a:avLst>
          </a:prstGeom>
          <a:solidFill>
            <a:srgbClr val="C9D4E3"/>
          </a:solidFill>
          <a:ln/>
        </p:spPr>
        <p:txBody>
          <a:bodyPr/>
          <a:lstStyle/>
          <a:p>
            <a:endParaRPr lang="LID4096"/>
          </a:p>
        </p:txBody>
      </p:sp>
      <p:sp>
        <p:nvSpPr>
          <p:cNvPr id="48" name="Shape 29"/>
          <p:cNvSpPr/>
          <p:nvPr/>
        </p:nvSpPr>
        <p:spPr>
          <a:xfrm>
            <a:off x="6647688" y="3017520"/>
            <a:ext cx="2194560" cy="45720"/>
          </a:xfrm>
          <a:prstGeom prst="roundRect">
            <a:avLst>
              <a:gd name="adj" fmla="val 50000"/>
            </a:avLst>
          </a:prstGeom>
          <a:solidFill>
            <a:srgbClr val="E1E8F2"/>
          </a:solidFill>
          <a:ln/>
        </p:spPr>
        <p:txBody>
          <a:bodyPr/>
          <a:lstStyle/>
          <a:p>
            <a:endParaRPr lang="LID4096"/>
          </a:p>
        </p:txBody>
      </p:sp>
      <p:sp>
        <p:nvSpPr>
          <p:cNvPr id="49" name="Text 30"/>
          <p:cNvSpPr txBox="1"/>
          <p:nvPr/>
        </p:nvSpPr>
        <p:spPr>
          <a:xfrm>
            <a:off x="6217920" y="3118104"/>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4</a:t>
            </a:r>
            <a:endParaRPr lang="en-US" sz="1000" dirty="0"/>
          </a:p>
        </p:txBody>
      </p:sp>
      <p:sp>
        <p:nvSpPr>
          <p:cNvPr id="50" name="Shape 31"/>
          <p:cNvSpPr/>
          <p:nvPr/>
        </p:nvSpPr>
        <p:spPr>
          <a:xfrm>
            <a:off x="6647688" y="3163824"/>
            <a:ext cx="2926080" cy="73152"/>
          </a:xfrm>
          <a:prstGeom prst="roundRect">
            <a:avLst>
              <a:gd name="adj" fmla="val 50000"/>
            </a:avLst>
          </a:prstGeom>
          <a:solidFill>
            <a:srgbClr val="C9D4E3"/>
          </a:solidFill>
          <a:ln/>
        </p:spPr>
        <p:txBody>
          <a:bodyPr/>
          <a:lstStyle/>
          <a:p>
            <a:endParaRPr lang="LID4096"/>
          </a:p>
        </p:txBody>
      </p:sp>
      <p:sp>
        <p:nvSpPr>
          <p:cNvPr id="51" name="Shape 32"/>
          <p:cNvSpPr/>
          <p:nvPr/>
        </p:nvSpPr>
        <p:spPr>
          <a:xfrm>
            <a:off x="6647688" y="3264408"/>
            <a:ext cx="1463040" cy="45720"/>
          </a:xfrm>
          <a:prstGeom prst="roundRect">
            <a:avLst>
              <a:gd name="adj" fmla="val 50000"/>
            </a:avLst>
          </a:prstGeom>
          <a:solidFill>
            <a:srgbClr val="E1E8F2"/>
          </a:solidFill>
          <a:ln/>
        </p:spPr>
        <p:txBody>
          <a:bodyPr/>
          <a:lstStyle/>
          <a:p>
            <a:endParaRPr lang="LID4096"/>
          </a:p>
        </p:txBody>
      </p:sp>
      <p:sp>
        <p:nvSpPr>
          <p:cNvPr id="52" name="Text 33"/>
          <p:cNvSpPr txBox="1"/>
          <p:nvPr/>
        </p:nvSpPr>
        <p:spPr>
          <a:xfrm>
            <a:off x="6217920" y="3364992"/>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5</a:t>
            </a:r>
            <a:endParaRPr lang="en-US" sz="1000" dirty="0"/>
          </a:p>
        </p:txBody>
      </p:sp>
      <p:sp>
        <p:nvSpPr>
          <p:cNvPr id="53" name="Shape 34"/>
          <p:cNvSpPr/>
          <p:nvPr/>
        </p:nvSpPr>
        <p:spPr>
          <a:xfrm>
            <a:off x="6647688" y="3410712"/>
            <a:ext cx="3657600" cy="73152"/>
          </a:xfrm>
          <a:prstGeom prst="roundRect">
            <a:avLst>
              <a:gd name="adj" fmla="val 50000"/>
            </a:avLst>
          </a:prstGeom>
          <a:solidFill>
            <a:srgbClr val="C9D4E3"/>
          </a:solidFill>
          <a:ln/>
        </p:spPr>
        <p:txBody>
          <a:bodyPr/>
          <a:lstStyle/>
          <a:p>
            <a:endParaRPr lang="LID4096"/>
          </a:p>
        </p:txBody>
      </p:sp>
      <p:sp>
        <p:nvSpPr>
          <p:cNvPr id="54" name="Shape 35"/>
          <p:cNvSpPr/>
          <p:nvPr/>
        </p:nvSpPr>
        <p:spPr>
          <a:xfrm>
            <a:off x="6647688" y="3511296"/>
            <a:ext cx="1828800" cy="45720"/>
          </a:xfrm>
          <a:prstGeom prst="roundRect">
            <a:avLst>
              <a:gd name="adj" fmla="val 50000"/>
            </a:avLst>
          </a:prstGeom>
          <a:solidFill>
            <a:srgbClr val="E1E8F2"/>
          </a:solidFill>
          <a:ln/>
        </p:spPr>
        <p:txBody>
          <a:bodyPr/>
          <a:lstStyle/>
          <a:p>
            <a:endParaRPr lang="LID4096"/>
          </a:p>
        </p:txBody>
      </p:sp>
      <p:sp>
        <p:nvSpPr>
          <p:cNvPr id="55" name="Text 36"/>
          <p:cNvSpPr txBox="1"/>
          <p:nvPr/>
        </p:nvSpPr>
        <p:spPr>
          <a:xfrm>
            <a:off x="6217920" y="3611880"/>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6</a:t>
            </a:r>
            <a:endParaRPr lang="en-US" sz="1000" dirty="0"/>
          </a:p>
        </p:txBody>
      </p:sp>
      <p:sp>
        <p:nvSpPr>
          <p:cNvPr id="56" name="Shape 37"/>
          <p:cNvSpPr/>
          <p:nvPr/>
        </p:nvSpPr>
        <p:spPr>
          <a:xfrm>
            <a:off x="6647688" y="3657600"/>
            <a:ext cx="3474720" cy="73152"/>
          </a:xfrm>
          <a:prstGeom prst="roundRect">
            <a:avLst>
              <a:gd name="adj" fmla="val 50000"/>
            </a:avLst>
          </a:prstGeom>
          <a:solidFill>
            <a:srgbClr val="C9D4E3"/>
          </a:solidFill>
          <a:ln/>
        </p:spPr>
        <p:txBody>
          <a:bodyPr/>
          <a:lstStyle/>
          <a:p>
            <a:endParaRPr lang="LID4096"/>
          </a:p>
        </p:txBody>
      </p:sp>
      <p:sp>
        <p:nvSpPr>
          <p:cNvPr id="57" name="Shape 38"/>
          <p:cNvSpPr/>
          <p:nvPr/>
        </p:nvSpPr>
        <p:spPr>
          <a:xfrm>
            <a:off x="6647688" y="3758184"/>
            <a:ext cx="1737360" cy="45720"/>
          </a:xfrm>
          <a:prstGeom prst="roundRect">
            <a:avLst>
              <a:gd name="adj" fmla="val 50000"/>
            </a:avLst>
          </a:prstGeom>
          <a:solidFill>
            <a:srgbClr val="E1E8F2"/>
          </a:solidFill>
          <a:ln/>
        </p:spPr>
        <p:txBody>
          <a:bodyPr/>
          <a:lstStyle/>
          <a:p>
            <a:endParaRPr lang="LID4096"/>
          </a:p>
        </p:txBody>
      </p:sp>
      <p:sp>
        <p:nvSpPr>
          <p:cNvPr id="58" name="Text 39"/>
          <p:cNvSpPr txBox="1"/>
          <p:nvPr/>
        </p:nvSpPr>
        <p:spPr>
          <a:xfrm>
            <a:off x="6217920" y="3858768"/>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7</a:t>
            </a:r>
            <a:endParaRPr lang="en-US" sz="1000" dirty="0"/>
          </a:p>
        </p:txBody>
      </p:sp>
      <p:sp>
        <p:nvSpPr>
          <p:cNvPr id="59" name="Shape 40"/>
          <p:cNvSpPr/>
          <p:nvPr/>
        </p:nvSpPr>
        <p:spPr>
          <a:xfrm>
            <a:off x="6647688" y="3904488"/>
            <a:ext cx="4023360" cy="73152"/>
          </a:xfrm>
          <a:prstGeom prst="roundRect">
            <a:avLst>
              <a:gd name="adj" fmla="val 50000"/>
            </a:avLst>
          </a:prstGeom>
          <a:solidFill>
            <a:srgbClr val="C9D4E3"/>
          </a:solidFill>
          <a:ln/>
        </p:spPr>
        <p:txBody>
          <a:bodyPr/>
          <a:lstStyle/>
          <a:p>
            <a:endParaRPr lang="LID4096"/>
          </a:p>
        </p:txBody>
      </p:sp>
      <p:sp>
        <p:nvSpPr>
          <p:cNvPr id="60" name="Shape 41"/>
          <p:cNvSpPr/>
          <p:nvPr/>
        </p:nvSpPr>
        <p:spPr>
          <a:xfrm>
            <a:off x="6647688" y="4005072"/>
            <a:ext cx="2011680" cy="45720"/>
          </a:xfrm>
          <a:prstGeom prst="roundRect">
            <a:avLst>
              <a:gd name="adj" fmla="val 50000"/>
            </a:avLst>
          </a:prstGeom>
          <a:solidFill>
            <a:srgbClr val="E1E8F2"/>
          </a:solidFill>
          <a:ln/>
        </p:spPr>
        <p:txBody>
          <a:bodyPr/>
          <a:lstStyle/>
          <a:p>
            <a:endParaRPr lang="LID4096"/>
          </a:p>
        </p:txBody>
      </p:sp>
      <p:sp>
        <p:nvSpPr>
          <p:cNvPr id="61" name="Text 42"/>
          <p:cNvSpPr txBox="1"/>
          <p:nvPr/>
        </p:nvSpPr>
        <p:spPr>
          <a:xfrm>
            <a:off x="6217920" y="4105656"/>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8</a:t>
            </a:r>
            <a:endParaRPr lang="en-US" sz="1000" dirty="0"/>
          </a:p>
        </p:txBody>
      </p:sp>
      <p:sp>
        <p:nvSpPr>
          <p:cNvPr id="62" name="Shape 43"/>
          <p:cNvSpPr/>
          <p:nvPr/>
        </p:nvSpPr>
        <p:spPr>
          <a:xfrm>
            <a:off x="6647688" y="4151376"/>
            <a:ext cx="3108960" cy="73152"/>
          </a:xfrm>
          <a:prstGeom prst="roundRect">
            <a:avLst>
              <a:gd name="adj" fmla="val 50000"/>
            </a:avLst>
          </a:prstGeom>
          <a:solidFill>
            <a:srgbClr val="C9D4E3"/>
          </a:solidFill>
          <a:ln/>
        </p:spPr>
        <p:txBody>
          <a:bodyPr/>
          <a:lstStyle/>
          <a:p>
            <a:endParaRPr lang="LID4096"/>
          </a:p>
        </p:txBody>
      </p:sp>
      <p:sp>
        <p:nvSpPr>
          <p:cNvPr id="63" name="Shape 44"/>
          <p:cNvSpPr/>
          <p:nvPr/>
        </p:nvSpPr>
        <p:spPr>
          <a:xfrm>
            <a:off x="6647688" y="4251960"/>
            <a:ext cx="1463040" cy="45720"/>
          </a:xfrm>
          <a:prstGeom prst="roundRect">
            <a:avLst>
              <a:gd name="adj" fmla="val 50000"/>
            </a:avLst>
          </a:prstGeom>
          <a:solidFill>
            <a:srgbClr val="E1E8F2"/>
          </a:solidFill>
          <a:ln/>
        </p:spPr>
        <p:txBody>
          <a:bodyPr/>
          <a:lstStyle/>
          <a:p>
            <a:endParaRPr lang="LID4096"/>
          </a:p>
        </p:txBody>
      </p:sp>
      <p:sp>
        <p:nvSpPr>
          <p:cNvPr id="64" name="Text 45"/>
          <p:cNvSpPr txBox="1"/>
          <p:nvPr/>
        </p:nvSpPr>
        <p:spPr>
          <a:xfrm>
            <a:off x="6217920" y="4352544"/>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9</a:t>
            </a:r>
            <a:endParaRPr lang="en-US" sz="1000" dirty="0"/>
          </a:p>
        </p:txBody>
      </p:sp>
      <p:sp>
        <p:nvSpPr>
          <p:cNvPr id="65" name="Shape 46"/>
          <p:cNvSpPr/>
          <p:nvPr/>
        </p:nvSpPr>
        <p:spPr>
          <a:xfrm>
            <a:off x="6647688" y="4398264"/>
            <a:ext cx="3749040" cy="73152"/>
          </a:xfrm>
          <a:prstGeom prst="roundRect">
            <a:avLst>
              <a:gd name="adj" fmla="val 50000"/>
            </a:avLst>
          </a:prstGeom>
          <a:solidFill>
            <a:srgbClr val="C9D4E3"/>
          </a:solidFill>
          <a:ln/>
        </p:spPr>
        <p:txBody>
          <a:bodyPr/>
          <a:lstStyle/>
          <a:p>
            <a:endParaRPr lang="LID4096"/>
          </a:p>
        </p:txBody>
      </p:sp>
      <p:sp>
        <p:nvSpPr>
          <p:cNvPr id="66" name="Shape 47"/>
          <p:cNvSpPr/>
          <p:nvPr/>
        </p:nvSpPr>
        <p:spPr>
          <a:xfrm>
            <a:off x="6647688" y="4498848"/>
            <a:ext cx="2103120" cy="45720"/>
          </a:xfrm>
          <a:prstGeom prst="roundRect">
            <a:avLst>
              <a:gd name="adj" fmla="val 50000"/>
            </a:avLst>
          </a:prstGeom>
          <a:solidFill>
            <a:srgbClr val="E1E8F2"/>
          </a:solidFill>
          <a:ln/>
        </p:spPr>
        <p:txBody>
          <a:bodyPr/>
          <a:lstStyle/>
          <a:p>
            <a:endParaRPr lang="LID4096"/>
          </a:p>
        </p:txBody>
      </p:sp>
      <p:sp>
        <p:nvSpPr>
          <p:cNvPr id="67" name="Text 48"/>
          <p:cNvSpPr txBox="1"/>
          <p:nvPr/>
        </p:nvSpPr>
        <p:spPr>
          <a:xfrm>
            <a:off x="6217920" y="4599432"/>
            <a:ext cx="292608" cy="228600"/>
          </a:xfrm>
          <a:prstGeom prst="rect">
            <a:avLst/>
          </a:prstGeom>
          <a:noFill/>
          <a:ln/>
        </p:spPr>
        <p:txBody>
          <a:bodyPr wrap="square" lIns="0" tIns="0" rIns="0" bIns="0" rtlCol="0" anchor="ctr"/>
          <a:lstStyle/>
          <a:p>
            <a:pPr marL="0" indent="0" algn="r">
              <a:buNone/>
            </a:pPr>
            <a:r>
              <a:rPr lang="en-US" sz="1000" b="1" dirty="0">
                <a:solidFill>
                  <a:schemeClr val="accent4"/>
                </a:solidFill>
              </a:rPr>
              <a:t>10</a:t>
            </a:r>
            <a:endParaRPr lang="en-US" sz="1000" dirty="0"/>
          </a:p>
        </p:txBody>
      </p:sp>
      <p:sp>
        <p:nvSpPr>
          <p:cNvPr id="68" name="Shape 49"/>
          <p:cNvSpPr/>
          <p:nvPr/>
        </p:nvSpPr>
        <p:spPr>
          <a:xfrm>
            <a:off x="6647688" y="4645152"/>
            <a:ext cx="3383280" cy="73152"/>
          </a:xfrm>
          <a:prstGeom prst="roundRect">
            <a:avLst>
              <a:gd name="adj" fmla="val 50000"/>
            </a:avLst>
          </a:prstGeom>
          <a:solidFill>
            <a:srgbClr val="C9D4E3"/>
          </a:solidFill>
          <a:ln/>
        </p:spPr>
        <p:txBody>
          <a:bodyPr/>
          <a:lstStyle/>
          <a:p>
            <a:endParaRPr lang="LID4096"/>
          </a:p>
        </p:txBody>
      </p:sp>
      <p:sp>
        <p:nvSpPr>
          <p:cNvPr id="69" name="Shape 50"/>
          <p:cNvSpPr/>
          <p:nvPr/>
        </p:nvSpPr>
        <p:spPr>
          <a:xfrm>
            <a:off x="6647688" y="4745736"/>
            <a:ext cx="1645920" cy="45720"/>
          </a:xfrm>
          <a:prstGeom prst="roundRect">
            <a:avLst>
              <a:gd name="adj" fmla="val 50000"/>
            </a:avLst>
          </a:prstGeom>
          <a:solidFill>
            <a:srgbClr val="E1E8F2"/>
          </a:solidFill>
          <a:ln/>
        </p:spPr>
        <p:txBody>
          <a:bodyPr/>
          <a:lstStyle/>
          <a:p>
            <a:endParaRPr lang="LID4096"/>
          </a:p>
        </p:txBody>
      </p:sp>
      <p:sp>
        <p:nvSpPr>
          <p:cNvPr id="70" name="Shape 51"/>
          <p:cNvSpPr/>
          <p:nvPr/>
        </p:nvSpPr>
        <p:spPr>
          <a:xfrm>
            <a:off x="6217920" y="4873752"/>
            <a:ext cx="5196535" cy="384048"/>
          </a:xfrm>
          <a:prstGeom prst="roundRect">
            <a:avLst>
              <a:gd name="adj" fmla="val 19048"/>
            </a:avLst>
          </a:prstGeom>
          <a:solidFill>
            <a:srgbClr val="FDECEC"/>
          </a:solidFill>
          <a:ln w="15875">
            <a:solidFill>
              <a:srgbClr val="E31B23"/>
            </a:solidFill>
            <a:prstDash val="dash"/>
          </a:ln>
        </p:spPr>
        <p:txBody>
          <a:bodyPr/>
          <a:lstStyle/>
          <a:p>
            <a:endParaRPr lang="LID4096"/>
          </a:p>
        </p:txBody>
      </p:sp>
      <p:pic>
        <p:nvPicPr>
          <p:cNvPr id="71" name="Image 17" descr="preencoded.png"/>
          <p:cNvPicPr>
            <a:picLocks noChangeAspect="1"/>
          </p:cNvPicPr>
          <p:nvPr/>
        </p:nvPicPr>
        <p:blipFill>
          <a:blip r:embed="rId4"/>
          <a:stretch>
            <a:fillRect/>
          </a:stretch>
        </p:blipFill>
        <p:spPr>
          <a:xfrm>
            <a:off x="6400800" y="4956048"/>
            <a:ext cx="219456" cy="219456"/>
          </a:xfrm>
          <a:prstGeom prst="rect">
            <a:avLst/>
          </a:prstGeom>
        </p:spPr>
      </p:pic>
      <p:sp>
        <p:nvSpPr>
          <p:cNvPr id="72" name="Text 52"/>
          <p:cNvSpPr txBox="1"/>
          <p:nvPr/>
        </p:nvSpPr>
        <p:spPr>
          <a:xfrm>
            <a:off x="6720840" y="4873752"/>
            <a:ext cx="4556455" cy="384048"/>
          </a:xfrm>
          <a:prstGeom prst="rect">
            <a:avLst/>
          </a:prstGeom>
          <a:noFill/>
          <a:ln/>
        </p:spPr>
        <p:txBody>
          <a:bodyPr wrap="square" lIns="0" tIns="0" rIns="0" bIns="0" rtlCol="0" anchor="ctr"/>
          <a:lstStyle/>
          <a:p>
            <a:pPr marL="0" indent="0">
              <a:buNone/>
            </a:pPr>
            <a:r>
              <a:rPr lang="en-US" sz="1400" b="1" dirty="0">
                <a:solidFill>
                  <a:schemeClr val="accent1"/>
                </a:solidFill>
              </a:rPr>
              <a:t>Flight Centre: not in the top 10</a:t>
            </a:r>
            <a:endParaRPr lang="en-US" sz="1400" dirty="0"/>
          </a:p>
        </p:txBody>
      </p:sp>
      <p:sp>
        <p:nvSpPr>
          <p:cNvPr id="73" name="Shape 53"/>
          <p:cNvSpPr/>
          <p:nvPr/>
        </p:nvSpPr>
        <p:spPr>
          <a:xfrm>
            <a:off x="548640" y="5532120"/>
            <a:ext cx="11094415" cy="658368"/>
          </a:xfrm>
          <a:prstGeom prst="roundRect">
            <a:avLst>
              <a:gd name="adj" fmla="val 13889"/>
            </a:avLst>
          </a:prstGeom>
          <a:solidFill>
            <a:schemeClr val="tx2"/>
          </a:solidFill>
          <a:ln/>
        </p:spPr>
        <p:txBody>
          <a:bodyPr/>
          <a:lstStyle/>
          <a:p>
            <a:endParaRPr lang="LID4096"/>
          </a:p>
        </p:txBody>
      </p:sp>
      <p:sp>
        <p:nvSpPr>
          <p:cNvPr id="74" name="Shape 54"/>
          <p:cNvSpPr/>
          <p:nvPr/>
        </p:nvSpPr>
        <p:spPr>
          <a:xfrm>
            <a:off x="713232" y="5605272"/>
            <a:ext cx="512064" cy="512064"/>
          </a:xfrm>
          <a:prstGeom prst="ellipse">
            <a:avLst/>
          </a:prstGeom>
          <a:solidFill>
            <a:schemeClr val="accent1"/>
          </a:solidFill>
          <a:ln/>
        </p:spPr>
        <p:txBody>
          <a:bodyPr/>
          <a:lstStyle/>
          <a:p>
            <a:endParaRPr lang="LID4096"/>
          </a:p>
        </p:txBody>
      </p:sp>
      <p:pic>
        <p:nvPicPr>
          <p:cNvPr id="75" name="Image 18" descr="preencoded.png"/>
          <p:cNvPicPr>
            <a:picLocks noChangeAspect="1"/>
          </p:cNvPicPr>
          <p:nvPr/>
        </p:nvPicPr>
        <p:blipFill>
          <a:blip r:embed="rId6"/>
          <a:stretch>
            <a:fillRect/>
          </a:stretch>
        </p:blipFill>
        <p:spPr>
          <a:xfrm>
            <a:off x="841248" y="5733288"/>
            <a:ext cx="256032" cy="256032"/>
          </a:xfrm>
          <a:prstGeom prst="rect">
            <a:avLst/>
          </a:prstGeom>
        </p:spPr>
      </p:pic>
      <p:sp>
        <p:nvSpPr>
          <p:cNvPr id="76" name="Text 55"/>
          <p:cNvSpPr txBox="1"/>
          <p:nvPr/>
        </p:nvSpPr>
        <p:spPr>
          <a:xfrm>
            <a:off x="1417320" y="5532120"/>
            <a:ext cx="10058400" cy="658368"/>
          </a:xfrm>
          <a:prstGeom prst="rect">
            <a:avLst/>
          </a:prstGeom>
          <a:noFill/>
          <a:ln/>
        </p:spPr>
        <p:txBody>
          <a:bodyPr wrap="square" lIns="0" tIns="0" rIns="0" bIns="0" rtlCol="0" anchor="ctr"/>
          <a:lstStyle/>
          <a:p>
            <a:pPr marL="0" indent="0">
              <a:buNone/>
            </a:pPr>
            <a:r>
              <a:rPr lang="en-US" sz="1300" b="1" kern="0" spc="200" dirty="0">
                <a:solidFill>
                  <a:srgbClr val="F28B8F"/>
                </a:solidFill>
              </a:rPr>
              <a:t>FC ACTION   </a:t>
            </a:r>
            <a:r>
              <a:rPr lang="en-US" sz="1700" b="1" dirty="0">
                <a:solidFill>
                  <a:schemeClr val="bg1"/>
                </a:solidFill>
              </a:rPr>
              <a:t>Publish useful pages that answer these questions, link them well and check indexing</a:t>
            </a:r>
            <a:endParaRPr lang="en-US" sz="1400" dirty="0"/>
          </a:p>
        </p:txBody>
      </p:sp>
      <p:sp>
        <p:nvSpPr>
          <p:cNvPr id="77"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10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WHY  ·  WHAT AI NEEDS FROM FC</a:t>
            </a: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lIns="0" tIns="0" rIns="0" bIns="0" rtlCol="0" anchor="t"/>
          <a:lstStyle/>
          <a:p>
            <a:pPr marL="0" indent="0" algn="l">
              <a:buNone/>
            </a:pPr>
            <a:r>
              <a:rPr lang="en-US" sz="3200" b="1" dirty="0">
                <a:solidFill>
                  <a:schemeClr val="tx2"/>
                </a:solidFill>
              </a:rPr>
              <a:t>Competitor destination pages answer more questions</a:t>
            </a:r>
            <a:endParaRPr lang="en-US" sz="3200" dirty="0"/>
          </a:p>
        </p:txBody>
      </p:sp>
      <p:sp>
        <p:nvSpPr>
          <p:cNvPr id="4" name="Text 2"/>
          <p:cNvSpPr txBox="1"/>
          <p:nvPr/>
        </p:nvSpPr>
        <p:spPr>
          <a:xfrm>
            <a:off x="6869887"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1  READ</a:t>
            </a:r>
            <a:endParaRPr lang="en-US" sz="1000" dirty="0"/>
          </a:p>
        </p:txBody>
      </p:sp>
      <p:sp>
        <p:nvSpPr>
          <p:cNvPr id="5" name="Text 3"/>
          <p:cNvSpPr txBox="1"/>
          <p:nvPr/>
        </p:nvSpPr>
        <p:spPr>
          <a:xfrm>
            <a:off x="7839151"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2  FIND</a:t>
            </a:r>
            <a:endParaRPr lang="en-US" sz="1000" dirty="0"/>
          </a:p>
        </p:txBody>
      </p:sp>
      <p:sp>
        <p:nvSpPr>
          <p:cNvPr id="6" name="Text 4"/>
          <p:cNvSpPr txBox="1"/>
          <p:nvPr/>
        </p:nvSpPr>
        <p:spPr>
          <a:xfrm>
            <a:off x="8808415" y="246888"/>
            <a:ext cx="896112" cy="310896"/>
          </a:xfrm>
          <a:prstGeom prst="roundRect">
            <a:avLst>
              <a:gd name="adj" fmla="val 50000"/>
            </a:avLst>
          </a:prstGeom>
          <a:solidFill>
            <a:schemeClr val="accent1"/>
          </a:solidFill>
          <a:ln w="12700">
            <a:solidFill>
              <a:srgbClr val="E31B23"/>
            </a:solidFill>
          </a:ln>
        </p:spPr>
        <p:txBody>
          <a:bodyPr wrap="square" lIns="0" tIns="0" rIns="0" bIns="0" rtlCol="0" anchor="ctr"/>
          <a:lstStyle/>
          <a:p>
            <a:pPr marL="0" indent="0" algn="ctr">
              <a:buNone/>
            </a:pPr>
            <a:r>
              <a:rPr lang="en-US" sz="1000" b="1" kern="0" spc="100" dirty="0">
                <a:solidFill>
                  <a:schemeClr val="bg1"/>
                </a:solidFill>
              </a:rPr>
              <a:t>3  ANSWER</a:t>
            </a:r>
            <a:endParaRPr lang="en-US" sz="1000" dirty="0"/>
          </a:p>
        </p:txBody>
      </p:sp>
      <p:sp>
        <p:nvSpPr>
          <p:cNvPr id="7" name="Text 5"/>
          <p:cNvSpPr txBox="1"/>
          <p:nvPr/>
        </p:nvSpPr>
        <p:spPr>
          <a:xfrm>
            <a:off x="9777679"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4  TRUST</a:t>
            </a:r>
            <a:endParaRPr lang="en-US" sz="1000" dirty="0"/>
          </a:p>
        </p:txBody>
      </p:sp>
      <p:sp>
        <p:nvSpPr>
          <p:cNvPr id="8" name="Text 6"/>
          <p:cNvSpPr txBox="1"/>
          <p:nvPr/>
        </p:nvSpPr>
        <p:spPr>
          <a:xfrm>
            <a:off x="10746943"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5  ACT</a:t>
            </a:r>
            <a:endParaRPr lang="en-US" sz="1000" dirty="0"/>
          </a:p>
        </p:txBody>
      </p:sp>
      <p:sp>
        <p:nvSpPr>
          <p:cNvPr id="9" name="Text 7"/>
          <p:cNvSpPr txBox="1"/>
          <p:nvPr/>
        </p:nvSpPr>
        <p:spPr>
          <a:xfrm>
            <a:off x="548640" y="1481328"/>
            <a:ext cx="5760720"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NAMED ENTITIES IN THE PAGE HTML (MAY 2026 AUDIT, APPROX.)</a:t>
            </a:r>
            <a:endParaRPr lang="en-US" sz="1100" dirty="0"/>
          </a:p>
        </p:txBody>
      </p:sp>
      <p:graphicFrame>
        <p:nvGraphicFramePr>
          <p:cNvPr id="10" name="Chart 0"/>
          <p:cNvGraphicFramePr/>
          <p:nvPr/>
        </p:nvGraphicFramePr>
        <p:xfrm>
          <a:off x="411480" y="1783080"/>
          <a:ext cx="57607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6446520" y="1536192"/>
            <a:ext cx="5196535" cy="3813048"/>
          </a:xfrm>
          <a:prstGeom prst="roundRect">
            <a:avLst>
              <a:gd name="adj" fmla="val 2398"/>
            </a:avLst>
          </a:prstGeom>
          <a:solidFill>
            <a:schemeClr val="bg2"/>
          </a:solidFill>
          <a:ln/>
        </p:spPr>
        <p:txBody>
          <a:bodyPr/>
          <a:lstStyle/>
          <a:p>
            <a:endParaRPr lang="LID4096"/>
          </a:p>
        </p:txBody>
      </p:sp>
      <p:sp>
        <p:nvSpPr>
          <p:cNvPr id="12" name="Text 9"/>
          <p:cNvSpPr txBox="1"/>
          <p:nvPr/>
        </p:nvSpPr>
        <p:spPr>
          <a:xfrm>
            <a:off x="6720840" y="1691640"/>
            <a:ext cx="4647895" cy="274320"/>
          </a:xfrm>
          <a:prstGeom prst="rect">
            <a:avLst/>
          </a:prstGeom>
          <a:noFill/>
          <a:ln/>
        </p:spPr>
        <p:txBody>
          <a:bodyPr wrap="square" lIns="0" tIns="0" rIns="0" bIns="0" rtlCol="0" anchor="t"/>
          <a:lstStyle/>
          <a:p>
            <a:pPr marL="0" indent="0">
              <a:buNone/>
            </a:pPr>
            <a:r>
              <a:rPr lang="en-US" sz="1100" b="1" kern="0" spc="100" dirty="0">
                <a:solidFill>
                  <a:schemeClr val="accent3"/>
                </a:solidFill>
              </a:rPr>
              <a:t>DEDICATED BALI PAGE FOR EACH TRAVELLER NEED?</a:t>
            </a:r>
            <a:endParaRPr lang="en-US" sz="1100" dirty="0"/>
          </a:p>
        </p:txBody>
      </p:sp>
      <p:sp>
        <p:nvSpPr>
          <p:cNvPr id="13" name="Text 10"/>
          <p:cNvSpPr txBox="1"/>
          <p:nvPr/>
        </p:nvSpPr>
        <p:spPr>
          <a:xfrm>
            <a:off x="6720840" y="3090672"/>
            <a:ext cx="2743200" cy="256032"/>
          </a:xfrm>
          <a:prstGeom prst="rect">
            <a:avLst/>
          </a:prstGeom>
          <a:noFill/>
          <a:ln/>
        </p:spPr>
        <p:txBody>
          <a:bodyPr wrap="square" lIns="0" tIns="0" rIns="0" bIns="0" rtlCol="0" anchor="t"/>
          <a:lstStyle/>
          <a:p>
            <a:pPr marL="0" indent="0">
              <a:buNone/>
            </a:pPr>
            <a:r>
              <a:rPr lang="en-US" sz="1100" b="1" kern="0" spc="100" dirty="0">
                <a:solidFill>
                  <a:schemeClr val="accent1"/>
                </a:solidFill>
              </a:rPr>
              <a:t>FLIGHT CENTRE</a:t>
            </a:r>
            <a:endParaRPr lang="en-US" sz="1100" dirty="0"/>
          </a:p>
        </p:txBody>
      </p:sp>
      <p:sp>
        <p:nvSpPr>
          <p:cNvPr id="14" name="Text 11"/>
          <p:cNvSpPr txBox="1"/>
          <p:nvPr/>
        </p:nvSpPr>
        <p:spPr>
          <a:xfrm>
            <a:off x="6720840" y="3931920"/>
            <a:ext cx="2743200" cy="256032"/>
          </a:xfrm>
          <a:prstGeom prst="rect">
            <a:avLst/>
          </a:prstGeom>
          <a:noFill/>
          <a:ln/>
        </p:spPr>
        <p:txBody>
          <a:bodyPr wrap="square" lIns="0" tIns="0" rIns="0" bIns="0" rtlCol="0" anchor="t"/>
          <a:lstStyle/>
          <a:p>
            <a:pPr marL="0" indent="0">
              <a:buNone/>
            </a:pPr>
            <a:r>
              <a:rPr lang="en-US" sz="1100" b="1" kern="0" spc="100" dirty="0">
                <a:solidFill>
                  <a:schemeClr val="tx2"/>
                </a:solidFill>
              </a:rPr>
              <a:t>EXPEDIA</a:t>
            </a:r>
            <a:endParaRPr lang="en-US" sz="1100" dirty="0"/>
          </a:p>
        </p:txBody>
      </p:sp>
      <p:sp>
        <p:nvSpPr>
          <p:cNvPr id="15" name="Shape 12"/>
          <p:cNvSpPr/>
          <p:nvPr/>
        </p:nvSpPr>
        <p:spPr>
          <a:xfrm>
            <a:off x="6829014" y="2057400"/>
            <a:ext cx="566928" cy="566928"/>
          </a:xfrm>
          <a:prstGeom prst="ellipse">
            <a:avLst/>
          </a:prstGeom>
          <a:solidFill>
            <a:schemeClr val="tx2"/>
          </a:solidFill>
          <a:ln/>
        </p:spPr>
        <p:txBody>
          <a:bodyPr/>
          <a:lstStyle/>
          <a:p>
            <a:endParaRPr lang="LID4096"/>
          </a:p>
        </p:txBody>
      </p:sp>
      <p:pic>
        <p:nvPicPr>
          <p:cNvPr id="16" name="Image 0" descr="preencoded.png"/>
          <p:cNvPicPr>
            <a:picLocks noChangeAspect="1"/>
          </p:cNvPicPr>
          <p:nvPr/>
        </p:nvPicPr>
        <p:blipFill>
          <a:blip r:embed="rId4"/>
          <a:stretch>
            <a:fillRect/>
          </a:stretch>
        </p:blipFill>
        <p:spPr>
          <a:xfrm>
            <a:off x="6970746" y="2199132"/>
            <a:ext cx="283464" cy="283464"/>
          </a:xfrm>
          <a:prstGeom prst="rect">
            <a:avLst/>
          </a:prstGeom>
        </p:spPr>
      </p:pic>
      <p:sp>
        <p:nvSpPr>
          <p:cNvPr id="17" name="Text 13"/>
          <p:cNvSpPr txBox="1"/>
          <p:nvPr/>
        </p:nvSpPr>
        <p:spPr>
          <a:xfrm>
            <a:off x="6629400" y="2670048"/>
            <a:ext cx="966155" cy="274320"/>
          </a:xfrm>
          <a:prstGeom prst="rect">
            <a:avLst/>
          </a:prstGeom>
          <a:noFill/>
          <a:ln/>
        </p:spPr>
        <p:txBody>
          <a:bodyPr wrap="square" lIns="0" tIns="0" rIns="0" bIns="0" rtlCol="0" anchor="t"/>
          <a:lstStyle/>
          <a:p>
            <a:pPr marL="0" indent="0" algn="ctr">
              <a:buNone/>
            </a:pPr>
            <a:r>
              <a:rPr lang="en-US" sz="1300" b="1" dirty="0">
                <a:solidFill>
                  <a:schemeClr val="tx2"/>
                </a:solidFill>
              </a:rPr>
              <a:t>Budget</a:t>
            </a:r>
            <a:endParaRPr lang="en-US" sz="1300" dirty="0"/>
          </a:p>
        </p:txBody>
      </p:sp>
      <p:pic>
        <p:nvPicPr>
          <p:cNvPr id="18" name="Image 1" descr="preencoded.png"/>
          <p:cNvPicPr>
            <a:picLocks noChangeAspect="1"/>
          </p:cNvPicPr>
          <p:nvPr/>
        </p:nvPicPr>
        <p:blipFill>
          <a:blip r:embed="rId5"/>
          <a:stretch>
            <a:fillRect/>
          </a:stretch>
        </p:blipFill>
        <p:spPr>
          <a:xfrm>
            <a:off x="6920454" y="3383280"/>
            <a:ext cx="384048" cy="384048"/>
          </a:xfrm>
          <a:prstGeom prst="rect">
            <a:avLst/>
          </a:prstGeom>
        </p:spPr>
      </p:pic>
      <p:pic>
        <p:nvPicPr>
          <p:cNvPr id="19" name="Image 2" descr="preencoded.png"/>
          <p:cNvPicPr>
            <a:picLocks noChangeAspect="1"/>
          </p:cNvPicPr>
          <p:nvPr/>
        </p:nvPicPr>
        <p:blipFill>
          <a:blip r:embed="rId6"/>
          <a:stretch>
            <a:fillRect/>
          </a:stretch>
        </p:blipFill>
        <p:spPr>
          <a:xfrm>
            <a:off x="6920454" y="4224528"/>
            <a:ext cx="384048" cy="384048"/>
          </a:xfrm>
          <a:prstGeom prst="rect">
            <a:avLst/>
          </a:prstGeom>
        </p:spPr>
      </p:pic>
      <p:sp>
        <p:nvSpPr>
          <p:cNvPr id="20" name="Shape 14"/>
          <p:cNvSpPr/>
          <p:nvPr/>
        </p:nvSpPr>
        <p:spPr>
          <a:xfrm>
            <a:off x="7795169" y="2057400"/>
            <a:ext cx="566928" cy="566928"/>
          </a:xfrm>
          <a:prstGeom prst="ellipse">
            <a:avLst/>
          </a:prstGeom>
          <a:solidFill>
            <a:schemeClr val="tx2"/>
          </a:solidFill>
          <a:ln/>
        </p:spPr>
        <p:txBody>
          <a:bodyPr/>
          <a:lstStyle/>
          <a:p>
            <a:endParaRPr lang="LID4096"/>
          </a:p>
        </p:txBody>
      </p:sp>
      <p:pic>
        <p:nvPicPr>
          <p:cNvPr id="21" name="Image 3" descr="preencoded.png"/>
          <p:cNvPicPr>
            <a:picLocks noChangeAspect="1"/>
          </p:cNvPicPr>
          <p:nvPr/>
        </p:nvPicPr>
        <p:blipFill>
          <a:blip r:embed="rId7"/>
          <a:stretch>
            <a:fillRect/>
          </a:stretch>
        </p:blipFill>
        <p:spPr>
          <a:xfrm>
            <a:off x="7936901" y="2199132"/>
            <a:ext cx="283464" cy="283464"/>
          </a:xfrm>
          <a:prstGeom prst="rect">
            <a:avLst/>
          </a:prstGeom>
        </p:spPr>
      </p:pic>
      <p:sp>
        <p:nvSpPr>
          <p:cNvPr id="22" name="Text 15"/>
          <p:cNvSpPr txBox="1"/>
          <p:nvPr/>
        </p:nvSpPr>
        <p:spPr>
          <a:xfrm>
            <a:off x="7595555" y="2670048"/>
            <a:ext cx="966155" cy="274320"/>
          </a:xfrm>
          <a:prstGeom prst="rect">
            <a:avLst/>
          </a:prstGeom>
          <a:noFill/>
          <a:ln/>
        </p:spPr>
        <p:txBody>
          <a:bodyPr wrap="square" lIns="0" tIns="0" rIns="0" bIns="0" rtlCol="0" anchor="t"/>
          <a:lstStyle/>
          <a:p>
            <a:pPr marL="0" indent="0" algn="ctr">
              <a:buNone/>
            </a:pPr>
            <a:r>
              <a:rPr lang="en-US" sz="1300" b="1" dirty="0">
                <a:solidFill>
                  <a:schemeClr val="tx2"/>
                </a:solidFill>
              </a:rPr>
              <a:t>Family</a:t>
            </a:r>
            <a:endParaRPr lang="en-US" sz="1300" dirty="0"/>
          </a:p>
        </p:txBody>
      </p:sp>
      <p:pic>
        <p:nvPicPr>
          <p:cNvPr id="23" name="Image 4" descr="preencoded.png"/>
          <p:cNvPicPr>
            <a:picLocks noChangeAspect="1"/>
          </p:cNvPicPr>
          <p:nvPr/>
        </p:nvPicPr>
        <p:blipFill>
          <a:blip r:embed="rId8"/>
          <a:stretch>
            <a:fillRect/>
          </a:stretch>
        </p:blipFill>
        <p:spPr>
          <a:xfrm>
            <a:off x="7886609" y="3383280"/>
            <a:ext cx="384048" cy="384048"/>
          </a:xfrm>
          <a:prstGeom prst="rect">
            <a:avLst/>
          </a:prstGeom>
        </p:spPr>
      </p:pic>
      <p:pic>
        <p:nvPicPr>
          <p:cNvPr id="24" name="Image 5" descr="preencoded.png"/>
          <p:cNvPicPr>
            <a:picLocks noChangeAspect="1"/>
          </p:cNvPicPr>
          <p:nvPr/>
        </p:nvPicPr>
        <p:blipFill>
          <a:blip r:embed="rId6"/>
          <a:stretch>
            <a:fillRect/>
          </a:stretch>
        </p:blipFill>
        <p:spPr>
          <a:xfrm>
            <a:off x="7886609" y="4224528"/>
            <a:ext cx="384048" cy="384048"/>
          </a:xfrm>
          <a:prstGeom prst="rect">
            <a:avLst/>
          </a:prstGeom>
        </p:spPr>
      </p:pic>
      <p:sp>
        <p:nvSpPr>
          <p:cNvPr id="25" name="Shape 16"/>
          <p:cNvSpPr/>
          <p:nvPr/>
        </p:nvSpPr>
        <p:spPr>
          <a:xfrm>
            <a:off x="8761324" y="2057400"/>
            <a:ext cx="566928" cy="566928"/>
          </a:xfrm>
          <a:prstGeom prst="ellipse">
            <a:avLst/>
          </a:prstGeom>
          <a:solidFill>
            <a:schemeClr val="tx2"/>
          </a:solidFill>
          <a:ln/>
        </p:spPr>
        <p:txBody>
          <a:bodyPr/>
          <a:lstStyle/>
          <a:p>
            <a:endParaRPr lang="LID4096"/>
          </a:p>
        </p:txBody>
      </p:sp>
      <p:pic>
        <p:nvPicPr>
          <p:cNvPr id="26" name="Image 6" descr="preencoded.png"/>
          <p:cNvPicPr>
            <a:picLocks noChangeAspect="1"/>
          </p:cNvPicPr>
          <p:nvPr/>
        </p:nvPicPr>
        <p:blipFill>
          <a:blip r:embed="rId9"/>
          <a:stretch>
            <a:fillRect/>
          </a:stretch>
        </p:blipFill>
        <p:spPr>
          <a:xfrm>
            <a:off x="8903056" y="2199132"/>
            <a:ext cx="283464" cy="283464"/>
          </a:xfrm>
          <a:prstGeom prst="rect">
            <a:avLst/>
          </a:prstGeom>
        </p:spPr>
      </p:pic>
      <p:sp>
        <p:nvSpPr>
          <p:cNvPr id="27" name="Text 17"/>
          <p:cNvSpPr txBox="1"/>
          <p:nvPr/>
        </p:nvSpPr>
        <p:spPr>
          <a:xfrm>
            <a:off x="8561710" y="2670048"/>
            <a:ext cx="966155" cy="274320"/>
          </a:xfrm>
          <a:prstGeom prst="rect">
            <a:avLst/>
          </a:prstGeom>
          <a:noFill/>
          <a:ln/>
        </p:spPr>
        <p:txBody>
          <a:bodyPr wrap="square" lIns="0" tIns="0" rIns="0" bIns="0" rtlCol="0" anchor="t"/>
          <a:lstStyle/>
          <a:p>
            <a:pPr marL="0" indent="0" algn="ctr">
              <a:buNone/>
            </a:pPr>
            <a:r>
              <a:rPr lang="en-US" sz="1300" b="1" dirty="0">
                <a:solidFill>
                  <a:schemeClr val="tx2"/>
                </a:solidFill>
              </a:rPr>
              <a:t>Honeymoon</a:t>
            </a:r>
            <a:endParaRPr lang="en-US" sz="1300" dirty="0"/>
          </a:p>
        </p:txBody>
      </p:sp>
      <p:pic>
        <p:nvPicPr>
          <p:cNvPr id="28" name="Image 7" descr="preencoded.png"/>
          <p:cNvPicPr>
            <a:picLocks noChangeAspect="1"/>
          </p:cNvPicPr>
          <p:nvPr/>
        </p:nvPicPr>
        <p:blipFill>
          <a:blip r:embed="rId5"/>
          <a:stretch>
            <a:fillRect/>
          </a:stretch>
        </p:blipFill>
        <p:spPr>
          <a:xfrm>
            <a:off x="8852764" y="3383280"/>
            <a:ext cx="384048" cy="384048"/>
          </a:xfrm>
          <a:prstGeom prst="rect">
            <a:avLst/>
          </a:prstGeom>
        </p:spPr>
      </p:pic>
      <p:pic>
        <p:nvPicPr>
          <p:cNvPr id="29" name="Image 8" descr="preencoded.png"/>
          <p:cNvPicPr>
            <a:picLocks noChangeAspect="1"/>
          </p:cNvPicPr>
          <p:nvPr/>
        </p:nvPicPr>
        <p:blipFill>
          <a:blip r:embed="rId6"/>
          <a:stretch>
            <a:fillRect/>
          </a:stretch>
        </p:blipFill>
        <p:spPr>
          <a:xfrm>
            <a:off x="8852764" y="4224528"/>
            <a:ext cx="384048" cy="384048"/>
          </a:xfrm>
          <a:prstGeom prst="rect">
            <a:avLst/>
          </a:prstGeom>
        </p:spPr>
      </p:pic>
      <p:sp>
        <p:nvSpPr>
          <p:cNvPr id="30" name="Shape 18"/>
          <p:cNvSpPr/>
          <p:nvPr/>
        </p:nvSpPr>
        <p:spPr>
          <a:xfrm>
            <a:off x="9727479" y="2057400"/>
            <a:ext cx="566928" cy="566928"/>
          </a:xfrm>
          <a:prstGeom prst="ellipse">
            <a:avLst/>
          </a:prstGeom>
          <a:solidFill>
            <a:schemeClr val="tx2"/>
          </a:solidFill>
          <a:ln/>
        </p:spPr>
        <p:txBody>
          <a:bodyPr/>
          <a:lstStyle/>
          <a:p>
            <a:endParaRPr lang="LID4096"/>
          </a:p>
        </p:txBody>
      </p:sp>
      <p:pic>
        <p:nvPicPr>
          <p:cNvPr id="31" name="Image 9" descr="preencoded.png"/>
          <p:cNvPicPr>
            <a:picLocks noChangeAspect="1"/>
          </p:cNvPicPr>
          <p:nvPr/>
        </p:nvPicPr>
        <p:blipFill>
          <a:blip r:embed="rId10"/>
          <a:stretch>
            <a:fillRect/>
          </a:stretch>
        </p:blipFill>
        <p:spPr>
          <a:xfrm>
            <a:off x="9869211" y="2199132"/>
            <a:ext cx="283464" cy="283464"/>
          </a:xfrm>
          <a:prstGeom prst="rect">
            <a:avLst/>
          </a:prstGeom>
        </p:spPr>
      </p:pic>
      <p:sp>
        <p:nvSpPr>
          <p:cNvPr id="32" name="Text 19"/>
          <p:cNvSpPr txBox="1"/>
          <p:nvPr/>
        </p:nvSpPr>
        <p:spPr>
          <a:xfrm>
            <a:off x="9527865" y="2670048"/>
            <a:ext cx="966155" cy="274320"/>
          </a:xfrm>
          <a:prstGeom prst="rect">
            <a:avLst/>
          </a:prstGeom>
          <a:noFill/>
          <a:ln/>
        </p:spPr>
        <p:txBody>
          <a:bodyPr wrap="square" lIns="0" tIns="0" rIns="0" bIns="0" rtlCol="0" anchor="t"/>
          <a:lstStyle/>
          <a:p>
            <a:pPr marL="0" indent="0" algn="ctr">
              <a:buNone/>
            </a:pPr>
            <a:r>
              <a:rPr lang="en-US" sz="1300" b="1" dirty="0">
                <a:solidFill>
                  <a:schemeClr val="tx2"/>
                </a:solidFill>
              </a:rPr>
              <a:t>Luxury</a:t>
            </a:r>
            <a:endParaRPr lang="en-US" sz="1300" dirty="0"/>
          </a:p>
        </p:txBody>
      </p:sp>
      <p:pic>
        <p:nvPicPr>
          <p:cNvPr id="33" name="Image 10" descr="preencoded.png"/>
          <p:cNvPicPr>
            <a:picLocks noChangeAspect="1"/>
          </p:cNvPicPr>
          <p:nvPr/>
        </p:nvPicPr>
        <p:blipFill>
          <a:blip r:embed="rId8"/>
          <a:stretch>
            <a:fillRect/>
          </a:stretch>
        </p:blipFill>
        <p:spPr>
          <a:xfrm>
            <a:off x="9818919" y="3383280"/>
            <a:ext cx="384048" cy="384048"/>
          </a:xfrm>
          <a:prstGeom prst="rect">
            <a:avLst/>
          </a:prstGeom>
        </p:spPr>
      </p:pic>
      <p:pic>
        <p:nvPicPr>
          <p:cNvPr id="34" name="Image 11" descr="preencoded.png"/>
          <p:cNvPicPr>
            <a:picLocks noChangeAspect="1"/>
          </p:cNvPicPr>
          <p:nvPr/>
        </p:nvPicPr>
        <p:blipFill>
          <a:blip r:embed="rId6"/>
          <a:stretch>
            <a:fillRect/>
          </a:stretch>
        </p:blipFill>
        <p:spPr>
          <a:xfrm>
            <a:off x="9818919" y="4224528"/>
            <a:ext cx="384048" cy="384048"/>
          </a:xfrm>
          <a:prstGeom prst="rect">
            <a:avLst/>
          </a:prstGeom>
        </p:spPr>
      </p:pic>
      <p:sp>
        <p:nvSpPr>
          <p:cNvPr id="35" name="Shape 20"/>
          <p:cNvSpPr/>
          <p:nvPr/>
        </p:nvSpPr>
        <p:spPr>
          <a:xfrm>
            <a:off x="10693634" y="2057400"/>
            <a:ext cx="566928" cy="566928"/>
          </a:xfrm>
          <a:prstGeom prst="ellipse">
            <a:avLst/>
          </a:prstGeom>
          <a:solidFill>
            <a:schemeClr val="tx2"/>
          </a:solidFill>
          <a:ln/>
        </p:spPr>
        <p:txBody>
          <a:bodyPr/>
          <a:lstStyle/>
          <a:p>
            <a:endParaRPr lang="LID4096"/>
          </a:p>
        </p:txBody>
      </p:sp>
      <p:pic>
        <p:nvPicPr>
          <p:cNvPr id="36" name="Image 12" descr="preencoded.png"/>
          <p:cNvPicPr>
            <a:picLocks noChangeAspect="1"/>
          </p:cNvPicPr>
          <p:nvPr/>
        </p:nvPicPr>
        <p:blipFill>
          <a:blip r:embed="rId11"/>
          <a:stretch>
            <a:fillRect/>
          </a:stretch>
        </p:blipFill>
        <p:spPr>
          <a:xfrm>
            <a:off x="10835366" y="2199132"/>
            <a:ext cx="283464" cy="283464"/>
          </a:xfrm>
          <a:prstGeom prst="rect">
            <a:avLst/>
          </a:prstGeom>
        </p:spPr>
      </p:pic>
      <p:sp>
        <p:nvSpPr>
          <p:cNvPr id="37" name="Text 21"/>
          <p:cNvSpPr txBox="1"/>
          <p:nvPr/>
        </p:nvSpPr>
        <p:spPr>
          <a:xfrm>
            <a:off x="10494020" y="2670048"/>
            <a:ext cx="966155" cy="274320"/>
          </a:xfrm>
          <a:prstGeom prst="rect">
            <a:avLst/>
          </a:prstGeom>
          <a:noFill/>
          <a:ln/>
        </p:spPr>
        <p:txBody>
          <a:bodyPr wrap="square" lIns="0" tIns="0" rIns="0" bIns="0" rtlCol="0" anchor="t"/>
          <a:lstStyle/>
          <a:p>
            <a:pPr marL="0" indent="0" algn="ctr">
              <a:buNone/>
            </a:pPr>
            <a:r>
              <a:rPr lang="en-US" sz="1300" b="1" dirty="0">
                <a:solidFill>
                  <a:schemeClr val="tx2"/>
                </a:solidFill>
              </a:rPr>
              <a:t>Packages</a:t>
            </a:r>
            <a:endParaRPr lang="en-US" sz="1300" dirty="0"/>
          </a:p>
        </p:txBody>
      </p:sp>
      <p:pic>
        <p:nvPicPr>
          <p:cNvPr id="38" name="Image 13" descr="preencoded.png"/>
          <p:cNvPicPr>
            <a:picLocks noChangeAspect="1"/>
          </p:cNvPicPr>
          <p:nvPr/>
        </p:nvPicPr>
        <p:blipFill>
          <a:blip r:embed="rId6"/>
          <a:stretch>
            <a:fillRect/>
          </a:stretch>
        </p:blipFill>
        <p:spPr>
          <a:xfrm>
            <a:off x="10785074" y="3383280"/>
            <a:ext cx="384048" cy="384048"/>
          </a:xfrm>
          <a:prstGeom prst="rect">
            <a:avLst/>
          </a:prstGeom>
        </p:spPr>
      </p:pic>
      <p:pic>
        <p:nvPicPr>
          <p:cNvPr id="39" name="Image 14" descr="preencoded.png"/>
          <p:cNvPicPr>
            <a:picLocks noChangeAspect="1"/>
          </p:cNvPicPr>
          <p:nvPr/>
        </p:nvPicPr>
        <p:blipFill>
          <a:blip r:embed="rId6"/>
          <a:stretch>
            <a:fillRect/>
          </a:stretch>
        </p:blipFill>
        <p:spPr>
          <a:xfrm>
            <a:off x="10785074" y="4224528"/>
            <a:ext cx="384048" cy="384048"/>
          </a:xfrm>
          <a:prstGeom prst="rect">
            <a:avLst/>
          </a:prstGeom>
        </p:spPr>
      </p:pic>
      <p:pic>
        <p:nvPicPr>
          <p:cNvPr id="40" name="Image 15" descr="preencoded.png"/>
          <p:cNvPicPr>
            <a:picLocks noChangeAspect="1"/>
          </p:cNvPicPr>
          <p:nvPr/>
        </p:nvPicPr>
        <p:blipFill>
          <a:blip r:embed="rId6"/>
          <a:stretch>
            <a:fillRect/>
          </a:stretch>
        </p:blipFill>
        <p:spPr>
          <a:xfrm>
            <a:off x="6720840" y="4956048"/>
            <a:ext cx="219456" cy="219456"/>
          </a:xfrm>
          <a:prstGeom prst="rect">
            <a:avLst/>
          </a:prstGeom>
        </p:spPr>
      </p:pic>
      <p:sp>
        <p:nvSpPr>
          <p:cNvPr id="41" name="Text 22"/>
          <p:cNvSpPr txBox="1"/>
          <p:nvPr/>
        </p:nvSpPr>
        <p:spPr>
          <a:xfrm>
            <a:off x="7013448" y="4919472"/>
            <a:ext cx="822960" cy="292608"/>
          </a:xfrm>
          <a:prstGeom prst="rect">
            <a:avLst/>
          </a:prstGeom>
          <a:noFill/>
          <a:ln/>
        </p:spPr>
        <p:txBody>
          <a:bodyPr wrap="square" lIns="0" tIns="0" rIns="0" bIns="0" rtlCol="0" anchor="ctr"/>
          <a:lstStyle/>
          <a:p>
            <a:pPr marL="0" indent="0">
              <a:buNone/>
            </a:pPr>
            <a:r>
              <a:rPr lang="en-US" sz="1300" dirty="0">
                <a:solidFill>
                  <a:schemeClr val="accent3"/>
                </a:solidFill>
              </a:rPr>
              <a:t>Yes</a:t>
            </a:r>
            <a:endParaRPr lang="en-US" sz="1300" dirty="0"/>
          </a:p>
        </p:txBody>
      </p:sp>
      <p:pic>
        <p:nvPicPr>
          <p:cNvPr id="42" name="Image 16" descr="preencoded.png"/>
          <p:cNvPicPr>
            <a:picLocks noChangeAspect="1"/>
          </p:cNvPicPr>
          <p:nvPr/>
        </p:nvPicPr>
        <p:blipFill>
          <a:blip r:embed="rId8"/>
          <a:stretch>
            <a:fillRect/>
          </a:stretch>
        </p:blipFill>
        <p:spPr>
          <a:xfrm>
            <a:off x="7955280" y="4956048"/>
            <a:ext cx="219456" cy="219456"/>
          </a:xfrm>
          <a:prstGeom prst="rect">
            <a:avLst/>
          </a:prstGeom>
        </p:spPr>
      </p:pic>
      <p:sp>
        <p:nvSpPr>
          <p:cNvPr id="43" name="Text 23"/>
          <p:cNvSpPr txBox="1"/>
          <p:nvPr/>
        </p:nvSpPr>
        <p:spPr>
          <a:xfrm>
            <a:off x="8247888" y="4919472"/>
            <a:ext cx="822960" cy="292608"/>
          </a:xfrm>
          <a:prstGeom prst="rect">
            <a:avLst/>
          </a:prstGeom>
          <a:noFill/>
          <a:ln/>
        </p:spPr>
        <p:txBody>
          <a:bodyPr wrap="square" lIns="0" tIns="0" rIns="0" bIns="0" rtlCol="0" anchor="ctr"/>
          <a:lstStyle/>
          <a:p>
            <a:pPr marL="0" indent="0">
              <a:buNone/>
            </a:pPr>
            <a:r>
              <a:rPr lang="en-US" sz="1300" dirty="0">
                <a:solidFill>
                  <a:schemeClr val="accent3"/>
                </a:solidFill>
              </a:rPr>
              <a:t>Partly</a:t>
            </a:r>
            <a:endParaRPr lang="en-US" sz="1300" dirty="0"/>
          </a:p>
        </p:txBody>
      </p:sp>
      <p:pic>
        <p:nvPicPr>
          <p:cNvPr id="44" name="Image 17" descr="preencoded.png"/>
          <p:cNvPicPr>
            <a:picLocks noChangeAspect="1"/>
          </p:cNvPicPr>
          <p:nvPr/>
        </p:nvPicPr>
        <p:blipFill>
          <a:blip r:embed="rId5"/>
          <a:stretch>
            <a:fillRect/>
          </a:stretch>
        </p:blipFill>
        <p:spPr>
          <a:xfrm>
            <a:off x="9189720" y="4956048"/>
            <a:ext cx="219456" cy="219456"/>
          </a:xfrm>
          <a:prstGeom prst="rect">
            <a:avLst/>
          </a:prstGeom>
        </p:spPr>
      </p:pic>
      <p:sp>
        <p:nvSpPr>
          <p:cNvPr id="45" name="Text 24"/>
          <p:cNvSpPr txBox="1"/>
          <p:nvPr/>
        </p:nvSpPr>
        <p:spPr>
          <a:xfrm>
            <a:off x="9482328" y="4919472"/>
            <a:ext cx="822960" cy="292608"/>
          </a:xfrm>
          <a:prstGeom prst="rect">
            <a:avLst/>
          </a:prstGeom>
          <a:noFill/>
          <a:ln/>
        </p:spPr>
        <p:txBody>
          <a:bodyPr wrap="square" lIns="0" tIns="0" rIns="0" bIns="0" rtlCol="0" anchor="ctr"/>
          <a:lstStyle/>
          <a:p>
            <a:pPr marL="0" indent="0">
              <a:buNone/>
            </a:pPr>
            <a:r>
              <a:rPr lang="en-US" sz="1300" dirty="0">
                <a:solidFill>
                  <a:schemeClr val="accent3"/>
                </a:solidFill>
              </a:rPr>
              <a:t>No</a:t>
            </a:r>
            <a:endParaRPr lang="en-US" sz="1300" dirty="0"/>
          </a:p>
        </p:txBody>
      </p:sp>
      <p:sp>
        <p:nvSpPr>
          <p:cNvPr id="46" name="Shape 25"/>
          <p:cNvSpPr/>
          <p:nvPr/>
        </p:nvSpPr>
        <p:spPr>
          <a:xfrm>
            <a:off x="548640" y="5532120"/>
            <a:ext cx="11094415" cy="658368"/>
          </a:xfrm>
          <a:prstGeom prst="roundRect">
            <a:avLst>
              <a:gd name="adj" fmla="val 13889"/>
            </a:avLst>
          </a:prstGeom>
          <a:solidFill>
            <a:schemeClr val="tx2"/>
          </a:solidFill>
          <a:ln/>
        </p:spPr>
        <p:txBody>
          <a:bodyPr/>
          <a:lstStyle/>
          <a:p>
            <a:endParaRPr lang="LID4096"/>
          </a:p>
        </p:txBody>
      </p:sp>
      <p:sp>
        <p:nvSpPr>
          <p:cNvPr id="47" name="Shape 26"/>
          <p:cNvSpPr/>
          <p:nvPr/>
        </p:nvSpPr>
        <p:spPr>
          <a:xfrm>
            <a:off x="713232" y="5605272"/>
            <a:ext cx="512064" cy="512064"/>
          </a:xfrm>
          <a:prstGeom prst="ellipse">
            <a:avLst/>
          </a:prstGeom>
          <a:solidFill>
            <a:schemeClr val="accent1"/>
          </a:solidFill>
          <a:ln/>
        </p:spPr>
        <p:txBody>
          <a:bodyPr/>
          <a:lstStyle/>
          <a:p>
            <a:endParaRPr lang="LID4096"/>
          </a:p>
        </p:txBody>
      </p:sp>
      <p:pic>
        <p:nvPicPr>
          <p:cNvPr id="48" name="Image 18" descr="preencoded.png"/>
          <p:cNvPicPr>
            <a:picLocks noChangeAspect="1"/>
          </p:cNvPicPr>
          <p:nvPr/>
        </p:nvPicPr>
        <p:blipFill>
          <a:blip r:embed="rId12"/>
          <a:stretch>
            <a:fillRect/>
          </a:stretch>
        </p:blipFill>
        <p:spPr>
          <a:xfrm>
            <a:off x="841248" y="5733288"/>
            <a:ext cx="256032" cy="256032"/>
          </a:xfrm>
          <a:prstGeom prst="rect">
            <a:avLst/>
          </a:prstGeom>
        </p:spPr>
      </p:pic>
      <p:sp>
        <p:nvSpPr>
          <p:cNvPr id="49" name="Text 27"/>
          <p:cNvSpPr txBox="1"/>
          <p:nvPr/>
        </p:nvSpPr>
        <p:spPr>
          <a:xfrm>
            <a:off x="1417320" y="5532120"/>
            <a:ext cx="10058400" cy="658368"/>
          </a:xfrm>
          <a:prstGeom prst="rect">
            <a:avLst/>
          </a:prstGeom>
          <a:noFill/>
          <a:ln/>
        </p:spPr>
        <p:txBody>
          <a:bodyPr wrap="square" lIns="0" tIns="0" rIns="0" bIns="0" rtlCol="0" anchor="ctr"/>
          <a:lstStyle/>
          <a:p>
            <a:pPr marL="0" indent="0">
              <a:buNone/>
            </a:pPr>
            <a:r>
              <a:rPr lang="en-US" sz="1300" b="1" kern="0" spc="200" dirty="0">
                <a:solidFill>
                  <a:srgbClr val="F28B8F"/>
                </a:solidFill>
              </a:rPr>
              <a:t>FC ACTION   </a:t>
            </a:r>
            <a:r>
              <a:rPr lang="en-US" sz="1700" b="1" dirty="0">
                <a:solidFill>
                  <a:schemeClr val="bg1"/>
                </a:solidFill>
              </a:rPr>
              <a:t>Answer real traveller questions on destination pages, from one approved fact store</a:t>
            </a:r>
            <a:endParaRPr lang="en-US" sz="1400" dirty="0"/>
          </a:p>
        </p:txBody>
      </p:sp>
      <p:sp>
        <p:nvSpPr>
          <p:cNvPr id="50"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WHY  ·  WHAT AI NEEDS FROM FC</a:t>
            </a: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lIns="0" tIns="0" rIns="0" bIns="0" rtlCol="0" anchor="t"/>
          <a:lstStyle/>
          <a:p>
            <a:pPr marL="0" indent="0" algn="l">
              <a:buNone/>
            </a:pPr>
            <a:r>
              <a:rPr lang="en-US" sz="3200" b="1" dirty="0">
                <a:solidFill>
                  <a:schemeClr val="tx2"/>
                </a:solidFill>
              </a:rPr>
              <a:t>AI trusts consistent facts and outside proof</a:t>
            </a:r>
            <a:endParaRPr lang="en-US" sz="3200" dirty="0"/>
          </a:p>
        </p:txBody>
      </p:sp>
      <p:sp>
        <p:nvSpPr>
          <p:cNvPr id="4" name="Text 2"/>
          <p:cNvSpPr txBox="1"/>
          <p:nvPr/>
        </p:nvSpPr>
        <p:spPr>
          <a:xfrm>
            <a:off x="6869887"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1  READ</a:t>
            </a:r>
            <a:endParaRPr lang="en-US" sz="1000" dirty="0"/>
          </a:p>
        </p:txBody>
      </p:sp>
      <p:sp>
        <p:nvSpPr>
          <p:cNvPr id="5" name="Text 3"/>
          <p:cNvSpPr txBox="1"/>
          <p:nvPr/>
        </p:nvSpPr>
        <p:spPr>
          <a:xfrm>
            <a:off x="7839151"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2  FIND</a:t>
            </a:r>
            <a:endParaRPr lang="en-US" sz="1000" dirty="0"/>
          </a:p>
        </p:txBody>
      </p:sp>
      <p:sp>
        <p:nvSpPr>
          <p:cNvPr id="6" name="Text 4"/>
          <p:cNvSpPr txBox="1"/>
          <p:nvPr/>
        </p:nvSpPr>
        <p:spPr>
          <a:xfrm>
            <a:off x="8808415"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3  ANSWER</a:t>
            </a:r>
            <a:endParaRPr lang="en-US" sz="1000" dirty="0"/>
          </a:p>
        </p:txBody>
      </p:sp>
      <p:sp>
        <p:nvSpPr>
          <p:cNvPr id="7" name="Text 5"/>
          <p:cNvSpPr txBox="1"/>
          <p:nvPr/>
        </p:nvSpPr>
        <p:spPr>
          <a:xfrm>
            <a:off x="9777679" y="246888"/>
            <a:ext cx="896112" cy="310896"/>
          </a:xfrm>
          <a:prstGeom prst="roundRect">
            <a:avLst>
              <a:gd name="adj" fmla="val 50000"/>
            </a:avLst>
          </a:prstGeom>
          <a:solidFill>
            <a:schemeClr val="accent1"/>
          </a:solidFill>
          <a:ln w="12700">
            <a:solidFill>
              <a:srgbClr val="E31B23"/>
            </a:solidFill>
          </a:ln>
        </p:spPr>
        <p:txBody>
          <a:bodyPr wrap="square" lIns="0" tIns="0" rIns="0" bIns="0" rtlCol="0" anchor="ctr"/>
          <a:lstStyle/>
          <a:p>
            <a:pPr marL="0" indent="0" algn="ctr">
              <a:buNone/>
            </a:pPr>
            <a:r>
              <a:rPr lang="en-US" sz="1000" b="1" kern="0" spc="100" dirty="0">
                <a:solidFill>
                  <a:schemeClr val="bg1"/>
                </a:solidFill>
              </a:rPr>
              <a:t>4  TRUST</a:t>
            </a:r>
            <a:endParaRPr lang="en-US" sz="1000" dirty="0"/>
          </a:p>
        </p:txBody>
      </p:sp>
      <p:sp>
        <p:nvSpPr>
          <p:cNvPr id="8" name="Text 6"/>
          <p:cNvSpPr txBox="1"/>
          <p:nvPr/>
        </p:nvSpPr>
        <p:spPr>
          <a:xfrm>
            <a:off x="10746943"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5  ACT</a:t>
            </a:r>
            <a:endParaRPr lang="en-US" sz="1000" dirty="0"/>
          </a:p>
        </p:txBody>
      </p:sp>
      <p:sp>
        <p:nvSpPr>
          <p:cNvPr id="9" name="Shape 7"/>
          <p:cNvSpPr/>
          <p:nvPr/>
        </p:nvSpPr>
        <p:spPr>
          <a:xfrm>
            <a:off x="548640" y="1536192"/>
            <a:ext cx="5440680" cy="3813048"/>
          </a:xfrm>
          <a:prstGeom prst="roundRect">
            <a:avLst>
              <a:gd name="adj" fmla="val 2398"/>
            </a:avLst>
          </a:prstGeom>
          <a:solidFill>
            <a:schemeClr val="bg2"/>
          </a:solidFill>
          <a:ln/>
        </p:spPr>
        <p:txBody>
          <a:bodyPr/>
          <a:lstStyle/>
          <a:p>
            <a:endParaRPr lang="LID4096"/>
          </a:p>
        </p:txBody>
      </p:sp>
      <p:sp>
        <p:nvSpPr>
          <p:cNvPr id="10" name="Text 8"/>
          <p:cNvSpPr txBox="1"/>
          <p:nvPr/>
        </p:nvSpPr>
        <p:spPr>
          <a:xfrm>
            <a:off x="822960" y="170078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1" name="Text 9"/>
          <p:cNvSpPr txBox="1"/>
          <p:nvPr/>
        </p:nvSpPr>
        <p:spPr>
          <a:xfrm>
            <a:off x="1325880" y="1700784"/>
            <a:ext cx="4434840" cy="365760"/>
          </a:xfrm>
          <a:prstGeom prst="rect">
            <a:avLst/>
          </a:prstGeom>
          <a:noFill/>
          <a:ln/>
        </p:spPr>
        <p:txBody>
          <a:bodyPr wrap="square" lIns="0" tIns="0" rIns="0" bIns="0" rtlCol="0" anchor="ctr"/>
          <a:lstStyle/>
          <a:p>
            <a:pPr marL="0" indent="0">
              <a:buNone/>
            </a:pPr>
            <a:r>
              <a:rPr lang="en-US" sz="1500" b="1" kern="0" spc="100" dirty="0">
                <a:solidFill>
                  <a:schemeClr val="tx2"/>
                </a:solidFill>
              </a:rPr>
              <a:t>CONSISTENT PRICES</a:t>
            </a:r>
            <a:endParaRPr lang="en-US" sz="1500" dirty="0"/>
          </a:p>
        </p:txBody>
      </p:sp>
      <p:sp>
        <p:nvSpPr>
          <p:cNvPr id="12" name="Shape 10"/>
          <p:cNvSpPr/>
          <p:nvPr/>
        </p:nvSpPr>
        <p:spPr>
          <a:xfrm>
            <a:off x="822960" y="2212848"/>
            <a:ext cx="4892040" cy="2331720"/>
          </a:xfrm>
          <a:prstGeom prst="roundRect">
            <a:avLst>
              <a:gd name="adj" fmla="val 2353"/>
            </a:avLst>
          </a:prstGeom>
          <a:solidFill>
            <a:schemeClr val="bg1"/>
          </a:solidFill>
          <a:ln w="12700">
            <a:solidFill>
              <a:srgbClr val="D5DEEA"/>
            </a:solidFill>
            <a:prstDash val="solid"/>
          </a:ln>
          <a:effectLst>
            <a:outerShdw blurRad="127000" dist="25400" dir="5400000" algn="bl" rotWithShape="0">
              <a:srgbClr val="0B2A5B">
                <a:alpha val="14000"/>
              </a:srgbClr>
            </a:outerShdw>
          </a:effectLst>
        </p:spPr>
        <p:txBody>
          <a:bodyPr/>
          <a:lstStyle/>
          <a:p>
            <a:endParaRPr lang="LID4096"/>
          </a:p>
        </p:txBody>
      </p:sp>
      <p:sp>
        <p:nvSpPr>
          <p:cNvPr id="13" name="Shape 11"/>
          <p:cNvSpPr/>
          <p:nvPr/>
        </p:nvSpPr>
        <p:spPr>
          <a:xfrm>
            <a:off x="960120" y="2322576"/>
            <a:ext cx="91440" cy="91440"/>
          </a:xfrm>
          <a:prstGeom prst="ellipse">
            <a:avLst/>
          </a:prstGeom>
          <a:solidFill>
            <a:schemeClr val="accent5"/>
          </a:solidFill>
          <a:ln/>
        </p:spPr>
        <p:txBody>
          <a:bodyPr/>
          <a:lstStyle/>
          <a:p>
            <a:endParaRPr lang="LID4096"/>
          </a:p>
        </p:txBody>
      </p:sp>
      <p:sp>
        <p:nvSpPr>
          <p:cNvPr id="14" name="Shape 12"/>
          <p:cNvSpPr/>
          <p:nvPr/>
        </p:nvSpPr>
        <p:spPr>
          <a:xfrm>
            <a:off x="1115568" y="2322576"/>
            <a:ext cx="91440" cy="91440"/>
          </a:xfrm>
          <a:prstGeom prst="ellipse">
            <a:avLst/>
          </a:prstGeom>
          <a:solidFill>
            <a:schemeClr val="accent5"/>
          </a:solidFill>
          <a:ln/>
        </p:spPr>
        <p:txBody>
          <a:bodyPr/>
          <a:lstStyle/>
          <a:p>
            <a:endParaRPr lang="LID4096"/>
          </a:p>
        </p:txBody>
      </p:sp>
      <p:sp>
        <p:nvSpPr>
          <p:cNvPr id="15" name="Shape 13"/>
          <p:cNvSpPr/>
          <p:nvPr/>
        </p:nvSpPr>
        <p:spPr>
          <a:xfrm>
            <a:off x="1271016" y="2322576"/>
            <a:ext cx="91440" cy="91440"/>
          </a:xfrm>
          <a:prstGeom prst="ellipse">
            <a:avLst/>
          </a:prstGeom>
          <a:solidFill>
            <a:schemeClr val="accent5"/>
          </a:solidFill>
          <a:ln/>
        </p:spPr>
        <p:txBody>
          <a:bodyPr/>
          <a:lstStyle/>
          <a:p>
            <a:endParaRPr lang="LID4096"/>
          </a:p>
        </p:txBody>
      </p:sp>
      <p:sp>
        <p:nvSpPr>
          <p:cNvPr id="16" name="Text 14"/>
          <p:cNvSpPr txBox="1"/>
          <p:nvPr/>
        </p:nvSpPr>
        <p:spPr>
          <a:xfrm>
            <a:off x="1463040" y="2249424"/>
            <a:ext cx="4069080" cy="256032"/>
          </a:xfrm>
          <a:prstGeom prst="rect">
            <a:avLst/>
          </a:prstGeom>
          <a:noFill/>
          <a:ln/>
        </p:spPr>
        <p:txBody>
          <a:bodyPr wrap="square" lIns="0" tIns="0" rIns="0" bIns="0" rtlCol="0" anchor="ctr"/>
          <a:lstStyle/>
          <a:p>
            <a:pPr marL="0" indent="0">
              <a:buNone/>
            </a:pPr>
            <a:r>
              <a:rPr lang="en-US" sz="1100" dirty="0">
                <a:solidFill>
                  <a:schemeClr val="accent3"/>
                </a:solidFill>
              </a:rPr>
              <a:t>FC Melbourne → London page, 25 Oct 2026</a:t>
            </a:r>
            <a:endParaRPr lang="en-US" sz="1100" dirty="0"/>
          </a:p>
        </p:txBody>
      </p:sp>
      <p:sp>
        <p:nvSpPr>
          <p:cNvPr id="17" name="Text 15"/>
          <p:cNvSpPr txBox="1"/>
          <p:nvPr/>
        </p:nvSpPr>
        <p:spPr>
          <a:xfrm>
            <a:off x="1051560" y="2596896"/>
            <a:ext cx="2103120" cy="457200"/>
          </a:xfrm>
          <a:prstGeom prst="rect">
            <a:avLst/>
          </a:prstGeom>
          <a:noFill/>
          <a:ln/>
        </p:spPr>
        <p:txBody>
          <a:bodyPr wrap="square" lIns="0" tIns="0" rIns="0" bIns="0" rtlCol="0" anchor="ctr"/>
          <a:lstStyle/>
          <a:p>
            <a:pPr marL="0" indent="0">
              <a:buNone/>
            </a:pPr>
            <a:r>
              <a:rPr lang="en-US" sz="1300" dirty="0">
                <a:solidFill>
                  <a:schemeClr val="accent3"/>
                </a:solidFill>
              </a:rPr>
              <a:t>Page heading</a:t>
            </a:r>
            <a:endParaRPr lang="en-US" sz="1300" dirty="0"/>
          </a:p>
        </p:txBody>
      </p:sp>
      <p:sp>
        <p:nvSpPr>
          <p:cNvPr id="18" name="Text 16"/>
          <p:cNvSpPr txBox="1"/>
          <p:nvPr/>
        </p:nvSpPr>
        <p:spPr>
          <a:xfrm>
            <a:off x="3154680" y="2596896"/>
            <a:ext cx="1463040" cy="457200"/>
          </a:xfrm>
          <a:prstGeom prst="rect">
            <a:avLst/>
          </a:prstGeom>
          <a:noFill/>
          <a:ln/>
        </p:spPr>
        <p:txBody>
          <a:bodyPr wrap="square" lIns="0" tIns="0" rIns="0" bIns="0" rtlCol="0" anchor="ctr"/>
          <a:lstStyle/>
          <a:p>
            <a:pPr marL="0" indent="0">
              <a:buNone/>
            </a:pPr>
            <a:r>
              <a:rPr lang="en-US" sz="2400" b="1" dirty="0">
                <a:solidFill>
                  <a:schemeClr val="tx2"/>
                </a:solidFill>
              </a:rPr>
              <a:t>$1,342</a:t>
            </a:r>
            <a:endParaRPr lang="en-US" sz="2400" dirty="0"/>
          </a:p>
        </p:txBody>
      </p:sp>
      <p:sp>
        <p:nvSpPr>
          <p:cNvPr id="19" name="Text 17"/>
          <p:cNvSpPr txBox="1"/>
          <p:nvPr/>
        </p:nvSpPr>
        <p:spPr>
          <a:xfrm>
            <a:off x="1051560" y="3108960"/>
            <a:ext cx="2103120" cy="457200"/>
          </a:xfrm>
          <a:prstGeom prst="rect">
            <a:avLst/>
          </a:prstGeom>
          <a:noFill/>
          <a:ln/>
        </p:spPr>
        <p:txBody>
          <a:bodyPr wrap="square" lIns="0" tIns="0" rIns="0" bIns="0" rtlCol="0" anchor="ctr"/>
          <a:lstStyle/>
          <a:p>
            <a:pPr marL="0" indent="0">
              <a:buNone/>
            </a:pPr>
            <a:r>
              <a:rPr lang="en-US" sz="1300" dirty="0">
                <a:solidFill>
                  <a:schemeClr val="accent3"/>
                </a:solidFill>
              </a:rPr>
              <a:t>Data for machines</a:t>
            </a:r>
            <a:endParaRPr lang="en-US" sz="1300" dirty="0"/>
          </a:p>
        </p:txBody>
      </p:sp>
      <p:sp>
        <p:nvSpPr>
          <p:cNvPr id="20" name="Text 18"/>
          <p:cNvSpPr txBox="1"/>
          <p:nvPr/>
        </p:nvSpPr>
        <p:spPr>
          <a:xfrm>
            <a:off x="3154680" y="3108960"/>
            <a:ext cx="1463040" cy="457200"/>
          </a:xfrm>
          <a:prstGeom prst="rect">
            <a:avLst/>
          </a:prstGeom>
          <a:noFill/>
          <a:ln/>
        </p:spPr>
        <p:txBody>
          <a:bodyPr wrap="square" lIns="0" tIns="0" rIns="0" bIns="0" rtlCol="0" anchor="ctr"/>
          <a:lstStyle/>
          <a:p>
            <a:pPr marL="0" indent="0">
              <a:buNone/>
            </a:pPr>
            <a:r>
              <a:rPr lang="en-US" sz="2400" b="1" dirty="0">
                <a:solidFill>
                  <a:schemeClr val="tx2"/>
                </a:solidFill>
              </a:rPr>
              <a:t>$1,342</a:t>
            </a:r>
            <a:endParaRPr lang="en-US" sz="2400" dirty="0"/>
          </a:p>
        </p:txBody>
      </p:sp>
      <p:sp>
        <p:nvSpPr>
          <p:cNvPr id="21" name="Shape 19"/>
          <p:cNvSpPr/>
          <p:nvPr/>
        </p:nvSpPr>
        <p:spPr>
          <a:xfrm>
            <a:off x="932688" y="3657600"/>
            <a:ext cx="4672584" cy="658368"/>
          </a:xfrm>
          <a:prstGeom prst="roundRect">
            <a:avLst>
              <a:gd name="adj" fmla="val 8333"/>
            </a:avLst>
          </a:prstGeom>
          <a:solidFill>
            <a:srgbClr val="FDECEC"/>
          </a:solidFill>
          <a:ln w="19050">
            <a:solidFill>
              <a:srgbClr val="E31B23"/>
            </a:solidFill>
            <a:prstDash val="solid"/>
          </a:ln>
        </p:spPr>
        <p:txBody>
          <a:bodyPr/>
          <a:lstStyle/>
          <a:p>
            <a:endParaRPr lang="LID4096"/>
          </a:p>
        </p:txBody>
      </p:sp>
      <p:sp>
        <p:nvSpPr>
          <p:cNvPr id="22" name="Text 20"/>
          <p:cNvSpPr txBox="1"/>
          <p:nvPr/>
        </p:nvSpPr>
        <p:spPr>
          <a:xfrm>
            <a:off x="1051560" y="3758184"/>
            <a:ext cx="2103120" cy="457200"/>
          </a:xfrm>
          <a:prstGeom prst="rect">
            <a:avLst/>
          </a:prstGeom>
          <a:noFill/>
          <a:ln/>
        </p:spPr>
        <p:txBody>
          <a:bodyPr wrap="square" lIns="0" tIns="0" rIns="0" bIns="0" rtlCol="0" anchor="ctr"/>
          <a:lstStyle/>
          <a:p>
            <a:pPr marL="0" indent="0">
              <a:buNone/>
            </a:pPr>
            <a:r>
              <a:rPr lang="en-US" sz="1300" dirty="0">
                <a:solidFill>
                  <a:schemeClr val="accent3"/>
                </a:solidFill>
              </a:rPr>
              <a:t>Cheapest deal card</a:t>
            </a:r>
            <a:endParaRPr lang="en-US" sz="1300" dirty="0"/>
          </a:p>
        </p:txBody>
      </p:sp>
      <p:sp>
        <p:nvSpPr>
          <p:cNvPr id="23" name="Text 21"/>
          <p:cNvSpPr txBox="1"/>
          <p:nvPr/>
        </p:nvSpPr>
        <p:spPr>
          <a:xfrm>
            <a:off x="3154680" y="3758184"/>
            <a:ext cx="1463040" cy="457200"/>
          </a:xfrm>
          <a:prstGeom prst="rect">
            <a:avLst/>
          </a:prstGeom>
          <a:noFill/>
          <a:ln/>
        </p:spPr>
        <p:txBody>
          <a:bodyPr wrap="square" lIns="0" tIns="0" rIns="0" bIns="0" rtlCol="0" anchor="ctr"/>
          <a:lstStyle/>
          <a:p>
            <a:pPr marL="0" indent="0">
              <a:buNone/>
            </a:pPr>
            <a:r>
              <a:rPr lang="en-US" sz="2400" b="1" dirty="0">
                <a:solidFill>
                  <a:schemeClr val="accent1"/>
                </a:solidFill>
              </a:rPr>
              <a:t>$1,605</a:t>
            </a:r>
            <a:endParaRPr lang="en-US" sz="2400" dirty="0"/>
          </a:p>
        </p:txBody>
      </p:sp>
      <p:sp>
        <p:nvSpPr>
          <p:cNvPr id="24" name="Text 22"/>
          <p:cNvSpPr txBox="1"/>
          <p:nvPr/>
        </p:nvSpPr>
        <p:spPr>
          <a:xfrm>
            <a:off x="4526280" y="3758184"/>
            <a:ext cx="1051560" cy="457200"/>
          </a:xfrm>
          <a:prstGeom prst="rect">
            <a:avLst/>
          </a:prstGeom>
          <a:noFill/>
          <a:ln/>
        </p:spPr>
        <p:txBody>
          <a:bodyPr wrap="square" lIns="0" tIns="0" rIns="0" bIns="0" rtlCol="0" anchor="ctr"/>
          <a:lstStyle/>
          <a:p>
            <a:pPr marL="0" indent="0">
              <a:buNone/>
            </a:pPr>
            <a:r>
              <a:rPr lang="en-US" sz="1000" dirty="0">
                <a:solidFill>
                  <a:schemeClr val="accent3"/>
                </a:solidFill>
              </a:rPr>
              <a:t>Economy return, Feb–Mar 2027</a:t>
            </a:r>
            <a:endParaRPr lang="en-US" sz="1000" dirty="0"/>
          </a:p>
        </p:txBody>
      </p:sp>
      <p:sp>
        <p:nvSpPr>
          <p:cNvPr id="25" name="Text 23"/>
          <p:cNvSpPr txBox="1"/>
          <p:nvPr/>
        </p:nvSpPr>
        <p:spPr>
          <a:xfrm>
            <a:off x="1623060" y="4663440"/>
            <a:ext cx="3291840" cy="384048"/>
          </a:xfrm>
          <a:prstGeom prst="roundRect">
            <a:avLst>
              <a:gd name="adj" fmla="val 35714"/>
            </a:avLst>
          </a:prstGeom>
          <a:solidFill>
            <a:schemeClr val="accent1"/>
          </a:solidFill>
          <a:ln w="12700">
            <a:solidFill>
              <a:schemeClr val="accent1"/>
            </a:solidFill>
          </a:ln>
        </p:spPr>
        <p:txBody>
          <a:bodyPr wrap="square" lIns="0" tIns="0" rIns="0" bIns="0" rtlCol="0" anchor="ctr"/>
          <a:lstStyle/>
          <a:p>
            <a:pPr marL="0" indent="0" algn="ctr">
              <a:buNone/>
            </a:pPr>
            <a:r>
              <a:rPr lang="en-US" sz="1400" b="1" dirty="0">
                <a:solidFill>
                  <a:schemeClr val="bg1"/>
                </a:solidFill>
              </a:rPr>
              <a:t>Which price should an AI quote?</a:t>
            </a:r>
            <a:endParaRPr lang="en-US" sz="1400" dirty="0"/>
          </a:p>
        </p:txBody>
      </p:sp>
      <p:sp>
        <p:nvSpPr>
          <p:cNvPr id="26" name="Text 24"/>
          <p:cNvSpPr txBox="1"/>
          <p:nvPr/>
        </p:nvSpPr>
        <p:spPr>
          <a:xfrm>
            <a:off x="822960" y="5074920"/>
            <a:ext cx="4892040" cy="256032"/>
          </a:xfrm>
          <a:prstGeom prst="rect">
            <a:avLst/>
          </a:prstGeom>
          <a:noFill/>
          <a:ln/>
        </p:spPr>
        <p:txBody>
          <a:bodyPr wrap="square" lIns="0" tIns="0" rIns="0" bIns="0" rtlCol="0" anchor="t"/>
          <a:lstStyle/>
          <a:p>
            <a:pPr marL="0" indent="0" algn="ctr">
              <a:buNone/>
            </a:pPr>
            <a:r>
              <a:rPr lang="en-US" sz="1200" dirty="0">
                <a:solidFill>
                  <a:schemeClr val="accent3"/>
                </a:solidFill>
              </a:rPr>
              <a:t>Both can be valid, but the page doesn’t say what each price covers.</a:t>
            </a:r>
            <a:endParaRPr lang="en-US" sz="1200" dirty="0"/>
          </a:p>
        </p:txBody>
      </p:sp>
      <p:sp>
        <p:nvSpPr>
          <p:cNvPr id="27" name="Shape 25"/>
          <p:cNvSpPr/>
          <p:nvPr/>
        </p:nvSpPr>
        <p:spPr>
          <a:xfrm>
            <a:off x="6355080" y="1536192"/>
            <a:ext cx="5287975" cy="3813048"/>
          </a:xfrm>
          <a:prstGeom prst="roundRect">
            <a:avLst>
              <a:gd name="adj" fmla="val 2398"/>
            </a:avLst>
          </a:prstGeom>
          <a:solidFill>
            <a:schemeClr val="bg2"/>
          </a:solidFill>
          <a:ln/>
        </p:spPr>
        <p:txBody>
          <a:bodyPr/>
          <a:lstStyle/>
          <a:p>
            <a:endParaRPr lang="LID4096"/>
          </a:p>
        </p:txBody>
      </p:sp>
      <p:sp>
        <p:nvSpPr>
          <p:cNvPr id="28" name="Text 26"/>
          <p:cNvSpPr txBox="1"/>
          <p:nvPr/>
        </p:nvSpPr>
        <p:spPr>
          <a:xfrm>
            <a:off x="6629400" y="1700784"/>
            <a:ext cx="365760" cy="365760"/>
          </a:xfrm>
          <a:prstGeom prst="ellipse">
            <a:avLst/>
          </a:prstGeom>
          <a:solidFill>
            <a:schemeClr val="accent1"/>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9" name="Text 27"/>
          <p:cNvSpPr txBox="1"/>
          <p:nvPr/>
        </p:nvSpPr>
        <p:spPr>
          <a:xfrm>
            <a:off x="7132320" y="1700784"/>
            <a:ext cx="4282135" cy="365760"/>
          </a:xfrm>
          <a:prstGeom prst="rect">
            <a:avLst/>
          </a:prstGeom>
          <a:noFill/>
          <a:ln/>
        </p:spPr>
        <p:txBody>
          <a:bodyPr wrap="square" lIns="0" tIns="0" rIns="0" bIns="0" rtlCol="0" anchor="ctr"/>
          <a:lstStyle/>
          <a:p>
            <a:pPr marL="0" indent="0">
              <a:buNone/>
            </a:pPr>
            <a:r>
              <a:rPr lang="en-US" sz="1500" b="1" kern="0" spc="100" dirty="0">
                <a:solidFill>
                  <a:schemeClr val="tx2"/>
                </a:solidFill>
              </a:rPr>
              <a:t>OUTSIDE PROOF</a:t>
            </a:r>
            <a:endParaRPr lang="en-US" sz="1500" dirty="0"/>
          </a:p>
        </p:txBody>
      </p:sp>
      <p:sp>
        <p:nvSpPr>
          <p:cNvPr id="30" name="Text 28"/>
          <p:cNvSpPr txBox="1"/>
          <p:nvPr/>
        </p:nvSpPr>
        <p:spPr>
          <a:xfrm>
            <a:off x="6629400" y="2176272"/>
            <a:ext cx="4739335" cy="365760"/>
          </a:xfrm>
          <a:prstGeom prst="rect">
            <a:avLst/>
          </a:prstGeom>
          <a:noFill/>
          <a:ln/>
        </p:spPr>
        <p:txBody>
          <a:bodyPr wrap="square" lIns="0" tIns="0" rIns="0" bIns="0" rtlCol="0" anchor="t"/>
          <a:lstStyle/>
          <a:p>
            <a:pPr marL="0" indent="0">
              <a:buNone/>
            </a:pPr>
            <a:r>
              <a:rPr lang="en-US" sz="1600" dirty="0">
                <a:solidFill>
                  <a:schemeClr val="tx2"/>
                </a:solidFill>
              </a:rPr>
              <a:t>AI answers lean on what others say about a brand</a:t>
            </a:r>
            <a:endParaRPr lang="en-US" sz="1600" dirty="0"/>
          </a:p>
        </p:txBody>
      </p:sp>
      <p:sp>
        <p:nvSpPr>
          <p:cNvPr id="31" name="Shape 29"/>
          <p:cNvSpPr/>
          <p:nvPr/>
        </p:nvSpPr>
        <p:spPr>
          <a:xfrm>
            <a:off x="7126681" y="2670048"/>
            <a:ext cx="585216" cy="585216"/>
          </a:xfrm>
          <a:prstGeom prst="ellipse">
            <a:avLst/>
          </a:prstGeom>
          <a:solidFill>
            <a:schemeClr val="tx2"/>
          </a:solidFill>
          <a:ln/>
        </p:spPr>
        <p:txBody>
          <a:bodyPr/>
          <a:lstStyle/>
          <a:p>
            <a:endParaRPr lang="LID4096"/>
          </a:p>
        </p:txBody>
      </p:sp>
      <p:pic>
        <p:nvPicPr>
          <p:cNvPr id="32" name="Image 0" descr="preencoded.png"/>
          <p:cNvPicPr>
            <a:picLocks noChangeAspect="1"/>
          </p:cNvPicPr>
          <p:nvPr/>
        </p:nvPicPr>
        <p:blipFill>
          <a:blip r:embed="rId3"/>
          <a:stretch>
            <a:fillRect/>
          </a:stretch>
        </p:blipFill>
        <p:spPr>
          <a:xfrm>
            <a:off x="7272985" y="2816352"/>
            <a:ext cx="292608" cy="292608"/>
          </a:xfrm>
          <a:prstGeom prst="rect">
            <a:avLst/>
          </a:prstGeom>
        </p:spPr>
      </p:pic>
      <p:sp>
        <p:nvSpPr>
          <p:cNvPr id="33" name="Text 30"/>
          <p:cNvSpPr txBox="1"/>
          <p:nvPr/>
        </p:nvSpPr>
        <p:spPr>
          <a:xfrm>
            <a:off x="6596329" y="3310128"/>
            <a:ext cx="1645920" cy="274320"/>
          </a:xfrm>
          <a:prstGeom prst="rect">
            <a:avLst/>
          </a:prstGeom>
          <a:noFill/>
          <a:ln/>
        </p:spPr>
        <p:txBody>
          <a:bodyPr wrap="square" lIns="0" tIns="0" rIns="0" bIns="0" rtlCol="0" anchor="t"/>
          <a:lstStyle/>
          <a:p>
            <a:pPr marL="0" indent="0" algn="ctr">
              <a:buNone/>
            </a:pPr>
            <a:r>
              <a:rPr lang="en-US" sz="1300" b="1" dirty="0">
                <a:solidFill>
                  <a:schemeClr val="tx2"/>
                </a:solidFill>
              </a:rPr>
              <a:t>Reviews</a:t>
            </a:r>
            <a:endParaRPr lang="en-US" sz="1300" dirty="0"/>
          </a:p>
        </p:txBody>
      </p:sp>
      <p:sp>
        <p:nvSpPr>
          <p:cNvPr id="34" name="Shape 31"/>
          <p:cNvSpPr/>
          <p:nvPr/>
        </p:nvSpPr>
        <p:spPr>
          <a:xfrm>
            <a:off x="8706460" y="2670048"/>
            <a:ext cx="585216" cy="585216"/>
          </a:xfrm>
          <a:prstGeom prst="ellipse">
            <a:avLst/>
          </a:prstGeom>
          <a:solidFill>
            <a:schemeClr val="tx2"/>
          </a:solidFill>
          <a:ln/>
        </p:spPr>
        <p:txBody>
          <a:bodyPr/>
          <a:lstStyle/>
          <a:p>
            <a:endParaRPr lang="LID4096"/>
          </a:p>
        </p:txBody>
      </p:sp>
      <p:pic>
        <p:nvPicPr>
          <p:cNvPr id="35" name="Image 1" descr="preencoded.png"/>
          <p:cNvPicPr>
            <a:picLocks noChangeAspect="1"/>
          </p:cNvPicPr>
          <p:nvPr/>
        </p:nvPicPr>
        <p:blipFill>
          <a:blip r:embed="rId4"/>
          <a:stretch>
            <a:fillRect/>
          </a:stretch>
        </p:blipFill>
        <p:spPr>
          <a:xfrm>
            <a:off x="8852764" y="2816352"/>
            <a:ext cx="292608" cy="292608"/>
          </a:xfrm>
          <a:prstGeom prst="rect">
            <a:avLst/>
          </a:prstGeom>
        </p:spPr>
      </p:pic>
      <p:sp>
        <p:nvSpPr>
          <p:cNvPr id="36" name="Text 32"/>
          <p:cNvSpPr txBox="1"/>
          <p:nvPr/>
        </p:nvSpPr>
        <p:spPr>
          <a:xfrm>
            <a:off x="8176108" y="3310128"/>
            <a:ext cx="1645920" cy="274320"/>
          </a:xfrm>
          <a:prstGeom prst="rect">
            <a:avLst/>
          </a:prstGeom>
          <a:noFill/>
          <a:ln/>
        </p:spPr>
        <p:txBody>
          <a:bodyPr wrap="square" lIns="0" tIns="0" rIns="0" bIns="0" rtlCol="0" anchor="t"/>
          <a:lstStyle/>
          <a:p>
            <a:pPr marL="0" indent="0" algn="ctr">
              <a:buNone/>
            </a:pPr>
            <a:r>
              <a:rPr lang="en-US" sz="1300" b="1" dirty="0">
                <a:solidFill>
                  <a:schemeClr val="tx2"/>
                </a:solidFill>
              </a:rPr>
              <a:t>Forums</a:t>
            </a:r>
            <a:endParaRPr lang="en-US" sz="1300" dirty="0"/>
          </a:p>
        </p:txBody>
      </p:sp>
      <p:sp>
        <p:nvSpPr>
          <p:cNvPr id="37" name="Shape 33"/>
          <p:cNvSpPr/>
          <p:nvPr/>
        </p:nvSpPr>
        <p:spPr>
          <a:xfrm>
            <a:off x="10286238" y="2670048"/>
            <a:ext cx="585216" cy="585216"/>
          </a:xfrm>
          <a:prstGeom prst="ellipse">
            <a:avLst/>
          </a:prstGeom>
          <a:solidFill>
            <a:schemeClr val="tx2"/>
          </a:solidFill>
          <a:ln/>
        </p:spPr>
        <p:txBody>
          <a:bodyPr/>
          <a:lstStyle/>
          <a:p>
            <a:endParaRPr lang="LID4096"/>
          </a:p>
        </p:txBody>
      </p:sp>
      <p:pic>
        <p:nvPicPr>
          <p:cNvPr id="38" name="Image 2" descr="preencoded.png"/>
          <p:cNvPicPr>
            <a:picLocks noChangeAspect="1"/>
          </p:cNvPicPr>
          <p:nvPr/>
        </p:nvPicPr>
        <p:blipFill>
          <a:blip r:embed="rId5"/>
          <a:stretch>
            <a:fillRect/>
          </a:stretch>
        </p:blipFill>
        <p:spPr>
          <a:xfrm>
            <a:off x="10432542" y="2816352"/>
            <a:ext cx="292608" cy="292608"/>
          </a:xfrm>
          <a:prstGeom prst="rect">
            <a:avLst/>
          </a:prstGeom>
        </p:spPr>
      </p:pic>
      <p:sp>
        <p:nvSpPr>
          <p:cNvPr id="39" name="Text 34"/>
          <p:cNvSpPr txBox="1"/>
          <p:nvPr/>
        </p:nvSpPr>
        <p:spPr>
          <a:xfrm>
            <a:off x="9755886" y="3310128"/>
            <a:ext cx="1645920" cy="274320"/>
          </a:xfrm>
          <a:prstGeom prst="rect">
            <a:avLst/>
          </a:prstGeom>
          <a:noFill/>
          <a:ln/>
        </p:spPr>
        <p:txBody>
          <a:bodyPr wrap="square" lIns="0" tIns="0" rIns="0" bIns="0" rtlCol="0" anchor="t"/>
          <a:lstStyle/>
          <a:p>
            <a:pPr marL="0" indent="0" algn="ctr">
              <a:buNone/>
            </a:pPr>
            <a:r>
              <a:rPr lang="en-US" sz="1300" b="1" dirty="0">
                <a:solidFill>
                  <a:schemeClr val="tx2"/>
                </a:solidFill>
              </a:rPr>
              <a:t>Wikipedia</a:t>
            </a:r>
            <a:endParaRPr lang="en-US" sz="1300" dirty="0"/>
          </a:p>
        </p:txBody>
      </p:sp>
      <p:sp>
        <p:nvSpPr>
          <p:cNvPr id="40" name="Shape 35"/>
          <p:cNvSpPr/>
          <p:nvPr/>
        </p:nvSpPr>
        <p:spPr>
          <a:xfrm>
            <a:off x="6629400" y="3730752"/>
            <a:ext cx="4739335" cy="987552"/>
          </a:xfrm>
          <a:prstGeom prst="roundRect">
            <a:avLst>
              <a:gd name="adj" fmla="val 5556"/>
            </a:avLst>
          </a:prstGeom>
          <a:solidFill>
            <a:schemeClr val="bg1"/>
          </a:solidFill>
          <a:ln w="12700">
            <a:solidFill>
              <a:srgbClr val="D5DEEA"/>
            </a:solidFill>
            <a:prstDash val="solid"/>
          </a:ln>
        </p:spPr>
        <p:txBody>
          <a:bodyPr/>
          <a:lstStyle/>
          <a:p>
            <a:endParaRPr lang="LID4096"/>
          </a:p>
        </p:txBody>
      </p:sp>
      <p:sp>
        <p:nvSpPr>
          <p:cNvPr id="41" name="Text 36"/>
          <p:cNvSpPr txBox="1"/>
          <p:nvPr/>
        </p:nvSpPr>
        <p:spPr>
          <a:xfrm>
            <a:off x="6812280" y="3730752"/>
            <a:ext cx="1828800" cy="987552"/>
          </a:xfrm>
          <a:prstGeom prst="rect">
            <a:avLst/>
          </a:prstGeom>
          <a:noFill/>
          <a:ln/>
        </p:spPr>
        <p:txBody>
          <a:bodyPr wrap="square" lIns="0" tIns="0" rIns="0" bIns="0" rtlCol="0" anchor="ctr"/>
          <a:lstStyle/>
          <a:p>
            <a:pPr marL="0" indent="0">
              <a:buNone/>
            </a:pPr>
            <a:r>
              <a:rPr lang="en-US" sz="3200" b="1" dirty="0">
                <a:solidFill>
                  <a:schemeClr val="accent1"/>
                </a:solidFill>
              </a:rPr>
              <a:t>27,355</a:t>
            </a:r>
            <a:endParaRPr lang="en-US" sz="3200" dirty="0"/>
          </a:p>
        </p:txBody>
      </p:sp>
      <p:sp>
        <p:nvSpPr>
          <p:cNvPr id="42" name="Text 37"/>
          <p:cNvSpPr txBox="1"/>
          <p:nvPr/>
        </p:nvSpPr>
        <p:spPr>
          <a:xfrm>
            <a:off x="8595360" y="3730752"/>
            <a:ext cx="2590495" cy="987552"/>
          </a:xfrm>
          <a:prstGeom prst="rect">
            <a:avLst/>
          </a:prstGeom>
          <a:noFill/>
          <a:ln/>
        </p:spPr>
        <p:txBody>
          <a:bodyPr wrap="square" lIns="0" tIns="0" rIns="0" bIns="0" rtlCol="0" anchor="ctr"/>
          <a:lstStyle/>
          <a:p>
            <a:pPr marL="0" indent="0">
              <a:buNone/>
            </a:pPr>
            <a:r>
              <a:rPr lang="en-US" sz="1300" dirty="0">
                <a:solidFill>
                  <a:schemeClr val="tx2"/>
                </a:solidFill>
              </a:rPr>
              <a:t>Trustpilot reviews naming FC consultants: an asset FC already has</a:t>
            </a:r>
            <a:endParaRPr lang="en-US" sz="1300" dirty="0"/>
          </a:p>
        </p:txBody>
      </p:sp>
      <p:sp>
        <p:nvSpPr>
          <p:cNvPr id="43" name="Text 38"/>
          <p:cNvSpPr txBox="1"/>
          <p:nvPr/>
        </p:nvSpPr>
        <p:spPr>
          <a:xfrm>
            <a:off x="6629400" y="4818888"/>
            <a:ext cx="4739335" cy="457200"/>
          </a:xfrm>
          <a:prstGeom prst="rect">
            <a:avLst/>
          </a:prstGeom>
          <a:noFill/>
          <a:ln/>
        </p:spPr>
        <p:txBody>
          <a:bodyPr wrap="square" lIns="0" tIns="0" rIns="0" bIns="0" rtlCol="0" anchor="t"/>
          <a:lstStyle/>
          <a:p>
            <a:pPr marL="0" indent="0">
              <a:buNone/>
            </a:pPr>
            <a:r>
              <a:rPr lang="en-US" sz="1200" dirty="0">
                <a:solidFill>
                  <a:schemeClr val="accent3"/>
                </a:solidFill>
              </a:rPr>
              <a:t>May 2026: ChatGPT’s answer on travel agencies drew on forums and review sites, and didn’t name FC.</a:t>
            </a:r>
            <a:endParaRPr lang="en-US" sz="1200" dirty="0"/>
          </a:p>
        </p:txBody>
      </p:sp>
      <p:sp>
        <p:nvSpPr>
          <p:cNvPr id="44" name="Shape 39"/>
          <p:cNvSpPr/>
          <p:nvPr/>
        </p:nvSpPr>
        <p:spPr>
          <a:xfrm>
            <a:off x="548640" y="5532120"/>
            <a:ext cx="11094415" cy="658368"/>
          </a:xfrm>
          <a:prstGeom prst="roundRect">
            <a:avLst>
              <a:gd name="adj" fmla="val 13889"/>
            </a:avLst>
          </a:prstGeom>
          <a:solidFill>
            <a:schemeClr val="tx2"/>
          </a:solidFill>
          <a:ln/>
        </p:spPr>
        <p:txBody>
          <a:bodyPr/>
          <a:lstStyle/>
          <a:p>
            <a:endParaRPr lang="LID4096"/>
          </a:p>
        </p:txBody>
      </p:sp>
      <p:sp>
        <p:nvSpPr>
          <p:cNvPr id="45" name="Shape 40"/>
          <p:cNvSpPr/>
          <p:nvPr/>
        </p:nvSpPr>
        <p:spPr>
          <a:xfrm>
            <a:off x="713232" y="5605272"/>
            <a:ext cx="512064" cy="512064"/>
          </a:xfrm>
          <a:prstGeom prst="ellipse">
            <a:avLst/>
          </a:prstGeom>
          <a:solidFill>
            <a:schemeClr val="accent1"/>
          </a:solidFill>
          <a:ln/>
        </p:spPr>
        <p:txBody>
          <a:bodyPr/>
          <a:lstStyle/>
          <a:p>
            <a:endParaRPr lang="LID4096"/>
          </a:p>
        </p:txBody>
      </p:sp>
      <p:pic>
        <p:nvPicPr>
          <p:cNvPr id="46" name="Image 3" descr="preencoded.png"/>
          <p:cNvPicPr>
            <a:picLocks noChangeAspect="1"/>
          </p:cNvPicPr>
          <p:nvPr/>
        </p:nvPicPr>
        <p:blipFill>
          <a:blip r:embed="rId6"/>
          <a:stretch>
            <a:fillRect/>
          </a:stretch>
        </p:blipFill>
        <p:spPr>
          <a:xfrm>
            <a:off x="841248" y="5733288"/>
            <a:ext cx="256032" cy="256032"/>
          </a:xfrm>
          <a:prstGeom prst="rect">
            <a:avLst/>
          </a:prstGeom>
        </p:spPr>
      </p:pic>
      <p:sp>
        <p:nvSpPr>
          <p:cNvPr id="47" name="Text 41"/>
          <p:cNvSpPr txBox="1"/>
          <p:nvPr/>
        </p:nvSpPr>
        <p:spPr>
          <a:xfrm>
            <a:off x="1417320" y="5532120"/>
            <a:ext cx="10058400" cy="658368"/>
          </a:xfrm>
          <a:prstGeom prst="rect">
            <a:avLst/>
          </a:prstGeom>
          <a:noFill/>
          <a:ln/>
        </p:spPr>
        <p:txBody>
          <a:bodyPr wrap="square" lIns="0" tIns="0" rIns="0" bIns="0" rtlCol="0" anchor="ctr"/>
          <a:lstStyle/>
          <a:p>
            <a:pPr marL="0" indent="0">
              <a:buNone/>
            </a:pPr>
            <a:r>
              <a:rPr lang="en-US" sz="1300" b="1" kern="0" spc="200" dirty="0">
                <a:solidFill>
                  <a:srgbClr val="F28B8F"/>
                </a:solidFill>
              </a:rPr>
              <a:t>FC ACTION   </a:t>
            </a:r>
            <a:r>
              <a:rPr lang="en-US" sz="1700" b="1" dirty="0">
                <a:solidFill>
                  <a:schemeClr val="bg1"/>
                </a:solidFill>
              </a:rPr>
              <a:t>One approved record behind every price; keep reviews, Wikipedia and listings accurate</a:t>
            </a:r>
            <a:endParaRPr lang="en-US" sz="1400" dirty="0"/>
          </a:p>
        </p:txBody>
      </p:sp>
      <p:sp>
        <p:nvSpPr>
          <p:cNvPr id="48"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0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6400800" cy="274320"/>
          </a:xfrm>
          <a:prstGeom prst="rect">
            <a:avLst/>
          </a:prstGeom>
          <a:noFill/>
          <a:ln/>
        </p:spPr>
        <p:txBody>
          <a:bodyPr wrap="square" lIns="0" tIns="0" rIns="0" bIns="0" rtlCol="0" anchor="ctr"/>
          <a:lstStyle/>
          <a:p>
            <a:pPr marL="0" indent="0">
              <a:buNone/>
            </a:pPr>
            <a:r>
              <a:rPr lang="en-US" sz="1100" b="1" kern="0" spc="200" dirty="0">
                <a:solidFill>
                  <a:schemeClr val="accent1"/>
                </a:solidFill>
              </a:rPr>
              <a:t>WHY  ·  WHAT AI NEEDS FROM FC</a:t>
            </a:r>
            <a:endParaRPr lang="en-US" sz="1100" dirty="0"/>
          </a:p>
        </p:txBody>
      </p:sp>
      <p:sp>
        <p:nvSpPr>
          <p:cNvPr id="3" name="Text 0"/>
          <p:cNvSpPr>
            <a:spLocks noGrp="1"/>
          </p:cNvSpPr>
          <p:nvPr>
            <p:ph type="title" idx="101" hasCustomPrompt="1"/>
          </p:nvPr>
        </p:nvSpPr>
        <p:spPr>
          <a:xfrm>
            <a:off x="548640" y="621792"/>
            <a:ext cx="11094415" cy="658368"/>
          </a:xfrm>
          <a:prstGeom prst="rect">
            <a:avLst/>
          </a:prstGeom>
          <a:noFill/>
          <a:ln/>
        </p:spPr>
        <p:txBody>
          <a:bodyPr wrap="square" lIns="0" tIns="0" rIns="0" bIns="0" rtlCol="0" anchor="t"/>
          <a:lstStyle/>
          <a:p>
            <a:pPr marL="0" indent="0" algn="l">
              <a:buNone/>
            </a:pPr>
            <a:r>
              <a:rPr lang="en-US" sz="3200" b="1" dirty="0">
                <a:solidFill>
                  <a:schemeClr val="tx2"/>
                </a:solidFill>
              </a:rPr>
              <a:t>Travel brands are already inside ChatGPT</a:t>
            </a:r>
            <a:endParaRPr lang="en-US" sz="3200" dirty="0"/>
          </a:p>
        </p:txBody>
      </p:sp>
      <p:sp>
        <p:nvSpPr>
          <p:cNvPr id="4" name="Text 2"/>
          <p:cNvSpPr txBox="1"/>
          <p:nvPr/>
        </p:nvSpPr>
        <p:spPr>
          <a:xfrm>
            <a:off x="6869887"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1  READ</a:t>
            </a:r>
            <a:endParaRPr lang="en-US" sz="1000" dirty="0"/>
          </a:p>
        </p:txBody>
      </p:sp>
      <p:sp>
        <p:nvSpPr>
          <p:cNvPr id="5" name="Text 3"/>
          <p:cNvSpPr txBox="1"/>
          <p:nvPr/>
        </p:nvSpPr>
        <p:spPr>
          <a:xfrm>
            <a:off x="7839151"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2  FIND</a:t>
            </a:r>
            <a:endParaRPr lang="en-US" sz="1000" dirty="0"/>
          </a:p>
        </p:txBody>
      </p:sp>
      <p:sp>
        <p:nvSpPr>
          <p:cNvPr id="6" name="Text 4"/>
          <p:cNvSpPr txBox="1"/>
          <p:nvPr/>
        </p:nvSpPr>
        <p:spPr>
          <a:xfrm>
            <a:off x="8808415"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3  ANSWER</a:t>
            </a:r>
            <a:endParaRPr lang="en-US" sz="1000" dirty="0"/>
          </a:p>
        </p:txBody>
      </p:sp>
      <p:sp>
        <p:nvSpPr>
          <p:cNvPr id="7" name="Text 5"/>
          <p:cNvSpPr txBox="1"/>
          <p:nvPr/>
        </p:nvSpPr>
        <p:spPr>
          <a:xfrm>
            <a:off x="9777679" y="246888"/>
            <a:ext cx="896112" cy="310896"/>
          </a:xfrm>
          <a:prstGeom prst="roundRect">
            <a:avLst>
              <a:gd name="adj" fmla="val 50000"/>
            </a:avLst>
          </a:prstGeom>
          <a:solidFill>
            <a:schemeClr val="bg1"/>
          </a:solidFill>
          <a:ln w="12700">
            <a:solidFill>
              <a:srgbClr val="D5DEEA"/>
            </a:solidFill>
          </a:ln>
        </p:spPr>
        <p:txBody>
          <a:bodyPr wrap="square" lIns="0" tIns="0" rIns="0" bIns="0" rtlCol="0" anchor="ctr"/>
          <a:lstStyle/>
          <a:p>
            <a:pPr marL="0" indent="0" algn="ctr">
              <a:buNone/>
            </a:pPr>
            <a:r>
              <a:rPr lang="en-US" sz="1000" b="1" kern="0" spc="100" dirty="0">
                <a:solidFill>
                  <a:schemeClr val="accent4"/>
                </a:solidFill>
              </a:rPr>
              <a:t>4  TRUST</a:t>
            </a:r>
            <a:endParaRPr lang="en-US" sz="1000" dirty="0"/>
          </a:p>
        </p:txBody>
      </p:sp>
      <p:sp>
        <p:nvSpPr>
          <p:cNvPr id="8" name="Text 6"/>
          <p:cNvSpPr txBox="1"/>
          <p:nvPr/>
        </p:nvSpPr>
        <p:spPr>
          <a:xfrm>
            <a:off x="10746943" y="246888"/>
            <a:ext cx="896112" cy="310896"/>
          </a:xfrm>
          <a:prstGeom prst="roundRect">
            <a:avLst>
              <a:gd name="adj" fmla="val 50000"/>
            </a:avLst>
          </a:prstGeom>
          <a:solidFill>
            <a:schemeClr val="accent1"/>
          </a:solidFill>
          <a:ln w="12700">
            <a:solidFill>
              <a:srgbClr val="E31B23"/>
            </a:solidFill>
          </a:ln>
        </p:spPr>
        <p:txBody>
          <a:bodyPr wrap="square" lIns="0" tIns="0" rIns="0" bIns="0" rtlCol="0" anchor="ctr"/>
          <a:lstStyle/>
          <a:p>
            <a:pPr marL="0" indent="0" algn="ctr">
              <a:buNone/>
            </a:pPr>
            <a:r>
              <a:rPr lang="en-US" sz="1000" b="1" kern="0" spc="100" dirty="0">
                <a:solidFill>
                  <a:schemeClr val="bg1"/>
                </a:solidFill>
              </a:rPr>
              <a:t>5  ACT</a:t>
            </a:r>
            <a:endParaRPr lang="en-US" sz="1000" dirty="0"/>
          </a:p>
        </p:txBody>
      </p:sp>
      <p:sp>
        <p:nvSpPr>
          <p:cNvPr id="9" name="Text 7"/>
          <p:cNvSpPr txBox="1"/>
          <p:nvPr/>
        </p:nvSpPr>
        <p:spPr>
          <a:xfrm>
            <a:off x="548640" y="1481328"/>
            <a:ext cx="5486400" cy="274320"/>
          </a:xfrm>
          <a:prstGeom prst="rect">
            <a:avLst/>
          </a:prstGeom>
          <a:noFill/>
          <a:ln/>
        </p:spPr>
        <p:txBody>
          <a:bodyPr wrap="square" lIns="0" tIns="0" rIns="0" bIns="0" rtlCol="0" anchor="t"/>
          <a:lstStyle/>
          <a:p>
            <a:pPr marL="0" indent="0">
              <a:buNone/>
            </a:pPr>
            <a:r>
              <a:rPr lang="en-US" sz="1100" b="1" kern="0" spc="200" dirty="0">
                <a:solidFill>
                  <a:schemeClr val="accent3"/>
                </a:solidFill>
              </a:rPr>
              <a:t>SINCE OCTOBER 2025</a:t>
            </a:r>
            <a:endParaRPr lang="en-US" sz="1100" dirty="0"/>
          </a:p>
        </p:txBody>
      </p:sp>
      <p:sp>
        <p:nvSpPr>
          <p:cNvPr id="10" name="Shape 8"/>
          <p:cNvSpPr/>
          <p:nvPr/>
        </p:nvSpPr>
        <p:spPr>
          <a:xfrm>
            <a:off x="1627632" y="2286000"/>
            <a:ext cx="8933688" cy="0"/>
          </a:xfrm>
          <a:prstGeom prst="line">
            <a:avLst/>
          </a:prstGeom>
          <a:noFill/>
          <a:ln w="38100">
            <a:solidFill>
              <a:srgbClr val="D5DEEA"/>
            </a:solidFill>
            <a:prstDash val="solid"/>
          </a:ln>
        </p:spPr>
        <p:txBody>
          <a:bodyPr/>
          <a:lstStyle/>
          <a:p>
            <a:endParaRPr lang="LID4096"/>
          </a:p>
        </p:txBody>
      </p:sp>
      <p:sp>
        <p:nvSpPr>
          <p:cNvPr id="11" name="Shape 9"/>
          <p:cNvSpPr/>
          <p:nvPr/>
        </p:nvSpPr>
        <p:spPr>
          <a:xfrm>
            <a:off x="1472184" y="2130552"/>
            <a:ext cx="310896" cy="310896"/>
          </a:xfrm>
          <a:prstGeom prst="ellipse">
            <a:avLst/>
          </a:prstGeom>
          <a:solidFill>
            <a:schemeClr val="tx2"/>
          </a:solidFill>
          <a:ln w="25400">
            <a:solidFill>
              <a:srgbClr val="FFFFFF"/>
            </a:solidFill>
            <a:prstDash val="solid"/>
          </a:ln>
        </p:spPr>
        <p:txBody>
          <a:bodyPr/>
          <a:lstStyle/>
          <a:p>
            <a:endParaRPr lang="LID4096"/>
          </a:p>
        </p:txBody>
      </p:sp>
      <p:sp>
        <p:nvSpPr>
          <p:cNvPr id="12" name="Text 10"/>
          <p:cNvSpPr txBox="1"/>
          <p:nvPr/>
        </p:nvSpPr>
        <p:spPr>
          <a:xfrm>
            <a:off x="530352" y="1783080"/>
            <a:ext cx="2194560" cy="329184"/>
          </a:xfrm>
          <a:prstGeom prst="rect">
            <a:avLst/>
          </a:prstGeom>
          <a:noFill/>
          <a:ln/>
        </p:spPr>
        <p:txBody>
          <a:bodyPr wrap="square" lIns="0" tIns="0" rIns="0" bIns="0" rtlCol="0" anchor="t"/>
          <a:lstStyle/>
          <a:p>
            <a:pPr marL="0" indent="0" algn="ctr">
              <a:buNone/>
            </a:pPr>
            <a:r>
              <a:rPr lang="en-US" sz="1600" b="1" dirty="0">
                <a:solidFill>
                  <a:schemeClr val="tx2"/>
                </a:solidFill>
              </a:rPr>
              <a:t>Oct 2025</a:t>
            </a:r>
            <a:endParaRPr lang="en-US" sz="1600" dirty="0"/>
          </a:p>
        </p:txBody>
      </p:sp>
      <p:sp>
        <p:nvSpPr>
          <p:cNvPr id="13" name="Text 11"/>
          <p:cNvSpPr txBox="1"/>
          <p:nvPr/>
        </p:nvSpPr>
        <p:spPr>
          <a:xfrm>
            <a:off x="603504" y="2542032"/>
            <a:ext cx="2048256" cy="685800"/>
          </a:xfrm>
          <a:prstGeom prst="rect">
            <a:avLst/>
          </a:prstGeom>
          <a:noFill/>
          <a:ln/>
        </p:spPr>
        <p:txBody>
          <a:bodyPr wrap="square" lIns="0" tIns="0" rIns="0" bIns="0" rtlCol="0" anchor="t"/>
          <a:lstStyle/>
          <a:p>
            <a:pPr marL="0" indent="0" algn="ctr">
              <a:buNone/>
            </a:pPr>
            <a:r>
              <a:rPr lang="en-US" sz="1400" dirty="0">
                <a:solidFill>
                  <a:schemeClr val="tx1"/>
                </a:solidFill>
              </a:rPr>
              <a:t>Expedia and Booking.com launch apps</a:t>
            </a:r>
            <a:endParaRPr lang="en-US" sz="1400" dirty="0"/>
          </a:p>
        </p:txBody>
      </p:sp>
      <p:sp>
        <p:nvSpPr>
          <p:cNvPr id="14" name="Shape 12"/>
          <p:cNvSpPr/>
          <p:nvPr/>
        </p:nvSpPr>
        <p:spPr>
          <a:xfrm>
            <a:off x="3705606" y="2130552"/>
            <a:ext cx="310896" cy="310896"/>
          </a:xfrm>
          <a:prstGeom prst="ellipse">
            <a:avLst/>
          </a:prstGeom>
          <a:solidFill>
            <a:schemeClr val="tx2"/>
          </a:solidFill>
          <a:ln w="25400">
            <a:solidFill>
              <a:srgbClr val="FFFFFF"/>
            </a:solidFill>
            <a:prstDash val="solid"/>
          </a:ln>
        </p:spPr>
        <p:txBody>
          <a:bodyPr/>
          <a:lstStyle/>
          <a:p>
            <a:endParaRPr lang="LID4096"/>
          </a:p>
        </p:txBody>
      </p:sp>
      <p:sp>
        <p:nvSpPr>
          <p:cNvPr id="15" name="Text 13"/>
          <p:cNvSpPr txBox="1"/>
          <p:nvPr/>
        </p:nvSpPr>
        <p:spPr>
          <a:xfrm>
            <a:off x="2763774" y="1783080"/>
            <a:ext cx="2194560" cy="329184"/>
          </a:xfrm>
          <a:prstGeom prst="rect">
            <a:avLst/>
          </a:prstGeom>
          <a:noFill/>
          <a:ln/>
        </p:spPr>
        <p:txBody>
          <a:bodyPr wrap="square" lIns="0" tIns="0" rIns="0" bIns="0" rtlCol="0" anchor="t"/>
          <a:lstStyle/>
          <a:p>
            <a:pPr marL="0" indent="0" algn="ctr">
              <a:buNone/>
            </a:pPr>
            <a:r>
              <a:rPr lang="en-US" sz="1600" b="1" dirty="0">
                <a:solidFill>
                  <a:schemeClr val="tx2"/>
                </a:solidFill>
              </a:rPr>
              <a:t>Early 2026</a:t>
            </a:r>
            <a:endParaRPr lang="en-US" sz="1600" dirty="0"/>
          </a:p>
        </p:txBody>
      </p:sp>
      <p:sp>
        <p:nvSpPr>
          <p:cNvPr id="16" name="Text 14"/>
          <p:cNvSpPr txBox="1"/>
          <p:nvPr/>
        </p:nvSpPr>
        <p:spPr>
          <a:xfrm>
            <a:off x="2836926" y="2542032"/>
            <a:ext cx="2048256" cy="685800"/>
          </a:xfrm>
          <a:prstGeom prst="rect">
            <a:avLst/>
          </a:prstGeom>
          <a:noFill/>
          <a:ln/>
        </p:spPr>
        <p:txBody>
          <a:bodyPr wrap="square" lIns="0" tIns="0" rIns="0" bIns="0" rtlCol="0" anchor="t"/>
          <a:lstStyle/>
          <a:p>
            <a:pPr marL="0" indent="0" algn="ctr">
              <a:buNone/>
            </a:pPr>
            <a:r>
              <a:rPr lang="en-US" sz="1400" dirty="0">
                <a:solidFill>
                  <a:schemeClr val="tx1"/>
                </a:solidFill>
              </a:rPr>
              <a:t>Skyscanner, Accor and Lighthouse follow</a:t>
            </a:r>
            <a:endParaRPr lang="en-US" sz="1400" dirty="0"/>
          </a:p>
        </p:txBody>
      </p:sp>
      <p:sp>
        <p:nvSpPr>
          <p:cNvPr id="17" name="Shape 15"/>
          <p:cNvSpPr/>
          <p:nvPr/>
        </p:nvSpPr>
        <p:spPr>
          <a:xfrm>
            <a:off x="5939028" y="2130552"/>
            <a:ext cx="310896" cy="310896"/>
          </a:xfrm>
          <a:prstGeom prst="ellipse">
            <a:avLst/>
          </a:prstGeom>
          <a:solidFill>
            <a:schemeClr val="tx2"/>
          </a:solidFill>
          <a:ln w="25400">
            <a:solidFill>
              <a:srgbClr val="FFFFFF"/>
            </a:solidFill>
            <a:prstDash val="solid"/>
          </a:ln>
        </p:spPr>
        <p:txBody>
          <a:bodyPr/>
          <a:lstStyle/>
          <a:p>
            <a:endParaRPr lang="LID4096"/>
          </a:p>
        </p:txBody>
      </p:sp>
      <p:sp>
        <p:nvSpPr>
          <p:cNvPr id="18" name="Text 16"/>
          <p:cNvSpPr txBox="1"/>
          <p:nvPr/>
        </p:nvSpPr>
        <p:spPr>
          <a:xfrm>
            <a:off x="4997196" y="1783080"/>
            <a:ext cx="2194560" cy="329184"/>
          </a:xfrm>
          <a:prstGeom prst="rect">
            <a:avLst/>
          </a:prstGeom>
          <a:noFill/>
          <a:ln/>
        </p:spPr>
        <p:txBody>
          <a:bodyPr wrap="square" lIns="0" tIns="0" rIns="0" bIns="0" rtlCol="0" anchor="t"/>
          <a:lstStyle/>
          <a:p>
            <a:pPr marL="0" indent="0" algn="ctr">
              <a:buNone/>
            </a:pPr>
            <a:r>
              <a:rPr lang="en-US" sz="1600" b="1" dirty="0">
                <a:solidFill>
                  <a:schemeClr val="tx2"/>
                </a:solidFill>
              </a:rPr>
              <a:t>Mar 2026</a:t>
            </a:r>
            <a:endParaRPr lang="en-US" sz="1600" dirty="0"/>
          </a:p>
        </p:txBody>
      </p:sp>
      <p:sp>
        <p:nvSpPr>
          <p:cNvPr id="19" name="Text 17"/>
          <p:cNvSpPr txBox="1"/>
          <p:nvPr/>
        </p:nvSpPr>
        <p:spPr>
          <a:xfrm>
            <a:off x="5070348" y="2542032"/>
            <a:ext cx="2048256" cy="685800"/>
          </a:xfrm>
          <a:prstGeom prst="rect">
            <a:avLst/>
          </a:prstGeom>
          <a:noFill/>
          <a:ln/>
        </p:spPr>
        <p:txBody>
          <a:bodyPr wrap="square" lIns="0" tIns="0" rIns="0" bIns="0" rtlCol="0" anchor="t"/>
          <a:lstStyle/>
          <a:p>
            <a:pPr marL="0" indent="0" algn="ctr">
              <a:buNone/>
            </a:pPr>
            <a:r>
              <a:rPr lang="en-US" sz="1400" dirty="0">
                <a:solidFill>
                  <a:schemeClr val="tx1"/>
                </a:solidFill>
              </a:rPr>
              <a:t>ChatGPT moves checkout into apps</a:t>
            </a:r>
            <a:endParaRPr lang="en-US" sz="1400" dirty="0"/>
          </a:p>
        </p:txBody>
      </p:sp>
      <p:sp>
        <p:nvSpPr>
          <p:cNvPr id="20" name="Shape 18"/>
          <p:cNvSpPr/>
          <p:nvPr/>
        </p:nvSpPr>
        <p:spPr>
          <a:xfrm>
            <a:off x="8172450" y="2130552"/>
            <a:ext cx="310896" cy="310896"/>
          </a:xfrm>
          <a:prstGeom prst="ellipse">
            <a:avLst/>
          </a:prstGeom>
          <a:solidFill>
            <a:schemeClr val="tx2"/>
          </a:solidFill>
          <a:ln w="25400">
            <a:solidFill>
              <a:srgbClr val="FFFFFF"/>
            </a:solidFill>
            <a:prstDash val="solid"/>
          </a:ln>
        </p:spPr>
        <p:txBody>
          <a:bodyPr/>
          <a:lstStyle/>
          <a:p>
            <a:endParaRPr lang="LID4096"/>
          </a:p>
        </p:txBody>
      </p:sp>
      <p:sp>
        <p:nvSpPr>
          <p:cNvPr id="21" name="Text 19"/>
          <p:cNvSpPr txBox="1"/>
          <p:nvPr/>
        </p:nvSpPr>
        <p:spPr>
          <a:xfrm>
            <a:off x="7230618" y="1783080"/>
            <a:ext cx="2194560" cy="329184"/>
          </a:xfrm>
          <a:prstGeom prst="rect">
            <a:avLst/>
          </a:prstGeom>
          <a:noFill/>
          <a:ln/>
        </p:spPr>
        <p:txBody>
          <a:bodyPr wrap="square" lIns="0" tIns="0" rIns="0" bIns="0" rtlCol="0" anchor="t"/>
          <a:lstStyle/>
          <a:p>
            <a:pPr marL="0" indent="0" algn="ctr">
              <a:buNone/>
            </a:pPr>
            <a:r>
              <a:rPr lang="en-US" sz="1600" b="1" dirty="0">
                <a:solidFill>
                  <a:schemeClr val="tx2"/>
                </a:solidFill>
              </a:rPr>
              <a:t>May 2026</a:t>
            </a:r>
            <a:endParaRPr lang="en-US" sz="1600" dirty="0"/>
          </a:p>
        </p:txBody>
      </p:sp>
      <p:sp>
        <p:nvSpPr>
          <p:cNvPr id="22" name="Text 20"/>
          <p:cNvSpPr txBox="1"/>
          <p:nvPr/>
        </p:nvSpPr>
        <p:spPr>
          <a:xfrm>
            <a:off x="7303770" y="2542032"/>
            <a:ext cx="2048256" cy="685800"/>
          </a:xfrm>
          <a:prstGeom prst="rect">
            <a:avLst/>
          </a:prstGeom>
          <a:noFill/>
          <a:ln/>
        </p:spPr>
        <p:txBody>
          <a:bodyPr wrap="square" lIns="0" tIns="0" rIns="0" bIns="0" rtlCol="0" anchor="t"/>
          <a:lstStyle/>
          <a:p>
            <a:pPr marL="0" indent="0" algn="ctr">
              <a:buNone/>
            </a:pPr>
            <a:r>
              <a:rPr lang="en-US" sz="1400" dirty="0">
                <a:solidFill>
                  <a:schemeClr val="tx1"/>
                </a:solidFill>
              </a:rPr>
              <a:t>Google names hotel booking next</a:t>
            </a:r>
            <a:endParaRPr lang="en-US" sz="1400" dirty="0"/>
          </a:p>
        </p:txBody>
      </p:sp>
      <p:sp>
        <p:nvSpPr>
          <p:cNvPr id="23" name="Shape 21"/>
          <p:cNvSpPr/>
          <p:nvPr/>
        </p:nvSpPr>
        <p:spPr>
          <a:xfrm>
            <a:off x="10405872" y="2130552"/>
            <a:ext cx="310896" cy="310896"/>
          </a:xfrm>
          <a:prstGeom prst="ellipse">
            <a:avLst/>
          </a:prstGeom>
          <a:solidFill>
            <a:schemeClr val="accent1"/>
          </a:solidFill>
          <a:ln w="25400">
            <a:solidFill>
              <a:srgbClr val="FFFFFF"/>
            </a:solidFill>
            <a:prstDash val="solid"/>
          </a:ln>
        </p:spPr>
        <p:txBody>
          <a:bodyPr/>
          <a:lstStyle/>
          <a:p>
            <a:endParaRPr lang="LID4096"/>
          </a:p>
        </p:txBody>
      </p:sp>
      <p:sp>
        <p:nvSpPr>
          <p:cNvPr id="24" name="Text 22"/>
          <p:cNvSpPr txBox="1"/>
          <p:nvPr/>
        </p:nvSpPr>
        <p:spPr>
          <a:xfrm>
            <a:off x="9464040" y="1783080"/>
            <a:ext cx="2194560" cy="329184"/>
          </a:xfrm>
          <a:prstGeom prst="rect">
            <a:avLst/>
          </a:prstGeom>
          <a:noFill/>
          <a:ln/>
        </p:spPr>
        <p:txBody>
          <a:bodyPr wrap="square" lIns="0" tIns="0" rIns="0" bIns="0" rtlCol="0" anchor="t"/>
          <a:lstStyle/>
          <a:p>
            <a:pPr marL="0" indent="0" algn="ctr">
              <a:buNone/>
            </a:pPr>
            <a:r>
              <a:rPr lang="en-US" sz="1600" b="1" dirty="0">
                <a:solidFill>
                  <a:schemeClr val="accent1"/>
                </a:solidFill>
              </a:rPr>
              <a:t>Jun 2026</a:t>
            </a:r>
            <a:endParaRPr lang="en-US" sz="1600" dirty="0"/>
          </a:p>
        </p:txBody>
      </p:sp>
      <p:sp>
        <p:nvSpPr>
          <p:cNvPr id="25" name="Text 23"/>
          <p:cNvSpPr txBox="1"/>
          <p:nvPr/>
        </p:nvSpPr>
        <p:spPr>
          <a:xfrm>
            <a:off x="9537192" y="2542032"/>
            <a:ext cx="2048256" cy="685800"/>
          </a:xfrm>
          <a:prstGeom prst="rect">
            <a:avLst/>
          </a:prstGeom>
          <a:noFill/>
          <a:ln/>
        </p:spPr>
        <p:txBody>
          <a:bodyPr wrap="square" lIns="0" tIns="0" rIns="0" bIns="0" rtlCol="0" anchor="t"/>
          <a:lstStyle/>
          <a:p>
            <a:pPr marL="0" indent="0" algn="ctr">
              <a:buNone/>
            </a:pPr>
            <a:r>
              <a:rPr lang="en-US" sz="1400" dirty="0">
                <a:solidFill>
                  <a:schemeClr val="tx1"/>
                </a:solidFill>
              </a:rPr>
              <a:t>Virgin Australia: first Australian airline</a:t>
            </a:r>
            <a:endParaRPr lang="en-US" sz="1400" dirty="0"/>
          </a:p>
        </p:txBody>
      </p:sp>
      <p:sp>
        <p:nvSpPr>
          <p:cNvPr id="26" name="Shape 24"/>
          <p:cNvSpPr/>
          <p:nvPr/>
        </p:nvSpPr>
        <p:spPr>
          <a:xfrm>
            <a:off x="548640" y="3429000"/>
            <a:ext cx="11094415" cy="1874520"/>
          </a:xfrm>
          <a:prstGeom prst="roundRect">
            <a:avLst>
              <a:gd name="adj" fmla="val 4878"/>
            </a:avLst>
          </a:prstGeom>
          <a:solidFill>
            <a:schemeClr val="bg2"/>
          </a:solidFill>
          <a:ln/>
        </p:spPr>
        <p:txBody>
          <a:bodyPr/>
          <a:lstStyle/>
          <a:p>
            <a:endParaRPr lang="LID4096"/>
          </a:p>
        </p:txBody>
      </p:sp>
      <p:sp>
        <p:nvSpPr>
          <p:cNvPr id="27" name="Text 25"/>
          <p:cNvSpPr txBox="1"/>
          <p:nvPr/>
        </p:nvSpPr>
        <p:spPr>
          <a:xfrm>
            <a:off x="822960" y="3566160"/>
            <a:ext cx="5486400" cy="274320"/>
          </a:xfrm>
          <a:prstGeom prst="rect">
            <a:avLst/>
          </a:prstGeom>
          <a:noFill/>
          <a:ln/>
        </p:spPr>
        <p:txBody>
          <a:bodyPr wrap="square" lIns="0" tIns="0" rIns="0" bIns="0" rtlCol="0" anchor="t"/>
          <a:lstStyle/>
          <a:p>
            <a:pPr marL="0" indent="0">
              <a:buNone/>
            </a:pPr>
            <a:r>
              <a:rPr lang="en-US" sz="1100" b="1" kern="0" spc="200" dirty="0">
                <a:solidFill>
                  <a:schemeClr val="accent3"/>
                </a:solidFill>
              </a:rPr>
              <a:t>HOW A TRAVEL APP WORKS IN CHATGPT</a:t>
            </a:r>
            <a:endParaRPr lang="en-US" sz="1100" dirty="0"/>
          </a:p>
        </p:txBody>
      </p:sp>
      <p:sp>
        <p:nvSpPr>
          <p:cNvPr id="28" name="Shape 26"/>
          <p:cNvSpPr/>
          <p:nvPr/>
        </p:nvSpPr>
        <p:spPr>
          <a:xfrm>
            <a:off x="822960" y="4114800"/>
            <a:ext cx="777240" cy="777240"/>
          </a:xfrm>
          <a:prstGeom prst="ellipse">
            <a:avLst/>
          </a:prstGeom>
          <a:solidFill>
            <a:schemeClr val="tx2"/>
          </a:solidFill>
          <a:ln/>
        </p:spPr>
        <p:txBody>
          <a:bodyPr/>
          <a:lstStyle/>
          <a:p>
            <a:endParaRPr lang="LID4096"/>
          </a:p>
        </p:txBody>
      </p:sp>
      <p:pic>
        <p:nvPicPr>
          <p:cNvPr id="29" name="Image 0" descr="preencoded.png"/>
          <p:cNvPicPr>
            <a:picLocks noChangeAspect="1"/>
          </p:cNvPicPr>
          <p:nvPr/>
        </p:nvPicPr>
        <p:blipFill>
          <a:blip r:embed="rId3"/>
          <a:stretch>
            <a:fillRect/>
          </a:stretch>
        </p:blipFill>
        <p:spPr>
          <a:xfrm>
            <a:off x="1017270" y="4309110"/>
            <a:ext cx="388620" cy="388620"/>
          </a:xfrm>
          <a:prstGeom prst="rect">
            <a:avLst/>
          </a:prstGeom>
        </p:spPr>
      </p:pic>
      <p:sp>
        <p:nvSpPr>
          <p:cNvPr id="30" name="Text 27"/>
          <p:cNvSpPr txBox="1"/>
          <p:nvPr/>
        </p:nvSpPr>
        <p:spPr>
          <a:xfrm>
            <a:off x="1783080" y="4041648"/>
            <a:ext cx="2082698" cy="914400"/>
          </a:xfrm>
          <a:prstGeom prst="rect">
            <a:avLst/>
          </a:prstGeom>
          <a:noFill/>
          <a:ln/>
        </p:spPr>
        <p:txBody>
          <a:bodyPr wrap="square" lIns="0" tIns="0" rIns="0" bIns="0" rtlCol="0" anchor="ctr"/>
          <a:lstStyle/>
          <a:p>
            <a:pPr marL="0" indent="0">
              <a:buNone/>
            </a:pPr>
            <a:r>
              <a:rPr lang="en-US" sz="1700" b="1" dirty="0">
                <a:solidFill>
                  <a:schemeClr val="tx2"/>
                </a:solidFill>
              </a:rPr>
              <a:t>Customer asks in the chat</a:t>
            </a:r>
            <a:endParaRPr lang="en-US" sz="1700" dirty="0"/>
          </a:p>
        </p:txBody>
      </p:sp>
      <p:sp>
        <p:nvSpPr>
          <p:cNvPr id="31" name="Shape 28"/>
          <p:cNvSpPr/>
          <p:nvPr/>
        </p:nvSpPr>
        <p:spPr>
          <a:xfrm>
            <a:off x="3984650" y="4507992"/>
            <a:ext cx="493776" cy="0"/>
          </a:xfrm>
          <a:prstGeom prst="line">
            <a:avLst/>
          </a:prstGeom>
          <a:noFill/>
          <a:ln w="28575">
            <a:solidFill>
              <a:srgbClr val="8593A8"/>
            </a:solidFill>
            <a:prstDash val="solid"/>
            <a:tailEnd type="triangle"/>
          </a:ln>
        </p:spPr>
        <p:txBody>
          <a:bodyPr/>
          <a:lstStyle/>
          <a:p>
            <a:endParaRPr lang="LID4096"/>
          </a:p>
        </p:txBody>
      </p:sp>
      <p:sp>
        <p:nvSpPr>
          <p:cNvPr id="32" name="Shape 29"/>
          <p:cNvSpPr/>
          <p:nvPr/>
        </p:nvSpPr>
        <p:spPr>
          <a:xfrm>
            <a:off x="4551578" y="4114800"/>
            <a:ext cx="777240" cy="777240"/>
          </a:xfrm>
          <a:prstGeom prst="ellipse">
            <a:avLst/>
          </a:prstGeom>
          <a:solidFill>
            <a:schemeClr val="accent1"/>
          </a:solidFill>
          <a:ln/>
        </p:spPr>
        <p:txBody>
          <a:bodyPr/>
          <a:lstStyle/>
          <a:p>
            <a:endParaRPr lang="LID4096"/>
          </a:p>
        </p:txBody>
      </p:sp>
      <p:pic>
        <p:nvPicPr>
          <p:cNvPr id="33" name="Image 1" descr="preencoded.png"/>
          <p:cNvPicPr>
            <a:picLocks noChangeAspect="1"/>
          </p:cNvPicPr>
          <p:nvPr/>
        </p:nvPicPr>
        <p:blipFill>
          <a:blip r:embed="rId4"/>
          <a:stretch>
            <a:fillRect/>
          </a:stretch>
        </p:blipFill>
        <p:spPr>
          <a:xfrm>
            <a:off x="4745888" y="4309110"/>
            <a:ext cx="388620" cy="388620"/>
          </a:xfrm>
          <a:prstGeom prst="rect">
            <a:avLst/>
          </a:prstGeom>
        </p:spPr>
      </p:pic>
      <p:sp>
        <p:nvSpPr>
          <p:cNvPr id="34" name="Text 30"/>
          <p:cNvSpPr txBox="1"/>
          <p:nvPr/>
        </p:nvSpPr>
        <p:spPr>
          <a:xfrm>
            <a:off x="5511698" y="4041648"/>
            <a:ext cx="2082698" cy="914400"/>
          </a:xfrm>
          <a:prstGeom prst="rect">
            <a:avLst/>
          </a:prstGeom>
          <a:noFill/>
          <a:ln/>
        </p:spPr>
        <p:txBody>
          <a:bodyPr wrap="square" lIns="0" tIns="0" rIns="0" bIns="0" rtlCol="0" anchor="ctr"/>
          <a:lstStyle/>
          <a:p>
            <a:pPr marL="0" indent="0">
              <a:buNone/>
            </a:pPr>
            <a:r>
              <a:rPr lang="en-US" sz="1700" b="1" dirty="0">
                <a:solidFill>
                  <a:schemeClr val="tx2"/>
                </a:solidFill>
              </a:rPr>
              <a:t>The brand’s app shows live prices and options</a:t>
            </a:r>
            <a:endParaRPr lang="en-US" sz="1700" dirty="0"/>
          </a:p>
        </p:txBody>
      </p:sp>
      <p:sp>
        <p:nvSpPr>
          <p:cNvPr id="35" name="Shape 31"/>
          <p:cNvSpPr/>
          <p:nvPr/>
        </p:nvSpPr>
        <p:spPr>
          <a:xfrm>
            <a:off x="7713269" y="4507992"/>
            <a:ext cx="493776" cy="0"/>
          </a:xfrm>
          <a:prstGeom prst="line">
            <a:avLst/>
          </a:prstGeom>
          <a:noFill/>
          <a:ln w="28575">
            <a:solidFill>
              <a:srgbClr val="8593A8"/>
            </a:solidFill>
            <a:prstDash val="solid"/>
            <a:tailEnd type="triangle"/>
          </a:ln>
        </p:spPr>
        <p:txBody>
          <a:bodyPr/>
          <a:lstStyle/>
          <a:p>
            <a:endParaRPr lang="LID4096"/>
          </a:p>
        </p:txBody>
      </p:sp>
      <p:sp>
        <p:nvSpPr>
          <p:cNvPr id="36" name="Shape 32"/>
          <p:cNvSpPr/>
          <p:nvPr/>
        </p:nvSpPr>
        <p:spPr>
          <a:xfrm>
            <a:off x="8280197" y="4114800"/>
            <a:ext cx="777240" cy="777240"/>
          </a:xfrm>
          <a:prstGeom prst="ellipse">
            <a:avLst/>
          </a:prstGeom>
          <a:solidFill>
            <a:schemeClr val="tx2"/>
          </a:solidFill>
          <a:ln/>
        </p:spPr>
        <p:txBody>
          <a:bodyPr/>
          <a:lstStyle/>
          <a:p>
            <a:endParaRPr lang="LID4096"/>
          </a:p>
        </p:txBody>
      </p:sp>
      <p:pic>
        <p:nvPicPr>
          <p:cNvPr id="37" name="Image 2" descr="preencoded.png"/>
          <p:cNvPicPr>
            <a:picLocks noChangeAspect="1"/>
          </p:cNvPicPr>
          <p:nvPr/>
        </p:nvPicPr>
        <p:blipFill>
          <a:blip r:embed="rId5"/>
          <a:stretch>
            <a:fillRect/>
          </a:stretch>
        </p:blipFill>
        <p:spPr>
          <a:xfrm>
            <a:off x="8474507" y="4309110"/>
            <a:ext cx="388620" cy="388620"/>
          </a:xfrm>
          <a:prstGeom prst="rect">
            <a:avLst/>
          </a:prstGeom>
        </p:spPr>
      </p:pic>
      <p:sp>
        <p:nvSpPr>
          <p:cNvPr id="38" name="Text 33"/>
          <p:cNvSpPr txBox="1"/>
          <p:nvPr/>
        </p:nvSpPr>
        <p:spPr>
          <a:xfrm>
            <a:off x="9240317" y="4041648"/>
            <a:ext cx="2082698" cy="914400"/>
          </a:xfrm>
          <a:prstGeom prst="rect">
            <a:avLst/>
          </a:prstGeom>
          <a:noFill/>
          <a:ln/>
        </p:spPr>
        <p:txBody>
          <a:bodyPr wrap="square" lIns="0" tIns="0" rIns="0" bIns="0" rtlCol="0" anchor="ctr"/>
          <a:lstStyle/>
          <a:p>
            <a:pPr marL="0" indent="0">
              <a:buNone/>
            </a:pPr>
            <a:r>
              <a:rPr lang="en-US" sz="1700" b="1" dirty="0">
                <a:solidFill>
                  <a:schemeClr val="tx2"/>
                </a:solidFill>
              </a:rPr>
              <a:t>Booking finishes on the brand’s own site</a:t>
            </a:r>
            <a:endParaRPr lang="en-US" sz="1700" dirty="0"/>
          </a:p>
        </p:txBody>
      </p:sp>
      <p:sp>
        <p:nvSpPr>
          <p:cNvPr id="39" name="Shape 34"/>
          <p:cNvSpPr/>
          <p:nvPr/>
        </p:nvSpPr>
        <p:spPr>
          <a:xfrm>
            <a:off x="548640" y="5532120"/>
            <a:ext cx="11094415" cy="658368"/>
          </a:xfrm>
          <a:prstGeom prst="roundRect">
            <a:avLst>
              <a:gd name="adj" fmla="val 13889"/>
            </a:avLst>
          </a:prstGeom>
          <a:solidFill>
            <a:schemeClr val="tx2"/>
          </a:solidFill>
          <a:ln/>
        </p:spPr>
        <p:txBody>
          <a:bodyPr/>
          <a:lstStyle/>
          <a:p>
            <a:endParaRPr lang="LID4096"/>
          </a:p>
        </p:txBody>
      </p:sp>
      <p:sp>
        <p:nvSpPr>
          <p:cNvPr id="40" name="Shape 35"/>
          <p:cNvSpPr/>
          <p:nvPr/>
        </p:nvSpPr>
        <p:spPr>
          <a:xfrm>
            <a:off x="713232" y="5605272"/>
            <a:ext cx="512064" cy="512064"/>
          </a:xfrm>
          <a:prstGeom prst="ellipse">
            <a:avLst/>
          </a:prstGeom>
          <a:solidFill>
            <a:schemeClr val="accent1"/>
          </a:solidFill>
          <a:ln/>
        </p:spPr>
        <p:txBody>
          <a:bodyPr/>
          <a:lstStyle/>
          <a:p>
            <a:endParaRPr lang="LID4096"/>
          </a:p>
        </p:txBody>
      </p:sp>
      <p:pic>
        <p:nvPicPr>
          <p:cNvPr id="41" name="Image 3" descr="preencoded.png"/>
          <p:cNvPicPr>
            <a:picLocks noChangeAspect="1"/>
          </p:cNvPicPr>
          <p:nvPr/>
        </p:nvPicPr>
        <p:blipFill>
          <a:blip r:embed="rId6"/>
          <a:stretch>
            <a:fillRect/>
          </a:stretch>
        </p:blipFill>
        <p:spPr>
          <a:xfrm>
            <a:off x="841248" y="5733288"/>
            <a:ext cx="256032" cy="256032"/>
          </a:xfrm>
          <a:prstGeom prst="rect">
            <a:avLst/>
          </a:prstGeom>
        </p:spPr>
      </p:pic>
      <p:sp>
        <p:nvSpPr>
          <p:cNvPr id="42" name="Text 36"/>
          <p:cNvSpPr txBox="1"/>
          <p:nvPr/>
        </p:nvSpPr>
        <p:spPr>
          <a:xfrm>
            <a:off x="1417320" y="5532120"/>
            <a:ext cx="10058400" cy="658368"/>
          </a:xfrm>
          <a:prstGeom prst="rect">
            <a:avLst/>
          </a:prstGeom>
          <a:noFill/>
          <a:ln/>
        </p:spPr>
        <p:txBody>
          <a:bodyPr wrap="square" lIns="0" tIns="0" rIns="0" bIns="0" rtlCol="0" anchor="ctr"/>
          <a:lstStyle/>
          <a:p>
            <a:pPr marL="0" indent="0">
              <a:buNone/>
            </a:pPr>
            <a:r>
              <a:rPr lang="en-US" sz="1300" b="1" kern="0" spc="200" dirty="0">
                <a:solidFill>
                  <a:srgbClr val="F28B8F"/>
                </a:solidFill>
              </a:rPr>
              <a:t>FC ACTION   </a:t>
            </a:r>
            <a:r>
              <a:rPr lang="en-US" sz="1700" b="1" dirty="0">
                <a:solidFill>
                  <a:schemeClr val="bg1"/>
                </a:solidFill>
              </a:rPr>
              <a:t>Pick one customer task, such as reaching an FC expert, and test it before building an app</a:t>
            </a:r>
            <a:endParaRPr lang="en-US" sz="1400" dirty="0"/>
          </a:p>
        </p:txBody>
      </p:sp>
      <p:sp>
        <p:nvSpPr>
          <p:cNvPr id="43" name="Slide Number Placeholder 0"/>
          <p:cNvSpPr>
            <a:spLocks noGrp="1"/>
          </p:cNvSpPr>
          <p:nvPr>
            <p:ph type="sldNum" sz="quarter" idx="4294967295"/>
          </p:nvPr>
        </p:nvSpPr>
        <p:spPr>
          <a:xfrm>
            <a:off x="11183112" y="6419088"/>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0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22960" y="1097280"/>
            <a:ext cx="3657600" cy="457200"/>
          </a:xfrm>
          <a:prstGeom prst="rect">
            <a:avLst/>
          </a:prstGeom>
          <a:noFill/>
        </p:spPr>
        <p:txBody>
          <a:bodyPr wrap="square" lIns="45720" rIns="45720" anchor="t">
            <a:spAutoFit/>
          </a:bodyPr>
          <a:lstStyle/>
          <a:p>
            <a:pPr algn="l">
              <a:lnSpc>
                <a:spcPct val="108000"/>
              </a:lnSpc>
              <a:spcAft>
                <a:spcPts val="400"/>
              </a:spcAft>
            </a:pPr>
            <a:r>
              <a:rPr sz="1600" b="1" i="0">
                <a:solidFill>
                  <a:srgbClr val="FF8A99"/>
                </a:solidFill>
                <a:latin typeface="Calibri"/>
              </a:rPr>
              <a:t>PART 2 · WHAT</a:t>
            </a:r>
          </a:p>
        </p:txBody>
      </p:sp>
      <p:sp>
        <p:nvSpPr>
          <p:cNvPr id="4" name="TextBox 3"/>
          <p:cNvSpPr txBox="1"/>
          <p:nvPr/>
        </p:nvSpPr>
        <p:spPr>
          <a:xfrm>
            <a:off x="822960" y="1554480"/>
            <a:ext cx="10241280" cy="1645920"/>
          </a:xfrm>
          <a:prstGeom prst="rect">
            <a:avLst/>
          </a:prstGeom>
          <a:noFill/>
        </p:spPr>
        <p:txBody>
          <a:bodyPr wrap="square" lIns="45720" rIns="45720" anchor="t">
            <a:spAutoFit/>
          </a:bodyPr>
          <a:lstStyle/>
          <a:p>
            <a:pPr algn="l">
              <a:lnSpc>
                <a:spcPct val="100000"/>
              </a:lnSpc>
              <a:spcAft>
                <a:spcPts val="400"/>
              </a:spcAft>
            </a:pPr>
            <a:r>
              <a:rPr sz="4000" b="1" i="0">
                <a:solidFill>
                  <a:srgbClr val="FFFFFF"/>
                </a:solidFill>
                <a:latin typeface="Calibri"/>
              </a:rPr>
              <a:t>What we did: a frozen sandbox where only the Flight Centre page changes</a:t>
            </a:r>
          </a:p>
        </p:txBody>
      </p:sp>
      <p:sp>
        <p:nvSpPr>
          <p:cNvPr id="5" name="TextBox 4"/>
          <p:cNvSpPr txBox="1"/>
          <p:nvPr/>
        </p:nvSpPr>
        <p:spPr>
          <a:xfrm>
            <a:off x="822960" y="3383280"/>
            <a:ext cx="9601200" cy="822960"/>
          </a:xfrm>
          <a:prstGeom prst="rect">
            <a:avLst/>
          </a:prstGeom>
          <a:noFill/>
        </p:spPr>
        <p:txBody>
          <a:bodyPr wrap="square" lIns="45720" rIns="45720" anchor="t">
            <a:spAutoFit/>
          </a:bodyPr>
          <a:lstStyle/>
          <a:p>
            <a:pPr algn="l">
              <a:lnSpc>
                <a:spcPct val="108000"/>
              </a:lnSpc>
              <a:spcAft>
                <a:spcPts val="400"/>
              </a:spcAft>
            </a:pPr>
            <a:r>
              <a:rPr sz="1800" b="0" i="0">
                <a:solidFill>
                  <a:srgbClr val="C9D6EA"/>
                </a:solidFill>
                <a:latin typeface="Calibri"/>
              </a:rPr>
              <a:t>The evidence base we assembled, how we tested, and what moved.</a:t>
            </a:r>
          </a:p>
        </p:txBody>
      </p:sp>
      <p:sp>
        <p:nvSpPr>
          <p:cNvPr id="6" name="TextBox 5"/>
          <p:cNvSpPr txBox="1"/>
          <p:nvPr/>
        </p:nvSpPr>
        <p:spPr>
          <a:xfrm>
            <a:off x="822960" y="4480560"/>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What the published research and the platforms themselves say works</a:t>
            </a:r>
          </a:p>
        </p:txBody>
      </p:sp>
      <p:sp>
        <p:nvSpPr>
          <p:cNvPr id="7" name="TextBox 6"/>
          <p:cNvSpPr txBox="1"/>
          <p:nvPr/>
        </p:nvSpPr>
        <p:spPr>
          <a:xfrm>
            <a:off x="822960" y="4864608"/>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The sandbox and its fairness rules</a:t>
            </a:r>
          </a:p>
        </p:txBody>
      </p:sp>
      <p:sp>
        <p:nvSpPr>
          <p:cNvPr id="8" name="TextBox 7"/>
          <p:cNvSpPr txBox="1"/>
          <p:nvPr/>
        </p:nvSpPr>
        <p:spPr>
          <a:xfrm>
            <a:off x="822960" y="5248656"/>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Six methods one at a time, then the final page, 40.0% → 52.4%</a:t>
            </a:r>
          </a:p>
        </p:txBody>
      </p:sp>
      <p:sp>
        <p:nvSpPr>
          <p:cNvPr id="9" name="TextBox 8"/>
          <p:cNvSpPr txBox="1"/>
          <p:nvPr/>
        </p:nvSpPr>
        <p:spPr>
          <a:xfrm>
            <a:off x="822960" y="5632704"/>
            <a:ext cx="10058400" cy="365760"/>
          </a:xfrm>
          <a:prstGeom prst="rect">
            <a:avLst/>
          </a:prstGeom>
          <a:noFill/>
        </p:spPr>
        <p:txBody>
          <a:bodyPr wrap="square" lIns="45720" rIns="45720" anchor="t">
            <a:spAutoFit/>
          </a:bodyPr>
          <a:lstStyle/>
          <a:p>
            <a:pPr algn="l">
              <a:lnSpc>
                <a:spcPct val="108000"/>
              </a:lnSpc>
              <a:spcAft>
                <a:spcPts val="400"/>
              </a:spcAft>
            </a:pPr>
            <a:r>
              <a:rPr sz="1400" b="0" i="0">
                <a:solidFill>
                  <a:srgbClr val="FFFFFF"/>
                </a:solidFill>
                <a:latin typeface="Calibri"/>
              </a:rPr>
              <a:t>• What did not work, and what is still unproven</a:t>
            </a:r>
          </a:p>
        </p:txBody>
      </p:sp>
      <p:sp>
        <p:nvSpPr>
          <p:cNvPr id="10" name="TextBox 9"/>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9FB3CC"/>
                </a:solidFill>
                <a:latin typeface="Calibri"/>
              </a:rPr>
              <a:t>8</a:t>
            </a:r>
          </a:p>
        </p:txBody>
      </p:sp>
    </p:spTree>
  </p:cSld>
  <p:clrMapOvr>
    <a:masterClrMapping/>
  </p:clrMapOvr>
</p:sld>
</file>

<file path=ppt/slides/slide10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WHAT</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800" b="1" i="0">
                <a:solidFill>
                  <a:srgbClr val="0B2240"/>
                </a:solidFill>
                <a:latin typeface="Calibri"/>
              </a:rPr>
              <a:t>How we tested: a frozen copy of the web where only Flight Centre's page changes</a:t>
            </a:r>
          </a:p>
        </p:txBody>
      </p:sp>
      <p:sp>
        <p:nvSpPr>
          <p:cNvPr id="4" name="Rounded Rectangle 3"/>
          <p:cNvSpPr/>
          <p:nvPr/>
        </p:nvSpPr>
        <p:spPr>
          <a:xfrm>
            <a:off x="1020470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Our experiment</a:t>
            </a:r>
          </a:p>
        </p:txBody>
      </p:sp>
      <p:sp>
        <p:nvSpPr>
          <p:cNvPr id="5" name="Rectangle 4"/>
          <p:cNvSpPr/>
          <p:nvPr/>
        </p:nvSpPr>
        <p:spPr>
          <a:xfrm>
            <a:off x="822960" y="1874519"/>
            <a:ext cx="10515600" cy="36576"/>
          </a:xfrm>
          <a:prstGeom prst="rect">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658368"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1</a:t>
            </a:r>
          </a:p>
        </p:txBody>
      </p:sp>
      <p:sp>
        <p:nvSpPr>
          <p:cNvPr id="8" name="TextBox 7"/>
          <p:cNvSpPr txBox="1"/>
          <p:nvPr/>
        </p:nvSpPr>
        <p:spPr>
          <a:xfrm>
            <a:off x="621792"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Questions</a:t>
            </a:r>
          </a:p>
        </p:txBody>
      </p:sp>
      <p:sp>
        <p:nvSpPr>
          <p:cNvPr id="9" name="TextBox 8"/>
          <p:cNvSpPr txBox="1"/>
          <p:nvPr/>
        </p:nvSpPr>
        <p:spPr>
          <a:xfrm>
            <a:off x="621792"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50 travel questions; 29 flight questions with FC in the saved pool form the main test</a:t>
            </a:r>
          </a:p>
        </p:txBody>
      </p:sp>
      <p:sp>
        <p:nvSpPr>
          <p:cNvPr id="10" name="Rounded Rectangle 9"/>
          <p:cNvSpPr/>
          <p:nvPr/>
        </p:nvSpPr>
        <p:spPr>
          <a:xfrm>
            <a:off x="2156155"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2265883"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2</a:t>
            </a:r>
          </a:p>
        </p:txBody>
      </p:sp>
      <p:sp>
        <p:nvSpPr>
          <p:cNvPr id="12" name="TextBox 11"/>
          <p:cNvSpPr txBox="1"/>
          <p:nvPr/>
        </p:nvSpPr>
        <p:spPr>
          <a:xfrm>
            <a:off x="2229307"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Search snapshot</a:t>
            </a:r>
          </a:p>
        </p:txBody>
      </p:sp>
      <p:sp>
        <p:nvSpPr>
          <p:cNvPr id="13" name="TextBox 12"/>
          <p:cNvSpPr txBox="1"/>
          <p:nvPr/>
        </p:nvSpPr>
        <p:spPr>
          <a:xfrm>
            <a:off x="2229307"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Brave Search AU, Aug 2026; top 10 used; frozen and fingerprinted</a:t>
            </a:r>
          </a:p>
        </p:txBody>
      </p:sp>
      <p:sp>
        <p:nvSpPr>
          <p:cNvPr id="14" name="Rounded Rectangle 13"/>
          <p:cNvSpPr/>
          <p:nvPr/>
        </p:nvSpPr>
        <p:spPr>
          <a:xfrm>
            <a:off x="3763670"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3873398"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3</a:t>
            </a:r>
          </a:p>
        </p:txBody>
      </p:sp>
      <p:sp>
        <p:nvSpPr>
          <p:cNvPr id="16" name="TextBox 15"/>
          <p:cNvSpPr txBox="1"/>
          <p:nvPr/>
        </p:nvSpPr>
        <p:spPr>
          <a:xfrm>
            <a:off x="3836822"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Capture pages</a:t>
            </a:r>
          </a:p>
        </p:txBody>
      </p:sp>
      <p:sp>
        <p:nvSpPr>
          <p:cNvPr id="17" name="TextBox 16"/>
          <p:cNvSpPr txBox="1"/>
          <p:nvPr/>
        </p:nvSpPr>
        <p:spPr>
          <a:xfrm>
            <a:off x="3836822"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953 pages fetched without JavaScript; scripts and menus stripped</a:t>
            </a:r>
          </a:p>
        </p:txBody>
      </p:sp>
      <p:sp>
        <p:nvSpPr>
          <p:cNvPr id="18" name="Rounded Rectangle 17"/>
          <p:cNvSpPr/>
          <p:nvPr/>
        </p:nvSpPr>
        <p:spPr>
          <a:xfrm>
            <a:off x="5371185" y="1691640"/>
            <a:ext cx="1463040" cy="2331720"/>
          </a:xfrm>
          <a:prstGeom prst="roundRect">
            <a:avLst>
              <a:gd name="adj" fmla="val 7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480913" y="1755648"/>
            <a:ext cx="329184" cy="329184"/>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4</a:t>
            </a:r>
          </a:p>
        </p:txBody>
      </p:sp>
      <p:sp>
        <p:nvSpPr>
          <p:cNvPr id="20" name="TextBox 19"/>
          <p:cNvSpPr txBox="1"/>
          <p:nvPr/>
        </p:nvSpPr>
        <p:spPr>
          <a:xfrm>
            <a:off x="5444337"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Change FC's page</a:t>
            </a:r>
          </a:p>
        </p:txBody>
      </p:sp>
      <p:sp>
        <p:nvSpPr>
          <p:cNvPr id="21" name="TextBox 20"/>
          <p:cNvSpPr txBox="1"/>
          <p:nvPr/>
        </p:nvSpPr>
        <p:spPr>
          <a:xfrm>
            <a:off x="5444337"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Baseline = as captured. Optimised = final page (52 FC pages). Competitors never change</a:t>
            </a:r>
          </a:p>
        </p:txBody>
      </p:sp>
      <p:sp>
        <p:nvSpPr>
          <p:cNvPr id="22" name="Rounded Rectangle 21"/>
          <p:cNvSpPr/>
          <p:nvPr/>
        </p:nvSpPr>
        <p:spPr>
          <a:xfrm>
            <a:off x="6978700"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7088428"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5</a:t>
            </a:r>
          </a:p>
        </p:txBody>
      </p:sp>
      <p:sp>
        <p:nvSpPr>
          <p:cNvPr id="24" name="TextBox 23"/>
          <p:cNvSpPr txBox="1"/>
          <p:nvPr/>
        </p:nvSpPr>
        <p:spPr>
          <a:xfrm>
            <a:off x="7051852"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AI answers</a:t>
            </a:r>
          </a:p>
        </p:txBody>
      </p:sp>
      <p:sp>
        <p:nvSpPr>
          <p:cNvPr id="25" name="TextBox 24"/>
          <p:cNvSpPr txBox="1"/>
          <p:nvPr/>
        </p:nvSpPr>
        <p:spPr>
          <a:xfrm>
            <a:off x="7051852"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OpenAI gpt-5.6-luna; cites sources by number</a:t>
            </a:r>
          </a:p>
        </p:txBody>
      </p:sp>
      <p:sp>
        <p:nvSpPr>
          <p:cNvPr id="26" name="Rounded Rectangle 25"/>
          <p:cNvSpPr/>
          <p:nvPr/>
        </p:nvSpPr>
        <p:spPr>
          <a:xfrm>
            <a:off x="8586216"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695944"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6</a:t>
            </a:r>
          </a:p>
        </p:txBody>
      </p:sp>
      <p:sp>
        <p:nvSpPr>
          <p:cNvPr id="28" name="TextBox 27"/>
          <p:cNvSpPr txBox="1"/>
          <p:nvPr/>
        </p:nvSpPr>
        <p:spPr>
          <a:xfrm>
            <a:off x="8659368"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Citation check</a:t>
            </a:r>
          </a:p>
        </p:txBody>
      </p:sp>
      <p:sp>
        <p:nvSpPr>
          <p:cNvPr id="29" name="TextBox 28"/>
          <p:cNvSpPr txBox="1"/>
          <p:nvPr/>
        </p:nvSpPr>
        <p:spPr>
          <a:xfrm>
            <a:off x="8659368"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Does any [n] point to an FC source? Counted offline, no AI call</a:t>
            </a:r>
          </a:p>
        </p:txBody>
      </p:sp>
      <p:sp>
        <p:nvSpPr>
          <p:cNvPr id="30" name="Rounded Rectangle 29"/>
          <p:cNvSpPr/>
          <p:nvPr/>
        </p:nvSpPr>
        <p:spPr>
          <a:xfrm>
            <a:off x="10193731" y="1691640"/>
            <a:ext cx="1463040" cy="2331720"/>
          </a:xfrm>
          <a:prstGeom prst="roundRect">
            <a:avLst>
              <a:gd name="adj" fmla="val 7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10303459" y="1755648"/>
            <a:ext cx="329184" cy="329184"/>
          </a:xfrm>
          <a:prstGeom prst="ellipse">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Calibri"/>
              </a:rPr>
              <a:t>7</a:t>
            </a:r>
          </a:p>
        </p:txBody>
      </p:sp>
      <p:sp>
        <p:nvSpPr>
          <p:cNvPr id="32" name="TextBox 31"/>
          <p:cNvSpPr txBox="1"/>
          <p:nvPr/>
        </p:nvSpPr>
        <p:spPr>
          <a:xfrm>
            <a:off x="10266883" y="2148840"/>
            <a:ext cx="1316736"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Statistics</a:t>
            </a:r>
          </a:p>
        </p:txBody>
      </p:sp>
      <p:sp>
        <p:nvSpPr>
          <p:cNvPr id="33" name="TextBox 32"/>
          <p:cNvSpPr txBox="1"/>
          <p:nvPr/>
        </p:nvSpPr>
        <p:spPr>
          <a:xfrm>
            <a:off x="10266883" y="2487168"/>
            <a:ext cx="1316736" cy="1508760"/>
          </a:xfrm>
          <a:prstGeom prst="rect">
            <a:avLst/>
          </a:prstGeom>
          <a:noFill/>
        </p:spPr>
        <p:txBody>
          <a:bodyPr wrap="square" lIns="45720" rIns="45720" anchor="t">
            <a:spAutoFit/>
          </a:bodyPr>
          <a:lstStyle/>
          <a:p>
            <a:pPr algn="l">
              <a:lnSpc>
                <a:spcPct val="102000"/>
              </a:lnSpc>
              <a:spcAft>
                <a:spcPts val="400"/>
              </a:spcAft>
            </a:pPr>
            <a:r>
              <a:rPr sz="1100" b="0" i="0">
                <a:solidFill>
                  <a:srgbClr val="1F2937"/>
                </a:solidFill>
                <a:latin typeface="Calibri"/>
              </a:rPr>
              <a:t>Paired bootstrap over questions; fairness checks; offline recount</a:t>
            </a:r>
          </a:p>
        </p:txBody>
      </p:sp>
      <p:sp>
        <p:nvSpPr>
          <p:cNvPr id="34" name="TextBox 33"/>
          <p:cNvSpPr txBox="1"/>
          <p:nvPr/>
        </p:nvSpPr>
        <p:spPr>
          <a:xfrm>
            <a:off x="548640" y="4160520"/>
            <a:ext cx="5486400" cy="274320"/>
          </a:xfrm>
          <a:prstGeom prst="rect">
            <a:avLst/>
          </a:prstGeom>
          <a:noFill/>
        </p:spPr>
        <p:txBody>
          <a:bodyPr wrap="square" lIns="45720" rIns="45720" anchor="t">
            <a:spAutoFit/>
          </a:bodyPr>
          <a:lstStyle/>
          <a:p>
            <a:pPr algn="l">
              <a:lnSpc>
                <a:spcPct val="108000"/>
              </a:lnSpc>
              <a:spcAft>
                <a:spcPts val="400"/>
              </a:spcAft>
            </a:pPr>
            <a:r>
              <a:rPr sz="1200" b="1" i="0">
                <a:solidFill>
                  <a:srgbClr val="5B6573"/>
                </a:solidFill>
                <a:latin typeface="Calibri"/>
              </a:rPr>
              <a:t>Where the 290 answers come from</a:t>
            </a:r>
          </a:p>
        </p:txBody>
      </p:sp>
      <p:sp>
        <p:nvSpPr>
          <p:cNvPr id="35" name="Rounded Rectangle 34"/>
          <p:cNvSpPr/>
          <p:nvPr/>
        </p:nvSpPr>
        <p:spPr>
          <a:xfrm>
            <a:off x="548640" y="4480560"/>
            <a:ext cx="1417320" cy="822960"/>
          </a:xfrm>
          <a:prstGeom prst="roundRect">
            <a:avLst>
              <a:gd name="adj" fmla="val 1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94360" y="4507992"/>
            <a:ext cx="1325880" cy="457200"/>
          </a:xfrm>
          <a:prstGeom prst="rect">
            <a:avLst/>
          </a:prstGeom>
          <a:noFill/>
        </p:spPr>
        <p:txBody>
          <a:bodyPr wrap="square" lIns="45720" rIns="45720" anchor="t">
            <a:spAutoFit/>
          </a:bodyPr>
          <a:lstStyle/>
          <a:p>
            <a:pPr algn="ctr">
              <a:lnSpc>
                <a:spcPct val="100000"/>
              </a:lnSpc>
              <a:spcAft>
                <a:spcPts val="400"/>
              </a:spcAft>
            </a:pPr>
            <a:r>
              <a:rPr sz="2600" b="1" i="0">
                <a:solidFill>
                  <a:srgbClr val="FFFFFF"/>
                </a:solidFill>
                <a:latin typeface="Calibri"/>
              </a:rPr>
              <a:t>29</a:t>
            </a:r>
          </a:p>
        </p:txBody>
      </p:sp>
      <p:sp>
        <p:nvSpPr>
          <p:cNvPr id="37" name="TextBox 36"/>
          <p:cNvSpPr txBox="1"/>
          <p:nvPr/>
        </p:nvSpPr>
        <p:spPr>
          <a:xfrm>
            <a:off x="594360" y="4956048"/>
            <a:ext cx="1325880" cy="320040"/>
          </a:xfrm>
          <a:prstGeom prst="rect">
            <a:avLst/>
          </a:prstGeom>
          <a:noFill/>
        </p:spPr>
        <p:txBody>
          <a:bodyPr wrap="square" lIns="45720" rIns="45720" anchor="t">
            <a:spAutoFit/>
          </a:bodyPr>
          <a:lstStyle/>
          <a:p>
            <a:pPr algn="ctr">
              <a:lnSpc>
                <a:spcPct val="108000"/>
              </a:lnSpc>
              <a:spcAft>
                <a:spcPts val="400"/>
              </a:spcAft>
            </a:pPr>
            <a:r>
              <a:rPr sz="1150" b="0" i="0">
                <a:solidFill>
                  <a:srgbClr val="FFFFFF"/>
                </a:solidFill>
                <a:latin typeface="Calibri"/>
              </a:rPr>
              <a:t>questions</a:t>
            </a:r>
          </a:p>
        </p:txBody>
      </p:sp>
      <p:sp>
        <p:nvSpPr>
          <p:cNvPr id="38" name="TextBox 37"/>
          <p:cNvSpPr txBox="1"/>
          <p:nvPr/>
        </p:nvSpPr>
        <p:spPr>
          <a:xfrm>
            <a:off x="1965960" y="4526280"/>
            <a:ext cx="365760" cy="731520"/>
          </a:xfrm>
          <a:prstGeom prst="rect">
            <a:avLst/>
          </a:prstGeom>
          <a:noFill/>
        </p:spPr>
        <p:txBody>
          <a:bodyPr wrap="square" lIns="45720" rIns="45720" anchor="ctr">
            <a:spAutoFit/>
          </a:bodyPr>
          <a:lstStyle/>
          <a:p>
            <a:pPr algn="ctr">
              <a:lnSpc>
                <a:spcPct val="108000"/>
              </a:lnSpc>
              <a:spcAft>
                <a:spcPts val="400"/>
              </a:spcAft>
            </a:pPr>
            <a:r>
              <a:rPr sz="2600" b="1" i="0">
                <a:solidFill>
                  <a:srgbClr val="5B6573"/>
                </a:solidFill>
                <a:latin typeface="Calibri"/>
              </a:rPr>
              <a:t>×</a:t>
            </a:r>
          </a:p>
        </p:txBody>
      </p:sp>
      <p:sp>
        <p:nvSpPr>
          <p:cNvPr id="39" name="Rounded Rectangle 38"/>
          <p:cNvSpPr/>
          <p:nvPr/>
        </p:nvSpPr>
        <p:spPr>
          <a:xfrm>
            <a:off x="2331720" y="4480560"/>
            <a:ext cx="1417320" cy="822960"/>
          </a:xfrm>
          <a:prstGeom prst="roundRect">
            <a:avLst>
              <a:gd name="adj" fmla="val 1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2377439" y="4507992"/>
            <a:ext cx="1325880" cy="457200"/>
          </a:xfrm>
          <a:prstGeom prst="rect">
            <a:avLst/>
          </a:prstGeom>
          <a:noFill/>
        </p:spPr>
        <p:txBody>
          <a:bodyPr wrap="square" lIns="45720" rIns="45720" anchor="t">
            <a:spAutoFit/>
          </a:bodyPr>
          <a:lstStyle/>
          <a:p>
            <a:pPr algn="ctr">
              <a:lnSpc>
                <a:spcPct val="100000"/>
              </a:lnSpc>
              <a:spcAft>
                <a:spcPts val="400"/>
              </a:spcAft>
            </a:pPr>
            <a:r>
              <a:rPr sz="2600" b="1" i="0">
                <a:solidFill>
                  <a:srgbClr val="FFFFFF"/>
                </a:solidFill>
                <a:latin typeface="Calibri"/>
              </a:rPr>
              <a:t>2</a:t>
            </a:r>
          </a:p>
        </p:txBody>
      </p:sp>
      <p:sp>
        <p:nvSpPr>
          <p:cNvPr id="41" name="TextBox 40"/>
          <p:cNvSpPr txBox="1"/>
          <p:nvPr/>
        </p:nvSpPr>
        <p:spPr>
          <a:xfrm>
            <a:off x="2377439" y="4956048"/>
            <a:ext cx="1325880" cy="320040"/>
          </a:xfrm>
          <a:prstGeom prst="rect">
            <a:avLst/>
          </a:prstGeom>
          <a:noFill/>
        </p:spPr>
        <p:txBody>
          <a:bodyPr wrap="square" lIns="45720" rIns="45720" anchor="t">
            <a:spAutoFit/>
          </a:bodyPr>
          <a:lstStyle/>
          <a:p>
            <a:pPr algn="ctr">
              <a:lnSpc>
                <a:spcPct val="108000"/>
              </a:lnSpc>
              <a:spcAft>
                <a:spcPts val="400"/>
              </a:spcAft>
            </a:pPr>
            <a:r>
              <a:rPr sz="1150" b="0" i="0">
                <a:solidFill>
                  <a:srgbClr val="FFFFFF"/>
                </a:solidFill>
                <a:latin typeface="Calibri"/>
              </a:rPr>
              <a:t>source orders</a:t>
            </a:r>
          </a:p>
        </p:txBody>
      </p:sp>
      <p:sp>
        <p:nvSpPr>
          <p:cNvPr id="42" name="TextBox 41"/>
          <p:cNvSpPr txBox="1"/>
          <p:nvPr/>
        </p:nvSpPr>
        <p:spPr>
          <a:xfrm>
            <a:off x="3749039" y="4526280"/>
            <a:ext cx="365760" cy="731520"/>
          </a:xfrm>
          <a:prstGeom prst="rect">
            <a:avLst/>
          </a:prstGeom>
          <a:noFill/>
        </p:spPr>
        <p:txBody>
          <a:bodyPr wrap="square" lIns="45720" rIns="45720" anchor="ctr">
            <a:spAutoFit/>
          </a:bodyPr>
          <a:lstStyle/>
          <a:p>
            <a:pPr algn="ctr">
              <a:lnSpc>
                <a:spcPct val="108000"/>
              </a:lnSpc>
              <a:spcAft>
                <a:spcPts val="400"/>
              </a:spcAft>
            </a:pPr>
            <a:r>
              <a:rPr sz="2600" b="1" i="0">
                <a:solidFill>
                  <a:srgbClr val="5B6573"/>
                </a:solidFill>
                <a:latin typeface="Calibri"/>
              </a:rPr>
              <a:t>×</a:t>
            </a:r>
          </a:p>
        </p:txBody>
      </p:sp>
      <p:sp>
        <p:nvSpPr>
          <p:cNvPr id="43" name="Rounded Rectangle 42"/>
          <p:cNvSpPr/>
          <p:nvPr/>
        </p:nvSpPr>
        <p:spPr>
          <a:xfrm>
            <a:off x="4114800" y="4480560"/>
            <a:ext cx="1417320" cy="822960"/>
          </a:xfrm>
          <a:prstGeom prst="roundRect">
            <a:avLst>
              <a:gd name="adj" fmla="val 1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4160520" y="4507992"/>
            <a:ext cx="1325880" cy="457200"/>
          </a:xfrm>
          <a:prstGeom prst="rect">
            <a:avLst/>
          </a:prstGeom>
          <a:noFill/>
        </p:spPr>
        <p:txBody>
          <a:bodyPr wrap="square" lIns="45720" rIns="45720" anchor="t">
            <a:spAutoFit/>
          </a:bodyPr>
          <a:lstStyle/>
          <a:p>
            <a:pPr algn="ctr">
              <a:lnSpc>
                <a:spcPct val="100000"/>
              </a:lnSpc>
              <a:spcAft>
                <a:spcPts val="400"/>
              </a:spcAft>
            </a:pPr>
            <a:r>
              <a:rPr sz="2600" b="1" i="0">
                <a:solidFill>
                  <a:srgbClr val="FFFFFF"/>
                </a:solidFill>
                <a:latin typeface="Calibri"/>
              </a:rPr>
              <a:t>5</a:t>
            </a:r>
          </a:p>
        </p:txBody>
      </p:sp>
      <p:sp>
        <p:nvSpPr>
          <p:cNvPr id="45" name="TextBox 44"/>
          <p:cNvSpPr txBox="1"/>
          <p:nvPr/>
        </p:nvSpPr>
        <p:spPr>
          <a:xfrm>
            <a:off x="4160520" y="4956048"/>
            <a:ext cx="1325880" cy="320040"/>
          </a:xfrm>
          <a:prstGeom prst="rect">
            <a:avLst/>
          </a:prstGeom>
          <a:noFill/>
        </p:spPr>
        <p:txBody>
          <a:bodyPr wrap="square" lIns="45720" rIns="45720" anchor="t">
            <a:spAutoFit/>
          </a:bodyPr>
          <a:lstStyle/>
          <a:p>
            <a:pPr algn="ctr">
              <a:lnSpc>
                <a:spcPct val="108000"/>
              </a:lnSpc>
              <a:spcAft>
                <a:spcPts val="400"/>
              </a:spcAft>
            </a:pPr>
            <a:r>
              <a:rPr sz="1150" b="0" i="0">
                <a:solidFill>
                  <a:srgbClr val="FFFFFF"/>
                </a:solidFill>
                <a:latin typeface="Calibri"/>
              </a:rPr>
              <a:t>repeats</a:t>
            </a:r>
          </a:p>
        </p:txBody>
      </p:sp>
      <p:sp>
        <p:nvSpPr>
          <p:cNvPr id="46" name="TextBox 45"/>
          <p:cNvSpPr txBox="1"/>
          <p:nvPr/>
        </p:nvSpPr>
        <p:spPr>
          <a:xfrm>
            <a:off x="5532120" y="4526280"/>
            <a:ext cx="365760" cy="731520"/>
          </a:xfrm>
          <a:prstGeom prst="rect">
            <a:avLst/>
          </a:prstGeom>
          <a:noFill/>
        </p:spPr>
        <p:txBody>
          <a:bodyPr wrap="square" lIns="45720" rIns="45720" anchor="ctr">
            <a:spAutoFit/>
          </a:bodyPr>
          <a:lstStyle/>
          <a:p>
            <a:pPr algn="ctr">
              <a:lnSpc>
                <a:spcPct val="108000"/>
              </a:lnSpc>
              <a:spcAft>
                <a:spcPts val="400"/>
              </a:spcAft>
            </a:pPr>
            <a:r>
              <a:rPr sz="2600" b="1" i="0">
                <a:solidFill>
                  <a:srgbClr val="5B6573"/>
                </a:solidFill>
                <a:latin typeface="Calibri"/>
              </a:rPr>
              <a:t>=</a:t>
            </a:r>
          </a:p>
        </p:txBody>
      </p:sp>
      <p:sp>
        <p:nvSpPr>
          <p:cNvPr id="47" name="Rounded Rectangle 46"/>
          <p:cNvSpPr/>
          <p:nvPr/>
        </p:nvSpPr>
        <p:spPr>
          <a:xfrm>
            <a:off x="5897880" y="4480560"/>
            <a:ext cx="1920240" cy="822960"/>
          </a:xfrm>
          <a:prstGeom prst="roundRect">
            <a:avLst>
              <a:gd name="adj" fmla="val 1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5943600" y="4507992"/>
            <a:ext cx="1828800" cy="457200"/>
          </a:xfrm>
          <a:prstGeom prst="rect">
            <a:avLst/>
          </a:prstGeom>
          <a:noFill/>
        </p:spPr>
        <p:txBody>
          <a:bodyPr wrap="square" lIns="45720" rIns="45720" anchor="t">
            <a:spAutoFit/>
          </a:bodyPr>
          <a:lstStyle/>
          <a:p>
            <a:pPr algn="ctr">
              <a:lnSpc>
                <a:spcPct val="100000"/>
              </a:lnSpc>
              <a:spcAft>
                <a:spcPts val="400"/>
              </a:spcAft>
            </a:pPr>
            <a:r>
              <a:rPr sz="2600" b="1" i="0">
                <a:solidFill>
                  <a:srgbClr val="FFFFFF"/>
                </a:solidFill>
                <a:latin typeface="Calibri"/>
              </a:rPr>
              <a:t>290</a:t>
            </a:r>
          </a:p>
        </p:txBody>
      </p:sp>
      <p:sp>
        <p:nvSpPr>
          <p:cNvPr id="49" name="TextBox 48"/>
          <p:cNvSpPr txBox="1"/>
          <p:nvPr/>
        </p:nvSpPr>
        <p:spPr>
          <a:xfrm>
            <a:off x="5943600" y="4956048"/>
            <a:ext cx="1828800" cy="320040"/>
          </a:xfrm>
          <a:prstGeom prst="rect">
            <a:avLst/>
          </a:prstGeom>
          <a:noFill/>
        </p:spPr>
        <p:txBody>
          <a:bodyPr wrap="square" lIns="45720" rIns="45720" anchor="t">
            <a:spAutoFit/>
          </a:bodyPr>
          <a:lstStyle/>
          <a:p>
            <a:pPr algn="ctr">
              <a:lnSpc>
                <a:spcPct val="108000"/>
              </a:lnSpc>
              <a:spcAft>
                <a:spcPts val="400"/>
              </a:spcAft>
            </a:pPr>
            <a:r>
              <a:rPr sz="1150" b="0" i="0">
                <a:solidFill>
                  <a:srgbClr val="FFFFFF"/>
                </a:solidFill>
                <a:latin typeface="Calibri"/>
              </a:rPr>
              <a:t>answers per version</a:t>
            </a:r>
          </a:p>
        </p:txBody>
      </p:sp>
      <p:sp>
        <p:nvSpPr>
          <p:cNvPr id="50" name="Rounded Rectangle 49"/>
          <p:cNvSpPr/>
          <p:nvPr/>
        </p:nvSpPr>
        <p:spPr>
          <a:xfrm>
            <a:off x="8321040" y="4160520"/>
            <a:ext cx="3337560" cy="2011680"/>
          </a:xfrm>
          <a:prstGeom prst="roundRect">
            <a:avLst>
              <a:gd name="adj" fmla="val 6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458200" y="4297680"/>
            <a:ext cx="3063240" cy="365760"/>
          </a:xfrm>
          <a:prstGeom prst="rect">
            <a:avLst/>
          </a:prstGeom>
          <a:noFill/>
        </p:spPr>
        <p:txBody>
          <a:bodyPr wrap="square" lIns="45720" rIns="45720" anchor="t">
            <a:spAutoFit/>
          </a:bodyPr>
          <a:lstStyle/>
          <a:p>
            <a:pPr algn="l">
              <a:lnSpc>
                <a:spcPct val="108000"/>
              </a:lnSpc>
              <a:spcAft>
                <a:spcPts val="400"/>
              </a:spcAft>
            </a:pPr>
            <a:r>
              <a:rPr sz="1400" b="1" i="0">
                <a:solidFill>
                  <a:srgbClr val="0B2240"/>
                </a:solidFill>
                <a:latin typeface="Calibri"/>
              </a:rPr>
              <a:t>Kept honest</a:t>
            </a:r>
          </a:p>
        </p:txBody>
      </p:sp>
      <p:sp>
        <p:nvSpPr>
          <p:cNvPr id="52" name="TextBox 51"/>
          <p:cNvSpPr txBox="1"/>
          <p:nvPr/>
        </p:nvSpPr>
        <p:spPr>
          <a:xfrm>
            <a:off x="8458200" y="4681728"/>
            <a:ext cx="3063240" cy="1353312"/>
          </a:xfrm>
          <a:prstGeom prst="rect">
            <a:avLst/>
          </a:prstGeom>
          <a:noFill/>
        </p:spPr>
        <p:txBody>
          <a:bodyPr wrap="square" lIns="45720" rIns="45720" anchor="t">
            <a:spAutoFit/>
          </a:bodyPr>
          <a:lstStyle/>
          <a:p>
            <a:pPr marL="201168" indent="-182880" algn="l">
              <a:lnSpc>
                <a:spcPct val="108000"/>
              </a:lnSpc>
              <a:spcAft>
                <a:spcPts val="500"/>
              </a:spcAft>
              <a:buChar char="•"/>
            </a:pPr>
            <a:r>
              <a:rPr sz="1150" b="0" i="0">
                <a:solidFill>
                  <a:srgbClr val="1F2937"/>
                </a:solidFill>
                <a:latin typeface="Calibri"/>
              </a:rPr>
              <a:t>Model, prompt and settings locked; drift stops a run</a:t>
            </a:r>
          </a:p>
          <a:p>
            <a:pPr marL="201168" indent="-182880" algn="l">
              <a:lnSpc>
                <a:spcPct val="108000"/>
              </a:lnSpc>
              <a:spcAft>
                <a:spcPts val="500"/>
              </a:spcAft>
              <a:buChar char="•"/>
            </a:pPr>
            <a:r>
              <a:rPr sz="1150" b="0" i="0">
                <a:solidFill>
                  <a:srgbClr val="1F2937"/>
                </a:solidFill>
                <a:latin typeface="Calibri"/>
              </a:rPr>
              <a:t>Results are write-once</a:t>
            </a:r>
          </a:p>
          <a:p>
            <a:pPr marL="201168" indent="-182880" algn="l">
              <a:lnSpc>
                <a:spcPct val="108000"/>
              </a:lnSpc>
              <a:spcAft>
                <a:spcPts val="500"/>
              </a:spcAft>
              <a:buChar char="•"/>
            </a:pPr>
            <a:r>
              <a:rPr sz="1150" b="0" i="0">
                <a:solidFill>
                  <a:srgbClr val="1F2937"/>
                </a:solidFill>
                <a:latin typeface="Calibri"/>
              </a:rPr>
              <a:t>All 290 pairs matched on question, sources, order and competitor text</a:t>
            </a:r>
          </a:p>
        </p:txBody>
      </p:sp>
      <p:sp>
        <p:nvSpPr>
          <p:cNvPr id="53" name="TextBox 52"/>
          <p:cNvSpPr txBox="1"/>
          <p:nvPr/>
        </p:nvSpPr>
        <p:spPr>
          <a:xfrm>
            <a:off x="548640" y="5486400"/>
            <a:ext cx="7589520" cy="731520"/>
          </a:xfrm>
          <a:prstGeom prst="rect">
            <a:avLst/>
          </a:prstGeom>
          <a:noFill/>
        </p:spPr>
        <p:txBody>
          <a:bodyPr wrap="square" lIns="45720" rIns="45720" anchor="t">
            <a:spAutoFit/>
          </a:bodyPr>
          <a:lstStyle/>
          <a:p>
            <a:pPr algn="l">
              <a:lnSpc>
                <a:spcPct val="108000"/>
              </a:lnSpc>
              <a:spcAft>
                <a:spcPts val="400"/>
              </a:spcAft>
            </a:pPr>
            <a:r>
              <a:rPr sz="1150" b="0" i="0">
                <a:solidFill>
                  <a:srgbClr val="5B6573"/>
                </a:solidFill>
                <a:latin typeface="Calibri"/>
              </a:rPr>
              <a:t>290 answers are not 290 independent questions: the analysis resamples the 29 questions. An interval that crosses zero leaves the direction uncertain.</a:t>
            </a:r>
          </a:p>
        </p:txBody>
      </p:sp>
      <p:sp>
        <p:nvSpPr>
          <p:cNvPr id="54" name="TextBox 53"/>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 Technical Report and Handover Guide v1.1, Sections 5–6 and Figure 1. Reportable runs use OpenAI or Anthropic only; offline mode is for dry runs.</a:t>
            </a:r>
          </a:p>
        </p:txBody>
      </p:sp>
      <p:sp>
        <p:nvSpPr>
          <p:cNvPr id="55" name="TextBox 54"/>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13</a:t>
            </a:r>
          </a:p>
        </p:txBody>
      </p:sp>
    </p:spTree>
  </p:cSld>
  <p:clrMapOvr>
    <a:masterClrMapping/>
  </p:clrMapOvr>
</p:sld>
</file>

<file path=ppt/slides/slide10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WHAT</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800" b="1" i="0">
                <a:solidFill>
                  <a:srgbClr val="0B2240"/>
                </a:solidFill>
                <a:latin typeface="Calibri"/>
              </a:rPr>
              <a:t>Result: answers citing Flight Centre rose from 40.0% to 52.4%</a:t>
            </a:r>
          </a:p>
        </p:txBody>
      </p:sp>
      <p:sp>
        <p:nvSpPr>
          <p:cNvPr id="4" name="Rounded Rectangle 3"/>
          <p:cNvSpPr/>
          <p:nvPr/>
        </p:nvSpPr>
        <p:spPr>
          <a:xfrm>
            <a:off x="1020470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Our experiment</a:t>
            </a:r>
          </a:p>
        </p:txBody>
      </p:sp>
      <p:graphicFrame>
        <p:nvGraphicFramePr>
          <p:cNvPr id="5" name="Chart 4"/>
          <p:cNvGraphicFramePr>
            <a:graphicFrameLocks noGrp="1"/>
          </p:cNvGraphicFramePr>
          <p:nvPr/>
        </p:nvGraphicFramePr>
        <p:xfrm>
          <a:off x="548640" y="1554480"/>
          <a:ext cx="51206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5943600" y="1600200"/>
            <a:ext cx="2743200" cy="1371600"/>
          </a:xfrm>
          <a:prstGeom prst="roundRect">
            <a:avLst>
              <a:gd name="adj" fmla="val 6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080760" y="1709928"/>
            <a:ext cx="2468880" cy="685800"/>
          </a:xfrm>
          <a:prstGeom prst="rect">
            <a:avLst/>
          </a:prstGeom>
          <a:noFill/>
        </p:spPr>
        <p:txBody>
          <a:bodyPr wrap="square" lIns="45720" rIns="45720" anchor="t">
            <a:spAutoFit/>
          </a:bodyPr>
          <a:lstStyle/>
          <a:p>
            <a:pPr algn="l">
              <a:lnSpc>
                <a:spcPct val="100000"/>
              </a:lnSpc>
              <a:spcAft>
                <a:spcPts val="400"/>
              </a:spcAft>
            </a:pPr>
            <a:r>
              <a:rPr sz="3000" b="1" i="0">
                <a:solidFill>
                  <a:srgbClr val="FFFFFF"/>
                </a:solidFill>
                <a:latin typeface="Calibri"/>
              </a:rPr>
              <a:t>116 → 152</a:t>
            </a:r>
          </a:p>
        </p:txBody>
      </p:sp>
      <p:sp>
        <p:nvSpPr>
          <p:cNvPr id="8" name="TextBox 7"/>
          <p:cNvSpPr txBox="1"/>
          <p:nvPr/>
        </p:nvSpPr>
        <p:spPr>
          <a:xfrm>
            <a:off x="6080760" y="2313432"/>
            <a:ext cx="2468880" cy="630936"/>
          </a:xfrm>
          <a:prstGeom prst="rect">
            <a:avLst/>
          </a:prstGeom>
          <a:noFill/>
        </p:spPr>
        <p:txBody>
          <a:bodyPr wrap="square" lIns="45720" rIns="45720" anchor="t">
            <a:spAutoFit/>
          </a:bodyPr>
          <a:lstStyle/>
          <a:p>
            <a:pPr algn="l">
              <a:lnSpc>
                <a:spcPct val="105000"/>
              </a:lnSpc>
              <a:spcAft>
                <a:spcPts val="400"/>
              </a:spcAft>
            </a:pPr>
            <a:r>
              <a:rPr sz="1150" b="0" i="0">
                <a:solidFill>
                  <a:srgbClr val="FFFFFF"/>
                </a:solidFill>
                <a:latin typeface="Calibri"/>
              </a:rPr>
              <a:t>of 290 answers cited FC</a:t>
            </a:r>
          </a:p>
        </p:txBody>
      </p:sp>
      <p:sp>
        <p:nvSpPr>
          <p:cNvPr id="9" name="Rounded Rectangle 8"/>
          <p:cNvSpPr/>
          <p:nvPr/>
        </p:nvSpPr>
        <p:spPr>
          <a:xfrm>
            <a:off x="8823960" y="1600200"/>
            <a:ext cx="2834640" cy="1371600"/>
          </a:xfrm>
          <a:prstGeom prst="roundRect">
            <a:avLst>
              <a:gd name="adj" fmla="val 6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961120" y="1709928"/>
            <a:ext cx="2560320" cy="685800"/>
          </a:xfrm>
          <a:prstGeom prst="rect">
            <a:avLst/>
          </a:prstGeom>
          <a:noFill/>
        </p:spPr>
        <p:txBody>
          <a:bodyPr wrap="square" lIns="45720" rIns="45720" anchor="t">
            <a:spAutoFit/>
          </a:bodyPr>
          <a:lstStyle/>
          <a:p>
            <a:pPr algn="l">
              <a:lnSpc>
                <a:spcPct val="100000"/>
              </a:lnSpc>
              <a:spcAft>
                <a:spcPts val="400"/>
              </a:spcAft>
            </a:pPr>
            <a:r>
              <a:rPr sz="3000" b="1" i="0">
                <a:solidFill>
                  <a:srgbClr val="FFFFFF"/>
                </a:solidFill>
                <a:latin typeface="Calibri"/>
              </a:rPr>
              <a:t>+12.4 pts</a:t>
            </a:r>
          </a:p>
        </p:txBody>
      </p:sp>
      <p:sp>
        <p:nvSpPr>
          <p:cNvPr id="11" name="TextBox 10"/>
          <p:cNvSpPr txBox="1"/>
          <p:nvPr/>
        </p:nvSpPr>
        <p:spPr>
          <a:xfrm>
            <a:off x="8961120" y="2313432"/>
            <a:ext cx="2560320" cy="630936"/>
          </a:xfrm>
          <a:prstGeom prst="rect">
            <a:avLst/>
          </a:prstGeom>
          <a:noFill/>
        </p:spPr>
        <p:txBody>
          <a:bodyPr wrap="square" lIns="45720" rIns="45720" anchor="t">
            <a:spAutoFit/>
          </a:bodyPr>
          <a:lstStyle/>
          <a:p>
            <a:pPr algn="l">
              <a:lnSpc>
                <a:spcPct val="105000"/>
              </a:lnSpc>
              <a:spcAft>
                <a:spcPts val="400"/>
              </a:spcAft>
            </a:pPr>
            <a:r>
              <a:rPr sz="1150" b="0" i="0">
                <a:solidFill>
                  <a:srgbClr val="FFFFFF"/>
                </a:solidFill>
                <a:latin typeface="Calibri"/>
              </a:rPr>
              <a:t>95% interval +5.2 to +20.0</a:t>
            </a:r>
          </a:p>
        </p:txBody>
      </p:sp>
      <p:sp>
        <p:nvSpPr>
          <p:cNvPr id="12" name="Rounded Rectangle 11"/>
          <p:cNvSpPr/>
          <p:nvPr/>
        </p:nvSpPr>
        <p:spPr>
          <a:xfrm>
            <a:off x="5943600" y="3108960"/>
            <a:ext cx="5715000" cy="14630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126480" y="3154680"/>
            <a:ext cx="5394960"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Question by question: 21 up, 6 down, 2 unchanged</a:t>
            </a:r>
          </a:p>
        </p:txBody>
      </p:sp>
      <p:sp>
        <p:nvSpPr>
          <p:cNvPr id="14" name="Rounded Rectangle 13"/>
          <p:cNvSpPr/>
          <p:nvPr/>
        </p:nvSpPr>
        <p:spPr>
          <a:xfrm>
            <a:off x="6126480"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487668"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6848856"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210044"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7571232"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7932420"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8293608"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8654796"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9015984"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ounded Rectangle 22"/>
          <p:cNvSpPr/>
          <p:nvPr/>
        </p:nvSpPr>
        <p:spPr>
          <a:xfrm>
            <a:off x="9377172"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Rounded Rectangle 23"/>
          <p:cNvSpPr/>
          <p:nvPr/>
        </p:nvSpPr>
        <p:spPr>
          <a:xfrm>
            <a:off x="9738360"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10099548"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p:cNvSpPr/>
          <p:nvPr/>
        </p:nvSpPr>
        <p:spPr>
          <a:xfrm>
            <a:off x="10460736"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ounded Rectangle 26"/>
          <p:cNvSpPr/>
          <p:nvPr/>
        </p:nvSpPr>
        <p:spPr>
          <a:xfrm>
            <a:off x="10821924"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1183112" y="361188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Rounded Rectangle 28"/>
          <p:cNvSpPr/>
          <p:nvPr/>
        </p:nvSpPr>
        <p:spPr>
          <a:xfrm>
            <a:off x="6126480"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ounded Rectangle 29"/>
          <p:cNvSpPr/>
          <p:nvPr/>
        </p:nvSpPr>
        <p:spPr>
          <a:xfrm>
            <a:off x="6487668"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6848856"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le 31"/>
          <p:cNvSpPr/>
          <p:nvPr/>
        </p:nvSpPr>
        <p:spPr>
          <a:xfrm>
            <a:off x="7210044"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32"/>
          <p:cNvSpPr/>
          <p:nvPr/>
        </p:nvSpPr>
        <p:spPr>
          <a:xfrm>
            <a:off x="7571232"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7932420" y="3977640"/>
            <a:ext cx="301752" cy="301752"/>
          </a:xfrm>
          <a:prstGeom prst="roundRect">
            <a:avLst>
              <a:gd name="adj" fmla="val 2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Rounded Rectangle 34"/>
          <p:cNvSpPr/>
          <p:nvPr/>
        </p:nvSpPr>
        <p:spPr>
          <a:xfrm>
            <a:off x="8293608"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Rounded Rectangle 35"/>
          <p:cNvSpPr/>
          <p:nvPr/>
        </p:nvSpPr>
        <p:spPr>
          <a:xfrm>
            <a:off x="8654796"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Rounded Rectangle 36"/>
          <p:cNvSpPr/>
          <p:nvPr/>
        </p:nvSpPr>
        <p:spPr>
          <a:xfrm>
            <a:off x="9015984"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ounded Rectangle 37"/>
          <p:cNvSpPr/>
          <p:nvPr/>
        </p:nvSpPr>
        <p:spPr>
          <a:xfrm>
            <a:off x="9377172"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Rounded Rectangle 38"/>
          <p:cNvSpPr/>
          <p:nvPr/>
        </p:nvSpPr>
        <p:spPr>
          <a:xfrm>
            <a:off x="9738360"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Rounded Rectangle 39"/>
          <p:cNvSpPr/>
          <p:nvPr/>
        </p:nvSpPr>
        <p:spPr>
          <a:xfrm>
            <a:off x="10099548" y="3977640"/>
            <a:ext cx="301752" cy="301752"/>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Rounded Rectangle 40"/>
          <p:cNvSpPr/>
          <p:nvPr/>
        </p:nvSpPr>
        <p:spPr>
          <a:xfrm>
            <a:off x="10460736" y="3977640"/>
            <a:ext cx="301752" cy="301752"/>
          </a:xfrm>
          <a:prstGeom prst="roundRect">
            <a:avLst>
              <a:gd name="adj" fmla="val 20000"/>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ounded Rectangle 41"/>
          <p:cNvSpPr/>
          <p:nvPr/>
        </p:nvSpPr>
        <p:spPr>
          <a:xfrm>
            <a:off x="10821924" y="3977640"/>
            <a:ext cx="301752" cy="301752"/>
          </a:xfrm>
          <a:prstGeom prst="roundRect">
            <a:avLst>
              <a:gd name="adj" fmla="val 20000"/>
            </a:avLst>
          </a:prstGeom>
          <a:solidFill>
            <a:srgbClr val="9FB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Rounded Rectangle 42"/>
          <p:cNvSpPr/>
          <p:nvPr/>
        </p:nvSpPr>
        <p:spPr>
          <a:xfrm>
            <a:off x="5943600" y="4709160"/>
            <a:ext cx="5715000" cy="1417320"/>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126480" y="4754880"/>
            <a:ext cx="5394960" cy="1371600"/>
          </a:xfrm>
          <a:prstGeom prst="rect">
            <a:avLst/>
          </a:prstGeom>
          <a:noFill/>
        </p:spPr>
        <p:txBody>
          <a:bodyPr wrap="square" lIns="45720" rIns="45720" anchor="t">
            <a:spAutoFit/>
          </a:bodyPr>
          <a:lstStyle/>
          <a:p>
            <a:pPr algn="l">
              <a:lnSpc>
                <a:spcPct val="102000"/>
              </a:lnSpc>
              <a:spcAft>
                <a:spcPts val="500"/>
              </a:spcAft>
            </a:pPr>
            <a:r>
              <a:rPr sz="1200" b="1" i="0">
                <a:solidFill>
                  <a:srgbClr val="0B2240"/>
                </a:solidFill>
                <a:latin typeface="Calibri"/>
              </a:rPr>
              <a:t>About 4 in 10 answers cited FC before, about 5 in 10 after. 52.4% is a rate, not a 52% improvement (relative gain 31%).</a:t>
            </a:r>
          </a:p>
          <a:p>
            <a:pPr algn="l">
              <a:lnSpc>
                <a:spcPct val="102000"/>
              </a:lnSpc>
              <a:spcAft>
                <a:spcPts val="400"/>
              </a:spcAft>
            </a:pPr>
            <a:r>
              <a:rPr sz="1100" b="0" i="0">
                <a:solidFill>
                  <a:srgbClr val="5B6573"/>
                </a:solidFill>
                <a:latin typeface="Calibri"/>
              </a:rPr>
              <a:t>Exploratory: refined on these questions, reused baseline, different capture dates. First same-page run: 49.3%. Not a live ranking, a booking or a revenue forecast.</a:t>
            </a:r>
          </a:p>
        </p:txBody>
      </p:sp>
      <p:sp>
        <p:nvSpPr>
          <p:cNvPr id="45" name="TextBox 44"/>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 Technical Report v1.1, Table 9; Independent_Repeat_Analysis.json; paired bootstrap over questions, 20,000 resamples, seed 20261018. Both totals reproduce offline with no AI call (verify_public_counts.py).</a:t>
            </a:r>
          </a:p>
        </p:txBody>
      </p:sp>
      <p:sp>
        <p:nvSpPr>
          <p:cNvPr id="46" name="TextBox 45"/>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14</a:t>
            </a:r>
          </a:p>
        </p:txBody>
      </p:sp>
    </p:spTree>
  </p:cSld>
  <p:clrMapOvr>
    <a:masterClrMapping/>
  </p:clrMapOvr>
</p:sld>
</file>

<file path=ppt/slides/slide10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WHAT</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800" b="1" i="0">
                <a:solidFill>
                  <a:srgbClr val="0B2240"/>
                </a:solidFill>
                <a:latin typeface="Calibri"/>
              </a:rPr>
              <a:t>One at a time: structure and facts helped, AI rewriting hurt</a:t>
            </a:r>
          </a:p>
        </p:txBody>
      </p:sp>
      <p:sp>
        <p:nvSpPr>
          <p:cNvPr id="4" name="Rounded Rectangle 3"/>
          <p:cNvSpPr/>
          <p:nvPr/>
        </p:nvSpPr>
        <p:spPr>
          <a:xfrm>
            <a:off x="9893808" y="329184"/>
            <a:ext cx="1764792"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Published research</a:t>
            </a:r>
          </a:p>
        </p:txBody>
      </p:sp>
      <p:sp>
        <p:nvSpPr>
          <p:cNvPr id="5" name="Rounded Rectangle 4"/>
          <p:cNvSpPr/>
          <p:nvPr/>
        </p:nvSpPr>
        <p:spPr>
          <a:xfrm>
            <a:off x="833018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Our experiment</a:t>
            </a:r>
          </a:p>
        </p:txBody>
      </p:sp>
      <p:sp>
        <p:nvSpPr>
          <p:cNvPr id="6" name="TextBox 5"/>
          <p:cNvSpPr txBox="1"/>
          <p:nvPr/>
        </p:nvSpPr>
        <p:spPr>
          <a:xfrm>
            <a:off x="640080" y="1481328"/>
            <a:ext cx="4114800" cy="274320"/>
          </a:xfrm>
          <a:prstGeom prst="rect">
            <a:avLst/>
          </a:prstGeom>
          <a:noFill/>
        </p:spPr>
        <p:txBody>
          <a:bodyPr wrap="square" lIns="45720" rIns="45720" anchor="t">
            <a:spAutoFit/>
          </a:bodyPr>
          <a:lstStyle/>
          <a:p>
            <a:pPr algn="l">
              <a:lnSpc>
                <a:spcPct val="108000"/>
              </a:lnSpc>
              <a:spcAft>
                <a:spcPts val="400"/>
              </a:spcAft>
            </a:pPr>
            <a:r>
              <a:rPr sz="1100" b="1" i="0">
                <a:solidFill>
                  <a:srgbClr val="5B6573"/>
                </a:solidFill>
                <a:latin typeface="Calibri"/>
              </a:rPr>
              <a:t>Method and what it changes on FC's page</a:t>
            </a:r>
          </a:p>
        </p:txBody>
      </p:sp>
      <p:sp>
        <p:nvSpPr>
          <p:cNvPr id="7" name="TextBox 6"/>
          <p:cNvSpPr txBox="1"/>
          <p:nvPr/>
        </p:nvSpPr>
        <p:spPr>
          <a:xfrm>
            <a:off x="4754880" y="1481328"/>
            <a:ext cx="2743200" cy="274320"/>
          </a:xfrm>
          <a:prstGeom prst="rect">
            <a:avLst/>
          </a:prstGeom>
          <a:noFill/>
        </p:spPr>
        <p:txBody>
          <a:bodyPr wrap="square" lIns="45720" rIns="45720" anchor="t">
            <a:spAutoFit/>
          </a:bodyPr>
          <a:lstStyle/>
          <a:p>
            <a:pPr algn="l">
              <a:lnSpc>
                <a:spcPct val="108000"/>
              </a:lnSpc>
              <a:spcAft>
                <a:spcPts val="400"/>
              </a:spcAft>
            </a:pPr>
            <a:r>
              <a:rPr sz="1100" b="1" i="0">
                <a:solidFill>
                  <a:srgbClr val="5B6573"/>
                </a:solidFill>
                <a:latin typeface="Calibri"/>
              </a:rPr>
              <a:t>Change vs original (points)</a:t>
            </a:r>
          </a:p>
        </p:txBody>
      </p:sp>
      <p:sp>
        <p:nvSpPr>
          <p:cNvPr id="8" name="Rounded Rectangle 7"/>
          <p:cNvSpPr/>
          <p:nvPr/>
        </p:nvSpPr>
        <p:spPr>
          <a:xfrm>
            <a:off x="548640" y="1783080"/>
            <a:ext cx="6949440" cy="475488"/>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792224"/>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Source position (test only)</a:t>
            </a:r>
          </a:p>
        </p:txBody>
      </p:sp>
      <p:sp>
        <p:nvSpPr>
          <p:cNvPr id="10" name="TextBox 9"/>
          <p:cNvSpPr txBox="1"/>
          <p:nvPr/>
        </p:nvSpPr>
        <p:spPr>
          <a:xfrm>
            <a:off x="640080" y="2020824"/>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Moves FC's unchanged page to the top of the AI's source list</a:t>
            </a:r>
          </a:p>
        </p:txBody>
      </p:sp>
      <p:sp>
        <p:nvSpPr>
          <p:cNvPr id="11" name="Rectangle 10"/>
          <p:cNvSpPr/>
          <p:nvPr/>
        </p:nvSpPr>
        <p:spPr>
          <a:xfrm>
            <a:off x="5303520" y="1892807"/>
            <a:ext cx="1673352" cy="256032"/>
          </a:xfrm>
          <a:prstGeom prst="rect">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022592" y="1874519"/>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+18.3</a:t>
            </a:r>
          </a:p>
        </p:txBody>
      </p:sp>
      <p:sp>
        <p:nvSpPr>
          <p:cNvPr id="13" name="Rounded Rectangle 12"/>
          <p:cNvSpPr/>
          <p:nvPr/>
        </p:nvSpPr>
        <p:spPr>
          <a:xfrm>
            <a:off x="548640" y="2295144"/>
            <a:ext cx="694944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0080" y="2304287"/>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Structured facts</a:t>
            </a:r>
          </a:p>
        </p:txBody>
      </p:sp>
      <p:sp>
        <p:nvSpPr>
          <p:cNvPr id="16" name="TextBox 15"/>
          <p:cNvSpPr txBox="1"/>
          <p:nvPr/>
        </p:nvSpPr>
        <p:spPr>
          <a:xfrm>
            <a:off x="640080" y="2532887"/>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Existing facts as labelled fields: route, fare, fees</a:t>
            </a:r>
          </a:p>
        </p:txBody>
      </p:sp>
      <p:sp>
        <p:nvSpPr>
          <p:cNvPr id="17" name="Rectangle 16"/>
          <p:cNvSpPr/>
          <p:nvPr/>
        </p:nvSpPr>
        <p:spPr>
          <a:xfrm>
            <a:off x="5303520" y="2404872"/>
            <a:ext cx="694944" cy="256032"/>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044183" y="2386584"/>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+7.6</a:t>
            </a:r>
          </a:p>
        </p:txBody>
      </p:sp>
      <p:sp>
        <p:nvSpPr>
          <p:cNvPr id="19" name="Rounded Rectangle 18"/>
          <p:cNvSpPr/>
          <p:nvPr/>
        </p:nvSpPr>
        <p:spPr>
          <a:xfrm>
            <a:off x="548640" y="2807208"/>
            <a:ext cx="6949440" cy="475488"/>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40080" y="2816351"/>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Grounded FAQ</a:t>
            </a:r>
          </a:p>
        </p:txBody>
      </p:sp>
      <p:sp>
        <p:nvSpPr>
          <p:cNvPr id="22" name="TextBox 21"/>
          <p:cNvSpPr txBox="1"/>
          <p:nvPr/>
        </p:nvSpPr>
        <p:spPr>
          <a:xfrm>
            <a:off x="640080" y="3044952"/>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Q&amp;A built only from facts already on the page</a:t>
            </a:r>
          </a:p>
        </p:txBody>
      </p:sp>
      <p:sp>
        <p:nvSpPr>
          <p:cNvPr id="23" name="Rectangle 22"/>
          <p:cNvSpPr/>
          <p:nvPr/>
        </p:nvSpPr>
        <p:spPr>
          <a:xfrm>
            <a:off x="5303520" y="2916936"/>
            <a:ext cx="630936" cy="256032"/>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5980176" y="2898648"/>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+6.9</a:t>
            </a:r>
          </a:p>
        </p:txBody>
      </p:sp>
      <p:sp>
        <p:nvSpPr>
          <p:cNvPr id="25" name="Rounded Rectangle 24"/>
          <p:cNvSpPr/>
          <p:nvPr/>
        </p:nvSpPr>
        <p:spPr>
          <a:xfrm>
            <a:off x="548640" y="3319272"/>
            <a:ext cx="694944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40080" y="3328415"/>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Rendered content + cleanup</a:t>
            </a:r>
          </a:p>
        </p:txBody>
      </p:sp>
      <p:sp>
        <p:nvSpPr>
          <p:cNvPr id="28" name="TextBox 27"/>
          <p:cNvSpPr txBox="1"/>
          <p:nvPr/>
        </p:nvSpPr>
        <p:spPr>
          <a:xfrm>
            <a:off x="640080" y="3557015"/>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Page after JavaScript runs, so deals become text; tidier order</a:t>
            </a:r>
          </a:p>
        </p:txBody>
      </p:sp>
      <p:sp>
        <p:nvSpPr>
          <p:cNvPr id="29" name="Rectangle 28"/>
          <p:cNvSpPr/>
          <p:nvPr/>
        </p:nvSpPr>
        <p:spPr>
          <a:xfrm>
            <a:off x="5303520" y="3429000"/>
            <a:ext cx="603504" cy="256032"/>
          </a:xfrm>
          <a:prstGeom prst="rect">
            <a:avLst/>
          </a:prstGeom>
          <a:solidFill>
            <a:srgbClr val="A9B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952744" y="3410712"/>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+6.6</a:t>
            </a:r>
          </a:p>
        </p:txBody>
      </p:sp>
      <p:sp>
        <p:nvSpPr>
          <p:cNvPr id="31" name="Rounded Rectangle 30"/>
          <p:cNvSpPr/>
          <p:nvPr/>
        </p:nvSpPr>
        <p:spPr>
          <a:xfrm>
            <a:off x="548640" y="3831335"/>
            <a:ext cx="6949440" cy="475488"/>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32" name="TextBox 31"/>
          <p:cNvSpPr txBox="1"/>
          <p:nvPr/>
        </p:nvSpPr>
        <p:spPr>
          <a:xfrm>
            <a:off x="640080" y="3840479"/>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Schema + visible structure</a:t>
            </a:r>
          </a:p>
        </p:txBody>
      </p:sp>
      <p:sp>
        <p:nvSpPr>
          <p:cNvPr id="33" name="TextBox 32"/>
          <p:cNvSpPr txBox="1"/>
          <p:nvPr/>
        </p:nvSpPr>
        <p:spPr>
          <a:xfrm>
            <a:off x="640080" y="4069079"/>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Adds missing schema fields plus a matching visible layout</a:t>
            </a:r>
          </a:p>
        </p:txBody>
      </p:sp>
      <p:sp>
        <p:nvSpPr>
          <p:cNvPr id="34" name="Rectangle 33"/>
          <p:cNvSpPr/>
          <p:nvPr/>
        </p:nvSpPr>
        <p:spPr>
          <a:xfrm>
            <a:off x="5303520" y="3941063"/>
            <a:ext cx="566928" cy="256032"/>
          </a:xfrm>
          <a:prstGeom prst="rect">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16168" y="3922775"/>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+6.2</a:t>
            </a:r>
          </a:p>
        </p:txBody>
      </p:sp>
      <p:sp>
        <p:nvSpPr>
          <p:cNvPr id="36" name="Rounded Rectangle 35"/>
          <p:cNvSpPr/>
          <p:nvPr/>
        </p:nvSpPr>
        <p:spPr>
          <a:xfrm>
            <a:off x="548640" y="4343400"/>
            <a:ext cx="694944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40080" y="4581144"/>
            <a:ext cx="4114800" cy="237744"/>
          </a:xfrm>
          <a:prstGeom prst="rect">
            <a:avLst/>
          </a:prstGeom>
          <a:noFill/>
        </p:spPr>
        <p:txBody>
          <a:bodyPr wrap="square" lIns="45720" rIns="45720" anchor="t">
            <a:spAutoFit/>
          </a:bodyPr>
          <a:lstStyle/>
          <a:p>
            <a:pPr algn="l">
              <a:lnSpc>
                <a:spcPct val="100000"/>
              </a:lnSpc>
              <a:spcAft>
                <a:spcPts val="400"/>
              </a:spcAft>
            </a:pPr>
            <a:r>
              <a:rPr sz="950" b="0" i="0" dirty="0">
                <a:solidFill>
                  <a:srgbClr val="5B6573"/>
                </a:solidFill>
                <a:latin typeface="Calibri"/>
              </a:rPr>
              <a:t>edit</a:t>
            </a:r>
          </a:p>
        </p:txBody>
      </p:sp>
      <p:sp>
        <p:nvSpPr>
          <p:cNvPr id="41" name="Rounded Rectangle 40"/>
          <p:cNvSpPr/>
          <p:nvPr/>
        </p:nvSpPr>
        <p:spPr>
          <a:xfrm>
            <a:off x="548640" y="4855464"/>
            <a:ext cx="6949440" cy="475488"/>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40080" y="4864608"/>
            <a:ext cx="2743200" cy="246888"/>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Automatic AI rewriting</a:t>
            </a:r>
          </a:p>
        </p:txBody>
      </p:sp>
      <p:sp>
        <p:nvSpPr>
          <p:cNvPr id="43" name="TextBox 42"/>
          <p:cNvSpPr txBox="1"/>
          <p:nvPr/>
        </p:nvSpPr>
        <p:spPr>
          <a:xfrm>
            <a:off x="640080" y="5093208"/>
            <a:ext cx="4114800" cy="237744"/>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AI rewrites the page; rewrites adding a new number rejected</a:t>
            </a:r>
          </a:p>
        </p:txBody>
      </p:sp>
      <p:sp>
        <p:nvSpPr>
          <p:cNvPr id="44" name="Rectangle 43"/>
          <p:cNvSpPr/>
          <p:nvPr/>
        </p:nvSpPr>
        <p:spPr>
          <a:xfrm>
            <a:off x="4800600" y="4965192"/>
            <a:ext cx="502920"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5358383" y="4946904"/>
            <a:ext cx="640080" cy="274320"/>
          </a:xfrm>
          <a:prstGeom prst="rect">
            <a:avLst/>
          </a:prstGeom>
          <a:noFill/>
        </p:spPr>
        <p:txBody>
          <a:bodyPr wrap="square" lIns="45720" rIns="45720" anchor="ctr">
            <a:spAutoFit/>
          </a:bodyPr>
          <a:lstStyle/>
          <a:p>
            <a:pPr algn="l">
              <a:lnSpc>
                <a:spcPct val="108000"/>
              </a:lnSpc>
              <a:spcAft>
                <a:spcPts val="400"/>
              </a:spcAft>
            </a:pPr>
            <a:r>
              <a:rPr sz="1150" b="1" i="0">
                <a:solidFill>
                  <a:srgbClr val="1F2937"/>
                </a:solidFill>
                <a:latin typeface="Calibri"/>
              </a:rPr>
              <a:t>−5.5</a:t>
            </a:r>
          </a:p>
        </p:txBody>
      </p:sp>
      <p:sp>
        <p:nvSpPr>
          <p:cNvPr id="46" name="Rectangle 45"/>
          <p:cNvSpPr/>
          <p:nvPr/>
        </p:nvSpPr>
        <p:spPr>
          <a:xfrm>
            <a:off x="5294376" y="1783080"/>
            <a:ext cx="18288" cy="3584448"/>
          </a:xfrm>
          <a:prstGeom prst="rect">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640080" y="5468112"/>
            <a:ext cx="182880" cy="182880"/>
          </a:xfrm>
          <a:prstGeom prst="roundRect">
            <a:avLst>
              <a:gd name="adj" fmla="val 2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68680" y="5413248"/>
            <a:ext cx="822960" cy="274320"/>
          </a:xfrm>
          <a:prstGeom prst="rect">
            <a:avLst/>
          </a:prstGeom>
          <a:noFill/>
        </p:spPr>
        <p:txBody>
          <a:bodyPr wrap="square" lIns="45720" rIns="45720" anchor="ctr">
            <a:spAutoFit/>
          </a:bodyPr>
          <a:lstStyle/>
          <a:p>
            <a:pPr algn="l">
              <a:lnSpc>
                <a:spcPct val="108000"/>
              </a:lnSpc>
              <a:spcAft>
                <a:spcPts val="400"/>
              </a:spcAft>
            </a:pPr>
            <a:r>
              <a:rPr sz="1000" b="0" i="0">
                <a:solidFill>
                  <a:srgbClr val="1F2937"/>
                </a:solidFill>
                <a:latin typeface="Calibri"/>
              </a:rPr>
              <a:t>Clear gain</a:t>
            </a:r>
          </a:p>
        </p:txBody>
      </p:sp>
      <p:sp>
        <p:nvSpPr>
          <p:cNvPr id="49" name="Rounded Rectangle 48"/>
          <p:cNvSpPr/>
          <p:nvPr/>
        </p:nvSpPr>
        <p:spPr>
          <a:xfrm>
            <a:off x="1737360" y="5468112"/>
            <a:ext cx="182880" cy="182880"/>
          </a:xfrm>
          <a:prstGeom prst="roundRect">
            <a:avLst>
              <a:gd name="adj" fmla="val 20000"/>
            </a:avLst>
          </a:prstGeom>
          <a:solidFill>
            <a:srgbClr val="A9B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965960" y="5413248"/>
            <a:ext cx="1645920" cy="274320"/>
          </a:xfrm>
          <a:prstGeom prst="rect">
            <a:avLst/>
          </a:prstGeom>
          <a:noFill/>
        </p:spPr>
        <p:txBody>
          <a:bodyPr wrap="square" lIns="45720" rIns="45720" anchor="ctr">
            <a:spAutoFit/>
          </a:bodyPr>
          <a:lstStyle/>
          <a:p>
            <a:pPr algn="l">
              <a:lnSpc>
                <a:spcPct val="108000"/>
              </a:lnSpc>
              <a:spcAft>
                <a:spcPts val="400"/>
              </a:spcAft>
            </a:pPr>
            <a:r>
              <a:rPr sz="1000" b="0" i="0">
                <a:solidFill>
                  <a:srgbClr val="1F2937"/>
                </a:solidFill>
                <a:latin typeface="Calibri"/>
              </a:rPr>
              <a:t>Uncertain (crosses zero)</a:t>
            </a:r>
          </a:p>
        </p:txBody>
      </p:sp>
      <p:sp>
        <p:nvSpPr>
          <p:cNvPr id="51" name="Rounded Rectangle 50"/>
          <p:cNvSpPr/>
          <p:nvPr/>
        </p:nvSpPr>
        <p:spPr>
          <a:xfrm>
            <a:off x="3657600" y="5468112"/>
            <a:ext cx="182880" cy="182880"/>
          </a:xfrm>
          <a:prstGeom prst="roundRect">
            <a:avLst>
              <a:gd name="adj" fmla="val 20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3886200" y="5413248"/>
            <a:ext cx="640080" cy="274320"/>
          </a:xfrm>
          <a:prstGeom prst="rect">
            <a:avLst/>
          </a:prstGeom>
          <a:noFill/>
        </p:spPr>
        <p:txBody>
          <a:bodyPr wrap="square" lIns="45720" rIns="45720" anchor="ctr">
            <a:spAutoFit/>
          </a:bodyPr>
          <a:lstStyle/>
          <a:p>
            <a:pPr algn="l">
              <a:lnSpc>
                <a:spcPct val="108000"/>
              </a:lnSpc>
              <a:spcAft>
                <a:spcPts val="400"/>
              </a:spcAft>
            </a:pPr>
            <a:r>
              <a:rPr sz="1000" b="0" i="0">
                <a:solidFill>
                  <a:srgbClr val="1F2937"/>
                </a:solidFill>
                <a:latin typeface="Calibri"/>
              </a:rPr>
              <a:t>Decline</a:t>
            </a:r>
          </a:p>
        </p:txBody>
      </p:sp>
      <p:sp>
        <p:nvSpPr>
          <p:cNvPr id="53" name="Rounded Rectangle 52"/>
          <p:cNvSpPr/>
          <p:nvPr/>
        </p:nvSpPr>
        <p:spPr>
          <a:xfrm>
            <a:off x="4572000" y="5468112"/>
            <a:ext cx="182880" cy="182880"/>
          </a:xfrm>
          <a:prstGeom prst="roundRect">
            <a:avLst>
              <a:gd name="adj" fmla="val 2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4800600" y="5413248"/>
            <a:ext cx="1737360" cy="274320"/>
          </a:xfrm>
          <a:prstGeom prst="rect">
            <a:avLst/>
          </a:prstGeom>
          <a:noFill/>
        </p:spPr>
        <p:txBody>
          <a:bodyPr wrap="square" lIns="45720" rIns="45720" anchor="ctr">
            <a:spAutoFit/>
          </a:bodyPr>
          <a:lstStyle/>
          <a:p>
            <a:pPr algn="l">
              <a:lnSpc>
                <a:spcPct val="108000"/>
              </a:lnSpc>
              <a:spcAft>
                <a:spcPts val="400"/>
              </a:spcAft>
            </a:pPr>
            <a:r>
              <a:rPr sz="1000" b="0" i="0">
                <a:solidFill>
                  <a:srgbClr val="1F2937"/>
                </a:solidFill>
                <a:latin typeface="Calibri"/>
              </a:rPr>
              <a:t>Source order (test only)</a:t>
            </a:r>
          </a:p>
        </p:txBody>
      </p:sp>
      <p:sp>
        <p:nvSpPr>
          <p:cNvPr id="55" name="Rounded Rectangle 54"/>
          <p:cNvSpPr/>
          <p:nvPr/>
        </p:nvSpPr>
        <p:spPr>
          <a:xfrm>
            <a:off x="7680960" y="1600200"/>
            <a:ext cx="3977639" cy="1463040"/>
          </a:xfrm>
          <a:prstGeom prst="roundRect">
            <a:avLst>
              <a:gd name="adj" fmla="val 6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7863840" y="1627632"/>
            <a:ext cx="1828800" cy="548640"/>
          </a:xfrm>
          <a:prstGeom prst="rect">
            <a:avLst/>
          </a:prstGeom>
          <a:noFill/>
        </p:spPr>
        <p:txBody>
          <a:bodyPr wrap="square" lIns="45720" rIns="45720" anchor="t">
            <a:spAutoFit/>
          </a:bodyPr>
          <a:lstStyle/>
          <a:p>
            <a:pPr algn="l">
              <a:lnSpc>
                <a:spcPct val="100000"/>
              </a:lnSpc>
              <a:spcAft>
                <a:spcPts val="400"/>
              </a:spcAft>
            </a:pPr>
            <a:r>
              <a:rPr sz="2600" b="1" i="0">
                <a:solidFill>
                  <a:srgbClr val="FFFFFF"/>
                </a:solidFill>
                <a:latin typeface="Calibri"/>
              </a:rPr>
              <a:t>−5.5 pts</a:t>
            </a:r>
          </a:p>
        </p:txBody>
      </p:sp>
      <p:sp>
        <p:nvSpPr>
          <p:cNvPr id="57" name="TextBox 56"/>
          <p:cNvSpPr txBox="1"/>
          <p:nvPr/>
        </p:nvSpPr>
        <p:spPr>
          <a:xfrm>
            <a:off x="7863840" y="2121408"/>
            <a:ext cx="3657600" cy="914400"/>
          </a:xfrm>
          <a:prstGeom prst="rect">
            <a:avLst/>
          </a:prstGeom>
          <a:noFill/>
        </p:spPr>
        <p:txBody>
          <a:bodyPr wrap="square" lIns="45720" rIns="45720" anchor="t">
            <a:spAutoFit/>
          </a:bodyPr>
          <a:lstStyle/>
          <a:p>
            <a:pPr algn="l">
              <a:lnSpc>
                <a:spcPct val="100000"/>
              </a:lnSpc>
              <a:spcAft>
                <a:spcPts val="400"/>
              </a:spcAft>
            </a:pPr>
            <a:r>
              <a:rPr sz="1050" b="0" i="0">
                <a:solidFill>
                  <a:srgbClr val="FDE3E6"/>
                </a:solidFill>
                <a:latin typeface="Calibri"/>
              </a:rPr>
              <a:t>AI rewriting (interval −10.0 to −1.4). C-SEO Bench agrees; Google and Bing warn about manipulative or low-value content, not all AI writing.</a:t>
            </a:r>
          </a:p>
        </p:txBody>
      </p:sp>
      <p:sp>
        <p:nvSpPr>
          <p:cNvPr id="61" name="Rounded Rectangle 60"/>
          <p:cNvSpPr/>
          <p:nvPr/>
        </p:nvSpPr>
        <p:spPr>
          <a:xfrm>
            <a:off x="7680960" y="4297680"/>
            <a:ext cx="3977639" cy="1371600"/>
          </a:xfrm>
          <a:prstGeom prst="roundRect">
            <a:avLst>
              <a:gd name="adj" fmla="val 6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7863840" y="4334256"/>
            <a:ext cx="3657600" cy="1028487"/>
          </a:xfrm>
          <a:prstGeom prst="rect">
            <a:avLst/>
          </a:prstGeom>
          <a:noFill/>
        </p:spPr>
        <p:txBody>
          <a:bodyPr wrap="square" lIns="45720" rIns="45720" anchor="t">
            <a:spAutoFit/>
          </a:bodyPr>
          <a:lstStyle/>
          <a:p>
            <a:pPr algn="l">
              <a:lnSpc>
                <a:spcPct val="100000"/>
              </a:lnSpc>
              <a:spcAft>
                <a:spcPts val="300"/>
              </a:spcAft>
            </a:pPr>
            <a:r>
              <a:rPr sz="1300" b="1" i="0" dirty="0">
                <a:solidFill>
                  <a:srgbClr val="0B2240"/>
                </a:solidFill>
                <a:latin typeface="Calibri"/>
              </a:rPr>
              <a:t>Wh</a:t>
            </a:r>
            <a:r>
              <a:rPr lang="en-US" sz="1300" b="1" i="0" dirty="0">
                <a:solidFill>
                  <a:srgbClr val="0B2240"/>
                </a:solidFill>
                <a:latin typeface="Calibri"/>
              </a:rPr>
              <a:t>at</a:t>
            </a:r>
            <a:r>
              <a:rPr sz="1300" b="1" i="0" dirty="0">
                <a:solidFill>
                  <a:srgbClr val="0B2240"/>
                </a:solidFill>
                <a:latin typeface="Calibri"/>
              </a:rPr>
              <a:t> to take from it</a:t>
            </a:r>
          </a:p>
          <a:p>
            <a:pPr marL="201168" indent="-182880" algn="l">
              <a:lnSpc>
                <a:spcPct val="100000"/>
              </a:lnSpc>
              <a:spcAft>
                <a:spcPts val="200"/>
              </a:spcAft>
              <a:buChar char="•"/>
            </a:pPr>
            <a:r>
              <a:rPr sz="1050" b="0" i="0" dirty="0">
                <a:solidFill>
                  <a:srgbClr val="1F2937"/>
                </a:solidFill>
                <a:latin typeface="Calibri"/>
              </a:rPr>
              <a:t>Demand evidence before buying rewriting; our result does not judge every service.</a:t>
            </a:r>
          </a:p>
          <a:p>
            <a:pPr marL="201168" indent="-182880" algn="l">
              <a:lnSpc>
                <a:spcPct val="100000"/>
              </a:lnSpc>
              <a:spcAft>
                <a:spcPts val="200"/>
              </a:spcAft>
              <a:buChar char="•"/>
            </a:pPr>
            <a:r>
              <a:rPr sz="1050" b="0" i="0" dirty="0">
                <a:solidFill>
                  <a:srgbClr val="1F2937"/>
                </a:solidFill>
                <a:latin typeface="Calibri"/>
              </a:rPr>
              <a:t>The fina</a:t>
            </a:r>
            <a:r>
              <a:rPr lang="en-US" sz="1050" b="0" i="0" dirty="0">
                <a:solidFill>
                  <a:srgbClr val="1F2937"/>
                </a:solidFill>
                <a:latin typeface="Calibri"/>
              </a:rPr>
              <a:t>l page combines four changes; gains do not add.</a:t>
            </a:r>
          </a:p>
          <a:p>
            <a:pPr marL="201168" indent="-182880" algn="l">
              <a:lnSpc>
                <a:spcPct val="100000"/>
              </a:lnSpc>
              <a:spcAft>
                <a:spcPts val="0"/>
              </a:spcAft>
              <a:buChar char="•"/>
            </a:pPr>
            <a:r>
              <a:rPr lang="en-US" sz="1050" b="0" i="0" dirty="0">
                <a:solidFill>
                  <a:srgbClr val="1F2937"/>
                </a:solidFill>
                <a:latin typeface="Calibri"/>
              </a:rPr>
              <a:t>Intervals are exploratory.</a:t>
            </a:r>
          </a:p>
        </p:txBody>
      </p:sp>
      <p:sp>
        <p:nvSpPr>
          <p:cNvPr id="63" name="Pentagon 62"/>
          <p:cNvSpPr/>
          <p:nvPr/>
        </p:nvSpPr>
        <p:spPr>
          <a:xfrm>
            <a:off x="548640" y="5760720"/>
            <a:ext cx="3749039" cy="502920"/>
          </a:xfrm>
          <a:prstGeom prst="homePlate">
            <a:avLst/>
          </a:prstGeom>
          <a:solidFill>
            <a:srgbClr val="A9B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85800" y="5769864"/>
            <a:ext cx="3291840" cy="475488"/>
          </a:xfrm>
          <a:prstGeom prst="rect">
            <a:avLst/>
          </a:prstGeom>
          <a:noFill/>
        </p:spPr>
        <p:txBody>
          <a:bodyPr wrap="square" lIns="45720" rIns="45720" anchor="ctr">
            <a:spAutoFit/>
          </a:bodyPr>
          <a:lstStyle/>
          <a:p>
            <a:pPr algn="l">
              <a:lnSpc>
                <a:spcPct val="108000"/>
              </a:lnSpc>
              <a:spcAft>
                <a:spcPts val="400"/>
              </a:spcAft>
            </a:pPr>
            <a:r>
              <a:rPr sz="1400" b="1" i="0">
                <a:solidFill>
                  <a:srgbClr val="0B2240"/>
                </a:solidFill>
                <a:latin typeface="Calibri"/>
              </a:rPr>
              <a:t>Reached  </a:t>
            </a:r>
            <a:r>
              <a:rPr sz="1050" b="0" i="0">
                <a:solidFill>
                  <a:srgbClr val="1F2937"/>
                </a:solidFill>
                <a:latin typeface="Calibri"/>
              </a:rPr>
              <a:t>rendering, coverage, off-site authority</a:t>
            </a:r>
          </a:p>
        </p:txBody>
      </p:sp>
      <p:sp>
        <p:nvSpPr>
          <p:cNvPr id="65" name="Pentagon 64"/>
          <p:cNvSpPr/>
          <p:nvPr/>
        </p:nvSpPr>
        <p:spPr>
          <a:xfrm>
            <a:off x="4224527" y="5760720"/>
            <a:ext cx="3749039" cy="502920"/>
          </a:xfrm>
          <a:prstGeom prst="homePlate">
            <a:avLst/>
          </a:prstGeom>
          <a:solidFill>
            <a:srgbClr val="A9B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4361688" y="5769864"/>
            <a:ext cx="3291840" cy="475488"/>
          </a:xfrm>
          <a:prstGeom prst="rect">
            <a:avLst/>
          </a:prstGeom>
          <a:noFill/>
        </p:spPr>
        <p:txBody>
          <a:bodyPr wrap="square" lIns="45720" rIns="45720" anchor="ctr">
            <a:spAutoFit/>
          </a:bodyPr>
          <a:lstStyle/>
          <a:p>
            <a:pPr algn="l">
              <a:lnSpc>
                <a:spcPct val="108000"/>
              </a:lnSpc>
              <a:spcAft>
                <a:spcPts val="400"/>
              </a:spcAft>
            </a:pPr>
            <a:r>
              <a:rPr sz="1400" b="1" i="0">
                <a:solidFill>
                  <a:srgbClr val="0B2240"/>
                </a:solidFill>
                <a:latin typeface="Calibri"/>
              </a:rPr>
              <a:t>Read  </a:t>
            </a:r>
            <a:r>
              <a:rPr sz="1050" b="0" i="0">
                <a:solidFill>
                  <a:srgbClr val="1F2937"/>
                </a:solidFill>
                <a:latin typeface="Calibri"/>
              </a:rPr>
              <a:t>facts present in the text received</a:t>
            </a:r>
          </a:p>
        </p:txBody>
      </p:sp>
      <p:sp>
        <p:nvSpPr>
          <p:cNvPr id="67" name="Pentagon 66"/>
          <p:cNvSpPr/>
          <p:nvPr/>
        </p:nvSpPr>
        <p:spPr>
          <a:xfrm>
            <a:off x="7900415" y="5760720"/>
            <a:ext cx="3749039" cy="502920"/>
          </a:xfrm>
          <a:prstGeom prst="homePlat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8037575" y="5769864"/>
            <a:ext cx="3291840" cy="475488"/>
          </a:xfrm>
          <a:prstGeom prst="rect">
            <a:avLst/>
          </a:prstGeom>
          <a:noFill/>
        </p:spPr>
        <p:txBody>
          <a:bodyPr wrap="square" lIns="45720" rIns="45720" anchor="ctr">
            <a:spAutoFit/>
          </a:bodyPr>
          <a:lstStyle/>
          <a:p>
            <a:pPr algn="l">
              <a:lnSpc>
                <a:spcPct val="108000"/>
              </a:lnSpc>
              <a:spcAft>
                <a:spcPts val="400"/>
              </a:spcAft>
            </a:pPr>
            <a:r>
              <a:rPr sz="1400" b="1" i="0">
                <a:solidFill>
                  <a:srgbClr val="FFFFFF"/>
                </a:solidFill>
                <a:latin typeface="Calibri"/>
              </a:rPr>
              <a:t>Cited  </a:t>
            </a:r>
            <a:r>
              <a:rPr sz="1050" b="0" i="0">
                <a:solidFill>
                  <a:srgbClr val="FFFFFF"/>
                </a:solidFill>
                <a:latin typeface="Calibri"/>
              </a:rPr>
              <a:t>what our experiment tested, once read</a:t>
            </a:r>
          </a:p>
        </p:txBody>
      </p:sp>
      <p:sp>
        <p:nvSpPr>
          <p:cNvPr id="69" name="TextBox 68"/>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Sources: Technical Report v1.1, Table 7 and Section 8.1 (each method tested on its own vs the same original pages, 114 of 290 citing; intervals exploratory); Puerto et al., C-SEO Bench (2025); Google (May 2026); Bing (Feb 2026).</a:t>
            </a:r>
          </a:p>
        </p:txBody>
      </p:sp>
      <p:sp>
        <p:nvSpPr>
          <p:cNvPr id="70" name="TextBox 69"/>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15</a:t>
            </a:r>
          </a:p>
        </p:txBody>
      </p:sp>
    </p:spTree>
  </p:cSld>
  <p:clrMapOvr>
    <a:masterClrMapping/>
  </p:clrMapOvr>
</p:sld>
</file>

<file path=ppt/slides/slide10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WHAT</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800" b="1" i="0">
                <a:solidFill>
                  <a:srgbClr val="0B2240"/>
                </a:solidFill>
                <a:latin typeface="Calibri"/>
              </a:rPr>
              <a:t>The page changes and the answer that followed</a:t>
            </a:r>
          </a:p>
        </p:txBody>
      </p:sp>
      <p:sp>
        <p:nvSpPr>
          <p:cNvPr id="4" name="Rounded Rectangle 3"/>
          <p:cNvSpPr/>
          <p:nvPr/>
        </p:nvSpPr>
        <p:spPr>
          <a:xfrm>
            <a:off x="1020470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Our experiment</a:t>
            </a:r>
          </a:p>
        </p:txBody>
      </p:sp>
      <p:sp>
        <p:nvSpPr>
          <p:cNvPr id="5" name="Rounded Rectangle 4"/>
          <p:cNvSpPr/>
          <p:nvPr/>
        </p:nvSpPr>
        <p:spPr>
          <a:xfrm>
            <a:off x="548640" y="1508760"/>
            <a:ext cx="5440680" cy="2880360"/>
          </a:xfrm>
          <a:prstGeom prst="roundRect">
            <a:avLst>
              <a:gd name="adj" fmla="val 3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548640" y="1508760"/>
            <a:ext cx="5440680" cy="310896"/>
          </a:xfrm>
          <a:prstGeom prst="roundRect">
            <a:avLst>
              <a:gd name="adj" fmla="val 20000"/>
            </a:avLst>
          </a:prstGeom>
          <a:solidFill>
            <a:srgbClr val="FBE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5800" y="1517904"/>
            <a:ext cx="5120640" cy="274320"/>
          </a:xfrm>
          <a:prstGeom prst="rect">
            <a:avLst/>
          </a:prstGeom>
          <a:noFill/>
        </p:spPr>
        <p:txBody>
          <a:bodyPr wrap="square" lIns="45720" rIns="45720" anchor="ctr">
            <a:spAutoFit/>
          </a:bodyPr>
          <a:lstStyle/>
          <a:p>
            <a:pPr algn="l">
              <a:lnSpc>
                <a:spcPct val="108000"/>
              </a:lnSpc>
              <a:spcAft>
                <a:spcPts val="400"/>
              </a:spcAft>
            </a:pPr>
            <a:r>
              <a:rPr sz="1200" b="1" i="0">
                <a:solidFill>
                  <a:srgbClr val="0B2240"/>
                </a:solidFill>
                <a:latin typeface="Calibri"/>
              </a:rPr>
              <a:t>BEFORE  ·  Melbourne–London as captured (Aug 2026)</a:t>
            </a:r>
          </a:p>
        </p:txBody>
      </p:sp>
      <p:sp>
        <p:nvSpPr>
          <p:cNvPr id="8" name="TextBox 7"/>
          <p:cNvSpPr txBox="1"/>
          <p:nvPr/>
        </p:nvSpPr>
        <p:spPr>
          <a:xfrm>
            <a:off x="731520" y="1856231"/>
            <a:ext cx="5029200" cy="320040"/>
          </a:xfrm>
          <a:prstGeom prst="rect">
            <a:avLst/>
          </a:prstGeom>
          <a:noFill/>
        </p:spPr>
        <p:txBody>
          <a:bodyPr wrap="square" lIns="45720" rIns="45720" anchor="t">
            <a:spAutoFit/>
          </a:bodyPr>
          <a:lstStyle/>
          <a:p>
            <a:pPr algn="l">
              <a:lnSpc>
                <a:spcPct val="108000"/>
              </a:lnSpc>
              <a:spcAft>
                <a:spcPts val="400"/>
              </a:spcAft>
            </a:pPr>
            <a:r>
              <a:rPr sz="1300" b="1" i="0">
                <a:solidFill>
                  <a:srgbClr val="0B2240"/>
                </a:solidFill>
                <a:latin typeface="Calibri"/>
              </a:rPr>
              <a:t>Flights from Melbourne to London</a:t>
            </a:r>
            <a:r>
              <a:rPr sz="1300" b="1" i="0">
                <a:solidFill>
                  <a:srgbClr val="5B6573"/>
                </a:solidFill>
                <a:latin typeface="Calibri"/>
              </a:rPr>
              <a:t>   $1,434</a:t>
            </a:r>
            <a:r>
              <a:rPr sz="1000" b="0" i="0">
                <a:solidFill>
                  <a:srgbClr val="5B6573"/>
                </a:solidFill>
                <a:latin typeface="Calibri"/>
              </a:rPr>
              <a:t>   + fee notice, expert tip</a:t>
            </a:r>
          </a:p>
        </p:txBody>
      </p:sp>
      <p:sp>
        <p:nvSpPr>
          <p:cNvPr id="9" name="Rectangle 8"/>
          <p:cNvSpPr/>
          <p:nvPr/>
        </p:nvSpPr>
        <p:spPr>
          <a:xfrm>
            <a:off x="731520" y="2240280"/>
            <a:ext cx="5074920" cy="731520"/>
          </a:xfrm>
          <a:prstGeom prst="rect">
            <a:avLst/>
          </a:prstGeom>
          <a:solidFill>
            <a:srgbClr val="FBE8EA"/>
          </a:solidFill>
          <a:ln w="9525">
            <a:solidFill>
              <a:srgbClr val="C810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68680" y="2258568"/>
            <a:ext cx="4846320" cy="694944"/>
          </a:xfrm>
          <a:prstGeom prst="rect">
            <a:avLst/>
          </a:prstGeom>
          <a:noFill/>
        </p:spPr>
        <p:txBody>
          <a:bodyPr wrap="square" lIns="45720" rIns="45720" anchor="ctr">
            <a:spAutoFit/>
          </a:bodyPr>
          <a:lstStyle/>
          <a:p>
            <a:pPr algn="l">
              <a:lnSpc>
                <a:spcPct val="108000"/>
              </a:lnSpc>
              <a:spcAft>
                <a:spcPts val="400"/>
              </a:spcAft>
            </a:pPr>
            <a:r>
              <a:rPr sz="1250" b="1" i="0">
                <a:solidFill>
                  <a:srgbClr val="C8102E"/>
                </a:solidFill>
                <a:latin typeface="Calibri"/>
              </a:rPr>
              <a:t>No dated deal cards</a:t>
            </a:r>
          </a:p>
          <a:p>
            <a:pPr algn="l">
              <a:lnSpc>
                <a:spcPct val="108000"/>
              </a:lnSpc>
              <a:spcAft>
                <a:spcPts val="400"/>
              </a:spcAft>
            </a:pPr>
            <a:r>
              <a:rPr sz="1050" b="0" i="0">
                <a:solidFill>
                  <a:srgbClr val="1F2937"/>
                </a:solidFill>
                <a:latin typeface="Calibri"/>
              </a:rPr>
              <a:t>They render only after JavaScript runs, so the saved capture has none.</a:t>
            </a:r>
          </a:p>
        </p:txBody>
      </p:sp>
      <p:sp>
        <p:nvSpPr>
          <p:cNvPr id="11" name="Rectangle 10"/>
          <p:cNvSpPr/>
          <p:nvPr/>
        </p:nvSpPr>
        <p:spPr>
          <a:xfrm>
            <a:off x="731520" y="3063240"/>
            <a:ext cx="5074920" cy="731520"/>
          </a:xfrm>
          <a:prstGeom prst="rect">
            <a:avLst/>
          </a:prstGeom>
          <a:solidFill>
            <a:srgbClr val="FFF3DC"/>
          </a:solidFill>
          <a:ln w="9525">
            <a:solidFill>
              <a:srgbClr val="E8C8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68680" y="3081528"/>
            <a:ext cx="4846320" cy="694944"/>
          </a:xfrm>
          <a:prstGeom prst="rect">
            <a:avLst/>
          </a:prstGeom>
          <a:noFill/>
        </p:spPr>
        <p:txBody>
          <a:bodyPr wrap="square" lIns="45720" rIns="45720" anchor="ctr">
            <a:spAutoFit/>
          </a:bodyPr>
          <a:lstStyle/>
          <a:p>
            <a:pPr algn="l">
              <a:lnSpc>
                <a:spcPct val="108000"/>
              </a:lnSpc>
              <a:spcAft>
                <a:spcPts val="400"/>
              </a:spcAft>
            </a:pPr>
            <a:r>
              <a:rPr sz="1250" b="1" i="0">
                <a:solidFill>
                  <a:srgbClr val="B26B00"/>
                </a:solidFill>
                <a:latin typeface="Calibri"/>
              </a:rPr>
              <a:t>FAQ: answers present, questions missing</a:t>
            </a:r>
          </a:p>
          <a:p>
            <a:pPr algn="l">
              <a:lnSpc>
                <a:spcPct val="108000"/>
              </a:lnSpc>
              <a:spcAft>
                <a:spcPts val="400"/>
              </a:spcAft>
            </a:pPr>
            <a:r>
              <a:rPr sz="1050" b="0" i="0">
                <a:solidFill>
                  <a:srgbClr val="1F2937"/>
                </a:solidFill>
                <a:latin typeface="Calibri"/>
              </a:rPr>
              <a:t>The questions sat inside accordion buttons, which text extraction strips.</a:t>
            </a:r>
          </a:p>
        </p:txBody>
      </p:sp>
      <p:sp>
        <p:nvSpPr>
          <p:cNvPr id="13" name="Rounded Rectangle 12"/>
          <p:cNvSpPr/>
          <p:nvPr/>
        </p:nvSpPr>
        <p:spPr>
          <a:xfrm>
            <a:off x="731520" y="3977639"/>
            <a:ext cx="2743200" cy="274320"/>
          </a:xfrm>
          <a:prstGeom prst="roundRect">
            <a:avLst>
              <a:gd name="adj" fmla="val 18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50" b="1" i="0">
                <a:solidFill>
                  <a:srgbClr val="FFFFFF"/>
                </a:solidFill>
                <a:latin typeface="Calibri"/>
              </a:rPr>
              <a:t>8,435 characters reach the model</a:t>
            </a:r>
          </a:p>
        </p:txBody>
      </p:sp>
      <p:sp>
        <p:nvSpPr>
          <p:cNvPr id="14" name="Rounded Rectangle 13"/>
          <p:cNvSpPr/>
          <p:nvPr/>
        </p:nvSpPr>
        <p:spPr>
          <a:xfrm>
            <a:off x="6217920" y="1508760"/>
            <a:ext cx="5440680" cy="2880360"/>
          </a:xfrm>
          <a:prstGeom prst="roundRect">
            <a:avLst>
              <a:gd name="adj" fmla="val 3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ounded Rectangle 14"/>
          <p:cNvSpPr/>
          <p:nvPr/>
        </p:nvSpPr>
        <p:spPr>
          <a:xfrm>
            <a:off x="6217920" y="1508760"/>
            <a:ext cx="5440680" cy="310896"/>
          </a:xfrm>
          <a:prstGeom prst="roundRect">
            <a:avLst>
              <a:gd name="adj" fmla="val 20000"/>
            </a:avLst>
          </a:prstGeom>
          <a:solidFill>
            <a:srgbClr val="E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55080" y="1517904"/>
            <a:ext cx="5120640" cy="274320"/>
          </a:xfrm>
          <a:prstGeom prst="rect">
            <a:avLst/>
          </a:prstGeom>
          <a:noFill/>
        </p:spPr>
        <p:txBody>
          <a:bodyPr wrap="square" lIns="45720" rIns="45720" anchor="ctr">
            <a:spAutoFit/>
          </a:bodyPr>
          <a:lstStyle/>
          <a:p>
            <a:pPr algn="l">
              <a:lnSpc>
                <a:spcPct val="108000"/>
              </a:lnSpc>
              <a:spcAft>
                <a:spcPts val="400"/>
              </a:spcAft>
            </a:pPr>
            <a:r>
              <a:rPr sz="1200" b="1" i="0">
                <a:solidFill>
                  <a:srgbClr val="0B2240"/>
                </a:solidFill>
                <a:latin typeface="Calibri"/>
              </a:rPr>
              <a:t>AFTER  ·  the final page (releases r4 + r5, Sep 2026)</a:t>
            </a:r>
          </a:p>
        </p:txBody>
      </p:sp>
      <p:sp>
        <p:nvSpPr>
          <p:cNvPr id="17" name="Oval 16"/>
          <p:cNvSpPr/>
          <p:nvPr/>
        </p:nvSpPr>
        <p:spPr>
          <a:xfrm>
            <a:off x="6400800" y="1874519"/>
            <a:ext cx="256032" cy="256032"/>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1</a:t>
            </a:r>
          </a:p>
        </p:txBody>
      </p:sp>
      <p:sp>
        <p:nvSpPr>
          <p:cNvPr id="18" name="TextBox 17"/>
          <p:cNvSpPr txBox="1"/>
          <p:nvPr/>
        </p:nvSpPr>
        <p:spPr>
          <a:xfrm>
            <a:off x="6720840" y="1847088"/>
            <a:ext cx="4663440" cy="274320"/>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Six dated deal cards as text</a:t>
            </a:r>
          </a:p>
        </p:txBody>
      </p:sp>
      <p:sp>
        <p:nvSpPr>
          <p:cNvPr id="19" name="Rounded Rectangle 18"/>
          <p:cNvSpPr/>
          <p:nvPr/>
        </p:nvSpPr>
        <p:spPr>
          <a:xfrm>
            <a:off x="6400800" y="2176272"/>
            <a:ext cx="1225296" cy="402336"/>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419088" y="2176272"/>
            <a:ext cx="1188720" cy="402336"/>
          </a:xfrm>
          <a:prstGeom prst="rect">
            <a:avLst/>
          </a:prstGeom>
          <a:noFill/>
        </p:spPr>
        <p:txBody>
          <a:bodyPr wrap="square" lIns="45720" rIns="45720" anchor="ctr">
            <a:spAutoFit/>
          </a:bodyPr>
          <a:lstStyle/>
          <a:p>
            <a:pPr algn="ctr">
              <a:lnSpc>
                <a:spcPct val="95000"/>
              </a:lnSpc>
              <a:spcAft>
                <a:spcPts val="0"/>
              </a:spcAft>
            </a:pPr>
            <a:r>
              <a:rPr sz="900" b="1" i="0">
                <a:solidFill>
                  <a:srgbClr val="0B2240"/>
                </a:solidFill>
                <a:latin typeface="Calibri"/>
              </a:rPr>
              <a:t>China Eastern $1387*</a:t>
            </a:r>
          </a:p>
          <a:p>
            <a:pPr algn="ctr">
              <a:lnSpc>
                <a:spcPct val="95000"/>
              </a:lnSpc>
              <a:spcAft>
                <a:spcPts val="0"/>
              </a:spcAft>
            </a:pPr>
            <a:r>
              <a:rPr sz="800" b="0" i="0">
                <a:solidFill>
                  <a:srgbClr val="5B6573"/>
                </a:solidFill>
                <a:latin typeface="Calibri"/>
              </a:rPr>
              <a:t>08 Feb – 11 Mar 27</a:t>
            </a:r>
          </a:p>
        </p:txBody>
      </p:sp>
      <p:sp>
        <p:nvSpPr>
          <p:cNvPr id="21" name="Rounded Rectangle 20"/>
          <p:cNvSpPr/>
          <p:nvPr/>
        </p:nvSpPr>
        <p:spPr>
          <a:xfrm>
            <a:off x="7680960" y="2176272"/>
            <a:ext cx="1225296" cy="402336"/>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699248" y="2176272"/>
            <a:ext cx="1188720" cy="402336"/>
          </a:xfrm>
          <a:prstGeom prst="rect">
            <a:avLst/>
          </a:prstGeom>
          <a:noFill/>
        </p:spPr>
        <p:txBody>
          <a:bodyPr wrap="square" lIns="45720" rIns="45720" anchor="ctr">
            <a:spAutoFit/>
          </a:bodyPr>
          <a:lstStyle/>
          <a:p>
            <a:pPr algn="ctr">
              <a:lnSpc>
                <a:spcPct val="95000"/>
              </a:lnSpc>
              <a:spcAft>
                <a:spcPts val="0"/>
              </a:spcAft>
            </a:pPr>
            <a:r>
              <a:rPr sz="900" b="1" i="0">
                <a:solidFill>
                  <a:srgbClr val="0B2240"/>
                </a:solidFill>
                <a:latin typeface="Calibri"/>
              </a:rPr>
              <a:t>Singapore Airlines</a:t>
            </a:r>
          </a:p>
        </p:txBody>
      </p:sp>
      <p:sp>
        <p:nvSpPr>
          <p:cNvPr id="23" name="Rounded Rectangle 22"/>
          <p:cNvSpPr/>
          <p:nvPr/>
        </p:nvSpPr>
        <p:spPr>
          <a:xfrm>
            <a:off x="8961120" y="2176272"/>
            <a:ext cx="1225296" cy="402336"/>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979408" y="2176272"/>
            <a:ext cx="1188720" cy="402336"/>
          </a:xfrm>
          <a:prstGeom prst="rect">
            <a:avLst/>
          </a:prstGeom>
          <a:noFill/>
        </p:spPr>
        <p:txBody>
          <a:bodyPr wrap="square" lIns="45720" rIns="45720" anchor="ctr">
            <a:spAutoFit/>
          </a:bodyPr>
          <a:lstStyle/>
          <a:p>
            <a:pPr algn="ctr">
              <a:lnSpc>
                <a:spcPct val="95000"/>
              </a:lnSpc>
              <a:spcAft>
                <a:spcPts val="0"/>
              </a:spcAft>
            </a:pPr>
            <a:r>
              <a:rPr sz="900" b="1" i="0">
                <a:solidFill>
                  <a:srgbClr val="0B2240"/>
                </a:solidFill>
                <a:latin typeface="Calibri"/>
              </a:rPr>
              <a:t>Royal Brunei</a:t>
            </a:r>
          </a:p>
        </p:txBody>
      </p:sp>
      <p:sp>
        <p:nvSpPr>
          <p:cNvPr id="25" name="Rounded Rectangle 24"/>
          <p:cNvSpPr/>
          <p:nvPr/>
        </p:nvSpPr>
        <p:spPr>
          <a:xfrm>
            <a:off x="10241280" y="2176272"/>
            <a:ext cx="1225296" cy="402336"/>
          </a:xfrm>
          <a:prstGeom prst="roundRect">
            <a:avLst>
              <a:gd name="adj" fmla="val 10000"/>
            </a:avLst>
          </a:prstGeom>
          <a:solidFill>
            <a:srgbClr val="FFFFFF"/>
          </a:solidFill>
          <a:ln w="9525">
            <a:solidFill>
              <a:srgbClr val="1E7A4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259567" y="2176272"/>
            <a:ext cx="1188720" cy="402336"/>
          </a:xfrm>
          <a:prstGeom prst="rect">
            <a:avLst/>
          </a:prstGeom>
          <a:noFill/>
        </p:spPr>
        <p:txBody>
          <a:bodyPr wrap="square" lIns="45720" rIns="45720" anchor="ctr">
            <a:spAutoFit/>
          </a:bodyPr>
          <a:lstStyle/>
          <a:p>
            <a:pPr algn="ctr">
              <a:lnSpc>
                <a:spcPct val="95000"/>
              </a:lnSpc>
              <a:spcAft>
                <a:spcPts val="0"/>
              </a:spcAft>
            </a:pPr>
            <a:r>
              <a:rPr sz="900" b="1" i="0">
                <a:solidFill>
                  <a:srgbClr val="0B2240"/>
                </a:solidFill>
                <a:latin typeface="Calibri"/>
              </a:rPr>
              <a:t>+ 3 more</a:t>
            </a:r>
          </a:p>
        </p:txBody>
      </p:sp>
      <p:sp>
        <p:nvSpPr>
          <p:cNvPr id="27" name="Oval 26"/>
          <p:cNvSpPr/>
          <p:nvPr/>
        </p:nvSpPr>
        <p:spPr>
          <a:xfrm>
            <a:off x="6400800" y="2715768"/>
            <a:ext cx="256032" cy="256032"/>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2</a:t>
            </a:r>
          </a:p>
        </p:txBody>
      </p:sp>
      <p:sp>
        <p:nvSpPr>
          <p:cNvPr id="28" name="TextBox 27"/>
          <p:cNvSpPr txBox="1"/>
          <p:nvPr/>
        </p:nvSpPr>
        <p:spPr>
          <a:xfrm>
            <a:off x="6720840" y="2688336"/>
            <a:ext cx="4663440" cy="274320"/>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One labelled fact block</a:t>
            </a:r>
          </a:p>
        </p:txBody>
      </p:sp>
      <p:sp>
        <p:nvSpPr>
          <p:cNvPr id="29" name="TextBox 28"/>
          <p:cNvSpPr txBox="1"/>
          <p:nvPr/>
        </p:nvSpPr>
        <p:spPr>
          <a:xfrm>
            <a:off x="6720840" y="2944368"/>
            <a:ext cx="4709160" cy="457200"/>
          </a:xfrm>
          <a:prstGeom prst="rect">
            <a:avLst/>
          </a:prstGeom>
          <a:noFill/>
        </p:spPr>
        <p:txBody>
          <a:bodyPr wrap="square" lIns="45720" rIns="45720" anchor="t">
            <a:spAutoFit/>
          </a:bodyPr>
          <a:lstStyle/>
          <a:p>
            <a:pPr algn="l">
              <a:lnSpc>
                <a:spcPct val="100000"/>
              </a:lnSpc>
              <a:spcAft>
                <a:spcPts val="400"/>
              </a:spcAft>
            </a:pPr>
            <a:r>
              <a:rPr sz="1000" b="0" i="0">
                <a:solidFill>
                  <a:srgbClr val="1F2937"/>
                </a:solidFill>
                <a:latin typeface="Calibri"/>
              </a:rPr>
              <a:t>Departure MEL · Destination LON · </a:t>
            </a:r>
            <a:r>
              <a:rPr sz="1000" b="1" i="0">
                <a:solidFill>
                  <a:srgbClr val="1E7A46"/>
                </a:solidFill>
                <a:latin typeface="Calibri"/>
              </a:rPr>
              <a:t>Starting fare stated on page: from $1,386</a:t>
            </a:r>
            <a:r>
              <a:rPr sz="1000" b="0" i="0">
                <a:solidFill>
                  <a:srgbClr val="1F2937"/>
                </a:solidFill>
                <a:latin typeface="Calibri"/>
              </a:rPr>
              <a:t> · Fees: the page's own fee notice</a:t>
            </a:r>
          </a:p>
        </p:txBody>
      </p:sp>
      <p:sp>
        <p:nvSpPr>
          <p:cNvPr id="30" name="Oval 29"/>
          <p:cNvSpPr/>
          <p:nvPr/>
        </p:nvSpPr>
        <p:spPr>
          <a:xfrm>
            <a:off x="6400800" y="3456432"/>
            <a:ext cx="256032" cy="256032"/>
          </a:xfrm>
          <a:prstGeom prst="ellipse">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i="0">
                <a:solidFill>
                  <a:srgbClr val="FFFFFF"/>
                </a:solidFill>
                <a:latin typeface="Calibri"/>
              </a:rPr>
              <a:t>3</a:t>
            </a:r>
          </a:p>
        </p:txBody>
      </p:sp>
      <p:sp>
        <p:nvSpPr>
          <p:cNvPr id="31" name="TextBox 30"/>
          <p:cNvSpPr txBox="1"/>
          <p:nvPr/>
        </p:nvSpPr>
        <p:spPr>
          <a:xfrm>
            <a:off x="6720840" y="3429000"/>
            <a:ext cx="4663440" cy="274320"/>
          </a:xfrm>
          <a:prstGeom prst="rect">
            <a:avLst/>
          </a:prstGeom>
          <a:noFill/>
        </p:spPr>
        <p:txBody>
          <a:bodyPr wrap="square" lIns="45720" rIns="45720" anchor="t">
            <a:spAutoFit/>
          </a:bodyPr>
          <a:lstStyle/>
          <a:p>
            <a:pPr algn="l">
              <a:lnSpc>
                <a:spcPct val="108000"/>
              </a:lnSpc>
              <a:spcAft>
                <a:spcPts val="400"/>
              </a:spcAft>
            </a:pPr>
            <a:r>
              <a:rPr sz="1150" b="1" i="0">
                <a:solidFill>
                  <a:srgbClr val="0B2240"/>
                </a:solidFill>
                <a:latin typeface="Calibri"/>
              </a:rPr>
              <a:t>FAQ questions back beside their answers</a:t>
            </a:r>
          </a:p>
        </p:txBody>
      </p:sp>
      <p:sp>
        <p:nvSpPr>
          <p:cNvPr id="32" name="TextBox 31"/>
          <p:cNvSpPr txBox="1"/>
          <p:nvPr/>
        </p:nvSpPr>
        <p:spPr>
          <a:xfrm>
            <a:off x="6720840" y="3685032"/>
            <a:ext cx="4709160" cy="274320"/>
          </a:xfrm>
          <a:prstGeom prst="rect">
            <a:avLst/>
          </a:prstGeom>
          <a:noFill/>
        </p:spPr>
        <p:txBody>
          <a:bodyPr wrap="square" lIns="45720" rIns="45720" anchor="t">
            <a:spAutoFit/>
          </a:bodyPr>
          <a:lstStyle/>
          <a:p>
            <a:pPr algn="l">
              <a:lnSpc>
                <a:spcPct val="100000"/>
              </a:lnSpc>
              <a:spcAft>
                <a:spcPts val="400"/>
              </a:spcAft>
            </a:pPr>
            <a:r>
              <a:rPr sz="900" b="0" i="1">
                <a:solidFill>
                  <a:srgbClr val="5B6573"/>
                </a:solidFill>
                <a:latin typeface="Calibri"/>
              </a:rPr>
              <a:t>'Why should I book a flight through Flight Centre?' · 'Does Flight Centre have a loyalty program?'</a:t>
            </a:r>
          </a:p>
        </p:txBody>
      </p:sp>
      <p:sp>
        <p:nvSpPr>
          <p:cNvPr id="33" name="Rounded Rectangle 32"/>
          <p:cNvSpPr/>
          <p:nvPr/>
        </p:nvSpPr>
        <p:spPr>
          <a:xfrm>
            <a:off x="6400800" y="3977639"/>
            <a:ext cx="2743200" cy="274320"/>
          </a:xfrm>
          <a:prstGeom prst="roundRect">
            <a:avLst>
              <a:gd name="adj" fmla="val 18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50" b="1" i="0">
                <a:solidFill>
                  <a:srgbClr val="FFFFFF"/>
                </a:solidFill>
                <a:latin typeface="Calibri"/>
              </a:rPr>
              <a:t>9,909 characters reach the model</a:t>
            </a:r>
          </a:p>
        </p:txBody>
      </p:sp>
      <p:sp>
        <p:nvSpPr>
          <p:cNvPr id="34" name="Rounded Rectangle 33"/>
          <p:cNvSpPr/>
          <p:nvPr/>
        </p:nvSpPr>
        <p:spPr>
          <a:xfrm>
            <a:off x="548640" y="4526280"/>
            <a:ext cx="2743200" cy="1417320"/>
          </a:xfrm>
          <a:prstGeom prst="roundRect">
            <a:avLst>
              <a:gd name="adj" fmla="val 7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40080" y="4572000"/>
            <a:ext cx="2560320" cy="640080"/>
          </a:xfrm>
          <a:prstGeom prst="rect">
            <a:avLst/>
          </a:prstGeom>
          <a:noFill/>
        </p:spPr>
        <p:txBody>
          <a:bodyPr wrap="square" lIns="45720" rIns="45720" anchor="t">
            <a:spAutoFit/>
          </a:bodyPr>
          <a:lstStyle/>
          <a:p>
            <a:pPr algn="ctr">
              <a:lnSpc>
                <a:spcPct val="100000"/>
              </a:lnSpc>
              <a:spcAft>
                <a:spcPts val="400"/>
              </a:spcAft>
            </a:pPr>
            <a:r>
              <a:rPr sz="3000" b="1" i="0">
                <a:solidFill>
                  <a:srgbClr val="FFFFFF"/>
                </a:solidFill>
                <a:latin typeface="Calibri"/>
              </a:rPr>
              <a:t>2 → 8 of 10</a:t>
            </a:r>
          </a:p>
        </p:txBody>
      </p:sp>
      <p:sp>
        <p:nvSpPr>
          <p:cNvPr id="36" name="TextBox 35"/>
          <p:cNvSpPr txBox="1"/>
          <p:nvPr/>
        </p:nvSpPr>
        <p:spPr>
          <a:xfrm>
            <a:off x="640080" y="5212080"/>
            <a:ext cx="2560320" cy="685800"/>
          </a:xfrm>
          <a:prstGeom prst="rect">
            <a:avLst/>
          </a:prstGeom>
          <a:noFill/>
        </p:spPr>
        <p:txBody>
          <a:bodyPr wrap="square" lIns="45720" rIns="45720" anchor="t">
            <a:spAutoFit/>
          </a:bodyPr>
          <a:lstStyle/>
          <a:p>
            <a:pPr algn="ctr">
              <a:lnSpc>
                <a:spcPct val="100000"/>
              </a:lnSpc>
              <a:spcAft>
                <a:spcPts val="400"/>
              </a:spcAft>
            </a:pPr>
            <a:r>
              <a:rPr sz="1050" b="0" i="0">
                <a:solidFill>
                  <a:srgbClr val="C9D6EA"/>
                </a:solidFill>
                <a:latin typeface="Calibri"/>
              </a:rPr>
              <a:t>answers cited FC for this question, original vs improved page</a:t>
            </a:r>
          </a:p>
        </p:txBody>
      </p:sp>
      <p:sp>
        <p:nvSpPr>
          <p:cNvPr id="37" name="Rounded Rectangle 36"/>
          <p:cNvSpPr/>
          <p:nvPr/>
        </p:nvSpPr>
        <p:spPr>
          <a:xfrm>
            <a:off x="3474720" y="4526280"/>
            <a:ext cx="8183879" cy="1417320"/>
          </a:xfrm>
          <a:prstGeom prst="roundRect">
            <a:avLst>
              <a:gd name="adj" fmla="val 7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3657600" y="4553712"/>
            <a:ext cx="7863840" cy="1389888"/>
          </a:xfrm>
          <a:prstGeom prst="rect">
            <a:avLst/>
          </a:prstGeom>
          <a:noFill/>
        </p:spPr>
        <p:txBody>
          <a:bodyPr wrap="square" lIns="45720" rIns="45720" anchor="ctr">
            <a:spAutoFit/>
          </a:bodyPr>
          <a:lstStyle/>
          <a:p>
            <a:pPr algn="l">
              <a:lnSpc>
                <a:spcPct val="100000"/>
              </a:lnSpc>
              <a:spcAft>
                <a:spcPts val="300"/>
              </a:spcAft>
            </a:pPr>
            <a:r>
              <a:rPr sz="1150" b="1" i="0">
                <a:solidFill>
                  <a:srgbClr val="0B2240"/>
                </a:solidFill>
                <a:latin typeface="Calibri"/>
              </a:rPr>
              <a:t>Same question, same eight sources. </a:t>
            </a:r>
            <a:r>
              <a:rPr sz="1100" b="0" i="1">
                <a:solidFill>
                  <a:srgbClr val="5B6573"/>
                </a:solidFill>
                <a:latin typeface="Calibri"/>
              </a:rPr>
              <a:t>'i'm looking for flights from melbourne to london'</a:t>
            </a:r>
          </a:p>
          <a:p>
            <a:pPr algn="l">
              <a:lnSpc>
                <a:spcPct val="100000"/>
              </a:lnSpc>
              <a:spcAft>
                <a:spcPts val="300"/>
              </a:spcAft>
            </a:pPr>
            <a:r>
              <a:rPr sz="1100" b="1" i="0">
                <a:solidFill>
                  <a:srgbClr val="5B6573"/>
                </a:solidFill>
                <a:latin typeface="Calibri"/>
              </a:rPr>
              <a:t>Original: </a:t>
            </a:r>
            <a:r>
              <a:rPr sz="1100" b="0" i="0">
                <a:solidFill>
                  <a:srgbClr val="1F2937"/>
                </a:solidFill>
                <a:latin typeface="Calibri"/>
              </a:rPr>
              <a:t>fares AU$1,096–AU$1,342, credited to Expedia and Skyscanner [5][8]. FC [7] never appears.</a:t>
            </a:r>
          </a:p>
          <a:p>
            <a:pPr algn="l">
              <a:lnSpc>
                <a:spcPct val="100000"/>
              </a:lnSpc>
              <a:spcAft>
                <a:spcPts val="300"/>
              </a:spcAft>
            </a:pPr>
            <a:r>
              <a:rPr sz="1100" b="1" i="0">
                <a:solidFill>
                  <a:srgbClr val="1E7A46"/>
                </a:solidFill>
                <a:latin typeface="Calibri"/>
              </a:rPr>
              <a:t>Improved: </a:t>
            </a:r>
            <a:r>
              <a:rPr sz="1100" b="0" i="0">
                <a:solidFill>
                  <a:srgbClr val="1F2937"/>
                </a:solidFill>
                <a:latin typeface="Calibri"/>
              </a:rPr>
              <a:t>return fares up to A$1,386 </a:t>
            </a:r>
            <a:r>
              <a:rPr sz="1100" b="1" i="0">
                <a:solidFill>
                  <a:srgbClr val="1E7A46"/>
                </a:solidFill>
                <a:latin typeface="Calibri"/>
              </a:rPr>
              <a:t>[1][7][8]</a:t>
            </a:r>
            <a:r>
              <a:rPr sz="1100" b="0" i="0">
                <a:solidFill>
                  <a:srgbClr val="1F2937"/>
                </a:solidFill>
                <a:latin typeface="Calibri"/>
              </a:rPr>
              <a:t>: FC's stated fare, and FC cited again for connections [2][3][7] and airports [1][4][7].</a:t>
            </a:r>
          </a:p>
          <a:p>
            <a:pPr algn="l">
              <a:lnSpc>
                <a:spcPct val="100000"/>
              </a:lnSpc>
              <a:spcAft>
                <a:spcPts val="400"/>
              </a:spcAft>
            </a:pPr>
            <a:r>
              <a:rPr sz="1000" b="0" i="0">
                <a:solidFill>
                  <a:srgbClr val="5B6573"/>
                </a:solidFill>
                <a:latin typeface="Calibri"/>
              </a:rPr>
              <a:t>A citation links to the page; it does not show the sentence is fully supported, or that a customer would book with FC.</a:t>
            </a:r>
          </a:p>
        </p:txBody>
      </p:sp>
      <p:sp>
        <p:nvSpPr>
          <p:cNvPr id="39" name="TextBox 38"/>
          <p:cNvSpPr txBox="1"/>
          <p:nvPr/>
        </p:nvSpPr>
        <p:spPr>
          <a:xfrm>
            <a:off x="548640" y="5989320"/>
            <a:ext cx="11109960" cy="365760"/>
          </a:xfrm>
          <a:prstGeom prst="rect">
            <a:avLst/>
          </a:prstGeom>
          <a:noFill/>
        </p:spPr>
        <p:txBody>
          <a:bodyPr wrap="square" lIns="45720" rIns="45720" anchor="t">
            <a:spAutoFit/>
          </a:bodyPr>
          <a:lstStyle/>
          <a:p>
            <a:pPr algn="l">
              <a:lnSpc>
                <a:spcPct val="100000"/>
              </a:lnSpc>
              <a:spcAft>
                <a:spcPts val="400"/>
              </a:spcAft>
            </a:pPr>
            <a:r>
              <a:rPr sz="950" b="0" i="0">
                <a:solidFill>
                  <a:srgbClr val="5B6573"/>
                </a:solidFill>
                <a:latin typeface="Calibri"/>
              </a:rPr>
              <a:t>Fares differ ($1,434 vs $1,386) because the copies were captured on different dates, so the gain cannot be put down to formatting alone. The fact block applied to 27 of 52 pages. Only FC's own saved text was used; these questions were used in development.</a:t>
            </a:r>
          </a:p>
        </p:txBody>
      </p:sp>
      <p:sp>
        <p:nvSpPr>
          <p:cNvPr id="40" name="TextBox 39"/>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 Q06 source [7] flightcentre.com.au/flights/au-vic-melbourne/gb-eng-london; final_release.py (r4), flight_first_refinement.py (r5); saved answer Q06_fixed_s2_r4 (unedited apart from trimming). Technical Report v1.1, Section 7.2.</a:t>
            </a:r>
          </a:p>
        </p:txBody>
      </p:sp>
      <p:sp>
        <p:nvSpPr>
          <p:cNvPr id="41" name="TextBox 40"/>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16</a:t>
            </a:r>
          </a:p>
        </p:txBody>
      </p:sp>
    </p:spTree>
  </p:cSld>
  <p:clrMapOvr>
    <a:masterClrMapping/>
  </p:clrMapOvr>
</p:sld>
</file>

<file path=ppt/slides/slide10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BACKUP (HIDDEN) · FOR Q&amp;A</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400" b="1" i="0">
                <a:solidFill>
                  <a:srgbClr val="0B2240"/>
                </a:solidFill>
                <a:latin typeface="Calibri"/>
              </a:rPr>
              <a:t>Backup: experiment statistics</a:t>
            </a:r>
          </a:p>
        </p:txBody>
      </p:sp>
      <p:sp>
        <p:nvSpPr>
          <p:cNvPr id="4" name="Rounded Rectangle 3"/>
          <p:cNvSpPr/>
          <p:nvPr/>
        </p:nvSpPr>
        <p:spPr>
          <a:xfrm>
            <a:off x="10204704" y="329184"/>
            <a:ext cx="1453896" cy="292608"/>
          </a:xfrm>
          <a:prstGeom prst="roundRect">
            <a:avLst>
              <a:gd name="adj" fmla="val 50000"/>
            </a:avLst>
          </a:prstGeom>
          <a:solidFill>
            <a:srgbClr val="1F5FA8"/>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Our experiment</a:t>
            </a:r>
          </a:p>
        </p:txBody>
      </p:sp>
      <p:graphicFrame>
        <p:nvGraphicFramePr>
          <p:cNvPr id="5" name="Table 4"/>
          <p:cNvGraphicFramePr>
            <a:graphicFrameLocks noGrp="1"/>
          </p:cNvGraphicFramePr>
          <p:nvPr/>
        </p:nvGraphicFramePr>
        <p:xfrm>
          <a:off x="548640" y="1600200"/>
          <a:ext cx="11109960" cy="4206235"/>
        </p:xfrm>
        <a:graphic>
          <a:graphicData uri="http://schemas.openxmlformats.org/drawingml/2006/table">
            <a:tbl>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82385">
                <a:tc>
                  <a:txBody>
                    <a:bodyPr/>
                    <a:lstStyle/>
                    <a:p>
                      <a:r>
                        <a:rPr sz="1050" b="1" i="0">
                          <a:solidFill>
                            <a:srgbClr val="FFFFFF"/>
                          </a:solidFill>
                          <a:latin typeface="Calibri"/>
                        </a:rPr>
                        <a:t>Quantity</a:t>
                      </a:r>
                    </a:p>
                  </a:txBody>
                  <a:tcPr marL="64008" marR="64008" marT="36576" marB="36576" anchor="ctr">
                    <a:solidFill>
                      <a:srgbClr val="0B2240"/>
                    </a:solidFill>
                  </a:tcPr>
                </a:tc>
                <a:tc>
                  <a:txBody>
                    <a:bodyPr/>
                    <a:lstStyle/>
                    <a:p>
                      <a:r>
                        <a:rPr sz="1050" b="1" i="0">
                          <a:solidFill>
                            <a:srgbClr val="FFFFFF"/>
                          </a:solidFill>
                          <a:latin typeface="Calibri"/>
                        </a:rPr>
                        <a:t>Value</a:t>
                      </a:r>
                    </a:p>
                  </a:txBody>
                  <a:tcPr marL="64008" marR="64008" marT="36576" marB="36576" anchor="ctr">
                    <a:solidFill>
                      <a:srgbClr val="0B2240"/>
                    </a:solidFill>
                  </a:tcPr>
                </a:tc>
                <a:extLst>
                  <a:ext uri="{0D108BD9-81ED-4DB2-BD59-A6C34878D82A}">
                    <a16:rowId xmlns:a16="http://schemas.microsoft.com/office/drawing/2014/main" val="10000"/>
                  </a:ext>
                </a:extLst>
              </a:tr>
              <a:tr h="382385">
                <a:tc>
                  <a:txBody>
                    <a:bodyPr/>
                    <a:lstStyle/>
                    <a:p>
                      <a:r>
                        <a:rPr sz="1000" b="0" i="0">
                          <a:solidFill>
                            <a:srgbClr val="1F2937"/>
                          </a:solidFill>
                          <a:latin typeface="Calibri"/>
                        </a:rPr>
                        <a:t>Snapshot</a:t>
                      </a:r>
                    </a:p>
                  </a:txBody>
                  <a:tcPr marL="64008" marR="64008" marT="36576" marB="36576">
                    <a:solidFill>
                      <a:srgbClr val="FFFFFF"/>
                    </a:solidFill>
                  </a:tcPr>
                </a:tc>
                <a:tc>
                  <a:txBody>
                    <a:bodyPr/>
                    <a:lstStyle/>
                    <a:p>
                      <a:r>
                        <a:rPr sz="1000" b="0" i="0">
                          <a:solidFill>
                            <a:srgbClr val="1F2937"/>
                          </a:solidFill>
                          <a:latin typeface="Calibri"/>
                        </a:rPr>
                        <a:t>Brave Search AU, August 2026; 50 questions × 3 wordings; top 20 captured, top 10 analysed; 953 pages, 688 usable</a:t>
                      </a:r>
                    </a:p>
                  </a:txBody>
                  <a:tcPr marL="64008" marR="64008" marT="36576" marB="36576">
                    <a:solidFill>
                      <a:srgbClr val="FFFFFF"/>
                    </a:solidFill>
                  </a:tcPr>
                </a:tc>
                <a:extLst>
                  <a:ext uri="{0D108BD9-81ED-4DB2-BD59-A6C34878D82A}">
                    <a16:rowId xmlns:a16="http://schemas.microsoft.com/office/drawing/2014/main" val="10001"/>
                  </a:ext>
                </a:extLst>
              </a:tr>
              <a:tr h="382385">
                <a:tc>
                  <a:txBody>
                    <a:bodyPr/>
                    <a:lstStyle/>
                    <a:p>
                      <a:r>
                        <a:rPr sz="1000" b="0" i="0">
                          <a:solidFill>
                            <a:srgbClr val="1F2937"/>
                          </a:solidFill>
                          <a:latin typeface="Calibri"/>
                        </a:rPr>
                        <a:t>Main (fixed) setup</a:t>
                      </a:r>
                    </a:p>
                  </a:txBody>
                  <a:tcPr marL="64008" marR="64008" marT="36576" marB="36576">
                    <a:solidFill>
                      <a:srgbClr val="F3F5F8"/>
                    </a:solidFill>
                  </a:tcPr>
                </a:tc>
                <a:tc>
                  <a:txBody>
                    <a:bodyPr/>
                    <a:lstStyle/>
                    <a:p>
                      <a:r>
                        <a:rPr sz="1000" b="0" i="0">
                          <a:solidFill>
                            <a:srgbClr val="1F2937"/>
                          </a:solidFill>
                          <a:latin typeface="Calibri"/>
                        </a:rPr>
                        <a:t>29 eligible flight questions with FC in the saved source pool; whole page text up to 24,000 characters per source; 2 source orders × 5 repeats = 290 answers per version</a:t>
                      </a:r>
                    </a:p>
                  </a:txBody>
                  <a:tcPr marL="64008" marR="64008" marT="36576" marB="36576">
                    <a:solidFill>
                      <a:srgbClr val="F3F5F8"/>
                    </a:solidFill>
                  </a:tcPr>
                </a:tc>
                <a:extLst>
                  <a:ext uri="{0D108BD9-81ED-4DB2-BD59-A6C34878D82A}">
                    <a16:rowId xmlns:a16="http://schemas.microsoft.com/office/drawing/2014/main" val="10002"/>
                  </a:ext>
                </a:extLst>
              </a:tr>
              <a:tr h="382385">
                <a:tc>
                  <a:txBody>
                    <a:bodyPr/>
                    <a:lstStyle/>
                    <a:p>
                      <a:r>
                        <a:rPr sz="1000" b="0" i="0">
                          <a:solidFill>
                            <a:srgbClr val="1F2937"/>
                          </a:solidFill>
                          <a:latin typeface="Calibri"/>
                        </a:rPr>
                        <a:t>Model and prompt</a:t>
                      </a:r>
                    </a:p>
                  </a:txBody>
                  <a:tcPr marL="64008" marR="64008" marT="36576" marB="36576">
                    <a:solidFill>
                      <a:srgbClr val="FFFFFF"/>
                    </a:solidFill>
                  </a:tcPr>
                </a:tc>
                <a:tc>
                  <a:txBody>
                    <a:bodyPr/>
                    <a:lstStyle/>
                    <a:p>
                      <a:r>
                        <a:rPr sz="1000" b="0" i="0">
                          <a:solidFill>
                            <a:srgbClr val="1F2937"/>
                          </a:solidFill>
                          <a:latin typeface="Calibri"/>
                        </a:rPr>
                        <a:t>OpenAI gpt-5.6-luna, provider defaults; GEO-paper prompt ('cite using [index]'); no internet access during answering</a:t>
                      </a:r>
                    </a:p>
                  </a:txBody>
                  <a:tcPr marL="64008" marR="64008" marT="36576" marB="36576">
                    <a:solidFill>
                      <a:srgbClr val="FFFFFF"/>
                    </a:solidFill>
                  </a:tcPr>
                </a:tc>
                <a:extLst>
                  <a:ext uri="{0D108BD9-81ED-4DB2-BD59-A6C34878D82A}">
                    <a16:rowId xmlns:a16="http://schemas.microsoft.com/office/drawing/2014/main" val="10003"/>
                  </a:ext>
                </a:extLst>
              </a:tr>
              <a:tr h="382385">
                <a:tc>
                  <a:txBody>
                    <a:bodyPr/>
                    <a:lstStyle/>
                    <a:p>
                      <a:r>
                        <a:rPr sz="1000" b="0" i="0">
                          <a:solidFill>
                            <a:srgbClr val="1F2937"/>
                          </a:solidFill>
                          <a:latin typeface="Calibri"/>
                        </a:rPr>
                        <a:t>Original pages</a:t>
                      </a:r>
                    </a:p>
                  </a:txBody>
                  <a:tcPr marL="64008" marR="64008" marT="36576" marB="36576">
                    <a:solidFill>
                      <a:srgbClr val="F3F5F8"/>
                    </a:solidFill>
                  </a:tcPr>
                </a:tc>
                <a:tc>
                  <a:txBody>
                    <a:bodyPr/>
                    <a:lstStyle/>
                    <a:p>
                      <a:r>
                        <a:rPr sz="1000" b="0" i="0">
                          <a:solidFill>
                            <a:srgbClr val="1F2937"/>
                          </a:solidFill>
                          <a:latin typeface="Calibri"/>
                        </a:rPr>
                        <a:t>116 / 290 = 40.0%</a:t>
                      </a:r>
                    </a:p>
                  </a:txBody>
                  <a:tcPr marL="64008" marR="64008" marT="36576" marB="36576">
                    <a:solidFill>
                      <a:srgbClr val="F3F5F8"/>
                    </a:solidFill>
                  </a:tcPr>
                </a:tc>
                <a:extLst>
                  <a:ext uri="{0D108BD9-81ED-4DB2-BD59-A6C34878D82A}">
                    <a16:rowId xmlns:a16="http://schemas.microsoft.com/office/drawing/2014/main" val="10004"/>
                  </a:ext>
                </a:extLst>
              </a:tr>
              <a:tr h="382385">
                <a:tc>
                  <a:txBody>
                    <a:bodyPr/>
                    <a:lstStyle/>
                    <a:p>
                      <a:r>
                        <a:rPr sz="1000" b="0" i="0">
                          <a:solidFill>
                            <a:srgbClr val="1F2937"/>
                          </a:solidFill>
                          <a:latin typeface="Calibri"/>
                        </a:rPr>
                        <a:t>Optimised pages</a:t>
                      </a:r>
                    </a:p>
                  </a:txBody>
                  <a:tcPr marL="64008" marR="64008" marT="36576" marB="36576">
                    <a:solidFill>
                      <a:srgbClr val="FFFFFF"/>
                    </a:solidFill>
                  </a:tcPr>
                </a:tc>
                <a:tc>
                  <a:txBody>
                    <a:bodyPr/>
                    <a:lstStyle/>
                    <a:p>
                      <a:r>
                        <a:rPr sz="1000" b="0" i="0">
                          <a:solidFill>
                            <a:srgbClr val="1F2937"/>
                          </a:solidFill>
                          <a:latin typeface="Calibri"/>
                        </a:rPr>
                        <a:t>152 / 290 = 52.4%; +12.4 points; 95% interval +5.2 to +20.0; 21 up / 6 down / 2 same</a:t>
                      </a:r>
                    </a:p>
                  </a:txBody>
                  <a:tcPr marL="64008" marR="64008" marT="36576" marB="36576">
                    <a:solidFill>
                      <a:srgbClr val="FFFFFF"/>
                    </a:solidFill>
                  </a:tcPr>
                </a:tc>
                <a:extLst>
                  <a:ext uri="{0D108BD9-81ED-4DB2-BD59-A6C34878D82A}">
                    <a16:rowId xmlns:a16="http://schemas.microsoft.com/office/drawing/2014/main" val="10005"/>
                  </a:ext>
                </a:extLst>
              </a:tr>
              <a:tr h="382385">
                <a:tc>
                  <a:txBody>
                    <a:bodyPr/>
                    <a:lstStyle/>
                    <a:p>
                      <a:r>
                        <a:rPr sz="1000" b="0" i="0">
                          <a:solidFill>
                            <a:srgbClr val="1F2937"/>
                          </a:solidFill>
                          <a:latin typeface="Calibri"/>
                        </a:rPr>
                        <a:t>Individual methods (vs 114 / 290)</a:t>
                      </a:r>
                    </a:p>
                  </a:txBody>
                  <a:tcPr marL="64008" marR="64008" marT="36576" marB="36576">
                    <a:solidFill>
                      <a:srgbClr val="F3F5F8"/>
                    </a:solidFill>
                  </a:tcPr>
                </a:tc>
                <a:tc>
                  <a:txBody>
                    <a:bodyPr/>
                    <a:lstStyle/>
                    <a:p>
                      <a:r>
                        <a:rPr sz="1000" b="0" i="0">
                          <a:solidFill>
                            <a:srgbClr val="1F2937"/>
                          </a:solidFill>
                          <a:latin typeface="Calibri"/>
                        </a:rPr>
                        <a:t>Structured facts +7.6; FAQ +6.9; rendered +6.6; schema + visible +6.2; external facts +3.4; AI rewrite −5.5; position benchmark +18.3</a:t>
                      </a:r>
                    </a:p>
                  </a:txBody>
                  <a:tcPr marL="64008" marR="64008" marT="36576" marB="36576">
                    <a:solidFill>
                      <a:srgbClr val="F3F5F8"/>
                    </a:solidFill>
                  </a:tcPr>
                </a:tc>
                <a:extLst>
                  <a:ext uri="{0D108BD9-81ED-4DB2-BD59-A6C34878D82A}">
                    <a16:rowId xmlns:a16="http://schemas.microsoft.com/office/drawing/2014/main" val="10006"/>
                  </a:ext>
                </a:extLst>
              </a:tr>
              <a:tr h="382385">
                <a:tc>
                  <a:txBody>
                    <a:bodyPr/>
                    <a:lstStyle/>
                    <a:p>
                      <a:r>
                        <a:rPr sz="1000" b="0" i="0">
                          <a:solidFill>
                            <a:srgbClr val="1F2937"/>
                          </a:solidFill>
                          <a:latin typeface="Calibri"/>
                        </a:rPr>
                        <a:t>Secondary (reindexed) setup</a:t>
                      </a:r>
                    </a:p>
                  </a:txBody>
                  <a:tcPr marL="64008" marR="64008" marT="36576" marB="36576">
                    <a:solidFill>
                      <a:srgbClr val="FFFFFF"/>
                    </a:solidFill>
                  </a:tcPr>
                </a:tc>
                <a:tc>
                  <a:txBody>
                    <a:bodyPr/>
                    <a:lstStyle/>
                    <a:p>
                      <a:r>
                        <a:rPr sz="1000" b="0" i="0">
                          <a:solidFill>
                            <a:srgbClr val="1F2937"/>
                          </a:solidFill>
                          <a:latin typeface="Calibri"/>
                        </a:rPr>
                        <a:t>26 / 400 → 27 / 400 (6.50% → 6.75%): no discovery gain; this was the pre-declared primary measure</a:t>
                      </a:r>
                    </a:p>
                  </a:txBody>
                  <a:tcPr marL="64008" marR="64008" marT="36576" marB="36576">
                    <a:solidFill>
                      <a:srgbClr val="FFFFFF"/>
                    </a:solidFill>
                  </a:tcPr>
                </a:tc>
                <a:extLst>
                  <a:ext uri="{0D108BD9-81ED-4DB2-BD59-A6C34878D82A}">
                    <a16:rowId xmlns:a16="http://schemas.microsoft.com/office/drawing/2014/main" val="10007"/>
                  </a:ext>
                </a:extLst>
              </a:tr>
              <a:tr h="382385">
                <a:tc>
                  <a:txBody>
                    <a:bodyPr/>
                    <a:lstStyle/>
                    <a:p>
                      <a:r>
                        <a:rPr sz="1000" b="0" i="0">
                          <a:solidFill>
                            <a:srgbClr val="1F2937"/>
                          </a:solidFill>
                          <a:latin typeface="Calibri"/>
                        </a:rPr>
                        <a:t>Reworded questions (9 Oct 2026)</a:t>
                      </a:r>
                    </a:p>
                  </a:txBody>
                  <a:tcPr marL="64008" marR="64008" marT="36576" marB="36576">
                    <a:solidFill>
                      <a:srgbClr val="F3F5F8"/>
                    </a:solidFill>
                  </a:tcPr>
                </a:tc>
                <a:tc>
                  <a:txBody>
                    <a:bodyPr/>
                    <a:lstStyle/>
                    <a:p>
                      <a:r>
                        <a:rPr sz="1000" b="0" i="0">
                          <a:solidFill>
                            <a:srgbClr val="1F2937"/>
                          </a:solidFill>
                          <a:latin typeface="Calibri"/>
                        </a:rPr>
                        <a:t>199 → 223 / 290 (+8.3 points; interval −1.0 to +17.9; p = 0.12)</a:t>
                      </a:r>
                    </a:p>
                  </a:txBody>
                  <a:tcPr marL="64008" marR="64008" marT="36576" marB="36576">
                    <a:solidFill>
                      <a:srgbClr val="F3F5F8"/>
                    </a:solidFill>
                  </a:tcPr>
                </a:tc>
                <a:extLst>
                  <a:ext uri="{0D108BD9-81ED-4DB2-BD59-A6C34878D82A}">
                    <a16:rowId xmlns:a16="http://schemas.microsoft.com/office/drawing/2014/main" val="10008"/>
                  </a:ext>
                </a:extLst>
              </a:tr>
              <a:tr h="382385">
                <a:tc>
                  <a:txBody>
                    <a:bodyPr/>
                    <a:lstStyle/>
                    <a:p>
                      <a:r>
                        <a:rPr sz="1000" b="0" i="0">
                          <a:solidFill>
                            <a:srgbClr val="1F2937"/>
                          </a:solidFill>
                          <a:latin typeface="Calibri"/>
                        </a:rPr>
                        <a:t>Future sample size</a:t>
                      </a:r>
                    </a:p>
                  </a:txBody>
                  <a:tcPr marL="64008" marR="64008" marT="36576" marB="36576">
                    <a:solidFill>
                      <a:srgbClr val="FFFFFF"/>
                    </a:solidFill>
                  </a:tcPr>
                </a:tc>
                <a:tc>
                  <a:txBody>
                    <a:bodyPr/>
                    <a:lstStyle/>
                    <a:p>
                      <a:r>
                        <a:rPr sz="1000" b="0" i="0">
                          <a:solidFill>
                            <a:srgbClr val="1F2937"/>
                          </a:solidFill>
                          <a:latin typeface="Calibri"/>
                        </a:rPr>
                        <a:t>Estimate from pilot variance and the smallest worthwhile effect; 29 questions limit precision</a:t>
                      </a:r>
                    </a:p>
                  </a:txBody>
                  <a:tcPr marL="64008" marR="64008" marT="36576" marB="36576">
                    <a:solidFill>
                      <a:srgbClr val="FFFFFF"/>
                    </a:solidFill>
                  </a:tcPr>
                </a:tc>
                <a:extLst>
                  <a:ext uri="{0D108BD9-81ED-4DB2-BD59-A6C34878D82A}">
                    <a16:rowId xmlns:a16="http://schemas.microsoft.com/office/drawing/2014/main" val="10009"/>
                  </a:ext>
                </a:extLst>
              </a:tr>
              <a:tr h="382385">
                <a:tc>
                  <a:txBody>
                    <a:bodyPr/>
                    <a:lstStyle/>
                    <a:p>
                      <a:r>
                        <a:rPr sz="1000" b="0" i="0">
                          <a:solidFill>
                            <a:srgbClr val="1F2937"/>
                          </a:solidFill>
                          <a:latin typeface="Calibri"/>
                        </a:rPr>
                        <a:t>Fairness checks</a:t>
                      </a:r>
                    </a:p>
                  </a:txBody>
                  <a:tcPr marL="64008" marR="64008" marT="36576" marB="36576">
                    <a:solidFill>
                      <a:srgbClr val="F3F5F8"/>
                    </a:solidFill>
                  </a:tcPr>
                </a:tc>
                <a:tc>
                  <a:txBody>
                    <a:bodyPr/>
                    <a:lstStyle/>
                    <a:p>
                      <a:r>
                        <a:rPr sz="1000" b="0" i="0">
                          <a:solidFill>
                            <a:srgbClr val="1F2937"/>
                          </a:solidFill>
                          <a:latin typeface="Calibri"/>
                        </a:rPr>
                        <a:t>All 290 headline pairs matched URLs, order and unchanged competitor text; offline recount reproduces 116 and 152</a:t>
                      </a:r>
                    </a:p>
                  </a:txBody>
                  <a:tcPr marL="64008" marR="64008" marT="36576" marB="36576">
                    <a:solidFill>
                      <a:srgbClr val="F3F5F8"/>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Source: Technical Report v1.1, Sections 6, 8 and 10; Offline_Verification.json PASS.</a:t>
            </a:r>
          </a:p>
        </p:txBody>
      </p:sp>
      <p:sp>
        <p:nvSpPr>
          <p:cNvPr id="7" name="TextBox 6"/>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25</a:t>
            </a:r>
          </a:p>
        </p:txBody>
      </p:sp>
    </p:spTree>
  </p:cSld>
  <p:clrMapOvr>
    <a:masterClrMapping/>
  </p:clrMapOvr>
</p:sld>
</file>

<file path=ppt/slides/slide10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BACKUP (HIDDEN) · FOR Q&amp;A</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400" b="1" i="0">
                <a:solidFill>
                  <a:srgbClr val="0B2240"/>
                </a:solidFill>
                <a:latin typeface="Calibri"/>
              </a:rPr>
              <a:t>Backup: live inspection, 25 October 2026 (headless Chromium, JavaScript on and off; curl)</a:t>
            </a:r>
          </a:p>
        </p:txBody>
      </p:sp>
      <p:sp>
        <p:nvSpPr>
          <p:cNvPr id="4" name="Rounded Rectangle 3"/>
          <p:cNvSpPr/>
          <p:nvPr/>
        </p:nvSpPr>
        <p:spPr>
          <a:xfrm>
            <a:off x="9582912" y="329184"/>
            <a:ext cx="2075688" cy="292608"/>
          </a:xfrm>
          <a:prstGeom prst="roundRect">
            <a:avLst>
              <a:gd name="adj" fmla="val 50000"/>
            </a:avLst>
          </a:prstGeom>
          <a:solidFill>
            <a:srgbClr val="1E7A46"/>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Live check 25 Oct 2026</a:t>
            </a:r>
          </a:p>
        </p:txBody>
      </p:sp>
      <p:graphicFrame>
        <p:nvGraphicFramePr>
          <p:cNvPr id="5" name="Table 4"/>
          <p:cNvGraphicFramePr>
            <a:graphicFrameLocks noGrp="1"/>
          </p:cNvGraphicFramePr>
          <p:nvPr/>
        </p:nvGraphicFramePr>
        <p:xfrm>
          <a:off x="548640" y="1600200"/>
          <a:ext cx="11109960" cy="4354202"/>
        </p:xfrm>
        <a:graphic>
          <a:graphicData uri="http://schemas.openxmlformats.org/drawingml/2006/table">
            <a:tbl>
              <a:tblPr/>
              <a:tblGrid>
                <a:gridCol w="2377440">
                  <a:extLst>
                    <a:ext uri="{9D8B030D-6E8A-4147-A177-3AD203B41FA5}">
                      <a16:colId xmlns:a16="http://schemas.microsoft.com/office/drawing/2014/main" val="20000"/>
                    </a:ext>
                  </a:extLst>
                </a:gridCol>
                <a:gridCol w="8732520">
                  <a:extLst>
                    <a:ext uri="{9D8B030D-6E8A-4147-A177-3AD203B41FA5}">
                      <a16:colId xmlns:a16="http://schemas.microsoft.com/office/drawing/2014/main" val="20001"/>
                    </a:ext>
                  </a:extLst>
                </a:gridCol>
              </a:tblGrid>
              <a:tr h="382385">
                <a:tc>
                  <a:txBody>
                    <a:bodyPr/>
                    <a:lstStyle/>
                    <a:p>
                      <a:r>
                        <a:rPr sz="1050" b="1" i="0">
                          <a:solidFill>
                            <a:srgbClr val="FFFFFF"/>
                          </a:solidFill>
                          <a:latin typeface="Calibri"/>
                        </a:rPr>
                        <a:t>Check</a:t>
                      </a:r>
                    </a:p>
                  </a:txBody>
                  <a:tcPr marL="64008" marR="64008" marT="36576" marB="36576" anchor="ctr">
                    <a:solidFill>
                      <a:srgbClr val="0B2240"/>
                    </a:solidFill>
                  </a:tcPr>
                </a:tc>
                <a:tc>
                  <a:txBody>
                    <a:bodyPr/>
                    <a:lstStyle/>
                    <a:p>
                      <a:r>
                        <a:rPr sz="1050" b="1" i="0">
                          <a:solidFill>
                            <a:srgbClr val="FFFFFF"/>
                          </a:solidFill>
                          <a:latin typeface="Calibri"/>
                        </a:rPr>
                        <a:t>Result</a:t>
                      </a:r>
                    </a:p>
                  </a:txBody>
                  <a:tcPr marL="64008" marR="64008" marT="36576" marB="36576" anchor="ctr">
                    <a:solidFill>
                      <a:srgbClr val="0B2240"/>
                    </a:solidFill>
                  </a:tcPr>
                </a:tc>
                <a:extLst>
                  <a:ext uri="{0D108BD9-81ED-4DB2-BD59-A6C34878D82A}">
                    <a16:rowId xmlns:a16="http://schemas.microsoft.com/office/drawing/2014/main" val="10000"/>
                  </a:ext>
                </a:extLst>
              </a:tr>
              <a:tr h="382385">
                <a:tc>
                  <a:txBody>
                    <a:bodyPr/>
                    <a:lstStyle/>
                    <a:p>
                      <a:r>
                        <a:rPr sz="1000" b="0" i="0">
                          <a:solidFill>
                            <a:srgbClr val="1F2937"/>
                          </a:solidFill>
                          <a:latin typeface="Calibri"/>
                        </a:rPr>
                        <a:t>flightcentre.com.au/robots.txt</a:t>
                      </a:r>
                    </a:p>
                  </a:txBody>
                  <a:tcPr marL="64008" marR="64008" marT="36576" marB="36576">
                    <a:solidFill>
                      <a:srgbClr val="FFFFFF"/>
                    </a:solidFill>
                  </a:tcPr>
                </a:tc>
                <a:tc>
                  <a:txBody>
                    <a:bodyPr/>
                    <a:lstStyle/>
                    <a:p>
                      <a:r>
                        <a:rPr sz="1000" b="0" i="0">
                          <a:solidFill>
                            <a:srgbClr val="1F2937"/>
                          </a:solidFill>
                          <a:latin typeface="Calibri"/>
                        </a:rPr>
                        <a:t>200. Allow / for *; explicit Allow for GPTBot, Google-Extended, PerplexityBot, AnthropicBot, Applebot, Google-CloudVertexBot; SEO crawlers (Semrush, Ahrefs, MJ12) disallowed; 8 sitemaps; no OAI-SearchBot, ChatGPT-User or Claude-SearchBot lines; no crawl-delay (the May 2026 audit's crawl-delay and GPTBot block are no longer present)</a:t>
                      </a:r>
                    </a:p>
                  </a:txBody>
                  <a:tcPr marL="64008" marR="64008" marT="36576" marB="36576">
                    <a:solidFill>
                      <a:srgbClr val="FFFFFF"/>
                    </a:solidFill>
                  </a:tcPr>
                </a:tc>
                <a:extLst>
                  <a:ext uri="{0D108BD9-81ED-4DB2-BD59-A6C34878D82A}">
                    <a16:rowId xmlns:a16="http://schemas.microsoft.com/office/drawing/2014/main" val="10001"/>
                  </a:ext>
                </a:extLst>
              </a:tr>
              <a:tr h="382385">
                <a:tc>
                  <a:txBody>
                    <a:bodyPr/>
                    <a:lstStyle/>
                    <a:p>
                      <a:r>
                        <a:rPr sz="1000" b="0" i="0">
                          <a:solidFill>
                            <a:srgbClr val="1F2937"/>
                          </a:solidFill>
                          <a:latin typeface="Calibri"/>
                        </a:rPr>
                        <a:t>webjet.com.au/robots.txt</a:t>
                      </a:r>
                    </a:p>
                  </a:txBody>
                  <a:tcPr marL="64008" marR="64008" marT="36576" marB="36576">
                    <a:solidFill>
                      <a:srgbClr val="F3F5F8"/>
                    </a:solidFill>
                  </a:tcPr>
                </a:tc>
                <a:tc>
                  <a:txBody>
                    <a:bodyPr/>
                    <a:lstStyle/>
                    <a:p>
                      <a:r>
                        <a:rPr sz="1000" b="0" i="0">
                          <a:solidFill>
                            <a:srgbClr val="1F2937"/>
                          </a:solidFill>
                          <a:latin typeface="Calibri"/>
                        </a:rPr>
                        <a:t>200. '# AI Search Bots': OAI-SearchBot, Claude-SearchBot, PerplexityBot Allow. '# AI Training Bots': GPTBot, ClaudeBot Disallow</a:t>
                      </a:r>
                    </a:p>
                  </a:txBody>
                  <a:tcPr marL="64008" marR="64008" marT="36576" marB="36576">
                    <a:solidFill>
                      <a:srgbClr val="F3F5F8"/>
                    </a:solidFill>
                  </a:tcPr>
                </a:tc>
                <a:extLst>
                  <a:ext uri="{0D108BD9-81ED-4DB2-BD59-A6C34878D82A}">
                    <a16:rowId xmlns:a16="http://schemas.microsoft.com/office/drawing/2014/main" val="10002"/>
                  </a:ext>
                </a:extLst>
              </a:tr>
              <a:tr h="382385">
                <a:tc>
                  <a:txBody>
                    <a:bodyPr/>
                    <a:lstStyle/>
                    <a:p>
                      <a:r>
                        <a:rPr sz="1000" b="0" i="0">
                          <a:solidFill>
                            <a:srgbClr val="1F2937"/>
                          </a:solidFill>
                          <a:latin typeface="Calibri"/>
                        </a:rPr>
                        <a:t>expedia.com.au</a:t>
                      </a:r>
                    </a:p>
                  </a:txBody>
                  <a:tcPr marL="64008" marR="64008" marT="36576" marB="36576">
                    <a:solidFill>
                      <a:srgbClr val="FFFFFF"/>
                    </a:solidFill>
                  </a:tcPr>
                </a:tc>
                <a:tc>
                  <a:txBody>
                    <a:bodyPr/>
                    <a:lstStyle/>
                    <a:p>
                      <a:r>
                        <a:rPr sz="1000" b="0" i="0">
                          <a:solidFill>
                            <a:srgbClr val="1F2937"/>
                          </a:solidFill>
                          <a:latin typeface="Calibri"/>
                        </a:rPr>
                        <a:t>robots.txt '# Allow Agentic Search' block (OAI-SearchBot, ChatGPT-User, PerplexityBot, Perplexity-User, Claude-User, Claude-SearchBot); GPTBot not named; /llms.txt HTTP 200, 6,642 characters, including a 'Directions for AI Systems' section</a:t>
                      </a:r>
                    </a:p>
                  </a:txBody>
                  <a:tcPr marL="64008" marR="64008" marT="36576" marB="36576">
                    <a:solidFill>
                      <a:srgbClr val="FFFFFF"/>
                    </a:solidFill>
                  </a:tcPr>
                </a:tc>
                <a:extLst>
                  <a:ext uri="{0D108BD9-81ED-4DB2-BD59-A6C34878D82A}">
                    <a16:rowId xmlns:a16="http://schemas.microsoft.com/office/drawing/2014/main" val="10003"/>
                  </a:ext>
                </a:extLst>
              </a:tr>
              <a:tr h="382385">
                <a:tc>
                  <a:txBody>
                    <a:bodyPr/>
                    <a:lstStyle/>
                    <a:p>
                      <a:r>
                        <a:rPr sz="1000" b="0" i="0">
                          <a:solidFill>
                            <a:srgbClr val="1F2937"/>
                          </a:solidFill>
                          <a:latin typeface="Calibri"/>
                        </a:rPr>
                        <a:t>/llms.txt elsewhere</a:t>
                      </a:r>
                    </a:p>
                  </a:txBody>
                  <a:tcPr marL="64008" marR="64008" marT="36576" marB="36576">
                    <a:solidFill>
                      <a:srgbClr val="F3F5F8"/>
                    </a:solidFill>
                  </a:tcPr>
                </a:tc>
                <a:tc>
                  <a:txBody>
                    <a:bodyPr/>
                    <a:lstStyle/>
                    <a:p>
                      <a:r>
                        <a:rPr sz="1000" b="0" i="0">
                          <a:solidFill>
                            <a:srgbClr val="1F2937"/>
                          </a:solidFill>
                          <a:latin typeface="Calibri"/>
                        </a:rPr>
                        <a:t>Flight Centre 404 (/llm.txt also 404); Webjet, Qantas, Skyscanner redirect (no file); Booking.com 404</a:t>
                      </a:r>
                    </a:p>
                  </a:txBody>
                  <a:tcPr marL="64008" marR="64008" marT="36576" marB="36576">
                    <a:solidFill>
                      <a:srgbClr val="F3F5F8"/>
                    </a:solidFill>
                  </a:tcPr>
                </a:tc>
                <a:extLst>
                  <a:ext uri="{0D108BD9-81ED-4DB2-BD59-A6C34878D82A}">
                    <a16:rowId xmlns:a16="http://schemas.microsoft.com/office/drawing/2014/main" val="10004"/>
                  </a:ext>
                </a:extLst>
              </a:tr>
              <a:tr h="382385">
                <a:tc>
                  <a:txBody>
                    <a:bodyPr/>
                    <a:lstStyle/>
                    <a:p>
                      <a:r>
                        <a:rPr sz="1000" b="0" i="0">
                          <a:solidFill>
                            <a:srgbClr val="1F2937"/>
                          </a:solidFill>
                          <a:latin typeface="Calibri"/>
                        </a:rPr>
                        <a:t>FC route Melbourne–London</a:t>
                      </a:r>
                    </a:p>
                  </a:txBody>
                  <a:tcPr marL="64008" marR="64008" marT="36576" marB="36576">
                    <a:solidFill>
                      <a:srgbClr val="FFFFFF"/>
                    </a:solidFill>
                  </a:tcPr>
                </a:tc>
                <a:tc>
                  <a:txBody>
                    <a:bodyPr/>
                    <a:lstStyle/>
                    <a:p>
                      <a:r>
                        <a:rPr sz="1000" b="0" i="0">
                          <a:solidFill>
                            <a:srgbClr val="1F2937"/>
                          </a:solidFill>
                          <a:latin typeface="Calibri"/>
                        </a:rPr>
                        <a:t>JSON-LD: FAQPage (8 questions), Flight, Offer (price 1342), Airport, BreadcrumbList. Deal cards ('Available between'): 6 with JavaScript, 0 without. FAQ questions present without JavaScript. Heading fare $1,342 (was $1,272 on 23 Oct, $1,434 in Aug capture); cheapest deal card $1,605</a:t>
                      </a:r>
                    </a:p>
                  </a:txBody>
                  <a:tcPr marL="64008" marR="64008" marT="36576" marB="36576">
                    <a:solidFill>
                      <a:srgbClr val="FFFFFF"/>
                    </a:solidFill>
                  </a:tcPr>
                </a:tc>
                <a:extLst>
                  <a:ext uri="{0D108BD9-81ED-4DB2-BD59-A6C34878D82A}">
                    <a16:rowId xmlns:a16="http://schemas.microsoft.com/office/drawing/2014/main" val="10005"/>
                  </a:ext>
                </a:extLst>
              </a:tr>
              <a:tr h="382385">
                <a:tc>
                  <a:txBody>
                    <a:bodyPr/>
                    <a:lstStyle/>
                    <a:p>
                      <a:r>
                        <a:rPr sz="1000" b="0" i="0">
                          <a:solidFill>
                            <a:srgbClr val="1F2937"/>
                          </a:solidFill>
                          <a:latin typeface="Calibri"/>
                        </a:rPr>
                        <a:t>FC route Brisbane–Bali</a:t>
                      </a:r>
                    </a:p>
                  </a:txBody>
                  <a:tcPr marL="64008" marR="64008" marT="36576" marB="36576">
                    <a:solidFill>
                      <a:srgbClr val="F3F5F8"/>
                    </a:solidFill>
                  </a:tcPr>
                </a:tc>
                <a:tc>
                  <a:txBody>
                    <a:bodyPr/>
                    <a:lstStyle/>
                    <a:p>
                      <a:r>
                        <a:rPr sz="1000" b="0" i="0">
                          <a:solidFill>
                            <a:srgbClr val="1F2937"/>
                          </a:solidFill>
                          <a:latin typeface="Calibri"/>
                        </a:rPr>
                        <a:t>521 KB; 1 JSON-LD block with FAQPage; no deal-card text; title fare $626</a:t>
                      </a:r>
                    </a:p>
                  </a:txBody>
                  <a:tcPr marL="64008" marR="64008" marT="36576" marB="36576">
                    <a:solidFill>
                      <a:srgbClr val="F3F5F8"/>
                    </a:solidFill>
                  </a:tcPr>
                </a:tc>
                <a:extLst>
                  <a:ext uri="{0D108BD9-81ED-4DB2-BD59-A6C34878D82A}">
                    <a16:rowId xmlns:a16="http://schemas.microsoft.com/office/drawing/2014/main" val="10006"/>
                  </a:ext>
                </a:extLst>
              </a:tr>
              <a:tr h="382385">
                <a:tc>
                  <a:txBody>
                    <a:bodyPr/>
                    <a:lstStyle/>
                    <a:p>
                      <a:r>
                        <a:rPr sz="1000" b="0" i="0">
                          <a:solidFill>
                            <a:srgbClr val="1F2937"/>
                          </a:solidFill>
                          <a:latin typeface="Calibri"/>
                        </a:rPr>
                        <a:t>FC holiday Bali and Fiji</a:t>
                      </a:r>
                    </a:p>
                  </a:txBody>
                  <a:tcPr marL="64008" marR="64008" marT="36576" marB="36576">
                    <a:solidFill>
                      <a:srgbClr val="FFFFFF"/>
                    </a:solidFill>
                  </a:tcPr>
                </a:tc>
                <a:tc>
                  <a:txBody>
                    <a:bodyPr/>
                    <a:lstStyle/>
                    <a:p>
                      <a:r>
                        <a:rPr sz="1000" b="0" i="0">
                          <a:solidFill>
                            <a:srgbClr val="1F2937"/>
                          </a:solidFill>
                          <a:latin typeface="Calibri"/>
                        </a:rPr>
                        <a:t>0 JSON-LD blocks; FAQ questions present as text without JavaScript; deal tiles empty without JavaScript; Bali visible text 14,107 characters with JavaScript, 6,483 without</a:t>
                      </a:r>
                    </a:p>
                  </a:txBody>
                  <a:tcPr marL="64008" marR="64008" marT="36576" marB="36576">
                    <a:solidFill>
                      <a:srgbClr val="FFFFFF"/>
                    </a:solidFill>
                  </a:tcPr>
                </a:tc>
                <a:extLst>
                  <a:ext uri="{0D108BD9-81ED-4DB2-BD59-A6C34878D82A}">
                    <a16:rowId xmlns:a16="http://schemas.microsoft.com/office/drawing/2014/main" val="10007"/>
                  </a:ext>
                </a:extLst>
              </a:tr>
              <a:tr h="382385">
                <a:tc>
                  <a:txBody>
                    <a:bodyPr/>
                    <a:lstStyle/>
                    <a:p>
                      <a:r>
                        <a:rPr sz="1000" b="0" i="0">
                          <a:solidFill>
                            <a:srgbClr val="1F2937"/>
                          </a:solidFill>
                          <a:latin typeface="Calibri"/>
                        </a:rPr>
                        <a:t>Qantas, Skyscanner, Booking.com robots.txt</a:t>
                      </a:r>
                    </a:p>
                  </a:txBody>
                  <a:tcPr marL="64008" marR="64008" marT="36576" marB="36576">
                    <a:solidFill>
                      <a:srgbClr val="F3F5F8"/>
                    </a:solidFill>
                  </a:tcPr>
                </a:tc>
                <a:tc>
                  <a:txBody>
                    <a:bodyPr/>
                    <a:lstStyle/>
                    <a:p>
                      <a:r>
                        <a:rPr sz="1000" b="0" i="0">
                          <a:solidFill>
                            <a:srgbClr val="1F2937"/>
                          </a:solidFill>
                          <a:latin typeface="Calibri"/>
                        </a:rPr>
                        <a:t>No AI-bot-specific lines found (wildcard rules apply)</a:t>
                      </a:r>
                    </a:p>
                  </a:txBody>
                  <a:tcPr marL="64008" marR="64008" marT="36576" marB="36576">
                    <a:solidFill>
                      <a:srgbClr val="F3F5F8"/>
                    </a:solidFill>
                  </a:tcPr>
                </a:tc>
                <a:extLst>
                  <a:ext uri="{0D108BD9-81ED-4DB2-BD59-A6C34878D82A}">
                    <a16:rowId xmlns:a16="http://schemas.microsoft.com/office/drawing/2014/main" val="10008"/>
                  </a:ext>
                </a:extLst>
              </a:tr>
              <a:tr h="382385">
                <a:tc>
                  <a:txBody>
                    <a:bodyPr/>
                    <a:lstStyle/>
                    <a:p>
                      <a:r>
                        <a:rPr sz="1000" b="0" i="0">
                          <a:solidFill>
                            <a:srgbClr val="1F2937"/>
                          </a:solidFill>
                          <a:latin typeface="Calibri"/>
                        </a:rPr>
                        <a:t>Webjet Melbourne–London</a:t>
                      </a:r>
                    </a:p>
                  </a:txBody>
                  <a:tcPr marL="64008" marR="64008" marT="36576" marB="36576">
                    <a:solidFill>
                      <a:srgbClr val="FFFFFF"/>
                    </a:solidFill>
                  </a:tcPr>
                </a:tc>
                <a:tc>
                  <a:txBody>
                    <a:bodyPr/>
                    <a:lstStyle/>
                    <a:p>
                      <a:r>
                        <a:rPr sz="1000" b="0" i="0">
                          <a:solidFill>
                            <a:srgbClr val="1F2937"/>
                          </a:solidFill>
                          <a:latin typeface="Calibri"/>
                        </a:rPr>
                        <a:t>17,728 visible characters with JavaScript, 17,527 without; seven dated fares each marked 'Last updated'; fee amounts stated in page text</a:t>
                      </a:r>
                    </a:p>
                  </a:txBody>
                  <a:tcPr marL="64008" marR="64008" marT="36576" marB="36576">
                    <a:solidFill>
                      <a:srgbClr val="FFFFFF"/>
                    </a:solidFill>
                  </a:tcPr>
                </a:tc>
                <a:extLst>
                  <a:ext uri="{0D108BD9-81ED-4DB2-BD59-A6C34878D82A}">
                    <a16:rowId xmlns:a16="http://schemas.microsoft.com/office/drawing/2014/main" val="10009"/>
                  </a:ext>
                </a:extLst>
              </a:tr>
              <a:tr h="382385">
                <a:tc>
                  <a:txBody>
                    <a:bodyPr/>
                    <a:lstStyle/>
                    <a:p>
                      <a:r>
                        <a:rPr sz="1000" b="0" i="0">
                          <a:solidFill>
                            <a:srgbClr val="1F2937"/>
                          </a:solidFill>
                          <a:latin typeface="Calibri"/>
                        </a:rPr>
                        <a:t>Expedia, Skyscanner route pages</a:t>
                      </a:r>
                    </a:p>
                  </a:txBody>
                  <a:tcPr marL="64008" marR="64008" marT="36576" marB="36576">
                    <a:solidFill>
                      <a:srgbClr val="F3F5F8"/>
                    </a:solidFill>
                  </a:tcPr>
                </a:tc>
                <a:tc>
                  <a:txBody>
                    <a:bodyPr/>
                    <a:lstStyle/>
                    <a:p>
                      <a:r>
                        <a:rPr sz="1000" b="0" i="0">
                          <a:solidFill>
                            <a:srgbClr val="1F2937"/>
                          </a:solidFill>
                          <a:latin typeface="Calibri"/>
                        </a:rPr>
                        <a:t>Expedia HTTP 429 (rate-limited); Skyscanner bot challenge; not compared</a:t>
                      </a:r>
                    </a:p>
                  </a:txBody>
                  <a:tcPr marL="64008" marR="64008" marT="36576" marB="36576">
                    <a:solidFill>
                      <a:srgbClr val="F3F5F8"/>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Method: Playwright (Chromium) with JavaScript on and off and curl, desktop Chrome user agent; files in evidence/. Paired browser captures show a rendering difference in this sample; HTTP status alone does not establish crawler readability.</a:t>
            </a:r>
          </a:p>
        </p:txBody>
      </p:sp>
      <p:sp>
        <p:nvSpPr>
          <p:cNvPr id="7" name="TextBox 6"/>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26</a:t>
            </a:r>
          </a:p>
        </p:txBody>
      </p:sp>
    </p:spTree>
  </p:cSld>
  <p:clrMapOvr>
    <a:masterClrMapping/>
  </p:clrMapOvr>
</p:sld>
</file>

<file path=ppt/slides/slide10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BACKUP (HIDDEN) · FOR Q&amp;A</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400" b="1" i="0">
                <a:solidFill>
                  <a:srgbClr val="0B2240"/>
                </a:solidFill>
                <a:latin typeface="Calibri"/>
              </a:rPr>
              <a:t>Backup: research and documentation sources used in this briefing</a:t>
            </a:r>
          </a:p>
        </p:txBody>
      </p:sp>
      <p:sp>
        <p:nvSpPr>
          <p:cNvPr id="4" name="Rounded Rectangle 3"/>
          <p:cNvSpPr/>
          <p:nvPr/>
        </p:nvSpPr>
        <p:spPr>
          <a:xfrm>
            <a:off x="9582912" y="329184"/>
            <a:ext cx="2075688"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Official documentation</a:t>
            </a:r>
          </a:p>
        </p:txBody>
      </p:sp>
      <p:sp>
        <p:nvSpPr>
          <p:cNvPr id="5" name="Rounded Rectangle 4"/>
          <p:cNvSpPr/>
          <p:nvPr/>
        </p:nvSpPr>
        <p:spPr>
          <a:xfrm>
            <a:off x="7708392" y="329184"/>
            <a:ext cx="1764792" cy="292608"/>
          </a:xfrm>
          <a:prstGeom prst="roundRect">
            <a:avLst>
              <a:gd name="adj" fmla="val 50000"/>
            </a:avLst>
          </a:prstGeom>
          <a:solidFill>
            <a:srgbClr val="0B2240"/>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Published research</a:t>
            </a:r>
          </a:p>
        </p:txBody>
      </p:sp>
      <p:graphicFrame>
        <p:nvGraphicFramePr>
          <p:cNvPr id="6" name="Table 5"/>
          <p:cNvGraphicFramePr>
            <a:graphicFrameLocks noGrp="1"/>
          </p:cNvGraphicFramePr>
          <p:nvPr/>
        </p:nvGraphicFramePr>
        <p:xfrm>
          <a:off x="548640" y="1600200"/>
          <a:ext cx="11109960" cy="4343394"/>
        </p:xfrm>
        <a:graphic>
          <a:graphicData uri="http://schemas.openxmlformats.org/drawingml/2006/table">
            <a:tbl>
              <a:tblPr/>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94854">
                <a:tc>
                  <a:txBody>
                    <a:bodyPr/>
                    <a:lstStyle/>
                    <a:p>
                      <a:r>
                        <a:rPr sz="1000" b="1" i="0">
                          <a:solidFill>
                            <a:srgbClr val="FFFFFF"/>
                          </a:solidFill>
                          <a:latin typeface="Calibri"/>
                        </a:rPr>
                        <a:t>Source</a:t>
                      </a:r>
                    </a:p>
                  </a:txBody>
                  <a:tcPr marL="64008" marR="64008" marT="36576" marB="36576" anchor="ctr">
                    <a:solidFill>
                      <a:srgbClr val="0B2240"/>
                    </a:solidFill>
                  </a:tcPr>
                </a:tc>
                <a:tc>
                  <a:txBody>
                    <a:bodyPr/>
                    <a:lstStyle/>
                    <a:p>
                      <a:r>
                        <a:rPr sz="1000" b="1" i="0">
                          <a:solidFill>
                            <a:srgbClr val="FFFFFF"/>
                          </a:solidFill>
                          <a:latin typeface="Calibri"/>
                        </a:rPr>
                        <a:t>What it contributes</a:t>
                      </a:r>
                    </a:p>
                  </a:txBody>
                  <a:tcPr marL="64008" marR="64008" marT="36576" marB="36576" anchor="ctr">
                    <a:solidFill>
                      <a:srgbClr val="0B2240"/>
                    </a:solidFill>
                  </a:tcPr>
                </a:tc>
                <a:extLst>
                  <a:ext uri="{0D108BD9-81ED-4DB2-BD59-A6C34878D82A}">
                    <a16:rowId xmlns:a16="http://schemas.microsoft.com/office/drawing/2014/main" val="10000"/>
                  </a:ext>
                </a:extLst>
              </a:tr>
              <a:tr h="394854">
                <a:tc>
                  <a:txBody>
                    <a:bodyPr/>
                    <a:lstStyle/>
                    <a:p>
                      <a:r>
                        <a:rPr sz="950" b="0" i="0">
                          <a:solidFill>
                            <a:srgbClr val="1F2937"/>
                          </a:solidFill>
                          <a:latin typeface="Calibri"/>
                        </a:rPr>
                        <a:t>Aggarwal et al., GEO: Generative Engine Optimization, KDD 2024</a:t>
                      </a:r>
                    </a:p>
                  </a:txBody>
                  <a:tcPr marL="64008" marR="64008" marT="36576" marB="36576">
                    <a:solidFill>
                      <a:srgbClr val="FFFFFF"/>
                    </a:solidFill>
                  </a:tcPr>
                </a:tc>
                <a:tc>
                  <a:txBody>
                    <a:bodyPr/>
                    <a:lstStyle/>
                    <a:p>
                      <a:r>
                        <a:rPr sz="950" b="0" i="0">
                          <a:solidFill>
                            <a:srgbClr val="1F2937"/>
                          </a:solidFill>
                          <a:latin typeface="Calibri"/>
                        </a:rPr>
                        <a:t>Benchmark and prompt we reuse; statistics, quotations and structure raised visibility up to ~40% on its benchmark; keyword stuffing did not</a:t>
                      </a:r>
                    </a:p>
                  </a:txBody>
                  <a:tcPr marL="64008" marR="64008" marT="36576" marB="36576">
                    <a:solidFill>
                      <a:srgbClr val="FFFFFF"/>
                    </a:solidFill>
                  </a:tcPr>
                </a:tc>
                <a:extLst>
                  <a:ext uri="{0D108BD9-81ED-4DB2-BD59-A6C34878D82A}">
                    <a16:rowId xmlns:a16="http://schemas.microsoft.com/office/drawing/2014/main" val="10001"/>
                  </a:ext>
                </a:extLst>
              </a:tr>
              <a:tr h="394854">
                <a:tc>
                  <a:txBody>
                    <a:bodyPr/>
                    <a:lstStyle/>
                    <a:p>
                      <a:r>
                        <a:rPr sz="950" b="0" i="0">
                          <a:solidFill>
                            <a:srgbClr val="1F2937"/>
                          </a:solidFill>
                          <a:latin typeface="Calibri"/>
                        </a:rPr>
                        <a:t>Puerto et al., C-SEO Bench, NeurIPS 2025 Datasets &amp; Benchmarks</a:t>
                      </a:r>
                    </a:p>
                  </a:txBody>
                  <a:tcPr marL="64008" marR="64008" marT="36576" marB="36576">
                    <a:solidFill>
                      <a:srgbClr val="F3F5F8"/>
                    </a:solidFill>
                  </a:tcPr>
                </a:tc>
                <a:tc>
                  <a:txBody>
                    <a:bodyPr/>
                    <a:lstStyle/>
                    <a:p>
                      <a:r>
                        <a:rPr sz="950" b="0" i="0">
                          <a:solidFill>
                            <a:srgbClr val="1F2937"/>
                          </a:solidFill>
                          <a:latin typeface="Calibri"/>
                        </a:rPr>
                        <a:t>Most conversational-SEO rewrites ineffective or negative; traditional SEO more effective; gains shrink as more actors adopt (zero-sum)</a:t>
                      </a:r>
                    </a:p>
                  </a:txBody>
                  <a:tcPr marL="64008" marR="64008" marT="36576" marB="36576">
                    <a:solidFill>
                      <a:srgbClr val="F3F5F8"/>
                    </a:solidFill>
                  </a:tcPr>
                </a:tc>
                <a:extLst>
                  <a:ext uri="{0D108BD9-81ED-4DB2-BD59-A6C34878D82A}">
                    <a16:rowId xmlns:a16="http://schemas.microsoft.com/office/drawing/2014/main" val="10002"/>
                  </a:ext>
                </a:extLst>
              </a:tr>
              <a:tr h="394854">
                <a:tc>
                  <a:txBody>
                    <a:bodyPr/>
                    <a:lstStyle/>
                    <a:p>
                      <a:r>
                        <a:rPr sz="950" b="0" i="0">
                          <a:solidFill>
                            <a:srgbClr val="1F2937"/>
                          </a:solidFill>
                          <a:latin typeface="Calibri"/>
                        </a:rPr>
                        <a:t>'What Gets Cited: Competitive GEO in AI Answer Engines', arXiv 2605.25517 (2026)</a:t>
                      </a:r>
                    </a:p>
                  </a:txBody>
                  <a:tcPr marL="64008" marR="64008" marT="36576" marB="36576">
                    <a:solidFill>
                      <a:srgbClr val="FFFFFF"/>
                    </a:solidFill>
                  </a:tcPr>
                </a:tc>
                <a:tc>
                  <a:txBody>
                    <a:bodyPr/>
                    <a:lstStyle/>
                    <a:p>
                      <a:r>
                        <a:rPr sz="950" b="0" i="0">
                          <a:solidFill>
                            <a:srgbClr val="1F2937"/>
                          </a:solidFill>
                          <a:latin typeface="Calibri"/>
                        </a:rPr>
                        <a:t>252,000 trials, six LLMs, 18 factors: relevance and position dominate; explicit price and recent timestamp help consistently; formatting-only edits have little impact</a:t>
                      </a:r>
                    </a:p>
                  </a:txBody>
                  <a:tcPr marL="64008" marR="64008" marT="36576" marB="36576">
                    <a:solidFill>
                      <a:srgbClr val="FFFFFF"/>
                    </a:solidFill>
                  </a:tcPr>
                </a:tc>
                <a:extLst>
                  <a:ext uri="{0D108BD9-81ED-4DB2-BD59-A6C34878D82A}">
                    <a16:rowId xmlns:a16="http://schemas.microsoft.com/office/drawing/2014/main" val="10003"/>
                  </a:ext>
                </a:extLst>
              </a:tr>
              <a:tr h="394854">
                <a:tc>
                  <a:txBody>
                    <a:bodyPr/>
                    <a:lstStyle/>
                    <a:p>
                      <a:r>
                        <a:rPr sz="950" b="0" i="0">
                          <a:solidFill>
                            <a:srgbClr val="1F2937"/>
                          </a:solidFill>
                          <a:latin typeface="Calibri"/>
                        </a:rPr>
                        <a:t>'Optimizing Visibility in Generative Engines: A Critical Survey (2023–2026)', arXiv 2607.14035</a:t>
                      </a:r>
                    </a:p>
                  </a:txBody>
                  <a:tcPr marL="64008" marR="64008" marT="36576" marB="36576">
                    <a:solidFill>
                      <a:srgbClr val="F3F5F8"/>
                    </a:solidFill>
                  </a:tcPr>
                </a:tc>
                <a:tc>
                  <a:txBody>
                    <a:bodyPr/>
                    <a:lstStyle/>
                    <a:p>
                      <a:r>
                        <a:rPr sz="950" b="0" i="0">
                          <a:solidFill>
                            <a:srgbClr val="1F2937"/>
                          </a:solidFill>
                          <a:latin typeface="Calibri"/>
                        </a:rPr>
                        <a:t>45 studies: content gains hold only when the source is already in a fixed context; no durable cross-platform effect on organic discoverability shown; measure repeatedly</a:t>
                      </a:r>
                    </a:p>
                  </a:txBody>
                  <a:tcPr marL="64008" marR="64008" marT="36576" marB="36576">
                    <a:solidFill>
                      <a:srgbClr val="F3F5F8"/>
                    </a:solidFill>
                  </a:tcPr>
                </a:tc>
                <a:extLst>
                  <a:ext uri="{0D108BD9-81ED-4DB2-BD59-A6C34878D82A}">
                    <a16:rowId xmlns:a16="http://schemas.microsoft.com/office/drawing/2014/main" val="10004"/>
                  </a:ext>
                </a:extLst>
              </a:tr>
              <a:tr h="394854">
                <a:tc>
                  <a:txBody>
                    <a:bodyPr/>
                    <a:lstStyle/>
                    <a:p>
                      <a:r>
                        <a:rPr sz="950" b="0" i="0">
                          <a:solidFill>
                            <a:srgbClr val="1F2937"/>
                          </a:solidFill>
                          <a:latin typeface="Calibri"/>
                        </a:rPr>
                        <a:t>'From Citation Selection to Citation Absorption', arXiv 2604.25707 (2026)</a:t>
                      </a:r>
                    </a:p>
                  </a:txBody>
                  <a:tcPr marL="64008" marR="64008" marT="36576" marB="36576">
                    <a:solidFill>
                      <a:srgbClr val="FFFFFF"/>
                    </a:solidFill>
                  </a:tcPr>
                </a:tc>
                <a:tc>
                  <a:txBody>
                    <a:bodyPr/>
                    <a:lstStyle/>
                    <a:p>
                      <a:r>
                        <a:rPr sz="950" b="0" i="0">
                          <a:solidFill>
                            <a:srgbClr val="1F2937"/>
                          </a:solidFill>
                          <a:latin typeface="Calibri"/>
                        </a:rPr>
                        <a:t>602 prompts, 21,143 citations across ChatGPT, Google, Perplexity: high-influence pages are longer, structured, with definitions, numbers, comparisons</a:t>
                      </a:r>
                    </a:p>
                  </a:txBody>
                  <a:tcPr marL="64008" marR="64008" marT="36576" marB="36576">
                    <a:solidFill>
                      <a:srgbClr val="FFFFFF"/>
                    </a:solidFill>
                  </a:tcPr>
                </a:tc>
                <a:extLst>
                  <a:ext uri="{0D108BD9-81ED-4DB2-BD59-A6C34878D82A}">
                    <a16:rowId xmlns:a16="http://schemas.microsoft.com/office/drawing/2014/main" val="10005"/>
                  </a:ext>
                </a:extLst>
              </a:tr>
              <a:tr h="394854">
                <a:tc>
                  <a:txBody>
                    <a:bodyPr/>
                    <a:lstStyle/>
                    <a:p>
                      <a:r>
                        <a:rPr sz="950" b="0" i="0">
                          <a:solidFill>
                            <a:srgbClr val="1F2937"/>
                          </a:solidFill>
                          <a:latin typeface="Calibri"/>
                        </a:rPr>
                        <a:t>'Structural Feature Engineering for GEO', arXiv 2603.29979; AgentGEO, arXiv 2603.09296 (2026)</a:t>
                      </a:r>
                    </a:p>
                  </a:txBody>
                  <a:tcPr marL="64008" marR="64008" marT="36576" marB="36576">
                    <a:solidFill>
                      <a:srgbClr val="F3F5F8"/>
                    </a:solidFill>
                  </a:tcPr>
                </a:tc>
                <a:tc>
                  <a:txBody>
                    <a:bodyPr/>
                    <a:lstStyle/>
                    <a:p>
                      <a:r>
                        <a:rPr sz="950" b="0" i="0">
                          <a:solidFill>
                            <a:srgbClr val="1F2937"/>
                          </a:solidFill>
                          <a:latin typeface="Calibri"/>
                        </a:rPr>
                        <a:t>+17.3% citation rate from document structure across six engines; targeted repairs beat generic rewriting; generic optimisation can harm long-tail content</a:t>
                      </a:r>
                    </a:p>
                  </a:txBody>
                  <a:tcPr marL="64008" marR="64008" marT="36576" marB="36576">
                    <a:solidFill>
                      <a:srgbClr val="F3F5F8"/>
                    </a:solidFill>
                  </a:tcPr>
                </a:tc>
                <a:extLst>
                  <a:ext uri="{0D108BD9-81ED-4DB2-BD59-A6C34878D82A}">
                    <a16:rowId xmlns:a16="http://schemas.microsoft.com/office/drawing/2014/main" val="10006"/>
                  </a:ext>
                </a:extLst>
              </a:tr>
              <a:tr h="394854">
                <a:tc>
                  <a:txBody>
                    <a:bodyPr/>
                    <a:lstStyle/>
                    <a:p>
                      <a:r>
                        <a:rPr sz="950" b="0" i="0">
                          <a:solidFill>
                            <a:srgbClr val="1F2937"/>
                          </a:solidFill>
                          <a:latin typeface="Calibri"/>
                        </a:rPr>
                        <a:t>Liu et al., 'Lost in the Middle', TACL 2024; Gao et al., ALCE, EMNLP 2023</a:t>
                      </a:r>
                    </a:p>
                  </a:txBody>
                  <a:tcPr marL="64008" marR="64008" marT="36576" marB="36576">
                    <a:solidFill>
                      <a:srgbClr val="FFFFFF"/>
                    </a:solidFill>
                  </a:tcPr>
                </a:tc>
                <a:tc>
                  <a:txBody>
                    <a:bodyPr/>
                    <a:lstStyle/>
                    <a:p>
                      <a:r>
                        <a:rPr sz="950" b="0" i="0">
                          <a:solidFill>
                            <a:srgbClr val="1F2937"/>
                          </a:solidFill>
                          <a:latin typeface="Calibri"/>
                        </a:rPr>
                        <a:t>Position effects in long contexts; citing a source and being supported by it are separate questions</a:t>
                      </a:r>
                    </a:p>
                  </a:txBody>
                  <a:tcPr marL="64008" marR="64008" marT="36576" marB="36576">
                    <a:solidFill>
                      <a:srgbClr val="FFFFFF"/>
                    </a:solidFill>
                  </a:tcPr>
                </a:tc>
                <a:extLst>
                  <a:ext uri="{0D108BD9-81ED-4DB2-BD59-A6C34878D82A}">
                    <a16:rowId xmlns:a16="http://schemas.microsoft.com/office/drawing/2014/main" val="10007"/>
                  </a:ext>
                </a:extLst>
              </a:tr>
              <a:tr h="394854">
                <a:tc>
                  <a:txBody>
                    <a:bodyPr/>
                    <a:lstStyle/>
                    <a:p>
                      <a:r>
                        <a:rPr sz="950" b="0" i="0">
                          <a:solidFill>
                            <a:srgbClr val="1F2937"/>
                          </a:solidFill>
                          <a:latin typeface="Calibri"/>
                        </a:rPr>
                        <a:t>Google Search Central (10 Dec 2025; 15 May 2026); OpenAI crawler docs; Bing Webmaster Guidelines (27 Feb 2026)</a:t>
                      </a:r>
                    </a:p>
                  </a:txBody>
                  <a:tcPr marL="64008" marR="64008" marT="36576" marB="36576">
                    <a:solidFill>
                      <a:srgbClr val="F3F5F8"/>
                    </a:solidFill>
                  </a:tcPr>
                </a:tc>
                <a:tc>
                  <a:txBody>
                    <a:bodyPr/>
                    <a:lstStyle/>
                    <a:p>
                      <a:r>
                        <a:rPr sz="950" b="0" i="0">
                          <a:solidFill>
                            <a:srgbClr val="1F2937"/>
                          </a:solidFill>
                          <a:latin typeface="Calibri"/>
                        </a:rPr>
                        <a:t>No special files or schema; still SEO; non-commodity content; OAI-SearchBot controls ChatGPT search; GEO does not guarantee citations; NOARCHIVE removes Copilot use</a:t>
                      </a:r>
                    </a:p>
                  </a:txBody>
                  <a:tcPr marL="64008" marR="64008" marT="36576" marB="36576">
                    <a:solidFill>
                      <a:srgbClr val="F3F5F8"/>
                    </a:solidFill>
                  </a:tcPr>
                </a:tc>
                <a:extLst>
                  <a:ext uri="{0D108BD9-81ED-4DB2-BD59-A6C34878D82A}">
                    <a16:rowId xmlns:a16="http://schemas.microsoft.com/office/drawing/2014/main" val="10008"/>
                  </a:ext>
                </a:extLst>
              </a:tr>
              <a:tr h="394854">
                <a:tc>
                  <a:txBody>
                    <a:bodyPr/>
                    <a:lstStyle/>
                    <a:p>
                      <a:r>
                        <a:rPr sz="950" b="0" i="0">
                          <a:solidFill>
                            <a:srgbClr val="1F2937"/>
                          </a:solidFill>
                          <a:latin typeface="Calibri"/>
                        </a:rPr>
                        <a:t>Vercel/MERJ (Dec 2024); Ahrefs (Jun, Sep 2026); Profound (2025)</a:t>
                      </a:r>
                    </a:p>
                  </a:txBody>
                  <a:tcPr marL="64008" marR="64008" marT="36576" marB="36576">
                    <a:solidFill>
                      <a:srgbClr val="FFFFFF"/>
                    </a:solidFill>
                  </a:tcPr>
                </a:tc>
                <a:tc>
                  <a:txBody>
                    <a:bodyPr/>
                    <a:lstStyle/>
                    <a:p>
                      <a:r>
                        <a:rPr sz="950" b="0" i="0">
                          <a:solidFill>
                            <a:srgbClr val="1F2937"/>
                          </a:solidFill>
                          <a:latin typeface="Calibri"/>
                        </a:rPr>
                        <a:t>Sampled AI crawlers had limited JavaScript rendering; llms.txt rarely fetched; which domains engines cite</a:t>
                      </a:r>
                    </a:p>
                  </a:txBody>
                  <a:tcPr marL="64008" marR="64008" marT="36576" marB="36576">
                    <a:solidFill>
                      <a:srgbClr val="FFFFFF"/>
                    </a:solidFill>
                  </a:tcPr>
                </a:tc>
                <a:extLst>
                  <a:ext uri="{0D108BD9-81ED-4DB2-BD59-A6C34878D82A}">
                    <a16:rowId xmlns:a16="http://schemas.microsoft.com/office/drawing/2014/main" val="10009"/>
                  </a:ext>
                </a:extLst>
              </a:tr>
              <a:tr h="394854">
                <a:tc>
                  <a:txBody>
                    <a:bodyPr/>
                    <a:lstStyle/>
                    <a:p>
                      <a:r>
                        <a:rPr sz="950" b="0" i="0">
                          <a:solidFill>
                            <a:srgbClr val="1F2937"/>
                          </a:solidFill>
                          <a:latin typeface="Calibri"/>
                        </a:rPr>
                        <a:t>Phocuswright The AI Surge (2026); Adobe (Aug 2026); Pew (Jul 2025); Compare the Market AU (2026); FCTG FY26</a:t>
                      </a:r>
                    </a:p>
                  </a:txBody>
                  <a:tcPr marL="64008" marR="64008" marT="36576" marB="36576">
                    <a:solidFill>
                      <a:srgbClr val="F3F5F8"/>
                    </a:solidFill>
                  </a:tcPr>
                </a:tc>
                <a:tc>
                  <a:txBody>
                    <a:bodyPr/>
                    <a:lstStyle/>
                    <a:p>
                      <a:r>
                        <a:rPr sz="950" b="0" i="0">
                          <a:solidFill>
                            <a:srgbClr val="1F2937"/>
                          </a:solidFill>
                          <a:latin typeface="Calibri"/>
                        </a:rPr>
                        <a:t>Adoption, referral growth, click behaviour, Australian usage, FC's own digital trajectory</a:t>
                      </a:r>
                    </a:p>
                  </a:txBody>
                  <a:tcPr marL="64008" marR="64008" marT="36576" marB="36576">
                    <a:solidFill>
                      <a:srgbClr val="F3F5F8"/>
                    </a:solidFill>
                  </a:tcPr>
                </a:tc>
                <a:extLst>
                  <a:ext uri="{0D108BD9-81ED-4DB2-BD59-A6C34878D82A}">
                    <a16:rowId xmlns:a16="http://schemas.microsoft.com/office/drawing/2014/main" val="10010"/>
                  </a:ext>
                </a:extLst>
              </a:tr>
            </a:tbl>
          </a:graphicData>
        </a:graphic>
      </p:graphicFrame>
      <p:sp>
        <p:nvSpPr>
          <p:cNvPr id="7" name="TextBox 6"/>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Full references with URLs are in the Technical Report and Handover Guide v1.1. Preprints are not peer-reviewed; vendor studies are directional.</a:t>
            </a:r>
          </a:p>
        </p:txBody>
      </p:sp>
      <p:sp>
        <p:nvSpPr>
          <p:cNvPr id="8" name="TextBox 7"/>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27</a:t>
            </a:r>
          </a:p>
        </p:txBody>
      </p:sp>
    </p:spTree>
  </p:cSld>
  <p:clrMapOvr>
    <a:masterClrMapping/>
  </p:clrMapOvr>
</p:sld>
</file>

<file path=ppt/slides/slide10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BACKUP (HIDDEN) · FOR Q&amp;A</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400" b="1" i="0">
                <a:solidFill>
                  <a:srgbClr val="0B2240"/>
                </a:solidFill>
                <a:latin typeface="Calibri"/>
              </a:rPr>
              <a:t>Backup: GEO services on the market, what they operate, and how FC should use each</a:t>
            </a:r>
          </a:p>
        </p:txBody>
      </p:sp>
      <p:sp>
        <p:nvSpPr>
          <p:cNvPr id="4" name="Rounded Rectangle 3"/>
          <p:cNvSpPr/>
          <p:nvPr/>
        </p:nvSpPr>
        <p:spPr>
          <a:xfrm>
            <a:off x="10671048" y="329184"/>
            <a:ext cx="987552" cy="292608"/>
          </a:xfrm>
          <a:prstGeom prst="roundRect">
            <a:avLst>
              <a:gd name="adj" fmla="val 50000"/>
            </a:avLst>
          </a:prstGeom>
          <a:solidFill>
            <a:srgbClr val="5B6573"/>
          </a:solidFill>
          <a:ln>
            <a:noFill/>
          </a:ln>
          <a:effectLst/>
        </p:spPr>
        <p:style>
          <a:lnRef idx="1">
            <a:schemeClr val="accent1"/>
          </a:lnRef>
          <a:fillRef idx="3">
            <a:schemeClr val="accent1"/>
          </a:fillRef>
          <a:effectRef idx="2">
            <a:schemeClr val="accent1"/>
          </a:effectRef>
          <a:fontRef idx="minor">
            <a:schemeClr val="lt1"/>
          </a:fontRef>
        </p:style>
        <p:txBody>
          <a:bodyPr lIns="45720" tIns="0" rIns="45720" bIns="0" rtlCol="0" anchor="ctr"/>
          <a:lstStyle/>
          <a:p>
            <a:pPr algn="ctr"/>
            <a:r>
              <a:rPr sz="1050" b="1" i="0">
                <a:solidFill>
                  <a:srgbClr val="FFFFFF"/>
                </a:solidFill>
                <a:latin typeface="Calibri"/>
              </a:rPr>
              <a:t>Proposed</a:t>
            </a:r>
          </a:p>
        </p:txBody>
      </p:sp>
      <p:graphicFrame>
        <p:nvGraphicFramePr>
          <p:cNvPr id="5" name="Table 4"/>
          <p:cNvGraphicFramePr>
            <a:graphicFrameLocks noGrp="1"/>
          </p:cNvGraphicFramePr>
          <p:nvPr/>
        </p:nvGraphicFramePr>
        <p:xfrm>
          <a:off x="548640" y="1600200"/>
          <a:ext cx="11109960" cy="4343400"/>
        </p:xfrm>
        <a:graphic>
          <a:graphicData uri="http://schemas.openxmlformats.org/drawingml/2006/table">
            <a:tbl>
              <a:tblPr/>
              <a:tblGrid>
                <a:gridCol w="18288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723900">
                <a:tc>
                  <a:txBody>
                    <a:bodyPr/>
                    <a:lstStyle/>
                    <a:p>
                      <a:r>
                        <a:rPr sz="1000" b="1" i="0">
                          <a:solidFill>
                            <a:srgbClr val="FFFFFF"/>
                          </a:solidFill>
                          <a:latin typeface="Calibri"/>
                        </a:rPr>
                        <a:t>Service type</a:t>
                      </a:r>
                    </a:p>
                  </a:txBody>
                  <a:tcPr marL="64008" marR="64008" marT="36576" marB="36576" anchor="ctr">
                    <a:solidFill>
                      <a:srgbClr val="0B2240"/>
                    </a:solidFill>
                  </a:tcPr>
                </a:tc>
                <a:tc>
                  <a:txBody>
                    <a:bodyPr/>
                    <a:lstStyle/>
                    <a:p>
                      <a:r>
                        <a:rPr sz="1000" b="1" i="0">
                          <a:solidFill>
                            <a:srgbClr val="FFFFFF"/>
                          </a:solidFill>
                          <a:latin typeface="Calibri"/>
                        </a:rPr>
                        <a:t>Examples (offers, not proof of lift)</a:t>
                      </a:r>
                    </a:p>
                  </a:txBody>
                  <a:tcPr marL="64008" marR="64008" marT="36576" marB="36576" anchor="ctr">
                    <a:solidFill>
                      <a:srgbClr val="0B2240"/>
                    </a:solidFill>
                  </a:tcPr>
                </a:tc>
                <a:tc>
                  <a:txBody>
                    <a:bodyPr/>
                    <a:lstStyle/>
                    <a:p>
                      <a:r>
                        <a:rPr sz="1000" b="1" i="0">
                          <a:solidFill>
                            <a:srgbClr val="FFFFFF"/>
                          </a:solidFill>
                          <a:latin typeface="Calibri"/>
                        </a:rPr>
                        <a:t>What they operate</a:t>
                      </a:r>
                    </a:p>
                  </a:txBody>
                  <a:tcPr marL="64008" marR="64008" marT="36576" marB="36576" anchor="ctr">
                    <a:solidFill>
                      <a:srgbClr val="0B2240"/>
                    </a:solidFill>
                  </a:tcPr>
                </a:tc>
                <a:tc>
                  <a:txBody>
                    <a:bodyPr/>
                    <a:lstStyle/>
                    <a:p>
                      <a:r>
                        <a:rPr sz="1000" b="1" i="0">
                          <a:solidFill>
                            <a:srgbClr val="FFFFFF"/>
                          </a:solidFill>
                          <a:latin typeface="Calibri"/>
                        </a:rPr>
                        <a:t>FC decision</a:t>
                      </a:r>
                    </a:p>
                  </a:txBody>
                  <a:tcPr marL="64008" marR="64008" marT="36576" marB="36576" anchor="ctr">
                    <a:solidFill>
                      <a:srgbClr val="0B2240"/>
                    </a:solidFill>
                  </a:tcPr>
                </a:tc>
                <a:extLst>
                  <a:ext uri="{0D108BD9-81ED-4DB2-BD59-A6C34878D82A}">
                    <a16:rowId xmlns:a16="http://schemas.microsoft.com/office/drawing/2014/main" val="10000"/>
                  </a:ext>
                </a:extLst>
              </a:tr>
              <a:tr h="723900">
                <a:tc>
                  <a:txBody>
                    <a:bodyPr/>
                    <a:lstStyle/>
                    <a:p>
                      <a:r>
                        <a:rPr sz="950" b="0" i="0">
                          <a:solidFill>
                            <a:srgbClr val="1F2937"/>
                          </a:solidFill>
                          <a:latin typeface="Calibri"/>
                        </a:rPr>
                        <a:t>Agencies / consultancies</a:t>
                      </a:r>
                    </a:p>
                  </a:txBody>
                  <a:tcPr marL="64008" marR="64008" marT="36576" marB="36576">
                    <a:solidFill>
                      <a:srgbClr val="FFFFFF"/>
                    </a:solidFill>
                  </a:tcPr>
                </a:tc>
                <a:tc>
                  <a:txBody>
                    <a:bodyPr/>
                    <a:lstStyle/>
                    <a:p>
                      <a:r>
                        <a:rPr sz="950" b="0" i="0">
                          <a:solidFill>
                            <a:srgbClr val="1F2937"/>
                          </a:solidFill>
                          <a:latin typeface="Calibri"/>
                        </a:rPr>
                        <a:t>Intender, Luminary, 23 Digital (AU); iPullRank, Seer, Cited, Demand Local</a:t>
                      </a:r>
                    </a:p>
                  </a:txBody>
                  <a:tcPr marL="64008" marR="64008" marT="36576" marB="36576">
                    <a:solidFill>
                      <a:srgbClr val="FFFFFF"/>
                    </a:solidFill>
                  </a:tcPr>
                </a:tc>
                <a:tc>
                  <a:txBody>
                    <a:bodyPr/>
                    <a:lstStyle/>
                    <a:p>
                      <a:r>
                        <a:rPr sz="950" b="0" i="0">
                          <a:solidFill>
                            <a:srgbClr val="1F2937"/>
                          </a:solidFill>
                          <a:latin typeface="Calibri"/>
                        </a:rPr>
                        <a:t>Audit → content, technical and PR work → monitoring retainer. Intender: 'Can you really influence what ChatGPT says? Not directly.'</a:t>
                      </a:r>
                    </a:p>
                  </a:txBody>
                  <a:tcPr marL="64008" marR="64008" marT="36576" marB="36576">
                    <a:solidFill>
                      <a:srgbClr val="FFFFFF"/>
                    </a:solidFill>
                  </a:tcPr>
                </a:tc>
                <a:tc>
                  <a:txBody>
                    <a:bodyPr/>
                    <a:lstStyle/>
                    <a:p>
                      <a:r>
                        <a:rPr sz="950" b="0" i="0">
                          <a:solidFill>
                            <a:srgbClr val="1F2937"/>
                          </a:solidFill>
                          <a:latin typeface="Calibri"/>
                        </a:rPr>
                        <a:t>Use their checklists as a work list; require clear scope, evidence and reporting</a:t>
                      </a:r>
                    </a:p>
                  </a:txBody>
                  <a:tcPr marL="64008" marR="64008" marT="36576" marB="36576">
                    <a:solidFill>
                      <a:srgbClr val="FFFFFF"/>
                    </a:solidFill>
                  </a:tcPr>
                </a:tc>
                <a:extLst>
                  <a:ext uri="{0D108BD9-81ED-4DB2-BD59-A6C34878D82A}">
                    <a16:rowId xmlns:a16="http://schemas.microsoft.com/office/drawing/2014/main" val="10001"/>
                  </a:ext>
                </a:extLst>
              </a:tr>
              <a:tr h="723900">
                <a:tc>
                  <a:txBody>
                    <a:bodyPr/>
                    <a:lstStyle/>
                    <a:p>
                      <a:r>
                        <a:rPr sz="950" b="0" i="0">
                          <a:solidFill>
                            <a:srgbClr val="1F2937"/>
                          </a:solidFill>
                          <a:latin typeface="Calibri"/>
                        </a:rPr>
                        <a:t>Visibility software</a:t>
                      </a:r>
                    </a:p>
                  </a:txBody>
                  <a:tcPr marL="64008" marR="64008" marT="36576" marB="36576">
                    <a:solidFill>
                      <a:srgbClr val="F3F5F8"/>
                    </a:solidFill>
                  </a:tcPr>
                </a:tc>
                <a:tc>
                  <a:txBody>
                    <a:bodyPr/>
                    <a:lstStyle/>
                    <a:p>
                      <a:r>
                        <a:rPr sz="950" b="0" i="0">
                          <a:solidFill>
                            <a:srgbClr val="1F2937"/>
                          </a:solidFill>
                          <a:latin typeface="Calibri"/>
                        </a:rPr>
                        <a:t>Profound, Otterly, Ahrefs Brand Radar, Semrush AI Toolkit, Peec</a:t>
                      </a:r>
                    </a:p>
                  </a:txBody>
                  <a:tcPr marL="64008" marR="64008" marT="36576" marB="36576">
                    <a:solidFill>
                      <a:srgbClr val="F3F5F8"/>
                    </a:solidFill>
                  </a:tcPr>
                </a:tc>
                <a:tc>
                  <a:txBody>
                    <a:bodyPr/>
                    <a:lstStyle/>
                    <a:p>
                      <a:r>
                        <a:rPr sz="950" b="0" i="0">
                          <a:solidFill>
                            <a:srgbClr val="1F2937"/>
                          </a:solidFill>
                          <a:latin typeface="Calibri"/>
                        </a:rPr>
                        <a:t>Prompt panels across engines; mention, citation, share of voice, sentiment. Scores are conditional and vendor-specific; not comparable to our 40% / 52%</a:t>
                      </a:r>
                    </a:p>
                  </a:txBody>
                  <a:tcPr marL="64008" marR="64008" marT="36576" marB="36576">
                    <a:solidFill>
                      <a:srgbClr val="F3F5F8"/>
                    </a:solidFill>
                  </a:tcPr>
                </a:tc>
                <a:tc>
                  <a:txBody>
                    <a:bodyPr/>
                    <a:lstStyle/>
                    <a:p>
                      <a:r>
                        <a:rPr sz="950" b="0" i="0">
                          <a:solidFill>
                            <a:srgbClr val="1F2937"/>
                          </a:solidFill>
                          <a:latin typeface="Calibri"/>
                        </a:rPr>
                        <a:t>Build the panel in-house first; if buying later, demand formula, raw answers and denominator</a:t>
                      </a:r>
                    </a:p>
                  </a:txBody>
                  <a:tcPr marL="64008" marR="64008" marT="36576" marB="36576">
                    <a:solidFill>
                      <a:srgbClr val="F3F5F8"/>
                    </a:solidFill>
                  </a:tcPr>
                </a:tc>
                <a:extLst>
                  <a:ext uri="{0D108BD9-81ED-4DB2-BD59-A6C34878D82A}">
                    <a16:rowId xmlns:a16="http://schemas.microsoft.com/office/drawing/2014/main" val="10002"/>
                  </a:ext>
                </a:extLst>
              </a:tr>
              <a:tr h="723900">
                <a:tc>
                  <a:txBody>
                    <a:bodyPr/>
                    <a:lstStyle/>
                    <a:p>
                      <a:r>
                        <a:rPr sz="950" b="0" i="0">
                          <a:solidFill>
                            <a:srgbClr val="1F2937"/>
                          </a:solidFill>
                          <a:latin typeface="Calibri"/>
                        </a:rPr>
                        <a:t>Execution / entity platforms</a:t>
                      </a:r>
                    </a:p>
                  </a:txBody>
                  <a:tcPr marL="64008" marR="64008" marT="36576" marB="36576">
                    <a:solidFill>
                      <a:srgbClr val="FFFFFF"/>
                    </a:solidFill>
                  </a:tcPr>
                </a:tc>
                <a:tc>
                  <a:txBody>
                    <a:bodyPr/>
                    <a:lstStyle/>
                    <a:p>
                      <a:r>
                        <a:rPr sz="950" b="0" i="0">
                          <a:solidFill>
                            <a:srgbClr val="1F2937"/>
                          </a:solidFill>
                          <a:latin typeface="Calibri"/>
                        </a:rPr>
                        <a:t>Scrunch (Sitecore), Optimizely, AirOps, Yext Scout</a:t>
                      </a:r>
                    </a:p>
                  </a:txBody>
                  <a:tcPr marL="64008" marR="64008" marT="36576" marB="36576">
                    <a:solidFill>
                      <a:srgbClr val="FFFFFF"/>
                    </a:solidFill>
                  </a:tcPr>
                </a:tc>
                <a:tc>
                  <a:txBody>
                    <a:bodyPr/>
                    <a:lstStyle/>
                    <a:p>
                      <a:r>
                        <a:rPr sz="950" b="0" i="0">
                          <a:solidFill>
                            <a:srgbClr val="1F2937"/>
                          </a:solidFill>
                          <a:latin typeface="Calibri"/>
                        </a:rPr>
                        <a:t>Publish or serve content; listings and knowledge graph; Scrunch can serve a simplified page to bots (AXP)</a:t>
                      </a:r>
                    </a:p>
                  </a:txBody>
                  <a:tcPr marL="64008" marR="64008" marT="36576" marB="36576">
                    <a:solidFill>
                      <a:srgbClr val="FFFFFF"/>
                    </a:solidFill>
                  </a:tcPr>
                </a:tc>
                <a:tc>
                  <a:txBody>
                    <a:bodyPr/>
                    <a:lstStyle/>
                    <a:p>
                      <a:r>
                        <a:rPr sz="950" b="0" i="0">
                          <a:solidFill>
                            <a:srgbClr val="1F2937"/>
                          </a:solidFill>
                          <a:latin typeface="Calibri"/>
                        </a:rPr>
                        <a:t>Yext-style listings for stores is relevant; AI-only page variants deferred unless facts are bitwise identical</a:t>
                      </a:r>
                    </a:p>
                  </a:txBody>
                  <a:tcPr marL="64008" marR="64008" marT="36576" marB="36576">
                    <a:solidFill>
                      <a:srgbClr val="FFFFFF"/>
                    </a:solidFill>
                  </a:tcPr>
                </a:tc>
                <a:extLst>
                  <a:ext uri="{0D108BD9-81ED-4DB2-BD59-A6C34878D82A}">
                    <a16:rowId xmlns:a16="http://schemas.microsoft.com/office/drawing/2014/main" val="10003"/>
                  </a:ext>
                </a:extLst>
              </a:tr>
              <a:tr h="723900">
                <a:tc>
                  <a:txBody>
                    <a:bodyPr/>
                    <a:lstStyle/>
                    <a:p>
                      <a:r>
                        <a:rPr sz="950" b="0" i="0">
                          <a:solidFill>
                            <a:srgbClr val="1F2937"/>
                          </a:solidFill>
                          <a:latin typeface="Calibri"/>
                        </a:rPr>
                        <a:t>Connectors</a:t>
                      </a:r>
                    </a:p>
                  </a:txBody>
                  <a:tcPr marL="64008" marR="64008" marT="36576" marB="36576">
                    <a:solidFill>
                      <a:srgbClr val="F3F5F8"/>
                    </a:solidFill>
                  </a:tcPr>
                </a:tc>
                <a:tc>
                  <a:txBody>
                    <a:bodyPr/>
                    <a:lstStyle/>
                    <a:p>
                      <a:r>
                        <a:rPr sz="950" b="0" i="0">
                          <a:solidFill>
                            <a:srgbClr val="1F2937"/>
                          </a:solidFill>
                          <a:latin typeface="Calibri"/>
                        </a:rPr>
                        <a:t>Expedia and Booking.com ChatGPT apps; Virgin Australia app; Google UCP; MCP</a:t>
                      </a:r>
                    </a:p>
                  </a:txBody>
                  <a:tcPr marL="64008" marR="64008" marT="36576" marB="36576">
                    <a:solidFill>
                      <a:srgbClr val="F3F5F8"/>
                    </a:solidFill>
                  </a:tcPr>
                </a:tc>
                <a:tc>
                  <a:txBody>
                    <a:bodyPr/>
                    <a:lstStyle/>
                    <a:p>
                      <a:r>
                        <a:rPr sz="950" b="0" i="0">
                          <a:solidFill>
                            <a:srgbClr val="1F2937"/>
                          </a:solidFill>
                          <a:latin typeface="Calibri"/>
                        </a:rPr>
                        <a:t>Inventory inside the chat; checkout on merchant</a:t>
                      </a:r>
                    </a:p>
                  </a:txBody>
                  <a:tcPr marL="64008" marR="64008" marT="36576" marB="36576">
                    <a:solidFill>
                      <a:srgbClr val="F3F5F8"/>
                    </a:solidFill>
                  </a:tcPr>
                </a:tc>
                <a:tc>
                  <a:txBody>
                    <a:bodyPr/>
                    <a:lstStyle/>
                    <a:p>
                      <a:r>
                        <a:rPr sz="950" b="0" i="0">
                          <a:solidFill>
                            <a:srgbClr val="1F2937"/>
                          </a:solidFill>
                          <a:latin typeface="Calibri"/>
                        </a:rPr>
                        <a:t>Options paper only; FC's routable asset is the expert/store path, not OTA inventory</a:t>
                      </a:r>
                    </a:p>
                  </a:txBody>
                  <a:tcPr marL="64008" marR="64008" marT="36576" marB="36576">
                    <a:solidFill>
                      <a:srgbClr val="F3F5F8"/>
                    </a:solidFill>
                  </a:tcPr>
                </a:tc>
                <a:extLst>
                  <a:ext uri="{0D108BD9-81ED-4DB2-BD59-A6C34878D82A}">
                    <a16:rowId xmlns:a16="http://schemas.microsoft.com/office/drawing/2014/main" val="10004"/>
                  </a:ext>
                </a:extLst>
              </a:tr>
              <a:tr h="723900">
                <a:tc>
                  <a:txBody>
                    <a:bodyPr/>
                    <a:lstStyle/>
                    <a:p>
                      <a:r>
                        <a:rPr sz="950" b="0" i="0">
                          <a:solidFill>
                            <a:srgbClr val="1F2937"/>
                          </a:solidFill>
                          <a:latin typeface="Calibri"/>
                        </a:rPr>
                        <a:t>Controlled experiment</a:t>
                      </a:r>
                    </a:p>
                  </a:txBody>
                  <a:tcPr marL="64008" marR="64008" marT="36576" marB="36576">
                    <a:solidFill>
                      <a:srgbClr val="FFFFFF"/>
                    </a:solidFill>
                  </a:tcPr>
                </a:tc>
                <a:tc>
                  <a:txBody>
                    <a:bodyPr/>
                    <a:lstStyle/>
                    <a:p>
                      <a:r>
                        <a:rPr sz="950" b="0" i="0">
                          <a:solidFill>
                            <a:srgbClr val="1F2937"/>
                          </a:solidFill>
                          <a:latin typeface="Calibri"/>
                        </a:rPr>
                        <a:t>This project</a:t>
                      </a:r>
                    </a:p>
                  </a:txBody>
                  <a:tcPr marL="64008" marR="64008" marT="36576" marB="36576">
                    <a:solidFill>
                      <a:srgbClr val="FFFFFF"/>
                    </a:solidFill>
                  </a:tcPr>
                </a:tc>
                <a:tc>
                  <a:txBody>
                    <a:bodyPr/>
                    <a:lstStyle/>
                    <a:p>
                      <a:r>
                        <a:rPr sz="950" b="0" i="0">
                          <a:solidFill>
                            <a:srgbClr val="1F2937"/>
                          </a:solidFill>
                          <a:latin typeface="Calibri"/>
                        </a:rPr>
                        <a:t>Frozen sources, repeated answers, question-level statistics</a:t>
                      </a:r>
                    </a:p>
                  </a:txBody>
                  <a:tcPr marL="64008" marR="64008" marT="36576" marB="36576">
                    <a:solidFill>
                      <a:srgbClr val="FFFFFF"/>
                    </a:solidFill>
                  </a:tcPr>
                </a:tc>
                <a:tc>
                  <a:txBody>
                    <a:bodyPr/>
                    <a:lstStyle/>
                    <a:p>
                      <a:r>
                        <a:rPr sz="950" b="0" i="0">
                          <a:solidFill>
                            <a:srgbClr val="1F2937"/>
                          </a:solidFill>
                          <a:latin typeface="Calibri"/>
                        </a:rPr>
                        <a:t>Completed research evidence; FC can implement the findings without reproducing the sandbox</a:t>
                      </a:r>
                    </a:p>
                  </a:txBody>
                  <a:tcPr marL="64008" marR="64008" marT="36576" marB="36576">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6327648"/>
            <a:ext cx="10607040" cy="384048"/>
          </a:xfrm>
          <a:prstGeom prst="rect">
            <a:avLst/>
          </a:prstGeom>
          <a:noFill/>
        </p:spPr>
        <p:txBody>
          <a:bodyPr wrap="square" lIns="45720" rIns="45720" anchor="t">
            <a:spAutoFit/>
          </a:bodyPr>
          <a:lstStyle/>
          <a:p>
            <a:pPr algn="l">
              <a:lnSpc>
                <a:spcPct val="100000"/>
              </a:lnSpc>
              <a:spcAft>
                <a:spcPts val="400"/>
              </a:spcAft>
            </a:pPr>
            <a:r>
              <a:rPr sz="900" b="0" i="0">
                <a:solidFill>
                  <a:srgbClr val="5B6573"/>
                </a:solidFill>
                <a:latin typeface="Calibri"/>
              </a:rPr>
              <a:t>Sampled 14–24 Oct 2026 from public service pages. Public pages say what a company sells; they do not prove the service will move Flight Centre citations or bookings.</a:t>
            </a:r>
          </a:p>
        </p:txBody>
      </p:sp>
      <p:sp>
        <p:nvSpPr>
          <p:cNvPr id="7" name="TextBox 6"/>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28</a:t>
            </a:r>
          </a:p>
        </p:txBody>
      </p:sp>
    </p:spTree>
  </p:cSld>
  <p:clrMapOvr>
    <a:masterClrMapping/>
  </p:clrMapOvr>
</p:sld>
</file>

<file path=ppt/slides/slide10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48640" y="292608"/>
            <a:ext cx="2743200" cy="274320"/>
          </a:xfrm>
          <a:prstGeom prst="rect">
            <a:avLst/>
          </a:prstGeom>
          <a:noFill/>
        </p:spPr>
        <p:txBody>
          <a:bodyPr wrap="square" lIns="45720" rIns="45720" anchor="t">
            <a:spAutoFit/>
          </a:bodyPr>
          <a:lstStyle/>
          <a:p>
            <a:pPr algn="l">
              <a:lnSpc>
                <a:spcPct val="108000"/>
              </a:lnSpc>
              <a:spcAft>
                <a:spcPts val="400"/>
              </a:spcAft>
            </a:pPr>
            <a:r>
              <a:rPr sz="1150" b="1" i="0">
                <a:solidFill>
                  <a:srgbClr val="C8102E"/>
                </a:solidFill>
                <a:latin typeface="Calibri"/>
              </a:rPr>
              <a:t>BACKUP (HIDDEN) · FOR Q&amp;A</a:t>
            </a:r>
          </a:p>
        </p:txBody>
      </p:sp>
      <p:sp>
        <p:nvSpPr>
          <p:cNvPr id="3" name="TextBox 2"/>
          <p:cNvSpPr txBox="1"/>
          <p:nvPr/>
        </p:nvSpPr>
        <p:spPr>
          <a:xfrm>
            <a:off x="548640" y="530352"/>
            <a:ext cx="9692640" cy="1005840"/>
          </a:xfrm>
          <a:prstGeom prst="rect">
            <a:avLst/>
          </a:prstGeom>
          <a:noFill/>
        </p:spPr>
        <p:txBody>
          <a:bodyPr wrap="square" lIns="45720" rIns="45720" anchor="t">
            <a:spAutoFit/>
          </a:bodyPr>
          <a:lstStyle/>
          <a:p>
            <a:pPr algn="l">
              <a:lnSpc>
                <a:spcPct val="100000"/>
              </a:lnSpc>
              <a:spcAft>
                <a:spcPts val="400"/>
              </a:spcAft>
            </a:pPr>
            <a:r>
              <a:rPr sz="2400" b="1" i="0">
                <a:solidFill>
                  <a:srgbClr val="0B2240"/>
                </a:solidFill>
                <a:latin typeface="Calibri"/>
              </a:rPr>
              <a:t>Backup: glossary</a:t>
            </a:r>
          </a:p>
        </p:txBody>
      </p:sp>
      <p:graphicFrame>
        <p:nvGraphicFramePr>
          <p:cNvPr id="4" name="Table 3"/>
          <p:cNvGraphicFramePr>
            <a:graphicFrameLocks noGrp="1"/>
          </p:cNvGraphicFramePr>
          <p:nvPr/>
        </p:nvGraphicFramePr>
        <p:xfrm>
          <a:off x="548640" y="1600200"/>
          <a:ext cx="11109960" cy="4023360"/>
        </p:xfrm>
        <a:graphic>
          <a:graphicData uri="http://schemas.openxmlformats.org/drawingml/2006/table">
            <a:tbl>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35280">
                <a:tc>
                  <a:txBody>
                    <a:bodyPr/>
                    <a:lstStyle/>
                    <a:p>
                      <a:r>
                        <a:rPr sz="1050" b="1" i="0">
                          <a:solidFill>
                            <a:srgbClr val="FFFFFF"/>
                          </a:solidFill>
                          <a:latin typeface="Calibri"/>
                        </a:rPr>
                        <a:t>Term</a:t>
                      </a:r>
                    </a:p>
                  </a:txBody>
                  <a:tcPr marL="64008" marR="64008" marT="36576" marB="36576" anchor="ctr">
                    <a:solidFill>
                      <a:srgbClr val="0B2240"/>
                    </a:solidFill>
                  </a:tcPr>
                </a:tc>
                <a:tc>
                  <a:txBody>
                    <a:bodyPr/>
                    <a:lstStyle/>
                    <a:p>
                      <a:r>
                        <a:rPr sz="1050" b="1" i="0">
                          <a:solidFill>
                            <a:srgbClr val="FFFFFF"/>
                          </a:solidFill>
                          <a:latin typeface="Calibri"/>
                        </a:rPr>
                        <a:t>Meaning in this briefing</a:t>
                      </a:r>
                    </a:p>
                  </a:txBody>
                  <a:tcPr marL="64008" marR="64008" marT="36576" marB="36576" anchor="ctr">
                    <a:solidFill>
                      <a:srgbClr val="0B2240"/>
                    </a:solidFill>
                  </a:tcPr>
                </a:tc>
                <a:extLst>
                  <a:ext uri="{0D108BD9-81ED-4DB2-BD59-A6C34878D82A}">
                    <a16:rowId xmlns:a16="http://schemas.microsoft.com/office/drawing/2014/main" val="10000"/>
                  </a:ext>
                </a:extLst>
              </a:tr>
              <a:tr h="335280">
                <a:tc>
                  <a:txBody>
                    <a:bodyPr/>
                    <a:lstStyle/>
                    <a:p>
                      <a:r>
                        <a:rPr sz="1000" b="0" i="0">
                          <a:solidFill>
                            <a:srgbClr val="1F2937"/>
                          </a:solidFill>
                          <a:latin typeface="Calibri"/>
                        </a:rPr>
                        <a:t>GEO / AEO / AI SEO</a:t>
                      </a:r>
                    </a:p>
                  </a:txBody>
                  <a:tcPr marL="64008" marR="64008" marT="36576" marB="36576">
                    <a:solidFill>
                      <a:srgbClr val="FFFFFF"/>
                    </a:solidFill>
                  </a:tcPr>
                </a:tc>
                <a:tc>
                  <a:txBody>
                    <a:bodyPr/>
                    <a:lstStyle/>
                    <a:p>
                      <a:r>
                        <a:rPr sz="1000" b="0" i="0">
                          <a:solidFill>
                            <a:srgbClr val="1F2937"/>
                          </a:solidFill>
                          <a:latin typeface="Calibri"/>
                        </a:rPr>
                        <a:t>Making a brand findable, readable, citable and (where possible) actionable inside AI-generated answers</a:t>
                      </a:r>
                    </a:p>
                  </a:txBody>
                  <a:tcPr marL="64008" marR="64008" marT="36576" marB="36576">
                    <a:solidFill>
                      <a:srgbClr val="FFFFFF"/>
                    </a:solidFill>
                  </a:tcPr>
                </a:tc>
                <a:extLst>
                  <a:ext uri="{0D108BD9-81ED-4DB2-BD59-A6C34878D82A}">
                    <a16:rowId xmlns:a16="http://schemas.microsoft.com/office/drawing/2014/main" val="10001"/>
                  </a:ext>
                </a:extLst>
              </a:tr>
              <a:tr h="335280">
                <a:tc>
                  <a:txBody>
                    <a:bodyPr/>
                    <a:lstStyle/>
                    <a:p>
                      <a:r>
                        <a:rPr sz="1000" b="0" i="0">
                          <a:solidFill>
                            <a:srgbClr val="1F2937"/>
                          </a:solidFill>
                          <a:latin typeface="Calibri"/>
                        </a:rPr>
                        <a:t>Citation inclusion</a:t>
                      </a:r>
                    </a:p>
                  </a:txBody>
                  <a:tcPr marL="64008" marR="64008" marT="36576" marB="36576">
                    <a:solidFill>
                      <a:srgbClr val="F3F5F8"/>
                    </a:solidFill>
                  </a:tcPr>
                </a:tc>
                <a:tc>
                  <a:txBody>
                    <a:bodyPr/>
                    <a:lstStyle/>
                    <a:p>
                      <a:r>
                        <a:rPr sz="1000" b="0" i="0">
                          <a:solidFill>
                            <a:srgbClr val="1F2937"/>
                          </a:solidFill>
                          <a:latin typeface="Calibri"/>
                        </a:rPr>
                        <a:t>Share of answers with at least one numbered reference to a Flight Centre source; several references count once</a:t>
                      </a:r>
                    </a:p>
                  </a:txBody>
                  <a:tcPr marL="64008" marR="64008" marT="36576" marB="36576">
                    <a:solidFill>
                      <a:srgbClr val="F3F5F8"/>
                    </a:solidFill>
                  </a:tcPr>
                </a:tc>
                <a:extLst>
                  <a:ext uri="{0D108BD9-81ED-4DB2-BD59-A6C34878D82A}">
                    <a16:rowId xmlns:a16="http://schemas.microsoft.com/office/drawing/2014/main" val="10002"/>
                  </a:ext>
                </a:extLst>
              </a:tr>
              <a:tr h="335280">
                <a:tc>
                  <a:txBody>
                    <a:bodyPr/>
                    <a:lstStyle/>
                    <a:p>
                      <a:r>
                        <a:rPr sz="1000" b="0" i="0">
                          <a:solidFill>
                            <a:srgbClr val="1F2937"/>
                          </a:solidFill>
                          <a:latin typeface="Calibri"/>
                        </a:rPr>
                        <a:t>Percentage point vs relative</a:t>
                      </a:r>
                    </a:p>
                  </a:txBody>
                  <a:tcPr marL="64008" marR="64008" marT="36576" marB="36576">
                    <a:solidFill>
                      <a:srgbClr val="FFFFFF"/>
                    </a:solidFill>
                  </a:tcPr>
                </a:tc>
                <a:tc>
                  <a:txBody>
                    <a:bodyPr/>
                    <a:lstStyle/>
                    <a:p>
                      <a:r>
                        <a:rPr sz="1000" b="0" i="0">
                          <a:solidFill>
                            <a:srgbClr val="1F2937"/>
                          </a:solidFill>
                          <a:latin typeface="Calibri"/>
                        </a:rPr>
                        <a:t>40.0% → 52.4% is +12.4 points and +31% relative; it is not a 52% improvement</a:t>
                      </a:r>
                    </a:p>
                  </a:txBody>
                  <a:tcPr marL="64008" marR="64008" marT="36576" marB="36576">
                    <a:solidFill>
                      <a:srgbClr val="FFFFFF"/>
                    </a:solidFill>
                  </a:tcPr>
                </a:tc>
                <a:extLst>
                  <a:ext uri="{0D108BD9-81ED-4DB2-BD59-A6C34878D82A}">
                    <a16:rowId xmlns:a16="http://schemas.microsoft.com/office/drawing/2014/main" val="10003"/>
                  </a:ext>
                </a:extLst>
              </a:tr>
              <a:tr h="335280">
                <a:tc>
                  <a:txBody>
                    <a:bodyPr/>
                    <a:lstStyle/>
                    <a:p>
                      <a:r>
                        <a:rPr sz="1000" b="0" i="0">
                          <a:solidFill>
                            <a:srgbClr val="1F2937"/>
                          </a:solidFill>
                          <a:latin typeface="Calibri"/>
                        </a:rPr>
                        <a:t>Retrieved / cited / absorbed</a:t>
                      </a:r>
                    </a:p>
                  </a:txBody>
                  <a:tcPr marL="64008" marR="64008" marT="36576" marB="36576">
                    <a:solidFill>
                      <a:srgbClr val="F3F5F8"/>
                    </a:solidFill>
                  </a:tcPr>
                </a:tc>
                <a:tc>
                  <a:txBody>
                    <a:bodyPr/>
                    <a:lstStyle/>
                    <a:p>
                      <a:r>
                        <a:rPr sz="1000" b="0" i="0">
                          <a:solidFill>
                            <a:srgbClr val="1F2937"/>
                          </a:solidFill>
                          <a:latin typeface="Calibri"/>
                        </a:rPr>
                        <a:t>Page in the model's source list / page referenced in the answer / page's facts actually used in the answer text</a:t>
                      </a:r>
                    </a:p>
                  </a:txBody>
                  <a:tcPr marL="64008" marR="64008" marT="36576" marB="36576">
                    <a:solidFill>
                      <a:srgbClr val="F3F5F8"/>
                    </a:solidFill>
                  </a:tcPr>
                </a:tc>
                <a:extLst>
                  <a:ext uri="{0D108BD9-81ED-4DB2-BD59-A6C34878D82A}">
                    <a16:rowId xmlns:a16="http://schemas.microsoft.com/office/drawing/2014/main" val="10004"/>
                  </a:ext>
                </a:extLst>
              </a:tr>
              <a:tr h="335280">
                <a:tc>
                  <a:txBody>
                    <a:bodyPr/>
                    <a:lstStyle/>
                    <a:p>
                      <a:r>
                        <a:rPr sz="1000" b="0" i="0">
                          <a:solidFill>
                            <a:srgbClr val="1F2937"/>
                          </a:solidFill>
                          <a:latin typeface="Calibri"/>
                        </a:rPr>
                        <a:t>Fixed vs reindexed setup</a:t>
                      </a:r>
                    </a:p>
                  </a:txBody>
                  <a:tcPr marL="64008" marR="64008" marT="36576" marB="36576">
                    <a:solidFill>
                      <a:srgbClr val="FFFFFF"/>
                    </a:solidFill>
                  </a:tcPr>
                </a:tc>
                <a:tc>
                  <a:txBody>
                    <a:bodyPr/>
                    <a:lstStyle/>
                    <a:p>
                      <a:r>
                        <a:rPr sz="1000" b="0" i="0">
                          <a:solidFill>
                            <a:srgbClr val="1F2937"/>
                          </a:solidFill>
                          <a:latin typeface="Calibri"/>
                        </a:rPr>
                        <a:t>Main test: same whole pages given to the model in both versions. Secondary: the retrieval pipeline selects passages from the indexed usable corpus</a:t>
                      </a:r>
                    </a:p>
                  </a:txBody>
                  <a:tcPr marL="64008" marR="64008" marT="36576" marB="36576">
                    <a:solidFill>
                      <a:srgbClr val="FFFFFF"/>
                    </a:solidFill>
                  </a:tcPr>
                </a:tc>
                <a:extLst>
                  <a:ext uri="{0D108BD9-81ED-4DB2-BD59-A6C34878D82A}">
                    <a16:rowId xmlns:a16="http://schemas.microsoft.com/office/drawing/2014/main" val="10005"/>
                  </a:ext>
                </a:extLst>
              </a:tr>
              <a:tr h="335280">
                <a:tc>
                  <a:txBody>
                    <a:bodyPr/>
                    <a:lstStyle/>
                    <a:p>
                      <a:r>
                        <a:rPr sz="1000" b="0" i="0">
                          <a:solidFill>
                            <a:srgbClr val="1F2937"/>
                          </a:solidFill>
                          <a:latin typeface="Calibri"/>
                        </a:rPr>
                        <a:t>SSR / CSR</a:t>
                      </a:r>
                    </a:p>
                  </a:txBody>
                  <a:tcPr marL="64008" marR="64008" marT="36576" marB="36576">
                    <a:solidFill>
                      <a:srgbClr val="F3F5F8"/>
                    </a:solidFill>
                  </a:tcPr>
                </a:tc>
                <a:tc>
                  <a:txBody>
                    <a:bodyPr/>
                    <a:lstStyle/>
                    <a:p>
                      <a:r>
                        <a:rPr sz="1000" b="0" i="0">
                          <a:solidFill>
                            <a:srgbClr val="1F2937"/>
                          </a:solidFill>
                          <a:latin typeface="Calibri"/>
                        </a:rPr>
                        <a:t>Content present in the first HTML response vs content that appears only after JavaScript runs in a browser</a:t>
                      </a:r>
                    </a:p>
                  </a:txBody>
                  <a:tcPr marL="64008" marR="64008" marT="36576" marB="36576">
                    <a:solidFill>
                      <a:srgbClr val="F3F5F8"/>
                    </a:solidFill>
                  </a:tcPr>
                </a:tc>
                <a:extLst>
                  <a:ext uri="{0D108BD9-81ED-4DB2-BD59-A6C34878D82A}">
                    <a16:rowId xmlns:a16="http://schemas.microsoft.com/office/drawing/2014/main" val="10006"/>
                  </a:ext>
                </a:extLst>
              </a:tr>
              <a:tr h="335280">
                <a:tc>
                  <a:txBody>
                    <a:bodyPr/>
                    <a:lstStyle/>
                    <a:p>
                      <a:r>
                        <a:rPr sz="1000" b="0" i="0">
                          <a:solidFill>
                            <a:srgbClr val="1F2937"/>
                          </a:solidFill>
                          <a:latin typeface="Calibri"/>
                        </a:rPr>
                        <a:t>OAI-SearchBot / GPTBot / ChatGPT-User</a:t>
                      </a:r>
                    </a:p>
                  </a:txBody>
                  <a:tcPr marL="64008" marR="64008" marT="36576" marB="36576">
                    <a:solidFill>
                      <a:srgbClr val="FFFFFF"/>
                    </a:solidFill>
                  </a:tcPr>
                </a:tc>
                <a:tc>
                  <a:txBody>
                    <a:bodyPr/>
                    <a:lstStyle/>
                    <a:p>
                      <a:r>
                        <a:rPr sz="1000" b="0" i="0">
                          <a:solidFill>
                            <a:srgbClr val="1F2937"/>
                          </a:solidFill>
                          <a:latin typeface="Calibri"/>
                        </a:rPr>
                        <a:t>ChatGPT search crawler / training crawler / fetcher acting for a user (may ignore robots.txt)</a:t>
                      </a:r>
                    </a:p>
                  </a:txBody>
                  <a:tcPr marL="64008" marR="64008" marT="36576" marB="36576">
                    <a:solidFill>
                      <a:srgbClr val="FFFFFF"/>
                    </a:solidFill>
                  </a:tcPr>
                </a:tc>
                <a:extLst>
                  <a:ext uri="{0D108BD9-81ED-4DB2-BD59-A6C34878D82A}">
                    <a16:rowId xmlns:a16="http://schemas.microsoft.com/office/drawing/2014/main" val="10007"/>
                  </a:ext>
                </a:extLst>
              </a:tr>
              <a:tr h="335280">
                <a:tc>
                  <a:txBody>
                    <a:bodyPr/>
                    <a:lstStyle/>
                    <a:p>
                      <a:r>
                        <a:rPr sz="1000" b="0" i="0">
                          <a:solidFill>
                            <a:srgbClr val="1F2937"/>
                          </a:solidFill>
                          <a:latin typeface="Calibri"/>
                        </a:rPr>
                        <a:t>JSON-LD, FAQPage, Offer</a:t>
                      </a:r>
                    </a:p>
                  </a:txBody>
                  <a:tcPr marL="64008" marR="64008" marT="36576" marB="36576">
                    <a:solidFill>
                      <a:srgbClr val="F3F5F8"/>
                    </a:solidFill>
                  </a:tcPr>
                </a:tc>
                <a:tc>
                  <a:txBody>
                    <a:bodyPr/>
                    <a:lstStyle/>
                    <a:p>
                      <a:r>
                        <a:rPr sz="1000" b="0" i="0">
                          <a:solidFill>
                            <a:srgbClr val="1F2937"/>
                          </a:solidFill>
                          <a:latin typeface="Calibri"/>
                        </a:rPr>
                        <a:t>Structured-data formats restating visible facts for machines; must match the visible text</a:t>
                      </a:r>
                    </a:p>
                  </a:txBody>
                  <a:tcPr marL="64008" marR="64008" marT="36576" marB="36576">
                    <a:solidFill>
                      <a:srgbClr val="F3F5F8"/>
                    </a:solidFill>
                  </a:tcPr>
                </a:tc>
                <a:extLst>
                  <a:ext uri="{0D108BD9-81ED-4DB2-BD59-A6C34878D82A}">
                    <a16:rowId xmlns:a16="http://schemas.microsoft.com/office/drawing/2014/main" val="10008"/>
                  </a:ext>
                </a:extLst>
              </a:tr>
              <a:tr h="335280">
                <a:tc>
                  <a:txBody>
                    <a:bodyPr/>
                    <a:lstStyle/>
                    <a:p>
                      <a:r>
                        <a:rPr sz="1000" b="0" i="0">
                          <a:solidFill>
                            <a:srgbClr val="1F2937"/>
                          </a:solidFill>
                          <a:latin typeface="Calibri"/>
                        </a:rPr>
                        <a:t>llms.txt</a:t>
                      </a:r>
                    </a:p>
                  </a:txBody>
                  <a:tcPr marL="64008" marR="64008" marT="36576" marB="36576">
                    <a:solidFill>
                      <a:srgbClr val="FFFFFF"/>
                    </a:solidFill>
                  </a:tcPr>
                </a:tc>
                <a:tc>
                  <a:txBody>
                    <a:bodyPr/>
                    <a:lstStyle/>
                    <a:p>
                      <a:r>
                        <a:rPr sz="1000" b="0" i="0">
                          <a:solidFill>
                            <a:srgbClr val="1F2937"/>
                          </a:solidFill>
                          <a:latin typeface="Calibri"/>
                        </a:rPr>
                        <a:t>Vendor-promoted Markdown map for AI systems; Google ignores it; rarely fetched</a:t>
                      </a:r>
                    </a:p>
                  </a:txBody>
                  <a:tcPr marL="64008" marR="64008" marT="36576" marB="36576">
                    <a:solidFill>
                      <a:srgbClr val="FFFFFF"/>
                    </a:solidFill>
                  </a:tcPr>
                </a:tc>
                <a:extLst>
                  <a:ext uri="{0D108BD9-81ED-4DB2-BD59-A6C34878D82A}">
                    <a16:rowId xmlns:a16="http://schemas.microsoft.com/office/drawing/2014/main" val="10009"/>
                  </a:ext>
                </a:extLst>
              </a:tr>
              <a:tr h="335280">
                <a:tc>
                  <a:txBody>
                    <a:bodyPr/>
                    <a:lstStyle/>
                    <a:p>
                      <a:r>
                        <a:rPr sz="1000" b="0" i="0">
                          <a:solidFill>
                            <a:srgbClr val="1F2937"/>
                          </a:solidFill>
                          <a:latin typeface="Calibri"/>
                        </a:rPr>
                        <a:t>MCP / ACP / UCP</a:t>
                      </a:r>
                    </a:p>
                  </a:txBody>
                  <a:tcPr marL="64008" marR="64008" marT="36576" marB="36576">
                    <a:solidFill>
                      <a:srgbClr val="F3F5F8"/>
                    </a:solidFill>
                  </a:tcPr>
                </a:tc>
                <a:tc>
                  <a:txBody>
                    <a:bodyPr/>
                    <a:lstStyle/>
                    <a:p>
                      <a:r>
                        <a:rPr sz="1000" b="0" i="0">
                          <a:solidFill>
                            <a:srgbClr val="1F2937"/>
                          </a:solidFill>
                          <a:latin typeface="Calibri"/>
                        </a:rPr>
                        <a:t>Agent-connection protocol (Anthropic), OpenAI's Agentic Commerce Protocol, Google's Universal Commerce Protocol</a:t>
                      </a:r>
                    </a:p>
                  </a:txBody>
                  <a:tcPr marL="64008" marR="64008" marT="36576" marB="36576">
                    <a:solidFill>
                      <a:srgbClr val="F3F5F8"/>
                    </a:solidFill>
                  </a:tcPr>
                </a:tc>
                <a:extLst>
                  <a:ext uri="{0D108BD9-81ED-4DB2-BD59-A6C34878D82A}">
                    <a16:rowId xmlns:a16="http://schemas.microsoft.com/office/drawing/2014/main" val="10010"/>
                  </a:ext>
                </a:extLst>
              </a:tr>
              <a:tr h="335280">
                <a:tc>
                  <a:txBody>
                    <a:bodyPr/>
                    <a:lstStyle/>
                    <a:p>
                      <a:r>
                        <a:rPr sz="1000" b="0" i="0">
                          <a:solidFill>
                            <a:srgbClr val="1F2937"/>
                          </a:solidFill>
                          <a:latin typeface="Calibri"/>
                        </a:rPr>
                        <a:t>Fingerprint (SHA-256)</a:t>
                      </a:r>
                    </a:p>
                  </a:txBody>
                  <a:tcPr marL="64008" marR="64008" marT="36576" marB="36576">
                    <a:solidFill>
                      <a:srgbClr val="FFFFFF"/>
                    </a:solidFill>
                  </a:tcPr>
                </a:tc>
                <a:tc>
                  <a:txBody>
                    <a:bodyPr/>
                    <a:lstStyle/>
                    <a:p>
                      <a:r>
                        <a:rPr sz="1000" b="0" i="0">
                          <a:solidFill>
                            <a:srgbClr val="1F2937"/>
                          </a:solidFill>
                          <a:latin typeface="Calibri"/>
                        </a:rPr>
                        <a:t>A code computed from a file; changes if a single character changes</a:t>
                      </a:r>
                    </a:p>
                  </a:txBody>
                  <a:tcPr marL="64008" marR="64008" marT="36576" marB="36576">
                    <a:solidFill>
                      <a:srgbClr val="FFFFFF"/>
                    </a:solidFill>
                  </a:tcPr>
                </a:tc>
                <a:extLst>
                  <a:ext uri="{0D108BD9-81ED-4DB2-BD59-A6C34878D82A}">
                    <a16:rowId xmlns:a16="http://schemas.microsoft.com/office/drawing/2014/main" val="10011"/>
                  </a:ext>
                </a:extLst>
              </a:tr>
            </a:tbl>
          </a:graphicData>
        </a:graphic>
      </p:graphicFrame>
      <p:sp>
        <p:nvSpPr>
          <p:cNvPr id="5" name="TextBox 4"/>
          <p:cNvSpPr txBox="1"/>
          <p:nvPr/>
        </p:nvSpPr>
        <p:spPr>
          <a:xfrm>
            <a:off x="11247120" y="6382512"/>
            <a:ext cx="411480" cy="274320"/>
          </a:xfrm>
          <a:prstGeom prst="rect">
            <a:avLst/>
          </a:prstGeom>
          <a:noFill/>
        </p:spPr>
        <p:txBody>
          <a:bodyPr wrap="square" lIns="45720" rIns="45720" anchor="t">
            <a:spAutoFit/>
          </a:bodyPr>
          <a:lstStyle/>
          <a:p>
            <a:pPr algn="r">
              <a:lnSpc>
                <a:spcPct val="108000"/>
              </a:lnSpc>
              <a:spcAft>
                <a:spcPts val="400"/>
              </a:spcAft>
            </a:pPr>
            <a:r>
              <a:rPr sz="900" b="0" i="0">
                <a:solidFill>
                  <a:srgbClr val="5B6573"/>
                </a:solidFill>
                <a:latin typeface="Calibri"/>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9405</Words>
  <Application>Microsoft Office PowerPoint</Application>
  <PresentationFormat>Widescreen</PresentationFormat>
  <Paragraphs>818</Paragraphs>
  <Slides>29</Slides>
  <Notes>26</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Without JavaScript, FC’s deals disappear</vt:lpstr>
      <vt:lpstr>FC is missing from “why use an agent?” searches</vt:lpstr>
      <vt:lpstr>Competitor destination pages answer more questions</vt:lpstr>
      <vt:lpstr>AI trusts consistent facts and outside proof</vt:lpstr>
      <vt:lpstr>Travel brands are already inside 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Mubbasher Ahmad</dc:creator>
  <cp:keywords/>
  <dc:description>generated using python-pptx</dc:description>
  <cp:lastModifiedBy>Muhammad Mubbashar</cp:lastModifiedBy>
  <cp:revision>2</cp:revision>
  <dcterms:created xsi:type="dcterms:W3CDTF">2013-01-27T09:14:16Z</dcterms:created>
  <dcterms:modified xsi:type="dcterms:W3CDTF">2026-10-25T19:57:31Z</dcterms:modified>
  <cp:category/>
</cp:coreProperties>
</file>