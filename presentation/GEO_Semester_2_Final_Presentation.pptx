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2.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f2dbc36444f419b" /><Relationship Type="http://schemas.openxmlformats.org/officeDocument/2006/relationships/extended-properties" Target="/docProps/app.xml" Id="Rb75c964609564f2c" /><Relationship Type="http://schemas.openxmlformats.org/officeDocument/2006/relationships/officeDocument" Target="/ppt/presentation.xml" Id="R754a77eb6eff4adf" /></Relationships>
</file>

<file path=ppt/presentation.xml><?xml version="1.0" encoding="utf-8"?>
<p:presentation xmlns:p="http://schemas.openxmlformats.org/presentationml/2006/main">
  <p:sldMasterIdLst>
    <p:sldMasterId xmlns:r="http://schemas.openxmlformats.org/officeDocument/2006/relationships" id="2147483648" r:id="Rd35c4611a0be444b"/>
  </p:sldMasterIdLst>
  <p:notesMasterIdLst>
    <p:notesMasterId xmlns:r="http://schemas.openxmlformats.org/officeDocument/2006/relationships" r:id="R9d0922b3cf684145"/>
  </p:notesMasterIdLst>
  <p:sldIdLst>
    <p:sldId xmlns:r="http://schemas.openxmlformats.org/officeDocument/2006/relationships" id="256" r:id="R4b37451d8f1f47d4"/>
    <p:sldId xmlns:r="http://schemas.openxmlformats.org/officeDocument/2006/relationships" id="257" r:id="R57306a64b6ea4624"/>
    <p:sldId xmlns:r="http://schemas.openxmlformats.org/officeDocument/2006/relationships" id="258" r:id="Rcf51ad59c45b4269"/>
    <p:sldId xmlns:r="http://schemas.openxmlformats.org/officeDocument/2006/relationships" id="259" r:id="R001e05a47cfb4d54"/>
    <p:sldId xmlns:r="http://schemas.openxmlformats.org/officeDocument/2006/relationships" id="260" r:id="R2a61c4cd58ba44c7"/>
    <p:sldId xmlns:r="http://schemas.openxmlformats.org/officeDocument/2006/relationships" id="261" r:id="Rc11863bb35154433"/>
    <p:sldId xmlns:r="http://schemas.openxmlformats.org/officeDocument/2006/relationships" id="262" r:id="R16ef7fc5876742b8"/>
    <p:sldId xmlns:r="http://schemas.openxmlformats.org/officeDocument/2006/relationships" id="263" r:id="Rd2cf11ec9f71431c"/>
    <p:sldId xmlns:r="http://schemas.openxmlformats.org/officeDocument/2006/relationships" id="264" r:id="Rf188d626d9f546e6"/>
    <p:sldId xmlns:r="http://schemas.openxmlformats.org/officeDocument/2006/relationships" id="265" r:id="R6ce6e68bc2b748d4"/>
    <p:sldId xmlns:r="http://schemas.openxmlformats.org/officeDocument/2006/relationships" id="266" r:id="R857b656747c64d98"/>
    <p:sldId xmlns:r="http://schemas.openxmlformats.org/officeDocument/2006/relationships" id="267" r:id="Rfe1aa79fb41c4bcb"/>
    <p:sldId xmlns:r="http://schemas.openxmlformats.org/officeDocument/2006/relationships" id="268" r:id="Rd0a5c7bca3724628"/>
    <p:sldId xmlns:r="http://schemas.openxmlformats.org/officeDocument/2006/relationships" id="269" r:id="Rfd3515085ddb47a2"/>
    <p:sldId xmlns:r="http://schemas.openxmlformats.org/officeDocument/2006/relationships" id="270" r:id="R47cd2846147b46fe"/>
    <p:sldId xmlns:r="http://schemas.openxmlformats.org/officeDocument/2006/relationships" id="271" r:id="R766bc5919b8a4959"/>
    <p:sldId xmlns:r="http://schemas.openxmlformats.org/officeDocument/2006/relationships" id="272" r:id="R2a6a42c2e3f345cf"/>
    <p:sldId xmlns:r="http://schemas.openxmlformats.org/officeDocument/2006/relationships" id="273" r:id="Rf1a6fb27e4064623"/>
    <p:sldId xmlns:r="http://schemas.openxmlformats.org/officeDocument/2006/relationships" id="274" r:id="R7ceda93330344095"/>
    <p:sldId xmlns:r="http://schemas.openxmlformats.org/officeDocument/2006/relationships" id="275" r:id="Rda609f60ea524e27"/>
    <p:sldId xmlns:r="http://schemas.openxmlformats.org/officeDocument/2006/relationships" id="276" r:id="R9f20bd14c1a94eaf"/>
    <p:sldId xmlns:r="http://schemas.openxmlformats.org/officeDocument/2006/relationships" id="277" r:id="Ra9321233da9c4218"/>
    <p:sldId xmlns:r="http://schemas.openxmlformats.org/officeDocument/2006/relationships" id="278" r:id="Re468450ed8fd4247"/>
    <p:sldId xmlns:r="http://schemas.openxmlformats.org/officeDocument/2006/relationships" id="279" r:id="R40dda4573a844a7f"/>
    <p:sldId xmlns:r="http://schemas.openxmlformats.org/officeDocument/2006/relationships" id="280" r:id="Rccf5bb0997664bf0"/>
    <p:sldId xmlns:r="http://schemas.openxmlformats.org/officeDocument/2006/relationships" id="281" r:id="R6c740c611cb7438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76916f9be64d89" /><Relationship Type="http://schemas.openxmlformats.org/officeDocument/2006/relationships/slideMaster" Target="/ppt/slideMasters/slideMaster1.xml" Id="Rd35c4611a0be444b" /><Relationship Type="http://schemas.openxmlformats.org/officeDocument/2006/relationships/notesMaster" Target="/ppt/notesMasters/notesMaster1.xml" Id="R9d0922b3cf684145" /><Relationship Type="http://schemas.openxmlformats.org/officeDocument/2006/relationships/presProps" Target="/ppt/presProps.xml" Id="Rc761ebc31b2544b7" /><Relationship Type="http://schemas.openxmlformats.org/officeDocument/2006/relationships/tableStyles" Target="/ppt/tableStyles.xml" Id="Rdcbd63d55133463b" /><Relationship Type="http://schemas.openxmlformats.org/officeDocument/2006/relationships/slide" Target="/ppt/slides/slide1.xml" Id="R4b37451d8f1f47d4" /><Relationship Type="http://schemas.openxmlformats.org/officeDocument/2006/relationships/slide" Target="/ppt/slides/slide2.xml" Id="R57306a64b6ea4624" /><Relationship Type="http://schemas.openxmlformats.org/officeDocument/2006/relationships/slide" Target="/ppt/slides/slide3.xml" Id="Rcf51ad59c45b4269" /><Relationship Type="http://schemas.openxmlformats.org/officeDocument/2006/relationships/slide" Target="/ppt/slides/slide4.xml" Id="R001e05a47cfb4d54" /><Relationship Type="http://schemas.openxmlformats.org/officeDocument/2006/relationships/slide" Target="/ppt/slides/slide5.xml" Id="R2a61c4cd58ba44c7" /><Relationship Type="http://schemas.openxmlformats.org/officeDocument/2006/relationships/slide" Target="/ppt/slides/slide6.xml" Id="Rc11863bb35154433" /><Relationship Type="http://schemas.openxmlformats.org/officeDocument/2006/relationships/slide" Target="/ppt/slides/slide7.xml" Id="R16ef7fc5876742b8" /><Relationship Type="http://schemas.openxmlformats.org/officeDocument/2006/relationships/slide" Target="/ppt/slides/slide8.xml" Id="Rd2cf11ec9f71431c" /><Relationship Type="http://schemas.openxmlformats.org/officeDocument/2006/relationships/slide" Target="/ppt/slides/slide9.xml" Id="Rf188d626d9f546e6" /><Relationship Type="http://schemas.openxmlformats.org/officeDocument/2006/relationships/slide" Target="/ppt/slides/slide10.xml" Id="R6ce6e68bc2b748d4" /><Relationship Type="http://schemas.openxmlformats.org/officeDocument/2006/relationships/slide" Target="/ppt/slides/slide11.xml" Id="R857b656747c64d98" /><Relationship Type="http://schemas.openxmlformats.org/officeDocument/2006/relationships/slide" Target="/ppt/slides/slide12.xml" Id="Rfe1aa79fb41c4bcb" /><Relationship Type="http://schemas.openxmlformats.org/officeDocument/2006/relationships/slide" Target="/ppt/slides/slide13.xml" Id="Rd0a5c7bca3724628" /><Relationship Type="http://schemas.openxmlformats.org/officeDocument/2006/relationships/slide" Target="/ppt/slides/slide14.xml" Id="Rfd3515085ddb47a2" /><Relationship Type="http://schemas.openxmlformats.org/officeDocument/2006/relationships/slide" Target="/ppt/slides/slide15.xml" Id="R47cd2846147b46fe" /><Relationship Type="http://schemas.openxmlformats.org/officeDocument/2006/relationships/slide" Target="/ppt/slides/slide16.xml" Id="R766bc5919b8a4959" /><Relationship Type="http://schemas.openxmlformats.org/officeDocument/2006/relationships/slide" Target="/ppt/slides/slide17.xml" Id="R2a6a42c2e3f345cf" /><Relationship Type="http://schemas.openxmlformats.org/officeDocument/2006/relationships/slide" Target="/ppt/slides/slide18.xml" Id="Rf1a6fb27e4064623" /><Relationship Type="http://schemas.openxmlformats.org/officeDocument/2006/relationships/slide" Target="/ppt/slides/slide19.xml" Id="R7ceda93330344095" /><Relationship Type="http://schemas.openxmlformats.org/officeDocument/2006/relationships/slide" Target="/ppt/slides/slide20.xml" Id="Rda609f60ea524e27" /><Relationship Type="http://schemas.openxmlformats.org/officeDocument/2006/relationships/slide" Target="/ppt/slides/slide21.xml" Id="R9f20bd14c1a94eaf" /><Relationship Type="http://schemas.openxmlformats.org/officeDocument/2006/relationships/slide" Target="/ppt/slides/slide22.xml" Id="Ra9321233da9c4218" /><Relationship Type="http://schemas.openxmlformats.org/officeDocument/2006/relationships/slide" Target="/ppt/slides/slide23.xml" Id="Re468450ed8fd4247" /><Relationship Type="http://schemas.openxmlformats.org/officeDocument/2006/relationships/slide" Target="/ppt/slides/slide24.xml" Id="R40dda4573a844a7f" /><Relationship Type="http://schemas.openxmlformats.org/officeDocument/2006/relationships/slide" Target="/ppt/slides/slide25.xml" Id="Rccf5bb0997664bf0" /><Relationship Type="http://schemas.openxmlformats.org/officeDocument/2006/relationships/slide" Target="/ppt/slides/slide26.xml" Id="R6c740c611cb743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f7b591df5640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f127609d8f4984" /><Relationship Type="http://schemas.openxmlformats.org/officeDocument/2006/relationships/notesMaster" Target="/ppt/notesMasters/notesMaster1.xml" Id="R6007b365cccd43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b074d9f1e445d9" /><Relationship Type="http://schemas.openxmlformats.org/officeDocument/2006/relationships/notesMaster" Target="/ppt/notesMasters/notesMaster1.xml" Id="R296c80c6be9c4b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da2b0387e2417a" /><Relationship Type="http://schemas.openxmlformats.org/officeDocument/2006/relationships/notesMaster" Target="/ppt/notesMasters/notesMaster1.xml" Id="Rcd4fadf34a4d46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cc82ecfa3947c7" /><Relationship Type="http://schemas.openxmlformats.org/officeDocument/2006/relationships/notesMaster" Target="/ppt/notesMasters/notesMaster1.xml" Id="R8787f4a03ffa42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01fff268fe4d20" /><Relationship Type="http://schemas.openxmlformats.org/officeDocument/2006/relationships/notesMaster" Target="/ppt/notesMasters/notesMaster1.xml" Id="R2bd6692f2a484e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7a3520cebd4b8c" /><Relationship Type="http://schemas.openxmlformats.org/officeDocument/2006/relationships/notesMaster" Target="/ppt/notesMasters/notesMaster1.xml" Id="R4d698e7da8db4c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ed1c968a8d49c4" /><Relationship Type="http://schemas.openxmlformats.org/officeDocument/2006/relationships/notesMaster" Target="/ppt/notesMasters/notesMaster1.xml" Id="R8a098821e7f34e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6759279a144e77" /><Relationship Type="http://schemas.openxmlformats.org/officeDocument/2006/relationships/notesMaster" Target="/ppt/notesMasters/notesMaster1.xml" Id="R28fe16190ae74e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4bcccf09464ef7" /><Relationship Type="http://schemas.openxmlformats.org/officeDocument/2006/relationships/notesMaster" Target="/ppt/notesMasters/notesMaster1.xml" Id="R1029a66aa5c54f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c9fbb6e4e64f57" /><Relationship Type="http://schemas.openxmlformats.org/officeDocument/2006/relationships/notesMaster" Target="/ppt/notesMasters/notesMaster1.xml" Id="R28e3d85a122f41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5bdec09f8d4ac1" /><Relationship Type="http://schemas.openxmlformats.org/officeDocument/2006/relationships/notesMaster" Target="/ppt/notesMasters/notesMaster1.xml" Id="R623ac94f259a46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422bc074464455" /><Relationship Type="http://schemas.openxmlformats.org/officeDocument/2006/relationships/notesMaster" Target="/ppt/notesMasters/notesMaster1.xml" Id="R9b47dcfc8d374b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96c69848f1b412a" /><Relationship Type="http://schemas.openxmlformats.org/officeDocument/2006/relationships/notesMaster" Target="/ppt/notesMasters/notesMaster1.xml" Id="R6182ac1a2b134e5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e7174eab01d467e" /><Relationship Type="http://schemas.openxmlformats.org/officeDocument/2006/relationships/notesMaster" Target="/ppt/notesMasters/notesMaster1.xml" Id="R2048b15cd42b48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371b37e054402c" /><Relationship Type="http://schemas.openxmlformats.org/officeDocument/2006/relationships/notesMaster" Target="/ppt/notesMasters/notesMaster1.xml" Id="R6128fa0ff59e44c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b9a67ddabb44898" /><Relationship Type="http://schemas.openxmlformats.org/officeDocument/2006/relationships/notesMaster" Target="/ppt/notesMasters/notesMaster1.xml" Id="Rb4526a3ae57149c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60ac16e209d4c58" /><Relationship Type="http://schemas.openxmlformats.org/officeDocument/2006/relationships/notesMaster" Target="/ppt/notesMasters/notesMaster1.xml" Id="Rb50c733fdec648f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3973576e3094b95" /><Relationship Type="http://schemas.openxmlformats.org/officeDocument/2006/relationships/notesMaster" Target="/ppt/notesMasters/notesMaster1.xml" Id="Rc885c1f0f3924cf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e94c9b10164e3d" /><Relationship Type="http://schemas.openxmlformats.org/officeDocument/2006/relationships/notesMaster" Target="/ppt/notesMasters/notesMaster1.xml" Id="Re41316485031407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d70223d0a9d429f" /><Relationship Type="http://schemas.openxmlformats.org/officeDocument/2006/relationships/notesMaster" Target="/ppt/notesMasters/notesMaster1.xml" Id="Rf5f1de6cac824a1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f8257dcdd24ce1" /><Relationship Type="http://schemas.openxmlformats.org/officeDocument/2006/relationships/notesMaster" Target="/ppt/notesMasters/notesMaster1.xml" Id="R3a20dabbed6749d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b8afe19e9924a69" /><Relationship Type="http://schemas.openxmlformats.org/officeDocument/2006/relationships/notesMaster" Target="/ppt/notesMasters/notesMaster1.xml" Id="R5ebcf463ea364a0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259781b9a904188" /><Relationship Type="http://schemas.openxmlformats.org/officeDocument/2006/relationships/notesMaster" Target="/ppt/notesMasters/notesMaster1.xml" Id="R78b4281102ae479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cfaf1c4452a4c3d" /><Relationship Type="http://schemas.openxmlformats.org/officeDocument/2006/relationships/notesMaster" Target="/ppt/notesMasters/notesMaster1.xml" Id="R9f1388c8593748b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bdeffa497fb4545" /><Relationship Type="http://schemas.openxmlformats.org/officeDocument/2006/relationships/notesMaster" Target="/ppt/notesMasters/notesMaster1.xml" Id="Rdea50c23be62471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46930ad36cc4830" /><Relationship Type="http://schemas.openxmlformats.org/officeDocument/2006/relationships/notesMaster" Target="/ppt/notesMasters/notesMaster1.xml" Id="Rc888e61c66c14c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Our project asks how Flight Centre can improve its visibility in AI-assisted travel shopping. Semester One identified a broad set of opportunities. This semester we implemented and tested one specific part: how the page content supplied to an assistant affects whether that page is cited. Our research question is: when relevant Flight Centre information is already available alongside competitors, can a clearer representation increase its use as a source? We built a laboratory, tested individual methods, assembled a combined page package and preserved the evidence. Today we will explain the design, show actual changes and results, and distinguish what we demonstrated from what remains unproven. The presentation is twenty minutes, with questions afterwards.</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Source citation, recommendation and customer action.</a:t>
            </a:r>
          </a:p>
          <a:p xmlns:a="http://schemas.openxmlformats.org/drawingml/2006/main">
            <a:r>
              <a:t/>
            </a:r>
          </a:p>
          <a:p xmlns:a="http://schemas.openxmlformats.org/drawingml/2006/main">
            <a:r>
              <a:t>SOURCES / LIMITS</a:t>
            </a:r>
          </a:p>
          <a:p xmlns:a="http://schemas.openxmlformats.org/drawingml/2006/main">
            <a:r>
              <a:t>Claim–evidence ledger: C01, C19, C22.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Visibility can mean several things. A page can be available to the assistant; the answer can cite it; the answer can recommend the business; and a customer can act. These are different outcomes. Our main measurement is the second one. We count an answer once if it contains a valid reference to a Flight Centre source, whether it cites that source once or several times. A citation gives the business an opportunity to be seen as a source of useful information. It does not, by itself, prove that the assistant recommended Flight Centre for booking, or that a traveller clicked or purchased.</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Our retrieval-augmented generation workflow.</a:t>
            </a:r>
          </a:p>
          <a:p xmlns:a="http://schemas.openxmlformats.org/drawingml/2006/main">
            <a:r>
              <a:t/>
            </a:r>
          </a:p>
          <a:p xmlns:a="http://schemas.openxmlformats.org/drawingml/2006/main">
            <a:r>
              <a:t>SOURCES / LIMITS</a:t>
            </a:r>
          </a:p>
          <a:p xmlns:a="http://schemas.openxmlformats.org/drawingml/2006/main">
            <a:r>
              <a:t>Claim–evidence ledger: C01, C20.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Our experiment uses a retrieval-augmented generation workflow, often called RAG. First, our pipeline selects saved source pages. Next, it puts numbered source text and the traveller’s question into a prompt. The language model then writes an answer and chooses references from that supplied evidence. Finally, the evaluator maps those reference numbers back to the saved sources. The important distinction is who controls what. Our code controls the available evidence, its order and the common instruction. The model chooses the wording and which available sources to cite. In this fixed branch there is no live browsing during generation. The prompt asks for supporting citations after each sentence, but never requires Flight Centre to be cited. This is a controlled source-use test, not a measurement of an unconstrained consumer assistant.</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A matched comparison of two reading packs.</a:t>
            </a:r>
          </a:p>
          <a:p xmlns:a="http://schemas.openxmlformats.org/drawingml/2006/main">
            <a:r>
              <a:t/>
            </a:r>
          </a:p>
          <a:p xmlns:a="http://schemas.openxmlformats.org/drawingml/2006/main">
            <a:r>
              <a:t>SOURCES / LIMITS</a:t>
            </a:r>
          </a:p>
          <a:p xmlns:a="http://schemas.openxmlformats.org/drawingml/2006/main">
            <a:r>
              <a:t>Claim–evidence ledger: C03, C09.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Three search variants were merged into saved candidate pools. Of forty primary questions, twenty-nine had a Flight Centre page in the first-ten analysis pool and were eligible for this comparison. We then prepared two reading packs for each question: the baseline and the treatment. The source identities, source order, competitor texts and instruction stayed matched. Only the Flight Centre representation changed. Two source arrangements and five repeats produced ten observations per question, or two hundred and ninety per condition. We verified those matches directly in the saved records. The baseline answers are historical, rather than freshly generated alongside the treatment. This limits causal certainty. The result also says nothing directly about the eleven questions where FC was outside the fixed analysis pool.</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Individual methods: results and interpretation.</a:t>
            </a:r>
          </a:p>
          <a:p xmlns:a="http://schemas.openxmlformats.org/drawingml/2006/main">
            <a:r>
              <a:t/>
            </a:r>
          </a:p>
          <a:p xmlns:a="http://schemas.openxmlformats.org/drawingml/2006/main">
            <a:r>
              <a:t>SOURCES / LIMITS</a:t>
            </a:r>
          </a:p>
          <a:p xmlns:a="http://schemas.openxmlformats.org/drawingml/2006/main">
            <a:r>
              <a:t>Claim–evidence ledger: C02, C03, C09, C10.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These six method families were explored separately. Rendered content exposes captured offers and semantic cleanup keeps labels and digits intelligible. Grounded FAQ pairs supported questions with answers. Structured facts organise existing information into fields. These three are intended to improve how the model reads information. External enrichment adds attributed outside material; schema adds structure; rewriting changes the wording more broadly. All six rows here use the same thirty-nine-point-three-percent historical control. FAQ and typed facts have positive exploratory intervals; rendering’s interval crosses zero. External enrichment does not show a clear isolated gain. The schema experiment also changed visible text, so its improvement cannot be assigned to JSON-LD. Automatic rewriting declined. These are unadjusted exploratory comparisons across multiple versions, not a definitive ranking or six proven ingredients.</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Selection of the combined treatment.</a:t>
            </a:r>
          </a:p>
          <a:p xmlns:a="http://schemas.openxmlformats.org/drawingml/2006/main">
            <a:r>
              <a:t/>
            </a:r>
          </a:p>
          <a:p xmlns:a="http://schemas.openxmlformats.org/drawingml/2006/main">
            <a:r>
              <a:t>SOURCES / LIMITS</a:t>
            </a:r>
          </a:p>
          <a:p xmlns:a="http://schemas.openxmlformats.org/drawingml/2006/main">
            <a:r>
              <a:t>Claim–evidence ledger: C13, C14, C15, C16.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We did not combine every method or add their percentage gains together. The selected package uses captured rendered content, semantic cleanup, joint grounded facts and questions, and a final FAQ extraction refinement. Added external enrichment, added schema, broad rewriting and source positioning remain separate evidence. The choice considers implementation and compatibility as well as scores. The typed-facts variant in the preceding table is not identical to every fact component later used in the package. The combined version must therefore be tested as its own treatment. We cannot assign a particular share of its improvement to each component.</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The combined page transformation.</a:t>
            </a:r>
          </a:p>
          <a:p xmlns:a="http://schemas.openxmlformats.org/drawingml/2006/main">
            <a:r>
              <a:t/>
            </a:r>
          </a:p>
          <a:p xmlns:a="http://schemas.openxmlformats.org/drawingml/2006/main">
            <a:r>
              <a:t>SOURCES / LIMITS</a:t>
            </a:r>
          </a:p>
          <a:p xmlns:a="http://schemas.openxmlformats.org/drawingml/2006/main">
            <a:r>
              <a:t>Claim–evidence ledger: C13, C14, C15, C16.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This diagram shows the actual selected package. Captured rendered information enters the page. Semantic cleanup keeps the representation intelligible. Supported route information is organised into joint facts and question-and-answer sections. The final refinement restores captured FAQ question labels that the common cleaner would otherwise remove, and moves eligible FAQ sections before tourism content. The saved package contains fifty-two page outputs, including twenty-seven grounded sections and four hundred and twenty-nine restored FAQ labels. The internal name “flight first” refers to page-section organisation; it does not mean that we placed Flight Centre first in the model’s source list.</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Offer information before and after.</a:t>
            </a:r>
          </a:p>
          <a:p xmlns:a="http://schemas.openxmlformats.org/drawingml/2006/main">
            <a:r>
              <a:t/>
            </a:r>
          </a:p>
          <a:p xmlns:a="http://schemas.openxmlformats.org/drawingml/2006/main">
            <a:r>
              <a:t>SOURCES / LIMITS</a:t>
            </a:r>
          </a:p>
          <a:p xmlns:a="http://schemas.openxmlformats.org/drawingml/2006/main">
            <a:r>
              <a:t>Claim–evidence ledger: C11, C12.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This is a real archived representation from a Melbourne-to-London page. The baseline opening contains a headline fare and fee information. The rendered offer record contains a carrier, economy return trip type, date range and fare. The purpose is to expose useful product information in a form the model can read. Notice that the prices differ. We cannot claim a like-for-like fare comparison here: the headline and rendered card have different capture and product contexts. The selected experimental package retained these original rendered offers. This is a confound we disclose, not an improvement in pricing. A later price-matched treatment is a different version and cannot be used as the evidence behind the fifty-two-point-four-percent result.</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Restoring a captured FAQ question.</a:t>
            </a:r>
          </a:p>
          <a:p xmlns:a="http://schemas.openxmlformats.org/drawingml/2006/main">
            <a:r>
              <a:t/>
            </a:r>
          </a:p>
          <a:p xmlns:a="http://schemas.openxmlformats.org/drawingml/2006/main">
            <a:r>
              <a:t>SOURCES / LIMITS</a:t>
            </a:r>
          </a:p>
          <a:p xmlns:a="http://schemas.openxmlformats.org/drawingml/2006/main">
            <a:r>
              <a:t>Claim–evidence ledger: C10, C12.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This example shows a more tightly controlled change. The page contained a question inside an accordion button. Our common cleaner removed interactive buttons, so the question label could disappear even when its expanded answer remained. The refinement converts an eligible captured question label into readable text and keeps it next to the same answer. It does not invent an answer. It only handles clearly paired, already-expanded sections. The before-and-after view shows why an answer without its question can be less useful, and how restoring that relationship improves the representation sent to the model.</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Implementation checks and their limits.</a:t>
            </a:r>
          </a:p>
          <a:p xmlns:a="http://schemas.openxmlformats.org/drawingml/2006/main">
            <a:r>
              <a:t/>
            </a:r>
          </a:p>
          <a:p xmlns:a="http://schemas.openxmlformats.org/drawingml/2006/main">
            <a:r>
              <a:t>SOURCES / LIMITS</a:t>
            </a:r>
          </a:p>
          <a:p xmlns:a="http://schemas.openxmlformats.org/drawingml/2006/main">
            <a:r>
              <a:t>Claim–evidence ledger: C11, C12.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We checked input identity, transformation invariants and delivery to the model. The final FAQ code only converts supported, already-expanded question controls, and checks that the existing answers, offer cards, metadata and links remain unchanged. We rebuilt that stage from the supplied prior-core input and matched all fifty-two saved page outputs. We also compared all three hundred and thirty FC source occurrences in the selected generated records against those outputs under the character cap: every occurrence matches. The submission includes the code and offline checker. These are strong implementation checks, but they have a precise scope. They do not certify every inherited fact, remove capture-date differences, or establish that the same pages would be selected by a public AI engine.</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How an answer becomes a citation score.</a:t>
            </a:r>
          </a:p>
          <a:p xmlns:a="http://schemas.openxmlformats.org/drawingml/2006/main">
            <a:r>
              <a:t/>
            </a:r>
          </a:p>
          <a:p xmlns:a="http://schemas.openxmlformats.org/drawingml/2006/main">
            <a:r>
              <a:t>SOURCES / LIMITS</a:t>
            </a:r>
          </a:p>
          <a:p xmlns:a="http://schemas.openxmlformats.org/drawingml/2006/main">
            <a:r>
              <a:t>Claim–evidence ledger: C09, C10, C11, C12.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These are excerpts from the same saved Melbourne-to-London trial. The baseline answer cites source numbers two, three, five and eight. The optimised answer cites two, three and seven. We look up number seven in that trial’s source list and find the Flight Centre route page. Therefore the optimised answer counts as a Flight Centre citation. The source numbers depend on that individual reading pack; number seven is not always Flight Centre. The excerpts show the citation change, and complete answers are embedded in the backup slides and included in the submission. This is source use, not automatically a recommendation to book with Flight Centre.</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The same pages improved citation in two runs.</a:t>
            </a:r>
          </a:p>
          <a:p xmlns:a="http://schemas.openxmlformats.org/drawingml/2006/main">
            <a:r>
              <a:t/>
            </a:r>
          </a:p>
          <a:p xmlns:a="http://schemas.openxmlformats.org/drawingml/2006/main">
            <a:r>
              <a:t>SOURCES / LIMITS</a:t>
            </a:r>
          </a:p>
          <a:p xmlns:a="http://schemas.openxmlformats.org/drawingml/2006/main">
            <a:r>
              <a:t>Claim–evidence ledger: C01, C03, C04.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Here are both generations of the unchanged combined pages. The saved baseline contains one hundred and sixteen citing answers out of two hundred and ninety: forty percent. The initial treatment run contains one hundred and forty-three: forty-nine-point-three percent. The repeat contains one hundred and fifty-two: fifty-two-point-four percent. Relative to the same baseline, those are increases of nine-point-three and twelve-point-four percentage points. We verified that the initial and repeat treatment prompts and sources were identical. The answers still differ because generation varies. Showing both runs is more informative than presenting the higher run as a stable expected rate. Both are development evidence; neither is an independent, untouched confirmation on new customer needs.</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Question-level uncertainty and variation.</a:t>
            </a:r>
          </a:p>
          <a:p xmlns:a="http://schemas.openxmlformats.org/drawingml/2006/main">
            <a:r>
              <a:t/>
            </a:r>
          </a:p>
          <a:p xmlns:a="http://schemas.openxmlformats.org/drawingml/2006/main">
            <a:r>
              <a:t>SOURCES / LIMITS</a:t>
            </a:r>
          </a:p>
          <a:p xmlns:a="http://schemas.openxmlformats.org/drawingml/2006/main">
            <a:r>
              <a:t>Claim–evidence ledger: C04, C05, C06, C07.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Repeated answers to one question are related, so we analyse uncertainty by resampling whole questions while keeping their ten observations together. In the independently recalculated analysis, the initial gain has a ninety-five-percent interval from about three-point-one to fifteen-point-nine percentage points. The repeat gain has an interval from about five-point-two to twenty. Both are positive in these saved comparisons. However, the difference between the two treatment runs has an interval crossing zero. We should not claim the repeat is better. The repeat also improves twenty-one question averages, declines on six and ties on two. These intervals do not correct for trying many versions or using a historical control. Our conclusion remains exploratory.</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Source-order sensitivity.</a:t>
            </a:r>
          </a:p>
          <a:p xmlns:a="http://schemas.openxmlformats.org/drawingml/2006/main">
            <a:r>
              <a:t/>
            </a:r>
          </a:p>
          <a:p xmlns:a="http://schemas.openxmlformats.org/drawingml/2006/main">
            <a:r>
              <a:t>SOURCES / LIMITS</a:t>
            </a:r>
          </a:p>
          <a:p xmlns:a="http://schemas.openxmlformats.org/drawingml/2006/main">
            <a:r>
              <a:t>Claim–evidence ledger: C06, C08.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We also checked source ordering. In the corrected position experiment, source text stayed the same, the first Flight Centre source moved to the beginning, and competitor relative order was preserved. The rate moved from thirty-nine-point-three to fifty-seven-point-six percent. This suggests our measured visibility is sensitive to where evidence appears inside the model’s reading pack. It is consistent with research showing that models can use context differently depending on position. It does not show that Flight Centre can control a public engine’s internal source order, and position manipulation was not included in the final combined page package.</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Practical value for Flight Centre.</a:t>
            </a:r>
          </a:p>
          <a:p xmlns:a="http://schemas.openxmlformats.org/drawingml/2006/main">
            <a:r>
              <a:t/>
            </a:r>
          </a:p>
          <a:p xmlns:a="http://schemas.openxmlformats.org/drawingml/2006/main">
            <a:r>
              <a:t>SOURCES / LIMITS</a:t>
            </a:r>
          </a:p>
          <a:p xmlns:a="http://schemas.openxmlformats.org/drawingml/2006/main">
            <a:r>
              <a:t>Claim–evidence ledger: C17.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 practical output is a working content-transformation prototype and a way to test its effect. Flight Centre could use the approach to make existing route information, conditions and useful answers easier to extract, while maintaining a governed product source. The business value demonstrated here is a better opportunity for source credit when that information is already in the assistant’s reading pack. We have not demonstrated more booking recommendations or sales. A live application would need current prices, content ownership and separate measurement of discovery, supported recommendations and customer actions. Those are proposed applications and evaluation steps, not additional achievements we are claiming for this semester.</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Scope of the conclusion.</a:t>
            </a:r>
          </a:p>
          <a:p xmlns:a="http://schemas.openxmlformats.org/drawingml/2006/main">
            <a:r>
              <a:t/>
            </a:r>
          </a:p>
          <a:p xmlns:a="http://schemas.openxmlformats.org/drawingml/2006/main">
            <a:r>
              <a:t>SOURCES / LIMITS</a:t>
            </a:r>
          </a:p>
          <a:p xmlns:a="http://schemas.openxmlformats.org/drawingml/2006/main">
            <a:r>
              <a:t>Claim–evidence ledger: C19, C20, C22.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 selected fixed comparisons are positive, but broader evidence limits the conclusion. The separate reindexed run was essentially unchanged, and fresh rewordings showed a positive estimate whose interval crossed zero. The corpus-search exercise did not establish increased booking recommendations. These tasks have different source-exposure conditions, so their percentages cannot be pooled. Our main design also uses historical controls, captures from different contexts, related tasks and a single saved model configuration. Earlier results informed later development. Semester One proposed a wider evaluation programme, including relevance and calibrated judging, which this headline does not establish. The strongest conclusion is higher observed source-citation inclusion for the selected representation under the tested fixed conditions.</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Delivered artefacts and assessor walkthrough.</a:t>
            </a:r>
          </a:p>
          <a:p xmlns:a="http://schemas.openxmlformats.org/drawingml/2006/main">
            <a:r>
              <a:t/>
            </a:r>
          </a:p>
          <a:p xmlns:a="http://schemas.openxmlformats.org/drawingml/2006/main">
            <a:r>
              <a:t>SOURCES / LIMITS</a:t>
            </a:r>
          </a:p>
          <a:p xmlns:a="http://schemas.openxmlformats.org/drawingml/2006/main">
            <a:r>
              <a:t>Claim–evidence ledger: C06, C18, C20, C22.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 assessor receives the presentation, a concise technical report, the claim–evidence ledger, assessment mapping, historical code snapshots and saved experimental evidence. To inspect the result, open the results explorer, choose an improvement and a decline, and follow each citation to the supplied source. Then inspect the corresponding page transformation and run the offline count verifier. The final FAQ stage can also be rebuilt from frozen inputs. This does not require paid generation. Tutorial Ten asks for a realistic artefact agreement covering scope, condition and handover. Those administrative details still require team and tutor confirmation. The full presentation rubric was not located locally, so we have flagged that gap rather than claiming complete rubric compliance.</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Contribution and defensible conclusion.</a:t>
            </a:r>
          </a:p>
          <a:p xmlns:a="http://schemas.openxmlformats.org/drawingml/2006/main">
            <a:r>
              <a:t/>
            </a:r>
          </a:p>
          <a:p xmlns:a="http://schemas.openxmlformats.org/drawingml/2006/main">
            <a:r>
              <a:t>SOURCES / LIMITS</a:t>
            </a:r>
          </a:p>
          <a:p xmlns:a="http://schemas.openxmlformats.org/drawingml/2006/main">
            <a:r>
              <a:t>Claim–evidence ledger: C11, C21, C22.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We finish with three contributions. First, we built an operational experiment with preserved sources and matched comparisons. Second, we implemented and checked a coherent page package, learning from both successful and unsuccessful approaches. Third, we supplied an evidence trail that allows the reported citation counts and the final refinement to be independently checked. The unchanged combined pages produced forty-nine-point-three and fifty-two-point-four-percent citation rates against a forty-percent historical baseline. This is positive exploratory evidence of conditional source visibility. It is not proof of increased recommendations or revenue. Before submission, the remaining actions are a timed team rehearsal, confirmation of the actual assessment rubric and agreement, and independent review of the substantive citation claims.</a:t>
            </a:r>
          </a:p>
          <a:p xmlns:a="http://schemas.openxmlformats.org/drawingml/2006/main">
            <a:r>
              <a:t/>
            </a:r>
          </a:p>
          <a:p xmlns:a="http://schemas.openxmlformats.org/drawingml/2006/main">
            <a:r>
              <a:t>WHAT TO POINT TO</a:t>
            </a:r>
          </a:p>
          <a:p xmlns:a="http://schemas.openxmlformats.org/drawingml/2006/main">
            <a:r>
              <a:t>Point to the highlighted evidence and explain its meaning.</a:t>
            </a:r>
          </a:p>
          <a:p xmlns:a="http://schemas.openxmlformats.org/drawingml/2006/main">
            <a:r>
              <a:t/>
            </a:r>
          </a:p>
          <a:p xmlns:a="http://schemas.openxmlformats.org/drawingml/2006/main">
            <a:r>
              <a:t>TRANSITION</a:t>
            </a:r>
          </a:p>
          <a:p xmlns:a="http://schemas.openxmlformats.org/drawingml/2006/main">
            <a:r>
              <a:t>Next: The exact experimental recipe.</a:t>
            </a:r>
          </a:p>
          <a:p xmlns:a="http://schemas.openxmlformats.org/drawingml/2006/main">
            <a:r>
              <a:t/>
            </a:r>
          </a:p>
          <a:p xmlns:a="http://schemas.openxmlformats.org/drawingml/2006/main">
            <a:r>
              <a:t>SOURCES / LIMITS</a:t>
            </a:r>
          </a:p>
          <a:p xmlns:a="http://schemas.openxmlformats.org/drawingml/2006/main">
            <a:r>
              <a:t>Claim–evidence ledger: C04, C05, C06, C19, C20, C21. See 02_documentation/Claim_Evidence_Ledger.html for exact records, checks and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 model identifier is reported exactly as saved. Seed labels govern source shuffling, not the provider’s generation randomness. The common prompt requests inline citations to supplied results. The fixed branch supplies saved page text rather than retrieving newly ranked passages for each treatment. There is no fine-tuning or agent tool-call loop in answer generation. Inherited structured metadata may remain in source text; this is distinct from adding a schema intervention.</a:t>
            </a:r>
          </a:p>
          <a:p xmlns:a="http://schemas.openxmlformats.org/drawingml/2006/main">
            <a:r>
              <a:t/>
            </a:r>
          </a:p>
          <a:p xmlns:a="http://schemas.openxmlformats.org/drawingml/2006/main">
            <a:r>
              <a:t>WHAT TO POINT TO</a:t>
            </a:r>
          </a:p>
          <a:p xmlns:a="http://schemas.openxmlformats.org/drawingml/2006/main">
            <a:r>
              <a:t>Read the requested model identifier as a saved record, not a recommendation to change models.</a:t>
            </a:r>
          </a:p>
          <a:p xmlns:a="http://schemas.openxmlformats.org/drawingml/2006/main">
            <a:r>
              <a:t/>
            </a:r>
          </a:p>
          <a:p xmlns:a="http://schemas.openxmlformats.org/drawingml/2006/main">
            <a:r>
              <a:t>TRANSITION</a:t>
            </a:r>
          </a:p>
          <a:p xmlns:a="http://schemas.openxmlformats.org/drawingml/2006/main">
            <a:r>
              <a:t>Next: Full saved baseline answer.</a:t>
            </a:r>
          </a:p>
          <a:p xmlns:a="http://schemas.openxmlformats.org/drawingml/2006/main">
            <a:r>
              <a:t/>
            </a:r>
          </a:p>
          <a:p xmlns:a="http://schemas.openxmlformats.org/drawingml/2006/main">
            <a:r>
              <a:t>SOURCES / LIMITS</a:t>
            </a:r>
          </a:p>
          <a:p xmlns:a="http://schemas.openxmlformats.org/drawingml/2006/main">
            <a:r>
              <a:t>Saved experiment records, code snapshots and validation reports. See the bundled Verified_Results.json and evidence files.</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This is the complete baseline answer for the example used in the main presentation. Source seven maps to FC in the saved source list. This answer provides a travel summary but does not cite source seven. We preserve the full answer so the excerpt can be checked in context.</a:t>
            </a:r>
          </a:p>
          <a:p xmlns:a="http://schemas.openxmlformats.org/drawingml/2006/main">
            <a:r>
              <a:t/>
            </a:r>
          </a:p>
          <a:p xmlns:a="http://schemas.openxmlformats.org/drawingml/2006/main">
            <a:r>
              <a:t>WHAT TO POINT TO</a:t>
            </a:r>
          </a:p>
          <a:p xmlns:a="http://schemas.openxmlformats.org/drawingml/2006/main">
            <a:r>
              <a:t>Let the audience read rather than reading the entire answer aloud.</a:t>
            </a:r>
          </a:p>
          <a:p xmlns:a="http://schemas.openxmlformats.org/drawingml/2006/main">
            <a:r>
              <a:t/>
            </a:r>
          </a:p>
          <a:p xmlns:a="http://schemas.openxmlformats.org/drawingml/2006/main">
            <a:r>
              <a:t>TRANSITION</a:t>
            </a:r>
          </a:p>
          <a:p xmlns:a="http://schemas.openxmlformats.org/drawingml/2006/main">
            <a:r>
              <a:t>Next: Full saved optimised answer.</a:t>
            </a:r>
          </a:p>
          <a:p xmlns:a="http://schemas.openxmlformats.org/drawingml/2006/main">
            <a:r>
              <a:t/>
            </a:r>
          </a:p>
          <a:p xmlns:a="http://schemas.openxmlformats.org/drawingml/2006/main">
            <a:r>
              <a:t>SOURCES / LIMITS</a:t>
            </a:r>
          </a:p>
          <a:p xmlns:a="http://schemas.openxmlformats.org/drawingml/2006/main">
            <a:r>
              <a:t>Verified_Results.json example.baseline and source_map.</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This is the complete optimised answer for the same saved example. It includes source seven. Citation inclusion is the recorded outcome; we do not infer a recommendation from the existence of that reference. Generated travel claims remain answer outputs, not independently verified advice.</a:t>
            </a:r>
          </a:p>
          <a:p xmlns:a="http://schemas.openxmlformats.org/drawingml/2006/main">
            <a:r>
              <a:t/>
            </a:r>
          </a:p>
          <a:p xmlns:a="http://schemas.openxmlformats.org/drawingml/2006/main">
            <a:r>
              <a:t>WHAT TO POINT TO</a:t>
            </a:r>
          </a:p>
          <a:p xmlns:a="http://schemas.openxmlformats.org/drawingml/2006/main">
            <a:r>
              <a:t>Point to each [7] and its source mapping.</a:t>
            </a:r>
          </a:p>
          <a:p xmlns:a="http://schemas.openxmlformats.org/drawingml/2006/main">
            <a:r>
              <a:t/>
            </a:r>
          </a:p>
          <a:p xmlns:a="http://schemas.openxmlformats.org/drawingml/2006/main">
            <a:r>
              <a:t>TRANSITION</a:t>
            </a:r>
          </a:p>
          <a:p xmlns:a="http://schemas.openxmlformats.org/drawingml/2006/main">
            <a:r>
              <a:t>Next: Published research: what it supports.</a:t>
            </a:r>
          </a:p>
          <a:p xmlns:a="http://schemas.openxmlformats.org/drawingml/2006/main">
            <a:r>
              <a:t/>
            </a:r>
          </a:p>
          <a:p xmlns:a="http://schemas.openxmlformats.org/drawingml/2006/main">
            <a:r>
              <a:t>SOURCES / LIMITS</a:t>
            </a:r>
          </a:p>
          <a:p xmlns:a="http://schemas.openxmlformats.org/drawingml/2006/main">
            <a:r>
              <a:t>Verified_Results.json example.optimised and source_map.</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RAG provides the idea of supplying retrieved evidence during generation. GEO studies source modifications and visibility. ALCE separates the presence of references from whether they correctly and fully support an answer. Lost in the Middle motivates checking how context order affects performance. These are relevant foundations with different tasks and metrics. Our binary answer-level inclusion rate is not identical to GEO’s visibility measures, and we did not reproduce a learned AutoGEO system. Public agency offerings add an operational checklist, not audited evidence that their advertised methods work for FC.</a:t>
            </a:r>
          </a:p>
          <a:p xmlns:a="http://schemas.openxmlformats.org/drawingml/2006/main">
            <a:r>
              <a:t/>
            </a:r>
          </a:p>
          <a:p xmlns:a="http://schemas.openxmlformats.org/drawingml/2006/main">
            <a:r>
              <a:t>WHAT TO POINT TO</a:t>
            </a:r>
          </a:p>
          <a:p xmlns:a="http://schemas.openxmlformats.org/drawingml/2006/main">
            <a:r>
              <a:t>Use one sentence per paper and then explain the difference in our metric.</a:t>
            </a:r>
          </a:p>
          <a:p xmlns:a="http://schemas.openxmlformats.org/drawingml/2006/main">
            <a:r>
              <a:t/>
            </a:r>
          </a:p>
          <a:p xmlns:a="http://schemas.openxmlformats.org/drawingml/2006/main">
            <a:r>
              <a:t>TRANSITION</a:t>
            </a:r>
          </a:p>
          <a:p xmlns:a="http://schemas.openxmlformats.org/drawingml/2006/main">
            <a:r>
              <a:t>Next: Repeating the same pages did not give identical answers.</a:t>
            </a:r>
          </a:p>
          <a:p xmlns:a="http://schemas.openxmlformats.org/drawingml/2006/main">
            <a:r>
              <a:t/>
            </a:r>
          </a:p>
          <a:p xmlns:a="http://schemas.openxmlformats.org/drawingml/2006/main">
            <a:r>
              <a:t>SOURCES / LIMITS</a:t>
            </a:r>
          </a:p>
          <a:p xmlns:a="http://schemas.openxmlformats.org/drawingml/2006/main">
            <a:r>
              <a:t>Retrieval-Augmented Generation, NeurIPS 2020: https://arxiv.org/abs/2005.11401</a:t>
            </a:r>
          </a:p>
          <a:p xmlns:a="http://schemas.openxmlformats.org/drawingml/2006/main">
            <a:r>
              <a:t>GEO, KDD 2024: https://arxiv.org/abs/2311.09735</a:t>
            </a:r>
          </a:p>
          <a:p xmlns:a="http://schemas.openxmlformats.org/drawingml/2006/main">
            <a:r>
              <a:t>ALCE, EMNLP 2023: https://aclanthology.org/2023.emnlp-main.398/</a:t>
            </a:r>
          </a:p>
          <a:p xmlns:a="http://schemas.openxmlformats.org/drawingml/2006/main">
            <a:r>
              <a:t>Lost in the Middle, TACL 2024: https://aclanthology.org/2024.tacl-1.9/</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The original unchanged-page run produced 143 citing answers; the repeat produced 152. Both used the selected 116-answer baseline comparison. The repeat-minus-original difference was 3.1 percentage points with an interval crossing zero. The selected repeat is not proof that 52.4% is a stable production rate. The price-matched version is another treatment and scored 131 out of 290; do not relabel its pages as the 52.4% package.</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Artefact agreement and assessment checklist.</a:t>
            </a:r>
          </a:p>
          <a:p xmlns:a="http://schemas.openxmlformats.org/drawingml/2006/main">
            <a:r>
              <a:t/>
            </a:r>
          </a:p>
          <a:p xmlns:a="http://schemas.openxmlformats.org/drawingml/2006/main">
            <a:r>
              <a:t>SOURCES / LIMITS</a:t>
            </a:r>
          </a:p>
          <a:p xmlns:a="http://schemas.openxmlformats.org/drawingml/2006/main">
            <a:r>
              <a:t>Saved code and records supplied in the submission.</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Confirm realistic scope, present condition, delivery date, recipient and channel using the official artefact agreement. Complete the tutor and industry-partner review process and applicable intellectual-property or confidentiality conditions. Keep personal contribution and reflection records accurate. The supplied tutorial does not contain the full Assignment Five presentation rubric, so check that rubric on Canvas before final submission. No approval or signature is implied by this prepared pack.</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A three-minute evidence walkthrough.</a:t>
            </a:r>
          </a:p>
          <a:p xmlns:a="http://schemas.openxmlformats.org/drawingml/2006/main">
            <a:r>
              <a:t/>
            </a:r>
          </a:p>
          <a:p xmlns:a="http://schemas.openxmlformats.org/drawingml/2006/main">
            <a:r>
              <a:t>SOURCES / LIMITS</a:t>
            </a:r>
          </a:p>
          <a:p xmlns:a="http://schemas.openxmlformats.org/drawingml/2006/main">
            <a:r>
              <a:t>IFN736 Tutorial 10-2, slides 4–7. Artefact scope, quality, realistic condition, agreement and handover. This tutorial is not the complete Assignment 5 presentation rubric.</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Open the start page. First open the question results explorer and select Q06 for an improvement, then Q02 for a decline. Show the complete answer and its numbered source map. Next open the page comparison to inspect the full source text. Finally run the offline verifier or show its saved output, and locate the relevant implementation in the code map. If a link is blocked by presentation software, use the included start page in a browser. Key evidence is embedded in the slides, so the presentation does not depend on external links.</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Next: Research supporting the design decisions.</a:t>
            </a:r>
          </a:p>
          <a:p xmlns:a="http://schemas.openxmlformats.org/drawingml/2006/main">
            <a:r>
              <a:t/>
            </a:r>
          </a:p>
          <a:p xmlns:a="http://schemas.openxmlformats.org/drawingml/2006/main">
            <a:r>
              <a:t>SOURCES / LIMITS</a:t>
            </a:r>
          </a:p>
          <a:p xmlns:a="http://schemas.openxmlformats.org/drawingml/2006/main">
            <a:r>
              <a:t>Saved code and records supplied in the submission.</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SCRIPT</a:t>
            </a:r>
          </a:p>
          <a:p xmlns:a="http://schemas.openxmlformats.org/drawingml/2006/main">
            <a:r>
              <a:t>RAG motivates supplying external evidence to generation. GEO studies source-content changes and visibility, but uses metrics that differ from our binary inclusion measure. ALCE distinguishes citation presence from whether a citation correctly supports a claim. Lost in the Middle motivates checking evidence position. These are conceptual and methodological references, not claims that we reproduced every paper’s experiment.</a:t>
            </a:r>
          </a:p>
          <a:p xmlns:a="http://schemas.openxmlformats.org/drawingml/2006/main">
            <a:r>
              <a:t/>
            </a:r>
          </a:p>
          <a:p xmlns:a="http://schemas.openxmlformats.org/drawingml/2006/main">
            <a:r>
              <a:t>WHAT TO POINT TO</a:t>
            </a:r>
          </a:p>
          <a:p xmlns:a="http://schemas.openxmlformats.org/drawingml/2006/main">
            <a:r>
              <a:t>Follow the visual from left to right; explain the highlighted finding before the detail.</a:t>
            </a:r>
          </a:p>
          <a:p xmlns:a="http://schemas.openxmlformats.org/drawingml/2006/main">
            <a:r>
              <a:t/>
            </a:r>
          </a:p>
          <a:p xmlns:a="http://schemas.openxmlformats.org/drawingml/2006/main">
            <a:r>
              <a:t>TRANSITION</a:t>
            </a:r>
          </a:p>
          <a:p xmlns:a="http://schemas.openxmlformats.org/drawingml/2006/main">
            <a:r>
              <a:t>Return to the relevant evidence when answering questions.</a:t>
            </a:r>
          </a:p>
          <a:p xmlns:a="http://schemas.openxmlformats.org/drawingml/2006/main">
            <a:r>
              <a:t/>
            </a:r>
          </a:p>
          <a:p xmlns:a="http://schemas.openxmlformats.org/drawingml/2006/main">
            <a:r>
              <a:t>SOURCES / LIMITS</a:t>
            </a:r>
          </a:p>
          <a:p xmlns:a="http://schemas.openxmlformats.org/drawingml/2006/main">
            <a:r>
              <a:t>Google: AI search guidance: https://developers.google.com/search/docs/fundamentals/ai-optimization-guide</a:t>
            </a:r>
          </a:p>
          <a:p xmlns:a="http://schemas.openxmlformats.org/drawingml/2006/main">
            <a:r>
              <a:t>OpenAI: crawler controls: https://developers.openai.com/api/docs/bots</a:t>
            </a:r>
          </a:p>
          <a:p xmlns:a="http://schemas.openxmlformats.org/drawingml/2006/main">
            <a:r>
              <a:t>Google: JavaScript SEO: https://developers.google.com/search/docs/crawling-indexing/javascript/javascript-seo-basics</a:t>
            </a:r>
          </a:p>
          <a:p xmlns:a="http://schemas.openxmlformats.org/drawingml/2006/main">
            <a:r>
              <a:t>Google: structured data: https://developers.google.com/search/docs/appearance/structured-data/intro-structured-data</a:t>
            </a:r>
          </a:p>
          <a:p xmlns:a="http://schemas.openxmlformats.org/drawingml/2006/main">
            <a:r>
              <a:t>OpenAI: connecting an MCP server: https://developers.openai.com/plugins/build/mcp-server</a:t>
            </a:r>
          </a:p>
          <a:p xmlns:a="http://schemas.openxmlformats.org/drawingml/2006/main">
            <a:r>
              <a:t>Expedia: app in ChatGPT: https://www.expedia.com/product/expedia-in-chatgpt/</a:t>
            </a:r>
          </a:p>
          <a:p xmlns:a="http://schemas.openxmlformats.org/drawingml/2006/main">
            <a:r>
              <a:t>Retrieval-Augmented Generation, NeurIPS 2020: https://arxiv.org/abs/2005.11401</a:t>
            </a:r>
          </a:p>
          <a:p xmlns:a="http://schemas.openxmlformats.org/drawingml/2006/main">
            <a:r>
              <a:t>GEO, KDD 2024: https://arxiv.org/abs/2311.09735</a:t>
            </a:r>
          </a:p>
          <a:p xmlns:a="http://schemas.openxmlformats.org/drawingml/2006/main">
            <a:r>
              <a:t>ALCE, EMNLP 2023: https://aclanthology.org/2023.emnlp-main.398/</a:t>
            </a:r>
          </a:p>
          <a:p xmlns:a="http://schemas.openxmlformats.org/drawingml/2006/main">
            <a:r>
              <a:t>Lost in the Middle, TACL 2024: https://aclanthology.org/2024.tacl-1.9/</a:t>
            </a:r>
          </a:p>
          <a:p xmlns:a="http://schemas.openxmlformats.org/drawingml/2006/main">
            <a:r>
              <a:t>Local evidence and implementation links are listed in the submission Technical_Report.html and Results_Explorer.html. See the claim ledger for current evidence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2be981a57c41c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e81469058844ba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cf20aa00fa4cf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8b6ab18211486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bec27cc4fbf47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a52f9a0ea3549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1B59B5-A15A-4B55-81D7-07B8D14874F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3C3B197-442D-4FFF-B83A-63654E3404C3}"/>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C43B62F-6A67-42AA-9090-2118EF4ED85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45C507-B0E1-47D9-9DE8-732E0CF70E89}"/>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06A690-FF64-48CF-8BA0-233B9F0262A2}"/>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DA2A87-51DB-49D4-A239-D24E3DC5DAC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B4293A-5FE8-41CF-BC33-F6EA2E115EC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CF526F-AC7E-4FAE-A757-96F00933F6DA}"/>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2426F0-6622-4AF5-A7CA-D60672B7590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CEFBF2-6EEB-4454-9277-E75548D3A20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f2cc8fc8864098" /><Relationship Type="http://schemas.openxmlformats.org/officeDocument/2006/relationships/slideLayout" Target="/ppt/slideLayouts/slideLayout1.xml" Id="R8a2a04d77efe4521" /><Relationship Type="http://schemas.openxmlformats.org/officeDocument/2006/relationships/slideLayout" Target="/ppt/slideLayouts/slideLayout2.xml" Id="R532cdd4a8fa6452e" /><Relationship Type="http://schemas.openxmlformats.org/officeDocument/2006/relationships/slideLayout" Target="/ppt/slideLayouts/slideLayout3.xml" Id="R7012bccb6c364206" /><Relationship Type="http://schemas.openxmlformats.org/officeDocument/2006/relationships/slideLayout" Target="/ppt/slideLayouts/slideLayout4.xml" Id="Rbdfaa57fdc02481c" /><Relationship Type="http://schemas.openxmlformats.org/officeDocument/2006/relationships/slideLayout" Target="/ppt/slideLayouts/slideLayout5.xml" Id="R97cd6b40b463483f" /><Relationship Type="http://schemas.openxmlformats.org/officeDocument/2006/relationships/slideLayout" Target="/ppt/slideLayouts/slideLayout6.xml" Id="R034cdbfef65c45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2a04d77efe4521"/>
    <p:sldLayoutId xmlns:r="http://schemas.openxmlformats.org/officeDocument/2006/relationships" id="2147483650" r:id="R532cdd4a8fa6452e"/>
    <p:sldLayoutId xmlns:r="http://schemas.openxmlformats.org/officeDocument/2006/relationships" id="2147483651" r:id="R7012bccb6c364206"/>
    <p:sldLayoutId xmlns:r="http://schemas.openxmlformats.org/officeDocument/2006/relationships" id="2147483652" r:id="Rbdfaa57fdc02481c"/>
    <p:sldLayoutId xmlns:r="http://schemas.openxmlformats.org/officeDocument/2006/relationships" id="2147483653" r:id="R97cd6b40b463483f"/>
    <p:sldLayoutId xmlns:r="http://schemas.openxmlformats.org/officeDocument/2006/relationships" id="2147483654" r:id="R034cdbfef65c45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6092f74016547a7" /><Relationship Type="http://schemas.openxmlformats.org/officeDocument/2006/relationships/notesSlide" Target="/ppt/notesSlides/notesSlide1.xml" Id="R4f9662b167074d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b62b01987bf4584" /><Relationship Type="http://schemas.openxmlformats.org/officeDocument/2006/relationships/notesSlide" Target="/ppt/notesSlides/notesSlide2.xml" Id="Rd2d8fd5ee5574d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c2f90e0cc944a1" /><Relationship Type="http://schemas.openxmlformats.org/officeDocument/2006/relationships/notesSlide" Target="/ppt/notesSlides/notesSlide3.xml" Id="R7e8cc82a87074c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ffbc45202884b7d" /><Relationship Type="http://schemas.openxmlformats.org/officeDocument/2006/relationships/notesSlide" Target="/ppt/notesSlides/notesSlide4.xml" Id="R99cf28054359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a15d8ecdfa483d" /><Relationship Type="http://schemas.openxmlformats.org/officeDocument/2006/relationships/notesSlide" Target="/ppt/notesSlides/notesSlide5.xml" Id="R7092bbad919d45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79530efaaa413d" /><Relationship Type="http://schemas.openxmlformats.org/officeDocument/2006/relationships/notesSlide" Target="/ppt/notesSlides/notesSlide6.xml" Id="R6ae6a43dea0043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27446daecc48a4" /><Relationship Type="http://schemas.openxmlformats.org/officeDocument/2006/relationships/notesSlide" Target="/ppt/notesSlides/notesSlide7.xml" Id="R3b5cb12ba8894c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3c821a4dab40d5" /><Relationship Type="http://schemas.openxmlformats.org/officeDocument/2006/relationships/image" Target="/ppt/media/image.png" Id="R4d2e4f7876eb4372" /><Relationship Type="http://schemas.openxmlformats.org/officeDocument/2006/relationships/notesSlide" Target="/ppt/notesSlides/notesSlide8.xml" Id="R3e71a95d70134e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c711966fdc2497f" /><Relationship Type="http://schemas.openxmlformats.org/officeDocument/2006/relationships/image" Target="/ppt/media/image2.png" Id="R16bde681f9df4143" /><Relationship Type="http://schemas.openxmlformats.org/officeDocument/2006/relationships/notesSlide" Target="/ppt/notesSlides/notesSlide9.xml" Id="R471f85b2edf140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94af54c45da40b6" /><Relationship Type="http://schemas.openxmlformats.org/officeDocument/2006/relationships/notesSlide" Target="/ppt/notesSlides/notesSlide10.xml" Id="Read6ad0a476c46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9c375762abb48d6" /><Relationship Type="http://schemas.openxmlformats.org/officeDocument/2006/relationships/notesSlide" Target="/ppt/notesSlides/notesSlide11.xml" Id="R76e74781a32f4b8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6d4f53576114f65" /><Relationship Type="http://schemas.openxmlformats.org/officeDocument/2006/relationships/chart" Target="/ppt/slides/charts/chart1.xml" Id="R2b3c13176d11413a" /><Relationship Type="http://schemas.openxmlformats.org/officeDocument/2006/relationships/notesSlide" Target="/ppt/notesSlides/notesSlide12.xml" Id="R0bcb2ae7ce73432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a62103d1fce4d6c" /><Relationship Type="http://schemas.openxmlformats.org/officeDocument/2006/relationships/notesSlide" Target="/ppt/notesSlides/notesSlide13.xml" Id="R8c5774372d504c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e820ec00cfa4899" /><Relationship Type="http://schemas.openxmlformats.org/officeDocument/2006/relationships/chart" Target="/ppt/slides/charts/chart2.xml" Id="R921290b5b0a24173" /><Relationship Type="http://schemas.openxmlformats.org/officeDocument/2006/relationships/notesSlide" Target="/ppt/notesSlides/notesSlide14.xml" Id="R74eaf085cdae4a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9bd1d69ac4542a8" /><Relationship Type="http://schemas.openxmlformats.org/officeDocument/2006/relationships/notesSlide" Target="/ppt/notesSlides/notesSlide15.xml" Id="R422faf482e8c49a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03a2fa5c5d42b7" /><Relationship Type="http://schemas.openxmlformats.org/officeDocument/2006/relationships/notesSlide" Target="/ppt/notesSlides/notesSlide16.xml" Id="Rf76f25dd676f401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bf7d7d350c04814" /><Relationship Type="http://schemas.openxmlformats.org/officeDocument/2006/relationships/notesSlide" Target="/ppt/notesSlides/notesSlide17.xml" Id="R289489bdcb5d49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a76d1042bcb43e9" /><Relationship Type="http://schemas.openxmlformats.org/officeDocument/2006/relationships/notesSlide" Target="/ppt/notesSlides/notesSlide18.xml" Id="Re7af7b99903a4a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f4366a572644396" /><Relationship Type="http://schemas.openxmlformats.org/officeDocument/2006/relationships/notesSlide" Target="/ppt/notesSlides/notesSlide19.xml" Id="Rb8645a1347a9415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1d7987d51f64d2e" /><Relationship Type="http://schemas.openxmlformats.org/officeDocument/2006/relationships/notesSlide" Target="/ppt/notesSlides/notesSlide20.xml" Id="R33ae7fe5950d4a8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dcb583d7d254459" /><Relationship Type="http://schemas.openxmlformats.org/officeDocument/2006/relationships/notesSlide" Target="/ppt/notesSlides/notesSlide21.xml" Id="R4dc8529dfa27422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7873c85666d4fac" /><Relationship Type="http://schemas.openxmlformats.org/officeDocument/2006/relationships/notesSlide" Target="/ppt/notesSlides/notesSlide22.xml" Id="R740db84eb347440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efa79ef9cb7470a" /><Relationship Type="http://schemas.openxmlformats.org/officeDocument/2006/relationships/notesSlide" Target="/ppt/notesSlides/notesSlide23.xml" Id="R6d719c61d27049d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24c1056f0d74c11" /><Relationship Type="http://schemas.openxmlformats.org/officeDocument/2006/relationships/notesSlide" Target="/ppt/notesSlides/notesSlide24.xml" Id="R8cfad5ad73af4bf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b51da73f49b4a73" /><Relationship Type="http://schemas.openxmlformats.org/officeDocument/2006/relationships/notesSlide" Target="/ppt/notesSlides/notesSlide25.xml" Id="Rfdf00a2af1274b5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9b8f13d421f4ac4" /><Relationship Type="http://schemas.openxmlformats.org/officeDocument/2006/relationships/hyperlink" Target="https://arxiv.org/abs/2005.11401" TargetMode="External" Id="Ra649292727064077" /><Relationship Type="http://schemas.openxmlformats.org/officeDocument/2006/relationships/hyperlink" Target="https://arxiv.org/abs/2311.09735" TargetMode="External" Id="R5f89a1875e8d4b2d" /><Relationship Type="http://schemas.openxmlformats.org/officeDocument/2006/relationships/hyperlink" Target="https://aclanthology.org/2023.emnlp-main.398/" TargetMode="External" Id="Rfc7a3a7cb85a493a" /><Relationship Type="http://schemas.openxmlformats.org/officeDocument/2006/relationships/hyperlink" Target="https://aclanthology.org/2024.tacl-1.9/" TargetMode="External" Id="R538e2511849349cd" /><Relationship Type="http://schemas.openxmlformats.org/officeDocument/2006/relationships/notesSlide" Target="/ppt/notesSlides/notesSlide26.xml" Id="R94493eec4ccc401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Answers citing FC (%)</c:v>
          </c:tx>
          <c:spPr>
            <a:solidFill xmlns:a="http://schemas.openxmlformats.org/drawingml/2006/main">
              <a:srgbClr val="B42146"/>
            </a:solidFill>
          </c:spPr>
          <c:invertIfNegative val="0"/>
          <c:cat>
            <c:strRef>
              <c:f>'Chart Data'!$A$2:$A$4</c:f>
              <c:strCache>
                <c:ptCount val="3"/>
                <c:pt idx="0">
                  <c:v>Baseline</c:v>
                </c:pt>
                <c:pt idx="1">
                  <c:v>Initial treatment</c:v>
                </c:pt>
                <c:pt idx="2">
                  <c:v>Treatment repeat</c:v>
                </c:pt>
              </c:strCache>
            </c:strRef>
          </c:cat>
          <c:val>
            <c:numRef>
              <c:f>'Chart Data'!$B$2:$B$4</c:f>
              <c:numCache>
                <c:formatCode>0"%"</c:formatCode>
                <c:ptCount val="3"/>
                <c:pt idx="0">
                  <c:v>40</c:v>
                </c:pt>
                <c:pt idx="1">
                  <c:v>49.3103448276</c:v>
                </c:pt>
                <c:pt idx="2">
                  <c:v>52.4137931034</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85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Answers citing FC (%)</c:v>
          </c:tx>
          <c:spPr>
            <a:solidFill xmlns:a="http://schemas.openxmlformats.org/drawingml/2006/main">
              <a:srgbClr val="B42146"/>
            </a:solidFill>
          </c:spPr>
          <c:invertIfNegative val="0"/>
          <c:cat>
            <c:strRef>
              <c:f>'Chart Data'!$A$2:$A$3</c:f>
              <c:strCache>
                <c:ptCount val="2"/>
                <c:pt idx="0">
                  <c:v>Own control</c:v>
                </c:pt>
                <c:pt idx="1">
                  <c:v>FC first</c:v>
                </c:pt>
              </c:strCache>
            </c:strRef>
          </c:cat>
          <c:val>
            <c:numRef>
              <c:f>'Chart Data'!$B$2:$B$3</c:f>
              <c:numCache>
                <c:formatCode>0"%"</c:formatCode>
                <c:ptCount val="2"/>
                <c:pt idx="0">
                  <c:v>39.3</c:v>
                </c:pt>
                <c:pt idx="1">
                  <c:v>57.6</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85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72768"/>
      </c:catAx>
      <c:valAx>
        <c:axId val="48672768"/>
        <c:scaling>
          <c:orientation val="minMax"/>
          <c:max val="70"/>
          <c:min val="0"/>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D3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3C55EC-F52C-41B1-8BB8-15ED0EFB8EE9}"/>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83D5D2"/>
                </a:solidFill>
                <a:latin typeface="Arial"/>
                <a:ea typeface="Arial"/>
                <a:cs typeface="Arial"/>
              </a:defRPr>
            </a:defPPr>
          </a:lstStyle>
          <a:p xmlns:a="http://schemas.openxmlformats.org/drawingml/2006/main">
            <a:pPr>
              <a:defRPr sz="1425" b="1">
                <a:solidFill>
                  <a:srgbClr val="83D5D2"/>
                </a:solidFill>
                <a:latin typeface="Arial"/>
                <a:ea typeface="Arial"/>
                <a:cs typeface="Arial"/>
              </a:defRPr>
            </a:pPr>
            <a:r>
              <a:rPr sz="1425" b="1">
                <a:solidFill>
                  <a:srgbClr val="83D5D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13F40D77-9311-4A70-B23A-1284D680B588}"/>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FFFFFF"/>
                </a:solidFill>
                <a:latin typeface="Arial"/>
                <a:ea typeface="Arial"/>
                <a:cs typeface="Arial"/>
              </a:defRPr>
            </a:defPPr>
          </a:lstStyle>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Improving Flight Centre’s use as an AI source</a:t>
            </a:r>
          </a:p>
        </p:txBody>
      </p:sp>
      <p:sp>
        <p:nvSpPr>
          <p:cNvPr id="3" name="">
            <a:extLst xmlns:a="http://schemas.openxmlformats.org/drawingml/2006/main">
              <a:ext uri="{FF2B5EF4-FFF2-40B4-BE49-F238E27FC236}">
                <a16:creationId xmlns:a16="http://schemas.microsoft.com/office/drawing/2014/main" id="{F73D7833-9B5F-4C13-B94B-013D2196D177}"/>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83D5D2"/>
                </a:solidFill>
                <a:latin typeface="Arial"/>
                <a:ea typeface="Arial"/>
                <a:cs typeface="Arial"/>
              </a:defRPr>
            </a:defPPr>
          </a:lstStyle>
          <a:p xmlns:a="http://schemas.openxmlformats.org/drawingml/2006/main">
            <a:pPr>
              <a:defRPr sz="2100" b="1">
                <a:solidFill>
                  <a:srgbClr val="83D5D2"/>
                </a:solidFill>
                <a:latin typeface="Arial"/>
                <a:ea typeface="Arial"/>
                <a:cs typeface="Arial"/>
              </a:defRPr>
            </a:pPr>
            <a:r>
              <a:rPr sz="2100" b="1">
                <a:solidFill>
                  <a:srgbClr val="83D5D2"/>
                </a:solidFill>
                <a:latin typeface="Arial"/>
                <a:ea typeface="Arial"/>
                <a:cs typeface="Arial"/>
              </a:rPr>
              <a:t>Research question: does a changed FC page receive more citations when it is already supplied?</a:t>
            </a:r>
          </a:p>
        </p:txBody>
      </p:sp>
      <p:sp>
        <p:nvSpPr>
          <p:cNvPr id="4" name="">
            <a:extLst xmlns:a="http://schemas.openxmlformats.org/drawingml/2006/main">
              <a:ext uri="{FF2B5EF4-FFF2-40B4-BE49-F238E27FC236}">
                <a16:creationId xmlns:a16="http://schemas.microsoft.com/office/drawing/2014/main" id="{5F7C287E-2C7A-47EE-978A-B369F553655D}"/>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6C7CF"/>
                </a:solidFill>
                <a:latin typeface="Arial"/>
                <a:ea typeface="Arial"/>
                <a:cs typeface="Arial"/>
              </a:defRPr>
            </a:defPPr>
          </a:lstStyle>
          <a:p xmlns:a="http://schemas.openxmlformats.org/drawingml/2006/main">
            <a:pPr>
              <a:defRPr sz="1200" b="0">
                <a:solidFill>
                  <a:srgbClr val="B6C7CF"/>
                </a:solidFill>
                <a:latin typeface="Arial"/>
                <a:ea typeface="Arial"/>
                <a:cs typeface="Arial"/>
              </a:defRPr>
            </a:pPr>
            <a:r>
              <a:rPr sz="1200" b="0">
                <a:solidFill>
                  <a:srgbClr val="B6C7CF"/>
                </a:solidFill>
                <a:latin typeface="Arial"/>
                <a:ea typeface="Arial"/>
                <a:cs typeface="Arial"/>
              </a:rPr>
              <a:t>1 / 18   •   Evidence: C01, C19, C22 | Full claim ledger in submission</a:t>
            </a:r>
          </a:p>
        </p:txBody>
      </p:sp>
      <p:sp>
        <p:nvSpPr>
          <p:cNvPr id="5" name="">
            <a:extLst xmlns:a="http://schemas.openxmlformats.org/drawingml/2006/main">
              <a:ext uri="{FF2B5EF4-FFF2-40B4-BE49-F238E27FC236}">
                <a16:creationId xmlns:a16="http://schemas.microsoft.com/office/drawing/2014/main" id="{6D25548C-F480-47B4-B4EA-1C597CB4510B}"/>
              </a:ext>
            </a:extLst>
          </p:cNvPr>
          <p:cNvSpPr>
            <a:spLocks xmlns:a="http://schemas.openxmlformats.org/drawingml/2006/main" noGrp="1"/>
          </p:cNvSpPr>
          <p:nvPr/>
        </p:nvSpPr>
        <p:spPr>
          <a:xfrm xmlns:a="http://schemas.openxmlformats.org/drawingml/2006/main">
            <a:off x="619125" y="2286000"/>
            <a:ext cx="133350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350" b="1">
                <a:solidFill>
                  <a:srgbClr val="FFFFFF"/>
                </a:solidFill>
                <a:latin typeface="Arial"/>
                <a:ea typeface="Arial"/>
                <a:cs typeface="Arial"/>
              </a:defRPr>
            </a:defPPr>
          </a:lstStyle>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Can a clearer FC page be cited more often when the assistant already has it?</a:t>
            </a:r>
          </a:p>
        </p:txBody>
      </p:sp>
      <p:sp>
        <p:nvSpPr>
          <p:cNvPr id="6" name="">
            <a:extLst xmlns:a="http://schemas.openxmlformats.org/drawingml/2006/main">
              <a:ext uri="{FF2B5EF4-FFF2-40B4-BE49-F238E27FC236}">
                <a16:creationId xmlns:a16="http://schemas.microsoft.com/office/drawing/2014/main" id="{E344414D-EB71-4EB4-A313-D820D4CA98FC}"/>
              </a:ext>
            </a:extLst>
          </p:cNvPr>
          <p:cNvSpPr>
            <a:spLocks xmlns:a="http://schemas.openxmlformats.org/drawingml/2006/main" noGrp="1"/>
          </p:cNvSpPr>
          <p:nvPr/>
        </p:nvSpPr>
        <p:spPr>
          <a:xfrm xmlns:a="http://schemas.openxmlformats.org/drawingml/2006/main">
            <a:off x="619125" y="47625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83D5D2"/>
                </a:solidFill>
                <a:latin typeface="Arial"/>
                <a:ea typeface="Arial"/>
                <a:cs typeface="Arial"/>
              </a:defRPr>
            </a:defPPr>
          </a:lstStyle>
          <a:p xmlns:a="http://schemas.openxmlformats.org/drawingml/2006/main">
            <a:pPr>
              <a:defRPr sz="3000" b="1">
                <a:solidFill>
                  <a:srgbClr val="83D5D2"/>
                </a:solidFill>
                <a:latin typeface="Arial"/>
                <a:ea typeface="Arial"/>
                <a:cs typeface="Arial"/>
              </a:defRPr>
            </a:pPr>
            <a:r>
              <a:rPr sz="3000" b="1">
                <a:solidFill>
                  <a:srgbClr val="83D5D2"/>
                </a:solidFill>
                <a:latin typeface="Arial"/>
                <a:ea typeface="Arial"/>
                <a:cs typeface="Arial"/>
              </a:rPr>
              <a:t>Build</a:t>
            </a:r>
          </a:p>
        </p:txBody>
      </p:sp>
      <p:sp>
        <p:nvSpPr>
          <p:cNvPr id="7" name="">
            <a:extLst xmlns:a="http://schemas.openxmlformats.org/drawingml/2006/main">
              <a:ext uri="{FF2B5EF4-FFF2-40B4-BE49-F238E27FC236}">
                <a16:creationId xmlns:a16="http://schemas.microsoft.com/office/drawing/2014/main" id="{FE5510E6-96C7-491D-AE06-F1808DD6A69D}"/>
              </a:ext>
            </a:extLst>
          </p:cNvPr>
          <p:cNvSpPr>
            <a:spLocks xmlns:a="http://schemas.openxmlformats.org/drawingml/2006/main" noGrp="1"/>
          </p:cNvSpPr>
          <p:nvPr/>
        </p:nvSpPr>
        <p:spPr>
          <a:xfrm xmlns:a="http://schemas.openxmlformats.org/drawingml/2006/main">
            <a:off x="619125" y="5619750"/>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A working page transformation</a:t>
            </a:r>
          </a:p>
        </p:txBody>
      </p:sp>
      <p:sp>
        <p:nvSpPr>
          <p:cNvPr id="8" name="">
            <a:extLst xmlns:a="http://schemas.openxmlformats.org/drawingml/2006/main">
              <a:ext uri="{FF2B5EF4-FFF2-40B4-BE49-F238E27FC236}">
                <a16:creationId xmlns:a16="http://schemas.microsoft.com/office/drawing/2014/main" id="{9875F3CD-CE04-40F3-9C64-BEEC18A67A99}"/>
              </a:ext>
            </a:extLst>
          </p:cNvPr>
          <p:cNvSpPr>
            <a:spLocks xmlns:a="http://schemas.openxmlformats.org/drawingml/2006/main" noGrp="1"/>
          </p:cNvSpPr>
          <p:nvPr/>
        </p:nvSpPr>
        <p:spPr>
          <a:xfrm xmlns:a="http://schemas.openxmlformats.org/drawingml/2006/main">
            <a:off x="5476875" y="47625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83D5D2"/>
                </a:solidFill>
                <a:latin typeface="Arial"/>
                <a:ea typeface="Arial"/>
                <a:cs typeface="Arial"/>
              </a:defRPr>
            </a:defPPr>
          </a:lstStyle>
          <a:p xmlns:a="http://schemas.openxmlformats.org/drawingml/2006/main">
            <a:pPr>
              <a:defRPr sz="3000" b="1">
                <a:solidFill>
                  <a:srgbClr val="83D5D2"/>
                </a:solidFill>
                <a:latin typeface="Arial"/>
                <a:ea typeface="Arial"/>
                <a:cs typeface="Arial"/>
              </a:defRPr>
            </a:pPr>
            <a:r>
              <a:rPr sz="3000" b="1">
                <a:solidFill>
                  <a:srgbClr val="83D5D2"/>
                </a:solidFill>
                <a:latin typeface="Arial"/>
                <a:ea typeface="Arial"/>
                <a:cs typeface="Arial"/>
              </a:rPr>
              <a:t>Test</a:t>
            </a:r>
          </a:p>
        </p:txBody>
      </p:sp>
      <p:sp>
        <p:nvSpPr>
          <p:cNvPr id="9" name="">
            <a:extLst xmlns:a="http://schemas.openxmlformats.org/drawingml/2006/main">
              <a:ext uri="{FF2B5EF4-FFF2-40B4-BE49-F238E27FC236}">
                <a16:creationId xmlns:a16="http://schemas.microsoft.com/office/drawing/2014/main" id="{FE461448-6746-400E-B5A6-9C03F4E24268}"/>
              </a:ext>
            </a:extLst>
          </p:cNvPr>
          <p:cNvSpPr>
            <a:spLocks xmlns:a="http://schemas.openxmlformats.org/drawingml/2006/main" noGrp="1"/>
          </p:cNvSpPr>
          <p:nvPr/>
        </p:nvSpPr>
        <p:spPr>
          <a:xfrm xmlns:a="http://schemas.openxmlformats.org/drawingml/2006/main">
            <a:off x="5476875" y="5619750"/>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Matched sources + repeated answers</a:t>
            </a:r>
          </a:p>
        </p:txBody>
      </p:sp>
      <p:sp>
        <p:nvSpPr>
          <p:cNvPr id="10" name="">
            <a:extLst xmlns:a="http://schemas.openxmlformats.org/drawingml/2006/main">
              <a:ext uri="{FF2B5EF4-FFF2-40B4-BE49-F238E27FC236}">
                <a16:creationId xmlns:a16="http://schemas.microsoft.com/office/drawing/2014/main" id="{7C9E5184-7445-4F06-A178-E1E0B45C4A1A}"/>
              </a:ext>
            </a:extLst>
          </p:cNvPr>
          <p:cNvSpPr>
            <a:spLocks xmlns:a="http://schemas.openxmlformats.org/drawingml/2006/main" noGrp="1"/>
          </p:cNvSpPr>
          <p:nvPr/>
        </p:nvSpPr>
        <p:spPr>
          <a:xfrm xmlns:a="http://schemas.openxmlformats.org/drawingml/2006/main">
            <a:off x="10334625" y="47625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83D5D2"/>
                </a:solidFill>
                <a:latin typeface="Arial"/>
                <a:ea typeface="Arial"/>
                <a:cs typeface="Arial"/>
              </a:defRPr>
            </a:defPPr>
          </a:lstStyle>
          <a:p xmlns:a="http://schemas.openxmlformats.org/drawingml/2006/main">
            <a:pPr>
              <a:defRPr sz="3000" b="1">
                <a:solidFill>
                  <a:srgbClr val="83D5D2"/>
                </a:solidFill>
                <a:latin typeface="Arial"/>
                <a:ea typeface="Arial"/>
                <a:cs typeface="Arial"/>
              </a:defRPr>
            </a:pPr>
            <a:r>
              <a:rPr sz="3000" b="1">
                <a:solidFill>
                  <a:srgbClr val="83D5D2"/>
                </a:solidFill>
                <a:latin typeface="Arial"/>
                <a:ea typeface="Arial"/>
                <a:cs typeface="Arial"/>
              </a:rPr>
              <a:t>Explain</a:t>
            </a:r>
          </a:p>
        </p:txBody>
      </p:sp>
      <p:sp>
        <p:nvSpPr>
          <p:cNvPr id="11" name="">
            <a:extLst xmlns:a="http://schemas.openxmlformats.org/drawingml/2006/main">
              <a:ext uri="{FF2B5EF4-FFF2-40B4-BE49-F238E27FC236}">
                <a16:creationId xmlns:a16="http://schemas.microsoft.com/office/drawing/2014/main" id="{1C83D480-6F6D-49C4-882A-5E53B2E7B934}"/>
              </a:ext>
            </a:extLst>
          </p:cNvPr>
          <p:cNvSpPr>
            <a:spLocks xmlns:a="http://schemas.openxmlformats.org/drawingml/2006/main" noGrp="1"/>
          </p:cNvSpPr>
          <p:nvPr/>
        </p:nvSpPr>
        <p:spPr>
          <a:xfrm xmlns:a="http://schemas.openxmlformats.org/drawingml/2006/main">
            <a:off x="10334625" y="5619750"/>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Observed gains + limits</a:t>
            </a:r>
          </a:p>
        </p:txBody>
      </p:sp>
    </p:spTree>
    <p:extLst>
      <p:ext uri="{BB962C8B-B14F-4D97-AF65-F5344CB8AC3E}">
        <p14:creationId xmlns:p14="http://schemas.microsoft.com/office/powerpoint/2010/main" val="1646196773"/>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75555A5-6266-43E4-86B1-E2CD4B73B6D1}"/>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55576BE6-8EAC-42E0-AD87-81E817F6C4AE}"/>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Source citation, recommendation and customer action</a:t>
            </a:r>
          </a:p>
        </p:txBody>
      </p:sp>
      <p:sp>
        <p:nvSpPr>
          <p:cNvPr id="3" name="">
            <a:extLst xmlns:a="http://schemas.openxmlformats.org/drawingml/2006/main">
              <a:ext uri="{FF2B5EF4-FFF2-40B4-BE49-F238E27FC236}">
                <a16:creationId xmlns:a16="http://schemas.microsoft.com/office/drawing/2014/main" id="{3C3E77C4-9F99-45C1-918C-6790882C168F}"/>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6BEB2B-6992-40D8-9591-B798D6706CAD}"/>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Primary outcome: an answer cites at least one Flight Centre source.</a:t>
            </a:r>
          </a:p>
        </p:txBody>
      </p:sp>
      <p:sp>
        <p:nvSpPr>
          <p:cNvPr id="5" name="">
            <a:extLst xmlns:a="http://schemas.openxmlformats.org/drawingml/2006/main">
              <a:ext uri="{FF2B5EF4-FFF2-40B4-BE49-F238E27FC236}">
                <a16:creationId xmlns:a16="http://schemas.microsoft.com/office/drawing/2014/main" id="{061FA0A8-E294-4DD4-A902-4DA6C10DD922}"/>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2 / 18   •   Evidence: C01, C20 | Full claim ledger in submission</a:t>
            </a:r>
          </a:p>
        </p:txBody>
      </p:sp>
      <p:sp>
        <p:nvSpPr>
          <p:cNvPr id="6" name="">
            <a:extLst xmlns:a="http://schemas.openxmlformats.org/drawingml/2006/main">
              <a:ext uri="{FF2B5EF4-FFF2-40B4-BE49-F238E27FC236}">
                <a16:creationId xmlns:a16="http://schemas.microsoft.com/office/drawing/2014/main" id="{94857FCA-51B4-4445-86AC-C9957377692F}"/>
              </a:ext>
            </a:extLst>
          </p:cNvPr>
          <p:cNvSpPr>
            <a:spLocks xmlns:a="http://schemas.openxmlformats.org/drawingml/2006/main" noGrp="1"/>
          </p:cNvSpPr>
          <p:nvPr/>
        </p:nvSpPr>
        <p:spPr>
          <a:xfrm xmlns:a="http://schemas.openxmlformats.org/drawingml/2006/main">
            <a:off x="619125" y="2171700"/>
            <a:ext cx="1400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42D3D"/>
                </a:solidFill>
                <a:latin typeface="Arial"/>
                <a:ea typeface="Arial"/>
                <a:cs typeface="Arial"/>
              </a:defRPr>
            </a:defPPr>
          </a:lstStyle>
          <a:p xmlns:a="http://schemas.openxmlformats.org/drawingml/2006/main">
            <a:pPr>
              <a:defRPr sz="3000" b="1">
                <a:solidFill>
                  <a:srgbClr val="142D3D"/>
                </a:solidFill>
                <a:latin typeface="Arial"/>
                <a:ea typeface="Arial"/>
                <a:cs typeface="Arial"/>
              </a:defRPr>
            </a:pPr>
            <a:r>
              <a:rPr sz="3000" b="1">
                <a:solidFill>
                  <a:srgbClr val="142D3D"/>
                </a:solidFill>
                <a:latin typeface="Arial"/>
                <a:ea typeface="Arial"/>
                <a:cs typeface="Arial"/>
              </a:rPr>
              <a:t>“I’m looking for flights from Melbourne to London.”</a:t>
            </a:r>
          </a:p>
        </p:txBody>
      </p:sp>
      <p:sp>
        <p:nvSpPr>
          <p:cNvPr id="7" name="">
            <a:extLst xmlns:a="http://schemas.openxmlformats.org/drawingml/2006/main">
              <a:ext uri="{FF2B5EF4-FFF2-40B4-BE49-F238E27FC236}">
                <a16:creationId xmlns:a16="http://schemas.microsoft.com/office/drawing/2014/main" id="{BF715D88-D44D-4EFC-8C0C-67FFC2B64C6A}"/>
              </a:ext>
            </a:extLst>
          </p:cNvPr>
          <p:cNvSpPr>
            <a:spLocks xmlns:a="http://schemas.openxmlformats.org/drawingml/2006/main" noGrp="1"/>
          </p:cNvSpPr>
          <p:nvPr/>
        </p:nvSpPr>
        <p:spPr>
          <a:xfrm xmlns:a="http://schemas.openxmlformats.org/drawingml/2006/main">
            <a:off x="619125" y="3429000"/>
            <a:ext cx="3095625" cy="20764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8" name="">
            <a:extLst xmlns:a="http://schemas.openxmlformats.org/drawingml/2006/main">
              <a:ext uri="{FF2B5EF4-FFF2-40B4-BE49-F238E27FC236}">
                <a16:creationId xmlns:a16="http://schemas.microsoft.com/office/drawing/2014/main" id="{509975CC-C0DA-4330-8016-7B974A800017}"/>
              </a:ext>
            </a:extLst>
          </p:cNvPr>
          <p:cNvSpPr>
            <a:spLocks xmlns:a="http://schemas.openxmlformats.org/drawingml/2006/main" noGrp="1"/>
          </p:cNvSpPr>
          <p:nvPr/>
        </p:nvSpPr>
        <p:spPr>
          <a:xfrm xmlns:a="http://schemas.openxmlformats.org/drawingml/2006/main">
            <a:off x="619125" y="3429000"/>
            <a:ext cx="66675" cy="20764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C588862-DFE9-4730-80A2-23CD226EA6BB}"/>
              </a:ext>
            </a:extLst>
          </p:cNvPr>
          <p:cNvSpPr>
            <a:spLocks xmlns:a="http://schemas.openxmlformats.org/drawingml/2006/main" noGrp="1"/>
          </p:cNvSpPr>
          <p:nvPr/>
        </p:nvSpPr>
        <p:spPr>
          <a:xfrm xmlns:a="http://schemas.openxmlformats.org/drawingml/2006/main">
            <a:off x="809625" y="35718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1  Available</a:t>
            </a:r>
          </a:p>
        </p:txBody>
      </p:sp>
      <p:sp>
        <p:nvSpPr>
          <p:cNvPr id="10" name="">
            <a:extLst xmlns:a="http://schemas.openxmlformats.org/drawingml/2006/main">
              <a:ext uri="{FF2B5EF4-FFF2-40B4-BE49-F238E27FC236}">
                <a16:creationId xmlns:a16="http://schemas.microsoft.com/office/drawing/2014/main" id="{9872312B-B09E-4B41-AB3A-861C5256DB3C}"/>
              </a:ext>
            </a:extLst>
          </p:cNvPr>
          <p:cNvSpPr>
            <a:spLocks xmlns:a="http://schemas.openxmlformats.org/drawingml/2006/main" noGrp="1"/>
          </p:cNvSpPr>
          <p:nvPr/>
        </p:nvSpPr>
        <p:spPr>
          <a:xfrm xmlns:a="http://schemas.openxmlformats.org/drawingml/2006/main">
            <a:off x="809625" y="4162425"/>
            <a:ext cx="2714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A relevant FC page reaches the assistant.</a:t>
            </a:r>
          </a:p>
        </p:txBody>
      </p:sp>
      <p:sp>
        <p:nvSpPr>
          <p:cNvPr id="11" name="">
            <a:extLst xmlns:a="http://schemas.openxmlformats.org/drawingml/2006/main">
              <a:ext uri="{FF2B5EF4-FFF2-40B4-BE49-F238E27FC236}">
                <a16:creationId xmlns:a16="http://schemas.microsoft.com/office/drawing/2014/main" id="{2950D6AA-98AC-41AC-B870-0227D0065473}"/>
              </a:ext>
            </a:extLst>
          </p:cNvPr>
          <p:cNvSpPr>
            <a:spLocks xmlns:a="http://schemas.openxmlformats.org/drawingml/2006/main" noGrp="1"/>
          </p:cNvSpPr>
          <p:nvPr/>
        </p:nvSpPr>
        <p:spPr>
          <a:xfrm xmlns:a="http://schemas.openxmlformats.org/drawingml/2006/main">
            <a:off x="3857625" y="4333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89D59FE-AD82-4FCD-B2C6-E918DEE0E880}"/>
              </a:ext>
            </a:extLst>
          </p:cNvPr>
          <p:cNvSpPr>
            <a:spLocks xmlns:a="http://schemas.openxmlformats.org/drawingml/2006/main" noGrp="1"/>
          </p:cNvSpPr>
          <p:nvPr/>
        </p:nvSpPr>
        <p:spPr>
          <a:xfrm xmlns:a="http://schemas.openxmlformats.org/drawingml/2006/main">
            <a:off x="4257675" y="3429000"/>
            <a:ext cx="3095625" cy="2076450"/>
          </a:xfrm>
          <a:prstGeom xmlns:a="http://schemas.openxmlformats.org/drawingml/2006/main" prst="rect">
            <a:avLst/>
          </a:prstGeom>
          <a:solidFill xmlns:a="http://schemas.openxmlformats.org/drawingml/2006/main">
            <a:srgbClr val="FFFFFF"/>
          </a:solidFill>
          <a:ln xmlns:a="http://schemas.openxmlformats.org/drawingml/2006/main" w="19050">
            <a:solidFill>
              <a:srgbClr val="B42146"/>
            </a:solidFill>
          </a:ln>
        </p:spPr>
      </p:sp>
      <p:sp>
        <p:nvSpPr>
          <p:cNvPr id="13" name="">
            <a:extLst xmlns:a="http://schemas.openxmlformats.org/drawingml/2006/main">
              <a:ext uri="{FF2B5EF4-FFF2-40B4-BE49-F238E27FC236}">
                <a16:creationId xmlns:a16="http://schemas.microsoft.com/office/drawing/2014/main" id="{FB98A0F9-7156-48ED-95A5-60C4ABCF75CE}"/>
              </a:ext>
            </a:extLst>
          </p:cNvPr>
          <p:cNvSpPr>
            <a:spLocks xmlns:a="http://schemas.openxmlformats.org/drawingml/2006/main" noGrp="1"/>
          </p:cNvSpPr>
          <p:nvPr/>
        </p:nvSpPr>
        <p:spPr>
          <a:xfrm xmlns:a="http://schemas.openxmlformats.org/drawingml/2006/main">
            <a:off x="4257675" y="3429000"/>
            <a:ext cx="66675" cy="2076450"/>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882E11C-68DB-42C3-A063-D2413B0596A8}"/>
              </a:ext>
            </a:extLst>
          </p:cNvPr>
          <p:cNvSpPr>
            <a:spLocks xmlns:a="http://schemas.openxmlformats.org/drawingml/2006/main" noGrp="1"/>
          </p:cNvSpPr>
          <p:nvPr/>
        </p:nvSpPr>
        <p:spPr>
          <a:xfrm xmlns:a="http://schemas.openxmlformats.org/drawingml/2006/main">
            <a:off x="4448175" y="35718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2  Cited</a:t>
            </a:r>
          </a:p>
        </p:txBody>
      </p:sp>
      <p:sp>
        <p:nvSpPr>
          <p:cNvPr id="15" name="">
            <a:extLst xmlns:a="http://schemas.openxmlformats.org/drawingml/2006/main">
              <a:ext uri="{FF2B5EF4-FFF2-40B4-BE49-F238E27FC236}">
                <a16:creationId xmlns:a16="http://schemas.microsoft.com/office/drawing/2014/main" id="{2E850F17-216C-4F94-B4FF-C314AF3A4C61}"/>
              </a:ext>
            </a:extLst>
          </p:cNvPr>
          <p:cNvSpPr>
            <a:spLocks xmlns:a="http://schemas.openxmlformats.org/drawingml/2006/main" noGrp="1"/>
          </p:cNvSpPr>
          <p:nvPr/>
        </p:nvSpPr>
        <p:spPr>
          <a:xfrm xmlns:a="http://schemas.openxmlformats.org/drawingml/2006/main">
            <a:off x="4448175" y="4162425"/>
            <a:ext cx="2714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The answer credits FC as a source.</a:t>
            </a:r>
          </a:p>
        </p:txBody>
      </p:sp>
      <p:sp>
        <p:nvSpPr>
          <p:cNvPr id="16" name="">
            <a:extLst xmlns:a="http://schemas.openxmlformats.org/drawingml/2006/main">
              <a:ext uri="{FF2B5EF4-FFF2-40B4-BE49-F238E27FC236}">
                <a16:creationId xmlns:a16="http://schemas.microsoft.com/office/drawing/2014/main" id="{597DAEA2-4F10-480F-8A4F-EB4555AE6262}"/>
              </a:ext>
            </a:extLst>
          </p:cNvPr>
          <p:cNvSpPr>
            <a:spLocks xmlns:a="http://schemas.openxmlformats.org/drawingml/2006/main" noGrp="1"/>
          </p:cNvSpPr>
          <p:nvPr/>
        </p:nvSpPr>
        <p:spPr>
          <a:xfrm xmlns:a="http://schemas.openxmlformats.org/drawingml/2006/main">
            <a:off x="7496175" y="4333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EA1C59F-A011-45BB-8039-49E2483EE71A}"/>
              </a:ext>
            </a:extLst>
          </p:cNvPr>
          <p:cNvSpPr>
            <a:spLocks xmlns:a="http://schemas.openxmlformats.org/drawingml/2006/main" noGrp="1"/>
          </p:cNvSpPr>
          <p:nvPr/>
        </p:nvSpPr>
        <p:spPr>
          <a:xfrm xmlns:a="http://schemas.openxmlformats.org/drawingml/2006/main">
            <a:off x="7896225" y="3429000"/>
            <a:ext cx="3095625" cy="20764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8" name="">
            <a:extLst xmlns:a="http://schemas.openxmlformats.org/drawingml/2006/main">
              <a:ext uri="{FF2B5EF4-FFF2-40B4-BE49-F238E27FC236}">
                <a16:creationId xmlns:a16="http://schemas.microsoft.com/office/drawing/2014/main" id="{3B6DD454-269D-40FA-B935-96C20F9864DC}"/>
              </a:ext>
            </a:extLst>
          </p:cNvPr>
          <p:cNvSpPr>
            <a:spLocks xmlns:a="http://schemas.openxmlformats.org/drawingml/2006/main" noGrp="1"/>
          </p:cNvSpPr>
          <p:nvPr/>
        </p:nvSpPr>
        <p:spPr>
          <a:xfrm xmlns:a="http://schemas.openxmlformats.org/drawingml/2006/main">
            <a:off x="7896225" y="3429000"/>
            <a:ext cx="66675" cy="20764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969C7BB-4E46-4500-8E8F-30AD65A219C2}"/>
              </a:ext>
            </a:extLst>
          </p:cNvPr>
          <p:cNvSpPr>
            <a:spLocks xmlns:a="http://schemas.openxmlformats.org/drawingml/2006/main" noGrp="1"/>
          </p:cNvSpPr>
          <p:nvPr/>
        </p:nvSpPr>
        <p:spPr>
          <a:xfrm xmlns:a="http://schemas.openxmlformats.org/drawingml/2006/main">
            <a:off x="8086725" y="35718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3  Recommended</a:t>
            </a:r>
          </a:p>
        </p:txBody>
      </p:sp>
      <p:sp>
        <p:nvSpPr>
          <p:cNvPr id="20" name="">
            <a:extLst xmlns:a="http://schemas.openxmlformats.org/drawingml/2006/main">
              <a:ext uri="{FF2B5EF4-FFF2-40B4-BE49-F238E27FC236}">
                <a16:creationId xmlns:a16="http://schemas.microsoft.com/office/drawing/2014/main" id="{882AFE8C-EEE6-405E-BBB3-486C0FEEBEC4}"/>
              </a:ext>
            </a:extLst>
          </p:cNvPr>
          <p:cNvSpPr>
            <a:spLocks xmlns:a="http://schemas.openxmlformats.org/drawingml/2006/main" noGrp="1"/>
          </p:cNvSpPr>
          <p:nvPr/>
        </p:nvSpPr>
        <p:spPr>
          <a:xfrm xmlns:a="http://schemas.openxmlformats.org/drawingml/2006/main">
            <a:off x="8086725" y="4162425"/>
            <a:ext cx="2714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FC is offered as a booking or adviser option.</a:t>
            </a:r>
          </a:p>
        </p:txBody>
      </p:sp>
      <p:sp>
        <p:nvSpPr>
          <p:cNvPr id="21" name="">
            <a:extLst xmlns:a="http://schemas.openxmlformats.org/drawingml/2006/main">
              <a:ext uri="{FF2B5EF4-FFF2-40B4-BE49-F238E27FC236}">
                <a16:creationId xmlns:a16="http://schemas.microsoft.com/office/drawing/2014/main" id="{8951B0C1-437D-43BC-A628-24EE5F45ABC8}"/>
              </a:ext>
            </a:extLst>
          </p:cNvPr>
          <p:cNvSpPr>
            <a:spLocks xmlns:a="http://schemas.openxmlformats.org/drawingml/2006/main" noGrp="1"/>
          </p:cNvSpPr>
          <p:nvPr/>
        </p:nvSpPr>
        <p:spPr>
          <a:xfrm xmlns:a="http://schemas.openxmlformats.org/drawingml/2006/main">
            <a:off x="11134725" y="4333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B431F38-B63B-4F70-A6AF-A30608124278}"/>
              </a:ext>
            </a:extLst>
          </p:cNvPr>
          <p:cNvSpPr>
            <a:spLocks xmlns:a="http://schemas.openxmlformats.org/drawingml/2006/main" noGrp="1"/>
          </p:cNvSpPr>
          <p:nvPr/>
        </p:nvSpPr>
        <p:spPr>
          <a:xfrm xmlns:a="http://schemas.openxmlformats.org/drawingml/2006/main">
            <a:off x="11534775" y="3429000"/>
            <a:ext cx="3095625" cy="20764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23" name="">
            <a:extLst xmlns:a="http://schemas.openxmlformats.org/drawingml/2006/main">
              <a:ext uri="{FF2B5EF4-FFF2-40B4-BE49-F238E27FC236}">
                <a16:creationId xmlns:a16="http://schemas.microsoft.com/office/drawing/2014/main" id="{37EA42C2-0BF0-4642-A036-6625F6A8CEBB}"/>
              </a:ext>
            </a:extLst>
          </p:cNvPr>
          <p:cNvSpPr>
            <a:spLocks xmlns:a="http://schemas.openxmlformats.org/drawingml/2006/main" noGrp="1"/>
          </p:cNvSpPr>
          <p:nvPr/>
        </p:nvSpPr>
        <p:spPr>
          <a:xfrm xmlns:a="http://schemas.openxmlformats.org/drawingml/2006/main">
            <a:off x="11534775" y="3429000"/>
            <a:ext cx="66675" cy="20764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8A9AF46-5AFA-41AE-81F6-B2C0B49DAE74}"/>
              </a:ext>
            </a:extLst>
          </p:cNvPr>
          <p:cNvSpPr>
            <a:spLocks xmlns:a="http://schemas.openxmlformats.org/drawingml/2006/main" noGrp="1"/>
          </p:cNvSpPr>
          <p:nvPr/>
        </p:nvSpPr>
        <p:spPr>
          <a:xfrm xmlns:a="http://schemas.openxmlformats.org/drawingml/2006/main">
            <a:off x="11725275" y="35718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4  Customer acts</a:t>
            </a:r>
          </a:p>
        </p:txBody>
      </p:sp>
      <p:sp>
        <p:nvSpPr>
          <p:cNvPr id="25" name="">
            <a:extLst xmlns:a="http://schemas.openxmlformats.org/drawingml/2006/main">
              <a:ext uri="{FF2B5EF4-FFF2-40B4-BE49-F238E27FC236}">
                <a16:creationId xmlns:a16="http://schemas.microsoft.com/office/drawing/2014/main" id="{2F99DD78-3D41-4985-8147-D87A9973A64D}"/>
              </a:ext>
            </a:extLst>
          </p:cNvPr>
          <p:cNvSpPr>
            <a:spLocks xmlns:a="http://schemas.openxmlformats.org/drawingml/2006/main" noGrp="1"/>
          </p:cNvSpPr>
          <p:nvPr/>
        </p:nvSpPr>
        <p:spPr>
          <a:xfrm xmlns:a="http://schemas.openxmlformats.org/drawingml/2006/main">
            <a:off x="11725275" y="4162425"/>
            <a:ext cx="2714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A visit, enquiry or booking follows.</a:t>
            </a:r>
          </a:p>
        </p:txBody>
      </p:sp>
      <p:sp>
        <p:nvSpPr>
          <p:cNvPr id="26" name="">
            <a:extLst xmlns:a="http://schemas.openxmlformats.org/drawingml/2006/main">
              <a:ext uri="{FF2B5EF4-FFF2-40B4-BE49-F238E27FC236}">
                <a16:creationId xmlns:a16="http://schemas.microsoft.com/office/drawing/2014/main" id="{ABFA1CC0-4ADF-411D-A492-7ED0E4D348FE}"/>
              </a:ext>
            </a:extLst>
          </p:cNvPr>
          <p:cNvSpPr>
            <a:spLocks xmlns:a="http://schemas.openxmlformats.org/drawingml/2006/main" noGrp="1"/>
          </p:cNvSpPr>
          <p:nvPr/>
        </p:nvSpPr>
        <p:spPr>
          <a:xfrm xmlns:a="http://schemas.openxmlformats.org/drawingml/2006/main">
            <a:off x="4257675" y="5715000"/>
            <a:ext cx="3095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B42146"/>
                </a:solidFill>
                <a:latin typeface="Arial"/>
                <a:ea typeface="Arial"/>
                <a:cs typeface="Arial"/>
              </a:defRPr>
            </a:defPPr>
          </a:lstStyle>
          <a:p xmlns:a="http://schemas.openxmlformats.org/drawingml/2006/main">
            <a:pPr>
              <a:defRPr sz="1800" b="1">
                <a:solidFill>
                  <a:srgbClr val="B42146"/>
                </a:solidFill>
                <a:latin typeface="Arial"/>
                <a:ea typeface="Arial"/>
                <a:cs typeface="Arial"/>
              </a:defRPr>
            </a:pPr>
            <a:r>
              <a:rPr sz="1800" b="1">
                <a:solidFill>
                  <a:srgbClr val="B42146"/>
                </a:solidFill>
                <a:latin typeface="Arial"/>
                <a:ea typeface="Arial"/>
                <a:cs typeface="Arial"/>
              </a:rPr>
              <a:t>OUR MAIN MEASURE</a:t>
            </a:r>
          </a:p>
        </p:txBody>
      </p:sp>
      <p:sp>
        <p:nvSpPr>
          <p:cNvPr id="27" name="">
            <a:extLst xmlns:a="http://schemas.openxmlformats.org/drawingml/2006/main">
              <a:ext uri="{FF2B5EF4-FFF2-40B4-BE49-F238E27FC236}">
                <a16:creationId xmlns:a16="http://schemas.microsoft.com/office/drawing/2014/main" id="{586B5012-2702-4F25-BDC2-4DB9D2CE4F82}"/>
              </a:ext>
            </a:extLst>
          </p:cNvPr>
          <p:cNvSpPr>
            <a:spLocks xmlns:a="http://schemas.openxmlformats.org/drawingml/2006/main" noGrp="1"/>
          </p:cNvSpPr>
          <p:nvPr/>
        </p:nvSpPr>
        <p:spPr>
          <a:xfrm xmlns:a="http://schemas.openxmlformats.org/drawingml/2006/main">
            <a:off x="619125" y="6391275"/>
            <a:ext cx="1371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42D3D"/>
                </a:solidFill>
                <a:latin typeface="Arial"/>
                <a:ea typeface="Arial"/>
                <a:cs typeface="Arial"/>
              </a:defRPr>
            </a:defPPr>
          </a:lstStyle>
          <a:p xmlns:a="http://schemas.openxmlformats.org/drawingml/2006/main">
            <a:pPr>
              <a:defRPr sz="2475" b="0">
                <a:solidFill>
                  <a:srgbClr val="142D3D"/>
                </a:solidFill>
                <a:latin typeface="Arial"/>
                <a:ea typeface="Arial"/>
                <a:cs typeface="Arial"/>
              </a:defRPr>
            </a:pPr>
            <a:r>
              <a:rPr sz="2475" b="0">
                <a:solidFill>
                  <a:srgbClr val="142D3D"/>
                </a:solidFill>
                <a:latin typeface="Arial"/>
                <a:ea typeface="Arial"/>
                <a:cs typeface="Arial"/>
              </a:rPr>
              <a:t>We measured source credit, conditional on the source being supplied.</a:t>
            </a:r>
          </a:p>
        </p:txBody>
      </p:sp>
    </p:spTree>
    <p:extLst>
      <p:ext uri="{BB962C8B-B14F-4D97-AF65-F5344CB8AC3E}">
        <p14:creationId xmlns:p14="http://schemas.microsoft.com/office/powerpoint/2010/main" val="1876180596"/>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948F265-377C-49FF-B65F-050DE3D4CCBF}"/>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E6934B58-0E57-4367-8818-109486000737}"/>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Our retrieval-augmented generation workflow</a:t>
            </a:r>
          </a:p>
        </p:txBody>
      </p:sp>
      <p:sp>
        <p:nvSpPr>
          <p:cNvPr id="3" name="">
            <a:extLst xmlns:a="http://schemas.openxmlformats.org/drawingml/2006/main">
              <a:ext uri="{FF2B5EF4-FFF2-40B4-BE49-F238E27FC236}">
                <a16:creationId xmlns:a16="http://schemas.microsoft.com/office/drawing/2014/main" id="{903B2781-0CBD-4588-84B8-2C0B9E7CBE3A}"/>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8CC430-7108-4A58-A386-6228502940CD}"/>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RAG-style workflow: retrieve saved evidence, supply it to the model, then inspect the answer.</a:t>
            </a:r>
          </a:p>
        </p:txBody>
      </p:sp>
      <p:sp>
        <p:nvSpPr>
          <p:cNvPr id="5" name="">
            <a:extLst xmlns:a="http://schemas.openxmlformats.org/drawingml/2006/main">
              <a:ext uri="{FF2B5EF4-FFF2-40B4-BE49-F238E27FC236}">
                <a16:creationId xmlns:a16="http://schemas.microsoft.com/office/drawing/2014/main" id="{AEF82E05-67BE-45C8-A7F9-6C018E64BEE7}"/>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3 / 18   •   Evidence: C03, C09 | Full claim ledger in submission</a:t>
            </a:r>
          </a:p>
        </p:txBody>
      </p:sp>
      <p:sp>
        <p:nvSpPr>
          <p:cNvPr id="6" name="">
            <a:extLst xmlns:a="http://schemas.openxmlformats.org/drawingml/2006/main">
              <a:ext uri="{FF2B5EF4-FFF2-40B4-BE49-F238E27FC236}">
                <a16:creationId xmlns:a16="http://schemas.microsoft.com/office/drawing/2014/main" id="{D72DCF6D-CD87-4728-9B8F-399D75B4D5F0}"/>
              </a:ext>
            </a:extLst>
          </p:cNvPr>
          <p:cNvSpPr>
            <a:spLocks xmlns:a="http://schemas.openxmlformats.org/drawingml/2006/main" noGrp="1"/>
          </p:cNvSpPr>
          <p:nvPr/>
        </p:nvSpPr>
        <p:spPr>
          <a:xfrm xmlns:a="http://schemas.openxmlformats.org/drawingml/2006/main">
            <a:off x="619125" y="2838450"/>
            <a:ext cx="3143250" cy="179070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7" name="">
            <a:extLst xmlns:a="http://schemas.openxmlformats.org/drawingml/2006/main">
              <a:ext uri="{FF2B5EF4-FFF2-40B4-BE49-F238E27FC236}">
                <a16:creationId xmlns:a16="http://schemas.microsoft.com/office/drawing/2014/main" id="{8DB38239-CC3F-45CB-A44E-DCD18F8AD2C2}"/>
              </a:ext>
            </a:extLst>
          </p:cNvPr>
          <p:cNvSpPr>
            <a:spLocks xmlns:a="http://schemas.openxmlformats.org/drawingml/2006/main" noGrp="1"/>
          </p:cNvSpPr>
          <p:nvPr/>
        </p:nvSpPr>
        <p:spPr>
          <a:xfrm xmlns:a="http://schemas.openxmlformats.org/drawingml/2006/main">
            <a:off x="619125" y="2838450"/>
            <a:ext cx="66675" cy="179070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3CCE99-6FF3-4CB5-90EB-AE09FEC0C249}"/>
              </a:ext>
            </a:extLst>
          </p:cNvPr>
          <p:cNvSpPr>
            <a:spLocks xmlns:a="http://schemas.openxmlformats.org/drawingml/2006/main" noGrp="1"/>
          </p:cNvSpPr>
          <p:nvPr/>
        </p:nvSpPr>
        <p:spPr>
          <a:xfrm xmlns:a="http://schemas.openxmlformats.org/drawingml/2006/main">
            <a:off x="809625" y="29813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R  Retrieval</a:t>
            </a:r>
          </a:p>
        </p:txBody>
      </p:sp>
      <p:sp>
        <p:nvSpPr>
          <p:cNvPr id="9" name="">
            <a:extLst xmlns:a="http://schemas.openxmlformats.org/drawingml/2006/main">
              <a:ext uri="{FF2B5EF4-FFF2-40B4-BE49-F238E27FC236}">
                <a16:creationId xmlns:a16="http://schemas.microsoft.com/office/drawing/2014/main" id="{CCF8BA91-0CA2-4800-A1C5-F0020CFA10EE}"/>
              </a:ext>
            </a:extLst>
          </p:cNvPr>
          <p:cNvSpPr>
            <a:spLocks xmlns:a="http://schemas.openxmlformats.org/drawingml/2006/main" noGrp="1"/>
          </p:cNvSpPr>
          <p:nvPr/>
        </p:nvSpPr>
        <p:spPr>
          <a:xfrm xmlns:a="http://schemas.openxmlformats.org/drawingml/2006/main">
            <a:off x="809625" y="3571875"/>
            <a:ext cx="2762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Select saved pages</a:t>
            </a:r>
          </a:p>
        </p:txBody>
      </p:sp>
      <p:sp>
        <p:nvSpPr>
          <p:cNvPr id="10" name="">
            <a:extLst xmlns:a="http://schemas.openxmlformats.org/drawingml/2006/main">
              <a:ext uri="{FF2B5EF4-FFF2-40B4-BE49-F238E27FC236}">
                <a16:creationId xmlns:a16="http://schemas.microsoft.com/office/drawing/2014/main" id="{D670CAF7-1C0D-4FCE-A73A-B835606D8A6D}"/>
              </a:ext>
            </a:extLst>
          </p:cNvPr>
          <p:cNvSpPr>
            <a:spLocks xmlns:a="http://schemas.openxmlformats.org/drawingml/2006/main" noGrp="1"/>
          </p:cNvSpPr>
          <p:nvPr/>
        </p:nvSpPr>
        <p:spPr>
          <a:xfrm xmlns:a="http://schemas.openxmlformats.org/drawingml/2006/main">
            <a:off x="619125" y="498157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506574"/>
                </a:solidFill>
                <a:latin typeface="Arial"/>
                <a:ea typeface="Arial"/>
                <a:cs typeface="Arial"/>
              </a:defRPr>
            </a:defPPr>
          </a:lstStyle>
          <a:p xmlns:a="http://schemas.openxmlformats.org/drawingml/2006/main">
            <a:pPr>
              <a:defRPr sz="2025" b="0">
                <a:solidFill>
                  <a:srgbClr val="506574"/>
                </a:solidFill>
                <a:latin typeface="Arial"/>
                <a:ea typeface="Arial"/>
                <a:cs typeface="Arial"/>
              </a:defRPr>
            </a:pPr>
            <a:r>
              <a:rPr sz="2025" b="0">
                <a:solidFill>
                  <a:srgbClr val="506574"/>
                </a:solidFill>
                <a:latin typeface="Arial"/>
                <a:ea typeface="Arial"/>
                <a:cs typeface="Arial"/>
              </a:rPr>
              <a:t>Brave-derived source sets</a:t>
            </a:r>
          </a:p>
        </p:txBody>
      </p:sp>
      <p:sp>
        <p:nvSpPr>
          <p:cNvPr id="11" name="">
            <a:extLst xmlns:a="http://schemas.openxmlformats.org/drawingml/2006/main">
              <a:ext uri="{FF2B5EF4-FFF2-40B4-BE49-F238E27FC236}">
                <a16:creationId xmlns:a16="http://schemas.microsoft.com/office/drawing/2014/main" id="{3A171335-246C-4958-A8C9-E310520EEFBB}"/>
              </a:ext>
            </a:extLst>
          </p:cNvPr>
          <p:cNvSpPr>
            <a:spLocks xmlns:a="http://schemas.openxmlformats.org/drawingml/2006/main" noGrp="1"/>
          </p:cNvSpPr>
          <p:nvPr/>
        </p:nvSpPr>
        <p:spPr>
          <a:xfrm xmlns:a="http://schemas.openxmlformats.org/drawingml/2006/main">
            <a:off x="3857625" y="3571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A922C3-F79A-4180-9147-CA424F9A3EB0}"/>
              </a:ext>
            </a:extLst>
          </p:cNvPr>
          <p:cNvSpPr>
            <a:spLocks xmlns:a="http://schemas.openxmlformats.org/drawingml/2006/main" noGrp="1"/>
          </p:cNvSpPr>
          <p:nvPr/>
        </p:nvSpPr>
        <p:spPr>
          <a:xfrm xmlns:a="http://schemas.openxmlformats.org/drawingml/2006/main">
            <a:off x="4257675" y="2838450"/>
            <a:ext cx="3143250" cy="179070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3" name="">
            <a:extLst xmlns:a="http://schemas.openxmlformats.org/drawingml/2006/main">
              <a:ext uri="{FF2B5EF4-FFF2-40B4-BE49-F238E27FC236}">
                <a16:creationId xmlns:a16="http://schemas.microsoft.com/office/drawing/2014/main" id="{28B2374D-1DE7-4ACF-BDF1-31B5DBF4719A}"/>
              </a:ext>
            </a:extLst>
          </p:cNvPr>
          <p:cNvSpPr>
            <a:spLocks xmlns:a="http://schemas.openxmlformats.org/drawingml/2006/main" noGrp="1"/>
          </p:cNvSpPr>
          <p:nvPr/>
        </p:nvSpPr>
        <p:spPr>
          <a:xfrm xmlns:a="http://schemas.openxmlformats.org/drawingml/2006/main">
            <a:off x="4257675" y="2838450"/>
            <a:ext cx="66675" cy="179070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88B6F85-5A2B-4F4C-9DE6-2038179D8AF0}"/>
              </a:ext>
            </a:extLst>
          </p:cNvPr>
          <p:cNvSpPr>
            <a:spLocks xmlns:a="http://schemas.openxmlformats.org/drawingml/2006/main" noGrp="1"/>
          </p:cNvSpPr>
          <p:nvPr/>
        </p:nvSpPr>
        <p:spPr>
          <a:xfrm xmlns:a="http://schemas.openxmlformats.org/drawingml/2006/main">
            <a:off x="4448175" y="29813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A  Augmentation</a:t>
            </a:r>
          </a:p>
        </p:txBody>
      </p:sp>
      <p:sp>
        <p:nvSpPr>
          <p:cNvPr id="15" name="">
            <a:extLst xmlns:a="http://schemas.openxmlformats.org/drawingml/2006/main">
              <a:ext uri="{FF2B5EF4-FFF2-40B4-BE49-F238E27FC236}">
                <a16:creationId xmlns:a16="http://schemas.microsoft.com/office/drawing/2014/main" id="{41E12E54-F509-4BE6-8CD5-D1C56F6C9C09}"/>
              </a:ext>
            </a:extLst>
          </p:cNvPr>
          <p:cNvSpPr>
            <a:spLocks xmlns:a="http://schemas.openxmlformats.org/drawingml/2006/main" noGrp="1"/>
          </p:cNvSpPr>
          <p:nvPr/>
        </p:nvSpPr>
        <p:spPr>
          <a:xfrm xmlns:a="http://schemas.openxmlformats.org/drawingml/2006/main">
            <a:off x="4448175" y="3571875"/>
            <a:ext cx="2762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Put evidence in the prompt</a:t>
            </a:r>
          </a:p>
        </p:txBody>
      </p:sp>
      <p:sp>
        <p:nvSpPr>
          <p:cNvPr id="16" name="">
            <a:extLst xmlns:a="http://schemas.openxmlformats.org/drawingml/2006/main">
              <a:ext uri="{FF2B5EF4-FFF2-40B4-BE49-F238E27FC236}">
                <a16:creationId xmlns:a16="http://schemas.microsoft.com/office/drawing/2014/main" id="{DA35E89D-ADC5-46BF-9B00-A198F14D39F0}"/>
              </a:ext>
            </a:extLst>
          </p:cNvPr>
          <p:cNvSpPr>
            <a:spLocks xmlns:a="http://schemas.openxmlformats.org/drawingml/2006/main" noGrp="1"/>
          </p:cNvSpPr>
          <p:nvPr/>
        </p:nvSpPr>
        <p:spPr>
          <a:xfrm xmlns:a="http://schemas.openxmlformats.org/drawingml/2006/main">
            <a:off x="4257675" y="498157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506574"/>
                </a:solidFill>
                <a:latin typeface="Arial"/>
                <a:ea typeface="Arial"/>
                <a:cs typeface="Arial"/>
              </a:defRPr>
            </a:defPPr>
          </a:lstStyle>
          <a:p xmlns:a="http://schemas.openxmlformats.org/drawingml/2006/main">
            <a:pPr>
              <a:defRPr sz="2025" b="0">
                <a:solidFill>
                  <a:srgbClr val="506574"/>
                </a:solidFill>
                <a:latin typeface="Arial"/>
                <a:ea typeface="Arial"/>
                <a:cs typeface="Arial"/>
              </a:defRPr>
            </a:pPr>
            <a:r>
              <a:rPr sz="2025" b="0">
                <a:solidFill>
                  <a:srgbClr val="506574"/>
                </a:solidFill>
                <a:latin typeface="Arial"/>
                <a:ea typeface="Arial"/>
                <a:cs typeface="Arial"/>
              </a:rPr>
              <a:t>Question + numbered text</a:t>
            </a:r>
          </a:p>
        </p:txBody>
      </p:sp>
      <p:sp>
        <p:nvSpPr>
          <p:cNvPr id="17" name="">
            <a:extLst xmlns:a="http://schemas.openxmlformats.org/drawingml/2006/main">
              <a:ext uri="{FF2B5EF4-FFF2-40B4-BE49-F238E27FC236}">
                <a16:creationId xmlns:a16="http://schemas.microsoft.com/office/drawing/2014/main" id="{B178B350-E041-4496-BC81-0193BBFD0436}"/>
              </a:ext>
            </a:extLst>
          </p:cNvPr>
          <p:cNvSpPr>
            <a:spLocks xmlns:a="http://schemas.openxmlformats.org/drawingml/2006/main" noGrp="1"/>
          </p:cNvSpPr>
          <p:nvPr/>
        </p:nvSpPr>
        <p:spPr>
          <a:xfrm xmlns:a="http://schemas.openxmlformats.org/drawingml/2006/main">
            <a:off x="7496175" y="3571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B1C64B5-5250-4E8B-8CD5-2D2FCC93E78F}"/>
              </a:ext>
            </a:extLst>
          </p:cNvPr>
          <p:cNvSpPr>
            <a:spLocks xmlns:a="http://schemas.openxmlformats.org/drawingml/2006/main" noGrp="1"/>
          </p:cNvSpPr>
          <p:nvPr/>
        </p:nvSpPr>
        <p:spPr>
          <a:xfrm xmlns:a="http://schemas.openxmlformats.org/drawingml/2006/main">
            <a:off x="7896225" y="2838450"/>
            <a:ext cx="3143250" cy="179070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9" name="">
            <a:extLst xmlns:a="http://schemas.openxmlformats.org/drawingml/2006/main">
              <a:ext uri="{FF2B5EF4-FFF2-40B4-BE49-F238E27FC236}">
                <a16:creationId xmlns:a16="http://schemas.microsoft.com/office/drawing/2014/main" id="{5F6D5739-81B8-4197-AC89-5AC7BB888D99}"/>
              </a:ext>
            </a:extLst>
          </p:cNvPr>
          <p:cNvSpPr>
            <a:spLocks xmlns:a="http://schemas.openxmlformats.org/drawingml/2006/main" noGrp="1"/>
          </p:cNvSpPr>
          <p:nvPr/>
        </p:nvSpPr>
        <p:spPr>
          <a:xfrm xmlns:a="http://schemas.openxmlformats.org/drawingml/2006/main">
            <a:off x="7896225" y="2838450"/>
            <a:ext cx="66675" cy="179070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98A9E9F-B8E2-4904-8C97-B999B90F65D1}"/>
              </a:ext>
            </a:extLst>
          </p:cNvPr>
          <p:cNvSpPr>
            <a:spLocks xmlns:a="http://schemas.openxmlformats.org/drawingml/2006/main" noGrp="1"/>
          </p:cNvSpPr>
          <p:nvPr/>
        </p:nvSpPr>
        <p:spPr>
          <a:xfrm xmlns:a="http://schemas.openxmlformats.org/drawingml/2006/main">
            <a:off x="8086725" y="29813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G  Generation</a:t>
            </a:r>
          </a:p>
        </p:txBody>
      </p:sp>
      <p:sp>
        <p:nvSpPr>
          <p:cNvPr id="21" name="">
            <a:extLst xmlns:a="http://schemas.openxmlformats.org/drawingml/2006/main">
              <a:ext uri="{FF2B5EF4-FFF2-40B4-BE49-F238E27FC236}">
                <a16:creationId xmlns:a16="http://schemas.microsoft.com/office/drawing/2014/main" id="{15721D2B-5F19-4F68-A622-AAAACC7156E7}"/>
              </a:ext>
            </a:extLst>
          </p:cNvPr>
          <p:cNvSpPr>
            <a:spLocks xmlns:a="http://schemas.openxmlformats.org/drawingml/2006/main" noGrp="1"/>
          </p:cNvSpPr>
          <p:nvPr/>
        </p:nvSpPr>
        <p:spPr>
          <a:xfrm xmlns:a="http://schemas.openxmlformats.org/drawingml/2006/main">
            <a:off x="8086725" y="3571875"/>
            <a:ext cx="2762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Write an answer</a:t>
            </a:r>
          </a:p>
        </p:txBody>
      </p:sp>
      <p:sp>
        <p:nvSpPr>
          <p:cNvPr id="22" name="">
            <a:extLst xmlns:a="http://schemas.openxmlformats.org/drawingml/2006/main">
              <a:ext uri="{FF2B5EF4-FFF2-40B4-BE49-F238E27FC236}">
                <a16:creationId xmlns:a16="http://schemas.microsoft.com/office/drawing/2014/main" id="{8A4DD2EA-A3E1-4CBB-BAD7-7EEC74869B9B}"/>
              </a:ext>
            </a:extLst>
          </p:cNvPr>
          <p:cNvSpPr>
            <a:spLocks xmlns:a="http://schemas.openxmlformats.org/drawingml/2006/main" noGrp="1"/>
          </p:cNvSpPr>
          <p:nvPr/>
        </p:nvSpPr>
        <p:spPr>
          <a:xfrm xmlns:a="http://schemas.openxmlformats.org/drawingml/2006/main">
            <a:off x="7896225" y="498157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506574"/>
                </a:solidFill>
                <a:latin typeface="Arial"/>
                <a:ea typeface="Arial"/>
                <a:cs typeface="Arial"/>
              </a:defRPr>
            </a:defPPr>
          </a:lstStyle>
          <a:p xmlns:a="http://schemas.openxmlformats.org/drawingml/2006/main">
            <a:pPr>
              <a:defRPr sz="2025" b="0">
                <a:solidFill>
                  <a:srgbClr val="506574"/>
                </a:solidFill>
                <a:latin typeface="Arial"/>
                <a:ea typeface="Arial"/>
                <a:cs typeface="Arial"/>
              </a:defRPr>
            </a:pPr>
            <a:r>
              <a:rPr sz="2025" b="0">
                <a:solidFill>
                  <a:srgbClr val="506574"/>
                </a:solidFill>
                <a:latin typeface="Arial"/>
                <a:ea typeface="Arial"/>
                <a:cs typeface="Arial"/>
              </a:rPr>
              <a:t>Saved model: gpt-5.6-luna</a:t>
            </a:r>
          </a:p>
        </p:txBody>
      </p:sp>
      <p:sp>
        <p:nvSpPr>
          <p:cNvPr id="23" name="">
            <a:extLst xmlns:a="http://schemas.openxmlformats.org/drawingml/2006/main">
              <a:ext uri="{FF2B5EF4-FFF2-40B4-BE49-F238E27FC236}">
                <a16:creationId xmlns:a16="http://schemas.microsoft.com/office/drawing/2014/main" id="{39572854-DC13-44E1-BE0C-66525B8A06F5}"/>
              </a:ext>
            </a:extLst>
          </p:cNvPr>
          <p:cNvSpPr>
            <a:spLocks xmlns:a="http://schemas.openxmlformats.org/drawingml/2006/main" noGrp="1"/>
          </p:cNvSpPr>
          <p:nvPr/>
        </p:nvSpPr>
        <p:spPr>
          <a:xfrm xmlns:a="http://schemas.openxmlformats.org/drawingml/2006/main">
            <a:off x="11134725" y="357187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BCB42E1-1A6B-4EBF-8582-D84EDD7495FB}"/>
              </a:ext>
            </a:extLst>
          </p:cNvPr>
          <p:cNvSpPr>
            <a:spLocks xmlns:a="http://schemas.openxmlformats.org/drawingml/2006/main" noGrp="1"/>
          </p:cNvSpPr>
          <p:nvPr/>
        </p:nvSpPr>
        <p:spPr>
          <a:xfrm xmlns:a="http://schemas.openxmlformats.org/drawingml/2006/main">
            <a:off x="11534775" y="2838450"/>
            <a:ext cx="3143250" cy="1790700"/>
          </a:xfrm>
          <a:prstGeom xmlns:a="http://schemas.openxmlformats.org/drawingml/2006/main" prst="rect">
            <a:avLst/>
          </a:prstGeom>
          <a:solidFill xmlns:a="http://schemas.openxmlformats.org/drawingml/2006/main">
            <a:srgbClr val="FFFFFF"/>
          </a:solidFill>
          <a:ln xmlns:a="http://schemas.openxmlformats.org/drawingml/2006/main" w="19050">
            <a:solidFill>
              <a:srgbClr val="B42146"/>
            </a:solidFill>
          </a:ln>
        </p:spPr>
      </p:sp>
      <p:sp>
        <p:nvSpPr>
          <p:cNvPr id="25" name="">
            <a:extLst xmlns:a="http://schemas.openxmlformats.org/drawingml/2006/main">
              <a:ext uri="{FF2B5EF4-FFF2-40B4-BE49-F238E27FC236}">
                <a16:creationId xmlns:a16="http://schemas.microsoft.com/office/drawing/2014/main" id="{364173AD-EE1E-4D5D-9BB3-8198AAFFD1A9}"/>
              </a:ext>
            </a:extLst>
          </p:cNvPr>
          <p:cNvSpPr>
            <a:spLocks xmlns:a="http://schemas.openxmlformats.org/drawingml/2006/main" noGrp="1"/>
          </p:cNvSpPr>
          <p:nvPr/>
        </p:nvSpPr>
        <p:spPr>
          <a:xfrm xmlns:a="http://schemas.openxmlformats.org/drawingml/2006/main">
            <a:off x="11534775" y="2838450"/>
            <a:ext cx="66675" cy="1790700"/>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659F0AB-08E9-4BCD-B88A-6D446D9E342A}"/>
              </a:ext>
            </a:extLst>
          </p:cNvPr>
          <p:cNvSpPr>
            <a:spLocks xmlns:a="http://schemas.openxmlformats.org/drawingml/2006/main" noGrp="1"/>
          </p:cNvSpPr>
          <p:nvPr/>
        </p:nvSpPr>
        <p:spPr>
          <a:xfrm xmlns:a="http://schemas.openxmlformats.org/drawingml/2006/main">
            <a:off x="11725275" y="29813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Evaluation</a:t>
            </a:r>
          </a:p>
        </p:txBody>
      </p:sp>
      <p:sp>
        <p:nvSpPr>
          <p:cNvPr id="27" name="">
            <a:extLst xmlns:a="http://schemas.openxmlformats.org/drawingml/2006/main">
              <a:ext uri="{FF2B5EF4-FFF2-40B4-BE49-F238E27FC236}">
                <a16:creationId xmlns:a16="http://schemas.microsoft.com/office/drawing/2014/main" id="{AF40CA77-9738-416D-BA4F-CCB9044EFF64}"/>
              </a:ext>
            </a:extLst>
          </p:cNvPr>
          <p:cNvSpPr>
            <a:spLocks xmlns:a="http://schemas.openxmlformats.org/drawingml/2006/main" noGrp="1"/>
          </p:cNvSpPr>
          <p:nvPr/>
        </p:nvSpPr>
        <p:spPr>
          <a:xfrm xmlns:a="http://schemas.openxmlformats.org/drawingml/2006/main">
            <a:off x="11725275" y="3571875"/>
            <a:ext cx="2762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Count FC citations</a:t>
            </a:r>
          </a:p>
        </p:txBody>
      </p:sp>
      <p:sp>
        <p:nvSpPr>
          <p:cNvPr id="28" name="">
            <a:extLst xmlns:a="http://schemas.openxmlformats.org/drawingml/2006/main">
              <a:ext uri="{FF2B5EF4-FFF2-40B4-BE49-F238E27FC236}">
                <a16:creationId xmlns:a16="http://schemas.microsoft.com/office/drawing/2014/main" id="{4E91A2BC-03E6-4F98-A314-3587B6389783}"/>
              </a:ext>
            </a:extLst>
          </p:cNvPr>
          <p:cNvSpPr>
            <a:spLocks xmlns:a="http://schemas.openxmlformats.org/drawingml/2006/main" noGrp="1"/>
          </p:cNvSpPr>
          <p:nvPr/>
        </p:nvSpPr>
        <p:spPr>
          <a:xfrm xmlns:a="http://schemas.openxmlformats.org/drawingml/2006/main">
            <a:off x="11534775" y="498157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506574"/>
                </a:solidFill>
                <a:latin typeface="Arial"/>
                <a:ea typeface="Arial"/>
                <a:cs typeface="Arial"/>
              </a:defRPr>
            </a:defPPr>
          </a:lstStyle>
          <a:p xmlns:a="http://schemas.openxmlformats.org/drawingml/2006/main">
            <a:pPr>
              <a:defRPr sz="2025" b="0">
                <a:solidFill>
                  <a:srgbClr val="506574"/>
                </a:solidFill>
                <a:latin typeface="Arial"/>
                <a:ea typeface="Arial"/>
                <a:cs typeface="Arial"/>
              </a:defRPr>
            </a:pPr>
            <a:r>
              <a:rPr sz="2025" b="0">
                <a:solidFill>
                  <a:srgbClr val="506574"/>
                </a:solidFill>
                <a:latin typeface="Arial"/>
                <a:ea typeface="Arial"/>
                <a:cs typeface="Arial"/>
              </a:rPr>
              <a:t>Source map + answer record</a:t>
            </a:r>
          </a:p>
        </p:txBody>
      </p:sp>
      <p:sp>
        <p:nvSpPr>
          <p:cNvPr id="29" name="">
            <a:extLst xmlns:a="http://schemas.openxmlformats.org/drawingml/2006/main">
              <a:ext uri="{FF2B5EF4-FFF2-40B4-BE49-F238E27FC236}">
                <a16:creationId xmlns:a16="http://schemas.microsoft.com/office/drawing/2014/main" id="{D2319F1E-B2D4-4D2F-8E28-238615BB6E19}"/>
              </a:ext>
            </a:extLst>
          </p:cNvPr>
          <p:cNvSpPr>
            <a:spLocks xmlns:a="http://schemas.openxmlformats.org/drawingml/2006/main" noGrp="1"/>
          </p:cNvSpPr>
          <p:nvPr/>
        </p:nvSpPr>
        <p:spPr>
          <a:xfrm xmlns:a="http://schemas.openxmlformats.org/drawingml/2006/main">
            <a:off x="619125" y="6372225"/>
            <a:ext cx="14001750" cy="790575"/>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1BA04DA-8856-4571-BDDF-F7046C34FE06}"/>
              </a:ext>
            </a:extLst>
          </p:cNvPr>
          <p:cNvSpPr>
            <a:spLocks xmlns:a="http://schemas.openxmlformats.org/drawingml/2006/main" noGrp="1"/>
          </p:cNvSpPr>
          <p:nvPr/>
        </p:nvSpPr>
        <p:spPr>
          <a:xfrm xmlns:a="http://schemas.openxmlformats.org/drawingml/2006/main">
            <a:off x="790575" y="6477000"/>
            <a:ext cx="13620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42D3D"/>
                </a:solidFill>
                <a:latin typeface="Arial"/>
                <a:ea typeface="Arial"/>
                <a:cs typeface="Arial"/>
              </a:defRPr>
            </a:defPPr>
          </a:lstStyle>
          <a:p xmlns:a="http://schemas.openxmlformats.org/drawingml/2006/main">
            <a:pPr>
              <a:defRPr sz="2175" b="1">
                <a:solidFill>
                  <a:srgbClr val="142D3D"/>
                </a:solidFill>
                <a:latin typeface="Arial"/>
                <a:ea typeface="Arial"/>
                <a:cs typeface="Arial"/>
              </a:defRPr>
            </a:pPr>
            <a:r>
              <a:rPr sz="2175" b="1">
                <a:solidFill>
                  <a:srgbClr val="142D3D"/>
                </a:solidFill>
                <a:latin typeface="Arial"/>
                <a:ea typeface="Arial"/>
                <a:cs typeface="Arial"/>
              </a:rPr>
              <a:t>Fixed branch: retrieval happened earlier. No live search, fine-tuning or agent tool loop during answer generation.</a:t>
            </a:r>
          </a:p>
        </p:txBody>
      </p:sp>
    </p:spTree>
    <p:extLst>
      <p:ext uri="{BB962C8B-B14F-4D97-AF65-F5344CB8AC3E}">
        <p14:creationId xmlns:p14="http://schemas.microsoft.com/office/powerpoint/2010/main" val="1537994924"/>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F72F4E0-B250-41FF-ACAE-D789A07AC206}"/>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A14BF4C5-1DAF-4FC0-BB04-484FAB467FE9}"/>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A matched comparison of two reading packs</a:t>
            </a:r>
          </a:p>
        </p:txBody>
      </p:sp>
      <p:sp>
        <p:nvSpPr>
          <p:cNvPr id="3" name="">
            <a:extLst xmlns:a="http://schemas.openxmlformats.org/drawingml/2006/main">
              <a:ext uri="{FF2B5EF4-FFF2-40B4-BE49-F238E27FC236}">
                <a16:creationId xmlns:a16="http://schemas.microsoft.com/office/drawing/2014/main" id="{0FAA3AD1-A8D9-4FC0-9C5E-0D635FCD4E05}"/>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D2A871-419C-4FD8-8299-302100C645FA}"/>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29 eligible questions × 2 source arrangements × 5 repeats = 290 answers per condition.</a:t>
            </a:r>
          </a:p>
        </p:txBody>
      </p:sp>
      <p:sp>
        <p:nvSpPr>
          <p:cNvPr id="5" name="">
            <a:extLst xmlns:a="http://schemas.openxmlformats.org/drawingml/2006/main">
              <a:ext uri="{FF2B5EF4-FFF2-40B4-BE49-F238E27FC236}">
                <a16:creationId xmlns:a16="http://schemas.microsoft.com/office/drawing/2014/main" id="{E76E7175-B20E-4717-971A-50824D4EB97C}"/>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4 / 18   •   Evidence: C02, C03, C09, C10 | Full claim ledger in submission</a:t>
            </a:r>
          </a:p>
        </p:txBody>
      </p:sp>
      <p:sp>
        <p:nvSpPr>
          <p:cNvPr id="6" name="">
            <a:extLst xmlns:a="http://schemas.openxmlformats.org/drawingml/2006/main">
              <a:ext uri="{FF2B5EF4-FFF2-40B4-BE49-F238E27FC236}">
                <a16:creationId xmlns:a16="http://schemas.microsoft.com/office/drawing/2014/main" id="{2C60F37F-6286-45D8-B9AC-7B4F3C57795D}"/>
              </a:ext>
            </a:extLst>
          </p:cNvPr>
          <p:cNvSpPr>
            <a:spLocks xmlns:a="http://schemas.openxmlformats.org/drawingml/2006/main" noGrp="1"/>
          </p:cNvSpPr>
          <p:nvPr/>
        </p:nvSpPr>
        <p:spPr>
          <a:xfrm xmlns:a="http://schemas.openxmlformats.org/drawingml/2006/main">
            <a:off x="619125" y="2238375"/>
            <a:ext cx="428625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7" name="">
            <a:extLst xmlns:a="http://schemas.openxmlformats.org/drawingml/2006/main">
              <a:ext uri="{FF2B5EF4-FFF2-40B4-BE49-F238E27FC236}">
                <a16:creationId xmlns:a16="http://schemas.microsoft.com/office/drawing/2014/main" id="{0AEAF174-E631-4C39-BA26-5812135BD203}"/>
              </a:ext>
            </a:extLst>
          </p:cNvPr>
          <p:cNvSpPr>
            <a:spLocks xmlns:a="http://schemas.openxmlformats.org/drawingml/2006/main" noGrp="1"/>
          </p:cNvSpPr>
          <p:nvPr/>
        </p:nvSpPr>
        <p:spPr>
          <a:xfrm xmlns:a="http://schemas.openxmlformats.org/drawingml/2006/main">
            <a:off x="619125" y="2238375"/>
            <a:ext cx="66675" cy="138112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9A1D8A0-AF97-4B6A-94B0-CD67DF97140B}"/>
              </a:ext>
            </a:extLst>
          </p:cNvPr>
          <p:cNvSpPr>
            <a:spLocks xmlns:a="http://schemas.openxmlformats.org/drawingml/2006/main" noGrp="1"/>
          </p:cNvSpPr>
          <p:nvPr/>
        </p:nvSpPr>
        <p:spPr>
          <a:xfrm xmlns:a="http://schemas.openxmlformats.org/drawingml/2006/main">
            <a:off x="809625" y="238125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Search</a:t>
            </a:r>
          </a:p>
        </p:txBody>
      </p:sp>
      <p:sp>
        <p:nvSpPr>
          <p:cNvPr id="9" name="">
            <a:extLst xmlns:a="http://schemas.openxmlformats.org/drawingml/2006/main">
              <a:ext uri="{FF2B5EF4-FFF2-40B4-BE49-F238E27FC236}">
                <a16:creationId xmlns:a16="http://schemas.microsoft.com/office/drawing/2014/main" id="{4CAB57F1-E8CF-47A8-BCF3-9A171342E75D}"/>
              </a:ext>
            </a:extLst>
          </p:cNvPr>
          <p:cNvSpPr>
            <a:spLocks xmlns:a="http://schemas.openxmlformats.org/drawingml/2006/main" noGrp="1"/>
          </p:cNvSpPr>
          <p:nvPr/>
        </p:nvSpPr>
        <p:spPr>
          <a:xfrm xmlns:a="http://schemas.openxmlformats.org/drawingml/2006/main">
            <a:off x="809625" y="29718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3 variants; merge ≤20</a:t>
            </a:r>
          </a:p>
        </p:txBody>
      </p:sp>
      <p:sp>
        <p:nvSpPr>
          <p:cNvPr id="10" name="">
            <a:extLst xmlns:a="http://schemas.openxmlformats.org/drawingml/2006/main">
              <a:ext uri="{FF2B5EF4-FFF2-40B4-BE49-F238E27FC236}">
                <a16:creationId xmlns:a16="http://schemas.microsoft.com/office/drawing/2014/main" id="{FB1A9764-C7DE-449A-9DC4-172B98F4CAD2}"/>
              </a:ext>
            </a:extLst>
          </p:cNvPr>
          <p:cNvSpPr>
            <a:spLocks xmlns:a="http://schemas.openxmlformats.org/drawingml/2006/main" noGrp="1"/>
          </p:cNvSpPr>
          <p:nvPr/>
        </p:nvSpPr>
        <p:spPr>
          <a:xfrm xmlns:a="http://schemas.openxmlformats.org/drawingml/2006/main">
            <a:off x="4981575" y="2809875"/>
            <a:ext cx="428625"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6D1090-B360-4475-B6C7-2614F84FCDC4}"/>
              </a:ext>
            </a:extLst>
          </p:cNvPr>
          <p:cNvSpPr>
            <a:spLocks xmlns:a="http://schemas.openxmlformats.org/drawingml/2006/main" noGrp="1"/>
          </p:cNvSpPr>
          <p:nvPr/>
        </p:nvSpPr>
        <p:spPr>
          <a:xfrm xmlns:a="http://schemas.openxmlformats.org/drawingml/2006/main">
            <a:off x="5476875" y="2238375"/>
            <a:ext cx="428625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2" name="">
            <a:extLst xmlns:a="http://schemas.openxmlformats.org/drawingml/2006/main">
              <a:ext uri="{FF2B5EF4-FFF2-40B4-BE49-F238E27FC236}">
                <a16:creationId xmlns:a16="http://schemas.microsoft.com/office/drawing/2014/main" id="{F42A6065-4A7A-48C1-8A8C-089ADE4C892E}"/>
              </a:ext>
            </a:extLst>
          </p:cNvPr>
          <p:cNvSpPr>
            <a:spLocks xmlns:a="http://schemas.openxmlformats.org/drawingml/2006/main" noGrp="1"/>
          </p:cNvSpPr>
          <p:nvPr/>
        </p:nvSpPr>
        <p:spPr>
          <a:xfrm xmlns:a="http://schemas.openxmlformats.org/drawingml/2006/main">
            <a:off x="5476875" y="2238375"/>
            <a:ext cx="66675" cy="138112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DE025BF-7357-43A4-BF97-48BBEB44DC93}"/>
              </a:ext>
            </a:extLst>
          </p:cNvPr>
          <p:cNvSpPr>
            <a:spLocks xmlns:a="http://schemas.openxmlformats.org/drawingml/2006/main" noGrp="1"/>
          </p:cNvSpPr>
          <p:nvPr/>
        </p:nvSpPr>
        <p:spPr>
          <a:xfrm xmlns:a="http://schemas.openxmlformats.org/drawingml/2006/main">
            <a:off x="5667375" y="238125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Freeze</a:t>
            </a:r>
          </a:p>
        </p:txBody>
      </p:sp>
      <p:sp>
        <p:nvSpPr>
          <p:cNvPr id="14" name="">
            <a:extLst xmlns:a="http://schemas.openxmlformats.org/drawingml/2006/main">
              <a:ext uri="{FF2B5EF4-FFF2-40B4-BE49-F238E27FC236}">
                <a16:creationId xmlns:a16="http://schemas.microsoft.com/office/drawing/2014/main" id="{356A1C3B-F783-49B5-8FA4-79081E655599}"/>
              </a:ext>
            </a:extLst>
          </p:cNvPr>
          <p:cNvSpPr>
            <a:spLocks xmlns:a="http://schemas.openxmlformats.org/drawingml/2006/main" noGrp="1"/>
          </p:cNvSpPr>
          <p:nvPr/>
        </p:nvSpPr>
        <p:spPr>
          <a:xfrm xmlns:a="http://schemas.openxmlformats.org/drawingml/2006/main">
            <a:off x="5667375" y="29718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First-ten source pool</a:t>
            </a:r>
          </a:p>
        </p:txBody>
      </p:sp>
      <p:sp>
        <p:nvSpPr>
          <p:cNvPr id="15" name="">
            <a:extLst xmlns:a="http://schemas.openxmlformats.org/drawingml/2006/main">
              <a:ext uri="{FF2B5EF4-FFF2-40B4-BE49-F238E27FC236}">
                <a16:creationId xmlns:a16="http://schemas.microsoft.com/office/drawing/2014/main" id="{8EEE80C6-A0E4-4A2F-AB44-E1CDAB2BC5C6}"/>
              </a:ext>
            </a:extLst>
          </p:cNvPr>
          <p:cNvSpPr>
            <a:spLocks xmlns:a="http://schemas.openxmlformats.org/drawingml/2006/main" noGrp="1"/>
          </p:cNvSpPr>
          <p:nvPr/>
        </p:nvSpPr>
        <p:spPr>
          <a:xfrm xmlns:a="http://schemas.openxmlformats.org/drawingml/2006/main">
            <a:off x="9839325" y="2809875"/>
            <a:ext cx="428625"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78DF393-B114-48DC-9C53-52FDA120743D}"/>
              </a:ext>
            </a:extLst>
          </p:cNvPr>
          <p:cNvSpPr>
            <a:spLocks xmlns:a="http://schemas.openxmlformats.org/drawingml/2006/main" noGrp="1"/>
          </p:cNvSpPr>
          <p:nvPr/>
        </p:nvSpPr>
        <p:spPr>
          <a:xfrm xmlns:a="http://schemas.openxmlformats.org/drawingml/2006/main">
            <a:off x="10334625" y="2238375"/>
            <a:ext cx="428625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7" name="">
            <a:extLst xmlns:a="http://schemas.openxmlformats.org/drawingml/2006/main">
              <a:ext uri="{FF2B5EF4-FFF2-40B4-BE49-F238E27FC236}">
                <a16:creationId xmlns:a16="http://schemas.microsoft.com/office/drawing/2014/main" id="{1D4D6A4C-1A2B-4157-A3A4-F962B481F74E}"/>
              </a:ext>
            </a:extLst>
          </p:cNvPr>
          <p:cNvSpPr>
            <a:spLocks xmlns:a="http://schemas.openxmlformats.org/drawingml/2006/main" noGrp="1"/>
          </p:cNvSpPr>
          <p:nvPr/>
        </p:nvSpPr>
        <p:spPr>
          <a:xfrm xmlns:a="http://schemas.openxmlformats.org/drawingml/2006/main">
            <a:off x="10334625" y="2238375"/>
            <a:ext cx="66675" cy="138112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13DC6B7-66C4-4364-9120-B59E2F32D2F1}"/>
              </a:ext>
            </a:extLst>
          </p:cNvPr>
          <p:cNvSpPr>
            <a:spLocks xmlns:a="http://schemas.openxmlformats.org/drawingml/2006/main" noGrp="1"/>
          </p:cNvSpPr>
          <p:nvPr/>
        </p:nvSpPr>
        <p:spPr>
          <a:xfrm xmlns:a="http://schemas.openxmlformats.org/drawingml/2006/main">
            <a:off x="10525125" y="238125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Eligibility</a:t>
            </a:r>
          </a:p>
        </p:txBody>
      </p:sp>
      <p:sp>
        <p:nvSpPr>
          <p:cNvPr id="19" name="">
            <a:extLst xmlns:a="http://schemas.openxmlformats.org/drawingml/2006/main">
              <a:ext uri="{FF2B5EF4-FFF2-40B4-BE49-F238E27FC236}">
                <a16:creationId xmlns:a16="http://schemas.microsoft.com/office/drawing/2014/main" id="{8A430479-D8CF-4062-B7CB-DA049FB00BDF}"/>
              </a:ext>
            </a:extLst>
          </p:cNvPr>
          <p:cNvSpPr>
            <a:spLocks xmlns:a="http://schemas.openxmlformats.org/drawingml/2006/main" noGrp="1"/>
          </p:cNvSpPr>
          <p:nvPr/>
        </p:nvSpPr>
        <p:spPr>
          <a:xfrm xmlns:a="http://schemas.openxmlformats.org/drawingml/2006/main">
            <a:off x="10525125" y="29718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29 of 40 primary tasks</a:t>
            </a:r>
          </a:p>
        </p:txBody>
      </p:sp>
      <p:sp>
        <p:nvSpPr>
          <p:cNvPr id="20" name="">
            <a:extLst xmlns:a="http://schemas.openxmlformats.org/drawingml/2006/main">
              <a:ext uri="{FF2B5EF4-FFF2-40B4-BE49-F238E27FC236}">
                <a16:creationId xmlns:a16="http://schemas.microsoft.com/office/drawing/2014/main" id="{94F317F8-A7D4-4AF6-A186-A8115D6DAD8D}"/>
              </a:ext>
            </a:extLst>
          </p:cNvPr>
          <p:cNvSpPr>
            <a:spLocks xmlns:a="http://schemas.openxmlformats.org/drawingml/2006/main" noGrp="1"/>
          </p:cNvSpPr>
          <p:nvPr/>
        </p:nvSpPr>
        <p:spPr>
          <a:xfrm xmlns:a="http://schemas.openxmlformats.org/drawingml/2006/main">
            <a:off x="619125" y="4048125"/>
            <a:ext cx="647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87D82"/>
                </a:solidFill>
                <a:latin typeface="Arial"/>
                <a:ea typeface="Arial"/>
                <a:cs typeface="Arial"/>
              </a:defRPr>
            </a:defPPr>
          </a:lstStyle>
          <a:p xmlns:a="http://schemas.openxmlformats.org/drawingml/2006/main">
            <a:pPr>
              <a:defRPr sz="1725" b="1">
                <a:solidFill>
                  <a:srgbClr val="087D82"/>
                </a:solidFill>
                <a:latin typeface="Arial"/>
                <a:ea typeface="Arial"/>
                <a:cs typeface="Arial"/>
              </a:defRPr>
            </a:pPr>
            <a:r>
              <a:rPr sz="1725" b="1">
                <a:solidFill>
                  <a:srgbClr val="087D82"/>
                </a:solidFill>
                <a:latin typeface="Arial"/>
                <a:ea typeface="Arial"/>
                <a:cs typeface="Arial"/>
              </a:rPr>
              <a:t>BASELINE</a:t>
            </a:r>
          </a:p>
        </p:txBody>
      </p:sp>
      <p:sp>
        <p:nvSpPr>
          <p:cNvPr id="21" name="">
            <a:extLst xmlns:a="http://schemas.openxmlformats.org/drawingml/2006/main">
              <a:ext uri="{FF2B5EF4-FFF2-40B4-BE49-F238E27FC236}">
                <a16:creationId xmlns:a16="http://schemas.microsoft.com/office/drawing/2014/main" id="{378ABC58-4678-43BB-BD28-4AFD1CB72946}"/>
              </a:ext>
            </a:extLst>
          </p:cNvPr>
          <p:cNvSpPr>
            <a:spLocks xmlns:a="http://schemas.openxmlformats.org/drawingml/2006/main" noGrp="1"/>
          </p:cNvSpPr>
          <p:nvPr/>
        </p:nvSpPr>
        <p:spPr>
          <a:xfrm xmlns:a="http://schemas.openxmlformats.org/drawingml/2006/main">
            <a:off x="619125" y="4562475"/>
            <a:ext cx="6477000" cy="1809750"/>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F4BC6D9-F6EC-434E-B3BD-A51F4255AFD0}"/>
              </a:ext>
            </a:extLst>
          </p:cNvPr>
          <p:cNvSpPr>
            <a:spLocks xmlns:a="http://schemas.openxmlformats.org/drawingml/2006/main" noGrp="1"/>
          </p:cNvSpPr>
          <p:nvPr/>
        </p:nvSpPr>
        <p:spPr>
          <a:xfrm xmlns:a="http://schemas.openxmlformats.org/drawingml/2006/main">
            <a:off x="809625" y="4714875"/>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1">
                <a:solidFill>
                  <a:srgbClr val="142D3D"/>
                </a:solidFill>
                <a:latin typeface="Arial"/>
                <a:ea typeface="Arial"/>
                <a:cs typeface="Arial"/>
              </a:defRPr>
            </a:defPPr>
          </a:lstStyle>
          <a:p xmlns:a="http://schemas.openxmlformats.org/drawingml/2006/main">
            <a:pPr>
              <a:defRPr sz="2475" b="1">
                <a:solidFill>
                  <a:srgbClr val="142D3D"/>
                </a:solidFill>
                <a:latin typeface="Arial"/>
                <a:ea typeface="Arial"/>
                <a:cs typeface="Arial"/>
              </a:defRPr>
            </a:pPr>
            <a:r>
              <a:rPr sz="2475" b="1">
                <a:solidFill>
                  <a:srgbClr val="142D3D"/>
                </a:solidFill>
                <a:latin typeface="Arial"/>
                <a:ea typeface="Arial"/>
                <a:cs typeface="Arial"/>
              </a:rPr>
              <a:t>Saved FC text</a:t>
            </a:r>
          </a:p>
        </p:txBody>
      </p:sp>
      <p:sp>
        <p:nvSpPr>
          <p:cNvPr id="23" name="">
            <a:extLst xmlns:a="http://schemas.openxmlformats.org/drawingml/2006/main">
              <a:ext uri="{FF2B5EF4-FFF2-40B4-BE49-F238E27FC236}">
                <a16:creationId xmlns:a16="http://schemas.microsoft.com/office/drawing/2014/main" id="{04DB8E3F-248F-450A-8FEC-585225D6F886}"/>
              </a:ext>
            </a:extLst>
          </p:cNvPr>
          <p:cNvSpPr>
            <a:spLocks xmlns:a="http://schemas.openxmlformats.org/drawingml/2006/main" noGrp="1"/>
          </p:cNvSpPr>
          <p:nvPr/>
        </p:nvSpPr>
        <p:spPr>
          <a:xfrm xmlns:a="http://schemas.openxmlformats.org/drawingml/2006/main">
            <a:off x="809625" y="5381625"/>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42D3D"/>
                </a:solidFill>
                <a:latin typeface="Arial"/>
                <a:ea typeface="Arial"/>
                <a:cs typeface="Arial"/>
              </a:defRPr>
            </a:defPPr>
          </a:lstStyle>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Same question, source URLs/order,</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competitor text and instruction</a:t>
            </a:r>
          </a:p>
        </p:txBody>
      </p:sp>
      <p:sp>
        <p:nvSpPr>
          <p:cNvPr id="24" name="">
            <a:extLst xmlns:a="http://schemas.openxmlformats.org/drawingml/2006/main">
              <a:ext uri="{FF2B5EF4-FFF2-40B4-BE49-F238E27FC236}">
                <a16:creationId xmlns:a16="http://schemas.microsoft.com/office/drawing/2014/main" id="{382DA1D3-BA62-4267-8A88-3D16BCCCC9EA}"/>
              </a:ext>
            </a:extLst>
          </p:cNvPr>
          <p:cNvSpPr>
            <a:spLocks xmlns:a="http://schemas.openxmlformats.org/drawingml/2006/main" noGrp="1"/>
          </p:cNvSpPr>
          <p:nvPr/>
        </p:nvSpPr>
        <p:spPr>
          <a:xfrm xmlns:a="http://schemas.openxmlformats.org/drawingml/2006/main">
            <a:off x="8143875" y="4048125"/>
            <a:ext cx="647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B42146"/>
                </a:solidFill>
                <a:latin typeface="Arial"/>
                <a:ea typeface="Arial"/>
                <a:cs typeface="Arial"/>
              </a:defRPr>
            </a:defPPr>
          </a:lstStyle>
          <a:p xmlns:a="http://schemas.openxmlformats.org/drawingml/2006/main">
            <a:pPr>
              <a:defRPr sz="1725" b="1">
                <a:solidFill>
                  <a:srgbClr val="B42146"/>
                </a:solidFill>
                <a:latin typeface="Arial"/>
                <a:ea typeface="Arial"/>
                <a:cs typeface="Arial"/>
              </a:defRPr>
            </a:pPr>
            <a:r>
              <a:rPr sz="1725" b="1">
                <a:solidFill>
                  <a:srgbClr val="B42146"/>
                </a:solidFill>
                <a:latin typeface="Arial"/>
                <a:ea typeface="Arial"/>
                <a:cs typeface="Arial"/>
              </a:rPr>
              <a:t>TREATMENT</a:t>
            </a:r>
          </a:p>
        </p:txBody>
      </p:sp>
      <p:sp>
        <p:nvSpPr>
          <p:cNvPr id="25" name="">
            <a:extLst xmlns:a="http://schemas.openxmlformats.org/drawingml/2006/main">
              <a:ext uri="{FF2B5EF4-FFF2-40B4-BE49-F238E27FC236}">
                <a16:creationId xmlns:a16="http://schemas.microsoft.com/office/drawing/2014/main" id="{D5F4C9DF-1194-450F-80EF-DE21254FEB5F}"/>
              </a:ext>
            </a:extLst>
          </p:cNvPr>
          <p:cNvSpPr>
            <a:spLocks xmlns:a="http://schemas.openxmlformats.org/drawingml/2006/main" noGrp="1"/>
          </p:cNvSpPr>
          <p:nvPr/>
        </p:nvSpPr>
        <p:spPr>
          <a:xfrm xmlns:a="http://schemas.openxmlformats.org/drawingml/2006/main">
            <a:off x="8143875" y="4562475"/>
            <a:ext cx="6477000" cy="1809750"/>
          </a:xfrm>
          <a:prstGeom xmlns:a="http://schemas.openxmlformats.org/drawingml/2006/main" prst="rect">
            <a:avLst/>
          </a:prstGeom>
          <a:solidFill xmlns:a="http://schemas.openxmlformats.org/drawingml/2006/main">
            <a:srgbClr val="F5E7EB"/>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39DE3FF-11D7-41A6-B1D0-795868CC699C}"/>
              </a:ext>
            </a:extLst>
          </p:cNvPr>
          <p:cNvSpPr>
            <a:spLocks xmlns:a="http://schemas.openxmlformats.org/drawingml/2006/main" noGrp="1"/>
          </p:cNvSpPr>
          <p:nvPr/>
        </p:nvSpPr>
        <p:spPr>
          <a:xfrm xmlns:a="http://schemas.openxmlformats.org/drawingml/2006/main">
            <a:off x="8334375" y="4714875"/>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1">
                <a:solidFill>
                  <a:srgbClr val="142D3D"/>
                </a:solidFill>
                <a:latin typeface="Arial"/>
                <a:ea typeface="Arial"/>
                <a:cs typeface="Arial"/>
              </a:defRPr>
            </a:defPPr>
          </a:lstStyle>
          <a:p xmlns:a="http://schemas.openxmlformats.org/drawingml/2006/main">
            <a:pPr>
              <a:defRPr sz="2475" b="1">
                <a:solidFill>
                  <a:srgbClr val="142D3D"/>
                </a:solidFill>
                <a:latin typeface="Arial"/>
                <a:ea typeface="Arial"/>
                <a:cs typeface="Arial"/>
              </a:defRPr>
            </a:pPr>
            <a:r>
              <a:rPr sz="2475" b="1">
                <a:solidFill>
                  <a:srgbClr val="142D3D"/>
                </a:solidFill>
                <a:latin typeface="Arial"/>
                <a:ea typeface="Arial"/>
                <a:cs typeface="Arial"/>
              </a:rPr>
              <a:t>Selected FC page output</a:t>
            </a:r>
          </a:p>
        </p:txBody>
      </p:sp>
      <p:sp>
        <p:nvSpPr>
          <p:cNvPr id="27" name="">
            <a:extLst xmlns:a="http://schemas.openxmlformats.org/drawingml/2006/main">
              <a:ext uri="{FF2B5EF4-FFF2-40B4-BE49-F238E27FC236}">
                <a16:creationId xmlns:a16="http://schemas.microsoft.com/office/drawing/2014/main" id="{A1D6B5C8-751F-47D5-9BBD-54A5A1B6FA68}"/>
              </a:ext>
            </a:extLst>
          </p:cNvPr>
          <p:cNvSpPr>
            <a:spLocks xmlns:a="http://schemas.openxmlformats.org/drawingml/2006/main" noGrp="1"/>
          </p:cNvSpPr>
          <p:nvPr/>
        </p:nvSpPr>
        <p:spPr>
          <a:xfrm xmlns:a="http://schemas.openxmlformats.org/drawingml/2006/main">
            <a:off x="8334375" y="5381625"/>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42D3D"/>
                </a:solidFill>
                <a:latin typeface="Arial"/>
                <a:ea typeface="Arial"/>
                <a:cs typeface="Arial"/>
              </a:defRPr>
            </a:defPPr>
          </a:lstStyle>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Same question, source URLs/order,</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competitor text and instruction</a:t>
            </a:r>
          </a:p>
        </p:txBody>
      </p:sp>
      <p:sp>
        <p:nvSpPr>
          <p:cNvPr id="28" name="">
            <a:extLst xmlns:a="http://schemas.openxmlformats.org/drawingml/2006/main">
              <a:ext uri="{FF2B5EF4-FFF2-40B4-BE49-F238E27FC236}">
                <a16:creationId xmlns:a16="http://schemas.microsoft.com/office/drawing/2014/main" id="{D9F9252F-3765-4921-8CEC-F2990DCD7F8C}"/>
              </a:ext>
            </a:extLst>
          </p:cNvPr>
          <p:cNvSpPr>
            <a:spLocks xmlns:a="http://schemas.openxmlformats.org/drawingml/2006/main" noGrp="1"/>
          </p:cNvSpPr>
          <p:nvPr/>
        </p:nvSpPr>
        <p:spPr>
          <a:xfrm xmlns:a="http://schemas.openxmlformats.org/drawingml/2006/main">
            <a:off x="619125" y="6848475"/>
            <a:ext cx="14001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B42146"/>
                </a:solidFill>
                <a:latin typeface="Arial"/>
                <a:ea typeface="Arial"/>
                <a:cs typeface="Arial"/>
              </a:defRPr>
            </a:defPPr>
          </a:lstStyle>
          <a:p xmlns:a="http://schemas.openxmlformats.org/drawingml/2006/main">
            <a:pPr>
              <a:defRPr sz="2100" b="1">
                <a:solidFill>
                  <a:srgbClr val="B42146"/>
                </a:solidFill>
                <a:latin typeface="Arial"/>
                <a:ea typeface="Arial"/>
                <a:cs typeface="Arial"/>
              </a:defRPr>
            </a:pPr>
            <a:r>
              <a:rPr sz="2100" b="1">
                <a:solidFill>
                  <a:srgbClr val="B42146"/>
                </a:solidFill>
                <a:latin typeface="Arial"/>
                <a:ea typeface="Arial"/>
                <a:cs typeface="Arial"/>
              </a:rPr>
              <a:t>Historical baseline answers reused • 5–10 sources • 24,000 characters per source</a:t>
            </a:r>
          </a:p>
        </p:txBody>
      </p:sp>
    </p:spTree>
    <p:extLst>
      <p:ext uri="{BB962C8B-B14F-4D97-AF65-F5344CB8AC3E}">
        <p14:creationId xmlns:p14="http://schemas.microsoft.com/office/powerpoint/2010/main" val="1654524076"/>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943ABF-6E46-4ABF-BDBB-CE94A31E8503}"/>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4E9B4C52-77D6-4EEF-A1C1-FD5301EFF80E}"/>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Individual methods: results and interpretation</a:t>
            </a:r>
          </a:p>
        </p:txBody>
      </p:sp>
      <p:sp>
        <p:nvSpPr>
          <p:cNvPr id="3" name="">
            <a:extLst xmlns:a="http://schemas.openxmlformats.org/drawingml/2006/main">
              <a:ext uri="{FF2B5EF4-FFF2-40B4-BE49-F238E27FC236}">
                <a16:creationId xmlns:a16="http://schemas.microsoft.com/office/drawing/2014/main" id="{47D63199-6C23-4685-8228-A880C6451E38}"/>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9B319DD-396F-4D87-B658-7B70203A6F59}"/>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Individual controls: 114/290 = 39.3%. The combined-run control is different: 116/290.</a:t>
            </a:r>
          </a:p>
        </p:txBody>
      </p:sp>
      <p:sp>
        <p:nvSpPr>
          <p:cNvPr id="5" name="">
            <a:extLst xmlns:a="http://schemas.openxmlformats.org/drawingml/2006/main">
              <a:ext uri="{FF2B5EF4-FFF2-40B4-BE49-F238E27FC236}">
                <a16:creationId xmlns:a16="http://schemas.microsoft.com/office/drawing/2014/main" id="{E7000A38-0D92-4300-9ECB-A44EB20F5C50}"/>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5 / 18   •   Evidence: C13, C14, C15, C16 | Full claim ledger in submission</a:t>
            </a:r>
          </a:p>
        </p:txBody>
      </p:sp>
      <p:graphicFrame>
        <p:nvGraphicFramePr>
          <p:cNvPr id="6" name="">
            <a:extLst xmlns:a="http://schemas.openxmlformats.org/drawingml/2006/main">
              <a:ext uri="{FF2B5EF4-FFF2-40B4-BE49-F238E27FC236}">
                <a16:creationId xmlns:a16="http://schemas.microsoft.com/office/drawing/2014/main" id="{8C045749-9D46-47E1-A3F2-E91D486DFB75}"/>
              </a:ext>
            </a:extLst>
          </p:cNvPr>
          <p:cNvGraphicFramePr/>
          <p:nvPr/>
        </p:nvGraphicFramePr>
        <p:xfrm>
          <a:off xmlns:a="http://schemas.openxmlformats.org/drawingml/2006/main" x="619125" y="2133600"/>
          <a:ext xmlns:a="http://schemas.openxmlformats.org/drawingml/2006/main" cx="14001750" cy="4619625"/>
        </p:xfrm>
        <a:graphic xmlns:a="http://schemas.openxmlformats.org/drawingml/2006/main">
          <a:graphicData uri="http://schemas.openxmlformats.org/drawingml/2006/table">
            <a:tbl>
              <a:tblPr/>
              <a:tblGrid>
                <a:gridCol w="3476625"/>
                <a:gridCol w="4143375"/>
                <a:gridCol w="2000250"/>
                <a:gridCol w="4381500"/>
              </a:tblGrid>
              <a:tr h="659946">
                <a:tc>
                  <a:txBody>
                    <a:bodyPr/>
                    <a:lstStyle/>
                    <a:p>
                      <a:r>
                        <a:rPr sz="1950" b="1">
                          <a:solidFill>
                            <a:srgbClr val="FFFFFF"/>
                          </a:solidFill>
                          <a:latin typeface="Arial"/>
                          <a:ea typeface="Arial"/>
                          <a:cs typeface="Arial"/>
                        </a:rPr>
                        <a:t>Method</a:t>
                      </a:r>
                    </a:p>
                  </a:txBody>
                  <a:tcPr marL="91440" marR="91440" marT="45720" marB="45720">
                    <a:solidFill>
                      <a:srgbClr val="142D3D"/>
                    </a:solidFill>
                  </a:tcPr>
                </a:tc>
                <a:tc>
                  <a:txBody>
                    <a:bodyPr/>
                    <a:lstStyle/>
                    <a:p>
                      <a:r>
                        <a:rPr sz="1950" b="1">
                          <a:solidFill>
                            <a:srgbClr val="FFFFFF"/>
                          </a:solidFill>
                          <a:latin typeface="Arial"/>
                          <a:ea typeface="Arial"/>
                          <a:cs typeface="Arial"/>
                        </a:rPr>
                        <a:t>Intended change</a:t>
                      </a:r>
                    </a:p>
                  </a:txBody>
                  <a:tcPr marL="91440" marR="91440" marT="45720" marB="45720">
                    <a:solidFill>
                      <a:srgbClr val="142D3D"/>
                    </a:solidFill>
                  </a:tcPr>
                </a:tc>
                <a:tc>
                  <a:txBody>
                    <a:bodyPr/>
                    <a:lstStyle/>
                    <a:p>
                      <a:r>
                        <a:rPr sz="1950" b="1">
                          <a:solidFill>
                            <a:srgbClr val="FFFFFF"/>
                          </a:solidFill>
                          <a:latin typeface="Arial"/>
                          <a:ea typeface="Arial"/>
                          <a:cs typeface="Arial"/>
                        </a:rPr>
                        <a:t>Rate</a:t>
                      </a:r>
                    </a:p>
                  </a:txBody>
                  <a:tcPr marL="91440" marR="91440" marT="45720" marB="45720">
                    <a:solidFill>
                      <a:srgbClr val="142D3D"/>
                    </a:solidFill>
                  </a:tcPr>
                </a:tc>
                <a:tc>
                  <a:txBody>
                    <a:bodyPr/>
                    <a:lstStyle/>
                    <a:p>
                      <a:r>
                        <a:rPr sz="1950" b="1">
                          <a:solidFill>
                            <a:srgbClr val="FFFFFF"/>
                          </a:solidFill>
                          <a:latin typeface="Arial"/>
                          <a:ea typeface="Arial"/>
                          <a:cs typeface="Arial"/>
                        </a:rPr>
                        <a:t>95% gain interval (pp)</a:t>
                      </a:r>
                    </a:p>
                  </a:txBody>
                  <a:tcPr marL="91440" marR="91440" marT="45720" marB="45720">
                    <a:solidFill>
                      <a:srgbClr val="142D3D"/>
                    </a:solidFill>
                  </a:tcPr>
                </a:tc>
              </a:tr>
              <a:tr h="659946">
                <a:tc>
                  <a:txBody>
                    <a:bodyPr/>
                    <a:lstStyle/>
                    <a:p>
                      <a:r>
                        <a:rPr sz="1950" b="0">
                          <a:solidFill>
                            <a:srgbClr val="142D3D"/>
                          </a:solidFill>
                          <a:latin typeface="Arial"/>
                          <a:ea typeface="Arial"/>
                          <a:cs typeface="Arial"/>
                        </a:rPr>
                        <a:t>Rendered + cleanup</a:t>
                      </a:r>
                    </a:p>
                  </a:txBody>
                  <a:tcPr marL="91440" marR="91440" marT="45720" marB="45720">
                    <a:solidFill>
                      <a:srgbClr val="FFFFFF"/>
                    </a:solidFill>
                  </a:tcPr>
                </a:tc>
                <a:tc>
                  <a:txBody>
                    <a:bodyPr/>
                    <a:lstStyle/>
                    <a:p>
                      <a:r>
                        <a:rPr sz="1950" b="0">
                          <a:solidFill>
                            <a:srgbClr val="142D3D"/>
                          </a:solidFill>
                          <a:latin typeface="Arial"/>
                          <a:ea typeface="Arial"/>
                          <a:cs typeface="Arial"/>
                        </a:rPr>
                        <a:t>Expose captured information</a:t>
                      </a:r>
                    </a:p>
                  </a:txBody>
                  <a:tcPr marL="91440" marR="91440" marT="45720" marB="45720">
                    <a:solidFill>
                      <a:srgbClr val="FFFFFF"/>
                    </a:solidFill>
                  </a:tcPr>
                </a:tc>
                <a:tc>
                  <a:txBody>
                    <a:bodyPr/>
                    <a:lstStyle/>
                    <a:p>
                      <a:r>
                        <a:rPr sz="1950" b="0">
                          <a:solidFill>
                            <a:srgbClr val="142D3D"/>
                          </a:solidFill>
                          <a:latin typeface="Arial"/>
                          <a:ea typeface="Arial"/>
                          <a:cs typeface="Arial"/>
                        </a:rPr>
                        <a:t>45.9%</a:t>
                      </a:r>
                    </a:p>
                  </a:txBody>
                  <a:tcPr marL="91440" marR="91440" marT="45720" marB="45720">
                    <a:solidFill>
                      <a:srgbClr val="FFFFFF"/>
                    </a:solidFill>
                  </a:tcPr>
                </a:tc>
                <a:tc>
                  <a:txBody>
                    <a:bodyPr/>
                    <a:lstStyle/>
                    <a:p>
                      <a:r>
                        <a:rPr sz="1950" b="0">
                          <a:solidFill>
                            <a:srgbClr val="142D3D"/>
                          </a:solidFill>
                          <a:latin typeface="Arial"/>
                          <a:ea typeface="Arial"/>
                          <a:cs typeface="Arial"/>
                        </a:rPr>
                        <a:t>−0.3 to +14.1</a:t>
                      </a:r>
                    </a:p>
                  </a:txBody>
                  <a:tcPr marL="91440" marR="91440" marT="45720" marB="45720">
                    <a:solidFill>
                      <a:srgbClr val="FFFFFF"/>
                    </a:solidFill>
                  </a:tcPr>
                </a:tc>
              </a:tr>
              <a:tr h="659946">
                <a:tc>
                  <a:txBody>
                    <a:bodyPr/>
                    <a:lstStyle/>
                    <a:p>
                      <a:r>
                        <a:rPr sz="1950" b="0">
                          <a:solidFill>
                            <a:srgbClr val="142D3D"/>
                          </a:solidFill>
                          <a:latin typeface="Arial"/>
                          <a:ea typeface="Arial"/>
                          <a:cs typeface="Arial"/>
                        </a:rPr>
                        <a:t>Grounded FAQ</a:t>
                      </a:r>
                    </a:p>
                  </a:txBody>
                  <a:tcPr marL="91440" marR="91440" marT="45720" marB="45720">
                    <a:solidFill>
                      <a:srgbClr val="E9F0F1"/>
                    </a:solidFill>
                  </a:tcPr>
                </a:tc>
                <a:tc>
                  <a:txBody>
                    <a:bodyPr/>
                    <a:lstStyle/>
                    <a:p>
                      <a:r>
                        <a:rPr sz="1950" b="0">
                          <a:solidFill>
                            <a:srgbClr val="142D3D"/>
                          </a:solidFill>
                          <a:latin typeface="Arial"/>
                          <a:ea typeface="Arial"/>
                          <a:cs typeface="Arial"/>
                        </a:rPr>
                        <a:t>Pair supported Q&amp;A</a:t>
                      </a:r>
                    </a:p>
                  </a:txBody>
                  <a:tcPr marL="91440" marR="91440" marT="45720" marB="45720">
                    <a:solidFill>
                      <a:srgbClr val="E9F0F1"/>
                    </a:solidFill>
                  </a:tcPr>
                </a:tc>
                <a:tc>
                  <a:txBody>
                    <a:bodyPr/>
                    <a:lstStyle/>
                    <a:p>
                      <a:r>
                        <a:rPr sz="1950" b="0">
                          <a:solidFill>
                            <a:srgbClr val="142D3D"/>
                          </a:solidFill>
                          <a:latin typeface="Arial"/>
                          <a:ea typeface="Arial"/>
                          <a:cs typeface="Arial"/>
                        </a:rPr>
                        <a:t>46.2%</a:t>
                      </a:r>
                    </a:p>
                  </a:txBody>
                  <a:tcPr marL="91440" marR="91440" marT="45720" marB="45720">
                    <a:solidFill>
                      <a:srgbClr val="E9F0F1"/>
                    </a:solidFill>
                  </a:tcPr>
                </a:tc>
                <a:tc>
                  <a:txBody>
                    <a:bodyPr/>
                    <a:lstStyle/>
                    <a:p>
                      <a:r>
                        <a:rPr sz="1950" b="0">
                          <a:solidFill>
                            <a:srgbClr val="142D3D"/>
                          </a:solidFill>
                          <a:latin typeface="Arial"/>
                          <a:ea typeface="Arial"/>
                          <a:cs typeface="Arial"/>
                        </a:rPr>
                        <a:t>+1.0 to +13.1</a:t>
                      </a:r>
                    </a:p>
                  </a:txBody>
                  <a:tcPr marL="91440" marR="91440" marT="45720" marB="45720">
                    <a:solidFill>
                      <a:srgbClr val="E9F0F1"/>
                    </a:solidFill>
                  </a:tcPr>
                </a:tc>
              </a:tr>
              <a:tr h="659946">
                <a:tc>
                  <a:txBody>
                    <a:bodyPr/>
                    <a:lstStyle/>
                    <a:p>
                      <a:r>
                        <a:rPr sz="1950" b="0">
                          <a:solidFill>
                            <a:srgbClr val="142D3D"/>
                          </a:solidFill>
                          <a:latin typeface="Arial"/>
                          <a:ea typeface="Arial"/>
                          <a:cs typeface="Arial"/>
                        </a:rPr>
                        <a:t>Typed facts</a:t>
                      </a:r>
                    </a:p>
                  </a:txBody>
                  <a:tcPr marL="91440" marR="91440" marT="45720" marB="45720">
                    <a:solidFill>
                      <a:srgbClr val="FFFFFF"/>
                    </a:solidFill>
                  </a:tcPr>
                </a:tc>
                <a:tc>
                  <a:txBody>
                    <a:bodyPr/>
                    <a:lstStyle/>
                    <a:p>
                      <a:r>
                        <a:rPr sz="1950" b="0">
                          <a:solidFill>
                            <a:srgbClr val="142D3D"/>
                          </a:solidFill>
                          <a:latin typeface="Arial"/>
                          <a:ea typeface="Arial"/>
                          <a:cs typeface="Arial"/>
                        </a:rPr>
                        <a:t>Organise existing fields</a:t>
                      </a:r>
                    </a:p>
                  </a:txBody>
                  <a:tcPr marL="91440" marR="91440" marT="45720" marB="45720">
                    <a:solidFill>
                      <a:srgbClr val="FFFFFF"/>
                    </a:solidFill>
                  </a:tcPr>
                </a:tc>
                <a:tc>
                  <a:txBody>
                    <a:bodyPr/>
                    <a:lstStyle/>
                    <a:p>
                      <a:r>
                        <a:rPr sz="1950" b="0">
                          <a:solidFill>
                            <a:srgbClr val="142D3D"/>
                          </a:solidFill>
                          <a:latin typeface="Arial"/>
                          <a:ea typeface="Arial"/>
                          <a:cs typeface="Arial"/>
                        </a:rPr>
                        <a:t>46.9%</a:t>
                      </a:r>
                    </a:p>
                  </a:txBody>
                  <a:tcPr marL="91440" marR="91440" marT="45720" marB="45720">
                    <a:solidFill>
                      <a:srgbClr val="FFFFFF"/>
                    </a:solidFill>
                  </a:tcPr>
                </a:tc>
                <a:tc>
                  <a:txBody>
                    <a:bodyPr/>
                    <a:lstStyle/>
                    <a:p>
                      <a:r>
                        <a:rPr sz="1950" b="0">
                          <a:solidFill>
                            <a:srgbClr val="142D3D"/>
                          </a:solidFill>
                          <a:latin typeface="Arial"/>
                          <a:ea typeface="Arial"/>
                          <a:cs typeface="Arial"/>
                        </a:rPr>
                        <a:t>+2.8 to +13.1</a:t>
                      </a:r>
                    </a:p>
                  </a:txBody>
                  <a:tcPr marL="91440" marR="91440" marT="45720" marB="45720">
                    <a:solidFill>
                      <a:srgbClr val="FFFFFF"/>
                    </a:solidFill>
                  </a:tcPr>
                </a:tc>
              </a:tr>
              <a:tr h="659946">
                <a:tc>
                  <a:txBody>
                    <a:bodyPr/>
                    <a:lstStyle/>
                    <a:p>
                      <a:r>
                        <a:rPr sz="1950" b="0">
                          <a:solidFill>
                            <a:srgbClr val="142D3D"/>
                          </a:solidFill>
                          <a:latin typeface="Arial"/>
                          <a:ea typeface="Arial"/>
                          <a:cs typeface="Arial"/>
                        </a:rPr>
                        <a:t>External + attribution</a:t>
                      </a:r>
                    </a:p>
                  </a:txBody>
                  <a:tcPr marL="91440" marR="91440" marT="45720" marB="45720">
                    <a:solidFill>
                      <a:srgbClr val="E9F0F1"/>
                    </a:solidFill>
                  </a:tcPr>
                </a:tc>
                <a:tc>
                  <a:txBody>
                    <a:bodyPr/>
                    <a:lstStyle/>
                    <a:p>
                      <a:r>
                        <a:rPr sz="1950" b="0">
                          <a:solidFill>
                            <a:srgbClr val="142D3D"/>
                          </a:solidFill>
                          <a:latin typeface="Arial"/>
                          <a:ea typeface="Arial"/>
                          <a:cs typeface="Arial"/>
                        </a:rPr>
                        <a:t>Add attributed information</a:t>
                      </a:r>
                    </a:p>
                  </a:txBody>
                  <a:tcPr marL="91440" marR="91440" marT="45720" marB="45720">
                    <a:solidFill>
                      <a:srgbClr val="E9F0F1"/>
                    </a:solidFill>
                  </a:tcPr>
                </a:tc>
                <a:tc>
                  <a:txBody>
                    <a:bodyPr/>
                    <a:lstStyle/>
                    <a:p>
                      <a:r>
                        <a:rPr sz="1950" b="0">
                          <a:solidFill>
                            <a:srgbClr val="142D3D"/>
                          </a:solidFill>
                          <a:latin typeface="Arial"/>
                          <a:ea typeface="Arial"/>
                          <a:cs typeface="Arial"/>
                        </a:rPr>
                        <a:t>42.8%</a:t>
                      </a:r>
                    </a:p>
                  </a:txBody>
                  <a:tcPr marL="91440" marR="91440" marT="45720" marB="45720">
                    <a:solidFill>
                      <a:srgbClr val="E9F0F1"/>
                    </a:solidFill>
                  </a:tcPr>
                </a:tc>
                <a:tc>
                  <a:txBody>
                    <a:bodyPr/>
                    <a:lstStyle/>
                    <a:p>
                      <a:r>
                        <a:rPr sz="1950" b="0">
                          <a:solidFill>
                            <a:srgbClr val="142D3D"/>
                          </a:solidFill>
                          <a:latin typeface="Arial"/>
                          <a:ea typeface="Arial"/>
                          <a:cs typeface="Arial"/>
                        </a:rPr>
                        <a:t>−1.0 to +7.9</a:t>
                      </a:r>
                    </a:p>
                  </a:txBody>
                  <a:tcPr marL="91440" marR="91440" marT="45720" marB="45720">
                    <a:solidFill>
                      <a:srgbClr val="E9F0F1"/>
                    </a:solidFill>
                  </a:tcPr>
                </a:tc>
              </a:tr>
              <a:tr h="659946">
                <a:tc>
                  <a:txBody>
                    <a:bodyPr/>
                    <a:lstStyle/>
                    <a:p>
                      <a:r>
                        <a:rPr sz="1950" b="0">
                          <a:solidFill>
                            <a:srgbClr val="142D3D"/>
                          </a:solidFill>
                          <a:latin typeface="Arial"/>
                          <a:ea typeface="Arial"/>
                          <a:cs typeface="Arial"/>
                        </a:rPr>
                        <a:t>Schema + visible text</a:t>
                      </a:r>
                    </a:p>
                  </a:txBody>
                  <a:tcPr marL="91440" marR="91440" marT="45720" marB="45720">
                    <a:solidFill>
                      <a:srgbClr val="FFFFFF"/>
                    </a:solidFill>
                  </a:tcPr>
                </a:tc>
                <a:tc>
                  <a:txBody>
                    <a:bodyPr/>
                    <a:lstStyle/>
                    <a:p>
                      <a:r>
                        <a:rPr sz="1950" b="0">
                          <a:solidFill>
                            <a:srgbClr val="142D3D"/>
                          </a:solidFill>
                          <a:latin typeface="Arial"/>
                          <a:ea typeface="Arial"/>
                          <a:cs typeface="Arial"/>
                        </a:rPr>
                        <a:t>Change markup AND text</a:t>
                      </a:r>
                    </a:p>
                  </a:txBody>
                  <a:tcPr marL="91440" marR="91440" marT="45720" marB="45720">
                    <a:solidFill>
                      <a:srgbClr val="FFFFFF"/>
                    </a:solidFill>
                  </a:tcPr>
                </a:tc>
                <a:tc>
                  <a:txBody>
                    <a:bodyPr/>
                    <a:lstStyle/>
                    <a:p>
                      <a:r>
                        <a:rPr sz="1950" b="0">
                          <a:solidFill>
                            <a:srgbClr val="142D3D"/>
                          </a:solidFill>
                          <a:latin typeface="Arial"/>
                          <a:ea typeface="Arial"/>
                          <a:cs typeface="Arial"/>
                        </a:rPr>
                        <a:t>45.5%</a:t>
                      </a:r>
                    </a:p>
                  </a:txBody>
                  <a:tcPr marL="91440" marR="91440" marT="45720" marB="45720">
                    <a:solidFill>
                      <a:srgbClr val="FFFFFF"/>
                    </a:solidFill>
                  </a:tcPr>
                </a:tc>
                <a:tc>
                  <a:txBody>
                    <a:bodyPr/>
                    <a:lstStyle/>
                    <a:p>
                      <a:r>
                        <a:rPr sz="1950" b="0">
                          <a:solidFill>
                            <a:srgbClr val="142D3D"/>
                          </a:solidFill>
                          <a:latin typeface="Arial"/>
                          <a:ea typeface="Arial"/>
                          <a:cs typeface="Arial"/>
                        </a:rPr>
                        <a:t>+1.4 to +11.0</a:t>
                      </a:r>
                    </a:p>
                  </a:txBody>
                  <a:tcPr marL="91440" marR="91440" marT="45720" marB="45720">
                    <a:solidFill>
                      <a:srgbClr val="FFFFFF"/>
                    </a:solidFill>
                  </a:tcPr>
                </a:tc>
              </a:tr>
              <a:tr h="659946">
                <a:tc>
                  <a:txBody>
                    <a:bodyPr/>
                    <a:lstStyle/>
                    <a:p>
                      <a:r>
                        <a:rPr sz="1950" b="0">
                          <a:solidFill>
                            <a:srgbClr val="142D3D"/>
                          </a:solidFill>
                          <a:latin typeface="Arial"/>
                          <a:ea typeface="Arial"/>
                          <a:cs typeface="Arial"/>
                        </a:rPr>
                        <a:t>Rewrite repeat</a:t>
                      </a:r>
                    </a:p>
                  </a:txBody>
                  <a:tcPr marL="91440" marR="91440" marT="45720" marB="45720">
                    <a:solidFill>
                      <a:srgbClr val="E9F0F1"/>
                    </a:solidFill>
                  </a:tcPr>
                </a:tc>
                <a:tc>
                  <a:txBody>
                    <a:bodyPr/>
                    <a:lstStyle/>
                    <a:p>
                      <a:r>
                        <a:rPr sz="1950" b="0">
                          <a:solidFill>
                            <a:srgbClr val="142D3D"/>
                          </a:solidFill>
                          <a:latin typeface="Arial"/>
                          <a:ea typeface="Arial"/>
                          <a:cs typeface="Arial"/>
                        </a:rPr>
                        <a:t>Rephrase content broadly</a:t>
                      </a:r>
                    </a:p>
                  </a:txBody>
                  <a:tcPr marL="91440" marR="91440" marT="45720" marB="45720">
                    <a:solidFill>
                      <a:srgbClr val="E9F0F1"/>
                    </a:solidFill>
                  </a:tcPr>
                </a:tc>
                <a:tc>
                  <a:txBody>
                    <a:bodyPr/>
                    <a:lstStyle/>
                    <a:p>
                      <a:r>
                        <a:rPr sz="1950" b="0">
                          <a:solidFill>
                            <a:srgbClr val="142D3D"/>
                          </a:solidFill>
                          <a:latin typeface="Arial"/>
                          <a:ea typeface="Arial"/>
                          <a:cs typeface="Arial"/>
                        </a:rPr>
                        <a:t>33.8%</a:t>
                      </a:r>
                    </a:p>
                  </a:txBody>
                  <a:tcPr marL="91440" marR="91440" marT="45720" marB="45720">
                    <a:solidFill>
                      <a:srgbClr val="E9F0F1"/>
                    </a:solidFill>
                  </a:tcPr>
                </a:tc>
                <a:tc>
                  <a:txBody>
                    <a:bodyPr/>
                    <a:lstStyle/>
                    <a:p>
                      <a:r>
                        <a:rPr sz="1950" b="0">
                          <a:solidFill>
                            <a:srgbClr val="142D3D"/>
                          </a:solidFill>
                          <a:latin typeface="Arial"/>
                          <a:ea typeface="Arial"/>
                          <a:cs typeface="Arial"/>
                        </a:rPr>
                        <a:t>−10.0 to −1.4</a:t>
                      </a:r>
                    </a:p>
                  </a:txBody>
                  <a:tcPr marL="91440" marR="91440" marT="45720" marB="45720">
                    <a:solidFill>
                      <a:srgbClr val="E9F0F1"/>
                    </a:solidFill>
                  </a:tcPr>
                </a:tc>
              </a:tr>
            </a:tbl>
          </a:graphicData>
        </a:graphic>
      </p:graphicFrame>
      <p:sp>
        <p:nvSpPr>
          <p:cNvPr id="7" name="">
            <a:extLst xmlns:a="http://schemas.openxmlformats.org/drawingml/2006/main">
              <a:ext uri="{FF2B5EF4-FFF2-40B4-BE49-F238E27FC236}">
                <a16:creationId xmlns:a16="http://schemas.microsoft.com/office/drawing/2014/main" id="{54D0A830-7989-43D8-8803-364811CEA46E}"/>
              </a:ext>
            </a:extLst>
          </p:cNvPr>
          <p:cNvSpPr>
            <a:spLocks xmlns:a="http://schemas.openxmlformats.org/drawingml/2006/main" noGrp="1"/>
          </p:cNvSpPr>
          <p:nvPr/>
        </p:nvSpPr>
        <p:spPr>
          <a:xfrm xmlns:a="http://schemas.openxmlformats.org/drawingml/2006/main">
            <a:off x="619125" y="6953250"/>
            <a:ext cx="14001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B42146"/>
                </a:solidFill>
                <a:latin typeface="Arial"/>
                <a:ea typeface="Arial"/>
                <a:cs typeface="Arial"/>
              </a:defRPr>
            </a:defPPr>
          </a:lstStyle>
          <a:p xmlns:a="http://schemas.openxmlformats.org/drawingml/2006/main">
            <a:pPr>
              <a:defRPr sz="1950" b="1">
                <a:solidFill>
                  <a:srgbClr val="B42146"/>
                </a:solidFill>
                <a:latin typeface="Arial"/>
                <a:ea typeface="Arial"/>
                <a:cs typeface="Arial"/>
              </a:defRPr>
            </a:pPr>
            <a:r>
              <a:rPr sz="1950" b="1">
                <a:solidFill>
                  <a:srgbClr val="B42146"/>
                </a:solidFill>
                <a:latin typeface="Arial"/>
                <a:ea typeface="Arial"/>
                <a:cs typeface="Arial"/>
              </a:rPr>
              <a:t>Exploratory, unadjusted intervals. External gain not isolated; schema test changes two things.</a:t>
            </a:r>
          </a:p>
        </p:txBody>
      </p:sp>
    </p:spTree>
    <p:extLst>
      <p:ext uri="{BB962C8B-B14F-4D97-AF65-F5344CB8AC3E}">
        <p14:creationId xmlns:p14="http://schemas.microsoft.com/office/powerpoint/2010/main" val="924068123"/>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7BF70B0-35CD-4A9A-8C4F-E9EF8DBA0DF4}"/>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B8811409-F7FD-427B-8635-37A851071D8B}"/>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Selection of the combined treatment</a:t>
            </a:r>
          </a:p>
        </p:txBody>
      </p:sp>
      <p:sp>
        <p:nvSpPr>
          <p:cNvPr id="3" name="">
            <a:extLst xmlns:a="http://schemas.openxmlformats.org/drawingml/2006/main">
              <a:ext uri="{FF2B5EF4-FFF2-40B4-BE49-F238E27FC236}">
                <a16:creationId xmlns:a16="http://schemas.microsoft.com/office/drawing/2014/main" id="{DE1F5DEE-2958-4490-B437-7A139F0A288B}"/>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6972E2E-1372-493E-8748-C81A71BA1C07}"/>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Select coherent, inspectable changes—not whichever row has the highest percentage.</a:t>
            </a:r>
          </a:p>
        </p:txBody>
      </p:sp>
      <p:sp>
        <p:nvSpPr>
          <p:cNvPr id="5" name="">
            <a:extLst xmlns:a="http://schemas.openxmlformats.org/drawingml/2006/main">
              <a:ext uri="{FF2B5EF4-FFF2-40B4-BE49-F238E27FC236}">
                <a16:creationId xmlns:a16="http://schemas.microsoft.com/office/drawing/2014/main" id="{D39357B1-0713-4116-AAE0-C15647D4EF1B}"/>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6 / 18   •   Evidence: C13, C14, C15, C16 | Full claim ledger in submission</a:t>
            </a:r>
          </a:p>
        </p:txBody>
      </p:sp>
      <p:sp>
        <p:nvSpPr>
          <p:cNvPr id="6" name="">
            <a:extLst xmlns:a="http://schemas.openxmlformats.org/drawingml/2006/main">
              <a:ext uri="{FF2B5EF4-FFF2-40B4-BE49-F238E27FC236}">
                <a16:creationId xmlns:a16="http://schemas.microsoft.com/office/drawing/2014/main" id="{B7D1465E-F723-4EF7-B671-44BD9EB84660}"/>
              </a:ext>
            </a:extLst>
          </p:cNvPr>
          <p:cNvSpPr>
            <a:spLocks xmlns:a="http://schemas.openxmlformats.org/drawingml/2006/main" noGrp="1"/>
          </p:cNvSpPr>
          <p:nvPr/>
        </p:nvSpPr>
        <p:spPr>
          <a:xfrm xmlns:a="http://schemas.openxmlformats.org/drawingml/2006/main">
            <a:off x="619125" y="2286000"/>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87D82"/>
                </a:solidFill>
                <a:latin typeface="Arial"/>
                <a:ea typeface="Arial"/>
                <a:cs typeface="Arial"/>
              </a:defRPr>
            </a:defPPr>
          </a:lstStyle>
          <a:p xmlns:a="http://schemas.openxmlformats.org/drawingml/2006/main">
            <a:pPr>
              <a:defRPr sz="1725" b="1">
                <a:solidFill>
                  <a:srgbClr val="087D82"/>
                </a:solidFill>
                <a:latin typeface="Arial"/>
                <a:ea typeface="Arial"/>
                <a:cs typeface="Arial"/>
              </a:defRPr>
            </a:pPr>
            <a:r>
              <a:rPr sz="1725" b="1">
                <a:solidFill>
                  <a:srgbClr val="087D82"/>
                </a:solidFill>
                <a:latin typeface="Arial"/>
                <a:ea typeface="Arial"/>
                <a:cs typeface="Arial"/>
              </a:rPr>
              <a:t>IN THE SELECTED PACKAGE</a:t>
            </a:r>
          </a:p>
        </p:txBody>
      </p:sp>
      <p:sp>
        <p:nvSpPr>
          <p:cNvPr id="7" name="">
            <a:extLst xmlns:a="http://schemas.openxmlformats.org/drawingml/2006/main">
              <a:ext uri="{FF2B5EF4-FFF2-40B4-BE49-F238E27FC236}">
                <a16:creationId xmlns:a16="http://schemas.microsoft.com/office/drawing/2014/main" id="{FE958F21-2341-4842-A205-69E4A04D799C}"/>
              </a:ext>
            </a:extLst>
          </p:cNvPr>
          <p:cNvSpPr>
            <a:spLocks xmlns:a="http://schemas.openxmlformats.org/drawingml/2006/main" noGrp="1"/>
          </p:cNvSpPr>
          <p:nvPr/>
        </p:nvSpPr>
        <p:spPr>
          <a:xfrm xmlns:a="http://schemas.openxmlformats.org/drawingml/2006/main">
            <a:off x="8143875" y="2286000"/>
            <a:ext cx="647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B42146"/>
                </a:solidFill>
                <a:latin typeface="Arial"/>
                <a:ea typeface="Arial"/>
                <a:cs typeface="Arial"/>
              </a:defRPr>
            </a:defPPr>
          </a:lstStyle>
          <a:p xmlns:a="http://schemas.openxmlformats.org/drawingml/2006/main">
            <a:pPr>
              <a:defRPr sz="1725" b="1">
                <a:solidFill>
                  <a:srgbClr val="B42146"/>
                </a:solidFill>
                <a:latin typeface="Arial"/>
                <a:ea typeface="Arial"/>
                <a:cs typeface="Arial"/>
              </a:defRPr>
            </a:pPr>
            <a:r>
              <a:rPr sz="1725" b="1">
                <a:solidFill>
                  <a:srgbClr val="B42146"/>
                </a:solidFill>
                <a:latin typeface="Arial"/>
                <a:ea typeface="Arial"/>
                <a:cs typeface="Arial"/>
              </a:rPr>
              <a:t>KEPT AS SEPARATE EVIDENCE</a:t>
            </a:r>
          </a:p>
        </p:txBody>
      </p:sp>
      <p:sp>
        <p:nvSpPr>
          <p:cNvPr id="8" name="">
            <a:extLst xmlns:a="http://schemas.openxmlformats.org/drawingml/2006/main">
              <a:ext uri="{FF2B5EF4-FFF2-40B4-BE49-F238E27FC236}">
                <a16:creationId xmlns:a16="http://schemas.microsoft.com/office/drawing/2014/main" id="{BF545F84-5DA3-491B-9FEB-231691E8464C}"/>
              </a:ext>
            </a:extLst>
          </p:cNvPr>
          <p:cNvSpPr>
            <a:spLocks xmlns:a="http://schemas.openxmlformats.org/drawingml/2006/main" noGrp="1"/>
          </p:cNvSpPr>
          <p:nvPr/>
        </p:nvSpPr>
        <p:spPr>
          <a:xfrm xmlns:a="http://schemas.openxmlformats.org/drawingml/2006/main">
            <a:off x="619125" y="2876550"/>
            <a:ext cx="6477000" cy="752475"/>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E0DA1C-57CD-4DB8-A423-F49B45365BAF}"/>
              </a:ext>
            </a:extLst>
          </p:cNvPr>
          <p:cNvSpPr>
            <a:spLocks xmlns:a="http://schemas.openxmlformats.org/drawingml/2006/main" noGrp="1"/>
          </p:cNvSpPr>
          <p:nvPr/>
        </p:nvSpPr>
        <p:spPr>
          <a:xfrm xmlns:a="http://schemas.openxmlformats.org/drawingml/2006/main">
            <a:off x="809625" y="3038475"/>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142D3D"/>
                </a:solidFill>
                <a:latin typeface="Arial"/>
                <a:ea typeface="Arial"/>
                <a:cs typeface="Arial"/>
              </a:defRPr>
            </a:defPPr>
          </a:lstStyle>
          <a:p xmlns:a="http://schemas.openxmlformats.org/drawingml/2006/main">
            <a:pPr>
              <a:defRPr sz="2325" b="1">
                <a:solidFill>
                  <a:srgbClr val="142D3D"/>
                </a:solidFill>
                <a:latin typeface="Arial"/>
                <a:ea typeface="Arial"/>
                <a:cs typeface="Arial"/>
              </a:defRPr>
            </a:pPr>
            <a:r>
              <a:rPr sz="2325" b="1">
                <a:solidFill>
                  <a:srgbClr val="142D3D"/>
                </a:solidFill>
                <a:latin typeface="Arial"/>
                <a:ea typeface="Arial"/>
                <a:cs typeface="Arial"/>
              </a:rPr>
              <a:t>Captured rendered content</a:t>
            </a:r>
          </a:p>
        </p:txBody>
      </p:sp>
      <p:sp>
        <p:nvSpPr>
          <p:cNvPr id="10" name="">
            <a:extLst xmlns:a="http://schemas.openxmlformats.org/drawingml/2006/main">
              <a:ext uri="{FF2B5EF4-FFF2-40B4-BE49-F238E27FC236}">
                <a16:creationId xmlns:a16="http://schemas.microsoft.com/office/drawing/2014/main" id="{7681C171-BF20-41F3-8361-BE8F80EF81D8}"/>
              </a:ext>
            </a:extLst>
          </p:cNvPr>
          <p:cNvSpPr>
            <a:spLocks xmlns:a="http://schemas.openxmlformats.org/drawingml/2006/main" noGrp="1"/>
          </p:cNvSpPr>
          <p:nvPr/>
        </p:nvSpPr>
        <p:spPr>
          <a:xfrm xmlns:a="http://schemas.openxmlformats.org/drawingml/2006/main">
            <a:off x="619125" y="3800475"/>
            <a:ext cx="6477000" cy="752475"/>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51B233-2DC8-4B25-BC9A-F035D5FFC734}"/>
              </a:ext>
            </a:extLst>
          </p:cNvPr>
          <p:cNvSpPr>
            <a:spLocks xmlns:a="http://schemas.openxmlformats.org/drawingml/2006/main" noGrp="1"/>
          </p:cNvSpPr>
          <p:nvPr/>
        </p:nvSpPr>
        <p:spPr>
          <a:xfrm xmlns:a="http://schemas.openxmlformats.org/drawingml/2006/main">
            <a:off x="809625" y="3962400"/>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142D3D"/>
                </a:solidFill>
                <a:latin typeface="Arial"/>
                <a:ea typeface="Arial"/>
                <a:cs typeface="Arial"/>
              </a:defRPr>
            </a:defPPr>
          </a:lstStyle>
          <a:p xmlns:a="http://schemas.openxmlformats.org/drawingml/2006/main">
            <a:pPr>
              <a:defRPr sz="2325" b="1">
                <a:solidFill>
                  <a:srgbClr val="142D3D"/>
                </a:solidFill>
                <a:latin typeface="Arial"/>
                <a:ea typeface="Arial"/>
                <a:cs typeface="Arial"/>
              </a:defRPr>
            </a:pPr>
            <a:r>
              <a:rPr sz="2325" b="1">
                <a:solidFill>
                  <a:srgbClr val="142D3D"/>
                </a:solidFill>
                <a:latin typeface="Arial"/>
                <a:ea typeface="Arial"/>
                <a:cs typeface="Arial"/>
              </a:rPr>
              <a:t>Semantic cleanup</a:t>
            </a:r>
          </a:p>
        </p:txBody>
      </p:sp>
      <p:sp>
        <p:nvSpPr>
          <p:cNvPr id="12" name="">
            <a:extLst xmlns:a="http://schemas.openxmlformats.org/drawingml/2006/main">
              <a:ext uri="{FF2B5EF4-FFF2-40B4-BE49-F238E27FC236}">
                <a16:creationId xmlns:a16="http://schemas.microsoft.com/office/drawing/2014/main" id="{3A4D3A0C-0C19-46BB-81FE-805567CD43C1}"/>
              </a:ext>
            </a:extLst>
          </p:cNvPr>
          <p:cNvSpPr>
            <a:spLocks xmlns:a="http://schemas.openxmlformats.org/drawingml/2006/main" noGrp="1"/>
          </p:cNvSpPr>
          <p:nvPr/>
        </p:nvSpPr>
        <p:spPr>
          <a:xfrm xmlns:a="http://schemas.openxmlformats.org/drawingml/2006/main">
            <a:off x="619125" y="4724400"/>
            <a:ext cx="6477000" cy="752475"/>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E7CE6B-48EB-490C-9D43-5B38DFB12B0B}"/>
              </a:ext>
            </a:extLst>
          </p:cNvPr>
          <p:cNvSpPr>
            <a:spLocks xmlns:a="http://schemas.openxmlformats.org/drawingml/2006/main" noGrp="1"/>
          </p:cNvSpPr>
          <p:nvPr/>
        </p:nvSpPr>
        <p:spPr>
          <a:xfrm xmlns:a="http://schemas.openxmlformats.org/drawingml/2006/main">
            <a:off x="809625" y="4886325"/>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142D3D"/>
                </a:solidFill>
                <a:latin typeface="Arial"/>
                <a:ea typeface="Arial"/>
                <a:cs typeface="Arial"/>
              </a:defRPr>
            </a:defPPr>
          </a:lstStyle>
          <a:p xmlns:a="http://schemas.openxmlformats.org/drawingml/2006/main">
            <a:pPr>
              <a:defRPr sz="2325" b="1">
                <a:solidFill>
                  <a:srgbClr val="142D3D"/>
                </a:solidFill>
                <a:latin typeface="Arial"/>
                <a:ea typeface="Arial"/>
                <a:cs typeface="Arial"/>
              </a:defRPr>
            </a:pPr>
            <a:r>
              <a:rPr sz="2325" b="1">
                <a:solidFill>
                  <a:srgbClr val="142D3D"/>
                </a:solidFill>
                <a:latin typeface="Arial"/>
                <a:ea typeface="Arial"/>
                <a:cs typeface="Arial"/>
              </a:rPr>
              <a:t>Joint grounded facts + Q&amp;A</a:t>
            </a:r>
          </a:p>
        </p:txBody>
      </p:sp>
      <p:sp>
        <p:nvSpPr>
          <p:cNvPr id="14" name="">
            <a:extLst xmlns:a="http://schemas.openxmlformats.org/drawingml/2006/main">
              <a:ext uri="{FF2B5EF4-FFF2-40B4-BE49-F238E27FC236}">
                <a16:creationId xmlns:a16="http://schemas.microsoft.com/office/drawing/2014/main" id="{13AD6211-06A8-4E9A-9EF5-3C0298EBEAAF}"/>
              </a:ext>
            </a:extLst>
          </p:cNvPr>
          <p:cNvSpPr>
            <a:spLocks xmlns:a="http://schemas.openxmlformats.org/drawingml/2006/main" noGrp="1"/>
          </p:cNvSpPr>
          <p:nvPr/>
        </p:nvSpPr>
        <p:spPr>
          <a:xfrm xmlns:a="http://schemas.openxmlformats.org/drawingml/2006/main">
            <a:off x="619125" y="5648325"/>
            <a:ext cx="6477000" cy="752475"/>
          </a:xfrm>
          <a:prstGeom xmlns:a="http://schemas.openxmlformats.org/drawingml/2006/main" prst="rect">
            <a:avLst/>
          </a:prstGeom>
          <a:solidFill xmlns:a="http://schemas.openxmlformats.org/drawingml/2006/main">
            <a:srgbClr val="E9F0F1"/>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71D21F2-3DF0-45AC-B325-0749FE5038B9}"/>
              </a:ext>
            </a:extLst>
          </p:cNvPr>
          <p:cNvSpPr>
            <a:spLocks xmlns:a="http://schemas.openxmlformats.org/drawingml/2006/main" noGrp="1"/>
          </p:cNvSpPr>
          <p:nvPr/>
        </p:nvSpPr>
        <p:spPr>
          <a:xfrm xmlns:a="http://schemas.openxmlformats.org/drawingml/2006/main">
            <a:off x="809625" y="5810250"/>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142D3D"/>
                </a:solidFill>
                <a:latin typeface="Arial"/>
                <a:ea typeface="Arial"/>
                <a:cs typeface="Arial"/>
              </a:defRPr>
            </a:defPPr>
          </a:lstStyle>
          <a:p xmlns:a="http://schemas.openxmlformats.org/drawingml/2006/main">
            <a:pPr>
              <a:defRPr sz="2325" b="1">
                <a:solidFill>
                  <a:srgbClr val="142D3D"/>
                </a:solidFill>
                <a:latin typeface="Arial"/>
                <a:ea typeface="Arial"/>
                <a:cs typeface="Arial"/>
              </a:defRPr>
            </a:pPr>
            <a:r>
              <a:rPr sz="2325" b="1">
                <a:solidFill>
                  <a:srgbClr val="142D3D"/>
                </a:solidFill>
                <a:latin typeface="Arial"/>
                <a:ea typeface="Arial"/>
                <a:cs typeface="Arial"/>
              </a:rPr>
              <a:t>FAQ extraction refinement</a:t>
            </a:r>
          </a:p>
        </p:txBody>
      </p:sp>
      <p:sp>
        <p:nvSpPr>
          <p:cNvPr id="16" name="">
            <a:extLst xmlns:a="http://schemas.openxmlformats.org/drawingml/2006/main">
              <a:ext uri="{FF2B5EF4-FFF2-40B4-BE49-F238E27FC236}">
                <a16:creationId xmlns:a16="http://schemas.microsoft.com/office/drawing/2014/main" id="{C2EABFF0-A8D6-4AFC-9396-9E3A6F1F313D}"/>
              </a:ext>
            </a:extLst>
          </p:cNvPr>
          <p:cNvSpPr>
            <a:spLocks xmlns:a="http://schemas.openxmlformats.org/drawingml/2006/main" noGrp="1"/>
          </p:cNvSpPr>
          <p:nvPr/>
        </p:nvSpPr>
        <p:spPr>
          <a:xfrm xmlns:a="http://schemas.openxmlformats.org/drawingml/2006/main">
            <a:off x="8143875" y="2876550"/>
            <a:ext cx="6477000" cy="752475"/>
          </a:xfrm>
          <a:prstGeom xmlns:a="http://schemas.openxmlformats.org/drawingml/2006/main" prst="rect">
            <a:avLst/>
          </a:prstGeom>
          <a:solidFill xmlns:a="http://schemas.openxmlformats.org/drawingml/2006/main">
            <a:srgbClr val="F5E7E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B390226-658F-46C0-BB7A-E395933D2777}"/>
              </a:ext>
            </a:extLst>
          </p:cNvPr>
          <p:cNvSpPr>
            <a:spLocks xmlns:a="http://schemas.openxmlformats.org/drawingml/2006/main" noGrp="1"/>
          </p:cNvSpPr>
          <p:nvPr/>
        </p:nvSpPr>
        <p:spPr>
          <a:xfrm xmlns:a="http://schemas.openxmlformats.org/drawingml/2006/main">
            <a:off x="8334375" y="3038475"/>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Added external enrichment</a:t>
            </a:r>
          </a:p>
        </p:txBody>
      </p:sp>
      <p:sp>
        <p:nvSpPr>
          <p:cNvPr id="18" name="">
            <a:extLst xmlns:a="http://schemas.openxmlformats.org/drawingml/2006/main">
              <a:ext uri="{FF2B5EF4-FFF2-40B4-BE49-F238E27FC236}">
                <a16:creationId xmlns:a16="http://schemas.microsoft.com/office/drawing/2014/main" id="{B0A9DF5E-A2EB-4427-8952-AF4698C05E0C}"/>
              </a:ext>
            </a:extLst>
          </p:cNvPr>
          <p:cNvSpPr>
            <a:spLocks xmlns:a="http://schemas.openxmlformats.org/drawingml/2006/main" noGrp="1"/>
          </p:cNvSpPr>
          <p:nvPr/>
        </p:nvSpPr>
        <p:spPr>
          <a:xfrm xmlns:a="http://schemas.openxmlformats.org/drawingml/2006/main">
            <a:off x="8143875" y="3800475"/>
            <a:ext cx="6477000" cy="752475"/>
          </a:xfrm>
          <a:prstGeom xmlns:a="http://schemas.openxmlformats.org/drawingml/2006/main" prst="rect">
            <a:avLst/>
          </a:prstGeom>
          <a:solidFill xmlns:a="http://schemas.openxmlformats.org/drawingml/2006/main">
            <a:srgbClr val="F5E7E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C0C2A06-AC8F-4B5B-92D8-04922930BB86}"/>
              </a:ext>
            </a:extLst>
          </p:cNvPr>
          <p:cNvSpPr>
            <a:spLocks xmlns:a="http://schemas.openxmlformats.org/drawingml/2006/main" noGrp="1"/>
          </p:cNvSpPr>
          <p:nvPr/>
        </p:nvSpPr>
        <p:spPr>
          <a:xfrm xmlns:a="http://schemas.openxmlformats.org/drawingml/2006/main">
            <a:off x="8334375" y="3962400"/>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Added schema experiment</a:t>
            </a:r>
          </a:p>
        </p:txBody>
      </p:sp>
      <p:sp>
        <p:nvSpPr>
          <p:cNvPr id="20" name="">
            <a:extLst xmlns:a="http://schemas.openxmlformats.org/drawingml/2006/main">
              <a:ext uri="{FF2B5EF4-FFF2-40B4-BE49-F238E27FC236}">
                <a16:creationId xmlns:a16="http://schemas.microsoft.com/office/drawing/2014/main" id="{1FDAD6DB-37AF-4A3F-89EC-51E1EF3E4D6C}"/>
              </a:ext>
            </a:extLst>
          </p:cNvPr>
          <p:cNvSpPr>
            <a:spLocks xmlns:a="http://schemas.openxmlformats.org/drawingml/2006/main" noGrp="1"/>
          </p:cNvSpPr>
          <p:nvPr/>
        </p:nvSpPr>
        <p:spPr>
          <a:xfrm xmlns:a="http://schemas.openxmlformats.org/drawingml/2006/main">
            <a:off x="8143875" y="4724400"/>
            <a:ext cx="6477000" cy="752475"/>
          </a:xfrm>
          <a:prstGeom xmlns:a="http://schemas.openxmlformats.org/drawingml/2006/main" prst="rect">
            <a:avLst/>
          </a:prstGeom>
          <a:solidFill xmlns:a="http://schemas.openxmlformats.org/drawingml/2006/main">
            <a:srgbClr val="F5E7EB"/>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4E5B0D5-A155-49B7-A7B1-28F3181CB234}"/>
              </a:ext>
            </a:extLst>
          </p:cNvPr>
          <p:cNvSpPr>
            <a:spLocks xmlns:a="http://schemas.openxmlformats.org/drawingml/2006/main" noGrp="1"/>
          </p:cNvSpPr>
          <p:nvPr/>
        </p:nvSpPr>
        <p:spPr>
          <a:xfrm xmlns:a="http://schemas.openxmlformats.org/drawingml/2006/main">
            <a:off x="8334375" y="4886325"/>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Broad automatic rewriting</a:t>
            </a:r>
          </a:p>
        </p:txBody>
      </p:sp>
      <p:sp>
        <p:nvSpPr>
          <p:cNvPr id="22" name="">
            <a:extLst xmlns:a="http://schemas.openxmlformats.org/drawingml/2006/main">
              <a:ext uri="{FF2B5EF4-FFF2-40B4-BE49-F238E27FC236}">
                <a16:creationId xmlns:a16="http://schemas.microsoft.com/office/drawing/2014/main" id="{4FB4A1C2-7402-4CFE-B4E2-6B04A75AF233}"/>
              </a:ext>
            </a:extLst>
          </p:cNvPr>
          <p:cNvSpPr>
            <a:spLocks xmlns:a="http://schemas.openxmlformats.org/drawingml/2006/main" noGrp="1"/>
          </p:cNvSpPr>
          <p:nvPr/>
        </p:nvSpPr>
        <p:spPr>
          <a:xfrm xmlns:a="http://schemas.openxmlformats.org/drawingml/2006/main">
            <a:off x="8143875" y="5648325"/>
            <a:ext cx="6477000" cy="752475"/>
          </a:xfrm>
          <a:prstGeom xmlns:a="http://schemas.openxmlformats.org/drawingml/2006/main" prst="rect">
            <a:avLst/>
          </a:prstGeom>
          <a:solidFill xmlns:a="http://schemas.openxmlformats.org/drawingml/2006/main">
            <a:srgbClr val="F5E7EB"/>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947230-53B3-483F-B69E-5BEE6DA518EE}"/>
              </a:ext>
            </a:extLst>
          </p:cNvPr>
          <p:cNvSpPr>
            <a:spLocks xmlns:a="http://schemas.openxmlformats.org/drawingml/2006/main" noGrp="1"/>
          </p:cNvSpPr>
          <p:nvPr/>
        </p:nvSpPr>
        <p:spPr>
          <a:xfrm xmlns:a="http://schemas.openxmlformats.org/drawingml/2006/main">
            <a:off x="8334375" y="5810250"/>
            <a:ext cx="6096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Source-position manipulation</a:t>
            </a:r>
          </a:p>
        </p:txBody>
      </p:sp>
    </p:spTree>
    <p:extLst>
      <p:ext uri="{BB962C8B-B14F-4D97-AF65-F5344CB8AC3E}">
        <p14:creationId xmlns:p14="http://schemas.microsoft.com/office/powerpoint/2010/main" val="834191816"/>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ECA97A4-B512-4213-B277-C177B7C2EE1A}"/>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9CA55DEC-4D4E-4F60-873E-E726C37D79AB}"/>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The combined page transformation</a:t>
            </a:r>
          </a:p>
        </p:txBody>
      </p:sp>
      <p:sp>
        <p:nvSpPr>
          <p:cNvPr id="3" name="">
            <a:extLst xmlns:a="http://schemas.openxmlformats.org/drawingml/2006/main">
              <a:ext uri="{FF2B5EF4-FFF2-40B4-BE49-F238E27FC236}">
                <a16:creationId xmlns:a16="http://schemas.microsoft.com/office/drawing/2014/main" id="{1096528B-A461-4AC4-A4CE-19385960205E}"/>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9ECDEC-C9FC-4565-AA22-998FE4CAF9C3}"/>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52 page outputs, with supported structure and a final extraction refinement.</a:t>
            </a:r>
          </a:p>
        </p:txBody>
      </p:sp>
      <p:sp>
        <p:nvSpPr>
          <p:cNvPr id="5" name="">
            <a:extLst xmlns:a="http://schemas.openxmlformats.org/drawingml/2006/main">
              <a:ext uri="{FF2B5EF4-FFF2-40B4-BE49-F238E27FC236}">
                <a16:creationId xmlns:a16="http://schemas.microsoft.com/office/drawing/2014/main" id="{C1082012-A686-4632-B5B1-41613296CAB0}"/>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7 / 18   •   Evidence: C11, C12 | Full claim ledger in submission</a:t>
            </a:r>
          </a:p>
        </p:txBody>
      </p:sp>
      <p:sp>
        <p:nvSpPr>
          <p:cNvPr id="6" name="">
            <a:extLst xmlns:a="http://schemas.openxmlformats.org/drawingml/2006/main">
              <a:ext uri="{FF2B5EF4-FFF2-40B4-BE49-F238E27FC236}">
                <a16:creationId xmlns:a16="http://schemas.microsoft.com/office/drawing/2014/main" id="{E55B0394-3C84-47E5-A89E-EA63CB14D47F}"/>
              </a:ext>
            </a:extLst>
          </p:cNvPr>
          <p:cNvSpPr>
            <a:spLocks xmlns:a="http://schemas.openxmlformats.org/drawingml/2006/main" noGrp="1"/>
          </p:cNvSpPr>
          <p:nvPr/>
        </p:nvSpPr>
        <p:spPr>
          <a:xfrm xmlns:a="http://schemas.openxmlformats.org/drawingml/2006/main">
            <a:off x="619125" y="2476500"/>
            <a:ext cx="3143250" cy="223837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7" name="">
            <a:extLst xmlns:a="http://schemas.openxmlformats.org/drawingml/2006/main">
              <a:ext uri="{FF2B5EF4-FFF2-40B4-BE49-F238E27FC236}">
                <a16:creationId xmlns:a16="http://schemas.microsoft.com/office/drawing/2014/main" id="{65C96086-90D2-4FE5-B916-D45C6C8A84DB}"/>
              </a:ext>
            </a:extLst>
          </p:cNvPr>
          <p:cNvSpPr>
            <a:spLocks xmlns:a="http://schemas.openxmlformats.org/drawingml/2006/main" noGrp="1"/>
          </p:cNvSpPr>
          <p:nvPr/>
        </p:nvSpPr>
        <p:spPr>
          <a:xfrm xmlns:a="http://schemas.openxmlformats.org/drawingml/2006/main">
            <a:off x="619125" y="2476500"/>
            <a:ext cx="66675" cy="223837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85714D1-99A3-4C9F-BEBE-03B4FE98D9FD}"/>
              </a:ext>
            </a:extLst>
          </p:cNvPr>
          <p:cNvSpPr>
            <a:spLocks xmlns:a="http://schemas.openxmlformats.org/drawingml/2006/main" noGrp="1"/>
          </p:cNvSpPr>
          <p:nvPr/>
        </p:nvSpPr>
        <p:spPr>
          <a:xfrm xmlns:a="http://schemas.openxmlformats.org/drawingml/2006/main">
            <a:off x="809625" y="261937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Rendered content</a:t>
            </a:r>
          </a:p>
        </p:txBody>
      </p:sp>
      <p:sp>
        <p:nvSpPr>
          <p:cNvPr id="9" name="">
            <a:extLst xmlns:a="http://schemas.openxmlformats.org/drawingml/2006/main">
              <a:ext uri="{FF2B5EF4-FFF2-40B4-BE49-F238E27FC236}">
                <a16:creationId xmlns:a16="http://schemas.microsoft.com/office/drawing/2014/main" id="{CF984065-9A90-49AD-AA0B-C401B1762C7B}"/>
              </a:ext>
            </a:extLst>
          </p:cNvPr>
          <p:cNvSpPr>
            <a:spLocks xmlns:a="http://schemas.openxmlformats.org/drawingml/2006/main" noGrp="1"/>
          </p:cNvSpPr>
          <p:nvPr/>
        </p:nvSpPr>
        <p:spPr>
          <a:xfrm xmlns:a="http://schemas.openxmlformats.org/drawingml/2006/main">
            <a:off x="809625" y="320992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Captured offers and page information</a:t>
            </a:r>
          </a:p>
        </p:txBody>
      </p:sp>
      <p:sp>
        <p:nvSpPr>
          <p:cNvPr id="10" name="">
            <a:extLst xmlns:a="http://schemas.openxmlformats.org/drawingml/2006/main">
              <a:ext uri="{FF2B5EF4-FFF2-40B4-BE49-F238E27FC236}">
                <a16:creationId xmlns:a16="http://schemas.microsoft.com/office/drawing/2014/main" id="{01038C9B-6C0B-4F21-9B39-5E5713F914C2}"/>
              </a:ext>
            </a:extLst>
          </p:cNvPr>
          <p:cNvSpPr>
            <a:spLocks xmlns:a="http://schemas.openxmlformats.org/drawingml/2006/main" noGrp="1"/>
          </p:cNvSpPr>
          <p:nvPr/>
        </p:nvSpPr>
        <p:spPr>
          <a:xfrm xmlns:a="http://schemas.openxmlformats.org/drawingml/2006/main">
            <a:off x="3857625" y="347662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7F29985-7E59-4217-BEC7-1943CBB538CA}"/>
              </a:ext>
            </a:extLst>
          </p:cNvPr>
          <p:cNvSpPr>
            <a:spLocks xmlns:a="http://schemas.openxmlformats.org/drawingml/2006/main" noGrp="1"/>
          </p:cNvSpPr>
          <p:nvPr/>
        </p:nvSpPr>
        <p:spPr>
          <a:xfrm xmlns:a="http://schemas.openxmlformats.org/drawingml/2006/main">
            <a:off x="4257675" y="2476500"/>
            <a:ext cx="3143250" cy="223837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2" name="">
            <a:extLst xmlns:a="http://schemas.openxmlformats.org/drawingml/2006/main">
              <a:ext uri="{FF2B5EF4-FFF2-40B4-BE49-F238E27FC236}">
                <a16:creationId xmlns:a16="http://schemas.microsoft.com/office/drawing/2014/main" id="{13859969-555A-4A5A-8481-0A936F1F2357}"/>
              </a:ext>
            </a:extLst>
          </p:cNvPr>
          <p:cNvSpPr>
            <a:spLocks xmlns:a="http://schemas.openxmlformats.org/drawingml/2006/main" noGrp="1"/>
          </p:cNvSpPr>
          <p:nvPr/>
        </p:nvSpPr>
        <p:spPr>
          <a:xfrm xmlns:a="http://schemas.openxmlformats.org/drawingml/2006/main">
            <a:off x="4257675" y="2476500"/>
            <a:ext cx="66675" cy="223837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F29C18E-99EC-4AB1-A67F-A7A45C532C50}"/>
              </a:ext>
            </a:extLst>
          </p:cNvPr>
          <p:cNvSpPr>
            <a:spLocks xmlns:a="http://schemas.openxmlformats.org/drawingml/2006/main" noGrp="1"/>
          </p:cNvSpPr>
          <p:nvPr/>
        </p:nvSpPr>
        <p:spPr>
          <a:xfrm xmlns:a="http://schemas.openxmlformats.org/drawingml/2006/main">
            <a:off x="4448175" y="261937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Semantic cleanup</a:t>
            </a:r>
          </a:p>
        </p:txBody>
      </p:sp>
      <p:sp>
        <p:nvSpPr>
          <p:cNvPr id="14" name="">
            <a:extLst xmlns:a="http://schemas.openxmlformats.org/drawingml/2006/main">
              <a:ext uri="{FF2B5EF4-FFF2-40B4-BE49-F238E27FC236}">
                <a16:creationId xmlns:a16="http://schemas.microsoft.com/office/drawing/2014/main" id="{849CD438-2838-40AD-A231-3CDA6965140A}"/>
              </a:ext>
            </a:extLst>
          </p:cNvPr>
          <p:cNvSpPr>
            <a:spLocks xmlns:a="http://schemas.openxmlformats.org/drawingml/2006/main" noGrp="1"/>
          </p:cNvSpPr>
          <p:nvPr/>
        </p:nvSpPr>
        <p:spPr>
          <a:xfrm xmlns:a="http://schemas.openxmlformats.org/drawingml/2006/main">
            <a:off x="4448175" y="320992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Preserve digits, labels and conditions</a:t>
            </a:r>
          </a:p>
        </p:txBody>
      </p:sp>
      <p:sp>
        <p:nvSpPr>
          <p:cNvPr id="15" name="">
            <a:extLst xmlns:a="http://schemas.openxmlformats.org/drawingml/2006/main">
              <a:ext uri="{FF2B5EF4-FFF2-40B4-BE49-F238E27FC236}">
                <a16:creationId xmlns:a16="http://schemas.microsoft.com/office/drawing/2014/main" id="{78249F86-A120-4CB4-B75A-509D6D14F8CA}"/>
              </a:ext>
            </a:extLst>
          </p:cNvPr>
          <p:cNvSpPr>
            <a:spLocks xmlns:a="http://schemas.openxmlformats.org/drawingml/2006/main" noGrp="1"/>
          </p:cNvSpPr>
          <p:nvPr/>
        </p:nvSpPr>
        <p:spPr>
          <a:xfrm xmlns:a="http://schemas.openxmlformats.org/drawingml/2006/main">
            <a:off x="7496175" y="347662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9D501B5-8F51-4B69-A501-0FE59439D289}"/>
              </a:ext>
            </a:extLst>
          </p:cNvPr>
          <p:cNvSpPr>
            <a:spLocks xmlns:a="http://schemas.openxmlformats.org/drawingml/2006/main" noGrp="1"/>
          </p:cNvSpPr>
          <p:nvPr/>
        </p:nvSpPr>
        <p:spPr>
          <a:xfrm xmlns:a="http://schemas.openxmlformats.org/drawingml/2006/main">
            <a:off x="7896225" y="2476500"/>
            <a:ext cx="3143250" cy="223837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7" name="">
            <a:extLst xmlns:a="http://schemas.openxmlformats.org/drawingml/2006/main">
              <a:ext uri="{FF2B5EF4-FFF2-40B4-BE49-F238E27FC236}">
                <a16:creationId xmlns:a16="http://schemas.microsoft.com/office/drawing/2014/main" id="{DD690E41-CE64-40E4-9E78-24C41E3633DE}"/>
              </a:ext>
            </a:extLst>
          </p:cNvPr>
          <p:cNvSpPr>
            <a:spLocks xmlns:a="http://schemas.openxmlformats.org/drawingml/2006/main" noGrp="1"/>
          </p:cNvSpPr>
          <p:nvPr/>
        </p:nvSpPr>
        <p:spPr>
          <a:xfrm xmlns:a="http://schemas.openxmlformats.org/drawingml/2006/main">
            <a:off x="7896225" y="2476500"/>
            <a:ext cx="66675" cy="223837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C48F0D0-6B47-47D1-9DC4-D335B217F87A}"/>
              </a:ext>
            </a:extLst>
          </p:cNvPr>
          <p:cNvSpPr>
            <a:spLocks xmlns:a="http://schemas.openxmlformats.org/drawingml/2006/main" noGrp="1"/>
          </p:cNvSpPr>
          <p:nvPr/>
        </p:nvSpPr>
        <p:spPr>
          <a:xfrm xmlns:a="http://schemas.openxmlformats.org/drawingml/2006/main">
            <a:off x="8086725" y="261937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Joint facts + Q&amp;A</a:t>
            </a:r>
          </a:p>
        </p:txBody>
      </p:sp>
      <p:sp>
        <p:nvSpPr>
          <p:cNvPr id="19" name="">
            <a:extLst xmlns:a="http://schemas.openxmlformats.org/drawingml/2006/main">
              <a:ext uri="{FF2B5EF4-FFF2-40B4-BE49-F238E27FC236}">
                <a16:creationId xmlns:a16="http://schemas.microsoft.com/office/drawing/2014/main" id="{D7D39986-A163-46F1-9BA6-83BD3AC224BD}"/>
              </a:ext>
            </a:extLst>
          </p:cNvPr>
          <p:cNvSpPr>
            <a:spLocks xmlns:a="http://schemas.openxmlformats.org/drawingml/2006/main" noGrp="1"/>
          </p:cNvSpPr>
          <p:nvPr/>
        </p:nvSpPr>
        <p:spPr>
          <a:xfrm xmlns:a="http://schemas.openxmlformats.org/drawingml/2006/main">
            <a:off x="8086725" y="320992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Group supported route information</a:t>
            </a:r>
          </a:p>
        </p:txBody>
      </p:sp>
      <p:sp>
        <p:nvSpPr>
          <p:cNvPr id="20" name="">
            <a:extLst xmlns:a="http://schemas.openxmlformats.org/drawingml/2006/main">
              <a:ext uri="{FF2B5EF4-FFF2-40B4-BE49-F238E27FC236}">
                <a16:creationId xmlns:a16="http://schemas.microsoft.com/office/drawing/2014/main" id="{D91A2DD7-3A20-4E25-BEA4-4486E8C44F42}"/>
              </a:ext>
            </a:extLst>
          </p:cNvPr>
          <p:cNvSpPr>
            <a:spLocks xmlns:a="http://schemas.openxmlformats.org/drawingml/2006/main" noGrp="1"/>
          </p:cNvSpPr>
          <p:nvPr/>
        </p:nvSpPr>
        <p:spPr>
          <a:xfrm xmlns:a="http://schemas.openxmlformats.org/drawingml/2006/main">
            <a:off x="11134725" y="3476625"/>
            <a:ext cx="400050"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058868D-BBA9-41EF-91FE-9E3D74EB9880}"/>
              </a:ext>
            </a:extLst>
          </p:cNvPr>
          <p:cNvSpPr>
            <a:spLocks xmlns:a="http://schemas.openxmlformats.org/drawingml/2006/main" noGrp="1"/>
          </p:cNvSpPr>
          <p:nvPr/>
        </p:nvSpPr>
        <p:spPr>
          <a:xfrm xmlns:a="http://schemas.openxmlformats.org/drawingml/2006/main">
            <a:off x="11534775" y="2476500"/>
            <a:ext cx="3143250" cy="2238375"/>
          </a:xfrm>
          <a:prstGeom xmlns:a="http://schemas.openxmlformats.org/drawingml/2006/main" prst="rect">
            <a:avLst/>
          </a:prstGeom>
          <a:solidFill xmlns:a="http://schemas.openxmlformats.org/drawingml/2006/main">
            <a:srgbClr val="FFFFFF"/>
          </a:solidFill>
          <a:ln xmlns:a="http://schemas.openxmlformats.org/drawingml/2006/main" w="19050">
            <a:solidFill>
              <a:srgbClr val="B42146"/>
            </a:solidFill>
          </a:ln>
        </p:spPr>
      </p:sp>
      <p:sp>
        <p:nvSpPr>
          <p:cNvPr id="22" name="">
            <a:extLst xmlns:a="http://schemas.openxmlformats.org/drawingml/2006/main">
              <a:ext uri="{FF2B5EF4-FFF2-40B4-BE49-F238E27FC236}">
                <a16:creationId xmlns:a16="http://schemas.microsoft.com/office/drawing/2014/main" id="{0786CD16-DC92-4EBB-80FD-22D91BAB7985}"/>
              </a:ext>
            </a:extLst>
          </p:cNvPr>
          <p:cNvSpPr>
            <a:spLocks xmlns:a="http://schemas.openxmlformats.org/drawingml/2006/main" noGrp="1"/>
          </p:cNvSpPr>
          <p:nvPr/>
        </p:nvSpPr>
        <p:spPr>
          <a:xfrm xmlns:a="http://schemas.openxmlformats.org/drawingml/2006/main">
            <a:off x="11534775" y="2476500"/>
            <a:ext cx="66675" cy="22383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2352749-C884-459D-BEDF-03F92A604B3A}"/>
              </a:ext>
            </a:extLst>
          </p:cNvPr>
          <p:cNvSpPr>
            <a:spLocks xmlns:a="http://schemas.openxmlformats.org/drawingml/2006/main" noGrp="1"/>
          </p:cNvSpPr>
          <p:nvPr/>
        </p:nvSpPr>
        <p:spPr>
          <a:xfrm xmlns:a="http://schemas.openxmlformats.org/drawingml/2006/main">
            <a:off x="11725275" y="261937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FAQ refinement</a:t>
            </a:r>
          </a:p>
        </p:txBody>
      </p:sp>
      <p:sp>
        <p:nvSpPr>
          <p:cNvPr id="24" name="">
            <a:extLst xmlns:a="http://schemas.openxmlformats.org/drawingml/2006/main">
              <a:ext uri="{FF2B5EF4-FFF2-40B4-BE49-F238E27FC236}">
                <a16:creationId xmlns:a16="http://schemas.microsoft.com/office/drawing/2014/main" id="{E26177E7-3696-4B5F-B8B1-770503D5F7DE}"/>
              </a:ext>
            </a:extLst>
          </p:cNvPr>
          <p:cNvSpPr>
            <a:spLocks xmlns:a="http://schemas.openxmlformats.org/drawingml/2006/main" noGrp="1"/>
          </p:cNvSpPr>
          <p:nvPr/>
        </p:nvSpPr>
        <p:spPr>
          <a:xfrm xmlns:a="http://schemas.openxmlformats.org/drawingml/2006/main">
            <a:off x="11725275" y="320992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Restore labels and eligible ordering</a:t>
            </a:r>
          </a:p>
        </p:txBody>
      </p:sp>
      <p:sp>
        <p:nvSpPr>
          <p:cNvPr id="25" name="">
            <a:extLst xmlns:a="http://schemas.openxmlformats.org/drawingml/2006/main">
              <a:ext uri="{FF2B5EF4-FFF2-40B4-BE49-F238E27FC236}">
                <a16:creationId xmlns:a16="http://schemas.microsoft.com/office/drawing/2014/main" id="{83D781A2-7D5A-4750-96A9-27E3CBA5ACFA}"/>
              </a:ext>
            </a:extLst>
          </p:cNvPr>
          <p:cNvSpPr>
            <a:spLocks xmlns:a="http://schemas.openxmlformats.org/drawingml/2006/main" noGrp="1"/>
          </p:cNvSpPr>
          <p:nvPr/>
        </p:nvSpPr>
        <p:spPr>
          <a:xfrm xmlns:a="http://schemas.openxmlformats.org/drawingml/2006/main">
            <a:off x="619125" y="5295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B42146"/>
                </a:solidFill>
                <a:latin typeface="Arial"/>
                <a:ea typeface="Arial"/>
                <a:cs typeface="Arial"/>
              </a:defRPr>
            </a:defPPr>
          </a:lstStyle>
          <a:p xmlns:a="http://schemas.openxmlformats.org/drawingml/2006/main">
            <a:pPr>
              <a:defRPr sz="3450" b="1">
                <a:solidFill>
                  <a:srgbClr val="B42146"/>
                </a:solidFill>
                <a:latin typeface="Arial"/>
                <a:ea typeface="Arial"/>
                <a:cs typeface="Arial"/>
              </a:defRPr>
            </a:pPr>
            <a:r>
              <a:rPr sz="3450" b="1">
                <a:solidFill>
                  <a:srgbClr val="B42146"/>
                </a:solidFill>
                <a:latin typeface="Arial"/>
                <a:ea typeface="Arial"/>
                <a:cs typeface="Arial"/>
              </a:rPr>
              <a:t>52 page outputs</a:t>
            </a:r>
          </a:p>
        </p:txBody>
      </p:sp>
      <p:sp>
        <p:nvSpPr>
          <p:cNvPr id="26" name="">
            <a:extLst xmlns:a="http://schemas.openxmlformats.org/drawingml/2006/main">
              <a:ext uri="{FF2B5EF4-FFF2-40B4-BE49-F238E27FC236}">
                <a16:creationId xmlns:a16="http://schemas.microsoft.com/office/drawing/2014/main" id="{990F94B7-9453-4487-B72E-7BDC9DE8E9DC}"/>
              </a:ext>
            </a:extLst>
          </p:cNvPr>
          <p:cNvSpPr>
            <a:spLocks xmlns:a="http://schemas.openxmlformats.org/drawingml/2006/main" noGrp="1"/>
          </p:cNvSpPr>
          <p:nvPr/>
        </p:nvSpPr>
        <p:spPr>
          <a:xfrm xmlns:a="http://schemas.openxmlformats.org/drawingml/2006/main">
            <a:off x="5476875" y="5295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42D3D"/>
                </a:solidFill>
                <a:latin typeface="Arial"/>
                <a:ea typeface="Arial"/>
                <a:cs typeface="Arial"/>
              </a:defRPr>
            </a:defPPr>
          </a:lstStyle>
          <a:p xmlns:a="http://schemas.openxmlformats.org/drawingml/2006/main">
            <a:pPr>
              <a:defRPr sz="3000" b="1">
                <a:solidFill>
                  <a:srgbClr val="142D3D"/>
                </a:solidFill>
                <a:latin typeface="Arial"/>
                <a:ea typeface="Arial"/>
                <a:cs typeface="Arial"/>
              </a:defRPr>
            </a:pPr>
            <a:r>
              <a:rPr sz="3000" b="1">
                <a:solidFill>
                  <a:srgbClr val="142D3D"/>
                </a:solidFill>
                <a:latin typeface="Arial"/>
                <a:ea typeface="Arial"/>
                <a:cs typeface="Arial"/>
              </a:rPr>
              <a:t>27 grounded sections</a:t>
            </a:r>
          </a:p>
        </p:txBody>
      </p:sp>
      <p:sp>
        <p:nvSpPr>
          <p:cNvPr id="27" name="">
            <a:extLst xmlns:a="http://schemas.openxmlformats.org/drawingml/2006/main">
              <a:ext uri="{FF2B5EF4-FFF2-40B4-BE49-F238E27FC236}">
                <a16:creationId xmlns:a16="http://schemas.microsoft.com/office/drawing/2014/main" id="{A8ABC03E-E855-4387-BF35-D7283EFE32DA}"/>
              </a:ext>
            </a:extLst>
          </p:cNvPr>
          <p:cNvSpPr>
            <a:spLocks xmlns:a="http://schemas.openxmlformats.org/drawingml/2006/main" noGrp="1"/>
          </p:cNvSpPr>
          <p:nvPr/>
        </p:nvSpPr>
        <p:spPr>
          <a:xfrm xmlns:a="http://schemas.openxmlformats.org/drawingml/2006/main">
            <a:off x="10334625" y="5295900"/>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75" b="1">
                <a:solidFill>
                  <a:srgbClr val="142D3D"/>
                </a:solidFill>
                <a:latin typeface="Arial"/>
                <a:ea typeface="Arial"/>
                <a:cs typeface="Arial"/>
              </a:defRPr>
            </a:defPPr>
          </a:lstStyle>
          <a:p xmlns:a="http://schemas.openxmlformats.org/drawingml/2006/main">
            <a:pPr>
              <a:defRPr sz="2775" b="1">
                <a:solidFill>
                  <a:srgbClr val="142D3D"/>
                </a:solidFill>
                <a:latin typeface="Arial"/>
                <a:ea typeface="Arial"/>
                <a:cs typeface="Arial"/>
              </a:defRPr>
            </a:pPr>
            <a:r>
              <a:rPr sz="2775" b="1">
                <a:solidFill>
                  <a:srgbClr val="142D3D"/>
                </a:solidFill>
                <a:latin typeface="Arial"/>
                <a:ea typeface="Arial"/>
                <a:cs typeface="Arial"/>
              </a:rPr>
              <a:t>429 FAQ labels restored</a:t>
            </a:r>
          </a:p>
        </p:txBody>
      </p:sp>
      <p:sp>
        <p:nvSpPr>
          <p:cNvPr id="28" name="">
            <a:extLst xmlns:a="http://schemas.openxmlformats.org/drawingml/2006/main">
              <a:ext uri="{FF2B5EF4-FFF2-40B4-BE49-F238E27FC236}">
                <a16:creationId xmlns:a16="http://schemas.microsoft.com/office/drawing/2014/main" id="{AFF875E7-9D20-4242-9535-8AABFFEAB5EE}"/>
              </a:ext>
            </a:extLst>
          </p:cNvPr>
          <p:cNvSpPr>
            <a:spLocks xmlns:a="http://schemas.openxmlformats.org/drawingml/2006/main" noGrp="1"/>
          </p:cNvSpPr>
          <p:nvPr/>
        </p:nvSpPr>
        <p:spPr>
          <a:xfrm xmlns:a="http://schemas.openxmlformats.org/drawingml/2006/main">
            <a:off x="619125" y="6429375"/>
            <a:ext cx="14001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506574"/>
                </a:solidFill>
                <a:latin typeface="Arial"/>
                <a:ea typeface="Arial"/>
                <a:cs typeface="Arial"/>
              </a:defRPr>
            </a:defPPr>
          </a:lstStyle>
          <a:p xmlns:a="http://schemas.openxmlformats.org/drawingml/2006/main">
            <a:pPr>
              <a:defRPr sz="2175" b="0">
                <a:solidFill>
                  <a:srgbClr val="506574"/>
                </a:solidFill>
                <a:latin typeface="Arial"/>
                <a:ea typeface="Arial"/>
                <a:cs typeface="Arial"/>
              </a:defRPr>
            </a:pPr>
            <a:r>
              <a:rPr sz="2175" b="0">
                <a:solidFill>
                  <a:srgbClr val="506574"/>
                </a:solidFill>
                <a:latin typeface="Arial"/>
                <a:ea typeface="Arial"/>
                <a:cs typeface="Arial"/>
              </a:rPr>
              <a:t>Outside this package: added schema, external enrichment, automatic rewriting and source-position manipulation.</a:t>
            </a:r>
          </a:p>
        </p:txBody>
      </p:sp>
    </p:spTree>
    <p:extLst>
      <p:ext uri="{BB962C8B-B14F-4D97-AF65-F5344CB8AC3E}">
        <p14:creationId xmlns:p14="http://schemas.microsoft.com/office/powerpoint/2010/main" val="227686166"/>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F51E75-6475-49D6-8966-EE97A424E7C9}"/>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D85B2591-296D-42D3-8F96-4796AAACEBDC}"/>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Offer information before and after</a:t>
            </a:r>
          </a:p>
        </p:txBody>
      </p:sp>
      <p:sp>
        <p:nvSpPr>
          <p:cNvPr id="3" name="">
            <a:extLst xmlns:a="http://schemas.openxmlformats.org/drawingml/2006/main">
              <a:ext uri="{FF2B5EF4-FFF2-40B4-BE49-F238E27FC236}">
                <a16:creationId xmlns:a16="http://schemas.microsoft.com/office/drawing/2014/main" id="{AC7CD17A-9312-42D5-A13F-3456E1E242BD}"/>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3C6E6E-B86F-4C7A-9E9A-1A181C916086}"/>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Rendering changes what information is available; this example is not a price-reduction claim.</a:t>
            </a:r>
          </a:p>
        </p:txBody>
      </p:sp>
      <p:sp>
        <p:nvSpPr>
          <p:cNvPr id="5" name="">
            <a:extLst xmlns:a="http://schemas.openxmlformats.org/drawingml/2006/main">
              <a:ext uri="{FF2B5EF4-FFF2-40B4-BE49-F238E27FC236}">
                <a16:creationId xmlns:a16="http://schemas.microsoft.com/office/drawing/2014/main" id="{908440ED-A183-4737-B8C5-921C4F58043D}"/>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8 / 18   •   Evidence: C10, C12 | Full claim ledger in submission</a:t>
            </a:r>
          </a:p>
        </p:txBody>
      </p:sp>
      <p:pic>
        <p:nvPicPr>
          <p:cNvPr id="6" name="">
            <a:extLst xmlns:a="http://schemas.openxmlformats.org/drawingml/2006/main">
              <a:ext uri="{FF2B5EF4-FFF2-40B4-BE49-F238E27FC236}">
                <a16:creationId xmlns:a16="http://schemas.microsoft.com/office/drawing/2014/main" id="{6397459C-6236-4758-963D-E6C0C3509AED}"/>
              </a:ext>
            </a:extLst>
          </p:cNvPr>
          <p:cNvPicPr>
            <a:picLocks xmlns:a="http://schemas.openxmlformats.org/drawingml/2006/main" noChangeAspect="1"/>
          </p:cNvPicPr>
          <p:nvPr/>
        </p:nvPicPr>
        <p:blipFill>
          <a:blip xmlns:r="http://schemas.openxmlformats.org/officeDocument/2006/relationships" xmlns:a="http://schemas.openxmlformats.org/drawingml/2006/main" r:embed="R4d2e4f7876eb4372"/>
          <a:stretch xmlns:a="http://schemas.openxmlformats.org/drawingml/2006/main"/>
        </p:blipFill>
        <p:spPr>
          <a:xfrm xmlns:a="http://schemas.openxmlformats.org/drawingml/2006/main">
            <a:off x="1841373" y="2114550"/>
            <a:ext cx="11557254" cy="4981575"/>
          </a:xfrm>
          <a:prstGeom xmlns:a="http://schemas.openxmlformats.org/drawingml/2006/main" prst="rect">
            <a:avLst/>
          </a:prstGeom>
        </p:spPr>
      </p:pic>
    </p:spTree>
    <p:extLst>
      <p:ext uri="{BB962C8B-B14F-4D97-AF65-F5344CB8AC3E}">
        <p14:creationId xmlns:p14="http://schemas.microsoft.com/office/powerpoint/2010/main" val="1021528577"/>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0E846F-3DD6-4F5C-8161-32FF6C009402}"/>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3D989664-BC1D-4279-A108-33CDEA44F6E0}"/>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Restoring a captured FAQ question</a:t>
            </a:r>
          </a:p>
        </p:txBody>
      </p:sp>
      <p:sp>
        <p:nvSpPr>
          <p:cNvPr id="3" name="">
            <a:extLst xmlns:a="http://schemas.openxmlformats.org/drawingml/2006/main">
              <a:ext uri="{FF2B5EF4-FFF2-40B4-BE49-F238E27FC236}">
                <a16:creationId xmlns:a16="http://schemas.microsoft.com/office/drawing/2014/main" id="{4F0FAFCF-DB59-4D52-8322-F6E6BF557207}"/>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0AEE29-535C-4561-A654-5AC8BEFED678}"/>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Restore an existing label so the same captured answer has a clear purpose.</a:t>
            </a:r>
          </a:p>
        </p:txBody>
      </p:sp>
      <p:sp>
        <p:nvSpPr>
          <p:cNvPr id="5" name="">
            <a:extLst xmlns:a="http://schemas.openxmlformats.org/drawingml/2006/main">
              <a:ext uri="{FF2B5EF4-FFF2-40B4-BE49-F238E27FC236}">
                <a16:creationId xmlns:a16="http://schemas.microsoft.com/office/drawing/2014/main" id="{B6CE92A5-6310-4D00-8A05-64A8DF528DFD}"/>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9 / 18   •   Evidence: C11, C12 | Full claim ledger in submission</a:t>
            </a:r>
          </a:p>
        </p:txBody>
      </p:sp>
      <p:pic>
        <p:nvPicPr>
          <p:cNvPr id="6" name="">
            <a:extLst xmlns:a="http://schemas.openxmlformats.org/drawingml/2006/main">
              <a:ext uri="{FF2B5EF4-FFF2-40B4-BE49-F238E27FC236}">
                <a16:creationId xmlns:a16="http://schemas.microsoft.com/office/drawing/2014/main" id="{C23B0B22-82A3-4E04-880D-A425AE7C57A2}"/>
              </a:ext>
            </a:extLst>
          </p:cNvPr>
          <p:cNvPicPr>
            <a:picLocks xmlns:a="http://schemas.openxmlformats.org/drawingml/2006/main" noChangeAspect="1"/>
          </p:cNvPicPr>
          <p:nvPr/>
        </p:nvPicPr>
        <p:blipFill>
          <a:blip xmlns:r="http://schemas.openxmlformats.org/officeDocument/2006/relationships" xmlns:a="http://schemas.openxmlformats.org/drawingml/2006/main" r:embed="R16bde681f9df4143"/>
          <a:stretch xmlns:a="http://schemas.openxmlformats.org/drawingml/2006/main"/>
        </p:blipFill>
        <p:spPr>
          <a:xfrm xmlns:a="http://schemas.openxmlformats.org/drawingml/2006/main">
            <a:off x="1954679" y="2114550"/>
            <a:ext cx="11330641" cy="4981575"/>
          </a:xfrm>
          <a:prstGeom xmlns:a="http://schemas.openxmlformats.org/drawingml/2006/main" prst="rect">
            <a:avLst/>
          </a:prstGeom>
        </p:spPr>
      </p:pic>
    </p:spTree>
    <p:extLst>
      <p:ext uri="{BB962C8B-B14F-4D97-AF65-F5344CB8AC3E}">
        <p14:creationId xmlns:p14="http://schemas.microsoft.com/office/powerpoint/2010/main" val="1697127079"/>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3108E14-BA7D-4E13-9255-4EC9DA37EC8F}"/>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21F90836-2464-49D9-9B8A-615E1C8E813C}"/>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Implementation checks and their limits</a:t>
            </a:r>
          </a:p>
        </p:txBody>
      </p:sp>
      <p:sp>
        <p:nvSpPr>
          <p:cNvPr id="3" name="">
            <a:extLst xmlns:a="http://schemas.openxmlformats.org/drawingml/2006/main">
              <a:ext uri="{FF2B5EF4-FFF2-40B4-BE49-F238E27FC236}">
                <a16:creationId xmlns:a16="http://schemas.microsoft.com/office/drawing/2014/main" id="{FDAE1A96-3B14-4883-952C-F6D2449CB5CB}"/>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771545-1131-400B-8325-F546AC322601}"/>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The final FAQ-stage checks are strong; they do not remove every experimental limitation.</a:t>
            </a:r>
          </a:p>
        </p:txBody>
      </p:sp>
      <p:sp>
        <p:nvSpPr>
          <p:cNvPr id="5" name="">
            <a:extLst xmlns:a="http://schemas.openxmlformats.org/drawingml/2006/main">
              <a:ext uri="{FF2B5EF4-FFF2-40B4-BE49-F238E27FC236}">
                <a16:creationId xmlns:a16="http://schemas.microsoft.com/office/drawing/2014/main" id="{DDA66184-A300-4050-ACAF-659BEDB26CAD}"/>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10 / 18   •   Evidence: C09, C10, C11, C12 | Full claim ledger in submission</a:t>
            </a:r>
          </a:p>
        </p:txBody>
      </p:sp>
      <p:sp>
        <p:nvSpPr>
          <p:cNvPr id="6" name="">
            <a:extLst xmlns:a="http://schemas.openxmlformats.org/drawingml/2006/main">
              <a:ext uri="{FF2B5EF4-FFF2-40B4-BE49-F238E27FC236}">
                <a16:creationId xmlns:a16="http://schemas.microsoft.com/office/drawing/2014/main" id="{67F972C8-888F-486C-9118-BE9CA1BD79E2}"/>
              </a:ext>
            </a:extLst>
          </p:cNvPr>
          <p:cNvSpPr>
            <a:spLocks xmlns:a="http://schemas.openxmlformats.org/drawingml/2006/main" noGrp="1"/>
          </p:cNvSpPr>
          <p:nvPr/>
        </p:nvSpPr>
        <p:spPr>
          <a:xfrm xmlns:a="http://schemas.openxmlformats.org/drawingml/2006/main">
            <a:off x="619125" y="2486025"/>
            <a:ext cx="4286250" cy="228600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7" name="">
            <a:extLst xmlns:a="http://schemas.openxmlformats.org/drawingml/2006/main">
              <a:ext uri="{FF2B5EF4-FFF2-40B4-BE49-F238E27FC236}">
                <a16:creationId xmlns:a16="http://schemas.microsoft.com/office/drawing/2014/main" id="{94D74B6E-7650-48D4-A006-A76FAE1B42B7}"/>
              </a:ext>
            </a:extLst>
          </p:cNvPr>
          <p:cNvSpPr>
            <a:spLocks xmlns:a="http://schemas.openxmlformats.org/drawingml/2006/main" noGrp="1"/>
          </p:cNvSpPr>
          <p:nvPr/>
        </p:nvSpPr>
        <p:spPr>
          <a:xfrm xmlns:a="http://schemas.openxmlformats.org/drawingml/2006/main">
            <a:off x="619125" y="2486025"/>
            <a:ext cx="66675" cy="228600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2FDA0C-CAD2-4BF7-BCAE-2201AA28E101}"/>
              </a:ext>
            </a:extLst>
          </p:cNvPr>
          <p:cNvSpPr>
            <a:spLocks xmlns:a="http://schemas.openxmlformats.org/drawingml/2006/main" noGrp="1"/>
          </p:cNvSpPr>
          <p:nvPr/>
        </p:nvSpPr>
        <p:spPr>
          <a:xfrm xmlns:a="http://schemas.openxmlformats.org/drawingml/2006/main">
            <a:off x="809625" y="262890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1  Identity</a:t>
            </a:r>
          </a:p>
        </p:txBody>
      </p:sp>
      <p:sp>
        <p:nvSpPr>
          <p:cNvPr id="9" name="">
            <a:extLst xmlns:a="http://schemas.openxmlformats.org/drawingml/2006/main">
              <a:ext uri="{FF2B5EF4-FFF2-40B4-BE49-F238E27FC236}">
                <a16:creationId xmlns:a16="http://schemas.microsoft.com/office/drawing/2014/main" id="{9FA12C22-F31F-49D2-AB39-C44370E21943}"/>
              </a:ext>
            </a:extLst>
          </p:cNvPr>
          <p:cNvSpPr>
            <a:spLocks xmlns:a="http://schemas.openxmlformats.org/drawingml/2006/main" noGrp="1"/>
          </p:cNvSpPr>
          <p:nvPr/>
        </p:nvSpPr>
        <p:spPr>
          <a:xfrm xmlns:a="http://schemas.openxmlformats.org/drawingml/2006/main">
            <a:off x="809625" y="3219450"/>
            <a:ext cx="3905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Correct URL, input version and recorded fingerprints</a:t>
            </a:r>
          </a:p>
        </p:txBody>
      </p:sp>
      <p:sp>
        <p:nvSpPr>
          <p:cNvPr id="10" name="">
            <a:extLst xmlns:a="http://schemas.openxmlformats.org/drawingml/2006/main">
              <a:ext uri="{FF2B5EF4-FFF2-40B4-BE49-F238E27FC236}">
                <a16:creationId xmlns:a16="http://schemas.microsoft.com/office/drawing/2014/main" id="{2B1189B0-0811-4BBC-963A-B9436E979810}"/>
              </a:ext>
            </a:extLst>
          </p:cNvPr>
          <p:cNvSpPr>
            <a:spLocks xmlns:a="http://schemas.openxmlformats.org/drawingml/2006/main" noGrp="1"/>
          </p:cNvSpPr>
          <p:nvPr/>
        </p:nvSpPr>
        <p:spPr>
          <a:xfrm xmlns:a="http://schemas.openxmlformats.org/drawingml/2006/main">
            <a:off x="4981575" y="3505200"/>
            <a:ext cx="428625"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3AF4B0-502B-444F-94A5-09204109646E}"/>
              </a:ext>
            </a:extLst>
          </p:cNvPr>
          <p:cNvSpPr>
            <a:spLocks xmlns:a="http://schemas.openxmlformats.org/drawingml/2006/main" noGrp="1"/>
          </p:cNvSpPr>
          <p:nvPr/>
        </p:nvSpPr>
        <p:spPr>
          <a:xfrm xmlns:a="http://schemas.openxmlformats.org/drawingml/2006/main">
            <a:off x="5476875" y="2486025"/>
            <a:ext cx="4286250" cy="2286000"/>
          </a:xfrm>
          <a:prstGeom xmlns:a="http://schemas.openxmlformats.org/drawingml/2006/main" prst="rect">
            <a:avLst/>
          </a:prstGeom>
          <a:solidFill xmlns:a="http://schemas.openxmlformats.org/drawingml/2006/main">
            <a:srgbClr val="FFFFFF"/>
          </a:solidFill>
          <a:ln xmlns:a="http://schemas.openxmlformats.org/drawingml/2006/main" w="19050">
            <a:solidFill>
              <a:srgbClr val="B42146"/>
            </a:solidFill>
          </a:ln>
        </p:spPr>
      </p:sp>
      <p:sp>
        <p:nvSpPr>
          <p:cNvPr id="12" name="">
            <a:extLst xmlns:a="http://schemas.openxmlformats.org/drawingml/2006/main">
              <a:ext uri="{FF2B5EF4-FFF2-40B4-BE49-F238E27FC236}">
                <a16:creationId xmlns:a16="http://schemas.microsoft.com/office/drawing/2014/main" id="{E8145A01-C2D9-460A-A968-30520D1F7BA0}"/>
              </a:ext>
            </a:extLst>
          </p:cNvPr>
          <p:cNvSpPr>
            <a:spLocks xmlns:a="http://schemas.openxmlformats.org/drawingml/2006/main" noGrp="1"/>
          </p:cNvSpPr>
          <p:nvPr/>
        </p:nvSpPr>
        <p:spPr>
          <a:xfrm xmlns:a="http://schemas.openxmlformats.org/drawingml/2006/main">
            <a:off x="5476875" y="2486025"/>
            <a:ext cx="66675" cy="2286000"/>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D7CB6E6-AC42-4B93-AD4F-10326B9C84ED}"/>
              </a:ext>
            </a:extLst>
          </p:cNvPr>
          <p:cNvSpPr>
            <a:spLocks xmlns:a="http://schemas.openxmlformats.org/drawingml/2006/main" noGrp="1"/>
          </p:cNvSpPr>
          <p:nvPr/>
        </p:nvSpPr>
        <p:spPr>
          <a:xfrm xmlns:a="http://schemas.openxmlformats.org/drawingml/2006/main">
            <a:off x="5667375" y="262890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2  Meaning</a:t>
            </a:r>
          </a:p>
        </p:txBody>
      </p:sp>
      <p:sp>
        <p:nvSpPr>
          <p:cNvPr id="14" name="">
            <a:extLst xmlns:a="http://schemas.openxmlformats.org/drawingml/2006/main">
              <a:ext uri="{FF2B5EF4-FFF2-40B4-BE49-F238E27FC236}">
                <a16:creationId xmlns:a16="http://schemas.microsoft.com/office/drawing/2014/main" id="{C6C14DD8-4F34-4C65-931C-54EC9A1D5931}"/>
              </a:ext>
            </a:extLst>
          </p:cNvPr>
          <p:cNvSpPr>
            <a:spLocks xmlns:a="http://schemas.openxmlformats.org/drawingml/2006/main" noGrp="1"/>
          </p:cNvSpPr>
          <p:nvPr/>
        </p:nvSpPr>
        <p:spPr>
          <a:xfrm xmlns:a="http://schemas.openxmlformats.org/drawingml/2006/main">
            <a:off x="5667375" y="3219450"/>
            <a:ext cx="3905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FAQ refinement preserves answers, cards, metadata and links</a:t>
            </a:r>
          </a:p>
        </p:txBody>
      </p:sp>
      <p:sp>
        <p:nvSpPr>
          <p:cNvPr id="15" name="">
            <a:extLst xmlns:a="http://schemas.openxmlformats.org/drawingml/2006/main">
              <a:ext uri="{FF2B5EF4-FFF2-40B4-BE49-F238E27FC236}">
                <a16:creationId xmlns:a16="http://schemas.microsoft.com/office/drawing/2014/main" id="{BC469477-AF6E-44EC-A347-76545F2B7754}"/>
              </a:ext>
            </a:extLst>
          </p:cNvPr>
          <p:cNvSpPr>
            <a:spLocks xmlns:a="http://schemas.openxmlformats.org/drawingml/2006/main" noGrp="1"/>
          </p:cNvSpPr>
          <p:nvPr/>
        </p:nvSpPr>
        <p:spPr>
          <a:xfrm xmlns:a="http://schemas.openxmlformats.org/drawingml/2006/main">
            <a:off x="9839325" y="3505200"/>
            <a:ext cx="428625" cy="228600"/>
          </a:xfrm>
          <a:prstGeom xmlns:a="http://schemas.openxmlformats.org/drawingml/2006/main" prst="rightArrow">
            <a:avLst/>
          </a:prstGeom>
          <a:solidFill xmlns:a="http://schemas.openxmlformats.org/drawingml/2006/main">
            <a:srgbClr val="087D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80960BA-24D5-4C64-9567-C166753A1E65}"/>
              </a:ext>
            </a:extLst>
          </p:cNvPr>
          <p:cNvSpPr>
            <a:spLocks xmlns:a="http://schemas.openxmlformats.org/drawingml/2006/main" noGrp="1"/>
          </p:cNvSpPr>
          <p:nvPr/>
        </p:nvSpPr>
        <p:spPr>
          <a:xfrm xmlns:a="http://schemas.openxmlformats.org/drawingml/2006/main">
            <a:off x="10334625" y="2486025"/>
            <a:ext cx="4286250" cy="228600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7" name="">
            <a:extLst xmlns:a="http://schemas.openxmlformats.org/drawingml/2006/main">
              <a:ext uri="{FF2B5EF4-FFF2-40B4-BE49-F238E27FC236}">
                <a16:creationId xmlns:a16="http://schemas.microsoft.com/office/drawing/2014/main" id="{7D20EA2C-3FD9-404C-81E6-703D5365CB3D}"/>
              </a:ext>
            </a:extLst>
          </p:cNvPr>
          <p:cNvSpPr>
            <a:spLocks xmlns:a="http://schemas.openxmlformats.org/drawingml/2006/main" noGrp="1"/>
          </p:cNvSpPr>
          <p:nvPr/>
        </p:nvSpPr>
        <p:spPr>
          <a:xfrm xmlns:a="http://schemas.openxmlformats.org/drawingml/2006/main">
            <a:off x="10334625" y="2486025"/>
            <a:ext cx="66675" cy="228600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6329907-553B-4A61-99FA-FC301F504BED}"/>
              </a:ext>
            </a:extLst>
          </p:cNvPr>
          <p:cNvSpPr>
            <a:spLocks xmlns:a="http://schemas.openxmlformats.org/drawingml/2006/main" noGrp="1"/>
          </p:cNvSpPr>
          <p:nvPr/>
        </p:nvSpPr>
        <p:spPr>
          <a:xfrm xmlns:a="http://schemas.openxmlformats.org/drawingml/2006/main">
            <a:off x="10525125" y="2628900"/>
            <a:ext cx="390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3  Delivery</a:t>
            </a:r>
          </a:p>
        </p:txBody>
      </p:sp>
      <p:sp>
        <p:nvSpPr>
          <p:cNvPr id="19" name="">
            <a:extLst xmlns:a="http://schemas.openxmlformats.org/drawingml/2006/main">
              <a:ext uri="{FF2B5EF4-FFF2-40B4-BE49-F238E27FC236}">
                <a16:creationId xmlns:a16="http://schemas.microsoft.com/office/drawing/2014/main" id="{39B244EB-FB2E-4F09-AA7B-34198BBB8800}"/>
              </a:ext>
            </a:extLst>
          </p:cNvPr>
          <p:cNvSpPr>
            <a:spLocks xmlns:a="http://schemas.openxmlformats.org/drawingml/2006/main" noGrp="1"/>
          </p:cNvSpPr>
          <p:nvPr/>
        </p:nvSpPr>
        <p:spPr>
          <a:xfrm xmlns:a="http://schemas.openxmlformats.org/drawingml/2006/main">
            <a:off x="10525125" y="3219450"/>
            <a:ext cx="3905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Inspect cleaned text and the exact model input budget</a:t>
            </a:r>
          </a:p>
        </p:txBody>
      </p:sp>
      <p:sp>
        <p:nvSpPr>
          <p:cNvPr id="20" name="">
            <a:extLst xmlns:a="http://schemas.openxmlformats.org/drawingml/2006/main">
              <a:ext uri="{FF2B5EF4-FFF2-40B4-BE49-F238E27FC236}">
                <a16:creationId xmlns:a16="http://schemas.microsoft.com/office/drawing/2014/main" id="{66BD22A4-B34F-46A1-979E-EBAC785B8B9F}"/>
              </a:ext>
            </a:extLst>
          </p:cNvPr>
          <p:cNvSpPr>
            <a:spLocks xmlns:a="http://schemas.openxmlformats.org/drawingml/2006/main" noGrp="1"/>
          </p:cNvSpPr>
          <p:nvPr/>
        </p:nvSpPr>
        <p:spPr>
          <a:xfrm xmlns:a="http://schemas.openxmlformats.org/drawingml/2006/main">
            <a:off x="619125" y="5276850"/>
            <a:ext cx="1428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625" b="1">
                <a:solidFill>
                  <a:srgbClr val="087D82"/>
                </a:solidFill>
                <a:latin typeface="Arial"/>
                <a:ea typeface="Arial"/>
                <a:cs typeface="Arial"/>
              </a:defRPr>
            </a:defPPr>
          </a:lstStyle>
          <a:p xmlns:a="http://schemas.openxmlformats.org/drawingml/2006/main">
            <a:pPr>
              <a:defRPr sz="5625" b="1">
                <a:solidFill>
                  <a:srgbClr val="087D82"/>
                </a:solidFill>
                <a:latin typeface="Arial"/>
                <a:ea typeface="Arial"/>
                <a:cs typeface="Arial"/>
              </a:defRPr>
            </a:pPr>
            <a:r>
              <a:rPr sz="5625" b="1">
                <a:solidFill>
                  <a:srgbClr val="087D82"/>
                </a:solidFill>
                <a:latin typeface="Arial"/>
                <a:ea typeface="Arial"/>
                <a:cs typeface="Arial"/>
              </a:rPr>
              <a:t>0</a:t>
            </a:r>
          </a:p>
        </p:txBody>
      </p:sp>
      <p:sp>
        <p:nvSpPr>
          <p:cNvPr id="21" name="">
            <a:extLst xmlns:a="http://schemas.openxmlformats.org/drawingml/2006/main">
              <a:ext uri="{FF2B5EF4-FFF2-40B4-BE49-F238E27FC236}">
                <a16:creationId xmlns:a16="http://schemas.microsoft.com/office/drawing/2014/main" id="{EA103A95-D448-40E3-A54C-7FE07E7527F1}"/>
              </a:ext>
            </a:extLst>
          </p:cNvPr>
          <p:cNvSpPr>
            <a:spLocks xmlns:a="http://schemas.openxmlformats.org/drawingml/2006/main" noGrp="1"/>
          </p:cNvSpPr>
          <p:nvPr/>
        </p:nvSpPr>
        <p:spPr>
          <a:xfrm xmlns:a="http://schemas.openxmlformats.org/drawingml/2006/main">
            <a:off x="2143125" y="5372100"/>
            <a:ext cx="1171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142D3D"/>
                </a:solidFill>
                <a:latin typeface="Arial"/>
                <a:ea typeface="Arial"/>
                <a:cs typeface="Arial"/>
              </a:defRPr>
            </a:defPPr>
          </a:lstStyle>
          <a:p xmlns:a="http://schemas.openxmlformats.org/drawingml/2006/main">
            <a:pPr>
              <a:defRPr sz="2625" b="1">
                <a:solidFill>
                  <a:srgbClr val="142D3D"/>
                </a:solidFill>
                <a:latin typeface="Arial"/>
                <a:ea typeface="Arial"/>
                <a:cs typeface="Arial"/>
              </a:defRPr>
            </a:pPr>
            <a:r>
              <a:rPr sz="2625" b="1">
                <a:solidFill>
                  <a:srgbClr val="142D3D"/>
                </a:solidFill>
                <a:latin typeface="Arial"/>
                <a:ea typeface="Arial"/>
                <a:cs typeface="Arial"/>
              </a:rPr>
              <a:t>restored FAQ pairs truncated in selected fixed pages</a:t>
            </a:r>
          </a:p>
        </p:txBody>
      </p:sp>
      <p:sp>
        <p:nvSpPr>
          <p:cNvPr id="22" name="">
            <a:extLst xmlns:a="http://schemas.openxmlformats.org/drawingml/2006/main">
              <a:ext uri="{FF2B5EF4-FFF2-40B4-BE49-F238E27FC236}">
                <a16:creationId xmlns:a16="http://schemas.microsoft.com/office/drawing/2014/main" id="{8FD6B065-112A-4609-BA64-D9AF3C6AC833}"/>
              </a:ext>
            </a:extLst>
          </p:cNvPr>
          <p:cNvSpPr>
            <a:spLocks xmlns:a="http://schemas.openxmlformats.org/drawingml/2006/main" noGrp="1"/>
          </p:cNvSpPr>
          <p:nvPr/>
        </p:nvSpPr>
        <p:spPr>
          <a:xfrm xmlns:a="http://schemas.openxmlformats.org/drawingml/2006/main">
            <a:off x="619125" y="6477000"/>
            <a:ext cx="1400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506574"/>
                </a:solidFill>
                <a:latin typeface="Arial"/>
                <a:ea typeface="Arial"/>
                <a:cs typeface="Arial"/>
              </a:defRPr>
            </a:defPPr>
          </a:lstStyle>
          <a:p xmlns:a="http://schemas.openxmlformats.org/drawingml/2006/main">
            <a:pPr>
              <a:defRPr sz="2175" b="0">
                <a:solidFill>
                  <a:srgbClr val="506574"/>
                </a:solidFill>
                <a:latin typeface="Arial"/>
                <a:ea typeface="Arial"/>
                <a:cs typeface="Arial"/>
              </a:defRPr>
            </a:pPr>
            <a:r>
              <a:rPr sz="2175" b="0">
                <a:solidFill>
                  <a:srgbClr val="506574"/>
                </a:solidFill>
                <a:latin typeface="Arial"/>
                <a:ea typeface="Arial"/>
                <a:cs typeface="Arial"/>
              </a:rPr>
              <a:t>Remaining limits: later capture dates, inherited claims, historical control and iterative selection.</a:t>
            </a:r>
          </a:p>
        </p:txBody>
      </p:sp>
    </p:spTree>
    <p:extLst>
      <p:ext uri="{BB962C8B-B14F-4D97-AF65-F5344CB8AC3E}">
        <p14:creationId xmlns:p14="http://schemas.microsoft.com/office/powerpoint/2010/main" val="62830516"/>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4AE2EEA-B8DF-47F1-BDE1-1860FD00749E}"/>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0CFC57A9-5461-409C-90FD-355EE1EBC17A}"/>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How an answer becomes a citation score</a:t>
            </a:r>
          </a:p>
        </p:txBody>
      </p:sp>
      <p:sp>
        <p:nvSpPr>
          <p:cNvPr id="3" name="">
            <a:extLst xmlns:a="http://schemas.openxmlformats.org/drawingml/2006/main">
              <a:ext uri="{FF2B5EF4-FFF2-40B4-BE49-F238E27FC236}">
                <a16:creationId xmlns:a16="http://schemas.microsoft.com/office/drawing/2014/main" id="{D84616C2-9F4B-4F6E-A7E7-BD50E32A6352}"/>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18BB26-11F3-491B-AFF9-E1B30EE351FE}"/>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The numbers identify supplied sources—not ranks, scores or method numbers.</a:t>
            </a:r>
          </a:p>
        </p:txBody>
      </p:sp>
      <p:sp>
        <p:nvSpPr>
          <p:cNvPr id="5" name="">
            <a:extLst xmlns:a="http://schemas.openxmlformats.org/drawingml/2006/main">
              <a:ext uri="{FF2B5EF4-FFF2-40B4-BE49-F238E27FC236}">
                <a16:creationId xmlns:a16="http://schemas.microsoft.com/office/drawing/2014/main" id="{1F79BF49-3461-4DEC-A6BD-BD12E6FA48E3}"/>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11 / 18   •   Evidence: C01, C03, C04 | Full claim ledger in submission</a:t>
            </a:r>
          </a:p>
        </p:txBody>
      </p:sp>
      <p:sp>
        <p:nvSpPr>
          <p:cNvPr id="6" name="">
            <a:extLst xmlns:a="http://schemas.openxmlformats.org/drawingml/2006/main">
              <a:ext uri="{FF2B5EF4-FFF2-40B4-BE49-F238E27FC236}">
                <a16:creationId xmlns:a16="http://schemas.microsoft.com/office/drawing/2014/main" id="{8C50E1AC-6F28-42B3-A179-9854DC9F641E}"/>
              </a:ext>
            </a:extLst>
          </p:cNvPr>
          <p:cNvSpPr>
            <a:spLocks xmlns:a="http://schemas.openxmlformats.org/drawingml/2006/main" noGrp="1"/>
          </p:cNvSpPr>
          <p:nvPr/>
        </p:nvSpPr>
        <p:spPr>
          <a:xfrm xmlns:a="http://schemas.openxmlformats.org/drawingml/2006/main">
            <a:off x="619125" y="2257425"/>
            <a:ext cx="647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506574"/>
                </a:solidFill>
                <a:latin typeface="Arial"/>
                <a:ea typeface="Arial"/>
                <a:cs typeface="Arial"/>
              </a:defRPr>
            </a:defPPr>
          </a:lstStyle>
          <a:p xmlns:a="http://schemas.openxmlformats.org/drawingml/2006/main">
            <a:pPr>
              <a:defRPr sz="1725" b="1">
                <a:solidFill>
                  <a:srgbClr val="506574"/>
                </a:solidFill>
                <a:latin typeface="Arial"/>
                <a:ea typeface="Arial"/>
                <a:cs typeface="Arial"/>
              </a:defRPr>
            </a:pPr>
            <a:r>
              <a:rPr sz="1725" b="1">
                <a:solidFill>
                  <a:srgbClr val="506574"/>
                </a:solidFill>
                <a:latin typeface="Arial"/>
                <a:ea typeface="Arial"/>
                <a:cs typeface="Arial"/>
              </a:rPr>
              <a:t>BASELINE EXCERPT</a:t>
            </a:r>
          </a:p>
        </p:txBody>
      </p:sp>
      <p:sp>
        <p:nvSpPr>
          <p:cNvPr id="7" name="">
            <a:extLst xmlns:a="http://schemas.openxmlformats.org/drawingml/2006/main">
              <a:ext uri="{FF2B5EF4-FFF2-40B4-BE49-F238E27FC236}">
                <a16:creationId xmlns:a16="http://schemas.microsoft.com/office/drawing/2014/main" id="{878F1B23-1DFC-40A8-9449-B83ED964EC02}"/>
              </a:ext>
            </a:extLst>
          </p:cNvPr>
          <p:cNvSpPr>
            <a:spLocks xmlns:a="http://schemas.openxmlformats.org/drawingml/2006/main" noGrp="1"/>
          </p:cNvSpPr>
          <p:nvPr/>
        </p:nvSpPr>
        <p:spPr>
          <a:xfrm xmlns:a="http://schemas.openxmlformats.org/drawingml/2006/main">
            <a:off x="8143875" y="2257425"/>
            <a:ext cx="647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B42146"/>
                </a:solidFill>
                <a:latin typeface="Arial"/>
                <a:ea typeface="Arial"/>
                <a:cs typeface="Arial"/>
              </a:defRPr>
            </a:defPPr>
          </a:lstStyle>
          <a:p xmlns:a="http://schemas.openxmlformats.org/drawingml/2006/main">
            <a:pPr>
              <a:defRPr sz="1725" b="1">
                <a:solidFill>
                  <a:srgbClr val="B42146"/>
                </a:solidFill>
                <a:latin typeface="Arial"/>
                <a:ea typeface="Arial"/>
                <a:cs typeface="Arial"/>
              </a:defRPr>
            </a:pPr>
            <a:r>
              <a:rPr sz="1725" b="1">
                <a:solidFill>
                  <a:srgbClr val="B42146"/>
                </a:solidFill>
                <a:latin typeface="Arial"/>
                <a:ea typeface="Arial"/>
                <a:cs typeface="Arial"/>
              </a:rPr>
              <a:t>OPTIMISED EXCERPT</a:t>
            </a:r>
          </a:p>
        </p:txBody>
      </p:sp>
      <p:sp>
        <p:nvSpPr>
          <p:cNvPr id="8" name="">
            <a:extLst xmlns:a="http://schemas.openxmlformats.org/drawingml/2006/main">
              <a:ext uri="{FF2B5EF4-FFF2-40B4-BE49-F238E27FC236}">
                <a16:creationId xmlns:a16="http://schemas.microsoft.com/office/drawing/2014/main" id="{47FCF077-85F8-463A-83A1-7EAACDFE22C8}"/>
              </a:ext>
            </a:extLst>
          </p:cNvPr>
          <p:cNvSpPr>
            <a:spLocks xmlns:a="http://schemas.openxmlformats.org/drawingml/2006/main" noGrp="1"/>
          </p:cNvSpPr>
          <p:nvPr/>
        </p:nvSpPr>
        <p:spPr>
          <a:xfrm xmlns:a="http://schemas.openxmlformats.org/drawingml/2006/main">
            <a:off x="619125" y="2905125"/>
            <a:ext cx="6477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42D3D"/>
                </a:solidFill>
                <a:latin typeface="Arial"/>
                <a:ea typeface="Arial"/>
                <a:cs typeface="Arial"/>
              </a:defRPr>
            </a:defPPr>
          </a:lstStyle>
          <a:p xmlns:a="http://schemas.openxmlformats.org/drawingml/2006/main">
            <a:pPr>
              <a:defRPr sz="2475" b="0">
                <a:solidFill>
                  <a:srgbClr val="142D3D"/>
                </a:solidFill>
                <a:latin typeface="Arial"/>
                <a:ea typeface="Arial"/>
                <a:cs typeface="Arial"/>
              </a:defRPr>
            </a:pPr>
            <a:r>
              <a:rPr sz="2475" b="0">
                <a:solidFill>
                  <a:srgbClr val="142D3D"/>
                </a:solidFill>
                <a:latin typeface="Arial"/>
                <a:ea typeface="Arial"/>
                <a:cs typeface="Arial"/>
              </a:rPr>
              <a:t>“Flights from Melbourne Airport (MEL) to London generally require at least one stop, with common connections in Dubai, Singapore, Doha or Shanghai.”</a:t>
            </a:r>
          </a:p>
        </p:txBody>
      </p:sp>
      <p:sp>
        <p:nvSpPr>
          <p:cNvPr id="9" name="">
            <a:extLst xmlns:a="http://schemas.openxmlformats.org/drawingml/2006/main">
              <a:ext uri="{FF2B5EF4-FFF2-40B4-BE49-F238E27FC236}">
                <a16:creationId xmlns:a16="http://schemas.microsoft.com/office/drawing/2014/main" id="{4498B18B-9714-4FBA-B06B-87CAFA5748C6}"/>
              </a:ext>
            </a:extLst>
          </p:cNvPr>
          <p:cNvSpPr>
            <a:spLocks xmlns:a="http://schemas.openxmlformats.org/drawingml/2006/main" noGrp="1"/>
          </p:cNvSpPr>
          <p:nvPr/>
        </p:nvSpPr>
        <p:spPr>
          <a:xfrm xmlns:a="http://schemas.openxmlformats.org/drawingml/2006/main">
            <a:off x="8143875" y="2905125"/>
            <a:ext cx="6477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42D3D"/>
                </a:solidFill>
                <a:latin typeface="Arial"/>
                <a:ea typeface="Arial"/>
                <a:cs typeface="Arial"/>
              </a:defRPr>
            </a:defPPr>
          </a:lstStyle>
          <a:p xmlns:a="http://schemas.openxmlformats.org/drawingml/2006/main">
            <a:pPr>
              <a:defRPr sz="2475" b="0">
                <a:solidFill>
                  <a:srgbClr val="142D3D"/>
                </a:solidFill>
                <a:latin typeface="Arial"/>
                <a:ea typeface="Arial"/>
                <a:cs typeface="Arial"/>
              </a:defRPr>
            </a:pPr>
            <a:r>
              <a:rPr sz="2475" b="0">
                <a:solidFill>
                  <a:srgbClr val="142D3D"/>
                </a:solidFill>
                <a:latin typeface="Arial"/>
                <a:ea typeface="Arial"/>
                <a:cs typeface="Arial"/>
              </a:rPr>
              <a:t>“Most itineraries require at least one stop, with common connections in Dubai, Shanghai, Singapore, or Doha.”</a:t>
            </a:r>
          </a:p>
        </p:txBody>
      </p:sp>
      <p:sp>
        <p:nvSpPr>
          <p:cNvPr id="10" name="">
            <a:extLst xmlns:a="http://schemas.openxmlformats.org/drawingml/2006/main">
              <a:ext uri="{FF2B5EF4-FFF2-40B4-BE49-F238E27FC236}">
                <a16:creationId xmlns:a16="http://schemas.microsoft.com/office/drawing/2014/main" id="{4FF25790-5444-4323-B12E-8B7CE1C1AB0D}"/>
              </a:ext>
            </a:extLst>
          </p:cNvPr>
          <p:cNvSpPr>
            <a:spLocks xmlns:a="http://schemas.openxmlformats.org/drawingml/2006/main" noGrp="1"/>
          </p:cNvSpPr>
          <p:nvPr/>
        </p:nvSpPr>
        <p:spPr>
          <a:xfrm xmlns:a="http://schemas.openxmlformats.org/drawingml/2006/main">
            <a:off x="619125" y="5314950"/>
            <a:ext cx="647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506574"/>
                </a:solidFill>
                <a:latin typeface="Arial"/>
                <a:ea typeface="Arial"/>
                <a:cs typeface="Arial"/>
              </a:defRPr>
            </a:defPPr>
          </a:lstStyle>
          <a:p xmlns:a="http://schemas.openxmlformats.org/drawingml/2006/main">
            <a:pPr>
              <a:defRPr sz="3600" b="1">
                <a:solidFill>
                  <a:srgbClr val="506574"/>
                </a:solidFill>
                <a:latin typeface="Arial"/>
                <a:ea typeface="Arial"/>
                <a:cs typeface="Arial"/>
              </a:defRPr>
            </a:pPr>
            <a:r>
              <a:rPr sz="3600" b="1">
                <a:solidFill>
                  <a:srgbClr val="506574"/>
                </a:solidFill>
                <a:latin typeface="Arial"/>
                <a:ea typeface="Arial"/>
                <a:cs typeface="Arial"/>
              </a:rPr>
              <a:t>[2] [3] [5] [8]</a:t>
            </a:r>
          </a:p>
        </p:txBody>
      </p:sp>
      <p:sp>
        <p:nvSpPr>
          <p:cNvPr id="11" name="">
            <a:extLst xmlns:a="http://schemas.openxmlformats.org/drawingml/2006/main">
              <a:ext uri="{FF2B5EF4-FFF2-40B4-BE49-F238E27FC236}">
                <a16:creationId xmlns:a16="http://schemas.microsoft.com/office/drawing/2014/main" id="{CAEE1516-5C06-4856-B0A5-A1043CCAB07B}"/>
              </a:ext>
            </a:extLst>
          </p:cNvPr>
          <p:cNvSpPr>
            <a:spLocks xmlns:a="http://schemas.openxmlformats.org/drawingml/2006/main" noGrp="1"/>
          </p:cNvSpPr>
          <p:nvPr/>
        </p:nvSpPr>
        <p:spPr>
          <a:xfrm xmlns:a="http://schemas.openxmlformats.org/drawingml/2006/main">
            <a:off x="8143875" y="5314950"/>
            <a:ext cx="647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B42146"/>
                </a:solidFill>
                <a:latin typeface="Arial"/>
                <a:ea typeface="Arial"/>
                <a:cs typeface="Arial"/>
              </a:defRPr>
            </a:defPPr>
          </a:lstStyle>
          <a:p xmlns:a="http://schemas.openxmlformats.org/drawingml/2006/main">
            <a:pPr>
              <a:defRPr sz="3600" b="1">
                <a:solidFill>
                  <a:srgbClr val="B42146"/>
                </a:solidFill>
                <a:latin typeface="Arial"/>
                <a:ea typeface="Arial"/>
                <a:cs typeface="Arial"/>
              </a:defRPr>
            </a:pPr>
            <a:r>
              <a:rPr sz="3600" b="1">
                <a:solidFill>
                  <a:srgbClr val="B42146"/>
                </a:solidFill>
                <a:latin typeface="Arial"/>
                <a:ea typeface="Arial"/>
                <a:cs typeface="Arial"/>
              </a:rPr>
              <a:t>[2] [3] [7]</a:t>
            </a:r>
          </a:p>
        </p:txBody>
      </p:sp>
      <p:sp>
        <p:nvSpPr>
          <p:cNvPr id="12" name="">
            <a:extLst xmlns:a="http://schemas.openxmlformats.org/drawingml/2006/main">
              <a:ext uri="{FF2B5EF4-FFF2-40B4-BE49-F238E27FC236}">
                <a16:creationId xmlns:a16="http://schemas.microsoft.com/office/drawing/2014/main" id="{2E3EB19C-860B-4F41-8683-5315A82E8FAF}"/>
              </a:ext>
            </a:extLst>
          </p:cNvPr>
          <p:cNvSpPr>
            <a:spLocks xmlns:a="http://schemas.openxmlformats.org/drawingml/2006/main" noGrp="1"/>
          </p:cNvSpPr>
          <p:nvPr/>
        </p:nvSpPr>
        <p:spPr>
          <a:xfrm xmlns:a="http://schemas.openxmlformats.org/drawingml/2006/main">
            <a:off x="619125" y="6210300"/>
            <a:ext cx="14001750" cy="28575"/>
          </a:xfrm>
          <a:prstGeom xmlns:a="http://schemas.openxmlformats.org/drawingml/2006/main" prst="rect">
            <a:avLst/>
          </a:prstGeom>
          <a:solidFill xmlns:a="http://schemas.openxmlformats.org/drawingml/2006/main">
            <a:srgbClr val="D4DEE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5B277AE-34BF-4AFC-9DA1-A5F7911649D1}"/>
              </a:ext>
            </a:extLst>
          </p:cNvPr>
          <p:cNvSpPr>
            <a:spLocks xmlns:a="http://schemas.openxmlformats.org/drawingml/2006/main" noGrp="1"/>
          </p:cNvSpPr>
          <p:nvPr/>
        </p:nvSpPr>
        <p:spPr>
          <a:xfrm xmlns:a="http://schemas.openxmlformats.org/drawingml/2006/main">
            <a:off x="619125" y="6477000"/>
            <a:ext cx="1400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42D3D"/>
                </a:solidFill>
                <a:latin typeface="Arial"/>
                <a:ea typeface="Arial"/>
                <a:cs typeface="Arial"/>
              </a:defRPr>
            </a:defPPr>
          </a:lstStyle>
          <a:p xmlns:a="http://schemas.openxmlformats.org/drawingml/2006/main">
            <a:pPr>
              <a:defRPr sz="2175" b="1">
                <a:solidFill>
                  <a:srgbClr val="142D3D"/>
                </a:solidFill>
                <a:latin typeface="Arial"/>
                <a:ea typeface="Arial"/>
                <a:cs typeface="Arial"/>
              </a:defRPr>
            </a:pPr>
            <a:r>
              <a:rPr sz="2175" b="1">
                <a:solidFill>
                  <a:srgbClr val="142D3D"/>
                </a:solidFill>
                <a:latin typeface="Arial"/>
                <a:ea typeface="Arial"/>
                <a:cs typeface="Arial"/>
              </a:rPr>
              <a:t>[7] = flightcentre.com.au/flights/au-vic-melbourne/gb-eng-london</a:t>
            </a:r>
          </a:p>
        </p:txBody>
      </p:sp>
    </p:spTree>
    <p:extLst>
      <p:ext uri="{BB962C8B-B14F-4D97-AF65-F5344CB8AC3E}">
        <p14:creationId xmlns:p14="http://schemas.microsoft.com/office/powerpoint/2010/main" val="1038952886"/>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D6896E-B7B9-43B6-B6BD-CDCA5694E6F5}"/>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00D728A0-D9BC-406E-997E-D01420A3F6BB}"/>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The same pages improved citation in two runs</a:t>
            </a:r>
          </a:p>
        </p:txBody>
      </p:sp>
      <p:sp>
        <p:nvSpPr>
          <p:cNvPr id="3" name="">
            <a:extLst xmlns:a="http://schemas.openxmlformats.org/drawingml/2006/main">
              <a:ext uri="{FF2B5EF4-FFF2-40B4-BE49-F238E27FC236}">
                <a16:creationId xmlns:a16="http://schemas.microsoft.com/office/drawing/2014/main" id="{C557773D-78B9-42E7-8092-875CA79EA98E}"/>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C38E22-27DA-4966-8A0B-7F2EE3885777}"/>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Same treatment prompts and sources; different generated answers. Both runs are shown.</a:t>
            </a:r>
          </a:p>
        </p:txBody>
      </p:sp>
      <p:sp>
        <p:nvSpPr>
          <p:cNvPr id="5" name="">
            <a:extLst xmlns:a="http://schemas.openxmlformats.org/drawingml/2006/main">
              <a:ext uri="{FF2B5EF4-FFF2-40B4-BE49-F238E27FC236}">
                <a16:creationId xmlns:a16="http://schemas.microsoft.com/office/drawing/2014/main" id="{B6409FFA-60F0-4FB9-B73C-A2191C48D0AE}"/>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12 / 18   •   Evidence: C04, C05, C06, C07 | Full claim ledger in submission</a:t>
            </a:r>
          </a:p>
        </p:txBody>
      </p:sp>
      <p:graphicFrame>
        <p:nvGraphicFramePr>
          <p:cNvPr id="6" name="Chart">
            <a:extLst xmlns:a="http://schemas.openxmlformats.org/drawingml/2006/main">
              <a:ext uri="{FF2B5EF4-FFF2-40B4-BE49-F238E27FC236}">
                <a16:creationId xmlns:a16="http://schemas.microsoft.com/office/drawing/2014/main" id="{37724228-D7C6-4DBF-93B3-9CC4430B1789}"/>
              </a:ext>
            </a:extLst>
          </p:cNvPr>
          <p:cNvGraphicFramePr/>
          <p:nvPr/>
        </p:nvGraphicFramePr>
        <p:xfrm>
          <a:off xmlns:a="http://schemas.openxmlformats.org/drawingml/2006/main" x="619125" y="2238375"/>
          <a:ext xmlns:a="http://schemas.openxmlformats.org/drawingml/2006/main" cx="9715500" cy="4762500"/>
        </p:xfrm>
        <a:graphic xmlns:a="http://schemas.openxmlformats.org/drawingml/2006/main">
          <a:graphicData uri="http://schemas.openxmlformats.org/drawingml/2006/chart">
            <c:chart xmlns:r="http://schemas.openxmlformats.org/officeDocument/2006/relationships" xmlns:c="http://schemas.openxmlformats.org/drawingml/2006/chart" r:id="R2b3c13176d11413a"/>
          </a:graphicData>
        </a:graphic>
      </p:graphicFrame>
      <p:sp>
        <p:nvSpPr>
          <p:cNvPr id="7" name="">
            <a:extLst xmlns:a="http://schemas.openxmlformats.org/drawingml/2006/main">
              <a:ext uri="{FF2B5EF4-FFF2-40B4-BE49-F238E27FC236}">
                <a16:creationId xmlns:a16="http://schemas.microsoft.com/office/drawing/2014/main" id="{3E88E954-EEE2-43E0-B33A-69BE99F1B077}"/>
              </a:ext>
            </a:extLst>
          </p:cNvPr>
          <p:cNvSpPr>
            <a:spLocks xmlns:a="http://schemas.openxmlformats.org/drawingml/2006/main" noGrp="1"/>
          </p:cNvSpPr>
          <p:nvPr/>
        </p:nvSpPr>
        <p:spPr>
          <a:xfrm xmlns:a="http://schemas.openxmlformats.org/drawingml/2006/main">
            <a:off x="10668000" y="2514600"/>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B42146"/>
                </a:solidFill>
                <a:latin typeface="Arial"/>
                <a:ea typeface="Arial"/>
                <a:cs typeface="Arial"/>
              </a:defRPr>
            </a:defPPr>
          </a:lstStyle>
          <a:p xmlns:a="http://schemas.openxmlformats.org/drawingml/2006/main">
            <a:pPr>
              <a:defRPr sz="3225" b="1">
                <a:solidFill>
                  <a:srgbClr val="B42146"/>
                </a:solidFill>
                <a:latin typeface="Arial"/>
                <a:ea typeface="Arial"/>
                <a:cs typeface="Arial"/>
              </a:defRPr>
            </a:pPr>
            <a:r>
              <a:rPr sz="3225" b="1">
                <a:solidFill>
                  <a:srgbClr val="B42146"/>
                </a:solidFill>
                <a:latin typeface="Arial"/>
                <a:ea typeface="Arial"/>
                <a:cs typeface="Arial"/>
              </a:rPr>
              <a:t>116 → 143 → 152</a:t>
            </a:r>
          </a:p>
        </p:txBody>
      </p:sp>
      <p:sp>
        <p:nvSpPr>
          <p:cNvPr id="8" name="">
            <a:extLst xmlns:a="http://schemas.openxmlformats.org/drawingml/2006/main">
              <a:ext uri="{FF2B5EF4-FFF2-40B4-BE49-F238E27FC236}">
                <a16:creationId xmlns:a16="http://schemas.microsoft.com/office/drawing/2014/main" id="{3215A689-A7B8-4A21-BAA1-4AB4E22BA6A3}"/>
              </a:ext>
            </a:extLst>
          </p:cNvPr>
          <p:cNvSpPr>
            <a:spLocks xmlns:a="http://schemas.openxmlformats.org/drawingml/2006/main" noGrp="1"/>
          </p:cNvSpPr>
          <p:nvPr/>
        </p:nvSpPr>
        <p:spPr>
          <a:xfrm xmlns:a="http://schemas.openxmlformats.org/drawingml/2006/main">
            <a:off x="10668000" y="4010025"/>
            <a:ext cx="3905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42D3D"/>
                </a:solidFill>
                <a:latin typeface="Arial"/>
                <a:ea typeface="Arial"/>
                <a:cs typeface="Arial"/>
              </a:defRPr>
            </a:defPPr>
          </a:lstStyle>
          <a:p xmlns:a="http://schemas.openxmlformats.org/drawingml/2006/main">
            <a:pPr>
              <a:defRPr sz="2475" b="0">
                <a:solidFill>
                  <a:srgbClr val="142D3D"/>
                </a:solidFill>
                <a:latin typeface="Arial"/>
                <a:ea typeface="Arial"/>
                <a:cs typeface="Arial"/>
              </a:defRPr>
            </a:pPr>
            <a:r>
              <a:rPr sz="2475" b="0">
                <a:solidFill>
                  <a:srgbClr val="142D3D"/>
                </a:solidFill>
                <a:latin typeface="Arial"/>
                <a:ea typeface="Arial"/>
                <a:cs typeface="Arial"/>
              </a:rPr>
              <a:t>citing answers</a:t>
            </a:r>
          </a:p>
          <a:p xmlns:a="http://schemas.openxmlformats.org/drawingml/2006/main">
            <a:pPr>
              <a:defRPr sz="2475" b="0">
                <a:solidFill>
                  <a:srgbClr val="142D3D"/>
                </a:solidFill>
                <a:latin typeface="Arial"/>
                <a:ea typeface="Arial"/>
                <a:cs typeface="Arial"/>
              </a:defRPr>
            </a:pPr>
            <a:r>
              <a:rPr sz="2475" b="0">
                <a:solidFill>
                  <a:srgbClr val="142D3D"/>
                </a:solidFill>
                <a:latin typeface="Arial"/>
                <a:ea typeface="Arial"/>
                <a:cs typeface="Arial"/>
              </a:rPr>
              <a:t>out of 290 each</a:t>
            </a:r>
          </a:p>
        </p:txBody>
      </p:sp>
      <p:sp>
        <p:nvSpPr>
          <p:cNvPr id="9" name="">
            <a:extLst xmlns:a="http://schemas.openxmlformats.org/drawingml/2006/main">
              <a:ext uri="{FF2B5EF4-FFF2-40B4-BE49-F238E27FC236}">
                <a16:creationId xmlns:a16="http://schemas.microsoft.com/office/drawing/2014/main" id="{7D1F0620-3032-4188-96A5-BB586FAD2C1F}"/>
              </a:ext>
            </a:extLst>
          </p:cNvPr>
          <p:cNvSpPr>
            <a:spLocks xmlns:a="http://schemas.openxmlformats.org/drawingml/2006/main" noGrp="1"/>
          </p:cNvSpPr>
          <p:nvPr/>
        </p:nvSpPr>
        <p:spPr>
          <a:xfrm xmlns:a="http://schemas.openxmlformats.org/drawingml/2006/main">
            <a:off x="10668000" y="5572125"/>
            <a:ext cx="3905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142D3D"/>
                </a:solidFill>
                <a:latin typeface="Arial"/>
                <a:ea typeface="Arial"/>
                <a:cs typeface="Arial"/>
              </a:defRPr>
            </a:defPPr>
          </a:lstStyle>
          <a:p xmlns:a="http://schemas.openxmlformats.org/drawingml/2006/main">
            <a:pPr>
              <a:defRPr sz="2550" b="1">
                <a:solidFill>
                  <a:srgbClr val="142D3D"/>
                </a:solidFill>
                <a:latin typeface="Arial"/>
                <a:ea typeface="Arial"/>
                <a:cs typeface="Arial"/>
              </a:defRPr>
            </a:pPr>
            <a:r>
              <a:rPr sz="2550" b="1">
                <a:solidFill>
                  <a:srgbClr val="142D3D"/>
                </a:solidFill>
                <a:latin typeface="Arial"/>
                <a:ea typeface="Arial"/>
                <a:cs typeface="Arial"/>
              </a:rPr>
              <a:t>+9.3 pp initially</a:t>
            </a:r>
          </a:p>
          <a:p xmlns:a="http://schemas.openxmlformats.org/drawingml/2006/main">
            <a:pPr>
              <a:defRPr sz="2550" b="1">
                <a:solidFill>
                  <a:srgbClr val="142D3D"/>
                </a:solidFill>
                <a:latin typeface="Arial"/>
                <a:ea typeface="Arial"/>
                <a:cs typeface="Arial"/>
              </a:defRPr>
            </a:pPr>
            <a:r>
              <a:rPr sz="2550" b="1">
                <a:solidFill>
                  <a:srgbClr val="142D3D"/>
                </a:solidFill>
                <a:latin typeface="Arial"/>
                <a:ea typeface="Arial"/>
                <a:cs typeface="Arial"/>
              </a:rPr>
              <a:t>+12.4 pp on repeat</a:t>
            </a:r>
          </a:p>
        </p:txBody>
      </p:sp>
    </p:spTree>
    <p:extLst>
      <p:ext uri="{BB962C8B-B14F-4D97-AF65-F5344CB8AC3E}">
        <p14:creationId xmlns:p14="http://schemas.microsoft.com/office/powerpoint/2010/main" val="596848955"/>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55E7DE-1652-41E7-ADA9-5CC7532A4BB1}"/>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DA21C1D2-833F-42B7-9DC2-16C447854FC2}"/>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Question-level uncertainty and variation</a:t>
            </a:r>
          </a:p>
        </p:txBody>
      </p:sp>
      <p:sp>
        <p:nvSpPr>
          <p:cNvPr id="3" name="">
            <a:extLst xmlns:a="http://schemas.openxmlformats.org/drawingml/2006/main">
              <a:ext uri="{FF2B5EF4-FFF2-40B4-BE49-F238E27FC236}">
                <a16:creationId xmlns:a16="http://schemas.microsoft.com/office/drawing/2014/main" id="{508F3D96-782C-45D5-A66F-6DF693A467CE}"/>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32DE738-68C9-469B-8D72-31AB87793042}"/>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Positive intervals in these comparisons do not establish a production rate or remove selection bias.</a:t>
            </a:r>
          </a:p>
        </p:txBody>
      </p:sp>
      <p:sp>
        <p:nvSpPr>
          <p:cNvPr id="5" name="">
            <a:extLst xmlns:a="http://schemas.openxmlformats.org/drawingml/2006/main">
              <a:ext uri="{FF2B5EF4-FFF2-40B4-BE49-F238E27FC236}">
                <a16:creationId xmlns:a16="http://schemas.microsoft.com/office/drawing/2014/main" id="{8B3D3E3B-0314-4777-A903-D2AEC203DCC8}"/>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13 / 18   •   Evidence: C06, C08 | Full claim ledger in submission</a:t>
            </a:r>
          </a:p>
        </p:txBody>
      </p:sp>
      <p:graphicFrame>
        <p:nvGraphicFramePr>
          <p:cNvPr id="6" name="">
            <a:extLst xmlns:a="http://schemas.openxmlformats.org/drawingml/2006/main">
              <a:ext uri="{FF2B5EF4-FFF2-40B4-BE49-F238E27FC236}">
                <a16:creationId xmlns:a16="http://schemas.microsoft.com/office/drawing/2014/main" id="{F864AED3-AC41-46F4-97F3-F737B00A54DF}"/>
              </a:ext>
            </a:extLst>
          </p:cNvPr>
          <p:cNvGraphicFramePr/>
          <p:nvPr/>
        </p:nvGraphicFramePr>
        <p:xfrm>
          <a:off xmlns:a="http://schemas.openxmlformats.org/drawingml/2006/main" x="619125" y="2266950"/>
          <a:ext xmlns:a="http://schemas.openxmlformats.org/drawingml/2006/main" cx="14001750" cy="3190875"/>
        </p:xfrm>
        <a:graphic xmlns:a="http://schemas.openxmlformats.org/drawingml/2006/main">
          <a:graphicData uri="http://schemas.openxmlformats.org/drawingml/2006/table">
            <a:tbl>
              <a:tblPr/>
              <a:tblGrid>
                <a:gridCol w="6762750"/>
                <a:gridCol w="2857500"/>
                <a:gridCol w="4381500"/>
              </a:tblGrid>
              <a:tr h="797719">
                <a:tc>
                  <a:txBody>
                    <a:bodyPr/>
                    <a:lstStyle/>
                    <a:p>
                      <a:r>
                        <a:rPr sz="2250" b="1">
                          <a:solidFill>
                            <a:srgbClr val="FFFFFF"/>
                          </a:solidFill>
                          <a:latin typeface="Arial"/>
                          <a:ea typeface="Arial"/>
                          <a:cs typeface="Arial"/>
                        </a:rPr>
                        <a:t>Comparison</a:t>
                      </a:r>
                    </a:p>
                  </a:txBody>
                  <a:tcPr marL="91440" marR="91440" marT="45720" marB="45720">
                    <a:solidFill>
                      <a:srgbClr val="142D3D"/>
                    </a:solidFill>
                  </a:tcPr>
                </a:tc>
                <a:tc>
                  <a:txBody>
                    <a:bodyPr/>
                    <a:lstStyle/>
                    <a:p>
                      <a:r>
                        <a:rPr sz="2250" b="1">
                          <a:solidFill>
                            <a:srgbClr val="FFFFFF"/>
                          </a:solidFill>
                          <a:latin typeface="Arial"/>
                          <a:ea typeface="Arial"/>
                          <a:cs typeface="Arial"/>
                        </a:rPr>
                        <a:t>Observed gain</a:t>
                      </a:r>
                    </a:p>
                  </a:txBody>
                  <a:tcPr marL="91440" marR="91440" marT="45720" marB="45720">
                    <a:solidFill>
                      <a:srgbClr val="142D3D"/>
                    </a:solidFill>
                  </a:tcPr>
                </a:tc>
                <a:tc>
                  <a:txBody>
                    <a:bodyPr/>
                    <a:lstStyle/>
                    <a:p>
                      <a:r>
                        <a:rPr sz="2250" b="1">
                          <a:solidFill>
                            <a:srgbClr val="FFFFFF"/>
                          </a:solidFill>
                          <a:latin typeface="Arial"/>
                          <a:ea typeface="Arial"/>
                          <a:cs typeface="Arial"/>
                        </a:rPr>
                        <a:t>Independent 95% interval</a:t>
                      </a:r>
                    </a:p>
                  </a:txBody>
                  <a:tcPr marL="91440" marR="91440" marT="45720" marB="45720">
                    <a:solidFill>
                      <a:srgbClr val="142D3D"/>
                    </a:solidFill>
                  </a:tcPr>
                </a:tc>
              </a:tr>
              <a:tr h="797719">
                <a:tc>
                  <a:txBody>
                    <a:bodyPr/>
                    <a:lstStyle/>
                    <a:p>
                      <a:r>
                        <a:rPr sz="2250" b="0">
                          <a:solidFill>
                            <a:srgbClr val="142D3D"/>
                          </a:solidFill>
                          <a:latin typeface="Arial"/>
                          <a:ea typeface="Arial"/>
                          <a:cs typeface="Arial"/>
                        </a:rPr>
                        <a:t>Initial treatment − baseline</a:t>
                      </a:r>
                    </a:p>
                  </a:txBody>
                  <a:tcPr marL="91440" marR="91440" marT="45720" marB="45720">
                    <a:solidFill>
                      <a:srgbClr val="FFFFFF"/>
                    </a:solidFill>
                  </a:tcPr>
                </a:tc>
                <a:tc>
                  <a:txBody>
                    <a:bodyPr/>
                    <a:lstStyle/>
                    <a:p>
                      <a:r>
                        <a:rPr sz="2250" b="0">
                          <a:solidFill>
                            <a:srgbClr val="142D3D"/>
                          </a:solidFill>
                          <a:latin typeface="Arial"/>
                          <a:ea typeface="Arial"/>
                          <a:cs typeface="Arial"/>
                        </a:rPr>
                        <a:t>+9.3 pp</a:t>
                      </a:r>
                    </a:p>
                  </a:txBody>
                  <a:tcPr marL="91440" marR="91440" marT="45720" marB="45720">
                    <a:solidFill>
                      <a:srgbClr val="FFFFFF"/>
                    </a:solidFill>
                  </a:tcPr>
                </a:tc>
                <a:tc>
                  <a:txBody>
                    <a:bodyPr/>
                    <a:lstStyle/>
                    <a:p>
                      <a:r>
                        <a:rPr sz="2250" b="0">
                          <a:solidFill>
                            <a:srgbClr val="142D3D"/>
                          </a:solidFill>
                          <a:latin typeface="Arial"/>
                          <a:ea typeface="Arial"/>
                          <a:cs typeface="Arial"/>
                        </a:rPr>
                        <a:t>+3.1 to +15.9 pp</a:t>
                      </a:r>
                    </a:p>
                  </a:txBody>
                  <a:tcPr marL="91440" marR="91440" marT="45720" marB="45720">
                    <a:solidFill>
                      <a:srgbClr val="FFFFFF"/>
                    </a:solidFill>
                  </a:tcPr>
                </a:tc>
              </a:tr>
              <a:tr h="797719">
                <a:tc>
                  <a:txBody>
                    <a:bodyPr/>
                    <a:lstStyle/>
                    <a:p>
                      <a:r>
                        <a:rPr sz="2250" b="0">
                          <a:solidFill>
                            <a:srgbClr val="142D3D"/>
                          </a:solidFill>
                          <a:latin typeface="Arial"/>
                          <a:ea typeface="Arial"/>
                          <a:cs typeface="Arial"/>
                        </a:rPr>
                        <a:t>Treatment repeat − baseline</a:t>
                      </a:r>
                    </a:p>
                  </a:txBody>
                  <a:tcPr marL="91440" marR="91440" marT="45720" marB="45720">
                    <a:solidFill>
                      <a:srgbClr val="E9F0F1"/>
                    </a:solidFill>
                  </a:tcPr>
                </a:tc>
                <a:tc>
                  <a:txBody>
                    <a:bodyPr/>
                    <a:lstStyle/>
                    <a:p>
                      <a:r>
                        <a:rPr sz="2250" b="0">
                          <a:solidFill>
                            <a:srgbClr val="142D3D"/>
                          </a:solidFill>
                          <a:latin typeface="Arial"/>
                          <a:ea typeface="Arial"/>
                          <a:cs typeface="Arial"/>
                        </a:rPr>
                        <a:t>+12.4 pp</a:t>
                      </a:r>
                    </a:p>
                  </a:txBody>
                  <a:tcPr marL="91440" marR="91440" marT="45720" marB="45720">
                    <a:solidFill>
                      <a:srgbClr val="E9F0F1"/>
                    </a:solidFill>
                  </a:tcPr>
                </a:tc>
                <a:tc>
                  <a:txBody>
                    <a:bodyPr/>
                    <a:lstStyle/>
                    <a:p>
                      <a:r>
                        <a:rPr sz="2250" b="0">
                          <a:solidFill>
                            <a:srgbClr val="142D3D"/>
                          </a:solidFill>
                          <a:latin typeface="Arial"/>
                          <a:ea typeface="Arial"/>
                          <a:cs typeface="Arial"/>
                        </a:rPr>
                        <a:t>+5.2 to +20.0 pp</a:t>
                      </a:r>
                    </a:p>
                  </a:txBody>
                  <a:tcPr marL="91440" marR="91440" marT="45720" marB="45720">
                    <a:solidFill>
                      <a:srgbClr val="E9F0F1"/>
                    </a:solidFill>
                  </a:tcPr>
                </a:tc>
              </a:tr>
              <a:tr h="797719">
                <a:tc>
                  <a:txBody>
                    <a:bodyPr/>
                    <a:lstStyle/>
                    <a:p>
                      <a:r>
                        <a:rPr sz="2250" b="0">
                          <a:solidFill>
                            <a:srgbClr val="142D3D"/>
                          </a:solidFill>
                          <a:latin typeface="Arial"/>
                          <a:ea typeface="Arial"/>
                          <a:cs typeface="Arial"/>
                        </a:rPr>
                        <a:t>Repeat − initial treatment</a:t>
                      </a:r>
                    </a:p>
                  </a:txBody>
                  <a:tcPr marL="91440" marR="91440" marT="45720" marB="45720">
                    <a:solidFill>
                      <a:srgbClr val="FFFFFF"/>
                    </a:solidFill>
                  </a:tcPr>
                </a:tc>
                <a:tc>
                  <a:txBody>
                    <a:bodyPr/>
                    <a:lstStyle/>
                    <a:p>
                      <a:r>
                        <a:rPr sz="2250" b="0">
                          <a:solidFill>
                            <a:srgbClr val="142D3D"/>
                          </a:solidFill>
                          <a:latin typeface="Arial"/>
                          <a:ea typeface="Arial"/>
                          <a:cs typeface="Arial"/>
                        </a:rPr>
                        <a:t>+3.1 pp</a:t>
                      </a:r>
                    </a:p>
                  </a:txBody>
                  <a:tcPr marL="91440" marR="91440" marT="45720" marB="45720">
                    <a:solidFill>
                      <a:srgbClr val="FFFFFF"/>
                    </a:solidFill>
                  </a:tcPr>
                </a:tc>
                <a:tc>
                  <a:txBody>
                    <a:bodyPr/>
                    <a:lstStyle/>
                    <a:p>
                      <a:r>
                        <a:rPr sz="2250" b="0">
                          <a:solidFill>
                            <a:srgbClr val="142D3D"/>
                          </a:solidFill>
                          <a:latin typeface="Arial"/>
                          <a:ea typeface="Arial"/>
                          <a:cs typeface="Arial"/>
                        </a:rPr>
                        <a:t>−2.8 to +8.3 pp</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83E480C-2BD5-4F9A-BA49-FA702B793613}"/>
              </a:ext>
            </a:extLst>
          </p:cNvPr>
          <p:cNvSpPr>
            <a:spLocks xmlns:a="http://schemas.openxmlformats.org/drawingml/2006/main" noGrp="1"/>
          </p:cNvSpPr>
          <p:nvPr/>
        </p:nvSpPr>
        <p:spPr>
          <a:xfrm xmlns:a="http://schemas.openxmlformats.org/drawingml/2006/main">
            <a:off x="619125" y="5905500"/>
            <a:ext cx="1400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D82"/>
                </a:solidFill>
                <a:latin typeface="Arial"/>
                <a:ea typeface="Arial"/>
                <a:cs typeface="Arial"/>
              </a:defRPr>
            </a:defPPr>
          </a:lstStyle>
          <a:p xmlns:a="http://schemas.openxmlformats.org/drawingml/2006/main">
            <a:pPr>
              <a:defRPr sz="2700" b="1">
                <a:solidFill>
                  <a:srgbClr val="087D82"/>
                </a:solidFill>
                <a:latin typeface="Arial"/>
                <a:ea typeface="Arial"/>
                <a:cs typeface="Arial"/>
              </a:defRPr>
            </a:pPr>
            <a:r>
              <a:rPr sz="2700" b="1">
                <a:solidFill>
                  <a:srgbClr val="087D82"/>
                </a:solidFill>
                <a:latin typeface="Arial"/>
                <a:ea typeface="Arial"/>
                <a:cs typeface="Arial"/>
              </a:rPr>
              <a:t>Repeat: 21 question averages improve, 6 decline, 2 tie.</a:t>
            </a:r>
          </a:p>
        </p:txBody>
      </p:sp>
      <p:sp>
        <p:nvSpPr>
          <p:cNvPr id="8" name="">
            <a:extLst xmlns:a="http://schemas.openxmlformats.org/drawingml/2006/main">
              <a:ext uri="{FF2B5EF4-FFF2-40B4-BE49-F238E27FC236}">
                <a16:creationId xmlns:a16="http://schemas.microsoft.com/office/drawing/2014/main" id="{BEC89721-F1AE-4A4D-8EBC-09340F58D5A4}"/>
              </a:ext>
            </a:extLst>
          </p:cNvPr>
          <p:cNvSpPr>
            <a:spLocks xmlns:a="http://schemas.openxmlformats.org/drawingml/2006/main" noGrp="1"/>
          </p:cNvSpPr>
          <p:nvPr/>
        </p:nvSpPr>
        <p:spPr>
          <a:xfrm xmlns:a="http://schemas.openxmlformats.org/drawingml/2006/main">
            <a:off x="619125" y="6848475"/>
            <a:ext cx="1400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506574"/>
                </a:solidFill>
                <a:latin typeface="Arial"/>
                <a:ea typeface="Arial"/>
                <a:cs typeface="Arial"/>
              </a:defRPr>
            </a:defPPr>
          </a:lstStyle>
          <a:p xmlns:a="http://schemas.openxmlformats.org/drawingml/2006/main">
            <a:pPr>
              <a:defRPr sz="2025" b="0">
                <a:solidFill>
                  <a:srgbClr val="506574"/>
                </a:solidFill>
                <a:latin typeface="Arial"/>
                <a:ea typeface="Arial"/>
                <a:cs typeface="Arial"/>
              </a:defRPr>
            </a:pPr>
            <a:r>
              <a:rPr sz="2025" b="0">
                <a:solidFill>
                  <a:srgbClr val="506574"/>
                </a:solidFill>
                <a:latin typeface="Arial"/>
                <a:ea typeface="Arial"/>
                <a:cs typeface="Arial"/>
              </a:rPr>
              <a:t>20,000 whole-question resamples; seed 20261018. Multiple-testing and selection limits remain.</a:t>
            </a:r>
          </a:p>
        </p:txBody>
      </p:sp>
    </p:spTree>
    <p:extLst>
      <p:ext uri="{BB962C8B-B14F-4D97-AF65-F5344CB8AC3E}">
        <p14:creationId xmlns:p14="http://schemas.microsoft.com/office/powerpoint/2010/main" val="2092775620"/>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01ACBB5-90F3-4504-AC98-6611A0CBD908}"/>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372B8E67-2D2B-4DC8-8DB6-9D0DF2289FD1}"/>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Source-order sensitivity</a:t>
            </a:r>
          </a:p>
        </p:txBody>
      </p:sp>
      <p:sp>
        <p:nvSpPr>
          <p:cNvPr id="3" name="">
            <a:extLst xmlns:a="http://schemas.openxmlformats.org/drawingml/2006/main">
              <a:ext uri="{FF2B5EF4-FFF2-40B4-BE49-F238E27FC236}">
                <a16:creationId xmlns:a16="http://schemas.microsoft.com/office/drawing/2014/main" id="{64D21BBE-44FF-4152-8A8F-F6C4600C1DD9}"/>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E60BCAA-E1EE-4EB1-8704-BE1EDAC81680}"/>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Position inside supplied context is different from a website’s search-engine ranking.</a:t>
            </a:r>
          </a:p>
        </p:txBody>
      </p:sp>
      <p:sp>
        <p:nvSpPr>
          <p:cNvPr id="5" name="">
            <a:extLst xmlns:a="http://schemas.openxmlformats.org/drawingml/2006/main">
              <a:ext uri="{FF2B5EF4-FFF2-40B4-BE49-F238E27FC236}">
                <a16:creationId xmlns:a16="http://schemas.microsoft.com/office/drawing/2014/main" id="{A863182E-6D7F-4C56-9A5E-6468E8432109}"/>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14 / 18   •   Evidence: C17 | Full claim ledger in submission</a:t>
            </a:r>
          </a:p>
        </p:txBody>
      </p:sp>
      <p:sp>
        <p:nvSpPr>
          <p:cNvPr id="6" name="">
            <a:extLst xmlns:a="http://schemas.openxmlformats.org/drawingml/2006/main">
              <a:ext uri="{FF2B5EF4-FFF2-40B4-BE49-F238E27FC236}">
                <a16:creationId xmlns:a16="http://schemas.microsoft.com/office/drawing/2014/main" id="{9DE037A0-3DD8-4E92-AB57-9AE6519C856D}"/>
              </a:ext>
            </a:extLst>
          </p:cNvPr>
          <p:cNvSpPr>
            <a:spLocks xmlns:a="http://schemas.openxmlformats.org/drawingml/2006/main" noGrp="1"/>
          </p:cNvSpPr>
          <p:nvPr/>
        </p:nvSpPr>
        <p:spPr>
          <a:xfrm xmlns:a="http://schemas.openxmlformats.org/drawingml/2006/main">
            <a:off x="619125" y="2286000"/>
            <a:ext cx="685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87D82"/>
                </a:solidFill>
                <a:latin typeface="Arial"/>
                <a:ea typeface="Arial"/>
                <a:cs typeface="Arial"/>
              </a:defRPr>
            </a:defPPr>
          </a:lstStyle>
          <a:p xmlns:a="http://schemas.openxmlformats.org/drawingml/2006/main">
            <a:pPr>
              <a:defRPr sz="1725" b="1">
                <a:solidFill>
                  <a:srgbClr val="087D82"/>
                </a:solidFill>
                <a:latin typeface="Arial"/>
                <a:ea typeface="Arial"/>
                <a:cs typeface="Arial"/>
              </a:defRPr>
            </a:pPr>
            <a:r>
              <a:rPr sz="1725" b="1">
                <a:solidFill>
                  <a:srgbClr val="087D82"/>
                </a:solidFill>
                <a:latin typeface="Arial"/>
                <a:ea typeface="Arial"/>
                <a:cs typeface="Arial"/>
              </a:rPr>
              <a:t>SAME CONTENT, CONTROLLED REORDERING</a:t>
            </a:r>
          </a:p>
        </p:txBody>
      </p:sp>
      <p:sp>
        <p:nvSpPr>
          <p:cNvPr id="7" name="">
            <a:extLst xmlns:a="http://schemas.openxmlformats.org/drawingml/2006/main">
              <a:ext uri="{FF2B5EF4-FFF2-40B4-BE49-F238E27FC236}">
                <a16:creationId xmlns:a16="http://schemas.microsoft.com/office/drawing/2014/main" id="{81F40313-F6D0-4055-95AE-D8699D4A1C84}"/>
              </a:ext>
            </a:extLst>
          </p:cNvPr>
          <p:cNvSpPr>
            <a:spLocks xmlns:a="http://schemas.openxmlformats.org/drawingml/2006/main" noGrp="1"/>
          </p:cNvSpPr>
          <p:nvPr/>
        </p:nvSpPr>
        <p:spPr>
          <a:xfrm xmlns:a="http://schemas.openxmlformats.org/drawingml/2006/main">
            <a:off x="619125" y="2990850"/>
            <a:ext cx="6000750" cy="1171575"/>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8" name="">
            <a:extLst xmlns:a="http://schemas.openxmlformats.org/drawingml/2006/main">
              <a:ext uri="{FF2B5EF4-FFF2-40B4-BE49-F238E27FC236}">
                <a16:creationId xmlns:a16="http://schemas.microsoft.com/office/drawing/2014/main" id="{22A3F627-8075-495D-BE4B-A5FDEABBDAAE}"/>
              </a:ext>
            </a:extLst>
          </p:cNvPr>
          <p:cNvSpPr>
            <a:spLocks xmlns:a="http://schemas.openxmlformats.org/drawingml/2006/main" noGrp="1"/>
          </p:cNvSpPr>
          <p:nvPr/>
        </p:nvSpPr>
        <p:spPr>
          <a:xfrm xmlns:a="http://schemas.openxmlformats.org/drawingml/2006/main">
            <a:off x="619125" y="2990850"/>
            <a:ext cx="66675" cy="1171575"/>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0B9E54-DC02-4229-B09D-8703B356F418}"/>
              </a:ext>
            </a:extLst>
          </p:cNvPr>
          <p:cNvSpPr>
            <a:spLocks xmlns:a="http://schemas.openxmlformats.org/drawingml/2006/main" noGrp="1"/>
          </p:cNvSpPr>
          <p:nvPr/>
        </p:nvSpPr>
        <p:spPr>
          <a:xfrm xmlns:a="http://schemas.openxmlformats.org/drawingml/2006/main">
            <a:off x="809625" y="3133725"/>
            <a:ext cx="561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Baseline</a:t>
            </a:r>
          </a:p>
        </p:txBody>
      </p:sp>
      <p:sp>
        <p:nvSpPr>
          <p:cNvPr id="10" name="">
            <a:extLst xmlns:a="http://schemas.openxmlformats.org/drawingml/2006/main">
              <a:ext uri="{FF2B5EF4-FFF2-40B4-BE49-F238E27FC236}">
                <a16:creationId xmlns:a16="http://schemas.microsoft.com/office/drawing/2014/main" id="{A9A45AD3-C60A-4375-850D-EABFFD859961}"/>
              </a:ext>
            </a:extLst>
          </p:cNvPr>
          <p:cNvSpPr>
            <a:spLocks xmlns:a="http://schemas.openxmlformats.org/drawingml/2006/main" noGrp="1"/>
          </p:cNvSpPr>
          <p:nvPr/>
        </p:nvSpPr>
        <p:spPr>
          <a:xfrm xmlns:a="http://schemas.openxmlformats.org/drawingml/2006/main">
            <a:off x="809625" y="3724275"/>
            <a:ext cx="5619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Common source arrangement</a:t>
            </a:r>
          </a:p>
        </p:txBody>
      </p:sp>
      <p:sp>
        <p:nvSpPr>
          <p:cNvPr id="11" name="">
            <a:extLst xmlns:a="http://schemas.openxmlformats.org/drawingml/2006/main">
              <a:ext uri="{FF2B5EF4-FFF2-40B4-BE49-F238E27FC236}">
                <a16:creationId xmlns:a16="http://schemas.microsoft.com/office/drawing/2014/main" id="{318C80C6-CFB9-4F74-A78C-7FE3C2173437}"/>
              </a:ext>
            </a:extLst>
          </p:cNvPr>
          <p:cNvSpPr>
            <a:spLocks xmlns:a="http://schemas.openxmlformats.org/drawingml/2006/main" noGrp="1"/>
          </p:cNvSpPr>
          <p:nvPr/>
        </p:nvSpPr>
        <p:spPr>
          <a:xfrm xmlns:a="http://schemas.openxmlformats.org/drawingml/2006/main">
            <a:off x="3333750" y="4343400"/>
            <a:ext cx="381000" cy="381000"/>
          </a:xfrm>
          <a:prstGeom xmlns:a="http://schemas.openxmlformats.org/drawingml/2006/main" prst="downArrow">
            <a:avLst/>
          </a:prstGeom>
          <a:solidFill xmlns:a="http://schemas.openxmlformats.org/drawingml/2006/main">
            <a:srgbClr val="087D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7E42CBC-E5A5-444E-901D-18FE00BCA2B9}"/>
              </a:ext>
            </a:extLst>
          </p:cNvPr>
          <p:cNvSpPr>
            <a:spLocks xmlns:a="http://schemas.openxmlformats.org/drawingml/2006/main" noGrp="1"/>
          </p:cNvSpPr>
          <p:nvPr/>
        </p:nvSpPr>
        <p:spPr>
          <a:xfrm xmlns:a="http://schemas.openxmlformats.org/drawingml/2006/main">
            <a:off x="619125" y="4905375"/>
            <a:ext cx="6000750" cy="1790700"/>
          </a:xfrm>
          <a:prstGeom xmlns:a="http://schemas.openxmlformats.org/drawingml/2006/main" prst="rect">
            <a:avLst/>
          </a:prstGeom>
          <a:solidFill xmlns:a="http://schemas.openxmlformats.org/drawingml/2006/main">
            <a:srgbClr val="FFFFFF"/>
          </a:solidFill>
          <a:ln xmlns:a="http://schemas.openxmlformats.org/drawingml/2006/main" w="19050">
            <a:solidFill>
              <a:srgbClr val="B42146"/>
            </a:solidFill>
          </a:ln>
        </p:spPr>
      </p:sp>
      <p:sp>
        <p:nvSpPr>
          <p:cNvPr id="13" name="">
            <a:extLst xmlns:a="http://schemas.openxmlformats.org/drawingml/2006/main">
              <a:ext uri="{FF2B5EF4-FFF2-40B4-BE49-F238E27FC236}">
                <a16:creationId xmlns:a16="http://schemas.microsoft.com/office/drawing/2014/main" id="{090536F1-17AF-4A36-9391-A0E52C887DC7}"/>
              </a:ext>
            </a:extLst>
          </p:cNvPr>
          <p:cNvSpPr>
            <a:spLocks xmlns:a="http://schemas.openxmlformats.org/drawingml/2006/main" noGrp="1"/>
          </p:cNvSpPr>
          <p:nvPr/>
        </p:nvSpPr>
        <p:spPr>
          <a:xfrm xmlns:a="http://schemas.openxmlformats.org/drawingml/2006/main">
            <a:off x="619125" y="4905375"/>
            <a:ext cx="66675" cy="1790700"/>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F18DDED-6190-4689-A06F-0C0A5B4CCDF7}"/>
              </a:ext>
            </a:extLst>
          </p:cNvPr>
          <p:cNvSpPr>
            <a:spLocks xmlns:a="http://schemas.openxmlformats.org/drawingml/2006/main" noGrp="1"/>
          </p:cNvSpPr>
          <p:nvPr/>
        </p:nvSpPr>
        <p:spPr>
          <a:xfrm xmlns:a="http://schemas.openxmlformats.org/drawingml/2006/main">
            <a:off x="809625" y="5048250"/>
            <a:ext cx="561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B42146"/>
                </a:solidFill>
                <a:latin typeface="Arial"/>
                <a:ea typeface="Arial"/>
                <a:cs typeface="Arial"/>
              </a:defRPr>
            </a:defPPr>
          </a:lstStyle>
          <a:p xmlns:a="http://schemas.openxmlformats.org/drawingml/2006/main">
            <a:pPr>
              <a:defRPr sz="2325" b="1">
                <a:solidFill>
                  <a:srgbClr val="B42146"/>
                </a:solidFill>
                <a:latin typeface="Arial"/>
                <a:ea typeface="Arial"/>
                <a:cs typeface="Arial"/>
              </a:defRPr>
            </a:pPr>
            <a:r>
              <a:rPr sz="2325" b="1">
                <a:solidFill>
                  <a:srgbClr val="B42146"/>
                </a:solidFill>
                <a:latin typeface="Arial"/>
                <a:ea typeface="Arial"/>
                <a:cs typeface="Arial"/>
              </a:rPr>
              <a:t>Position condition</a:t>
            </a:r>
          </a:p>
        </p:txBody>
      </p:sp>
      <p:sp>
        <p:nvSpPr>
          <p:cNvPr id="15" name="">
            <a:extLst xmlns:a="http://schemas.openxmlformats.org/drawingml/2006/main">
              <a:ext uri="{FF2B5EF4-FFF2-40B4-BE49-F238E27FC236}">
                <a16:creationId xmlns:a16="http://schemas.microsoft.com/office/drawing/2014/main" id="{D9BA5139-41AD-4FD7-8100-8F521B63652D}"/>
              </a:ext>
            </a:extLst>
          </p:cNvPr>
          <p:cNvSpPr>
            <a:spLocks xmlns:a="http://schemas.openxmlformats.org/drawingml/2006/main" noGrp="1"/>
          </p:cNvSpPr>
          <p:nvPr/>
        </p:nvSpPr>
        <p:spPr>
          <a:xfrm xmlns:a="http://schemas.openxmlformats.org/drawingml/2006/main">
            <a:off x="809625" y="5638800"/>
            <a:ext cx="5619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First FC source moved first; competitor relative order preserved</a:t>
            </a:r>
          </a:p>
        </p:txBody>
      </p:sp>
      <p:graphicFrame>
        <p:nvGraphicFramePr>
          <p:cNvPr id="16" name="Chart">
            <a:extLst xmlns:a="http://schemas.openxmlformats.org/drawingml/2006/main">
              <a:ext uri="{FF2B5EF4-FFF2-40B4-BE49-F238E27FC236}">
                <a16:creationId xmlns:a16="http://schemas.microsoft.com/office/drawing/2014/main" id="{2CFC8C70-6146-49EE-B87B-955485446C60}"/>
              </a:ext>
            </a:extLst>
          </p:cNvPr>
          <p:cNvGraphicFramePr/>
          <p:nvPr/>
        </p:nvGraphicFramePr>
        <p:xfrm>
          <a:off xmlns:a="http://schemas.openxmlformats.org/drawingml/2006/main" x="7620000" y="2333625"/>
          <a:ext xmlns:a="http://schemas.openxmlformats.org/drawingml/2006/main" cx="7000875" cy="4095750"/>
        </p:xfrm>
        <a:graphic xmlns:a="http://schemas.openxmlformats.org/drawingml/2006/main">
          <a:graphicData uri="http://schemas.openxmlformats.org/drawingml/2006/chart">
            <c:chart xmlns:r="http://schemas.openxmlformats.org/officeDocument/2006/relationships" xmlns:c="http://schemas.openxmlformats.org/drawingml/2006/chart" r:id="R921290b5b0a24173"/>
          </a:graphicData>
        </a:graphic>
      </p:graphicFrame>
      <p:sp>
        <p:nvSpPr>
          <p:cNvPr id="17" name="">
            <a:extLst xmlns:a="http://schemas.openxmlformats.org/drawingml/2006/main">
              <a:ext uri="{FF2B5EF4-FFF2-40B4-BE49-F238E27FC236}">
                <a16:creationId xmlns:a16="http://schemas.microsoft.com/office/drawing/2014/main" id="{9669F936-F5AF-488B-84C4-8631EDDB0CDA}"/>
              </a:ext>
            </a:extLst>
          </p:cNvPr>
          <p:cNvSpPr>
            <a:spLocks xmlns:a="http://schemas.openxmlformats.org/drawingml/2006/main" noGrp="1"/>
          </p:cNvSpPr>
          <p:nvPr/>
        </p:nvSpPr>
        <p:spPr>
          <a:xfrm xmlns:a="http://schemas.openxmlformats.org/drawingml/2006/main">
            <a:off x="8001000" y="6572250"/>
            <a:ext cx="6572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142D3D"/>
                </a:solidFill>
                <a:latin typeface="Arial"/>
                <a:ea typeface="Arial"/>
                <a:cs typeface="Arial"/>
              </a:defRPr>
            </a:defPPr>
          </a:lstStyle>
          <a:p xmlns:a="http://schemas.openxmlformats.org/drawingml/2006/main">
            <a:pPr>
              <a:defRPr sz="2325" b="1">
                <a:solidFill>
                  <a:srgbClr val="142D3D"/>
                </a:solidFill>
                <a:latin typeface="Arial"/>
                <a:ea typeface="Arial"/>
                <a:cs typeface="Arial"/>
              </a:defRPr>
            </a:pPr>
            <a:r>
              <a:rPr sz="2325" b="1">
                <a:solidFill>
                  <a:srgbClr val="142D3D"/>
                </a:solidFill>
                <a:latin typeface="Arial"/>
                <a:ea typeface="Arial"/>
                <a:cs typeface="Arial"/>
              </a:rPr>
              <a:t>114 → 167 / 290</a:t>
            </a:r>
          </a:p>
        </p:txBody>
      </p:sp>
      <p:sp>
        <p:nvSpPr>
          <p:cNvPr id="18" name="">
            <a:extLst xmlns:a="http://schemas.openxmlformats.org/drawingml/2006/main">
              <a:ext uri="{FF2B5EF4-FFF2-40B4-BE49-F238E27FC236}">
                <a16:creationId xmlns:a16="http://schemas.microsoft.com/office/drawing/2014/main" id="{06955BC1-E039-4E32-966F-1385A7AEBE58}"/>
              </a:ext>
            </a:extLst>
          </p:cNvPr>
          <p:cNvSpPr>
            <a:spLocks xmlns:a="http://schemas.openxmlformats.org/drawingml/2006/main" noGrp="1"/>
          </p:cNvSpPr>
          <p:nvPr/>
        </p:nvSpPr>
        <p:spPr>
          <a:xfrm xmlns:a="http://schemas.openxmlformats.org/drawingml/2006/main">
            <a:off x="8001000" y="7077075"/>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06574"/>
                </a:solidFill>
                <a:latin typeface="Arial"/>
                <a:ea typeface="Arial"/>
                <a:cs typeface="Arial"/>
              </a:defRPr>
            </a:defPPr>
          </a:lstStyle>
          <a:p xmlns:a="http://schemas.openxmlformats.org/drawingml/2006/main">
            <a:pPr>
              <a:defRPr sz="1725" b="0">
                <a:solidFill>
                  <a:srgbClr val="506574"/>
                </a:solidFill>
                <a:latin typeface="Arial"/>
                <a:ea typeface="Arial"/>
                <a:cs typeface="Arial"/>
              </a:defRPr>
            </a:pPr>
            <a:r>
              <a:rPr sz="1725" b="0">
                <a:solidFill>
                  <a:srgbClr val="506574"/>
                </a:solidFill>
                <a:latin typeface="Arial"/>
                <a:ea typeface="Arial"/>
                <a:cs typeface="Arial"/>
              </a:rPr>
              <a:t>95% difference interval: +12.1 to +25.2 pp</a:t>
            </a:r>
          </a:p>
        </p:txBody>
      </p:sp>
    </p:spTree>
    <p:extLst>
      <p:ext uri="{BB962C8B-B14F-4D97-AF65-F5344CB8AC3E}">
        <p14:creationId xmlns:p14="http://schemas.microsoft.com/office/powerpoint/2010/main" val="522060672"/>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D38143D-D50B-4CF7-9041-0EA8DA1FBD7B}"/>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F4ED68D0-4A77-4E58-A45B-44834D62143D}"/>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Practical value for Flight Centre</a:t>
            </a:r>
          </a:p>
        </p:txBody>
      </p:sp>
      <p:sp>
        <p:nvSpPr>
          <p:cNvPr id="3" name="">
            <a:extLst xmlns:a="http://schemas.openxmlformats.org/drawingml/2006/main">
              <a:ext uri="{FF2B5EF4-FFF2-40B4-BE49-F238E27FC236}">
                <a16:creationId xmlns:a16="http://schemas.microsoft.com/office/drawing/2014/main" id="{400FA630-8A3D-4A81-8042-1A668ACF0F57}"/>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063C5B-CEC8-4035-AD75-4675149646FF}"/>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Delivered: a testable content prototype. Proposed: a governed pilot with separate commercial measures.</a:t>
            </a:r>
          </a:p>
        </p:txBody>
      </p:sp>
      <p:sp>
        <p:nvSpPr>
          <p:cNvPr id="5" name="">
            <a:extLst xmlns:a="http://schemas.openxmlformats.org/drawingml/2006/main">
              <a:ext uri="{FF2B5EF4-FFF2-40B4-BE49-F238E27FC236}">
                <a16:creationId xmlns:a16="http://schemas.microsoft.com/office/drawing/2014/main" id="{7BB3E138-3D7A-4482-A51B-AE5102075E90}"/>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15 / 18   •   Evidence: C19, C20, C22 | Full claim ledger in submission</a:t>
            </a:r>
          </a:p>
        </p:txBody>
      </p:sp>
      <p:sp>
        <p:nvSpPr>
          <p:cNvPr id="6" name="">
            <a:extLst xmlns:a="http://schemas.openxmlformats.org/drawingml/2006/main">
              <a:ext uri="{FF2B5EF4-FFF2-40B4-BE49-F238E27FC236}">
                <a16:creationId xmlns:a16="http://schemas.microsoft.com/office/drawing/2014/main" id="{5F15E8CF-6B9C-48D9-A694-B38A8A33FCEF}"/>
              </a:ext>
            </a:extLst>
          </p:cNvPr>
          <p:cNvSpPr>
            <a:spLocks xmlns:a="http://schemas.openxmlformats.org/drawingml/2006/main" noGrp="1"/>
          </p:cNvSpPr>
          <p:nvPr/>
        </p:nvSpPr>
        <p:spPr>
          <a:xfrm xmlns:a="http://schemas.openxmlformats.org/drawingml/2006/main">
            <a:off x="619125" y="22860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796ED5F0-7DBB-471A-A018-2227DBA2E577}"/>
              </a:ext>
            </a:extLst>
          </p:cNvPr>
          <p:cNvSpPr>
            <a:spLocks xmlns:a="http://schemas.openxmlformats.org/drawingml/2006/main" noGrp="1"/>
          </p:cNvSpPr>
          <p:nvPr/>
        </p:nvSpPr>
        <p:spPr>
          <a:xfrm xmlns:a="http://schemas.openxmlformats.org/drawingml/2006/main">
            <a:off x="1600200" y="228600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Delivered</a:t>
            </a:r>
          </a:p>
        </p:txBody>
      </p:sp>
      <p:sp>
        <p:nvSpPr>
          <p:cNvPr id="8" name="">
            <a:extLst xmlns:a="http://schemas.openxmlformats.org/drawingml/2006/main">
              <a:ext uri="{FF2B5EF4-FFF2-40B4-BE49-F238E27FC236}">
                <a16:creationId xmlns:a16="http://schemas.microsoft.com/office/drawing/2014/main" id="{3CA47FC8-0ACA-4AAC-A63E-C9BEB8D415A8}"/>
              </a:ext>
            </a:extLst>
          </p:cNvPr>
          <p:cNvSpPr>
            <a:spLocks xmlns:a="http://schemas.openxmlformats.org/drawingml/2006/main" noGrp="1"/>
          </p:cNvSpPr>
          <p:nvPr/>
        </p:nvSpPr>
        <p:spPr>
          <a:xfrm xmlns:a="http://schemas.openxmlformats.org/drawingml/2006/main">
            <a:off x="5381625" y="228600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A working prototype for clearer captured route information and Q&amp;A.</a:t>
            </a:r>
          </a:p>
        </p:txBody>
      </p:sp>
      <p:sp>
        <p:nvSpPr>
          <p:cNvPr id="9" name="">
            <a:extLst xmlns:a="http://schemas.openxmlformats.org/drawingml/2006/main">
              <a:ext uri="{FF2B5EF4-FFF2-40B4-BE49-F238E27FC236}">
                <a16:creationId xmlns:a16="http://schemas.microsoft.com/office/drawing/2014/main" id="{F9D20A35-37E3-4236-9CCB-D3C8FE401977}"/>
              </a:ext>
            </a:extLst>
          </p:cNvPr>
          <p:cNvSpPr>
            <a:spLocks xmlns:a="http://schemas.openxmlformats.org/drawingml/2006/main" noGrp="1"/>
          </p:cNvSpPr>
          <p:nvPr/>
        </p:nvSpPr>
        <p:spPr>
          <a:xfrm xmlns:a="http://schemas.openxmlformats.org/drawingml/2006/main">
            <a:off x="619125" y="38100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3047A885-E43F-4700-B23C-A176DE1C0EAB}"/>
              </a:ext>
            </a:extLst>
          </p:cNvPr>
          <p:cNvSpPr>
            <a:spLocks xmlns:a="http://schemas.openxmlformats.org/drawingml/2006/main" noGrp="1"/>
          </p:cNvSpPr>
          <p:nvPr/>
        </p:nvSpPr>
        <p:spPr>
          <a:xfrm xmlns:a="http://schemas.openxmlformats.org/drawingml/2006/main">
            <a:off x="1600200" y="381000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Potential value</a:t>
            </a:r>
          </a:p>
        </p:txBody>
      </p:sp>
      <p:sp>
        <p:nvSpPr>
          <p:cNvPr id="11" name="">
            <a:extLst xmlns:a="http://schemas.openxmlformats.org/drawingml/2006/main">
              <a:ext uri="{FF2B5EF4-FFF2-40B4-BE49-F238E27FC236}">
                <a16:creationId xmlns:a16="http://schemas.microsoft.com/office/drawing/2014/main" id="{F9D10133-C5D2-472C-8018-A494947B62D1}"/>
              </a:ext>
            </a:extLst>
          </p:cNvPr>
          <p:cNvSpPr>
            <a:spLocks xmlns:a="http://schemas.openxmlformats.org/drawingml/2006/main" noGrp="1"/>
          </p:cNvSpPr>
          <p:nvPr/>
        </p:nvSpPr>
        <p:spPr>
          <a:xfrm xmlns:a="http://schemas.openxmlformats.org/drawingml/2006/main">
            <a:off x="5381625" y="381000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More opportunity for source credit when FC information is supplied.</a:t>
            </a:r>
          </a:p>
        </p:txBody>
      </p:sp>
      <p:sp>
        <p:nvSpPr>
          <p:cNvPr id="12" name="">
            <a:extLst xmlns:a="http://schemas.openxmlformats.org/drawingml/2006/main">
              <a:ext uri="{FF2B5EF4-FFF2-40B4-BE49-F238E27FC236}">
                <a16:creationId xmlns:a16="http://schemas.microsoft.com/office/drawing/2014/main" id="{6E213FE9-7B19-4A7E-8B3F-5D465276EF2D}"/>
              </a:ext>
            </a:extLst>
          </p:cNvPr>
          <p:cNvSpPr>
            <a:spLocks xmlns:a="http://schemas.openxmlformats.org/drawingml/2006/main" noGrp="1"/>
          </p:cNvSpPr>
          <p:nvPr/>
        </p:nvSpPr>
        <p:spPr>
          <a:xfrm xmlns:a="http://schemas.openxmlformats.org/drawingml/2006/main">
            <a:off x="619125" y="53340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56FF2A1D-F307-4FC1-A749-A8CB64F533F3}"/>
              </a:ext>
            </a:extLst>
          </p:cNvPr>
          <p:cNvSpPr>
            <a:spLocks xmlns:a="http://schemas.openxmlformats.org/drawingml/2006/main" noGrp="1"/>
          </p:cNvSpPr>
          <p:nvPr/>
        </p:nvSpPr>
        <p:spPr>
          <a:xfrm xmlns:a="http://schemas.openxmlformats.org/drawingml/2006/main">
            <a:off x="1600200" y="533400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Separate next measures</a:t>
            </a:r>
          </a:p>
        </p:txBody>
      </p:sp>
      <p:sp>
        <p:nvSpPr>
          <p:cNvPr id="14" name="">
            <a:extLst xmlns:a="http://schemas.openxmlformats.org/drawingml/2006/main">
              <a:ext uri="{FF2B5EF4-FFF2-40B4-BE49-F238E27FC236}">
                <a16:creationId xmlns:a16="http://schemas.microsoft.com/office/drawing/2014/main" id="{B732A61F-6E55-4C4E-A2A3-E687DB69D371}"/>
              </a:ext>
            </a:extLst>
          </p:cNvPr>
          <p:cNvSpPr>
            <a:spLocks xmlns:a="http://schemas.openxmlformats.org/drawingml/2006/main" noGrp="1"/>
          </p:cNvSpPr>
          <p:nvPr/>
        </p:nvSpPr>
        <p:spPr>
          <a:xfrm xmlns:a="http://schemas.openxmlformats.org/drawingml/2006/main">
            <a:off x="5381625" y="533400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Live discovery, supported recommendations, enquiries and bookings.</a:t>
            </a:r>
          </a:p>
        </p:txBody>
      </p:sp>
    </p:spTree>
    <p:extLst>
      <p:ext uri="{BB962C8B-B14F-4D97-AF65-F5344CB8AC3E}">
        <p14:creationId xmlns:p14="http://schemas.microsoft.com/office/powerpoint/2010/main" val="575587459"/>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DE535C-C676-4919-8AC4-43C7740F6A3F}"/>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23C425C0-C7DA-450A-884B-16F5156CA7F3}"/>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Scope of the conclusion</a:t>
            </a:r>
          </a:p>
        </p:txBody>
      </p:sp>
      <p:sp>
        <p:nvSpPr>
          <p:cNvPr id="3" name="">
            <a:extLst xmlns:a="http://schemas.openxmlformats.org/drawingml/2006/main">
              <a:ext uri="{FF2B5EF4-FFF2-40B4-BE49-F238E27FC236}">
                <a16:creationId xmlns:a16="http://schemas.microsoft.com/office/drawing/2014/main" id="{3BF63101-19BA-40E5-8DD4-80C12AD79FF9}"/>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4BAD48-A848-49B9-A6D7-20E8081E19A0}"/>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Conditional citation evidence; broader discovery, recommendation and conversion remain unproven.</a:t>
            </a:r>
          </a:p>
        </p:txBody>
      </p:sp>
      <p:sp>
        <p:nvSpPr>
          <p:cNvPr id="5" name="">
            <a:extLst xmlns:a="http://schemas.openxmlformats.org/drawingml/2006/main">
              <a:ext uri="{FF2B5EF4-FFF2-40B4-BE49-F238E27FC236}">
                <a16:creationId xmlns:a16="http://schemas.microsoft.com/office/drawing/2014/main" id="{DC5CA80F-80AB-47BA-95AA-2EDB19F24E9E}"/>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16 / 18   •   Evidence: C06, C18, C20, C22 | Full claim ledger in submission</a:t>
            </a:r>
          </a:p>
        </p:txBody>
      </p:sp>
      <p:graphicFrame>
        <p:nvGraphicFramePr>
          <p:cNvPr id="6" name="">
            <a:extLst xmlns:a="http://schemas.openxmlformats.org/drawingml/2006/main">
              <a:ext uri="{FF2B5EF4-FFF2-40B4-BE49-F238E27FC236}">
                <a16:creationId xmlns:a16="http://schemas.microsoft.com/office/drawing/2014/main" id="{0E8066F8-A2F7-4F63-B6D5-630397679C61}"/>
              </a:ext>
            </a:extLst>
          </p:cNvPr>
          <p:cNvGraphicFramePr/>
          <p:nvPr/>
        </p:nvGraphicFramePr>
        <p:xfrm>
          <a:off xmlns:a="http://schemas.openxmlformats.org/drawingml/2006/main" x="619125" y="2238375"/>
          <a:ext xmlns:a="http://schemas.openxmlformats.org/drawingml/2006/main" cx="14001750" cy="4572000"/>
        </p:xfrm>
        <a:graphic xmlns:a="http://schemas.openxmlformats.org/drawingml/2006/main">
          <a:graphicData uri="http://schemas.openxmlformats.org/drawingml/2006/table">
            <a:tbl>
              <a:tblPr/>
              <a:tblGrid>
                <a:gridCol w="6191250"/>
                <a:gridCol w="7810500"/>
              </a:tblGrid>
              <a:tr h="762000">
                <a:tc>
                  <a:txBody>
                    <a:bodyPr/>
                    <a:lstStyle/>
                    <a:p>
                      <a:r>
                        <a:rPr sz="2100" b="1">
                          <a:solidFill>
                            <a:srgbClr val="FFFFFF"/>
                          </a:solidFill>
                          <a:latin typeface="Arial"/>
                          <a:ea typeface="Arial"/>
                          <a:cs typeface="Arial"/>
                        </a:rPr>
                        <a:t>Evidence</a:t>
                      </a:r>
                    </a:p>
                  </a:txBody>
                  <a:tcPr marL="91440" marR="91440" marT="45720" marB="45720">
                    <a:solidFill>
                      <a:srgbClr val="142D3D"/>
                    </a:solidFill>
                  </a:tcPr>
                </a:tc>
                <a:tc>
                  <a:txBody>
                    <a:bodyPr/>
                    <a:lstStyle/>
                    <a:p>
                      <a:r>
                        <a:rPr sz="2100" b="1">
                          <a:solidFill>
                            <a:srgbClr val="FFFFFF"/>
                          </a:solidFill>
                          <a:latin typeface="Arial"/>
                          <a:ea typeface="Arial"/>
                          <a:cs typeface="Arial"/>
                        </a:rPr>
                        <a:t>What it means</a:t>
                      </a:r>
                    </a:p>
                  </a:txBody>
                  <a:tcPr marL="91440" marR="91440" marT="45720" marB="45720">
                    <a:solidFill>
                      <a:srgbClr val="142D3D"/>
                    </a:solidFill>
                  </a:tcPr>
                </a:tc>
              </a:tr>
              <a:tr h="762000">
                <a:tc>
                  <a:txBody>
                    <a:bodyPr/>
                    <a:lstStyle/>
                    <a:p>
                      <a:r>
                        <a:rPr sz="2100" b="0">
                          <a:solidFill>
                            <a:srgbClr val="142D3D"/>
                          </a:solidFill>
                          <a:latin typeface="Arial"/>
                          <a:ea typeface="Arial"/>
                          <a:cs typeface="Arial"/>
                        </a:rPr>
                        <a:t>Two positive fixed comparisons</a:t>
                      </a:r>
                    </a:p>
                  </a:txBody>
                  <a:tcPr marL="91440" marR="91440" marT="45720" marB="45720">
                    <a:solidFill>
                      <a:srgbClr val="FFFFFF"/>
                    </a:solidFill>
                  </a:tcPr>
                </a:tc>
                <a:tc>
                  <a:txBody>
                    <a:bodyPr/>
                    <a:lstStyle/>
                    <a:p>
                      <a:r>
                        <a:rPr sz="2100" b="0">
                          <a:solidFill>
                            <a:srgbClr val="142D3D"/>
                          </a:solidFill>
                          <a:latin typeface="Arial"/>
                          <a:ea typeface="Arial"/>
                          <a:cs typeface="Arial"/>
                        </a:rPr>
                        <a:t>Conditional source-use evidence; development setting</a:t>
                      </a:r>
                    </a:p>
                  </a:txBody>
                  <a:tcPr marL="91440" marR="91440" marT="45720" marB="45720">
                    <a:solidFill>
                      <a:srgbClr val="FFFFFF"/>
                    </a:solidFill>
                  </a:tcPr>
                </a:tc>
              </a:tr>
              <a:tr h="762000">
                <a:tc>
                  <a:txBody>
                    <a:bodyPr/>
                    <a:lstStyle/>
                    <a:p>
                      <a:r>
                        <a:rPr sz="2100" b="0">
                          <a:solidFill>
                            <a:srgbClr val="142D3D"/>
                          </a:solidFill>
                          <a:latin typeface="Arial"/>
                          <a:ea typeface="Arial"/>
                          <a:cs typeface="Arial"/>
                        </a:rPr>
                        <a:t>Reindexed: 6.50% → 6.75%</a:t>
                      </a:r>
                    </a:p>
                  </a:txBody>
                  <a:tcPr marL="91440" marR="91440" marT="45720" marB="45720">
                    <a:solidFill>
                      <a:srgbClr val="E9F0F1"/>
                    </a:solidFill>
                  </a:tcPr>
                </a:tc>
                <a:tc>
                  <a:txBody>
                    <a:bodyPr/>
                    <a:lstStyle/>
                    <a:p>
                      <a:r>
                        <a:rPr sz="2100" b="0">
                          <a:solidFill>
                            <a:srgbClr val="142D3D"/>
                          </a:solidFill>
                          <a:latin typeface="Arial"/>
                          <a:ea typeface="Arial"/>
                          <a:cs typeface="Arial"/>
                        </a:rPr>
                        <a:t>No established gain when retrieval exposure changes</a:t>
                      </a:r>
                    </a:p>
                  </a:txBody>
                  <a:tcPr marL="91440" marR="91440" marT="45720" marB="45720">
                    <a:solidFill>
                      <a:srgbClr val="E9F0F1"/>
                    </a:solidFill>
                  </a:tcPr>
                </a:tc>
              </a:tr>
              <a:tr h="762000">
                <a:tc>
                  <a:txBody>
                    <a:bodyPr/>
                    <a:lstStyle/>
                    <a:p>
                      <a:r>
                        <a:rPr sz="2100" b="0">
                          <a:solidFill>
                            <a:srgbClr val="142D3D"/>
                          </a:solidFill>
                          <a:latin typeface="Arial"/>
                          <a:ea typeface="Arial"/>
                          <a:cs typeface="Arial"/>
                        </a:rPr>
                        <a:t>Fresh wording: 68.6% → 76.9%</a:t>
                      </a:r>
                    </a:p>
                  </a:txBody>
                  <a:tcPr marL="91440" marR="91440" marT="45720" marB="45720">
                    <a:solidFill>
                      <a:srgbClr val="FFFFFF"/>
                    </a:solidFill>
                  </a:tcPr>
                </a:tc>
                <a:tc>
                  <a:txBody>
                    <a:bodyPr/>
                    <a:lstStyle/>
                    <a:p>
                      <a:r>
                        <a:rPr sz="2100" b="0">
                          <a:solidFill>
                            <a:srgbClr val="142D3D"/>
                          </a:solidFill>
                          <a:latin typeface="Arial"/>
                          <a:ea typeface="Arial"/>
                          <a:cs typeface="Arial"/>
                        </a:rPr>
                        <a:t>Interval crosses zero; related tasks, not new-topic holdout</a:t>
                      </a:r>
                    </a:p>
                  </a:txBody>
                  <a:tcPr marL="91440" marR="91440" marT="45720" marB="45720">
                    <a:solidFill>
                      <a:srgbClr val="FFFFFF"/>
                    </a:solidFill>
                  </a:tcPr>
                </a:tc>
              </a:tr>
              <a:tr h="762000">
                <a:tc>
                  <a:txBody>
                    <a:bodyPr/>
                    <a:lstStyle/>
                    <a:p>
                      <a:r>
                        <a:rPr sz="2100" b="0">
                          <a:solidFill>
                            <a:srgbClr val="142D3D"/>
                          </a:solidFill>
                          <a:latin typeface="Arial"/>
                          <a:ea typeface="Arial"/>
                          <a:cs typeface="Arial"/>
                        </a:rPr>
                        <a:t>Historical controls + capture differences</a:t>
                      </a:r>
                    </a:p>
                  </a:txBody>
                  <a:tcPr marL="91440" marR="91440" marT="45720" marB="45720">
                    <a:solidFill>
                      <a:srgbClr val="E9F0F1"/>
                    </a:solidFill>
                  </a:tcPr>
                </a:tc>
                <a:tc>
                  <a:txBody>
                    <a:bodyPr/>
                    <a:lstStyle/>
                    <a:p>
                      <a:r>
                        <a:rPr sz="2100" b="0">
                          <a:solidFill>
                            <a:srgbClr val="142D3D"/>
                          </a:solidFill>
                          <a:latin typeface="Arial"/>
                          <a:ea typeface="Arial"/>
                          <a:cs typeface="Arial"/>
                        </a:rPr>
                        <a:t>Cannot cleanly attribute all gain to page structure</a:t>
                      </a:r>
                    </a:p>
                  </a:txBody>
                  <a:tcPr marL="91440" marR="91440" marT="45720" marB="45720">
                    <a:solidFill>
                      <a:srgbClr val="E9F0F1"/>
                    </a:solidFill>
                  </a:tcPr>
                </a:tc>
              </a:tr>
              <a:tr h="762000">
                <a:tc>
                  <a:txBody>
                    <a:bodyPr/>
                    <a:lstStyle/>
                    <a:p>
                      <a:r>
                        <a:rPr sz="2100" b="0">
                          <a:solidFill>
                            <a:srgbClr val="142D3D"/>
                          </a:solidFill>
                          <a:latin typeface="Arial"/>
                          <a:ea typeface="Arial"/>
                          <a:cs typeface="Arial"/>
                        </a:rPr>
                        <a:t>Citation metric</a:t>
                      </a:r>
                    </a:p>
                  </a:txBody>
                  <a:tcPr marL="91440" marR="91440" marT="45720" marB="45720">
                    <a:solidFill>
                      <a:srgbClr val="FFFFFF"/>
                    </a:solidFill>
                  </a:tcPr>
                </a:tc>
                <a:tc>
                  <a:txBody>
                    <a:bodyPr/>
                    <a:lstStyle/>
                    <a:p>
                      <a:r>
                        <a:rPr sz="2100" b="0">
                          <a:solidFill>
                            <a:srgbClr val="142D3D"/>
                          </a:solidFill>
                          <a:latin typeface="Arial"/>
                          <a:ea typeface="Arial"/>
                          <a:cs typeface="Arial"/>
                        </a:rPr>
                        <a:t>Does not prove recommendation, relevance or conversion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562434371"/>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5E8F169-DCD5-4CF3-8A85-9C046AE4200F}"/>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7F3D1CAD-FC36-4C8A-BE00-784E55E6FEC4}"/>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Delivered artefacts and assessor walkthrough</a:t>
            </a:r>
          </a:p>
        </p:txBody>
      </p:sp>
      <p:sp>
        <p:nvSpPr>
          <p:cNvPr id="3" name="">
            <a:extLst xmlns:a="http://schemas.openxmlformats.org/drawingml/2006/main">
              <a:ext uri="{FF2B5EF4-FFF2-40B4-BE49-F238E27FC236}">
                <a16:creationId xmlns:a16="http://schemas.microsoft.com/office/drawing/2014/main" id="{F9863A46-189A-4619-8E4B-A85D6A350C74}"/>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08C9DCF-11CC-49FA-A652-A82E1C32F3B1}"/>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A clean, portable submission; the original project is preserved.</a:t>
            </a:r>
          </a:p>
        </p:txBody>
      </p:sp>
      <p:sp>
        <p:nvSpPr>
          <p:cNvPr id="5" name="">
            <a:extLst xmlns:a="http://schemas.openxmlformats.org/drawingml/2006/main">
              <a:ext uri="{FF2B5EF4-FFF2-40B4-BE49-F238E27FC236}">
                <a16:creationId xmlns:a16="http://schemas.microsoft.com/office/drawing/2014/main" id="{6F3AB0E0-49BD-487B-A8AB-8CA13FA32B52}"/>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17 / 18   •   Evidence: C11, C21, C22 | Full claim ledger in submission</a:t>
            </a:r>
          </a:p>
        </p:txBody>
      </p:sp>
      <p:sp>
        <p:nvSpPr>
          <p:cNvPr id="6" name="">
            <a:extLst xmlns:a="http://schemas.openxmlformats.org/drawingml/2006/main">
              <a:ext uri="{FF2B5EF4-FFF2-40B4-BE49-F238E27FC236}">
                <a16:creationId xmlns:a16="http://schemas.microsoft.com/office/drawing/2014/main" id="{B51ED9E3-7E01-4627-9F39-9C881B4C2F92}"/>
              </a:ext>
            </a:extLst>
          </p:cNvPr>
          <p:cNvSpPr>
            <a:spLocks xmlns:a="http://schemas.openxmlformats.org/drawingml/2006/main" noGrp="1"/>
          </p:cNvSpPr>
          <p:nvPr/>
        </p:nvSpPr>
        <p:spPr>
          <a:xfrm xmlns:a="http://schemas.openxmlformats.org/drawingml/2006/main">
            <a:off x="619125" y="2276475"/>
            <a:ext cx="6477000" cy="20383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7" name="">
            <a:extLst xmlns:a="http://schemas.openxmlformats.org/drawingml/2006/main">
              <a:ext uri="{FF2B5EF4-FFF2-40B4-BE49-F238E27FC236}">
                <a16:creationId xmlns:a16="http://schemas.microsoft.com/office/drawing/2014/main" id="{E65D8A5D-DB1D-465F-8322-4D10243657BD}"/>
              </a:ext>
            </a:extLst>
          </p:cNvPr>
          <p:cNvSpPr>
            <a:spLocks xmlns:a="http://schemas.openxmlformats.org/drawingml/2006/main" noGrp="1"/>
          </p:cNvSpPr>
          <p:nvPr/>
        </p:nvSpPr>
        <p:spPr>
          <a:xfrm xmlns:a="http://schemas.openxmlformats.org/drawingml/2006/main">
            <a:off x="619125" y="2276475"/>
            <a:ext cx="66675" cy="20383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D0537DA-F0C3-45C9-A044-EA1F6D36E891}"/>
              </a:ext>
            </a:extLst>
          </p:cNvPr>
          <p:cNvSpPr>
            <a:spLocks xmlns:a="http://schemas.openxmlformats.org/drawingml/2006/main" noGrp="1"/>
          </p:cNvSpPr>
          <p:nvPr/>
        </p:nvSpPr>
        <p:spPr>
          <a:xfrm xmlns:a="http://schemas.openxmlformats.org/drawingml/2006/main">
            <a:off x="809625" y="2419350"/>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01  Presentation</a:t>
            </a:r>
          </a:p>
        </p:txBody>
      </p:sp>
      <p:sp>
        <p:nvSpPr>
          <p:cNvPr id="9" name="">
            <a:extLst xmlns:a="http://schemas.openxmlformats.org/drawingml/2006/main">
              <a:ext uri="{FF2B5EF4-FFF2-40B4-BE49-F238E27FC236}">
                <a16:creationId xmlns:a16="http://schemas.microsoft.com/office/drawing/2014/main" id="{C6607145-713F-4434-B225-82BC2E21229F}"/>
              </a:ext>
            </a:extLst>
          </p:cNvPr>
          <p:cNvSpPr>
            <a:spLocks xmlns:a="http://schemas.openxmlformats.org/drawingml/2006/main" noGrp="1"/>
          </p:cNvSpPr>
          <p:nvPr/>
        </p:nvSpPr>
        <p:spPr>
          <a:xfrm xmlns:a="http://schemas.openxmlformats.org/drawingml/2006/main">
            <a:off x="809625" y="3009900"/>
            <a:ext cx="6096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18 main slides, 8 backup slides and timed scripts</a:t>
            </a:r>
          </a:p>
        </p:txBody>
      </p:sp>
      <p:sp>
        <p:nvSpPr>
          <p:cNvPr id="10" name="">
            <a:extLst xmlns:a="http://schemas.openxmlformats.org/drawingml/2006/main">
              <a:ext uri="{FF2B5EF4-FFF2-40B4-BE49-F238E27FC236}">
                <a16:creationId xmlns:a16="http://schemas.microsoft.com/office/drawing/2014/main" id="{B3BC1F14-0726-4F36-90E9-49367BD1630C}"/>
              </a:ext>
            </a:extLst>
          </p:cNvPr>
          <p:cNvSpPr>
            <a:spLocks xmlns:a="http://schemas.openxmlformats.org/drawingml/2006/main" noGrp="1"/>
          </p:cNvSpPr>
          <p:nvPr/>
        </p:nvSpPr>
        <p:spPr>
          <a:xfrm xmlns:a="http://schemas.openxmlformats.org/drawingml/2006/main">
            <a:off x="8143875" y="2276475"/>
            <a:ext cx="6477000" cy="20383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1" name="">
            <a:extLst xmlns:a="http://schemas.openxmlformats.org/drawingml/2006/main">
              <a:ext uri="{FF2B5EF4-FFF2-40B4-BE49-F238E27FC236}">
                <a16:creationId xmlns:a16="http://schemas.microsoft.com/office/drawing/2014/main" id="{CE1DA012-EFFC-43B1-B363-34025FFCEF7D}"/>
              </a:ext>
            </a:extLst>
          </p:cNvPr>
          <p:cNvSpPr>
            <a:spLocks xmlns:a="http://schemas.openxmlformats.org/drawingml/2006/main" noGrp="1"/>
          </p:cNvSpPr>
          <p:nvPr/>
        </p:nvSpPr>
        <p:spPr>
          <a:xfrm xmlns:a="http://schemas.openxmlformats.org/drawingml/2006/main">
            <a:off x="8143875" y="2276475"/>
            <a:ext cx="66675" cy="20383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895018-E0A5-4EBF-A9A1-A5EF9E77F447}"/>
              </a:ext>
            </a:extLst>
          </p:cNvPr>
          <p:cNvSpPr>
            <a:spLocks xmlns:a="http://schemas.openxmlformats.org/drawingml/2006/main" noGrp="1"/>
          </p:cNvSpPr>
          <p:nvPr/>
        </p:nvSpPr>
        <p:spPr>
          <a:xfrm xmlns:a="http://schemas.openxmlformats.org/drawingml/2006/main">
            <a:off x="8334375" y="2419350"/>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02  Documentation</a:t>
            </a:r>
          </a:p>
        </p:txBody>
      </p:sp>
      <p:sp>
        <p:nvSpPr>
          <p:cNvPr id="13" name="">
            <a:extLst xmlns:a="http://schemas.openxmlformats.org/drawingml/2006/main">
              <a:ext uri="{FF2B5EF4-FFF2-40B4-BE49-F238E27FC236}">
                <a16:creationId xmlns:a16="http://schemas.microsoft.com/office/drawing/2014/main" id="{CACADBEC-3625-4BFB-937B-2264CA104E32}"/>
              </a:ext>
            </a:extLst>
          </p:cNvPr>
          <p:cNvSpPr>
            <a:spLocks xmlns:a="http://schemas.openxmlformats.org/drawingml/2006/main" noGrp="1"/>
          </p:cNvSpPr>
          <p:nvPr/>
        </p:nvSpPr>
        <p:spPr>
          <a:xfrm xmlns:a="http://schemas.openxmlformats.org/drawingml/2006/main">
            <a:off x="8334375" y="3009900"/>
            <a:ext cx="6096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Technical report, method register and handover checklist</a:t>
            </a:r>
          </a:p>
        </p:txBody>
      </p:sp>
      <p:sp>
        <p:nvSpPr>
          <p:cNvPr id="14" name="">
            <a:extLst xmlns:a="http://schemas.openxmlformats.org/drawingml/2006/main">
              <a:ext uri="{FF2B5EF4-FFF2-40B4-BE49-F238E27FC236}">
                <a16:creationId xmlns:a16="http://schemas.microsoft.com/office/drawing/2014/main" id="{32CCF51A-9540-41A7-A85C-D5B4FB27B1A9}"/>
              </a:ext>
            </a:extLst>
          </p:cNvPr>
          <p:cNvSpPr>
            <a:spLocks xmlns:a="http://schemas.openxmlformats.org/drawingml/2006/main" noGrp="1"/>
          </p:cNvSpPr>
          <p:nvPr/>
        </p:nvSpPr>
        <p:spPr>
          <a:xfrm xmlns:a="http://schemas.openxmlformats.org/drawingml/2006/main">
            <a:off x="619125" y="4676775"/>
            <a:ext cx="6477000" cy="20383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5" name="">
            <a:extLst xmlns:a="http://schemas.openxmlformats.org/drawingml/2006/main">
              <a:ext uri="{FF2B5EF4-FFF2-40B4-BE49-F238E27FC236}">
                <a16:creationId xmlns:a16="http://schemas.microsoft.com/office/drawing/2014/main" id="{4AF89F2A-2016-4836-93CF-1812B0E0B19E}"/>
              </a:ext>
            </a:extLst>
          </p:cNvPr>
          <p:cNvSpPr>
            <a:spLocks xmlns:a="http://schemas.openxmlformats.org/drawingml/2006/main" noGrp="1"/>
          </p:cNvSpPr>
          <p:nvPr/>
        </p:nvSpPr>
        <p:spPr>
          <a:xfrm xmlns:a="http://schemas.openxmlformats.org/drawingml/2006/main">
            <a:off x="619125" y="4676775"/>
            <a:ext cx="66675" cy="20383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8CB5DC-4112-4B5C-A9D7-67AFD89E3BBD}"/>
              </a:ext>
            </a:extLst>
          </p:cNvPr>
          <p:cNvSpPr>
            <a:spLocks xmlns:a="http://schemas.openxmlformats.org/drawingml/2006/main" noGrp="1"/>
          </p:cNvSpPr>
          <p:nvPr/>
        </p:nvSpPr>
        <p:spPr>
          <a:xfrm xmlns:a="http://schemas.openxmlformats.org/drawingml/2006/main">
            <a:off x="809625" y="4819650"/>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03  Code</a:t>
            </a:r>
          </a:p>
        </p:txBody>
      </p:sp>
      <p:sp>
        <p:nvSpPr>
          <p:cNvPr id="17" name="">
            <a:extLst xmlns:a="http://schemas.openxmlformats.org/drawingml/2006/main">
              <a:ext uri="{FF2B5EF4-FFF2-40B4-BE49-F238E27FC236}">
                <a16:creationId xmlns:a16="http://schemas.microsoft.com/office/drawing/2014/main" id="{A94297AF-E86D-4171-8F20-73A46178E33E}"/>
              </a:ext>
            </a:extLst>
          </p:cNvPr>
          <p:cNvSpPr>
            <a:spLocks xmlns:a="http://schemas.openxmlformats.org/drawingml/2006/main" noGrp="1"/>
          </p:cNvSpPr>
          <p:nvPr/>
        </p:nvSpPr>
        <p:spPr>
          <a:xfrm xmlns:a="http://schemas.openxmlformats.org/drawingml/2006/main">
            <a:off x="809625" y="5410200"/>
            <a:ext cx="6096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Historical snapshots + portable offline verifier</a:t>
            </a:r>
          </a:p>
        </p:txBody>
      </p:sp>
      <p:sp>
        <p:nvSpPr>
          <p:cNvPr id="18" name="">
            <a:extLst xmlns:a="http://schemas.openxmlformats.org/drawingml/2006/main">
              <a:ext uri="{FF2B5EF4-FFF2-40B4-BE49-F238E27FC236}">
                <a16:creationId xmlns:a16="http://schemas.microsoft.com/office/drawing/2014/main" id="{76CAD089-9F65-4B16-AB62-847B43193242}"/>
              </a:ext>
            </a:extLst>
          </p:cNvPr>
          <p:cNvSpPr>
            <a:spLocks xmlns:a="http://schemas.openxmlformats.org/drawingml/2006/main" noGrp="1"/>
          </p:cNvSpPr>
          <p:nvPr/>
        </p:nvSpPr>
        <p:spPr>
          <a:xfrm xmlns:a="http://schemas.openxmlformats.org/drawingml/2006/main">
            <a:off x="8143875" y="4676775"/>
            <a:ext cx="6477000" cy="2038350"/>
          </a:xfrm>
          <a:prstGeom xmlns:a="http://schemas.openxmlformats.org/drawingml/2006/main" prst="rect">
            <a:avLst/>
          </a:prstGeom>
          <a:solidFill xmlns:a="http://schemas.openxmlformats.org/drawingml/2006/main">
            <a:srgbClr val="FFFFFF"/>
          </a:solidFill>
          <a:ln xmlns:a="http://schemas.openxmlformats.org/drawingml/2006/main" w="19050">
            <a:solidFill>
              <a:srgbClr val="087D82"/>
            </a:solidFill>
          </a:ln>
        </p:spPr>
      </p:sp>
      <p:sp>
        <p:nvSpPr>
          <p:cNvPr id="19" name="">
            <a:extLst xmlns:a="http://schemas.openxmlformats.org/drawingml/2006/main">
              <a:ext uri="{FF2B5EF4-FFF2-40B4-BE49-F238E27FC236}">
                <a16:creationId xmlns:a16="http://schemas.microsoft.com/office/drawing/2014/main" id="{9485F064-5271-4DF3-87B8-6D1E2B58F456}"/>
              </a:ext>
            </a:extLst>
          </p:cNvPr>
          <p:cNvSpPr>
            <a:spLocks xmlns:a="http://schemas.openxmlformats.org/drawingml/2006/main" noGrp="1"/>
          </p:cNvSpPr>
          <p:nvPr/>
        </p:nvSpPr>
        <p:spPr>
          <a:xfrm xmlns:a="http://schemas.openxmlformats.org/drawingml/2006/main">
            <a:off x="8143875" y="4676775"/>
            <a:ext cx="66675" cy="2038350"/>
          </a:xfrm>
          <a:prstGeom xmlns:a="http://schemas.openxmlformats.org/drawingml/2006/main" prst="rect">
            <a:avLst/>
          </a:prstGeom>
          <a:solidFill xmlns:a="http://schemas.openxmlformats.org/drawingml/2006/main">
            <a:srgbClr val="087D8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EF8258-C23A-4340-8A1F-0F423882B03B}"/>
              </a:ext>
            </a:extLst>
          </p:cNvPr>
          <p:cNvSpPr>
            <a:spLocks xmlns:a="http://schemas.openxmlformats.org/drawingml/2006/main" noGrp="1"/>
          </p:cNvSpPr>
          <p:nvPr/>
        </p:nvSpPr>
        <p:spPr>
          <a:xfrm xmlns:a="http://schemas.openxmlformats.org/drawingml/2006/main">
            <a:off x="8334375" y="4819650"/>
            <a:ext cx="609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D82"/>
                </a:solidFill>
                <a:latin typeface="Arial"/>
                <a:ea typeface="Arial"/>
                <a:cs typeface="Arial"/>
              </a:defRPr>
            </a:defPPr>
          </a:lstStyle>
          <a:p xmlns:a="http://schemas.openxmlformats.org/drawingml/2006/main">
            <a:pPr>
              <a:defRPr sz="2325" b="1">
                <a:solidFill>
                  <a:srgbClr val="087D82"/>
                </a:solidFill>
                <a:latin typeface="Arial"/>
                <a:ea typeface="Arial"/>
                <a:cs typeface="Arial"/>
              </a:defRPr>
            </a:pPr>
            <a:r>
              <a:rPr sz="2325" b="1">
                <a:solidFill>
                  <a:srgbClr val="087D82"/>
                </a:solidFill>
                <a:latin typeface="Arial"/>
                <a:ea typeface="Arial"/>
                <a:cs typeface="Arial"/>
              </a:rPr>
              <a:t>04  Evidence</a:t>
            </a:r>
          </a:p>
        </p:txBody>
      </p:sp>
      <p:sp>
        <p:nvSpPr>
          <p:cNvPr id="21" name="">
            <a:extLst xmlns:a="http://schemas.openxmlformats.org/drawingml/2006/main">
              <a:ext uri="{FF2B5EF4-FFF2-40B4-BE49-F238E27FC236}">
                <a16:creationId xmlns:a16="http://schemas.microsoft.com/office/drawing/2014/main" id="{4801AEBE-305A-490A-9A20-3B9C9461BA3D}"/>
              </a:ext>
            </a:extLst>
          </p:cNvPr>
          <p:cNvSpPr>
            <a:spLocks xmlns:a="http://schemas.openxmlformats.org/drawingml/2006/main" noGrp="1"/>
          </p:cNvSpPr>
          <p:nvPr/>
        </p:nvSpPr>
        <p:spPr>
          <a:xfrm xmlns:a="http://schemas.openxmlformats.org/drawingml/2006/main">
            <a:off x="8334375" y="5410200"/>
            <a:ext cx="6096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42D3D"/>
                </a:solidFill>
                <a:latin typeface="Arial"/>
                <a:ea typeface="Arial"/>
                <a:cs typeface="Arial"/>
              </a:defRPr>
            </a:defPPr>
          </a:lstStyle>
          <a:p xmlns:a="http://schemas.openxmlformats.org/drawingml/2006/main">
            <a:pPr>
              <a:defRPr sz="1950" b="0">
                <a:solidFill>
                  <a:srgbClr val="142D3D"/>
                </a:solidFill>
                <a:latin typeface="Arial"/>
                <a:ea typeface="Arial"/>
                <a:cs typeface="Arial"/>
              </a:defRPr>
            </a:pPr>
            <a:r>
              <a:rPr sz="1950" b="0">
                <a:solidFill>
                  <a:srgbClr val="142D3D"/>
                </a:solidFill>
                <a:latin typeface="Arial"/>
                <a:ea typeface="Arial"/>
                <a:cs typeface="Arial"/>
              </a:rPr>
              <a:t>Page outputs, complete answers and saved run records</a:t>
            </a:r>
          </a:p>
        </p:txBody>
      </p:sp>
    </p:spTree>
    <p:extLst>
      <p:ext uri="{BB962C8B-B14F-4D97-AF65-F5344CB8AC3E}">
        <p14:creationId xmlns:p14="http://schemas.microsoft.com/office/powerpoint/2010/main" val="2115808088"/>
      </p:ext>
    </p:extLst>
  </p:cSld>
</p:sld>
</file>

<file path=ppt/slides/slide18.xml><?xml version="1.0" encoding="utf-8"?>
<p:sld xmlns:p="http://schemas.openxmlformats.org/presentationml/2006/main">
  <p:cSld>
    <p:bg>
      <p:bgPr>
        <a:solidFill xmlns:a="http://schemas.openxmlformats.org/drawingml/2006/main">
          <a:srgbClr val="142D3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A0A3CE-1DA8-4970-A701-1E72E6A0BBAE}"/>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83D5D2"/>
                </a:solidFill>
                <a:latin typeface="Arial"/>
                <a:ea typeface="Arial"/>
                <a:cs typeface="Arial"/>
              </a:defRPr>
            </a:defPPr>
          </a:lstStyle>
          <a:p xmlns:a="http://schemas.openxmlformats.org/drawingml/2006/main">
            <a:pPr>
              <a:defRPr sz="1425" b="1">
                <a:solidFill>
                  <a:srgbClr val="83D5D2"/>
                </a:solidFill>
                <a:latin typeface="Arial"/>
                <a:ea typeface="Arial"/>
                <a:cs typeface="Arial"/>
              </a:defRPr>
            </a:pPr>
            <a:r>
              <a:rPr sz="1425" b="1">
                <a:solidFill>
                  <a:srgbClr val="83D5D2"/>
                </a:solidFill>
                <a:latin typeface="Arial"/>
                <a:ea typeface="Arial"/>
                <a:cs typeface="Arial"/>
              </a:rPr>
              <a:t>SEMESTER 2 • IMPLEMENTATION AND EVIDENCE</a:t>
            </a:r>
          </a:p>
        </p:txBody>
      </p:sp>
      <p:sp>
        <p:nvSpPr>
          <p:cNvPr id="2" name="">
            <a:extLst xmlns:a="http://schemas.openxmlformats.org/drawingml/2006/main">
              <a:ext uri="{FF2B5EF4-FFF2-40B4-BE49-F238E27FC236}">
                <a16:creationId xmlns:a16="http://schemas.microsoft.com/office/drawing/2014/main" id="{AC009315-974F-4AD4-BC20-8CB30E6FAA08}"/>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FFFFFF"/>
                </a:solidFill>
                <a:latin typeface="Arial"/>
                <a:ea typeface="Arial"/>
                <a:cs typeface="Arial"/>
              </a:defRPr>
            </a:defPPr>
          </a:lstStyle>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Contribution and defensible conclusion</a:t>
            </a:r>
          </a:p>
        </p:txBody>
      </p:sp>
      <p:sp>
        <p:nvSpPr>
          <p:cNvPr id="3" name="">
            <a:extLst xmlns:a="http://schemas.openxmlformats.org/drawingml/2006/main">
              <a:ext uri="{FF2B5EF4-FFF2-40B4-BE49-F238E27FC236}">
                <a16:creationId xmlns:a16="http://schemas.microsoft.com/office/drawing/2014/main" id="{C97257B3-B880-42BF-B6CF-AC982C4A2D63}"/>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83D5D2"/>
                </a:solidFill>
                <a:latin typeface="Arial"/>
                <a:ea typeface="Arial"/>
                <a:cs typeface="Arial"/>
              </a:defRPr>
            </a:defPPr>
          </a:lstStyle>
          <a:p xmlns:a="http://schemas.openxmlformats.org/drawingml/2006/main">
            <a:pPr>
              <a:defRPr sz="2100" b="1">
                <a:solidFill>
                  <a:srgbClr val="83D5D2"/>
                </a:solidFill>
                <a:latin typeface="Arial"/>
                <a:ea typeface="Arial"/>
                <a:cs typeface="Arial"/>
              </a:defRPr>
            </a:pPr>
            <a:r>
              <a:rPr sz="2100" b="1">
                <a:solidFill>
                  <a:srgbClr val="83D5D2"/>
                </a:solidFill>
                <a:latin typeface="Arial"/>
                <a:ea typeface="Arial"/>
                <a:cs typeface="Arial"/>
              </a:rPr>
              <a:t>A functioning implementation and traceable results—with uncertainty and scope made explicit.</a:t>
            </a:r>
          </a:p>
        </p:txBody>
      </p:sp>
      <p:sp>
        <p:nvSpPr>
          <p:cNvPr id="4" name="">
            <a:extLst xmlns:a="http://schemas.openxmlformats.org/drawingml/2006/main">
              <a:ext uri="{FF2B5EF4-FFF2-40B4-BE49-F238E27FC236}">
                <a16:creationId xmlns:a16="http://schemas.microsoft.com/office/drawing/2014/main" id="{15E0516D-EF86-4641-8775-2327656170A6}"/>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6C7CF"/>
                </a:solidFill>
                <a:latin typeface="Arial"/>
                <a:ea typeface="Arial"/>
                <a:cs typeface="Arial"/>
              </a:defRPr>
            </a:defPPr>
          </a:lstStyle>
          <a:p xmlns:a="http://schemas.openxmlformats.org/drawingml/2006/main">
            <a:pPr>
              <a:defRPr sz="1200" b="0">
                <a:solidFill>
                  <a:srgbClr val="B6C7CF"/>
                </a:solidFill>
                <a:latin typeface="Arial"/>
                <a:ea typeface="Arial"/>
                <a:cs typeface="Arial"/>
              </a:defRPr>
            </a:pPr>
            <a:r>
              <a:rPr sz="1200" b="0">
                <a:solidFill>
                  <a:srgbClr val="B6C7CF"/>
                </a:solidFill>
                <a:latin typeface="Arial"/>
                <a:ea typeface="Arial"/>
                <a:cs typeface="Arial"/>
              </a:rPr>
              <a:t>18 / 18   •   Evidence: C04, C05, C06, C19, C20, C21 | Full claim ledger in submission</a:t>
            </a:r>
          </a:p>
        </p:txBody>
      </p:sp>
      <p:sp>
        <p:nvSpPr>
          <p:cNvPr id="5" name="">
            <a:extLst xmlns:a="http://schemas.openxmlformats.org/drawingml/2006/main">
              <a:ext uri="{FF2B5EF4-FFF2-40B4-BE49-F238E27FC236}">
                <a16:creationId xmlns:a16="http://schemas.microsoft.com/office/drawing/2014/main" id="{86DA37D9-9E01-4187-B4E8-6588B1BDA4DD}"/>
              </a:ext>
            </a:extLst>
          </p:cNvPr>
          <p:cNvSpPr>
            <a:spLocks xmlns:a="http://schemas.openxmlformats.org/drawingml/2006/main" noGrp="1"/>
          </p:cNvSpPr>
          <p:nvPr/>
        </p:nvSpPr>
        <p:spPr>
          <a:xfrm xmlns:a="http://schemas.openxmlformats.org/drawingml/2006/main">
            <a:off x="619125" y="2257425"/>
            <a:ext cx="14001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100" b="1">
                <a:solidFill>
                  <a:srgbClr val="FFFFFF"/>
                </a:solidFill>
                <a:latin typeface="Arial"/>
                <a:ea typeface="Arial"/>
                <a:cs typeface="Arial"/>
              </a:defRPr>
            </a:defPPr>
          </a:lstStyle>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40.0% baseline</a:t>
            </a:r>
          </a:p>
        </p:txBody>
      </p:sp>
      <p:sp>
        <p:nvSpPr>
          <p:cNvPr id="6" name="">
            <a:extLst xmlns:a="http://schemas.openxmlformats.org/drawingml/2006/main">
              <a:ext uri="{FF2B5EF4-FFF2-40B4-BE49-F238E27FC236}">
                <a16:creationId xmlns:a16="http://schemas.microsoft.com/office/drawing/2014/main" id="{FF038C12-52BE-4DC1-A545-2368BE2B57B4}"/>
              </a:ext>
            </a:extLst>
          </p:cNvPr>
          <p:cNvSpPr>
            <a:spLocks xmlns:a="http://schemas.openxmlformats.org/drawingml/2006/main" noGrp="1"/>
          </p:cNvSpPr>
          <p:nvPr/>
        </p:nvSpPr>
        <p:spPr>
          <a:xfrm xmlns:a="http://schemas.openxmlformats.org/drawingml/2006/main">
            <a:off x="619125" y="3286125"/>
            <a:ext cx="1400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025" b="1">
                <a:solidFill>
                  <a:srgbClr val="FFCBD8"/>
                </a:solidFill>
                <a:latin typeface="Arial"/>
                <a:ea typeface="Arial"/>
                <a:cs typeface="Arial"/>
              </a:defRPr>
            </a:defPPr>
          </a:lstStyle>
          <a:p xmlns:a="http://schemas.openxmlformats.org/drawingml/2006/main">
            <a:pPr>
              <a:defRPr sz="5025" b="1">
                <a:solidFill>
                  <a:srgbClr val="FFCBD8"/>
                </a:solidFill>
                <a:latin typeface="Arial"/>
                <a:ea typeface="Arial"/>
                <a:cs typeface="Arial"/>
              </a:defRPr>
            </a:pPr>
            <a:r>
              <a:rPr sz="5025" b="1">
                <a:solidFill>
                  <a:srgbClr val="FFCBD8"/>
                </a:solidFill>
                <a:latin typeface="Arial"/>
                <a:ea typeface="Arial"/>
                <a:cs typeface="Arial"/>
              </a:rPr>
              <a:t>49.3% initial • 52.4% repeat</a:t>
            </a:r>
          </a:p>
        </p:txBody>
      </p:sp>
      <p:sp>
        <p:nvSpPr>
          <p:cNvPr id="7" name="">
            <a:extLst xmlns:a="http://schemas.openxmlformats.org/drawingml/2006/main">
              <a:ext uri="{FF2B5EF4-FFF2-40B4-BE49-F238E27FC236}">
                <a16:creationId xmlns:a16="http://schemas.microsoft.com/office/drawing/2014/main" id="{E40D955E-AFEA-4736-9397-370B709767BC}"/>
              </a:ext>
            </a:extLst>
          </p:cNvPr>
          <p:cNvSpPr>
            <a:spLocks xmlns:a="http://schemas.openxmlformats.org/drawingml/2006/main" noGrp="1"/>
          </p:cNvSpPr>
          <p:nvPr/>
        </p:nvSpPr>
        <p:spPr>
          <a:xfrm xmlns:a="http://schemas.openxmlformats.org/drawingml/2006/main">
            <a:off x="619125" y="443865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83D5D2"/>
                </a:solidFill>
                <a:latin typeface="Arial"/>
                <a:ea typeface="Arial"/>
                <a:cs typeface="Arial"/>
              </a:defRPr>
            </a:defPPr>
          </a:lstStyle>
          <a:p xmlns:a="http://schemas.openxmlformats.org/drawingml/2006/main">
            <a:pPr>
              <a:defRPr sz="2550" b="1">
                <a:solidFill>
                  <a:srgbClr val="83D5D2"/>
                </a:solidFill>
                <a:latin typeface="Arial"/>
                <a:ea typeface="Arial"/>
                <a:cs typeface="Arial"/>
              </a:defRPr>
            </a:pPr>
            <a:r>
              <a:rPr sz="2550" b="1">
                <a:solidFill>
                  <a:srgbClr val="83D5D2"/>
                </a:solidFill>
                <a:latin typeface="Arial"/>
                <a:ea typeface="Arial"/>
                <a:cs typeface="Arial"/>
              </a:rPr>
              <a:t>Unchanged treatment pages; observed citation inclusion</a:t>
            </a:r>
          </a:p>
        </p:txBody>
      </p:sp>
      <p:sp>
        <p:nvSpPr>
          <p:cNvPr id="8" name="">
            <a:extLst xmlns:a="http://schemas.openxmlformats.org/drawingml/2006/main">
              <a:ext uri="{FF2B5EF4-FFF2-40B4-BE49-F238E27FC236}">
                <a16:creationId xmlns:a16="http://schemas.microsoft.com/office/drawing/2014/main" id="{A958BE18-D8FA-40B6-826A-B9785C2159F3}"/>
              </a:ext>
            </a:extLst>
          </p:cNvPr>
          <p:cNvSpPr>
            <a:spLocks xmlns:a="http://schemas.openxmlformats.org/drawingml/2006/main" noGrp="1"/>
          </p:cNvSpPr>
          <p:nvPr/>
        </p:nvSpPr>
        <p:spPr>
          <a:xfrm xmlns:a="http://schemas.openxmlformats.org/drawingml/2006/main">
            <a:off x="619125" y="5581650"/>
            <a:ext cx="14001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0">
                <a:solidFill>
                  <a:srgbClr val="FFFFFF"/>
                </a:solidFill>
                <a:latin typeface="Arial"/>
                <a:ea typeface="Arial"/>
                <a:cs typeface="Arial"/>
              </a:defRPr>
            </a:defPPr>
          </a:lstStyle>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Delivered: implementation + inspectable evidence</a:t>
            </a:r>
          </a:p>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Conclusion: positive exploratory source visibility</a:t>
            </a:r>
          </a:p>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Still needed: independent claim review + assessment confirmation</a:t>
            </a:r>
          </a:p>
        </p:txBody>
      </p:sp>
    </p:spTree>
    <p:extLst>
      <p:ext uri="{BB962C8B-B14F-4D97-AF65-F5344CB8AC3E}">
        <p14:creationId xmlns:p14="http://schemas.microsoft.com/office/powerpoint/2010/main" val="1226906668"/>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20C5D5-0103-4E51-8FF6-602D62A8C978}"/>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17ADBAD4-DC0F-4737-A177-4F41720D2B59}"/>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The exact experimental recipe</a:t>
            </a:r>
          </a:p>
        </p:txBody>
      </p:sp>
      <p:sp>
        <p:nvSpPr>
          <p:cNvPr id="3" name="">
            <a:extLst xmlns:a="http://schemas.openxmlformats.org/drawingml/2006/main">
              <a:ext uri="{FF2B5EF4-FFF2-40B4-BE49-F238E27FC236}">
                <a16:creationId xmlns:a16="http://schemas.microsoft.com/office/drawing/2014/main" id="{5903B18B-BB27-4C38-AE95-4D3EBFAA7C19}"/>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9B8A7F-E664-4F3D-A9DF-F41E8FA1283E}"/>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A controlled source-use evaluation, not live web search or model training.</a:t>
            </a:r>
          </a:p>
        </p:txBody>
      </p:sp>
      <p:sp>
        <p:nvSpPr>
          <p:cNvPr id="5" name="">
            <a:extLst xmlns:a="http://schemas.openxmlformats.org/drawingml/2006/main">
              <a:ext uri="{FF2B5EF4-FFF2-40B4-BE49-F238E27FC236}">
                <a16:creationId xmlns:a16="http://schemas.microsoft.com/office/drawing/2014/main" id="{EFB8CC3D-7A98-482C-A929-CEDC54CF6A8E}"/>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1 / 8   •   Full references in speaker notes</a:t>
            </a:r>
          </a:p>
        </p:txBody>
      </p:sp>
      <p:graphicFrame>
        <p:nvGraphicFramePr>
          <p:cNvPr id="6" name="">
            <a:extLst xmlns:a="http://schemas.openxmlformats.org/drawingml/2006/main">
              <a:ext uri="{FF2B5EF4-FFF2-40B4-BE49-F238E27FC236}">
                <a16:creationId xmlns:a16="http://schemas.microsoft.com/office/drawing/2014/main" id="{708CABFA-3787-48B2-B4FE-254465126737}"/>
              </a:ext>
            </a:extLst>
          </p:cNvPr>
          <p:cNvGraphicFramePr/>
          <p:nvPr/>
        </p:nvGraphicFramePr>
        <p:xfrm>
          <a:off xmlns:a="http://schemas.openxmlformats.org/drawingml/2006/main" x="619125" y="2257425"/>
          <a:ext xmlns:a="http://schemas.openxmlformats.org/drawingml/2006/main" cx="14001750" cy="4667250"/>
        </p:xfrm>
        <a:graphic xmlns:a="http://schemas.openxmlformats.org/drawingml/2006/main">
          <a:graphicData uri="http://schemas.openxmlformats.org/drawingml/2006/table">
            <a:tbl>
              <a:tblPr/>
              <a:tblGrid>
                <a:gridCol w="3714750"/>
                <a:gridCol w="10287000"/>
              </a:tblGrid>
              <a:tr h="666750">
                <a:tc>
                  <a:txBody>
                    <a:bodyPr/>
                    <a:lstStyle/>
                    <a:p>
                      <a:r>
                        <a:rPr sz="2175" b="1">
                          <a:solidFill>
                            <a:srgbClr val="FFFFFF"/>
                          </a:solidFill>
                          <a:latin typeface="Arial"/>
                          <a:ea typeface="Arial"/>
                          <a:cs typeface="Arial"/>
                        </a:rPr>
                        <a:t>Element</a:t>
                      </a:r>
                    </a:p>
                  </a:txBody>
                  <a:tcPr marL="91440" marR="91440" marT="45720" marB="45720">
                    <a:solidFill>
                      <a:srgbClr val="142D3D"/>
                    </a:solidFill>
                  </a:tcPr>
                </a:tc>
                <a:tc>
                  <a:txBody>
                    <a:bodyPr/>
                    <a:lstStyle/>
                    <a:p>
                      <a:r>
                        <a:rPr sz="2175" b="1">
                          <a:solidFill>
                            <a:srgbClr val="FFFFFF"/>
                          </a:solidFill>
                          <a:latin typeface="Arial"/>
                          <a:ea typeface="Arial"/>
                          <a:cs typeface="Arial"/>
                        </a:rPr>
                        <a:t>Saved implementation</a:t>
                      </a:r>
                    </a:p>
                  </a:txBody>
                  <a:tcPr marL="91440" marR="91440" marT="45720" marB="45720">
                    <a:solidFill>
                      <a:srgbClr val="142D3D"/>
                    </a:solidFill>
                  </a:tcPr>
                </a:tc>
              </a:tr>
              <a:tr h="666750">
                <a:tc>
                  <a:txBody>
                    <a:bodyPr/>
                    <a:lstStyle/>
                    <a:p>
                      <a:r>
                        <a:rPr sz="2175" b="0">
                          <a:solidFill>
                            <a:srgbClr val="142D3D"/>
                          </a:solidFill>
                          <a:latin typeface="Arial"/>
                          <a:ea typeface="Arial"/>
                          <a:cs typeface="Arial"/>
                        </a:rPr>
                        <a:t>Architecture</a:t>
                      </a:r>
                    </a:p>
                  </a:txBody>
                  <a:tcPr marL="91440" marR="91440" marT="45720" marB="45720">
                    <a:solidFill>
                      <a:srgbClr val="FFFFFF"/>
                    </a:solidFill>
                  </a:tcPr>
                </a:tc>
                <a:tc>
                  <a:txBody>
                    <a:bodyPr/>
                    <a:lstStyle/>
                    <a:p>
                      <a:r>
                        <a:rPr sz="2175" b="0">
                          <a:solidFill>
                            <a:srgbClr val="142D3D"/>
                          </a:solidFill>
                          <a:latin typeface="Arial"/>
                          <a:ea typeface="Arial"/>
                          <a:cs typeface="Arial"/>
                        </a:rPr>
                        <a:t>Saved source context + API answer generation</a:t>
                      </a:r>
                    </a:p>
                  </a:txBody>
                  <a:tcPr marL="91440" marR="91440" marT="45720" marB="45720">
                    <a:solidFill>
                      <a:srgbClr val="FFFFFF"/>
                    </a:solidFill>
                  </a:tcPr>
                </a:tc>
              </a:tr>
              <a:tr h="666750">
                <a:tc>
                  <a:txBody>
                    <a:bodyPr/>
                    <a:lstStyle/>
                    <a:p>
                      <a:r>
                        <a:rPr sz="2175" b="0">
                          <a:solidFill>
                            <a:srgbClr val="142D3D"/>
                          </a:solidFill>
                          <a:latin typeface="Arial"/>
                          <a:ea typeface="Arial"/>
                          <a:cs typeface="Arial"/>
                        </a:rPr>
                        <a:t>Generator</a:t>
                      </a:r>
                    </a:p>
                  </a:txBody>
                  <a:tcPr marL="91440" marR="91440" marT="45720" marB="45720">
                    <a:solidFill>
                      <a:srgbClr val="E9F0F1"/>
                    </a:solidFill>
                  </a:tcPr>
                </a:tc>
                <a:tc>
                  <a:txBody>
                    <a:bodyPr/>
                    <a:lstStyle/>
                    <a:p>
                      <a:r>
                        <a:rPr sz="2175" b="0">
                          <a:solidFill>
                            <a:srgbClr val="142D3D"/>
                          </a:solidFill>
                          <a:latin typeface="Arial"/>
                          <a:ea typeface="Arial"/>
                          <a:cs typeface="Arial"/>
                        </a:rPr>
                        <a:t>gpt-5.6-luna, as recorded</a:t>
                      </a:r>
                    </a:p>
                  </a:txBody>
                  <a:tcPr marL="91440" marR="91440" marT="45720" marB="45720">
                    <a:solidFill>
                      <a:srgbClr val="E9F0F1"/>
                    </a:solidFill>
                  </a:tcPr>
                </a:tc>
              </a:tr>
              <a:tr h="666750">
                <a:tc>
                  <a:txBody>
                    <a:bodyPr/>
                    <a:lstStyle/>
                    <a:p>
                      <a:r>
                        <a:rPr sz="2175" b="0">
                          <a:solidFill>
                            <a:srgbClr val="142D3D"/>
                          </a:solidFill>
                          <a:latin typeface="Arial"/>
                          <a:ea typeface="Arial"/>
                          <a:cs typeface="Arial"/>
                        </a:rPr>
                        <a:t>Inputs</a:t>
                      </a:r>
                    </a:p>
                  </a:txBody>
                  <a:tcPr marL="91440" marR="91440" marT="45720" marB="45720">
                    <a:solidFill>
                      <a:srgbClr val="FFFFFF"/>
                    </a:solidFill>
                  </a:tcPr>
                </a:tc>
                <a:tc>
                  <a:txBody>
                    <a:bodyPr/>
                    <a:lstStyle/>
                    <a:p>
                      <a:r>
                        <a:rPr sz="2175" b="0">
                          <a:solidFill>
                            <a:srgbClr val="142D3D"/>
                          </a:solidFill>
                          <a:latin typeface="Arial"/>
                          <a:ea typeface="Arial"/>
                          <a:cs typeface="Arial"/>
                        </a:rPr>
                        <a:t>Question, shared prompt, 5–10 numbered source texts</a:t>
                      </a:r>
                    </a:p>
                  </a:txBody>
                  <a:tcPr marL="91440" marR="91440" marT="45720" marB="45720">
                    <a:solidFill>
                      <a:srgbClr val="FFFFFF"/>
                    </a:solidFill>
                  </a:tcPr>
                </a:tc>
              </a:tr>
              <a:tr h="666750">
                <a:tc>
                  <a:txBody>
                    <a:bodyPr/>
                    <a:lstStyle/>
                    <a:p>
                      <a:r>
                        <a:rPr sz="2175" b="0">
                          <a:solidFill>
                            <a:srgbClr val="142D3D"/>
                          </a:solidFill>
                          <a:latin typeface="Arial"/>
                          <a:ea typeface="Arial"/>
                          <a:cs typeface="Arial"/>
                        </a:rPr>
                        <a:t>Source budget</a:t>
                      </a:r>
                    </a:p>
                  </a:txBody>
                  <a:tcPr marL="91440" marR="91440" marT="45720" marB="45720">
                    <a:solidFill>
                      <a:srgbClr val="E9F0F1"/>
                    </a:solidFill>
                  </a:tcPr>
                </a:tc>
                <a:tc>
                  <a:txBody>
                    <a:bodyPr/>
                    <a:lstStyle/>
                    <a:p>
                      <a:r>
                        <a:rPr sz="2175" b="0">
                          <a:solidFill>
                            <a:srgbClr val="142D3D"/>
                          </a:solidFill>
                          <a:latin typeface="Arial"/>
                          <a:ea typeface="Arial"/>
                          <a:cs typeface="Arial"/>
                        </a:rPr>
                        <a:t>24,000 characters per source</a:t>
                      </a:r>
                    </a:p>
                  </a:txBody>
                  <a:tcPr marL="91440" marR="91440" marT="45720" marB="45720">
                    <a:solidFill>
                      <a:srgbClr val="E9F0F1"/>
                    </a:solidFill>
                  </a:tcPr>
                </a:tc>
              </a:tr>
              <a:tr h="666750">
                <a:tc>
                  <a:txBody>
                    <a:bodyPr/>
                    <a:lstStyle/>
                    <a:p>
                      <a:r>
                        <a:rPr sz="2175" b="0">
                          <a:solidFill>
                            <a:srgbClr val="142D3D"/>
                          </a:solidFill>
                          <a:latin typeface="Arial"/>
                          <a:ea typeface="Arial"/>
                          <a:cs typeface="Arial"/>
                        </a:rPr>
                        <a:t>Trial structure</a:t>
                      </a:r>
                    </a:p>
                  </a:txBody>
                  <a:tcPr marL="91440" marR="91440" marT="45720" marB="45720">
                    <a:solidFill>
                      <a:srgbClr val="FFFFFF"/>
                    </a:solidFill>
                  </a:tcPr>
                </a:tc>
                <a:tc>
                  <a:txBody>
                    <a:bodyPr/>
                    <a:lstStyle/>
                    <a:p>
                      <a:r>
                        <a:rPr sz="2175" b="0">
                          <a:solidFill>
                            <a:srgbClr val="142D3D"/>
                          </a:solidFill>
                          <a:latin typeface="Arial"/>
                          <a:ea typeface="Arial"/>
                          <a:cs typeface="Arial"/>
                        </a:rPr>
                        <a:t>29 questions × 2 order arrangements × 5 repeats</a:t>
                      </a:r>
                    </a:p>
                  </a:txBody>
                  <a:tcPr marL="91440" marR="91440" marT="45720" marB="45720">
                    <a:solidFill>
                      <a:srgbClr val="FFFFFF"/>
                    </a:solidFill>
                  </a:tcPr>
                </a:tc>
              </a:tr>
              <a:tr h="666750">
                <a:tc>
                  <a:txBody>
                    <a:bodyPr/>
                    <a:lstStyle/>
                    <a:p>
                      <a:r>
                        <a:rPr sz="2175" b="0">
                          <a:solidFill>
                            <a:srgbClr val="142D3D"/>
                          </a:solidFill>
                          <a:latin typeface="Arial"/>
                          <a:ea typeface="Arial"/>
                          <a:cs typeface="Arial"/>
                        </a:rPr>
                        <a:t>Sampling / control</a:t>
                      </a:r>
                    </a:p>
                  </a:txBody>
                  <a:tcPr marL="91440" marR="91440" marT="45720" marB="45720">
                    <a:solidFill>
                      <a:srgbClr val="E9F0F1"/>
                    </a:solidFill>
                  </a:tcPr>
                </a:tc>
                <a:tc>
                  <a:txBody>
                    <a:bodyPr/>
                    <a:lstStyle/>
                    <a:p>
                      <a:r>
                        <a:rPr sz="2175" b="0">
                          <a:solidFill>
                            <a:srgbClr val="142D3D"/>
                          </a:solidFill>
                          <a:latin typeface="Arial"/>
                          <a:ea typeface="Arial"/>
                          <a:cs typeface="Arial"/>
                        </a:rPr>
                        <a:t>Provider defaults, no API seed, historical baseline</a:t>
                      </a:r>
                    </a:p>
                  </a:txBody>
                  <a:tcPr marL="91440" marR="91440" marT="45720" marB="45720">
                    <a:solidFill>
                      <a:srgbClr val="E9F0F1"/>
                    </a:solidFill>
                  </a:tcPr>
                </a:tc>
              </a:tr>
            </a:tbl>
          </a:graphicData>
        </a:graphic>
      </p:graphicFrame>
    </p:spTree>
    <p:extLst>
      <p:ext uri="{BB962C8B-B14F-4D97-AF65-F5344CB8AC3E}">
        <p14:creationId xmlns:p14="http://schemas.microsoft.com/office/powerpoint/2010/main" val="1254674939"/>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CF1652-F684-4F57-8F1C-A859496B7641}"/>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D883360C-B281-44E4-AB26-179F926BDBFC}"/>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Full saved baseline answer</a:t>
            </a:r>
          </a:p>
        </p:txBody>
      </p:sp>
      <p:sp>
        <p:nvSpPr>
          <p:cNvPr id="3" name="">
            <a:extLst xmlns:a="http://schemas.openxmlformats.org/drawingml/2006/main">
              <a:ext uri="{FF2B5EF4-FFF2-40B4-BE49-F238E27FC236}">
                <a16:creationId xmlns:a16="http://schemas.microsoft.com/office/drawing/2014/main" id="{65398D38-9376-4E77-9A57-A9CF6D52199E}"/>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2A3958-5AE3-4261-BF00-FC1F27722EF9}"/>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Q06, source arrangement s2, repetition r4. No FC source citation in this saved answer.</a:t>
            </a:r>
          </a:p>
        </p:txBody>
      </p:sp>
      <p:sp>
        <p:nvSpPr>
          <p:cNvPr id="5" name="">
            <a:extLst xmlns:a="http://schemas.openxmlformats.org/drawingml/2006/main">
              <a:ext uri="{FF2B5EF4-FFF2-40B4-BE49-F238E27FC236}">
                <a16:creationId xmlns:a16="http://schemas.microsoft.com/office/drawing/2014/main" id="{2ACA52CF-2A1A-418A-9A93-2D63314E37E1}"/>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2 / 8   •   Full references in speaker notes</a:t>
            </a:r>
          </a:p>
        </p:txBody>
      </p:sp>
      <p:sp>
        <p:nvSpPr>
          <p:cNvPr id="6" name="">
            <a:extLst xmlns:a="http://schemas.openxmlformats.org/drawingml/2006/main">
              <a:ext uri="{FF2B5EF4-FFF2-40B4-BE49-F238E27FC236}">
                <a16:creationId xmlns:a16="http://schemas.microsoft.com/office/drawing/2014/main" id="{F5083C98-7C8C-45CE-A458-4929E4401D51}"/>
              </a:ext>
            </a:extLst>
          </p:cNvPr>
          <p:cNvSpPr>
            <a:spLocks xmlns:a="http://schemas.openxmlformats.org/drawingml/2006/main" noGrp="1"/>
          </p:cNvSpPr>
          <p:nvPr/>
        </p:nvSpPr>
        <p:spPr>
          <a:xfrm xmlns:a="http://schemas.openxmlformats.org/drawingml/2006/main">
            <a:off x="619125" y="2143125"/>
            <a:ext cx="14001750" cy="504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42D3D"/>
                </a:solidFill>
                <a:latin typeface="Arial"/>
                <a:ea typeface="Arial"/>
                <a:cs typeface="Arial"/>
              </a:defRPr>
            </a:defPPr>
          </a:lstStyle>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Flights from Melbourne Airport (MEL) to London generally require at least one stop, with common connections in Dubai, Singapore, Doha or Shanghai. [2][3][5][8]</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Indicative fares currently include:</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 One-way: from about AU$648, typically with China Eastern and arrival at Heathrow or Gatwick. [1]</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 Return: from about AU$1,096–AU$1,342, depending on dates, airline and London airport. [5][8]</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 Typical return range: roughly AU$1,446–AU$2,130 on momondo’s route data. [1]</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Popular airlines include Emirates, Etihad Airways, Qatar Airways, China Eastern, Singapore Airlines, Qantas and British Airways. [1][3][5]</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Travel time is usually around 24–30 hours including a stopover, although longer itineraries can take considerably more. [1][3][6]</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The cheapest options may arrive at Gatwick, Stansted or Luton, while Heathrow is generally the main long-haul arrival airport. [1][4][8]</a:t>
            </a:r>
          </a:p>
          <a:p xmlns:a="http://schemas.openxmlformats.org/drawingml/2006/main">
            <a:r>
              <a:t/>
            </a:r>
          </a:p>
          <a:p xmlns:a="http://schemas.openxmlformats.org/drawingml/2006/main">
            <a:pPr>
              <a:defRPr sz="1725" b="0">
                <a:solidFill>
                  <a:srgbClr val="142D3D"/>
                </a:solidFill>
                <a:latin typeface="Arial"/>
                <a:ea typeface="Arial"/>
                <a:cs typeface="Arial"/>
              </a:defRPr>
            </a:pPr>
            <a:r>
              <a:rPr sz="1725" b="0">
                <a:solidFill>
                  <a:srgbClr val="142D3D"/>
                </a:solidFill>
                <a:latin typeface="Arial"/>
                <a:ea typeface="Arial"/>
                <a:cs typeface="Arial"/>
              </a:rPr>
              <a:t>Send me your departure date, return date or one-way preference, number of travellers and cabin class, and I can narrow down the best options.</a:t>
            </a:r>
          </a:p>
        </p:txBody>
      </p:sp>
    </p:spTree>
    <p:extLst>
      <p:ext uri="{BB962C8B-B14F-4D97-AF65-F5344CB8AC3E}">
        <p14:creationId xmlns:p14="http://schemas.microsoft.com/office/powerpoint/2010/main" val="1842900699"/>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52A22B-C579-4B34-B046-228937C6BF0F}"/>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93A9D770-05EE-43FE-AA9E-BBB00B76F8E7}"/>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Full saved optimised answer</a:t>
            </a:r>
          </a:p>
        </p:txBody>
      </p:sp>
      <p:sp>
        <p:nvSpPr>
          <p:cNvPr id="3" name="">
            <a:extLst xmlns:a="http://schemas.openxmlformats.org/drawingml/2006/main">
              <a:ext uri="{FF2B5EF4-FFF2-40B4-BE49-F238E27FC236}">
                <a16:creationId xmlns:a16="http://schemas.microsoft.com/office/drawing/2014/main" id="{1AAE3B54-BD95-4DE1-BADA-AAC77F8345D3}"/>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C34A07E-989E-48C0-8707-F7D5C48CC1F1}"/>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The answer cites source [7], the saved Flight Centre Melbourne–London page.</a:t>
            </a:r>
          </a:p>
        </p:txBody>
      </p:sp>
      <p:sp>
        <p:nvSpPr>
          <p:cNvPr id="5" name="">
            <a:extLst xmlns:a="http://schemas.openxmlformats.org/drawingml/2006/main">
              <a:ext uri="{FF2B5EF4-FFF2-40B4-BE49-F238E27FC236}">
                <a16:creationId xmlns:a16="http://schemas.microsoft.com/office/drawing/2014/main" id="{8B8BE43D-E089-44FD-9080-B26FA426A037}"/>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3 / 8   •   Full references in speaker notes</a:t>
            </a:r>
          </a:p>
        </p:txBody>
      </p:sp>
      <p:sp>
        <p:nvSpPr>
          <p:cNvPr id="6" name="">
            <a:extLst xmlns:a="http://schemas.openxmlformats.org/drawingml/2006/main">
              <a:ext uri="{FF2B5EF4-FFF2-40B4-BE49-F238E27FC236}">
                <a16:creationId xmlns:a16="http://schemas.microsoft.com/office/drawing/2014/main" id="{6BCD9350-04AB-4978-ACCA-8A5BFE9E9444}"/>
              </a:ext>
            </a:extLst>
          </p:cNvPr>
          <p:cNvSpPr>
            <a:spLocks xmlns:a="http://schemas.openxmlformats.org/drawingml/2006/main" noGrp="1"/>
          </p:cNvSpPr>
          <p:nvPr/>
        </p:nvSpPr>
        <p:spPr>
          <a:xfrm xmlns:a="http://schemas.openxmlformats.org/drawingml/2006/main">
            <a:off x="619125" y="2143125"/>
            <a:ext cx="14001750" cy="504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42D3D"/>
                </a:solidFill>
                <a:latin typeface="Arial"/>
                <a:ea typeface="Arial"/>
                <a:cs typeface="Arial"/>
              </a:defRPr>
            </a:defPPr>
          </a:lstStyle>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I can help you compare Melbourne–London flights, but I’ll need your travel dates, whether you want one-way or return, number of passengers, and preferred cabin class.</a:t>
            </a:r>
          </a:p>
          <a:p xmlns:a="http://schemas.openxmlformats.org/drawingml/2006/main">
            <a:r>
              <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Indicative fares currently include one-way options from about A$648 and return fares from approximately A$1,096–A$1,386, although prices and availability can change quickly. [1][7][8]</a:t>
            </a:r>
          </a:p>
          <a:p xmlns:a="http://schemas.openxmlformats.org/drawingml/2006/main">
            <a:r>
              <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Most itineraries require at least one stop, with common connections in Dubai, Shanghai, Singapore, or Doha. [2][3][7]</a:t>
            </a:r>
          </a:p>
          <a:p xmlns:a="http://schemas.openxmlformats.org/drawingml/2006/main">
            <a:r>
              <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Airlines serving the route include Emirates, Etihad Airways, Qatar Airways, China Eastern, Singapore Airlines, Qantas, British Airways, and Finnair. [1][2][3]</a:t>
            </a:r>
          </a:p>
          <a:p xmlns:a="http://schemas.openxmlformats.org/drawingml/2006/main">
            <a:r>
              <a:t/>
            </a:r>
          </a:p>
          <a:p xmlns:a="http://schemas.openxmlformats.org/drawingml/2006/main">
            <a:pPr>
              <a:defRPr sz="2175" b="0">
                <a:solidFill>
                  <a:srgbClr val="142D3D"/>
                </a:solidFill>
                <a:latin typeface="Arial"/>
                <a:ea typeface="Arial"/>
                <a:cs typeface="Arial"/>
              </a:defRPr>
            </a:pPr>
            <a:r>
              <a:rPr sz="2175" b="0">
                <a:solidFill>
                  <a:srgbClr val="142D3D"/>
                </a:solidFill>
                <a:latin typeface="Arial"/>
                <a:ea typeface="Arial"/>
                <a:cs typeface="Arial"/>
              </a:rPr>
              <a:t>The main departure airport is Melbourne Airport (MEL), while London options include Heathrow (LHR), Gatwick (LGW), Stansted (STN), Luton (LTN), and London City (LCY). [1][4][7]</a:t>
            </a:r>
          </a:p>
        </p:txBody>
      </p:sp>
    </p:spTree>
    <p:extLst>
      <p:ext uri="{BB962C8B-B14F-4D97-AF65-F5344CB8AC3E}">
        <p14:creationId xmlns:p14="http://schemas.microsoft.com/office/powerpoint/2010/main" val="1913598889"/>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A6DB7C-C501-4441-B25E-3D40D7B66411}"/>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84BBB3D4-438F-4BE9-A142-3DD353934648}"/>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Published research: what it supports</a:t>
            </a:r>
          </a:p>
        </p:txBody>
      </p:sp>
      <p:sp>
        <p:nvSpPr>
          <p:cNvPr id="3" name="">
            <a:extLst xmlns:a="http://schemas.openxmlformats.org/drawingml/2006/main">
              <a:ext uri="{FF2B5EF4-FFF2-40B4-BE49-F238E27FC236}">
                <a16:creationId xmlns:a16="http://schemas.microsoft.com/office/drawing/2014/main" id="{FCEEA866-DF89-4017-8CD3-6EE75B36AE20}"/>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A41D762-6348-4CD4-A998-CDC6354ACD90}"/>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Research supports design choices, not an automatic percentage target for Flight Centre.</a:t>
            </a:r>
          </a:p>
        </p:txBody>
      </p:sp>
      <p:sp>
        <p:nvSpPr>
          <p:cNvPr id="5" name="">
            <a:extLst xmlns:a="http://schemas.openxmlformats.org/drawingml/2006/main">
              <a:ext uri="{FF2B5EF4-FFF2-40B4-BE49-F238E27FC236}">
                <a16:creationId xmlns:a16="http://schemas.microsoft.com/office/drawing/2014/main" id="{CB1A4BB4-12EA-4CCC-9509-ED343EFFF52A}"/>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4 / 8   •   Full references in speaker notes</a:t>
            </a:r>
          </a:p>
        </p:txBody>
      </p:sp>
      <p:graphicFrame>
        <p:nvGraphicFramePr>
          <p:cNvPr id="6" name="">
            <a:extLst xmlns:a="http://schemas.openxmlformats.org/drawingml/2006/main">
              <a:ext uri="{FF2B5EF4-FFF2-40B4-BE49-F238E27FC236}">
                <a16:creationId xmlns:a16="http://schemas.microsoft.com/office/drawing/2014/main" id="{11B1F210-5F94-4005-9915-751D06942B6F}"/>
              </a:ext>
            </a:extLst>
          </p:cNvPr>
          <p:cNvGraphicFramePr/>
          <p:nvPr/>
        </p:nvGraphicFramePr>
        <p:xfrm>
          <a:off xmlns:a="http://schemas.openxmlformats.org/drawingml/2006/main" x="619125" y="2238375"/>
          <a:ext xmlns:a="http://schemas.openxmlformats.org/drawingml/2006/main" cx="14001750" cy="4619625"/>
        </p:xfrm>
        <a:graphic xmlns:a="http://schemas.openxmlformats.org/drawingml/2006/main">
          <a:graphicData uri="http://schemas.openxmlformats.org/drawingml/2006/table">
            <a:tbl>
              <a:tblPr/>
              <a:tblGrid>
                <a:gridCol w="4000500"/>
                <a:gridCol w="4953000"/>
                <a:gridCol w="5048250"/>
              </a:tblGrid>
              <a:tr h="923925">
                <a:tc>
                  <a:txBody>
                    <a:bodyPr/>
                    <a:lstStyle/>
                    <a:p>
                      <a:r>
                        <a:rPr sz="2100" b="1">
                          <a:solidFill>
                            <a:srgbClr val="FFFFFF"/>
                          </a:solidFill>
                          <a:latin typeface="Arial"/>
                          <a:ea typeface="Arial"/>
                          <a:cs typeface="Arial"/>
                        </a:rPr>
                        <a:t>Research</a:t>
                      </a:r>
                    </a:p>
                  </a:txBody>
                  <a:tcPr marL="91440" marR="91440" marT="45720" marB="45720">
                    <a:solidFill>
                      <a:srgbClr val="142D3D"/>
                    </a:solidFill>
                  </a:tcPr>
                </a:tc>
                <a:tc>
                  <a:txBody>
                    <a:bodyPr/>
                    <a:lstStyle/>
                    <a:p>
                      <a:r>
                        <a:rPr sz="2100" b="1">
                          <a:solidFill>
                            <a:srgbClr val="FFFFFF"/>
                          </a:solidFill>
                          <a:latin typeface="Arial"/>
                          <a:ea typeface="Arial"/>
                          <a:cs typeface="Arial"/>
                        </a:rPr>
                        <a:t>Useful principle</a:t>
                      </a:r>
                    </a:p>
                  </a:txBody>
                  <a:tcPr marL="91440" marR="91440" marT="45720" marB="45720">
                    <a:solidFill>
                      <a:srgbClr val="142D3D"/>
                    </a:solidFill>
                  </a:tcPr>
                </a:tc>
                <a:tc>
                  <a:txBody>
                    <a:bodyPr/>
                    <a:lstStyle/>
                    <a:p>
                      <a:r>
                        <a:rPr sz="2100" b="1">
                          <a:solidFill>
                            <a:srgbClr val="FFFFFF"/>
                          </a:solidFill>
                          <a:latin typeface="Arial"/>
                          <a:ea typeface="Arial"/>
                          <a:cs typeface="Arial"/>
                        </a:rPr>
                        <a:t>Boundary for our work</a:t>
                      </a:r>
                    </a:p>
                  </a:txBody>
                  <a:tcPr marL="91440" marR="91440" marT="45720" marB="45720">
                    <a:solidFill>
                      <a:srgbClr val="142D3D"/>
                    </a:solidFill>
                  </a:tcPr>
                </a:tc>
              </a:tr>
              <a:tr h="923925">
                <a:tc>
                  <a:txBody>
                    <a:bodyPr/>
                    <a:lstStyle/>
                    <a:p>
                      <a:r>
                        <a:rPr sz="2100" b="0">
                          <a:solidFill>
                            <a:srgbClr val="142D3D"/>
                          </a:solidFill>
                          <a:latin typeface="Arial"/>
                          <a:ea typeface="Arial"/>
                          <a:cs typeface="Arial"/>
                        </a:rPr>
                        <a:t>RAG, NeurIPS 2020</a:t>
                      </a:r>
                    </a:p>
                  </a:txBody>
                  <a:tcPr marL="91440" marR="91440" marT="45720" marB="45720">
                    <a:solidFill>
                      <a:srgbClr val="FFFFFF"/>
                    </a:solidFill>
                  </a:tcPr>
                </a:tc>
                <a:tc>
                  <a:txBody>
                    <a:bodyPr/>
                    <a:lstStyle/>
                    <a:p>
                      <a:r>
                        <a:rPr sz="2100" b="0">
                          <a:solidFill>
                            <a:srgbClr val="142D3D"/>
                          </a:solidFill>
                          <a:latin typeface="Arial"/>
                          <a:ea typeface="Arial"/>
                          <a:cs typeface="Arial"/>
                        </a:rPr>
                        <a:t>Supply evidence during generation</a:t>
                      </a:r>
                    </a:p>
                  </a:txBody>
                  <a:tcPr marL="91440" marR="91440" marT="45720" marB="45720">
                    <a:solidFill>
                      <a:srgbClr val="FFFFFF"/>
                    </a:solidFill>
                  </a:tcPr>
                </a:tc>
                <a:tc>
                  <a:txBody>
                    <a:bodyPr/>
                    <a:lstStyle/>
                    <a:p>
                      <a:r>
                        <a:rPr sz="2100" b="0">
                          <a:solidFill>
                            <a:srgbClr val="142D3D"/>
                          </a:solidFill>
                          <a:latin typeface="Arial"/>
                          <a:ea typeface="Arial"/>
                          <a:cs typeface="Arial"/>
                        </a:rPr>
                        <a:t>We did not reproduce its training</a:t>
                      </a:r>
                    </a:p>
                  </a:txBody>
                  <a:tcPr marL="91440" marR="91440" marT="45720" marB="45720">
                    <a:solidFill>
                      <a:srgbClr val="FFFFFF"/>
                    </a:solidFill>
                  </a:tcPr>
                </a:tc>
              </a:tr>
              <a:tr h="923925">
                <a:tc>
                  <a:txBody>
                    <a:bodyPr/>
                    <a:lstStyle/>
                    <a:p>
                      <a:r>
                        <a:rPr sz="2100" b="0">
                          <a:solidFill>
                            <a:srgbClr val="142D3D"/>
                          </a:solidFill>
                          <a:latin typeface="Arial"/>
                          <a:ea typeface="Arial"/>
                          <a:cs typeface="Arial"/>
                        </a:rPr>
                        <a:t>GEO, KDD 2024</a:t>
                      </a:r>
                    </a:p>
                  </a:txBody>
                  <a:tcPr marL="91440" marR="91440" marT="45720" marB="45720">
                    <a:solidFill>
                      <a:srgbClr val="E9F0F1"/>
                    </a:solidFill>
                  </a:tcPr>
                </a:tc>
                <a:tc>
                  <a:txBody>
                    <a:bodyPr/>
                    <a:lstStyle/>
                    <a:p>
                      <a:r>
                        <a:rPr sz="2100" b="0">
                          <a:solidFill>
                            <a:srgbClr val="142D3D"/>
                          </a:solidFill>
                          <a:latin typeface="Arial"/>
                          <a:ea typeface="Arial"/>
                          <a:cs typeface="Arial"/>
                        </a:rPr>
                        <a:t>Test source changes and visibility</a:t>
                      </a:r>
                    </a:p>
                  </a:txBody>
                  <a:tcPr marL="91440" marR="91440" marT="45720" marB="45720">
                    <a:solidFill>
                      <a:srgbClr val="E9F0F1"/>
                    </a:solidFill>
                  </a:tcPr>
                </a:tc>
                <a:tc>
                  <a:txBody>
                    <a:bodyPr/>
                    <a:lstStyle/>
                    <a:p>
                      <a:r>
                        <a:rPr sz="2100" b="0">
                          <a:solidFill>
                            <a:srgbClr val="142D3D"/>
                          </a:solidFill>
                          <a:latin typeface="Arial"/>
                          <a:ea typeface="Arial"/>
                          <a:cs typeface="Arial"/>
                        </a:rPr>
                        <a:t>Our binary inclusion metric differs</a:t>
                      </a:r>
                    </a:p>
                  </a:txBody>
                  <a:tcPr marL="91440" marR="91440" marT="45720" marB="45720">
                    <a:solidFill>
                      <a:srgbClr val="E9F0F1"/>
                    </a:solidFill>
                  </a:tcPr>
                </a:tc>
              </a:tr>
              <a:tr h="923925">
                <a:tc>
                  <a:txBody>
                    <a:bodyPr/>
                    <a:lstStyle/>
                    <a:p>
                      <a:r>
                        <a:rPr sz="2100" b="0">
                          <a:solidFill>
                            <a:srgbClr val="142D3D"/>
                          </a:solidFill>
                          <a:latin typeface="Arial"/>
                          <a:ea typeface="Arial"/>
                          <a:cs typeface="Arial"/>
                        </a:rPr>
                        <a:t>ALCE, EMNLP 2023</a:t>
                      </a:r>
                    </a:p>
                  </a:txBody>
                  <a:tcPr marL="91440" marR="91440" marT="45720" marB="45720">
                    <a:solidFill>
                      <a:srgbClr val="FFFFFF"/>
                    </a:solidFill>
                  </a:tcPr>
                </a:tc>
                <a:tc>
                  <a:txBody>
                    <a:bodyPr/>
                    <a:lstStyle/>
                    <a:p>
                      <a:r>
                        <a:rPr sz="2100" b="0">
                          <a:solidFill>
                            <a:srgbClr val="142D3D"/>
                          </a:solidFill>
                          <a:latin typeface="Arial"/>
                          <a:ea typeface="Arial"/>
                          <a:cs typeface="Arial"/>
                        </a:rPr>
                        <a:t>Evaluate citation support separately</a:t>
                      </a:r>
                    </a:p>
                  </a:txBody>
                  <a:tcPr marL="91440" marR="91440" marT="45720" marB="45720">
                    <a:solidFill>
                      <a:srgbClr val="FFFFFF"/>
                    </a:solidFill>
                  </a:tcPr>
                </a:tc>
                <a:tc>
                  <a:txBody>
                    <a:bodyPr/>
                    <a:lstStyle/>
                    <a:p>
                      <a:r>
                        <a:rPr sz="2100" b="0">
                          <a:solidFill>
                            <a:srgbClr val="142D3D"/>
                          </a:solidFill>
                          <a:latin typeface="Arial"/>
                          <a:ea typeface="Arial"/>
                          <a:cs typeface="Arial"/>
                        </a:rPr>
                        <a:t>Presence alone is not correctness</a:t>
                      </a:r>
                    </a:p>
                  </a:txBody>
                  <a:tcPr marL="91440" marR="91440" marT="45720" marB="45720">
                    <a:solidFill>
                      <a:srgbClr val="FFFFFF"/>
                    </a:solidFill>
                  </a:tcPr>
                </a:tc>
              </a:tr>
              <a:tr h="923925">
                <a:tc>
                  <a:txBody>
                    <a:bodyPr/>
                    <a:lstStyle/>
                    <a:p>
                      <a:r>
                        <a:rPr sz="2100" b="0">
                          <a:solidFill>
                            <a:srgbClr val="142D3D"/>
                          </a:solidFill>
                          <a:latin typeface="Arial"/>
                          <a:ea typeface="Arial"/>
                          <a:cs typeface="Arial"/>
                        </a:rPr>
                        <a:t>Lost in the Middle, TACL 2024</a:t>
                      </a:r>
                    </a:p>
                  </a:txBody>
                  <a:tcPr marL="91440" marR="91440" marT="45720" marB="45720">
                    <a:solidFill>
                      <a:srgbClr val="E9F0F1"/>
                    </a:solidFill>
                  </a:tcPr>
                </a:tc>
                <a:tc>
                  <a:txBody>
                    <a:bodyPr/>
                    <a:lstStyle/>
                    <a:p>
                      <a:r>
                        <a:rPr sz="2100" b="0">
                          <a:solidFill>
                            <a:srgbClr val="142D3D"/>
                          </a:solidFill>
                          <a:latin typeface="Arial"/>
                          <a:ea typeface="Arial"/>
                          <a:cs typeface="Arial"/>
                        </a:rPr>
                        <a:t>Examine source-order sensitivity</a:t>
                      </a:r>
                    </a:p>
                  </a:txBody>
                  <a:tcPr marL="91440" marR="91440" marT="45720" marB="45720">
                    <a:solidFill>
                      <a:srgbClr val="E9F0F1"/>
                    </a:solidFill>
                  </a:tcPr>
                </a:tc>
                <a:tc>
                  <a:txBody>
                    <a:bodyPr/>
                    <a:lstStyle/>
                    <a:p>
                      <a:r>
                        <a:rPr sz="2100" b="0">
                          <a:solidFill>
                            <a:srgbClr val="142D3D"/>
                          </a:solidFill>
                          <a:latin typeface="Arial"/>
                          <a:ea typeface="Arial"/>
                          <a:cs typeface="Arial"/>
                        </a:rPr>
                        <a:t>Context position is not web rank</a:t>
                      </a:r>
                    </a:p>
                  </a:txBody>
                  <a:tcPr marL="91440" marR="91440" marT="45720" marB="45720">
                    <a:solidFill>
                      <a:srgbClr val="E9F0F1"/>
                    </a:solidFill>
                  </a:tcPr>
                </a:tc>
              </a:tr>
            </a:tbl>
          </a:graphicData>
        </a:graphic>
      </p:graphicFrame>
    </p:spTree>
    <p:extLst>
      <p:ext uri="{BB962C8B-B14F-4D97-AF65-F5344CB8AC3E}">
        <p14:creationId xmlns:p14="http://schemas.microsoft.com/office/powerpoint/2010/main" val="839846235"/>
      </p:ext>
    </p:extLst>
  </p:cSld>
</p:sld>
</file>

<file path=ppt/slides/slide2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D653C5-7C37-4F61-BA07-8E08871E86A7}"/>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DA3F1B6A-4F96-4A58-89B4-97E21C10C15B}"/>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Repeating the same pages did not give identical answers</a:t>
            </a:r>
          </a:p>
        </p:txBody>
      </p:sp>
      <p:sp>
        <p:nvSpPr>
          <p:cNvPr id="3" name="">
            <a:extLst xmlns:a="http://schemas.openxmlformats.org/drawingml/2006/main">
              <a:ext uri="{FF2B5EF4-FFF2-40B4-BE49-F238E27FC236}">
                <a16:creationId xmlns:a16="http://schemas.microsoft.com/office/drawing/2014/main" id="{2CDEB5C4-F0E6-4C60-8F97-BBAB2E41C6DE}"/>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325EDA-CA05-4DB5-ACC6-7FDBC9DECBB5}"/>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Repeated trials estimate variation; they do not make a language model deterministic.</a:t>
            </a:r>
          </a:p>
        </p:txBody>
      </p:sp>
      <p:sp>
        <p:nvSpPr>
          <p:cNvPr id="5" name="">
            <a:extLst xmlns:a="http://schemas.openxmlformats.org/drawingml/2006/main">
              <a:ext uri="{FF2B5EF4-FFF2-40B4-BE49-F238E27FC236}">
                <a16:creationId xmlns:a16="http://schemas.microsoft.com/office/drawing/2014/main" id="{E792651D-4775-47A5-934C-97F9A0C180CA}"/>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5 / 8   •   Full references in speaker notes</a:t>
            </a:r>
          </a:p>
        </p:txBody>
      </p:sp>
      <p:graphicFrame>
        <p:nvGraphicFramePr>
          <p:cNvPr id="6" name="">
            <a:extLst xmlns:a="http://schemas.openxmlformats.org/drawingml/2006/main">
              <a:ext uri="{FF2B5EF4-FFF2-40B4-BE49-F238E27FC236}">
                <a16:creationId xmlns:a16="http://schemas.microsoft.com/office/drawing/2014/main" id="{729BF6C2-60B4-49A8-9079-A06867166CC7}"/>
              </a:ext>
            </a:extLst>
          </p:cNvPr>
          <p:cNvGraphicFramePr/>
          <p:nvPr/>
        </p:nvGraphicFramePr>
        <p:xfrm>
          <a:off xmlns:a="http://schemas.openxmlformats.org/drawingml/2006/main" x="619125" y="2286000"/>
          <a:ext xmlns:a="http://schemas.openxmlformats.org/drawingml/2006/main" cx="14001750" cy="3429000"/>
        </p:xfrm>
        <a:graphic xmlns:a="http://schemas.openxmlformats.org/drawingml/2006/main">
          <a:graphicData uri="http://schemas.openxmlformats.org/drawingml/2006/table">
            <a:tbl>
              <a:tblPr/>
              <a:tblGrid>
                <a:gridCol w="5334000"/>
                <a:gridCol w="3333750"/>
                <a:gridCol w="5334000"/>
              </a:tblGrid>
              <a:tr h="857250">
                <a:tc>
                  <a:txBody>
                    <a:bodyPr/>
                    <a:lstStyle/>
                    <a:p>
                      <a:r>
                        <a:rPr sz="2250" b="1">
                          <a:solidFill>
                            <a:srgbClr val="FFFFFF"/>
                          </a:solidFill>
                          <a:latin typeface="Arial"/>
                          <a:ea typeface="Arial"/>
                          <a:cs typeface="Arial"/>
                        </a:rPr>
                        <a:t>Treatment version / run</a:t>
                      </a:r>
                    </a:p>
                  </a:txBody>
                  <a:tcPr marL="91440" marR="91440" marT="45720" marB="45720">
                    <a:solidFill>
                      <a:srgbClr val="142D3D"/>
                    </a:solidFill>
                  </a:tcPr>
                </a:tc>
                <a:tc>
                  <a:txBody>
                    <a:bodyPr/>
                    <a:lstStyle/>
                    <a:p>
                      <a:r>
                        <a:rPr sz="2250" b="1">
                          <a:solidFill>
                            <a:srgbClr val="FFFFFF"/>
                          </a:solidFill>
                          <a:latin typeface="Arial"/>
                          <a:ea typeface="Arial"/>
                          <a:cs typeface="Arial"/>
                        </a:rPr>
                        <a:t>Citing answers</a:t>
                      </a:r>
                    </a:p>
                  </a:txBody>
                  <a:tcPr marL="91440" marR="91440" marT="45720" marB="45720">
                    <a:solidFill>
                      <a:srgbClr val="142D3D"/>
                    </a:solidFill>
                  </a:tcPr>
                </a:tc>
                <a:tc>
                  <a:txBody>
                    <a:bodyPr/>
                    <a:lstStyle/>
                    <a:p>
                      <a:r>
                        <a:rPr sz="2250" b="1">
                          <a:solidFill>
                            <a:srgbClr val="FFFFFF"/>
                          </a:solidFill>
                          <a:latin typeface="Arial"/>
                          <a:ea typeface="Arial"/>
                          <a:cs typeface="Arial"/>
                        </a:rPr>
                        <a:t>Meaning</a:t>
                      </a:r>
                    </a:p>
                  </a:txBody>
                  <a:tcPr marL="91440" marR="91440" marT="45720" marB="45720">
                    <a:solidFill>
                      <a:srgbClr val="142D3D"/>
                    </a:solidFill>
                  </a:tcPr>
                </a:tc>
              </a:tr>
              <a:tr h="857250">
                <a:tc>
                  <a:txBody>
                    <a:bodyPr/>
                    <a:lstStyle/>
                    <a:p>
                      <a:r>
                        <a:rPr sz="2250" b="0">
                          <a:solidFill>
                            <a:srgbClr val="142D3D"/>
                          </a:solidFill>
                          <a:latin typeface="Arial"/>
                          <a:ea typeface="Arial"/>
                          <a:cs typeface="Arial"/>
                        </a:rPr>
                        <a:t>Original unchanged package</a:t>
                      </a:r>
                    </a:p>
                  </a:txBody>
                  <a:tcPr marL="91440" marR="91440" marT="45720" marB="45720">
                    <a:solidFill>
                      <a:srgbClr val="FFFFFF"/>
                    </a:solidFill>
                  </a:tcPr>
                </a:tc>
                <a:tc>
                  <a:txBody>
                    <a:bodyPr/>
                    <a:lstStyle/>
                    <a:p>
                      <a:r>
                        <a:rPr sz="2250" b="0">
                          <a:solidFill>
                            <a:srgbClr val="142D3D"/>
                          </a:solidFill>
                          <a:latin typeface="Arial"/>
                          <a:ea typeface="Arial"/>
                          <a:cs typeface="Arial"/>
                        </a:rPr>
                        <a:t>143/290 = 49.3%</a:t>
                      </a:r>
                    </a:p>
                  </a:txBody>
                  <a:tcPr marL="91440" marR="91440" marT="45720" marB="45720">
                    <a:solidFill>
                      <a:srgbClr val="FFFFFF"/>
                    </a:solidFill>
                  </a:tcPr>
                </a:tc>
                <a:tc>
                  <a:txBody>
                    <a:bodyPr/>
                    <a:lstStyle/>
                    <a:p>
                      <a:r>
                        <a:rPr sz="2250" b="0">
                          <a:solidFill>
                            <a:srgbClr val="142D3D"/>
                          </a:solidFill>
                          <a:latin typeface="Arial"/>
                          <a:ea typeface="Arial"/>
                          <a:cs typeface="Arial"/>
                        </a:rPr>
                        <a:t>Initial generation of these pages</a:t>
                      </a:r>
                    </a:p>
                  </a:txBody>
                  <a:tcPr marL="91440" marR="91440" marT="45720" marB="45720">
                    <a:solidFill>
                      <a:srgbClr val="FFFFFF"/>
                    </a:solidFill>
                  </a:tcPr>
                </a:tc>
              </a:tr>
              <a:tr h="857250">
                <a:tc>
                  <a:txBody>
                    <a:bodyPr/>
                    <a:lstStyle/>
                    <a:p>
                      <a:r>
                        <a:rPr sz="2250" b="0">
                          <a:solidFill>
                            <a:srgbClr val="142D3D"/>
                          </a:solidFill>
                          <a:latin typeface="Arial"/>
                          <a:ea typeface="Arial"/>
                          <a:cs typeface="Arial"/>
                        </a:rPr>
                        <a:t>Unchanged package repeated</a:t>
                      </a:r>
                    </a:p>
                  </a:txBody>
                  <a:tcPr marL="91440" marR="91440" marT="45720" marB="45720">
                    <a:solidFill>
                      <a:srgbClr val="E9F0F1"/>
                    </a:solidFill>
                  </a:tcPr>
                </a:tc>
                <a:tc>
                  <a:txBody>
                    <a:bodyPr/>
                    <a:lstStyle/>
                    <a:p>
                      <a:r>
                        <a:rPr sz="2250" b="0">
                          <a:solidFill>
                            <a:srgbClr val="142D3D"/>
                          </a:solidFill>
                          <a:latin typeface="Arial"/>
                          <a:ea typeface="Arial"/>
                          <a:cs typeface="Arial"/>
                        </a:rPr>
                        <a:t>152/290 = 52.4%</a:t>
                      </a:r>
                    </a:p>
                  </a:txBody>
                  <a:tcPr marL="91440" marR="91440" marT="45720" marB="45720">
                    <a:solidFill>
                      <a:srgbClr val="E9F0F1"/>
                    </a:solidFill>
                  </a:tcPr>
                </a:tc>
                <a:tc>
                  <a:txBody>
                    <a:bodyPr/>
                    <a:lstStyle/>
                    <a:p>
                      <a:r>
                        <a:rPr sz="2250" b="0">
                          <a:solidFill>
                            <a:srgbClr val="142D3D"/>
                          </a:solidFill>
                          <a:latin typeface="Arial"/>
                          <a:ea typeface="Arial"/>
                          <a:cs typeface="Arial"/>
                        </a:rPr>
                        <a:t>Selected headline repeat</a:t>
                      </a:r>
                    </a:p>
                  </a:txBody>
                  <a:tcPr marL="91440" marR="91440" marT="45720" marB="45720">
                    <a:solidFill>
                      <a:srgbClr val="E9F0F1"/>
                    </a:solidFill>
                  </a:tcPr>
                </a:tc>
              </a:tr>
              <a:tr h="857250">
                <a:tc>
                  <a:txBody>
                    <a:bodyPr/>
                    <a:lstStyle/>
                    <a:p>
                      <a:r>
                        <a:rPr sz="2250" b="0">
                          <a:solidFill>
                            <a:srgbClr val="142D3D"/>
                          </a:solidFill>
                          <a:latin typeface="Arial"/>
                          <a:ea typeface="Arial"/>
                          <a:cs typeface="Arial"/>
                        </a:rPr>
                        <a:t>Price-matched follow-up</a:t>
                      </a:r>
                    </a:p>
                  </a:txBody>
                  <a:tcPr marL="91440" marR="91440" marT="45720" marB="45720">
                    <a:solidFill>
                      <a:srgbClr val="FFFFFF"/>
                    </a:solidFill>
                  </a:tcPr>
                </a:tc>
                <a:tc>
                  <a:txBody>
                    <a:bodyPr/>
                    <a:lstStyle/>
                    <a:p>
                      <a:r>
                        <a:rPr sz="2250" b="0">
                          <a:solidFill>
                            <a:srgbClr val="142D3D"/>
                          </a:solidFill>
                          <a:latin typeface="Arial"/>
                          <a:ea typeface="Arial"/>
                          <a:cs typeface="Arial"/>
                        </a:rPr>
                        <a:t>131/290 = 45.2%</a:t>
                      </a:r>
                    </a:p>
                  </a:txBody>
                  <a:tcPr marL="91440" marR="91440" marT="45720" marB="45720">
                    <a:solidFill>
                      <a:srgbClr val="FFFFFF"/>
                    </a:solidFill>
                  </a:tcPr>
                </a:tc>
                <a:tc>
                  <a:txBody>
                    <a:bodyPr/>
                    <a:lstStyle/>
                    <a:p>
                      <a:r>
                        <a:rPr sz="2250" b="0">
                          <a:solidFill>
                            <a:srgbClr val="142D3D"/>
                          </a:solidFill>
                          <a:latin typeface="Arial"/>
                          <a:ea typeface="Arial"/>
                          <a:cs typeface="Arial"/>
                        </a:rPr>
                        <a:t>A different page treatment</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019E056-0E33-4D1E-8CC8-96689813BAA1}"/>
              </a:ext>
            </a:extLst>
          </p:cNvPr>
          <p:cNvSpPr>
            <a:spLocks xmlns:a="http://schemas.openxmlformats.org/drawingml/2006/main" noGrp="1"/>
          </p:cNvSpPr>
          <p:nvPr/>
        </p:nvSpPr>
        <p:spPr>
          <a:xfrm xmlns:a="http://schemas.openxmlformats.org/drawingml/2006/main">
            <a:off x="619125" y="6238875"/>
            <a:ext cx="14001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1">
                <a:solidFill>
                  <a:srgbClr val="B42146"/>
                </a:solidFill>
                <a:latin typeface="Arial"/>
                <a:ea typeface="Arial"/>
                <a:cs typeface="Arial"/>
              </a:defRPr>
            </a:defPPr>
          </a:lstStyle>
          <a:p xmlns:a="http://schemas.openxmlformats.org/drawingml/2006/main">
            <a:pPr>
              <a:defRPr sz="2475" b="1">
                <a:solidFill>
                  <a:srgbClr val="B42146"/>
                </a:solidFill>
                <a:latin typeface="Arial"/>
                <a:ea typeface="Arial"/>
                <a:cs typeface="Arial"/>
              </a:defRPr>
            </a:pPr>
            <a:r>
              <a:rPr sz="2475" b="1">
                <a:solidFill>
                  <a:srgbClr val="B42146"/>
                </a:solidFill>
                <a:latin typeface="Arial"/>
                <a:ea typeface="Arial"/>
                <a:cs typeface="Arial"/>
              </a:rPr>
              <a:t>Repeat minus initial: +3.1 pp; 95% interval −2.8 to +8.3 pp.</a:t>
            </a:r>
          </a:p>
        </p:txBody>
      </p:sp>
      <p:sp>
        <p:nvSpPr>
          <p:cNvPr id="8" name="">
            <a:extLst xmlns:a="http://schemas.openxmlformats.org/drawingml/2006/main">
              <a:ext uri="{FF2B5EF4-FFF2-40B4-BE49-F238E27FC236}">
                <a16:creationId xmlns:a16="http://schemas.microsoft.com/office/drawing/2014/main" id="{CA78AC0E-1A70-4F32-B739-3D8AA42153F9}"/>
              </a:ext>
            </a:extLst>
          </p:cNvPr>
          <p:cNvSpPr>
            <a:spLocks xmlns:a="http://schemas.openxmlformats.org/drawingml/2006/main" noGrp="1"/>
          </p:cNvSpPr>
          <p:nvPr/>
        </p:nvSpPr>
        <p:spPr>
          <a:xfrm xmlns:a="http://schemas.openxmlformats.org/drawingml/2006/main">
            <a:off x="619125" y="6943725"/>
            <a:ext cx="1400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506574"/>
                </a:solidFill>
                <a:latin typeface="Arial"/>
                <a:ea typeface="Arial"/>
                <a:cs typeface="Arial"/>
              </a:defRPr>
            </a:defPPr>
          </a:lstStyle>
          <a:p xmlns:a="http://schemas.openxmlformats.org/drawingml/2006/main">
            <a:pPr>
              <a:defRPr sz="2100" b="0">
                <a:solidFill>
                  <a:srgbClr val="506574"/>
                </a:solidFill>
                <a:latin typeface="Arial"/>
                <a:ea typeface="Arial"/>
                <a:cs typeface="Arial"/>
              </a:defRPr>
            </a:pPr>
            <a:r>
              <a:rPr sz="2100" b="0">
                <a:solidFill>
                  <a:srgbClr val="506574"/>
                </a:solidFill>
                <a:latin typeface="Arial"/>
                <a:ea typeface="Arial"/>
                <a:cs typeface="Arial"/>
              </a:rPr>
              <a:t>Same page content does not guarantee identical model answers.</a:t>
            </a:r>
          </a:p>
        </p:txBody>
      </p:sp>
    </p:spTree>
    <p:extLst>
      <p:ext uri="{BB962C8B-B14F-4D97-AF65-F5344CB8AC3E}">
        <p14:creationId xmlns:p14="http://schemas.microsoft.com/office/powerpoint/2010/main" val="1765105745"/>
      </p:ext>
    </p:extLst>
  </p:cSld>
</p:sld>
</file>

<file path=ppt/slides/slide2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D55008-206E-4540-AE29-59B8F78E6C09}"/>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12B40FA6-3C13-4858-9344-DF1B7D5484B6}"/>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Artefact agreement and assessment checklist</a:t>
            </a:r>
          </a:p>
        </p:txBody>
      </p:sp>
      <p:sp>
        <p:nvSpPr>
          <p:cNvPr id="3" name="">
            <a:extLst xmlns:a="http://schemas.openxmlformats.org/drawingml/2006/main">
              <a:ext uri="{FF2B5EF4-FFF2-40B4-BE49-F238E27FC236}">
                <a16:creationId xmlns:a16="http://schemas.microsoft.com/office/drawing/2014/main" id="{FE8F1076-3C71-4564-BE44-6026E7C5C502}"/>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8936591-A1D0-4178-A2DD-0596B4B85993}"/>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Tutorial 10 covers artefact scope and handover; it is not the complete presentation rubric.</a:t>
            </a:r>
          </a:p>
        </p:txBody>
      </p:sp>
      <p:sp>
        <p:nvSpPr>
          <p:cNvPr id="5" name="">
            <a:extLst xmlns:a="http://schemas.openxmlformats.org/drawingml/2006/main">
              <a:ext uri="{FF2B5EF4-FFF2-40B4-BE49-F238E27FC236}">
                <a16:creationId xmlns:a16="http://schemas.microsoft.com/office/drawing/2014/main" id="{57B43DC4-095E-4049-9FD8-0CA73E3A7D30}"/>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6 / 8   •   Full references in speaker notes</a:t>
            </a:r>
          </a:p>
        </p:txBody>
      </p:sp>
      <p:graphicFrame>
        <p:nvGraphicFramePr>
          <p:cNvPr id="6" name="">
            <a:extLst xmlns:a="http://schemas.openxmlformats.org/drawingml/2006/main">
              <a:ext uri="{FF2B5EF4-FFF2-40B4-BE49-F238E27FC236}">
                <a16:creationId xmlns:a16="http://schemas.microsoft.com/office/drawing/2014/main" id="{F82F15F2-01BE-4395-BDE7-EAB8740363A5}"/>
              </a:ext>
            </a:extLst>
          </p:cNvPr>
          <p:cNvGraphicFramePr/>
          <p:nvPr/>
        </p:nvGraphicFramePr>
        <p:xfrm>
          <a:off xmlns:a="http://schemas.openxmlformats.org/drawingml/2006/main" x="619125" y="2266950"/>
          <a:ext xmlns:a="http://schemas.openxmlformats.org/drawingml/2006/main" cx="14001750" cy="4629150"/>
        </p:xfrm>
        <a:graphic xmlns:a="http://schemas.openxmlformats.org/drawingml/2006/main">
          <a:graphicData uri="http://schemas.openxmlformats.org/drawingml/2006/table">
            <a:tbl>
              <a:tblPr/>
              <a:tblGrid>
                <a:gridCol w="5048250"/>
                <a:gridCol w="8953500"/>
              </a:tblGrid>
              <a:tr h="771525">
                <a:tc>
                  <a:txBody>
                    <a:bodyPr/>
                    <a:lstStyle/>
                    <a:p>
                      <a:r>
                        <a:rPr sz="2100" b="1">
                          <a:solidFill>
                            <a:srgbClr val="FFFFFF"/>
                          </a:solidFill>
                          <a:latin typeface="Arial"/>
                          <a:ea typeface="Arial"/>
                          <a:cs typeface="Arial"/>
                        </a:rPr>
                        <a:t>Tutorial requirement</a:t>
                      </a:r>
                    </a:p>
                  </a:txBody>
                  <a:tcPr marL="91440" marR="91440" marT="45720" marB="45720">
                    <a:solidFill>
                      <a:srgbClr val="142D3D"/>
                    </a:solidFill>
                  </a:tcPr>
                </a:tc>
                <a:tc>
                  <a:txBody>
                    <a:bodyPr/>
                    <a:lstStyle/>
                    <a:p>
                      <a:r>
                        <a:rPr sz="2100" b="1">
                          <a:solidFill>
                            <a:srgbClr val="FFFFFF"/>
                          </a:solidFill>
                          <a:latin typeface="Arial"/>
                          <a:ea typeface="Arial"/>
                          <a:cs typeface="Arial"/>
                        </a:rPr>
                        <a:t>Action before submission / handover</a:t>
                      </a:r>
                    </a:p>
                  </a:txBody>
                  <a:tcPr marL="91440" marR="91440" marT="45720" marB="45720">
                    <a:solidFill>
                      <a:srgbClr val="142D3D"/>
                    </a:solidFill>
                  </a:tcPr>
                </a:tc>
              </a:tr>
              <a:tr h="771525">
                <a:tc>
                  <a:txBody>
                    <a:bodyPr/>
                    <a:lstStyle/>
                    <a:p>
                      <a:r>
                        <a:rPr sz="2100" b="0">
                          <a:solidFill>
                            <a:srgbClr val="142D3D"/>
                          </a:solidFill>
                          <a:latin typeface="Arial"/>
                          <a:ea typeface="Arial"/>
                          <a:cs typeface="Arial"/>
                        </a:rPr>
                        <a:t>Scope and realistic condition</a:t>
                      </a:r>
                    </a:p>
                  </a:txBody>
                  <a:tcPr marL="91440" marR="91440" marT="45720" marB="45720">
                    <a:solidFill>
                      <a:srgbClr val="FFFFFF"/>
                    </a:solidFill>
                  </a:tcPr>
                </a:tc>
                <a:tc>
                  <a:txBody>
                    <a:bodyPr/>
                    <a:lstStyle/>
                    <a:p>
                      <a:r>
                        <a:rPr sz="2100" b="0">
                          <a:solidFill>
                            <a:srgbClr val="142D3D"/>
                          </a:solidFill>
                          <a:latin typeface="Arial"/>
                          <a:ea typeface="Arial"/>
                          <a:cs typeface="Arial"/>
                        </a:rPr>
                        <a:t>Reconcile the deliverable inventory with the official agreement</a:t>
                      </a:r>
                    </a:p>
                  </a:txBody>
                  <a:tcPr marL="91440" marR="91440" marT="45720" marB="45720">
                    <a:solidFill>
                      <a:srgbClr val="FFFFFF"/>
                    </a:solidFill>
                  </a:tcPr>
                </a:tc>
              </a:tr>
              <a:tr h="771525">
                <a:tc>
                  <a:txBody>
                    <a:bodyPr/>
                    <a:lstStyle/>
                    <a:p>
                      <a:r>
                        <a:rPr sz="2100" b="0">
                          <a:solidFill>
                            <a:srgbClr val="142D3D"/>
                          </a:solidFill>
                          <a:latin typeface="Arial"/>
                          <a:ea typeface="Arial"/>
                          <a:cs typeface="Arial"/>
                        </a:rPr>
                        <a:t>Handover date and method</a:t>
                      </a:r>
                    </a:p>
                  </a:txBody>
                  <a:tcPr marL="91440" marR="91440" marT="45720" marB="45720">
                    <a:solidFill>
                      <a:srgbClr val="E9F0F1"/>
                    </a:solidFill>
                  </a:tcPr>
                </a:tc>
                <a:tc>
                  <a:txBody>
                    <a:bodyPr/>
                    <a:lstStyle/>
                    <a:p>
                      <a:r>
                        <a:rPr sz="2100" b="0">
                          <a:solidFill>
                            <a:srgbClr val="142D3D"/>
                          </a:solidFill>
                          <a:latin typeface="Arial"/>
                          <a:ea typeface="Arial"/>
                          <a:cs typeface="Arial"/>
                        </a:rPr>
                        <a:t>Confirm with FC and record the named recipient</a:t>
                      </a:r>
                    </a:p>
                  </a:txBody>
                  <a:tcPr marL="91440" marR="91440" marT="45720" marB="45720">
                    <a:solidFill>
                      <a:srgbClr val="E9F0F1"/>
                    </a:solidFill>
                  </a:tcPr>
                </a:tc>
              </a:tr>
              <a:tr h="771525">
                <a:tc>
                  <a:txBody>
                    <a:bodyPr/>
                    <a:lstStyle/>
                    <a:p>
                      <a:r>
                        <a:rPr sz="2100" b="0">
                          <a:solidFill>
                            <a:srgbClr val="142D3D"/>
                          </a:solidFill>
                          <a:latin typeface="Arial"/>
                          <a:ea typeface="Arial"/>
                          <a:cs typeface="Arial"/>
                        </a:rPr>
                        <a:t>Agreement process</a:t>
                      </a:r>
                    </a:p>
                  </a:txBody>
                  <a:tcPr marL="91440" marR="91440" marT="45720" marB="45720">
                    <a:solidFill>
                      <a:srgbClr val="FFFFFF"/>
                    </a:solidFill>
                  </a:tcPr>
                </a:tc>
                <a:tc>
                  <a:txBody>
                    <a:bodyPr/>
                    <a:lstStyle/>
                    <a:p>
                      <a:r>
                        <a:rPr sz="2100" b="0">
                          <a:solidFill>
                            <a:srgbClr val="142D3D"/>
                          </a:solidFill>
                          <a:latin typeface="Arial"/>
                          <a:ea typeface="Arial"/>
                          <a:cs typeface="Arial"/>
                        </a:rPr>
                        <a:t>Team + tutor draft, industry-partner review, tutor confirmation</a:t>
                      </a:r>
                    </a:p>
                  </a:txBody>
                  <a:tcPr marL="91440" marR="91440" marT="45720" marB="45720">
                    <a:solidFill>
                      <a:srgbClr val="FFFFFF"/>
                    </a:solidFill>
                  </a:tcPr>
                </a:tc>
              </a:tr>
              <a:tr h="771525">
                <a:tc>
                  <a:txBody>
                    <a:bodyPr/>
                    <a:lstStyle/>
                    <a:p>
                      <a:r>
                        <a:rPr sz="2100" b="0">
                          <a:solidFill>
                            <a:srgbClr val="142D3D"/>
                          </a:solidFill>
                          <a:latin typeface="Arial"/>
                          <a:ea typeface="Arial"/>
                          <a:cs typeface="Arial"/>
                        </a:rPr>
                        <a:t>IP and other conditions</a:t>
                      </a:r>
                    </a:p>
                  </a:txBody>
                  <a:tcPr marL="91440" marR="91440" marT="45720" marB="45720">
                    <a:solidFill>
                      <a:srgbClr val="E9F0F1"/>
                    </a:solidFill>
                  </a:tcPr>
                </a:tc>
                <a:tc>
                  <a:txBody>
                    <a:bodyPr/>
                    <a:lstStyle/>
                    <a:p>
                      <a:r>
                        <a:rPr sz="2100" b="0">
                          <a:solidFill>
                            <a:srgbClr val="142D3D"/>
                          </a:solidFill>
                          <a:latin typeface="Arial"/>
                          <a:ea typeface="Arial"/>
                          <a:cs typeface="Arial"/>
                        </a:rPr>
                        <a:t>Record applicable rights, access and confidentiality restrictions</a:t>
                      </a:r>
                    </a:p>
                  </a:txBody>
                  <a:tcPr marL="91440" marR="91440" marT="45720" marB="45720">
                    <a:solidFill>
                      <a:srgbClr val="E9F0F1"/>
                    </a:solidFill>
                  </a:tcPr>
                </a:tc>
              </a:tr>
              <a:tr h="771525">
                <a:tc>
                  <a:txBody>
                    <a:bodyPr/>
                    <a:lstStyle/>
                    <a:p>
                      <a:r>
                        <a:rPr sz="2100" b="0">
                          <a:solidFill>
                            <a:srgbClr val="142D3D"/>
                          </a:solidFill>
                          <a:latin typeface="Arial"/>
                          <a:ea typeface="Arial"/>
                          <a:cs typeface="Arial"/>
                        </a:rPr>
                        <a:t>Assessment evidence</a:t>
                      </a:r>
                    </a:p>
                  </a:txBody>
                  <a:tcPr marL="91440" marR="91440" marT="45720" marB="45720">
                    <a:solidFill>
                      <a:srgbClr val="FFFFFF"/>
                    </a:solidFill>
                  </a:tcPr>
                </a:tc>
                <a:tc>
                  <a:txBody>
                    <a:bodyPr/>
                    <a:lstStyle/>
                    <a:p>
                      <a:r>
                        <a:rPr sz="2100" b="0">
                          <a:solidFill>
                            <a:srgbClr val="142D3D"/>
                          </a:solidFill>
                          <a:latin typeface="Arial"/>
                          <a:ea typeface="Arial"/>
                          <a:cs typeface="Arial"/>
                        </a:rPr>
                        <a:t>Check individual records, reflection and the full presentation rubric</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66811739"/>
      </p:ext>
    </p:extLst>
  </p:cSld>
</p:sld>
</file>

<file path=ppt/slides/slide2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D0609C4-98AF-46FA-B3F3-B4E981D5C0AA}"/>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641F85B6-DDB7-4613-ABEB-8C68AB33C190}"/>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A three-minute evidence walkthrough</a:t>
            </a:r>
          </a:p>
        </p:txBody>
      </p:sp>
      <p:sp>
        <p:nvSpPr>
          <p:cNvPr id="3" name="">
            <a:extLst xmlns:a="http://schemas.openxmlformats.org/drawingml/2006/main">
              <a:ext uri="{FF2B5EF4-FFF2-40B4-BE49-F238E27FC236}">
                <a16:creationId xmlns:a16="http://schemas.microsoft.com/office/drawing/2014/main" id="{B9DCD185-7781-479D-A959-70A6AB4622E6}"/>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AF7E0A-79CC-46B4-B076-81D7608E7E10}"/>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Everything needed for this walkthrough is in the extracted submission folder.</a:t>
            </a:r>
          </a:p>
        </p:txBody>
      </p:sp>
      <p:sp>
        <p:nvSpPr>
          <p:cNvPr id="5" name="">
            <a:extLst xmlns:a="http://schemas.openxmlformats.org/drawingml/2006/main">
              <a:ext uri="{FF2B5EF4-FFF2-40B4-BE49-F238E27FC236}">
                <a16:creationId xmlns:a16="http://schemas.microsoft.com/office/drawing/2014/main" id="{45581FFD-22EF-4CCB-84ED-D68C06300BD8}"/>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7 / 8   •   Full references in speaker notes</a:t>
            </a:r>
          </a:p>
        </p:txBody>
      </p:sp>
      <p:sp>
        <p:nvSpPr>
          <p:cNvPr id="6" name="">
            <a:extLst xmlns:a="http://schemas.openxmlformats.org/drawingml/2006/main">
              <a:ext uri="{FF2B5EF4-FFF2-40B4-BE49-F238E27FC236}">
                <a16:creationId xmlns:a16="http://schemas.microsoft.com/office/drawing/2014/main" id="{1AB96A3F-81D8-4875-8EBB-16C230192B7E}"/>
              </a:ext>
            </a:extLst>
          </p:cNvPr>
          <p:cNvSpPr>
            <a:spLocks xmlns:a="http://schemas.openxmlformats.org/drawingml/2006/main" noGrp="1"/>
          </p:cNvSpPr>
          <p:nvPr/>
        </p:nvSpPr>
        <p:spPr>
          <a:xfrm xmlns:a="http://schemas.openxmlformats.org/drawingml/2006/main">
            <a:off x="619125" y="23050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4B8CACB5-34E8-4788-9E26-01E5DD7E3D69}"/>
              </a:ext>
            </a:extLst>
          </p:cNvPr>
          <p:cNvSpPr>
            <a:spLocks xmlns:a="http://schemas.openxmlformats.org/drawingml/2006/main" noGrp="1"/>
          </p:cNvSpPr>
          <p:nvPr/>
        </p:nvSpPr>
        <p:spPr>
          <a:xfrm xmlns:a="http://schemas.openxmlformats.org/drawingml/2006/main">
            <a:off x="1600200" y="23050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Open START_HERE.html</a:t>
            </a:r>
          </a:p>
        </p:txBody>
      </p:sp>
      <p:sp>
        <p:nvSpPr>
          <p:cNvPr id="8" name="">
            <a:extLst xmlns:a="http://schemas.openxmlformats.org/drawingml/2006/main">
              <a:ext uri="{FF2B5EF4-FFF2-40B4-BE49-F238E27FC236}">
                <a16:creationId xmlns:a16="http://schemas.microsoft.com/office/drawing/2014/main" id="{F54CE6B4-D7BB-4AA3-B104-43CCA5FB7066}"/>
              </a:ext>
            </a:extLst>
          </p:cNvPr>
          <p:cNvSpPr>
            <a:spLocks xmlns:a="http://schemas.openxmlformats.org/drawingml/2006/main" noGrp="1"/>
          </p:cNvSpPr>
          <p:nvPr/>
        </p:nvSpPr>
        <p:spPr>
          <a:xfrm xmlns:a="http://schemas.openxmlformats.org/drawingml/2006/main">
            <a:off x="5381625" y="230505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Select a question → complete answers → numbered source maps.</a:t>
            </a:r>
          </a:p>
        </p:txBody>
      </p:sp>
      <p:sp>
        <p:nvSpPr>
          <p:cNvPr id="9" name="">
            <a:extLst xmlns:a="http://schemas.openxmlformats.org/drawingml/2006/main">
              <a:ext uri="{FF2B5EF4-FFF2-40B4-BE49-F238E27FC236}">
                <a16:creationId xmlns:a16="http://schemas.microsoft.com/office/drawing/2014/main" id="{8EAB5CF4-C360-4F54-BEA4-F7D6944E2D00}"/>
              </a:ext>
            </a:extLst>
          </p:cNvPr>
          <p:cNvSpPr>
            <a:spLocks xmlns:a="http://schemas.openxmlformats.org/drawingml/2006/main" noGrp="1"/>
          </p:cNvSpPr>
          <p:nvPr/>
        </p:nvSpPr>
        <p:spPr>
          <a:xfrm xmlns:a="http://schemas.openxmlformats.org/drawingml/2006/main">
            <a:off x="619125" y="38290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343599C3-156D-4F83-BCA5-4AD82B4D944D}"/>
              </a:ext>
            </a:extLst>
          </p:cNvPr>
          <p:cNvSpPr>
            <a:spLocks xmlns:a="http://schemas.openxmlformats.org/drawingml/2006/main" noGrp="1"/>
          </p:cNvSpPr>
          <p:nvPr/>
        </p:nvSpPr>
        <p:spPr>
          <a:xfrm xmlns:a="http://schemas.openxmlformats.org/drawingml/2006/main">
            <a:off x="1600200" y="38290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Open page evidence</a:t>
            </a:r>
          </a:p>
        </p:txBody>
      </p:sp>
      <p:sp>
        <p:nvSpPr>
          <p:cNvPr id="11" name="">
            <a:extLst xmlns:a="http://schemas.openxmlformats.org/drawingml/2006/main">
              <a:ext uri="{FF2B5EF4-FFF2-40B4-BE49-F238E27FC236}">
                <a16:creationId xmlns:a16="http://schemas.microsoft.com/office/drawing/2014/main" id="{1BB76005-F985-40BC-9EA1-5E7CBB2659DA}"/>
              </a:ext>
            </a:extLst>
          </p:cNvPr>
          <p:cNvSpPr>
            <a:spLocks xmlns:a="http://schemas.openxmlformats.org/drawingml/2006/main" noGrp="1"/>
          </p:cNvSpPr>
          <p:nvPr/>
        </p:nvSpPr>
        <p:spPr>
          <a:xfrm xmlns:a="http://schemas.openxmlformats.org/drawingml/2006/main">
            <a:off x="5381625" y="382905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Compare full source text; inspect the final page output and code.</a:t>
            </a:r>
          </a:p>
        </p:txBody>
      </p:sp>
      <p:sp>
        <p:nvSpPr>
          <p:cNvPr id="12" name="">
            <a:extLst xmlns:a="http://schemas.openxmlformats.org/drawingml/2006/main">
              <a:ext uri="{FF2B5EF4-FFF2-40B4-BE49-F238E27FC236}">
                <a16:creationId xmlns:a16="http://schemas.microsoft.com/office/drawing/2014/main" id="{65FCFAEB-A18D-42B2-B866-26369A4559C1}"/>
              </a:ext>
            </a:extLst>
          </p:cNvPr>
          <p:cNvSpPr>
            <a:spLocks xmlns:a="http://schemas.openxmlformats.org/drawingml/2006/main" noGrp="1"/>
          </p:cNvSpPr>
          <p:nvPr/>
        </p:nvSpPr>
        <p:spPr>
          <a:xfrm xmlns:a="http://schemas.openxmlformats.org/drawingml/2006/main">
            <a:off x="619125" y="53530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087D82"/>
                </a:solidFill>
                <a:latin typeface="Arial"/>
                <a:ea typeface="Arial"/>
                <a:cs typeface="Arial"/>
              </a:defRPr>
            </a:defPPr>
          </a:lstStyle>
          <a:p xmlns:a="http://schemas.openxmlformats.org/drawingml/2006/main">
            <a:pPr>
              <a:defRPr sz="3150" b="1">
                <a:solidFill>
                  <a:srgbClr val="087D82"/>
                </a:solidFill>
                <a:latin typeface="Arial"/>
                <a:ea typeface="Arial"/>
                <a:cs typeface="Arial"/>
              </a:defRPr>
            </a:pPr>
            <a:r>
              <a:rPr sz="3150" b="1">
                <a:solidFill>
                  <a:srgbClr val="087D82"/>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E3B8936F-87D1-41F5-B2B5-0EADEAC0E39B}"/>
              </a:ext>
            </a:extLst>
          </p:cNvPr>
          <p:cNvSpPr>
            <a:spLocks xmlns:a="http://schemas.openxmlformats.org/drawingml/2006/main" noGrp="1"/>
          </p:cNvSpPr>
          <p:nvPr/>
        </p:nvSpPr>
        <p:spPr>
          <a:xfrm xmlns:a="http://schemas.openxmlformats.org/drawingml/2006/main">
            <a:off x="1600200" y="53530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B42146"/>
                </a:solidFill>
                <a:latin typeface="Arial"/>
                <a:ea typeface="Arial"/>
                <a:cs typeface="Arial"/>
              </a:defRPr>
            </a:defPPr>
          </a:lstStyle>
          <a:p xmlns:a="http://schemas.openxmlformats.org/drawingml/2006/main">
            <a:pPr>
              <a:defRPr sz="2250" b="1">
                <a:solidFill>
                  <a:srgbClr val="B42146"/>
                </a:solidFill>
                <a:latin typeface="Arial"/>
                <a:ea typeface="Arial"/>
                <a:cs typeface="Arial"/>
              </a:defRPr>
            </a:pPr>
            <a:r>
              <a:rPr sz="2250" b="1">
                <a:solidFill>
                  <a:srgbClr val="B42146"/>
                </a:solidFill>
                <a:latin typeface="Arial"/>
                <a:ea typeface="Arial"/>
                <a:cs typeface="Arial"/>
              </a:rPr>
              <a:t>Verify the result</a:t>
            </a:r>
          </a:p>
        </p:txBody>
      </p:sp>
      <p:sp>
        <p:nvSpPr>
          <p:cNvPr id="14" name="">
            <a:extLst xmlns:a="http://schemas.openxmlformats.org/drawingml/2006/main">
              <a:ext uri="{FF2B5EF4-FFF2-40B4-BE49-F238E27FC236}">
                <a16:creationId xmlns:a16="http://schemas.microsoft.com/office/drawing/2014/main" id="{95C81F21-FE26-4AAE-B865-297D9AEEFDD0}"/>
              </a:ext>
            </a:extLst>
          </p:cNvPr>
          <p:cNvSpPr>
            <a:spLocks xmlns:a="http://schemas.openxmlformats.org/drawingml/2006/main" noGrp="1"/>
          </p:cNvSpPr>
          <p:nvPr/>
        </p:nvSpPr>
        <p:spPr>
          <a:xfrm xmlns:a="http://schemas.openxmlformats.org/drawingml/2006/main">
            <a:off x="5381625" y="5353050"/>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42D3D"/>
                </a:solidFill>
                <a:latin typeface="Arial"/>
                <a:ea typeface="Arial"/>
                <a:cs typeface="Arial"/>
              </a:defRPr>
            </a:defPPr>
          </a:lstStyle>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Run: python 03_code/verify_results.py</a:t>
            </a:r>
          </a:p>
          <a:p xmlns:a="http://schemas.openxmlformats.org/drawingml/2006/main">
            <a:pPr>
              <a:defRPr sz="2250" b="0">
                <a:solidFill>
                  <a:srgbClr val="142D3D"/>
                </a:solidFill>
                <a:latin typeface="Arial"/>
                <a:ea typeface="Arial"/>
                <a:cs typeface="Arial"/>
              </a:defRPr>
            </a:pPr>
            <a:r>
              <a:rPr sz="2250" b="0">
                <a:solidFill>
                  <a:srgbClr val="142D3D"/>
                </a:solidFill>
                <a:latin typeface="Arial"/>
                <a:ea typeface="Arial"/>
                <a:cs typeface="Arial"/>
              </a:rPr>
              <a:t>No API key or paid generation required.</a:t>
            </a:r>
          </a:p>
        </p:txBody>
      </p:sp>
    </p:spTree>
    <p:extLst>
      <p:ext uri="{BB962C8B-B14F-4D97-AF65-F5344CB8AC3E}">
        <p14:creationId xmlns:p14="http://schemas.microsoft.com/office/powerpoint/2010/main" val="230633507"/>
      </p:ext>
    </p:extLst>
  </p:cSld>
</p:sld>
</file>

<file path=ppt/slides/slide2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317C5B-2664-4AE8-ADCD-2E224DA81F80}"/>
              </a:ext>
            </a:extLst>
          </p:cNvPr>
          <p:cNvSpPr>
            <a:spLocks xmlns:a="http://schemas.openxmlformats.org/drawingml/2006/main" noGrp="1"/>
          </p:cNvSpPr>
          <p:nvPr/>
        </p:nvSpPr>
        <p:spPr>
          <a:xfrm xmlns:a="http://schemas.openxmlformats.org/drawingml/2006/main">
            <a:off x="619125" y="2476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87D82"/>
                </a:solidFill>
                <a:latin typeface="Arial"/>
                <a:ea typeface="Arial"/>
                <a:cs typeface="Arial"/>
              </a:defRPr>
            </a:defPPr>
          </a:lstStyle>
          <a:p xmlns:a="http://schemas.openxmlformats.org/drawingml/2006/main">
            <a:pPr>
              <a:defRPr sz="1425" b="1">
                <a:solidFill>
                  <a:srgbClr val="087D82"/>
                </a:solidFill>
                <a:latin typeface="Arial"/>
                <a:ea typeface="Arial"/>
                <a:cs typeface="Arial"/>
              </a:defRPr>
            </a:pPr>
            <a:r>
              <a:rPr sz="1425" b="1">
                <a:solidFill>
                  <a:srgbClr val="087D82"/>
                </a:solidFill>
                <a:latin typeface="Arial"/>
                <a:ea typeface="Arial"/>
                <a:cs typeface="Arial"/>
              </a:rPr>
              <a:t>BACKUP • QUESTIONS</a:t>
            </a:r>
          </a:p>
        </p:txBody>
      </p:sp>
      <p:sp>
        <p:nvSpPr>
          <p:cNvPr id="2" name="">
            <a:extLst xmlns:a="http://schemas.openxmlformats.org/drawingml/2006/main">
              <a:ext uri="{FF2B5EF4-FFF2-40B4-BE49-F238E27FC236}">
                <a16:creationId xmlns:a16="http://schemas.microsoft.com/office/drawing/2014/main" id="{350FAF9D-43DD-4A54-A568-BA926F14683B}"/>
              </a:ext>
            </a:extLst>
          </p:cNvPr>
          <p:cNvSpPr>
            <a:spLocks xmlns:a="http://schemas.openxmlformats.org/drawingml/2006/main" noGrp="1"/>
          </p:cNvSpPr>
          <p:nvPr/>
        </p:nvSpPr>
        <p:spPr>
          <a:xfrm xmlns:a="http://schemas.openxmlformats.org/drawingml/2006/main">
            <a:off x="619125" y="781050"/>
            <a:ext cx="1400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75" b="1">
                <a:solidFill>
                  <a:srgbClr val="142D3D"/>
                </a:solidFill>
                <a:latin typeface="Arial"/>
                <a:ea typeface="Arial"/>
                <a:cs typeface="Arial"/>
              </a:defRPr>
            </a:defPPr>
          </a:lstStyle>
          <a:p xmlns:a="http://schemas.openxmlformats.org/drawingml/2006/main">
            <a:pPr>
              <a:defRPr sz="3675" b="1">
                <a:solidFill>
                  <a:srgbClr val="142D3D"/>
                </a:solidFill>
                <a:latin typeface="Arial"/>
                <a:ea typeface="Arial"/>
                <a:cs typeface="Arial"/>
              </a:defRPr>
            </a:pPr>
            <a:r>
              <a:rPr sz="3675" b="1">
                <a:solidFill>
                  <a:srgbClr val="142D3D"/>
                </a:solidFill>
                <a:latin typeface="Arial"/>
                <a:ea typeface="Arial"/>
                <a:cs typeface="Arial"/>
              </a:rPr>
              <a:t>Research supporting the design decisions</a:t>
            </a:r>
          </a:p>
        </p:txBody>
      </p:sp>
      <p:sp>
        <p:nvSpPr>
          <p:cNvPr id="3" name="">
            <a:extLst xmlns:a="http://schemas.openxmlformats.org/drawingml/2006/main">
              <a:ext uri="{FF2B5EF4-FFF2-40B4-BE49-F238E27FC236}">
                <a16:creationId xmlns:a16="http://schemas.microsoft.com/office/drawing/2014/main" id="{744875B9-1B7E-4083-A848-076A2A3906C4}"/>
              </a:ext>
            </a:extLst>
          </p:cNvPr>
          <p:cNvSpPr>
            <a:spLocks xmlns:a="http://schemas.openxmlformats.org/drawingml/2006/main" noGrp="1"/>
          </p:cNvSpPr>
          <p:nvPr/>
        </p:nvSpPr>
        <p:spPr>
          <a:xfrm xmlns:a="http://schemas.openxmlformats.org/drawingml/2006/main">
            <a:off x="619125" y="1876425"/>
            <a:ext cx="857250" cy="28575"/>
          </a:xfrm>
          <a:prstGeom xmlns:a="http://schemas.openxmlformats.org/drawingml/2006/main" prst="rect">
            <a:avLst/>
          </a:prstGeom>
          <a:solidFill xmlns:a="http://schemas.openxmlformats.org/drawingml/2006/main">
            <a:srgbClr val="B4214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DA59C0-7D6B-4D0A-9A06-E1E21A03A4D4}"/>
              </a:ext>
            </a:extLst>
          </p:cNvPr>
          <p:cNvSpPr>
            <a:spLocks xmlns:a="http://schemas.openxmlformats.org/drawingml/2006/main" noGrp="1"/>
          </p:cNvSpPr>
          <p:nvPr/>
        </p:nvSpPr>
        <p:spPr>
          <a:xfrm xmlns:a="http://schemas.openxmlformats.org/drawingml/2006/main">
            <a:off x="619125" y="7524750"/>
            <a:ext cx="1400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rPr>
              <a:t>Published principles support the design choices; our exact test and metric remain our own.</a:t>
            </a:r>
          </a:p>
        </p:txBody>
      </p:sp>
      <p:sp>
        <p:nvSpPr>
          <p:cNvPr id="5" name="">
            <a:extLst xmlns:a="http://schemas.openxmlformats.org/drawingml/2006/main">
              <a:ext uri="{FF2B5EF4-FFF2-40B4-BE49-F238E27FC236}">
                <a16:creationId xmlns:a16="http://schemas.microsoft.com/office/drawing/2014/main" id="{A473928A-E23C-4796-82F1-02A5E2228485}"/>
              </a:ext>
            </a:extLst>
          </p:cNvPr>
          <p:cNvSpPr>
            <a:spLocks xmlns:a="http://schemas.openxmlformats.org/drawingml/2006/main" noGrp="1"/>
          </p:cNvSpPr>
          <p:nvPr/>
        </p:nvSpPr>
        <p:spPr>
          <a:xfrm xmlns:a="http://schemas.openxmlformats.org/drawingml/2006/main">
            <a:off x="619125" y="8220075"/>
            <a:ext cx="1400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574"/>
                </a:solidFill>
                <a:latin typeface="Arial"/>
                <a:ea typeface="Arial"/>
                <a:cs typeface="Arial"/>
              </a:defRPr>
            </a:defPPr>
          </a:lstStyle>
          <a:p xmlns:a="http://schemas.openxmlformats.org/drawingml/2006/main">
            <a:pPr>
              <a:defRPr sz="1200" b="0">
                <a:solidFill>
                  <a:srgbClr val="506574"/>
                </a:solidFill>
                <a:latin typeface="Arial"/>
                <a:ea typeface="Arial"/>
                <a:cs typeface="Arial"/>
              </a:defRPr>
            </a:pPr>
            <a:r>
              <a:rPr sz="1200" b="0">
                <a:solidFill>
                  <a:srgbClr val="506574"/>
                </a:solidFill>
                <a:latin typeface="Arial"/>
                <a:ea typeface="Arial"/>
                <a:cs typeface="Arial"/>
              </a:rPr>
              <a:t>Supporting evidence 8 / 8   •   Full references in speaker notes</a:t>
            </a:r>
          </a:p>
        </p:txBody>
      </p:sp>
      <p:sp>
        <p:nvSpPr>
          <p:cNvPr id="6" name="">
            <a:extLst xmlns:a="http://schemas.openxmlformats.org/drawingml/2006/main">
              <a:ext uri="{FF2B5EF4-FFF2-40B4-BE49-F238E27FC236}">
                <a16:creationId xmlns:a16="http://schemas.microsoft.com/office/drawing/2014/main" id="{59849D39-51E7-4589-8F44-050853DCE999}"/>
              </a:ext>
            </a:extLst>
          </p:cNvPr>
          <p:cNvSpPr>
            <a:spLocks xmlns:a="http://schemas.openxmlformats.org/drawingml/2006/main" noGrp="1"/>
          </p:cNvSpPr>
          <p:nvPr/>
        </p:nvSpPr>
        <p:spPr>
          <a:xfrm xmlns:a="http://schemas.openxmlformats.org/drawingml/2006/main">
            <a:off x="619125" y="2209800"/>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87D82"/>
                </a:solidFill>
                <a:latin typeface="Arial"/>
                <a:ea typeface="Arial"/>
                <a:cs typeface="Arial"/>
              </a:defRPr>
            </a:defPPr>
          </a:lstStyle>
          <a:p xmlns:a="http://schemas.openxmlformats.org/drawingml/2006/main">
            <a:pPr>
              <a:defRPr sz="1725" b="1">
                <a:solidFill>
                  <a:srgbClr val="087D82"/>
                </a:solidFill>
                <a:latin typeface="Arial"/>
                <a:ea typeface="Arial"/>
                <a:cs typeface="Arial"/>
              </a:defRPr>
            </a:pPr>
            <a:r>
              <a:rPr sz="1725" b="1">
                <a:solidFill>
                  <a:srgbClr val="087D82"/>
                </a:solidFill>
                <a:latin typeface="Arial"/>
                <a:ea typeface="Arial"/>
                <a:cs typeface="Arial"/>
              </a:rPr>
              <a:t>PUBLISHED RESEARCH</a:t>
            </a:r>
          </a:p>
        </p:txBody>
      </p:sp>
      <p:sp>
        <p:nvSpPr>
          <p:cNvPr id="7" name="">
            <a:extLst xmlns:a="http://schemas.openxmlformats.org/drawingml/2006/main">
              <a:ext uri="{FF2B5EF4-FFF2-40B4-BE49-F238E27FC236}">
                <a16:creationId xmlns:a16="http://schemas.microsoft.com/office/drawing/2014/main" id="{D97325DF-E779-4CB6-BA8B-8E0CBA6D8BA8}"/>
              </a:ext>
            </a:extLst>
          </p:cNvPr>
          <p:cNvSpPr>
            <a:spLocks xmlns:a="http://schemas.openxmlformats.org/drawingml/2006/main" noGrp="1"/>
          </p:cNvSpPr>
          <p:nvPr/>
        </p:nvSpPr>
        <p:spPr>
          <a:xfrm xmlns:a="http://schemas.openxmlformats.org/drawingml/2006/main">
            <a:off x="7953375" y="2209800"/>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87D82"/>
                </a:solidFill>
                <a:latin typeface="Arial"/>
                <a:ea typeface="Arial"/>
                <a:cs typeface="Arial"/>
              </a:defRPr>
            </a:defPPr>
          </a:lstStyle>
          <a:p xmlns:a="http://schemas.openxmlformats.org/drawingml/2006/main">
            <a:pPr>
              <a:defRPr sz="1725" b="1">
                <a:solidFill>
                  <a:srgbClr val="087D82"/>
                </a:solidFill>
                <a:latin typeface="Arial"/>
                <a:ea typeface="Arial"/>
                <a:cs typeface="Arial"/>
              </a:defRPr>
            </a:pPr>
            <a:r>
              <a:rPr sz="1725" b="1">
                <a:solidFill>
                  <a:srgbClr val="087D82"/>
                </a:solidFill>
                <a:latin typeface="Arial"/>
                <a:ea typeface="Arial"/>
                <a:cs typeface="Arial"/>
              </a:rPr>
              <a:t>DESIGN BOUNDARIES</a:t>
            </a:r>
          </a:p>
        </p:txBody>
      </p:sp>
      <p:sp>
        <p:nvSpPr>
          <p:cNvPr id="8" name="">
            <a:extLst xmlns:a="http://schemas.openxmlformats.org/drawingml/2006/main">
              <a:ext uri="{FF2B5EF4-FFF2-40B4-BE49-F238E27FC236}">
                <a16:creationId xmlns:a16="http://schemas.microsoft.com/office/drawing/2014/main" id="{E71EA0EB-A86C-47F0-B8BE-31A9FCDBE570}"/>
              </a:ext>
            </a:extLst>
          </p:cNvPr>
          <p:cNvSpPr>
            <a:spLocks xmlns:a="http://schemas.openxmlformats.org/drawingml/2006/main" noGrp="1"/>
          </p:cNvSpPr>
          <p:nvPr/>
        </p:nvSpPr>
        <p:spPr>
          <a:xfrm xmlns:a="http://schemas.openxmlformats.org/drawingml/2006/main">
            <a:off x="619125" y="280035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hlinkClick xmlns:r="http://schemas.openxmlformats.org/officeDocument/2006/relationships" r:id="Ra649292727064077"/>
              </a:rPr>
              <a:t>Retrieval-Augmented Generation, NeurIPS 2020</a:t>
            </a:r>
          </a:p>
        </p:txBody>
      </p:sp>
      <p:sp>
        <p:nvSpPr>
          <p:cNvPr id="9" name="">
            <a:extLst xmlns:a="http://schemas.openxmlformats.org/drawingml/2006/main">
              <a:ext uri="{FF2B5EF4-FFF2-40B4-BE49-F238E27FC236}">
                <a16:creationId xmlns:a16="http://schemas.microsoft.com/office/drawing/2014/main" id="{3222FF7A-6FC2-493D-B4F6-010EE930CF9A}"/>
              </a:ext>
            </a:extLst>
          </p:cNvPr>
          <p:cNvSpPr>
            <a:spLocks xmlns:a="http://schemas.openxmlformats.org/drawingml/2006/main" noGrp="1"/>
          </p:cNvSpPr>
          <p:nvPr/>
        </p:nvSpPr>
        <p:spPr>
          <a:xfrm xmlns:a="http://schemas.openxmlformats.org/drawingml/2006/main">
            <a:off x="619125" y="358140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hlinkClick xmlns:r="http://schemas.openxmlformats.org/officeDocument/2006/relationships" r:id="R5f89a1875e8d4b2d"/>
              </a:rPr>
              <a:t>GEO, KDD 2024</a:t>
            </a:r>
          </a:p>
        </p:txBody>
      </p:sp>
      <p:sp>
        <p:nvSpPr>
          <p:cNvPr id="10" name="">
            <a:extLst xmlns:a="http://schemas.openxmlformats.org/drawingml/2006/main">
              <a:ext uri="{FF2B5EF4-FFF2-40B4-BE49-F238E27FC236}">
                <a16:creationId xmlns:a16="http://schemas.microsoft.com/office/drawing/2014/main" id="{AF5F77C8-0EAA-4243-AACA-14FF5CA67031}"/>
              </a:ext>
            </a:extLst>
          </p:cNvPr>
          <p:cNvSpPr>
            <a:spLocks xmlns:a="http://schemas.openxmlformats.org/drawingml/2006/main" noGrp="1"/>
          </p:cNvSpPr>
          <p:nvPr/>
        </p:nvSpPr>
        <p:spPr>
          <a:xfrm xmlns:a="http://schemas.openxmlformats.org/drawingml/2006/main">
            <a:off x="619125" y="436245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hlinkClick xmlns:r="http://schemas.openxmlformats.org/officeDocument/2006/relationships" r:id="Rfc7a3a7cb85a493a"/>
              </a:rPr>
              <a:t>ALCE, EMNLP 2023</a:t>
            </a:r>
          </a:p>
        </p:txBody>
      </p:sp>
      <p:sp>
        <p:nvSpPr>
          <p:cNvPr id="11" name="">
            <a:extLst xmlns:a="http://schemas.openxmlformats.org/drawingml/2006/main">
              <a:ext uri="{FF2B5EF4-FFF2-40B4-BE49-F238E27FC236}">
                <a16:creationId xmlns:a16="http://schemas.microsoft.com/office/drawing/2014/main" id="{BF109B91-81B6-49FA-946F-A7878811CD07}"/>
              </a:ext>
            </a:extLst>
          </p:cNvPr>
          <p:cNvSpPr>
            <a:spLocks xmlns:a="http://schemas.openxmlformats.org/drawingml/2006/main" noGrp="1"/>
          </p:cNvSpPr>
          <p:nvPr/>
        </p:nvSpPr>
        <p:spPr>
          <a:xfrm xmlns:a="http://schemas.openxmlformats.org/drawingml/2006/main">
            <a:off x="619125" y="514350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87D82"/>
                </a:solidFill>
                <a:latin typeface="Arial"/>
                <a:ea typeface="Arial"/>
                <a:cs typeface="Arial"/>
              </a:defRPr>
            </a:defPPr>
          </a:lstStyle>
          <a:p xmlns:a="http://schemas.openxmlformats.org/drawingml/2006/main">
            <a:pPr>
              <a:defRPr sz="2100" b="1">
                <a:solidFill>
                  <a:srgbClr val="087D82"/>
                </a:solidFill>
                <a:latin typeface="Arial"/>
                <a:ea typeface="Arial"/>
                <a:cs typeface="Arial"/>
              </a:defRPr>
            </a:pPr>
            <a:r>
              <a:rPr sz="2100" b="1">
                <a:solidFill>
                  <a:srgbClr val="087D82"/>
                </a:solidFill>
                <a:latin typeface="Arial"/>
                <a:ea typeface="Arial"/>
                <a:cs typeface="Arial"/>
                <a:hlinkClick xmlns:r="http://schemas.openxmlformats.org/officeDocument/2006/relationships" r:id="R538e2511849349cd"/>
              </a:rPr>
              <a:t>Lost in the Middle, TACL 2024</a:t>
            </a:r>
          </a:p>
        </p:txBody>
      </p:sp>
      <p:sp>
        <p:nvSpPr>
          <p:cNvPr id="12" name="">
            <a:extLst xmlns:a="http://schemas.openxmlformats.org/drawingml/2006/main">
              <a:ext uri="{FF2B5EF4-FFF2-40B4-BE49-F238E27FC236}">
                <a16:creationId xmlns:a16="http://schemas.microsoft.com/office/drawing/2014/main" id="{260088FD-6A03-4684-9B17-EC9110E867BC}"/>
              </a:ext>
            </a:extLst>
          </p:cNvPr>
          <p:cNvSpPr>
            <a:spLocks xmlns:a="http://schemas.openxmlformats.org/drawingml/2006/main" noGrp="1"/>
          </p:cNvSpPr>
          <p:nvPr/>
        </p:nvSpPr>
        <p:spPr>
          <a:xfrm xmlns:a="http://schemas.openxmlformats.org/drawingml/2006/main">
            <a:off x="7953375" y="28003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42D3D"/>
                </a:solidFill>
                <a:latin typeface="Arial"/>
                <a:ea typeface="Arial"/>
                <a:cs typeface="Arial"/>
              </a:defRPr>
            </a:defPPr>
          </a:lstStyle>
          <a:p xmlns:a="http://schemas.openxmlformats.org/drawingml/2006/main">
            <a:pPr>
              <a:defRPr sz="2100" b="0">
                <a:solidFill>
                  <a:srgbClr val="142D3D"/>
                </a:solidFill>
                <a:latin typeface="Arial"/>
                <a:ea typeface="Arial"/>
                <a:cs typeface="Arial"/>
              </a:defRPr>
            </a:pPr>
            <a:r>
              <a:rPr sz="2100" b="0">
                <a:solidFill>
                  <a:srgbClr val="142D3D"/>
                </a:solidFill>
                <a:latin typeface="Arial"/>
                <a:ea typeface="Arial"/>
                <a:cs typeface="Arial"/>
              </a:rPr>
              <a:t>RAG-style workflow; no retriever training</a:t>
            </a:r>
          </a:p>
        </p:txBody>
      </p:sp>
      <p:sp>
        <p:nvSpPr>
          <p:cNvPr id="13" name="">
            <a:extLst xmlns:a="http://schemas.openxmlformats.org/drawingml/2006/main">
              <a:ext uri="{FF2B5EF4-FFF2-40B4-BE49-F238E27FC236}">
                <a16:creationId xmlns:a16="http://schemas.microsoft.com/office/drawing/2014/main" id="{EEF35B8E-B49F-4669-BB62-620ECE49E906}"/>
              </a:ext>
            </a:extLst>
          </p:cNvPr>
          <p:cNvSpPr>
            <a:spLocks xmlns:a="http://schemas.openxmlformats.org/drawingml/2006/main" noGrp="1"/>
          </p:cNvSpPr>
          <p:nvPr/>
        </p:nvSpPr>
        <p:spPr>
          <a:xfrm xmlns:a="http://schemas.openxmlformats.org/drawingml/2006/main">
            <a:off x="7953375" y="358140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42D3D"/>
                </a:solidFill>
                <a:latin typeface="Arial"/>
                <a:ea typeface="Arial"/>
                <a:cs typeface="Arial"/>
              </a:defRPr>
            </a:defPPr>
          </a:lstStyle>
          <a:p xmlns:a="http://schemas.openxmlformats.org/drawingml/2006/main">
            <a:pPr>
              <a:defRPr sz="2100" b="0">
                <a:solidFill>
                  <a:srgbClr val="142D3D"/>
                </a:solidFill>
                <a:latin typeface="Arial"/>
                <a:ea typeface="Arial"/>
                <a:cs typeface="Arial"/>
              </a:defRPr>
            </a:pPr>
            <a:r>
              <a:rPr sz="2100" b="0">
                <a:solidFill>
                  <a:srgbClr val="142D3D"/>
                </a:solidFill>
                <a:latin typeface="Arial"/>
                <a:ea typeface="Arial"/>
                <a:cs typeface="Arial"/>
              </a:rPr>
              <a:t>Source visibility; a different metric</a:t>
            </a:r>
          </a:p>
        </p:txBody>
      </p:sp>
      <p:sp>
        <p:nvSpPr>
          <p:cNvPr id="14" name="">
            <a:extLst xmlns:a="http://schemas.openxmlformats.org/drawingml/2006/main">
              <a:ext uri="{FF2B5EF4-FFF2-40B4-BE49-F238E27FC236}">
                <a16:creationId xmlns:a16="http://schemas.microsoft.com/office/drawing/2014/main" id="{B025F7DC-E4F3-4AFD-9846-BB126123D5D5}"/>
              </a:ext>
            </a:extLst>
          </p:cNvPr>
          <p:cNvSpPr>
            <a:spLocks xmlns:a="http://schemas.openxmlformats.org/drawingml/2006/main" noGrp="1"/>
          </p:cNvSpPr>
          <p:nvPr/>
        </p:nvSpPr>
        <p:spPr>
          <a:xfrm xmlns:a="http://schemas.openxmlformats.org/drawingml/2006/main">
            <a:off x="7953375" y="43624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42D3D"/>
                </a:solidFill>
                <a:latin typeface="Arial"/>
                <a:ea typeface="Arial"/>
                <a:cs typeface="Arial"/>
              </a:defRPr>
            </a:defPPr>
          </a:lstStyle>
          <a:p xmlns:a="http://schemas.openxmlformats.org/drawingml/2006/main">
            <a:pPr>
              <a:defRPr sz="2100" b="0">
                <a:solidFill>
                  <a:srgbClr val="142D3D"/>
                </a:solidFill>
                <a:latin typeface="Arial"/>
                <a:ea typeface="Arial"/>
                <a:cs typeface="Arial"/>
              </a:defRPr>
            </a:pPr>
            <a:r>
              <a:rPr sz="2100" b="0">
                <a:solidFill>
                  <a:srgbClr val="142D3D"/>
                </a:solidFill>
                <a:latin typeface="Arial"/>
                <a:ea typeface="Arial"/>
                <a:cs typeface="Arial"/>
              </a:rPr>
              <a:t>Citation presence is not claim support</a:t>
            </a:r>
          </a:p>
        </p:txBody>
      </p:sp>
      <p:sp>
        <p:nvSpPr>
          <p:cNvPr id="15" name="">
            <a:extLst xmlns:a="http://schemas.openxmlformats.org/drawingml/2006/main">
              <a:ext uri="{FF2B5EF4-FFF2-40B4-BE49-F238E27FC236}">
                <a16:creationId xmlns:a16="http://schemas.microsoft.com/office/drawing/2014/main" id="{D6482647-0C51-41A4-989B-3B126581CF9D}"/>
              </a:ext>
            </a:extLst>
          </p:cNvPr>
          <p:cNvSpPr>
            <a:spLocks xmlns:a="http://schemas.openxmlformats.org/drawingml/2006/main" noGrp="1"/>
          </p:cNvSpPr>
          <p:nvPr/>
        </p:nvSpPr>
        <p:spPr>
          <a:xfrm xmlns:a="http://schemas.openxmlformats.org/drawingml/2006/main">
            <a:off x="7953375" y="514350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42D3D"/>
                </a:solidFill>
                <a:latin typeface="Arial"/>
                <a:ea typeface="Arial"/>
                <a:cs typeface="Arial"/>
              </a:defRPr>
            </a:defPPr>
          </a:lstStyle>
          <a:p xmlns:a="http://schemas.openxmlformats.org/drawingml/2006/main">
            <a:pPr>
              <a:defRPr sz="2100" b="0">
                <a:solidFill>
                  <a:srgbClr val="142D3D"/>
                </a:solidFill>
                <a:latin typeface="Arial"/>
                <a:ea typeface="Arial"/>
                <a:cs typeface="Arial"/>
              </a:defRPr>
            </a:pPr>
            <a:r>
              <a:rPr sz="2100" b="0">
                <a:solidFill>
                  <a:srgbClr val="142D3D"/>
                </a:solidFill>
                <a:latin typeface="Arial"/>
                <a:ea typeface="Arial"/>
                <a:cs typeface="Arial"/>
              </a:rPr>
              <a:t>Context position is not search rank</a:t>
            </a:r>
          </a:p>
        </p:txBody>
      </p:sp>
      <p:sp>
        <p:nvSpPr>
          <p:cNvPr id="16" name="">
            <a:extLst xmlns:a="http://schemas.openxmlformats.org/drawingml/2006/main">
              <a:ext uri="{FF2B5EF4-FFF2-40B4-BE49-F238E27FC236}">
                <a16:creationId xmlns:a16="http://schemas.microsoft.com/office/drawing/2014/main" id="{543827A0-1B56-480B-B96E-B254AF4F2CF3}"/>
              </a:ext>
            </a:extLst>
          </p:cNvPr>
          <p:cNvSpPr>
            <a:spLocks xmlns:a="http://schemas.openxmlformats.org/drawingml/2006/main" noGrp="1"/>
          </p:cNvSpPr>
          <p:nvPr/>
        </p:nvSpPr>
        <p:spPr>
          <a:xfrm xmlns:a="http://schemas.openxmlformats.org/drawingml/2006/main">
            <a:off x="619125" y="6924675"/>
            <a:ext cx="1400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506574"/>
                </a:solidFill>
                <a:latin typeface="Arial"/>
                <a:ea typeface="Arial"/>
                <a:cs typeface="Arial"/>
              </a:defRPr>
            </a:defPPr>
          </a:lstStyle>
          <a:p xmlns:a="http://schemas.openxmlformats.org/drawingml/2006/main">
            <a:pPr>
              <a:defRPr sz="1950" b="0">
                <a:solidFill>
                  <a:srgbClr val="506574"/>
                </a:solidFill>
                <a:latin typeface="Arial"/>
                <a:ea typeface="Arial"/>
                <a:cs typeface="Arial"/>
              </a:defRPr>
            </a:pPr>
            <a:r>
              <a:rPr sz="1950" b="0">
                <a:solidFill>
                  <a:srgbClr val="506574"/>
                </a:solidFill>
                <a:latin typeface="Arial"/>
                <a:ea typeface="Arial"/>
                <a:cs typeface="Arial"/>
              </a:rPr>
              <a:t>Clickable paper titles. Experimental claims are supported by the bundled saved records.</a:t>
            </a:r>
          </a:p>
        </p:txBody>
      </p:sp>
    </p:spTree>
    <p:extLst>
      <p:ext uri="{BB962C8B-B14F-4D97-AF65-F5344CB8AC3E}">
        <p14:creationId xmlns:p14="http://schemas.microsoft.com/office/powerpoint/2010/main" val="14224233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2026-10-18T11:46:48.4360000Z</dcterms:created>
  <dcterms:modified xsi:type="dcterms:W3CDTF">2026-10-18T11:46:48.4370000Z</dcterms:modified>
</coreProperties>
</file>