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7de865a84da4c2f" /><Relationship Type="http://schemas.openxmlformats.org/officeDocument/2006/relationships/extended-properties" Target="/docProps/app.xml" Id="R28a61da1d8bc4fdb" /><Relationship Type="http://schemas.openxmlformats.org/officeDocument/2006/relationships/officeDocument" Target="/ppt/presentation.xml" Id="R8589a68cab054c80" /></Relationships>
</file>

<file path=ppt/presentation.xml><?xml version="1.0" encoding="utf-8"?>
<p:presentation xmlns:p="http://schemas.openxmlformats.org/presentationml/2006/main">
  <p:sldMasterIdLst>
    <p:sldMasterId xmlns:r="http://schemas.openxmlformats.org/officeDocument/2006/relationships" id="2147483648" r:id="R43a94b5d9117403d"/>
  </p:sldMasterIdLst>
  <p:notesMasterIdLst>
    <p:notesMasterId xmlns:r="http://schemas.openxmlformats.org/officeDocument/2006/relationships" r:id="Rf3a366ab2493433b"/>
  </p:notesMasterIdLst>
  <p:sldIdLst>
    <p:sldId xmlns:r="http://schemas.openxmlformats.org/officeDocument/2006/relationships" id="256" r:id="R9c522a151c7549ab"/>
    <p:sldId xmlns:r="http://schemas.openxmlformats.org/officeDocument/2006/relationships" id="257" r:id="R7578b95fff14438d"/>
    <p:sldId xmlns:r="http://schemas.openxmlformats.org/officeDocument/2006/relationships" id="258" r:id="R30a3ed903c6d414a"/>
    <p:sldId xmlns:r="http://schemas.openxmlformats.org/officeDocument/2006/relationships" id="259" r:id="R3232502e9b654ab9"/>
    <p:sldId xmlns:r="http://schemas.openxmlformats.org/officeDocument/2006/relationships" id="260" r:id="Rf6e94e7992e74933"/>
    <p:sldId xmlns:r="http://schemas.openxmlformats.org/officeDocument/2006/relationships" id="261" r:id="Rbcb0930581574903"/>
    <p:sldId xmlns:r="http://schemas.openxmlformats.org/officeDocument/2006/relationships" id="262" r:id="R4b57decf964c4e41"/>
    <p:sldId xmlns:r="http://schemas.openxmlformats.org/officeDocument/2006/relationships" id="263" r:id="Rf70f6e6e69804545"/>
    <p:sldId xmlns:r="http://schemas.openxmlformats.org/officeDocument/2006/relationships" id="264" r:id="Re7964af40a204419"/>
    <p:sldId xmlns:r="http://schemas.openxmlformats.org/officeDocument/2006/relationships" id="265" r:id="R3976f17347b4419c"/>
    <p:sldId xmlns:r="http://schemas.openxmlformats.org/officeDocument/2006/relationships" id="266" r:id="R4052cc1248014457"/>
    <p:sldId xmlns:r="http://schemas.openxmlformats.org/officeDocument/2006/relationships" id="267" r:id="Ree97cf3415ef4fde"/>
    <p:sldId xmlns:r="http://schemas.openxmlformats.org/officeDocument/2006/relationships" id="268" r:id="R593a34f664dd40d7"/>
    <p:sldId xmlns:r="http://schemas.openxmlformats.org/officeDocument/2006/relationships" id="269" r:id="R6139e6bab1984490"/>
    <p:sldId xmlns:r="http://schemas.openxmlformats.org/officeDocument/2006/relationships" id="270" r:id="R329539fc7c6c4fd1"/>
    <p:sldId xmlns:r="http://schemas.openxmlformats.org/officeDocument/2006/relationships" id="271" r:id="R2719ce4c11404451"/>
    <p:sldId xmlns:r="http://schemas.openxmlformats.org/officeDocument/2006/relationships" id="272" r:id="R06ca8944d9fe41a1"/>
    <p:sldId xmlns:r="http://schemas.openxmlformats.org/officeDocument/2006/relationships" id="273" r:id="R5fbd6274320148c4"/>
    <p:sldId xmlns:r="http://schemas.openxmlformats.org/officeDocument/2006/relationships" id="274" r:id="Rafd0eec38c634375"/>
    <p:sldId xmlns:r="http://schemas.openxmlformats.org/officeDocument/2006/relationships" id="275" r:id="Rbe47200025734c54"/>
    <p:sldId xmlns:r="http://schemas.openxmlformats.org/officeDocument/2006/relationships" id="276" r:id="Rea63bbdedf8a439c"/>
    <p:sldId xmlns:r="http://schemas.openxmlformats.org/officeDocument/2006/relationships" id="277" r:id="R9ea7245b386146cc"/>
    <p:sldId xmlns:r="http://schemas.openxmlformats.org/officeDocument/2006/relationships" id="278" r:id="R2c7409a534a74114"/>
    <p:sldId xmlns:r="http://schemas.openxmlformats.org/officeDocument/2006/relationships" id="279" r:id="Rc93899b6753647a8"/>
    <p:sldId xmlns:r="http://schemas.openxmlformats.org/officeDocument/2006/relationships" id="280" r:id="Rdc5d56889c984cf5"/>
    <p:sldId xmlns:r="http://schemas.openxmlformats.org/officeDocument/2006/relationships" id="281" r:id="Raba25305120640cb"/>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ff48b41d72c4669" /><Relationship Type="http://schemas.openxmlformats.org/officeDocument/2006/relationships/slideMaster" Target="/ppt/slideMasters/slideMaster1.xml" Id="R43a94b5d9117403d" /><Relationship Type="http://schemas.openxmlformats.org/officeDocument/2006/relationships/notesMaster" Target="/ppt/notesMasters/notesMaster1.xml" Id="Rf3a366ab2493433b" /><Relationship Type="http://schemas.openxmlformats.org/officeDocument/2006/relationships/presProps" Target="/ppt/presProps.xml" Id="Rd2b38b7d2925414c" /><Relationship Type="http://schemas.openxmlformats.org/officeDocument/2006/relationships/tableStyles" Target="/ppt/tableStyles.xml" Id="Rcaff543dc7c94cf9" /><Relationship Type="http://schemas.openxmlformats.org/officeDocument/2006/relationships/slide" Target="/ppt/slides/slide1.xml" Id="R9c522a151c7549ab" /><Relationship Type="http://schemas.openxmlformats.org/officeDocument/2006/relationships/slide" Target="/ppt/slides/slide2.xml" Id="R7578b95fff14438d" /><Relationship Type="http://schemas.openxmlformats.org/officeDocument/2006/relationships/slide" Target="/ppt/slides/slide3.xml" Id="R30a3ed903c6d414a" /><Relationship Type="http://schemas.openxmlformats.org/officeDocument/2006/relationships/slide" Target="/ppt/slides/slide4.xml" Id="R3232502e9b654ab9" /><Relationship Type="http://schemas.openxmlformats.org/officeDocument/2006/relationships/slide" Target="/ppt/slides/slide5.xml" Id="Rf6e94e7992e74933" /><Relationship Type="http://schemas.openxmlformats.org/officeDocument/2006/relationships/slide" Target="/ppt/slides/slide6.xml" Id="Rbcb0930581574903" /><Relationship Type="http://schemas.openxmlformats.org/officeDocument/2006/relationships/slide" Target="/ppt/slides/slide7.xml" Id="R4b57decf964c4e41" /><Relationship Type="http://schemas.openxmlformats.org/officeDocument/2006/relationships/slide" Target="/ppt/slides/slide8.xml" Id="Rf70f6e6e69804545" /><Relationship Type="http://schemas.openxmlformats.org/officeDocument/2006/relationships/slide" Target="/ppt/slides/slide9.xml" Id="Re7964af40a204419" /><Relationship Type="http://schemas.openxmlformats.org/officeDocument/2006/relationships/slide" Target="/ppt/slides/slide10.xml" Id="R3976f17347b4419c" /><Relationship Type="http://schemas.openxmlformats.org/officeDocument/2006/relationships/slide" Target="/ppt/slides/slide11.xml" Id="R4052cc1248014457" /><Relationship Type="http://schemas.openxmlformats.org/officeDocument/2006/relationships/slide" Target="/ppt/slides/slide12.xml" Id="Ree97cf3415ef4fde" /><Relationship Type="http://schemas.openxmlformats.org/officeDocument/2006/relationships/slide" Target="/ppt/slides/slide13.xml" Id="R593a34f664dd40d7" /><Relationship Type="http://schemas.openxmlformats.org/officeDocument/2006/relationships/slide" Target="/ppt/slides/slide14.xml" Id="R6139e6bab1984490" /><Relationship Type="http://schemas.openxmlformats.org/officeDocument/2006/relationships/slide" Target="/ppt/slides/slide15.xml" Id="R329539fc7c6c4fd1" /><Relationship Type="http://schemas.openxmlformats.org/officeDocument/2006/relationships/slide" Target="/ppt/slides/slide16.xml" Id="R2719ce4c11404451" /><Relationship Type="http://schemas.openxmlformats.org/officeDocument/2006/relationships/slide" Target="/ppt/slides/slide17.xml" Id="R06ca8944d9fe41a1" /><Relationship Type="http://schemas.openxmlformats.org/officeDocument/2006/relationships/slide" Target="/ppt/slides/slide18.xml" Id="R5fbd6274320148c4" /><Relationship Type="http://schemas.openxmlformats.org/officeDocument/2006/relationships/slide" Target="/ppt/slides/slide19.xml" Id="Rafd0eec38c634375" /><Relationship Type="http://schemas.openxmlformats.org/officeDocument/2006/relationships/slide" Target="/ppt/slides/slide20.xml" Id="Rbe47200025734c54" /><Relationship Type="http://schemas.openxmlformats.org/officeDocument/2006/relationships/slide" Target="/ppt/slides/slide21.xml" Id="Rea63bbdedf8a439c" /><Relationship Type="http://schemas.openxmlformats.org/officeDocument/2006/relationships/slide" Target="/ppt/slides/slide22.xml" Id="R9ea7245b386146cc" /><Relationship Type="http://schemas.openxmlformats.org/officeDocument/2006/relationships/slide" Target="/ppt/slides/slide23.xml" Id="R2c7409a534a74114" /><Relationship Type="http://schemas.openxmlformats.org/officeDocument/2006/relationships/slide" Target="/ppt/slides/slide24.xml" Id="Rc93899b6753647a8" /><Relationship Type="http://schemas.openxmlformats.org/officeDocument/2006/relationships/slide" Target="/ppt/slides/slide25.xml" Id="Rdc5d56889c984cf5" /><Relationship Type="http://schemas.openxmlformats.org/officeDocument/2006/relationships/slide" Target="/ppt/slides/slide26.xml" Id="Raba25305120640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1a246ff3b3248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7dfcc7f8cb48aa" /><Relationship Type="http://schemas.openxmlformats.org/officeDocument/2006/relationships/notesMaster" Target="/ppt/notesMasters/notesMaster1.xml" Id="Rca21b799685c4903" /></Relationships>
</file>

<file path=ppt/notesSlides/_rels/notesSlide2.xml.rels>&#65279;<?xml version="1.0" encoding="utf-8"?><Relationships xmlns="http://schemas.openxmlformats.org/package/2006/relationships"><Relationship Type="http://schemas.openxmlformats.org/officeDocument/2006/relationships/slide" Target="/ppt/slides/slide2.xml" Id="R8936a34511274b8d" /><Relationship Type="http://schemas.openxmlformats.org/officeDocument/2006/relationships/notesMaster" Target="/ppt/notesMasters/notesMaster1.xml" Id="R6b484450c54b4d08"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d8a01ca02f4425" /><Relationship Type="http://schemas.openxmlformats.org/officeDocument/2006/relationships/notesMaster" Target="/ppt/notesMasters/notesMaster1.xml" Id="R3dd032c0d5c24f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049f59ea2874ee0" /><Relationship Type="http://schemas.openxmlformats.org/officeDocument/2006/relationships/notesMaster" Target="/ppt/notesMasters/notesMaster1.xml" Id="R75534d79f17b4c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584835e868c456c" /><Relationship Type="http://schemas.openxmlformats.org/officeDocument/2006/relationships/notesMaster" Target="/ppt/notesMasters/notesMaster1.xml" Id="Rdf267225f84941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a5e41a7e864ba4" /><Relationship Type="http://schemas.openxmlformats.org/officeDocument/2006/relationships/notesMaster" Target="/ppt/notesMasters/notesMaster1.xml" Id="R6b0399d7513f4912"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31e7507c924d97" /><Relationship Type="http://schemas.openxmlformats.org/officeDocument/2006/relationships/notesMaster" Target="/ppt/notesMasters/notesMaster1.xml" Id="Rcbba9c91098c44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e49c1f0dc110444f" /><Relationship Type="http://schemas.openxmlformats.org/officeDocument/2006/relationships/notesMaster" Target="/ppt/notesMasters/notesMaster1.xml" Id="Rc1e7eaea661644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81e81ead93740c4" /><Relationship Type="http://schemas.openxmlformats.org/officeDocument/2006/relationships/notesMaster" Target="/ppt/notesMasters/notesMaster1.xml" Id="R72f3f798c1aa4f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2ff7d98973f4458" /><Relationship Type="http://schemas.openxmlformats.org/officeDocument/2006/relationships/notesMaster" Target="/ppt/notesMasters/notesMaster1.xml" Id="Rd54f484859d94df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73667594ef24f75" /><Relationship Type="http://schemas.openxmlformats.org/officeDocument/2006/relationships/notesMaster" Target="/ppt/notesMasters/notesMaster1.xml" Id="R4a850766cc8c4b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3d5ae60e5b4347" /><Relationship Type="http://schemas.openxmlformats.org/officeDocument/2006/relationships/notesMaster" Target="/ppt/notesMasters/notesMaster1.xml" Id="Ra01516838b2246e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ca88451ae434ffc" /><Relationship Type="http://schemas.openxmlformats.org/officeDocument/2006/relationships/notesMaster" Target="/ppt/notesMasters/notesMaster1.xml" Id="R13037ca614dd444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ee4922103144278" /><Relationship Type="http://schemas.openxmlformats.org/officeDocument/2006/relationships/notesMaster" Target="/ppt/notesMasters/notesMaster1.xml" Id="R6c3ae2b6c3414e1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a9150324754af3" /><Relationship Type="http://schemas.openxmlformats.org/officeDocument/2006/relationships/notesMaster" Target="/ppt/notesMasters/notesMaster1.xml" Id="R1aa7972eb5c345e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6beecbb8dd749fd" /><Relationship Type="http://schemas.openxmlformats.org/officeDocument/2006/relationships/notesMaster" Target="/ppt/notesMasters/notesMaster1.xml" Id="Re322ec5703c6468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9dbe2ed0a04428b" /><Relationship Type="http://schemas.openxmlformats.org/officeDocument/2006/relationships/notesMaster" Target="/ppt/notesMasters/notesMaster1.xml" Id="R497436a344a443c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503b402512642f3" /><Relationship Type="http://schemas.openxmlformats.org/officeDocument/2006/relationships/notesMaster" Target="/ppt/notesMasters/notesMaster1.xml" Id="R061765ecb8a64b5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71aa4be3ccf4e48" /><Relationship Type="http://schemas.openxmlformats.org/officeDocument/2006/relationships/notesMaster" Target="/ppt/notesMasters/notesMaster1.xml" Id="R4e44842ea42f4a1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794ecd201eb460a" /><Relationship Type="http://schemas.openxmlformats.org/officeDocument/2006/relationships/notesMaster" Target="/ppt/notesMasters/notesMaster1.xml" Id="Ra140252c9fc84d8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20ee763b8ca463f" /><Relationship Type="http://schemas.openxmlformats.org/officeDocument/2006/relationships/notesMaster" Target="/ppt/notesMasters/notesMaster1.xml" Id="R771044f5c33b4ec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169977eb6d44bd5" /><Relationship Type="http://schemas.openxmlformats.org/officeDocument/2006/relationships/notesMaster" Target="/ppt/notesMasters/notesMaster1.xml" Id="R7b6f0829705b475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2402b93d69d4093" /><Relationship Type="http://schemas.openxmlformats.org/officeDocument/2006/relationships/notesMaster" Target="/ppt/notesMasters/notesMaster1.xml" Id="R47c80124e6a74cad"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7d524bbcb614279" /><Relationship Type="http://schemas.openxmlformats.org/officeDocument/2006/relationships/notesMaster" Target="/ppt/notesMasters/notesMaster1.xml" Id="Rd078db1fc7e4444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7135cb1854846d0" /><Relationship Type="http://schemas.openxmlformats.org/officeDocument/2006/relationships/notesMaster" Target="/ppt/notesMasters/notesMaster1.xml" Id="R1415e7a25888489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eabc81bb1474ac2" /><Relationship Type="http://schemas.openxmlformats.org/officeDocument/2006/relationships/notesMaster" Target="/ppt/notesMasters/notesMaster1.xml" Id="R7d4cf73351e745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We are presenting our Semester Two work for Flight Centre Travel Group. Each member will briefly introduce themselves as their section begins. Flight Centre wanted to understand how its travel products could become more visible and relevant in AI-assisted shopping. We built and tested a page-improvement prototype. Our main question is simple: when an AI already has Flight Centre information alongside competitors, does a clearer page make it more likely to cite Flight Centre? We will show the system, the page changes, a saved demonstration and the results. The talk is twenty minutes, followed by five minutes for questions.</a:t>
            </a:r>
          </a:p>
          <a:p xmlns:a="http://schemas.openxmlformats.org/drawingml/2006/main">
            <a:r>
              <a:t/>
            </a:r>
          </a:p>
          <a:p xmlns:a="http://schemas.openxmlformats.org/drawingml/2006/main">
            <a:r>
              <a:t>WHAT TO POINT TO</a:t>
            </a:r>
          </a:p>
          <a:p xmlns:a="http://schemas.openxmlformats.org/drawingml/2006/main">
            <a:r>
              <a:t>Point to the highlighted evidence and explain its meaning.</a:t>
            </a:r>
          </a:p>
          <a:p xmlns:a="http://schemas.openxmlformats.org/drawingml/2006/main">
            <a:r>
              <a:t/>
            </a:r>
          </a:p>
          <a:p xmlns:a="http://schemas.openxmlformats.org/drawingml/2006/main">
            <a:r>
              <a:t>TRANSITION</a:t>
            </a:r>
          </a:p>
          <a:p xmlns:a="http://schemas.openxmlformats.org/drawingml/2006/main">
            <a:r>
              <a:t>Next: What we measured.</a:t>
            </a:r>
          </a:p>
          <a:p xmlns:a="http://schemas.openxmlformats.org/drawingml/2006/main">
            <a:r>
              <a:t/>
            </a:r>
          </a:p>
          <a:p xmlns:a="http://schemas.openxmlformats.org/drawingml/2006/main">
            <a:r>
              <a:t>SOURCES / LIMITS</a:t>
            </a:r>
          </a:p>
          <a:p xmlns:a="http://schemas.openxmlformats.org/drawingml/2006/main">
            <a:r>
              <a:t>Claim–evidence ledger: C01, C19, C22. See 02_documentation/Claim_Evidence_Ledger.html for exact records, checks and limits. Assessment 5 guide: introduction, client expectations and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Imagine an answer that gives travel information and places a small source number next to it. If that number points to a Flight Centre page, we count the answer as citing Flight Centre. We count the answer once, even if it includes several Flight Centre references. This is one part of the larger customer journey. Finding a page, citing it, recommending the business and making a booking are different outcomes. This semester’s main result concerns the citation step. It gives evidence about being used as an information source, not proof of increased sales.</a:t>
            </a:r>
          </a:p>
          <a:p xmlns:a="http://schemas.openxmlformats.org/drawingml/2006/main">
            <a:r>
              <a:t/>
            </a:r>
          </a:p>
          <a:p xmlns:a="http://schemas.openxmlformats.org/drawingml/2006/main">
            <a:r>
              <a:t>WHAT TO POINT TO</a:t>
            </a:r>
          </a:p>
          <a:p xmlns:a="http://schemas.openxmlformats.org/drawingml/2006/main">
            <a:r>
              <a:t>Follow the visual from left to right; explain the highlighted finding before the detail.</a:t>
            </a:r>
          </a:p>
          <a:p xmlns:a="http://schemas.openxmlformats.org/drawingml/2006/main">
            <a:r>
              <a:t/>
            </a:r>
          </a:p>
          <a:p xmlns:a="http://schemas.openxmlformats.org/drawingml/2006/main">
            <a:r>
              <a:t>TRANSITION</a:t>
            </a:r>
          </a:p>
          <a:p xmlns:a="http://schemas.openxmlformats.org/drawingml/2006/main">
            <a:r>
              <a:t>Next: How our system works.</a:t>
            </a:r>
          </a:p>
          <a:p xmlns:a="http://schemas.openxmlformats.org/drawingml/2006/main">
            <a:r>
              <a:t/>
            </a:r>
          </a:p>
          <a:p xmlns:a="http://schemas.openxmlformats.org/drawingml/2006/main">
            <a:r>
              <a:t>SOURCES / LIMITS</a:t>
            </a:r>
          </a:p>
          <a:p xmlns:a="http://schemas.openxmlformats.org/drawingml/2006/main">
            <a:r>
              <a:t>Claim–evidence ledger: C01, C20. See 02_documentation/Claim_Evidence_Ledger.html for exact records, checks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Think of our system as giving the AI a reading pack. First, our search code finds travel pages. We save copies so we know which information was used. Then the system prepares a question and numbered page text for the AI. The model receives that information through an API and writes an answer with source references. Our checker reads those references and identifies whether Flight Centre was cited. This is often called retrieval-augmented generation, or RAG: supplying information to help a model answer. We did not train a new model. During the main answer test, the AI did not browse the live web or choose new pages outside the supplied pack.</a:t>
            </a:r>
          </a:p>
          <a:p xmlns:a="http://schemas.openxmlformats.org/drawingml/2006/main">
            <a:r>
              <a:t/>
            </a:r>
          </a:p>
          <a:p xmlns:a="http://schemas.openxmlformats.org/drawingml/2006/main">
            <a:r>
              <a:t>WHAT TO POINT TO</a:t>
            </a:r>
          </a:p>
          <a:p xmlns:a="http://schemas.openxmlformats.org/drawingml/2006/main">
            <a:r>
              <a:t>Follow the visual from left to right; explain the highlighted finding before the detail.</a:t>
            </a:r>
          </a:p>
          <a:p xmlns:a="http://schemas.openxmlformats.org/drawingml/2006/main">
            <a:r>
              <a:t/>
            </a:r>
          </a:p>
          <a:p xmlns:a="http://schemas.openxmlformats.org/drawingml/2006/main">
            <a:r>
              <a:t>TRANSITION</a:t>
            </a:r>
          </a:p>
          <a:p xmlns:a="http://schemas.openxmlformats.org/drawingml/2006/main">
            <a:r>
              <a:t>Next: A fair before-and-after comparison.</a:t>
            </a:r>
          </a:p>
          <a:p xmlns:a="http://schemas.openxmlformats.org/drawingml/2006/main">
            <a:r>
              <a:t/>
            </a:r>
          </a:p>
          <a:p xmlns:a="http://schemas.openxmlformats.org/drawingml/2006/main">
            <a:r>
              <a:t>SOURCES / LIMITS</a:t>
            </a:r>
          </a:p>
          <a:p xmlns:a="http://schemas.openxmlformats.org/drawingml/2006/main">
            <a:r>
              <a:t>Claim–evidence ledger: C03, C09. See 02_documentation/Claim_Evidence_Ledger.html for exact records, checks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The diagram shows two reading packs. One contains the baseline Flight Centre page and the other its improved representation. We match the question, source identities, source order, competitor text and instruction. We do not require the AI to cite Flight Centre. Twenty-nine questions had a Flight Centre page in the selected source pool, so those were eligible for this comparison. Repeated answers help us see whether the result varies. Our baseline answers were generated earlier; they were not generated at the same time as the treatment. That is a limitation, because changes over time could also affect results. We kept the original records so this comparison can be checked.</a:t>
            </a:r>
          </a:p>
          <a:p xmlns:a="http://schemas.openxmlformats.org/drawingml/2006/main">
            <a:r>
              <a:t/>
            </a:r>
          </a:p>
          <a:p xmlns:a="http://schemas.openxmlformats.org/drawingml/2006/main">
            <a:r>
              <a:t>WHAT TO POINT TO</a:t>
            </a:r>
          </a:p>
          <a:p xmlns:a="http://schemas.openxmlformats.org/drawingml/2006/main">
            <a:r>
              <a:t>Point to the highlighted evidence and explain its meaning.</a:t>
            </a:r>
          </a:p>
          <a:p xmlns:a="http://schemas.openxmlformats.org/drawingml/2006/main">
            <a:r>
              <a:t/>
            </a:r>
          </a:p>
          <a:p xmlns:a="http://schemas.openxmlformats.org/drawingml/2006/main">
            <a:r>
              <a:t>TRANSITION</a:t>
            </a:r>
          </a:p>
          <a:p xmlns:a="http://schemas.openxmlformats.org/drawingml/2006/main">
            <a:r>
              <a:t>Next: What we tried separately.</a:t>
            </a:r>
          </a:p>
          <a:p xmlns:a="http://schemas.openxmlformats.org/drawingml/2006/main">
            <a:r>
              <a:t/>
            </a:r>
          </a:p>
          <a:p xmlns:a="http://schemas.openxmlformats.org/drawingml/2006/main">
            <a:r>
              <a:t>SOURCES / LIMITS</a:t>
            </a:r>
          </a:p>
          <a:p xmlns:a="http://schemas.openxmlformats.org/drawingml/2006/main">
            <a:r>
              <a:t>Claim–evidence ledger: C02, C03, C09, C10. See 02_documentation/Claim_Evidence_Ledger.html for exact records, checks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We explored six approaches before choosing a combined page. Rendering and cleanup expose useful captured information and make it readable. Questions and answers keep related information together. Structured facts organise existing details. External information adds attributed material from outside the page. Schema adds labels intended for software. Automatic rewriting changes the wording more broadly. The tests did not all produce clear gains. Questions and organised facts were encouraging. Rendering and external information had more uncertainty. The schema experiment also changed visible text, so we cannot isolate schema’s effect. The reviewed automatic rewrite performed worse. Exact numbers and intervals remain in the evidence package; this slide summarises what we learned.</a:t>
            </a:r>
          </a:p>
          <a:p xmlns:a="http://schemas.openxmlformats.org/drawingml/2006/main">
            <a:r>
              <a:t/>
            </a:r>
          </a:p>
          <a:p xmlns:a="http://schemas.openxmlformats.org/drawingml/2006/main">
            <a:r>
              <a:t>WHAT TO POINT TO</a:t>
            </a:r>
          </a:p>
          <a:p xmlns:a="http://schemas.openxmlformats.org/drawingml/2006/main">
            <a:r>
              <a:t>Point to the highlighted evidence and explain its meaning.</a:t>
            </a:r>
          </a:p>
          <a:p xmlns:a="http://schemas.openxmlformats.org/drawingml/2006/main">
            <a:r>
              <a:t/>
            </a:r>
          </a:p>
          <a:p xmlns:a="http://schemas.openxmlformats.org/drawingml/2006/main">
            <a:r>
              <a:t>TRANSITION</a:t>
            </a:r>
          </a:p>
          <a:p xmlns:a="http://schemas.openxmlformats.org/drawingml/2006/main">
            <a:r>
              <a:t>Next: What we combined.</a:t>
            </a:r>
          </a:p>
          <a:p xmlns:a="http://schemas.openxmlformats.org/drawingml/2006/main">
            <a:r>
              <a:t/>
            </a:r>
          </a:p>
          <a:p xmlns:a="http://schemas.openxmlformats.org/drawingml/2006/main">
            <a:r>
              <a:t>SOURCES / LIMITS</a:t>
            </a:r>
          </a:p>
          <a:p xmlns:a="http://schemas.openxmlformats.org/drawingml/2006/main">
            <a:r>
              <a:t>Claim–evidence ledger: C13, C14, C15, C16. See 02_documentation/Claim_Evidence_Ledger.html for exact records, checks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The final page combines a smaller set of compatible changes. We expose captured rendered information, clean up its text, organise supported travel information, and preserve useful question-and-answer relationships. We did not combine every experiment. Added external enrichment, added schema, broad rewriting and moving the whole source to the front stayed separate. Selecting components is a design decision informed by evidence. It does not prove that each component caused a particular share of the final gain. The combined page therefore needed its own test. We can inspect the output and trace it back to the implementation.</a:t>
            </a:r>
          </a:p>
          <a:p xmlns:a="http://schemas.openxmlformats.org/drawingml/2006/main">
            <a:r>
              <a:t/>
            </a:r>
          </a:p>
          <a:p xmlns:a="http://schemas.openxmlformats.org/drawingml/2006/main">
            <a:r>
              <a:t>WHAT TO POINT TO</a:t>
            </a:r>
          </a:p>
          <a:p xmlns:a="http://schemas.openxmlformats.org/drawingml/2006/main">
            <a:r>
              <a:t>Follow the visual from left to right; explain the highlighted finding before the detail.</a:t>
            </a:r>
          </a:p>
          <a:p xmlns:a="http://schemas.openxmlformats.org/drawingml/2006/main">
            <a:r>
              <a:t/>
            </a:r>
          </a:p>
          <a:p xmlns:a="http://schemas.openxmlformats.org/drawingml/2006/main">
            <a:r>
              <a:t>TRANSITION</a:t>
            </a:r>
          </a:p>
          <a:p xmlns:a="http://schemas.openxmlformats.org/drawingml/2006/main">
            <a:r>
              <a:t>Next: How a page becomes an AI input.</a:t>
            </a:r>
          </a:p>
          <a:p xmlns:a="http://schemas.openxmlformats.org/drawingml/2006/main">
            <a:r>
              <a:t/>
            </a:r>
          </a:p>
          <a:p xmlns:a="http://schemas.openxmlformats.org/drawingml/2006/main">
            <a:r>
              <a:t>SOURCES / LIMITS</a:t>
            </a:r>
          </a:p>
          <a:p xmlns:a="http://schemas.openxmlformats.org/drawingml/2006/main">
            <a:r>
              <a:t>Claim–evidence ledger: C13, C14, C15, C16. See 02_documentation/Claim_Evidence_Ledger.html for exact records, checks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Our implementation has several connected parts. The page-processing code starts from saved content, applies the selected improvements and produces a page output. The cleaner extracts readable text. The experiment code places that text into the same numbered source position used for the baseline. The API sends it with the question and common instruction. We save the resulting answer and its source list together. This matters because a page may look complete in a browser but lose useful information during extraction. Our output checks examine the actual text sent to the model. Detailed file names and the saved model settings are available in the backup material.</a:t>
            </a:r>
          </a:p>
          <a:p xmlns:a="http://schemas.openxmlformats.org/drawingml/2006/main">
            <a:r>
              <a:t/>
            </a:r>
          </a:p>
          <a:p xmlns:a="http://schemas.openxmlformats.org/drawingml/2006/main">
            <a:r>
              <a:t>WHAT TO POINT TO</a:t>
            </a:r>
          </a:p>
          <a:p xmlns:a="http://schemas.openxmlformats.org/drawingml/2006/main">
            <a:r>
              <a:t>Follow the visual from left to right; explain the highlighted finding before the detail.</a:t>
            </a:r>
          </a:p>
          <a:p xmlns:a="http://schemas.openxmlformats.org/drawingml/2006/main">
            <a:r>
              <a:t/>
            </a:r>
          </a:p>
          <a:p xmlns:a="http://schemas.openxmlformats.org/drawingml/2006/main">
            <a:r>
              <a:t>TRANSITION</a:t>
            </a:r>
          </a:p>
          <a:p xmlns:a="http://schemas.openxmlformats.org/drawingml/2006/main">
            <a:r>
              <a:t>Next: Example: clearer offer information.</a:t>
            </a:r>
          </a:p>
          <a:p xmlns:a="http://schemas.openxmlformats.org/drawingml/2006/main">
            <a:r>
              <a:t/>
            </a:r>
          </a:p>
          <a:p xmlns:a="http://schemas.openxmlformats.org/drawingml/2006/main">
            <a:r>
              <a:t>SOURCES / LIMITS</a:t>
            </a:r>
          </a:p>
          <a:p xmlns:a="http://schemas.openxmlformats.org/drawingml/2006/main">
            <a:r>
              <a:t>Claim–evidence ledger: C11, C12. See 02_documentation/Claim_Evidence_Ledger.html for exact records, checks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This is an archived Melbourne-to-London example. On the baseline side, the opening mainly shows headline information. The captured rendered offer provides product context, including the airline, trip type, dates and fare. Point to these fields rather than simply reading the prices. The improvement we intended was making useful product information available in readable form. There is an important boundary: the headline and offer card came from different captured product contexts, and their fares differ. We did not demonstrate a lower price. These differences may explain part of the result, so we cannot call this a pure formatting experiment. The selected results belong to these saved pages, not the separate price-matched version.</a:t>
            </a:r>
          </a:p>
          <a:p xmlns:a="http://schemas.openxmlformats.org/drawingml/2006/main">
            <a:r>
              <a:t/>
            </a:r>
          </a:p>
          <a:p xmlns:a="http://schemas.openxmlformats.org/drawingml/2006/main">
            <a:r>
              <a:t>WHAT TO POINT TO</a:t>
            </a:r>
          </a:p>
          <a:p xmlns:a="http://schemas.openxmlformats.org/drawingml/2006/main">
            <a:r>
              <a:t>Follow the visual from left to right; explain the highlighted finding before the detail.</a:t>
            </a:r>
          </a:p>
          <a:p xmlns:a="http://schemas.openxmlformats.org/drawingml/2006/main">
            <a:r>
              <a:t/>
            </a:r>
          </a:p>
          <a:p xmlns:a="http://schemas.openxmlformats.org/drawingml/2006/main">
            <a:r>
              <a:t>TRANSITION</a:t>
            </a:r>
          </a:p>
          <a:p xmlns:a="http://schemas.openxmlformats.org/drawingml/2006/main">
            <a:r>
              <a:t>Next: Example: keeping the question with its answer.</a:t>
            </a:r>
          </a:p>
          <a:p xmlns:a="http://schemas.openxmlformats.org/drawingml/2006/main">
            <a:r>
              <a:t/>
            </a:r>
          </a:p>
          <a:p xmlns:a="http://schemas.openxmlformats.org/drawingml/2006/main">
            <a:r>
              <a:t>SOURCES / LIMITS</a:t>
            </a:r>
          </a:p>
          <a:p xmlns:a="http://schemas.openxmlformats.org/drawingml/2006/main">
            <a:r>
              <a:t>Claim–evidence ledger: C10, C12. See 02_documentation/Claim_Evidence_Ledger.html for exact records, checks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This example shows a specific implementation problem and our fix. The question lived inside an interactive accordion button. Our common cleaner removed interactive buttons and could remove the question even though the expanded answer remained. The answer then lost its context. The refinement restores an eligible captured question as readable text beside the same answer. It only handles the supported already-expanded sections. Point to the question before and after. This is a clearer example of preserving meaning during extraction: the model should understand what the answer is answering. We checked that this final step preserved the existing answers and offer information.</a:t>
            </a:r>
          </a:p>
          <a:p xmlns:a="http://schemas.openxmlformats.org/drawingml/2006/main">
            <a:r>
              <a:t/>
            </a:r>
          </a:p>
          <a:p xmlns:a="http://schemas.openxmlformats.org/drawingml/2006/main">
            <a:r>
              <a:t>WHAT TO POINT TO</a:t>
            </a:r>
          </a:p>
          <a:p xmlns:a="http://schemas.openxmlformats.org/drawingml/2006/main">
            <a:r>
              <a:t>Follow the visual from left to right; explain the highlighted finding before the detail.</a:t>
            </a:r>
          </a:p>
          <a:p xmlns:a="http://schemas.openxmlformats.org/drawingml/2006/main">
            <a:r>
              <a:t/>
            </a:r>
          </a:p>
          <a:p xmlns:a="http://schemas.openxmlformats.org/drawingml/2006/main">
            <a:r>
              <a:t>TRANSITION</a:t>
            </a:r>
          </a:p>
          <a:p xmlns:a="http://schemas.openxmlformats.org/drawingml/2006/main">
            <a:r>
              <a:t>Next: How we checked the page changes.</a:t>
            </a:r>
          </a:p>
          <a:p xmlns:a="http://schemas.openxmlformats.org/drawingml/2006/main">
            <a:r>
              <a:t/>
            </a:r>
          </a:p>
          <a:p xmlns:a="http://schemas.openxmlformats.org/drawingml/2006/main">
            <a:r>
              <a:t>SOURCES / LIMITS</a:t>
            </a:r>
          </a:p>
          <a:p xmlns:a="http://schemas.openxmlformats.org/drawingml/2006/main">
            <a:r>
              <a:t>Claim–evidence ledger: C11, C12. See 02_documentation/Claim_Evidence_Ledger.html for exact records, checks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Before trusting the comparison, we checked three things. First, were we using the correct saved versions? Second, did the final question-restoration change preserve the intended information? Third, did the text sent to the AI match the saved output? We rebuilt the final FAQ stage and matched its saved page outputs. We also checked the Flight Centre text recorded in the selected model inputs against those outputs. This catches mistakes such as displaying one page but testing another. The check has a boundary: it verifies that the implementation did what we intended, not that every inherited travel statement is correct or that a public AI service will behave the same way.</a:t>
            </a:r>
          </a:p>
          <a:p xmlns:a="http://schemas.openxmlformats.org/drawingml/2006/main">
            <a:r>
              <a:t/>
            </a:r>
          </a:p>
          <a:p xmlns:a="http://schemas.openxmlformats.org/drawingml/2006/main">
            <a:r>
              <a:t>WHAT TO POINT TO</a:t>
            </a:r>
          </a:p>
          <a:p xmlns:a="http://schemas.openxmlformats.org/drawingml/2006/main">
            <a:r>
              <a:t>Follow the visual from left to right; explain the highlighted finding before the detail.</a:t>
            </a:r>
          </a:p>
          <a:p xmlns:a="http://schemas.openxmlformats.org/drawingml/2006/main">
            <a:r>
              <a:t/>
            </a:r>
          </a:p>
          <a:p xmlns:a="http://schemas.openxmlformats.org/drawingml/2006/main">
            <a:r>
              <a:t>TRANSITION</a:t>
            </a:r>
          </a:p>
          <a:p xmlns:a="http://schemas.openxmlformats.org/drawingml/2006/main">
            <a:r>
              <a:t>Next: Demonstration: follow a reference.</a:t>
            </a:r>
          </a:p>
          <a:p xmlns:a="http://schemas.openxmlformats.org/drawingml/2006/main">
            <a:r>
              <a:t/>
            </a:r>
          </a:p>
          <a:p xmlns:a="http://schemas.openxmlformats.org/drawingml/2006/main">
            <a:r>
              <a:t>SOURCES / LIMITS</a:t>
            </a:r>
          </a:p>
          <a:p xmlns:a="http://schemas.openxmlformats.org/drawingml/2006/main">
            <a:r>
              <a:t>Claim–evidence ledger: C09, C10, C11, C12. See 02_documentation/Claim_Evidence_Ledger.html for exact records, checks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This is a saved demonstration, not a new live AI response. Start with the question about Melbourne-to-London flights. Show the baseline answer, then the answer using the improved page. Point to reference seven in the improved answer and follow it to the Flight Centre URL below. That is why this answer counts as a Flight Centre citation. The number is a source label for this particular reading pack; it is not a rank, and seven does not always mean Flight Centre. Pause so the audience can inspect the example. The full answers are included in the backup slides. If requested, open the results explorer to inspect the complete record and a declining question as well. One example illustrates the mechanism; the next slide summarises all eligible questions.</a:t>
            </a:r>
          </a:p>
          <a:p xmlns:a="http://schemas.openxmlformats.org/drawingml/2006/main">
            <a:r>
              <a:t/>
            </a:r>
          </a:p>
          <a:p xmlns:a="http://schemas.openxmlformats.org/drawingml/2006/main">
            <a:r>
              <a:t>WHAT TO POINT TO</a:t>
            </a:r>
          </a:p>
          <a:p xmlns:a="http://schemas.openxmlformats.org/drawingml/2006/main">
            <a:r>
              <a:t>Allow time to inspect [7] and its URL. Use backup slides 20–21 for the complete saved answers; no live API call.</a:t>
            </a:r>
          </a:p>
          <a:p xmlns:a="http://schemas.openxmlformats.org/drawingml/2006/main">
            <a:r>
              <a:t/>
            </a:r>
          </a:p>
          <a:p xmlns:a="http://schemas.openxmlformats.org/drawingml/2006/main">
            <a:r>
              <a:t>TRANSITION</a:t>
            </a:r>
          </a:p>
          <a:p xmlns:a="http://schemas.openxmlformats.org/drawingml/2006/main">
            <a:r>
              <a:t>Next: Flight Centre was cited more often.</a:t>
            </a:r>
          </a:p>
          <a:p xmlns:a="http://schemas.openxmlformats.org/drawingml/2006/main">
            <a:r>
              <a:t/>
            </a:r>
          </a:p>
          <a:p xmlns:a="http://schemas.openxmlformats.org/drawingml/2006/main">
            <a:r>
              <a:t>SOURCES / LIMITS</a:t>
            </a:r>
          </a:p>
          <a:p xmlns:a="http://schemas.openxmlformats.org/drawingml/2006/main">
            <a:r>
              <a:t>Claim–evidence ledger: C01, C03, C04. See 02_documentation/Claim_Evidence_Ledger.html for exact records, checks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The baseline cited Flight Centre in forty percent of the answers. With the selected improved pages, the rate was forty-nine-point-three percent initially and fifty-two-point-four percent when generated again. The exact counts are saved with the evidence. Both runs used the same treatment prompts and sources, but the generated answers differed. We show both rather than treating the higher number as a promise. The main message is that Flight Centre was cited more often in these saved comparisons. It does not mean that the page will receive this rate in every public AI engine or for every customer question.</a:t>
            </a:r>
          </a:p>
          <a:p xmlns:a="http://schemas.openxmlformats.org/drawingml/2006/main">
            <a:r>
              <a:t/>
            </a:r>
          </a:p>
          <a:p xmlns:a="http://schemas.openxmlformats.org/drawingml/2006/main">
            <a:r>
              <a:t>WHAT TO POINT TO</a:t>
            </a:r>
          </a:p>
          <a:p xmlns:a="http://schemas.openxmlformats.org/drawingml/2006/main">
            <a:r>
              <a:t>Point to the highlighted evidence and explain its meaning.</a:t>
            </a:r>
          </a:p>
          <a:p xmlns:a="http://schemas.openxmlformats.org/drawingml/2006/main">
            <a:r>
              <a:t/>
            </a:r>
          </a:p>
          <a:p xmlns:a="http://schemas.openxmlformats.org/drawingml/2006/main">
            <a:r>
              <a:t>TRANSITION</a:t>
            </a:r>
          </a:p>
          <a:p xmlns:a="http://schemas.openxmlformats.org/drawingml/2006/main">
            <a:r>
              <a:t>Next: How confident are we?.</a:t>
            </a:r>
          </a:p>
          <a:p xmlns:a="http://schemas.openxmlformats.org/drawingml/2006/main">
            <a:r>
              <a:t/>
            </a:r>
          </a:p>
          <a:p xmlns:a="http://schemas.openxmlformats.org/drawingml/2006/main">
            <a:r>
              <a:t>SOURCES / LIMITS</a:t>
            </a:r>
          </a:p>
          <a:p xmlns:a="http://schemas.openxmlformats.org/drawingml/2006/main">
            <a:r>
              <a:t>Claim–evidence ledger: C04, C05, C06, C07. See 02_documentation/Claim_Evidence_Ledger.html for exact records, checks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We did not rely on a single example. We repeated answers and examined how results varied between questions. More question averages improved than declined, but the effect was not universal. We also calculated uncertainty by sampling whole questions, keeping their repeated answers together. The two treatment-versus-baseline intervals were positive in these comparisons. However, the difference between the treatment runs was not clear enough to say the second run was better. Trying multiple versions and reusing an older baseline still limit the conclusion. The detailed calculations remain available for questions, but our interpretation is straightforward: encouraging evidence within the tested setting, not a guaranteed future outcome.</a:t>
            </a:r>
          </a:p>
          <a:p xmlns:a="http://schemas.openxmlformats.org/drawingml/2006/main">
            <a:r>
              <a:t/>
            </a:r>
          </a:p>
          <a:p xmlns:a="http://schemas.openxmlformats.org/drawingml/2006/main">
            <a:r>
              <a:t>WHAT TO POINT TO</a:t>
            </a:r>
          </a:p>
          <a:p xmlns:a="http://schemas.openxmlformats.org/drawingml/2006/main">
            <a:r>
              <a:t>Point to the highlighted evidence and explain its meaning.</a:t>
            </a:r>
          </a:p>
          <a:p xmlns:a="http://schemas.openxmlformats.org/drawingml/2006/main">
            <a:r>
              <a:t/>
            </a:r>
          </a:p>
          <a:p xmlns:a="http://schemas.openxmlformats.org/drawingml/2006/main">
            <a:r>
              <a:t>TRANSITION</a:t>
            </a:r>
          </a:p>
          <a:p xmlns:a="http://schemas.openxmlformats.org/drawingml/2006/main">
            <a:r>
              <a:t>Next: Source order also mattered.</a:t>
            </a:r>
          </a:p>
          <a:p xmlns:a="http://schemas.openxmlformats.org/drawingml/2006/main">
            <a:r>
              <a:t/>
            </a:r>
          </a:p>
          <a:p xmlns:a="http://schemas.openxmlformats.org/drawingml/2006/main">
            <a:r>
              <a:t>SOURCES / LIMITS</a:t>
            </a:r>
          </a:p>
          <a:p xmlns:a="http://schemas.openxmlformats.org/drawingml/2006/main">
            <a:r>
              <a:t>Claim–evidence ledger: C06, C08. See 02_documentation/Claim_Evidence_Ledger.html for exact records, checks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We separately asked whether the position of a source changes how often it is used. We kept the source text the same and moved the first Flight Centre source to the beginning, preserving the competitors’ relative order. Citation was higher in that test. This tells us the model’s reading order can influence the outcome. It does not show that we improved Flight Centre’s ranking on a search engine, or that Flight Centre can control a public AI engine’s internal source order. This ordering experiment was not part of the final combined page. It is a useful finding about the behaviour of our test environment.</a:t>
            </a:r>
          </a:p>
          <a:p xmlns:a="http://schemas.openxmlformats.org/drawingml/2006/main">
            <a:r>
              <a:t/>
            </a:r>
          </a:p>
          <a:p xmlns:a="http://schemas.openxmlformats.org/drawingml/2006/main">
            <a:r>
              <a:t>WHAT TO POINT TO</a:t>
            </a:r>
          </a:p>
          <a:p xmlns:a="http://schemas.openxmlformats.org/drawingml/2006/main">
            <a:r>
              <a:t>Follow the visual from left to right; explain the highlighted finding before the detail.</a:t>
            </a:r>
          </a:p>
          <a:p xmlns:a="http://schemas.openxmlformats.org/drawingml/2006/main">
            <a:r>
              <a:t/>
            </a:r>
          </a:p>
          <a:p xmlns:a="http://schemas.openxmlformats.org/drawingml/2006/main">
            <a:r>
              <a:t>TRANSITION</a:t>
            </a:r>
          </a:p>
          <a:p xmlns:a="http://schemas.openxmlformats.org/drawingml/2006/main">
            <a:r>
              <a:t>Next: What this means for Flight Centre.</a:t>
            </a:r>
          </a:p>
          <a:p xmlns:a="http://schemas.openxmlformats.org/drawingml/2006/main">
            <a:r>
              <a:t/>
            </a:r>
          </a:p>
          <a:p xmlns:a="http://schemas.openxmlformats.org/drawingml/2006/main">
            <a:r>
              <a:t>SOURCES / LIMITS</a:t>
            </a:r>
          </a:p>
          <a:p xmlns:a="http://schemas.openxmlformats.org/drawingml/2006/main">
            <a:r>
              <a:t>Claim–evidence ledger: C17. See 02_documentation/Claim_Evidence_Ledger.html for exact records, checks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The delivered value is a working prototype and a way to test page changes using saved evidence. Flight Centre can see which kinds of captured information became clearer and inspect how the AI used it. That supports a practical content-improvement discussion. However, the page must first be available to the AI. Our main comparison does not solve discovery or prove more recommendations and bookings. Any live use would need current product information, content ownership and separate commercial measures. Those are proposed applications, not additional outcomes we claim to have delivered.</a:t>
            </a:r>
          </a:p>
          <a:p xmlns:a="http://schemas.openxmlformats.org/drawingml/2006/main">
            <a:r>
              <a:t/>
            </a:r>
          </a:p>
          <a:p xmlns:a="http://schemas.openxmlformats.org/drawingml/2006/main">
            <a:r>
              <a:t>WHAT TO POINT TO</a:t>
            </a:r>
          </a:p>
          <a:p xmlns:a="http://schemas.openxmlformats.org/drawingml/2006/main">
            <a:r>
              <a:t>Point to the highlighted evidence and explain its meaning.</a:t>
            </a:r>
          </a:p>
          <a:p xmlns:a="http://schemas.openxmlformats.org/drawingml/2006/main">
            <a:r>
              <a:t/>
            </a:r>
          </a:p>
          <a:p xmlns:a="http://schemas.openxmlformats.org/drawingml/2006/main">
            <a:r>
              <a:t>TRANSITION</a:t>
            </a:r>
          </a:p>
          <a:p xmlns:a="http://schemas.openxmlformats.org/drawingml/2006/main">
            <a:r>
              <a:t>Next: What this experiment cannot prove.</a:t>
            </a:r>
          </a:p>
          <a:p xmlns:a="http://schemas.openxmlformats.org/drawingml/2006/main">
            <a:r>
              <a:t/>
            </a:r>
          </a:p>
          <a:p xmlns:a="http://schemas.openxmlformats.org/drawingml/2006/main">
            <a:r>
              <a:t>SOURCES / LIMITS</a:t>
            </a:r>
          </a:p>
          <a:p xmlns:a="http://schemas.openxmlformats.org/drawingml/2006/main">
            <a:r>
              <a:t>Claim–evidence ledger: C19, C20, C22. See 02_documentation/Claim_Evidence_Ledger.html for exact records, checks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We want the conclusion to be useful without overstating it. The main test supplied the same sources to both conditions; it does not represent every step of a public AI search. In a separate test where retrieval exposure could change, we did not establish a gain. Fresh rewordings also gave a less certain result. Our comparison uses earlier baseline answers and captures from different contexts, and development was informed by earlier results. These facts limit causal certainty and generalisation. A citation also needs a separate human check to establish whether it supports the statement. These limitations do not erase the prototype or observed result; they define what the evidence can support.</a:t>
            </a:r>
          </a:p>
          <a:p xmlns:a="http://schemas.openxmlformats.org/drawingml/2006/main">
            <a:r>
              <a:t/>
            </a:r>
          </a:p>
          <a:p xmlns:a="http://schemas.openxmlformats.org/drawingml/2006/main">
            <a:r>
              <a:t>WHAT TO POINT TO</a:t>
            </a:r>
          </a:p>
          <a:p xmlns:a="http://schemas.openxmlformats.org/drawingml/2006/main">
            <a:r>
              <a:t>Point to the highlighted evidence and explain its meaning.</a:t>
            </a:r>
          </a:p>
          <a:p xmlns:a="http://schemas.openxmlformats.org/drawingml/2006/main">
            <a:r>
              <a:t/>
            </a:r>
          </a:p>
          <a:p xmlns:a="http://schemas.openxmlformats.org/drawingml/2006/main">
            <a:r>
              <a:t>TRANSITION</a:t>
            </a:r>
          </a:p>
          <a:p xmlns:a="http://schemas.openxmlformats.org/drawingml/2006/main">
            <a:r>
              <a:t>Next: What we are handing over.</a:t>
            </a:r>
          </a:p>
          <a:p xmlns:a="http://schemas.openxmlformats.org/drawingml/2006/main">
            <a:r>
              <a:t/>
            </a:r>
          </a:p>
          <a:p xmlns:a="http://schemas.openxmlformats.org/drawingml/2006/main">
            <a:r>
              <a:t>SOURCES / LIMITS</a:t>
            </a:r>
          </a:p>
          <a:p xmlns:a="http://schemas.openxmlformats.org/drawingml/2006/main">
            <a:r>
              <a:t>Claim–evidence ledger: C06, C18, C20, C22. See 02_documentation/Claim_Evidence_Ledger.html for exact records, checks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Our handover has three practical parts. The presentation and report explain the work. The code preserves the selected implementation and the individual tests. The evidence package contains saved pages, answers, source maps and checks so an assessor can inspect the result. The public GitHub repository contains the relevant code, presentation and numerical summaries. Full captured-page evidence is supplied separately in the assessment ZIP. These are research artefacts, not a deployed Flight Centre product. The agreement list describes each item’s scope and current condition. Each team member should describe only work they actually completed; this speaking allocation does not assign historical contributions.</a:t>
            </a:r>
          </a:p>
          <a:p xmlns:a="http://schemas.openxmlformats.org/drawingml/2006/main">
            <a:r>
              <a:t/>
            </a:r>
          </a:p>
          <a:p xmlns:a="http://schemas.openxmlformats.org/drawingml/2006/main">
            <a:r>
              <a:t>WHAT TO POINT TO</a:t>
            </a:r>
          </a:p>
          <a:p xmlns:a="http://schemas.openxmlformats.org/drawingml/2006/main">
            <a:r>
              <a:t>Follow the visual from left to right; explain the highlighted finding before the detail.</a:t>
            </a:r>
          </a:p>
          <a:p xmlns:a="http://schemas.openxmlformats.org/drawingml/2006/main">
            <a:r>
              <a:t/>
            </a:r>
          </a:p>
          <a:p xmlns:a="http://schemas.openxmlformats.org/drawingml/2006/main">
            <a:r>
              <a:t>TRANSITION</a:t>
            </a:r>
          </a:p>
          <a:p xmlns:a="http://schemas.openxmlformats.org/drawingml/2006/main">
            <a:r>
              <a:t>Next: Our conclusion.</a:t>
            </a:r>
          </a:p>
          <a:p xmlns:a="http://schemas.openxmlformats.org/drawingml/2006/main">
            <a:r>
              <a:t/>
            </a:r>
          </a:p>
          <a:p xmlns:a="http://schemas.openxmlformats.org/drawingml/2006/main">
            <a:r>
              <a:t>SOURCES / LIMITS</a:t>
            </a:r>
          </a:p>
          <a:p xmlns:a="http://schemas.openxmlformats.org/drawingml/2006/main">
            <a:r>
              <a:t>Claim–evidence ledger: C11, C21, C22. See 02_documentation/Claim_Evidence_Ledger.html for exact records, checks and limits. Assessment 5 guide: acknowledgement of AI assistance, accurate personal contributions and retained authorship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We delivered a working experiment and a combined page-improvement prototype. The selected pages were cited more often than the historical baseline in both saved treatment runs. The strongest conclusion is that clearer page representation can improve source use when the information is already supplied to the model. We have not established more booking recommendations or sales. Our submission preserves the implementation, real examples, original outputs and calculation steps. We will finalise the handover details with the tutor and client, and ensure the team’s contribution records and AI-assistance acknowledgement are accurate. Thank you. We can now show the full answers, code or supporting calculations during questions.</a:t>
            </a:r>
          </a:p>
          <a:p xmlns:a="http://schemas.openxmlformats.org/drawingml/2006/main">
            <a:r>
              <a:t/>
            </a:r>
          </a:p>
          <a:p xmlns:a="http://schemas.openxmlformats.org/drawingml/2006/main">
            <a:r>
              <a:t>WHAT TO POINT TO</a:t>
            </a:r>
          </a:p>
          <a:p xmlns:a="http://schemas.openxmlformats.org/drawingml/2006/main">
            <a:r>
              <a:t>Point to the highlighted evidence and explain its meaning.</a:t>
            </a:r>
          </a:p>
          <a:p xmlns:a="http://schemas.openxmlformats.org/drawingml/2006/main">
            <a:r>
              <a:t/>
            </a:r>
          </a:p>
          <a:p xmlns:a="http://schemas.openxmlformats.org/drawingml/2006/main">
            <a:r>
              <a:t>TRANSITION</a:t>
            </a:r>
          </a:p>
          <a:p xmlns:a="http://schemas.openxmlformats.org/drawingml/2006/main">
            <a:r>
              <a:t>Next: The exact experimental recipe.</a:t>
            </a:r>
          </a:p>
          <a:p xmlns:a="http://schemas.openxmlformats.org/drawingml/2006/main">
            <a:r>
              <a:t/>
            </a:r>
          </a:p>
          <a:p xmlns:a="http://schemas.openxmlformats.org/drawingml/2006/main">
            <a:r>
              <a:t>SOURCES / LIMITS</a:t>
            </a:r>
          </a:p>
          <a:p xmlns:a="http://schemas.openxmlformats.org/drawingml/2006/main">
            <a:r>
              <a:t>Claim–evidence ledger: C04, C05, C06, C19, C20, C21. See 02_documentation/Claim_Evidence_Ledger.html for exact records, checks and limits.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The model identifier is reported exactly as saved. Seed labels govern source shuffling, not the provider’s generation randomness. The common prompt requests inline citations to supplied results. The fixed branch supplies saved page text rather than retrieving newly ranked passages for each treatment. There is no fine-tuning or agent tool-call loop in answer generation. Inherited structured metadata may remain in source text; this is distinct from adding a schema intervention.</a:t>
            </a:r>
          </a:p>
          <a:p xmlns:a="http://schemas.openxmlformats.org/drawingml/2006/main">
            <a:r>
              <a:t/>
            </a:r>
          </a:p>
          <a:p xmlns:a="http://schemas.openxmlformats.org/drawingml/2006/main">
            <a:r>
              <a:t>WHAT TO POINT TO</a:t>
            </a:r>
          </a:p>
          <a:p xmlns:a="http://schemas.openxmlformats.org/drawingml/2006/main">
            <a:r>
              <a:t>Read the requested model identifier as a saved record, not a recommendation to change models.</a:t>
            </a:r>
          </a:p>
          <a:p xmlns:a="http://schemas.openxmlformats.org/drawingml/2006/main">
            <a:r>
              <a:t/>
            </a:r>
          </a:p>
          <a:p xmlns:a="http://schemas.openxmlformats.org/drawingml/2006/main">
            <a:r>
              <a:t>TRANSITION</a:t>
            </a:r>
          </a:p>
          <a:p xmlns:a="http://schemas.openxmlformats.org/drawingml/2006/main">
            <a:r>
              <a:t>Next: Full saved baseline answer.</a:t>
            </a:r>
          </a:p>
          <a:p xmlns:a="http://schemas.openxmlformats.org/drawingml/2006/main">
            <a:r>
              <a:t/>
            </a:r>
          </a:p>
          <a:p xmlns:a="http://schemas.openxmlformats.org/drawingml/2006/main">
            <a:r>
              <a:t>SOURCES / LIMITS</a:t>
            </a:r>
          </a:p>
          <a:p xmlns:a="http://schemas.openxmlformats.org/drawingml/2006/main">
            <a:r>
              <a:t>Saved experiment records, code snapshots and validation reports. See the bundled Verified_Results.json and evidence files.</a:t>
            </a:r>
          </a:p>
          <a:p xmlns:a="http://schemas.openxmlformats.org/drawingml/2006/main">
            <a:r>
              <a:t>Local evidence and implementation links are listed in the submission Technical_Report.html and Results_Explorer.html. See the claim ledger for current evidence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This is the complete baseline answer for the example used in the main presentation. Source seven maps to FC in the saved source list. This answer provides a travel summary but does not cite source seven. We preserve the full answer so the excerpt can be checked in context.</a:t>
            </a:r>
          </a:p>
          <a:p xmlns:a="http://schemas.openxmlformats.org/drawingml/2006/main">
            <a:r>
              <a:t/>
            </a:r>
          </a:p>
          <a:p xmlns:a="http://schemas.openxmlformats.org/drawingml/2006/main">
            <a:r>
              <a:t>WHAT TO POINT TO</a:t>
            </a:r>
          </a:p>
          <a:p xmlns:a="http://schemas.openxmlformats.org/drawingml/2006/main">
            <a:r>
              <a:t>Let the audience read rather than reading the entire answer aloud.</a:t>
            </a:r>
          </a:p>
          <a:p xmlns:a="http://schemas.openxmlformats.org/drawingml/2006/main">
            <a:r>
              <a:t/>
            </a:r>
          </a:p>
          <a:p xmlns:a="http://schemas.openxmlformats.org/drawingml/2006/main">
            <a:r>
              <a:t>TRANSITION</a:t>
            </a:r>
          </a:p>
          <a:p xmlns:a="http://schemas.openxmlformats.org/drawingml/2006/main">
            <a:r>
              <a:t>Next: Full saved optimised answer.</a:t>
            </a:r>
          </a:p>
          <a:p xmlns:a="http://schemas.openxmlformats.org/drawingml/2006/main">
            <a:r>
              <a:t/>
            </a:r>
          </a:p>
          <a:p xmlns:a="http://schemas.openxmlformats.org/drawingml/2006/main">
            <a:r>
              <a:t>SOURCES / LIMITS</a:t>
            </a:r>
          </a:p>
          <a:p xmlns:a="http://schemas.openxmlformats.org/drawingml/2006/main">
            <a:r>
              <a:t>Verified_Results.json example.baseline and source_map.</a:t>
            </a:r>
          </a:p>
          <a:p xmlns:a="http://schemas.openxmlformats.org/drawingml/2006/main">
            <a:r>
              <a:t>Local evidence and implementation links are listed in the submission Technical_Report.html and Results_Explorer.html. See the claim ledger for current evidence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This is the complete optimised answer for the same saved example. It includes source seven. Citation inclusion is the recorded outcome; we do not infer a recommendation from the existence of that reference. Generated travel claims remain answer outputs, not independently verified advice.</a:t>
            </a:r>
          </a:p>
          <a:p xmlns:a="http://schemas.openxmlformats.org/drawingml/2006/main">
            <a:r>
              <a:t/>
            </a:r>
          </a:p>
          <a:p xmlns:a="http://schemas.openxmlformats.org/drawingml/2006/main">
            <a:r>
              <a:t>WHAT TO POINT TO</a:t>
            </a:r>
          </a:p>
          <a:p xmlns:a="http://schemas.openxmlformats.org/drawingml/2006/main">
            <a:r>
              <a:t>Point to each [7] and its source mapping.</a:t>
            </a:r>
          </a:p>
          <a:p xmlns:a="http://schemas.openxmlformats.org/drawingml/2006/main">
            <a:r>
              <a:t/>
            </a:r>
          </a:p>
          <a:p xmlns:a="http://schemas.openxmlformats.org/drawingml/2006/main">
            <a:r>
              <a:t>TRANSITION</a:t>
            </a:r>
          </a:p>
          <a:p xmlns:a="http://schemas.openxmlformats.org/drawingml/2006/main">
            <a:r>
              <a:t>Next: Published research: what it supports.</a:t>
            </a:r>
          </a:p>
          <a:p xmlns:a="http://schemas.openxmlformats.org/drawingml/2006/main">
            <a:r>
              <a:t/>
            </a:r>
          </a:p>
          <a:p xmlns:a="http://schemas.openxmlformats.org/drawingml/2006/main">
            <a:r>
              <a:t>SOURCES / LIMITS</a:t>
            </a:r>
          </a:p>
          <a:p xmlns:a="http://schemas.openxmlformats.org/drawingml/2006/main">
            <a:r>
              <a:t>Verified_Results.json example.optimised and source_map.</a:t>
            </a:r>
          </a:p>
          <a:p xmlns:a="http://schemas.openxmlformats.org/drawingml/2006/main">
            <a:r>
              <a:t>Local evidence and implementation links are listed in the submission Technical_Report.html and Results_Explorer.html. See the claim ledger for current evidence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RAG provides the idea of supplying retrieved evidence during generation. GEO studies source modifications and visibility. ALCE separates the presence of references from whether they correctly and fully support an answer. Lost in the Middle motivates checking how context order affects performance. These are relevant foundations with different tasks and metrics. Our binary answer-level inclusion rate is not identical to GEO’s visibility measures, and we did not reproduce a learned AutoGEO system. Public agency offerings add an operational checklist, not audited evidence that their advertised methods work for FC.</a:t>
            </a:r>
          </a:p>
          <a:p xmlns:a="http://schemas.openxmlformats.org/drawingml/2006/main">
            <a:r>
              <a:t/>
            </a:r>
          </a:p>
          <a:p xmlns:a="http://schemas.openxmlformats.org/drawingml/2006/main">
            <a:r>
              <a:t>WHAT TO POINT TO</a:t>
            </a:r>
          </a:p>
          <a:p xmlns:a="http://schemas.openxmlformats.org/drawingml/2006/main">
            <a:r>
              <a:t>Use one sentence per paper and then explain the difference in our metric.</a:t>
            </a:r>
          </a:p>
          <a:p xmlns:a="http://schemas.openxmlformats.org/drawingml/2006/main">
            <a:r>
              <a:t/>
            </a:r>
          </a:p>
          <a:p xmlns:a="http://schemas.openxmlformats.org/drawingml/2006/main">
            <a:r>
              <a:t>TRANSITION</a:t>
            </a:r>
          </a:p>
          <a:p xmlns:a="http://schemas.openxmlformats.org/drawingml/2006/main">
            <a:r>
              <a:t>Next: Repeating the same pages did not give identical answers.</a:t>
            </a:r>
          </a:p>
          <a:p xmlns:a="http://schemas.openxmlformats.org/drawingml/2006/main">
            <a:r>
              <a:t/>
            </a:r>
          </a:p>
          <a:p xmlns:a="http://schemas.openxmlformats.org/drawingml/2006/main">
            <a:r>
              <a:t>SOURCES / LIMITS</a:t>
            </a:r>
          </a:p>
          <a:p xmlns:a="http://schemas.openxmlformats.org/drawingml/2006/main">
            <a:r>
              <a:t>Retrieval-Augmented Generation, NeurIPS 2020: https://arxiv.org/abs/2005.11401</a:t>
            </a:r>
          </a:p>
          <a:p xmlns:a="http://schemas.openxmlformats.org/drawingml/2006/main">
            <a:r>
              <a:t>GEO, KDD 2024: https://arxiv.org/abs/2311.09735</a:t>
            </a:r>
          </a:p>
          <a:p xmlns:a="http://schemas.openxmlformats.org/drawingml/2006/main">
            <a:r>
              <a:t>ALCE, EMNLP 2023: https://aclanthology.org/2023.emnlp-main.398/</a:t>
            </a:r>
          </a:p>
          <a:p xmlns:a="http://schemas.openxmlformats.org/drawingml/2006/main">
            <a:r>
              <a:t>Lost in the Middle, TACL 2024: https://aclanthology.org/2024.tacl-1.9/</a:t>
            </a:r>
          </a:p>
          <a:p xmlns:a="http://schemas.openxmlformats.org/drawingml/2006/main">
            <a:r>
              <a:t>Local evidence and implementation links are listed in the submission Technical_Report.html and Results_Explorer.html. See the claim ledger for current evidence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The original unchanged-page run produced 143 citing answers; the repeat produced 152. Both used the selected 116-answer baseline comparison. The repeat-minus-original difference was 3.1 percentage points with an interval crossing zero. The selected repeat is not proof that 52.4% is a stable production rate. The price-matched version is another treatment and scored 131 out of 290; do not relabel its pages as the 52.4% package.</a:t>
            </a:r>
          </a:p>
          <a:p xmlns:a="http://schemas.openxmlformats.org/drawingml/2006/main">
            <a:r>
              <a:t/>
            </a:r>
          </a:p>
          <a:p xmlns:a="http://schemas.openxmlformats.org/drawingml/2006/main">
            <a:r>
              <a:t>WHAT TO POINT TO</a:t>
            </a:r>
          </a:p>
          <a:p xmlns:a="http://schemas.openxmlformats.org/drawingml/2006/main">
            <a:r>
              <a:t>Follow the visual from left to right; explain the highlighted finding before the detail.</a:t>
            </a:r>
          </a:p>
          <a:p xmlns:a="http://schemas.openxmlformats.org/drawingml/2006/main">
            <a:r>
              <a:t/>
            </a:r>
          </a:p>
          <a:p xmlns:a="http://schemas.openxmlformats.org/drawingml/2006/main">
            <a:r>
              <a:t>TRANSITION</a:t>
            </a:r>
          </a:p>
          <a:p xmlns:a="http://schemas.openxmlformats.org/drawingml/2006/main">
            <a:r>
              <a:t>Next: Assessment and handover checklist.</a:t>
            </a:r>
          </a:p>
          <a:p xmlns:a="http://schemas.openxmlformats.org/drawingml/2006/main">
            <a:r>
              <a:t/>
            </a:r>
          </a:p>
          <a:p xmlns:a="http://schemas.openxmlformats.org/drawingml/2006/main">
            <a:r>
              <a:t>SOURCES / LIMITS</a:t>
            </a:r>
          </a:p>
          <a:p xmlns:a="http://schemas.openxmlformats.org/drawingml/2006/main">
            <a:r>
              <a:t>Saved code and records supplied in the submission.</a:t>
            </a:r>
          </a:p>
          <a:p xmlns:a="http://schemas.openxmlformats.org/drawingml/2006/main">
            <a:r>
              <a:t>Local evidence and implementation links are listed in the submission Technical_Report.html and Results_Explorer.html. See the claim ledger for current evidence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The supplied Assessment 5 guide and rubric are now available. It asks for client requirements, architecture and implementation, a short demonstration and clear communication within twenty minutes, followed by five minutes of questions. Everyone speaks about work relevant to their actual contribution. The guide permits AI assistance but requires acknowledgement, critical evaluation and retained authorship records. Handover approval and contribution records must still be completed by the team.</a:t>
            </a:r>
          </a:p>
          <a:p xmlns:a="http://schemas.openxmlformats.org/drawingml/2006/main">
            <a:r>
              <a:t/>
            </a:r>
          </a:p>
          <a:p xmlns:a="http://schemas.openxmlformats.org/drawingml/2006/main">
            <a:r>
              <a:t>WHAT TO POINT TO</a:t>
            </a:r>
          </a:p>
          <a:p xmlns:a="http://schemas.openxmlformats.org/drawingml/2006/main">
            <a:r>
              <a:t>Follow the visual from left to right; explain the highlighted finding before the detail.</a:t>
            </a:r>
          </a:p>
          <a:p xmlns:a="http://schemas.openxmlformats.org/drawingml/2006/main">
            <a:r>
              <a:t/>
            </a:r>
          </a:p>
          <a:p xmlns:a="http://schemas.openxmlformats.org/drawingml/2006/main">
            <a:r>
              <a:t>TRANSITION</a:t>
            </a:r>
          </a:p>
          <a:p xmlns:a="http://schemas.openxmlformats.org/drawingml/2006/main">
            <a:r>
              <a:t>Next: A three-minute evidence walkthrough.</a:t>
            </a:r>
          </a:p>
          <a:p xmlns:a="http://schemas.openxmlformats.org/drawingml/2006/main">
            <a:r>
              <a:t/>
            </a:r>
          </a:p>
          <a:p xmlns:a="http://schemas.openxmlformats.org/drawingml/2006/main">
            <a:r>
              <a:t>SOURCES / LIMITS</a:t>
            </a:r>
          </a:p>
          <a:p xmlns:a="http://schemas.openxmlformats.org/drawingml/2006/main">
            <a:r>
              <a:t>User-supplied IFN736 Assessment 5 Final Presentation 2026 v1, guide pages 1–3 and three-page rubric.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Open the start page. First open the question results explorer and select Q06 for an improvement, then Q02 for a decline. Show the complete answer and its numbered source map. Next open the page comparison to inspect the full source text. Finally run the offline verifier or show its saved output, and locate the relevant implementation in the code map. If a link is blocked by presentation software, use the included start page in a browser. Key evidence is embedded in the slides, so the presentation does not depend on external links.</a:t>
            </a:r>
          </a:p>
          <a:p xmlns:a="http://schemas.openxmlformats.org/drawingml/2006/main">
            <a:r>
              <a:t/>
            </a:r>
          </a:p>
          <a:p xmlns:a="http://schemas.openxmlformats.org/drawingml/2006/main">
            <a:r>
              <a:t>WHAT TO POINT TO</a:t>
            </a:r>
          </a:p>
          <a:p xmlns:a="http://schemas.openxmlformats.org/drawingml/2006/main">
            <a:r>
              <a:t>Follow the visual from left to right; explain the highlighted finding before the detail.</a:t>
            </a:r>
          </a:p>
          <a:p xmlns:a="http://schemas.openxmlformats.org/drawingml/2006/main">
            <a:r>
              <a:t/>
            </a:r>
          </a:p>
          <a:p xmlns:a="http://schemas.openxmlformats.org/drawingml/2006/main">
            <a:r>
              <a:t>TRANSITION</a:t>
            </a:r>
          </a:p>
          <a:p xmlns:a="http://schemas.openxmlformats.org/drawingml/2006/main">
            <a:r>
              <a:t>Next: Research supporting the design decisions.</a:t>
            </a:r>
          </a:p>
          <a:p xmlns:a="http://schemas.openxmlformats.org/drawingml/2006/main">
            <a:r>
              <a:t/>
            </a:r>
          </a:p>
          <a:p xmlns:a="http://schemas.openxmlformats.org/drawingml/2006/main">
            <a:r>
              <a:t>SOURCES / LIMITS</a:t>
            </a:r>
          </a:p>
          <a:p xmlns:a="http://schemas.openxmlformats.org/drawingml/2006/main">
            <a:r>
              <a:t>Saved code and records supplied in the submission.</a:t>
            </a:r>
          </a:p>
          <a:p xmlns:a="http://schemas.openxmlformats.org/drawingml/2006/main">
            <a:r>
              <a:t>Local evidence and implementation links are listed in the submission Technical_Report.html and Results_Explorer.html. See the claim ledger for current evidence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SPEAKING SCRIPT</a:t>
            </a:r>
          </a:p>
          <a:p xmlns:a="http://schemas.openxmlformats.org/drawingml/2006/main">
            <a:r>
              <a:t>RAG motivates supplying external evidence to generation. GEO studies source-content changes and visibility, but uses metrics that differ from our binary inclusion measure. ALCE distinguishes citation presence from whether a citation correctly supports a claim. Lost in the Middle motivates checking evidence position. These are conceptual and methodological references, not claims that we reproduced every paper’s experiment.</a:t>
            </a:r>
          </a:p>
          <a:p xmlns:a="http://schemas.openxmlformats.org/drawingml/2006/main">
            <a:r>
              <a:t/>
            </a:r>
          </a:p>
          <a:p xmlns:a="http://schemas.openxmlformats.org/drawingml/2006/main">
            <a:r>
              <a:t>WHAT TO POINT TO</a:t>
            </a:r>
          </a:p>
          <a:p xmlns:a="http://schemas.openxmlformats.org/drawingml/2006/main">
            <a:r>
              <a:t>Follow the visual from left to right; explain the highlighted finding before the detail.</a:t>
            </a:r>
          </a:p>
          <a:p xmlns:a="http://schemas.openxmlformats.org/drawingml/2006/main">
            <a:r>
              <a:t/>
            </a:r>
          </a:p>
          <a:p xmlns:a="http://schemas.openxmlformats.org/drawingml/2006/main">
            <a:r>
              <a:t>TRANSITION</a:t>
            </a:r>
          </a:p>
          <a:p xmlns:a="http://schemas.openxmlformats.org/drawingml/2006/main">
            <a:r>
              <a:t>Return to the requested evidence.</a:t>
            </a:r>
          </a:p>
          <a:p xmlns:a="http://schemas.openxmlformats.org/drawingml/2006/main">
            <a:r>
              <a:t/>
            </a:r>
          </a:p>
          <a:p xmlns:a="http://schemas.openxmlformats.org/drawingml/2006/main">
            <a:r>
              <a:t>SOURCES / LIMITS</a:t>
            </a:r>
          </a:p>
          <a:p xmlns:a="http://schemas.openxmlformats.org/drawingml/2006/main">
            <a:r>
              <a:t>Google: AI search guidance: https://developers.google.com/search/docs/fundamentals/ai-optimization-guide</a:t>
            </a:r>
          </a:p>
          <a:p xmlns:a="http://schemas.openxmlformats.org/drawingml/2006/main">
            <a:r>
              <a:t>OpenAI: crawler controls: https://developers.openai.com/api/docs/bots</a:t>
            </a:r>
          </a:p>
          <a:p xmlns:a="http://schemas.openxmlformats.org/drawingml/2006/main">
            <a:r>
              <a:t>Google: JavaScript SEO: https://developers.google.com/search/docs/crawling-indexing/javascript/javascript-seo-basics</a:t>
            </a:r>
          </a:p>
          <a:p xmlns:a="http://schemas.openxmlformats.org/drawingml/2006/main">
            <a:r>
              <a:t>Google: structured data: https://developers.google.com/search/docs/appearance/structured-data/intro-structured-data</a:t>
            </a:r>
          </a:p>
          <a:p xmlns:a="http://schemas.openxmlformats.org/drawingml/2006/main">
            <a:r>
              <a:t>OpenAI: connecting an MCP server: https://developers.openai.com/plugins/build/mcp-server</a:t>
            </a:r>
          </a:p>
          <a:p xmlns:a="http://schemas.openxmlformats.org/drawingml/2006/main">
            <a:r>
              <a:t>Expedia: app in ChatGPT: https://www.expedia.com/product/expedia-in-chatgpt/</a:t>
            </a:r>
          </a:p>
          <a:p xmlns:a="http://schemas.openxmlformats.org/drawingml/2006/main">
            <a:r>
              <a:t>Retrieval-Augmented Generation, NeurIPS 2020: https://arxiv.org/abs/2005.11401</a:t>
            </a:r>
          </a:p>
          <a:p xmlns:a="http://schemas.openxmlformats.org/drawingml/2006/main">
            <a:r>
              <a:t>GEO, KDD 2024: https://arxiv.org/abs/2311.09735</a:t>
            </a:r>
          </a:p>
          <a:p xmlns:a="http://schemas.openxmlformats.org/drawingml/2006/main">
            <a:r>
              <a:t>ALCE, EMNLP 2023: https://aclanthology.org/2023.emnlp-main.398/</a:t>
            </a:r>
          </a:p>
          <a:p xmlns:a="http://schemas.openxmlformats.org/drawingml/2006/main">
            <a:r>
              <a:t>Lost in the Middle, TACL 2024: https://aclanthology.org/2024.tacl-1.9/</a:t>
            </a:r>
          </a:p>
          <a:p xmlns:a="http://schemas.openxmlformats.org/drawingml/2006/main">
            <a:r>
              <a:t>Local evidence and implementation links are listed in the submission Technical_Report.html and Results_Explorer.html. See the claim ledger for current evidence boundaries.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a172452b97446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566a08899bc498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e9bb8b92c049d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f8dd18435447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4c7eaba6a9c4a4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1e9a02524e47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42C875F-BBF3-4AF7-A947-B65D8ABC6DAD}"/>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2EEC9B6-C89A-42E3-8ABD-1E2D90314DBA}"/>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C05C05-410C-4EAE-85E3-FA285E85703B}"/>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658E60-FDEF-4801-AB74-EECCE09B13F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57A891E-DDEF-418D-B358-F6312205AD8D}"/>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07648F4-CEC4-4CB2-AB73-805107A7F4F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151CDA-01D5-4FCB-A777-102F30B7D6FD}"/>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EDF4072-6D81-46A9-9091-A68AFE90BDBC}"/>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875297-DDFB-4ABF-8868-8A2B412C3C14}"/>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E3E2605-D562-4AD5-91D2-0EE062562A1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92d2e0949b4b59" /><Relationship Type="http://schemas.openxmlformats.org/officeDocument/2006/relationships/slideLayout" Target="/ppt/slideLayouts/slideLayout1.xml" Id="R5e6546643d514870" /><Relationship Type="http://schemas.openxmlformats.org/officeDocument/2006/relationships/slideLayout" Target="/ppt/slideLayouts/slideLayout2.xml" Id="R2cf1d428670d4955" /><Relationship Type="http://schemas.openxmlformats.org/officeDocument/2006/relationships/slideLayout" Target="/ppt/slideLayouts/slideLayout3.xml" Id="R8e1ccf69154b4336" /><Relationship Type="http://schemas.openxmlformats.org/officeDocument/2006/relationships/slideLayout" Target="/ppt/slideLayouts/slideLayout4.xml" Id="Re754ff20459047f9" /><Relationship Type="http://schemas.openxmlformats.org/officeDocument/2006/relationships/slideLayout" Target="/ppt/slideLayouts/slideLayout5.xml" Id="R16cb66af3bf04de3" /><Relationship Type="http://schemas.openxmlformats.org/officeDocument/2006/relationships/slideLayout" Target="/ppt/slideLayouts/slideLayout6.xml" Id="R3b8444bca7c542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6546643d514870"/>
    <p:sldLayoutId xmlns:r="http://schemas.openxmlformats.org/officeDocument/2006/relationships" id="2147483650" r:id="R2cf1d428670d4955"/>
    <p:sldLayoutId xmlns:r="http://schemas.openxmlformats.org/officeDocument/2006/relationships" id="2147483651" r:id="R8e1ccf69154b4336"/>
    <p:sldLayoutId xmlns:r="http://schemas.openxmlformats.org/officeDocument/2006/relationships" id="2147483652" r:id="Re754ff20459047f9"/>
    <p:sldLayoutId xmlns:r="http://schemas.openxmlformats.org/officeDocument/2006/relationships" id="2147483653" r:id="R16cb66af3bf04de3"/>
    <p:sldLayoutId xmlns:r="http://schemas.openxmlformats.org/officeDocument/2006/relationships" id="2147483654" r:id="R3b8444bca7c542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23e0ae1be504cc9" /><Relationship Type="http://schemas.openxmlformats.org/officeDocument/2006/relationships/notesSlide" Target="/ppt/notesSlides/notesSlide1.xml" Id="Ra7d18202ee6d4eb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5002a1432334166" /><Relationship Type="http://schemas.openxmlformats.org/officeDocument/2006/relationships/notesSlide" Target="/ppt/notesSlides/notesSlide2.xml" Id="R484de9921f344b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f79f6b39faa4baf" /><Relationship Type="http://schemas.openxmlformats.org/officeDocument/2006/relationships/notesSlide" Target="/ppt/notesSlides/notesSlide3.xml" Id="R5df3e8015ccd41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ad759dccb0047d0" /><Relationship Type="http://schemas.openxmlformats.org/officeDocument/2006/relationships/notesSlide" Target="/ppt/notesSlides/notesSlide4.xml" Id="R6551bd5df49e41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6c2ca2a40f54406" /><Relationship Type="http://schemas.openxmlformats.org/officeDocument/2006/relationships/notesSlide" Target="/ppt/notesSlides/notesSlide5.xml" Id="R87cca35cee11426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a93f102d5048a7" /><Relationship Type="http://schemas.openxmlformats.org/officeDocument/2006/relationships/notesSlide" Target="/ppt/notesSlides/notesSlide6.xml" Id="R15417a6e37d344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bd644b930be4a2e" /><Relationship Type="http://schemas.openxmlformats.org/officeDocument/2006/relationships/notesSlide" Target="/ppt/notesSlides/notesSlide7.xml" Id="R2ed13ce9686341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70dc2f2bf4f47b6" /><Relationship Type="http://schemas.openxmlformats.org/officeDocument/2006/relationships/image" Target="/ppt/media/image.png" Id="Re6515153aec846bf" /><Relationship Type="http://schemas.openxmlformats.org/officeDocument/2006/relationships/notesSlide" Target="/ppt/notesSlides/notesSlide8.xml" Id="Rd9d0d7a1505d4d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26424b7bd414c97" /><Relationship Type="http://schemas.openxmlformats.org/officeDocument/2006/relationships/image" Target="/ppt/media/image2.png" Id="R25346cfc6bc04904" /><Relationship Type="http://schemas.openxmlformats.org/officeDocument/2006/relationships/notesSlide" Target="/ppt/notesSlides/notesSlide9.xml" Id="Rdb9545c435d84e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97e399e0653f4d2e" /><Relationship Type="http://schemas.openxmlformats.org/officeDocument/2006/relationships/notesSlide" Target="/ppt/notesSlides/notesSlide10.xml" Id="Rc42fe34421c0469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c2f55449c6c47a4" /><Relationship Type="http://schemas.openxmlformats.org/officeDocument/2006/relationships/notesSlide" Target="/ppt/notesSlides/notesSlide11.xml" Id="R5beb6ff87398467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1fe0678921d46d8" /><Relationship Type="http://schemas.openxmlformats.org/officeDocument/2006/relationships/chart" Target="/ppt/slides/charts/chart1.xml" Id="Rb29715315a0e41fc" /><Relationship Type="http://schemas.openxmlformats.org/officeDocument/2006/relationships/notesSlide" Target="/ppt/notesSlides/notesSlide12.xml" Id="Ra21db20d8507473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47c813e6c7d4a28" /><Relationship Type="http://schemas.openxmlformats.org/officeDocument/2006/relationships/notesSlide" Target="/ppt/notesSlides/notesSlide13.xml" Id="R51d309259f4c40b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baf598cc6a2491b" /><Relationship Type="http://schemas.openxmlformats.org/officeDocument/2006/relationships/notesSlide" Target="/ppt/notesSlides/notesSlide14.xml" Id="R91775f6724ea4bc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b27d3b9355f453d" /><Relationship Type="http://schemas.openxmlformats.org/officeDocument/2006/relationships/notesSlide" Target="/ppt/notesSlides/notesSlide15.xml" Id="Rbcffc528e5e741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52c7ab0662b4975" /><Relationship Type="http://schemas.openxmlformats.org/officeDocument/2006/relationships/notesSlide" Target="/ppt/notesSlides/notesSlide16.xml" Id="R693817ff9c07412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731924a10164378" /><Relationship Type="http://schemas.openxmlformats.org/officeDocument/2006/relationships/notesSlide" Target="/ppt/notesSlides/notesSlide17.xml" Id="R4220009a8f8a4b0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37eec2c4b0e4809" /><Relationship Type="http://schemas.openxmlformats.org/officeDocument/2006/relationships/notesSlide" Target="/ppt/notesSlides/notesSlide18.xml" Id="Rb693879ffc76401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2aac0804a5f4598" /><Relationship Type="http://schemas.openxmlformats.org/officeDocument/2006/relationships/notesSlide" Target="/ppt/notesSlides/notesSlide19.xml" Id="Rdc88bae062df46c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fd450d2b42447d9" /><Relationship Type="http://schemas.openxmlformats.org/officeDocument/2006/relationships/notesSlide" Target="/ppt/notesSlides/notesSlide20.xml" Id="Rb8635994555a4b9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f27fc1ecc7948f6" /><Relationship Type="http://schemas.openxmlformats.org/officeDocument/2006/relationships/notesSlide" Target="/ppt/notesSlides/notesSlide21.xml" Id="R1048fdcaa080416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99b57da7a8444650" /><Relationship Type="http://schemas.openxmlformats.org/officeDocument/2006/relationships/notesSlide" Target="/ppt/notesSlides/notesSlide22.xml" Id="R87152f3ddf88473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58ac37eb5b244ef" /><Relationship Type="http://schemas.openxmlformats.org/officeDocument/2006/relationships/notesSlide" Target="/ppt/notesSlides/notesSlide23.xml" Id="Rb57a56f572c6419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2aff86652c1436c" /><Relationship Type="http://schemas.openxmlformats.org/officeDocument/2006/relationships/notesSlide" Target="/ppt/notesSlides/notesSlide24.xml" Id="Rfc53ed8c0faa4069"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7340948e2c5d4f7c" /><Relationship Type="http://schemas.openxmlformats.org/officeDocument/2006/relationships/notesSlide" Target="/ppt/notesSlides/notesSlide25.xml" Id="Rd0102d975620456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d12b5e307bc4750" /><Relationship Type="http://schemas.openxmlformats.org/officeDocument/2006/relationships/hyperlink" Target="https://arxiv.org/abs/2005.11401" TargetMode="External" Id="R53b98420b17a4a85" /><Relationship Type="http://schemas.openxmlformats.org/officeDocument/2006/relationships/hyperlink" Target="https://arxiv.org/abs/2311.09735" TargetMode="External" Id="R3ffb4217921749b7" /><Relationship Type="http://schemas.openxmlformats.org/officeDocument/2006/relationships/hyperlink" Target="https://aclanthology.org/2023.emnlp-main.398/" TargetMode="External" Id="R4a2c6ee33e9d4ea6" /><Relationship Type="http://schemas.openxmlformats.org/officeDocument/2006/relationships/hyperlink" Target="https://aclanthology.org/2024.tacl-1.9/" TargetMode="External" Id="Rf21a7ee066a14e84" /><Relationship Type="http://schemas.openxmlformats.org/officeDocument/2006/relationships/notesSlide" Target="/ppt/notesSlides/notesSlide26.xml" Id="Rc31388256ff149e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Answers citing FC (%)</c:v>
          </c:tx>
          <c:spPr>
            <a:solidFill xmlns:a="http://schemas.openxmlformats.org/drawingml/2006/main">
              <a:srgbClr val="B42146"/>
            </a:solidFill>
          </c:spPr>
          <c:invertIfNegative val="0"/>
          <c:cat>
            <c:strRef>
              <c:f>'Chart Data'!$A$2:$A$4</c:f>
              <c:strCache>
                <c:ptCount val="3"/>
                <c:pt idx="0">
                  <c:v>Baseline</c:v>
                </c:pt>
                <c:pt idx="1">
                  <c:v>Improved pages</c:v>
                </c:pt>
                <c:pt idx="2">
                  <c:v>Same pages: repeat</c:v>
                </c:pt>
              </c:strCache>
            </c:strRef>
          </c:cat>
          <c:val>
            <c:numRef>
              <c:f>'Chart Data'!$B$2:$B$4</c:f>
              <c:numCache>
                <c:formatCode>0"%"</c:formatCode>
                <c:ptCount val="3"/>
                <c:pt idx="0">
                  <c:v>40</c:v>
                </c:pt>
                <c:pt idx="1">
                  <c:v>49.3103448276</c:v>
                </c:pt>
                <c:pt idx="2">
                  <c:v>52.4137931034</c:v>
                </c:pt>
              </c:numCache>
            </c:numRef>
          </c:val>
        </c:ser>
        <c:dLbls>
          <c:numFmt formatCode="0.0&quot;%&quot;" sourceLinked="0"/>
          <c:txPr>
            <a:bodyPr xmlns:a="http://schemas.openxmlformats.org/drawingml/2006/main" anchorCtr="1"/>
            <a:lstStyle xmlns:a="http://schemas.openxmlformats.org/drawingml/2006/main"/>
            <a:p xmlns:a="http://schemas.openxmlformats.org/drawingml/2006/main">
              <a:pPr>
                <a:defRPr sz="2850">
                  <a:latin typeface="Arial"/>
                  <a:ea typeface="Arial"/>
                  <a:cs typeface="Arial"/>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100">
                <a:solidFill>
                  <a:srgbClr val="666666"/>
                </a:solidFill>
                <a:latin typeface="Arial"/>
                <a:ea typeface="Arial"/>
                <a:cs typeface="Arial"/>
              </a:defRPr>
            </a:pPr>
          </a:p>
        </c:txPr>
        <c:crossAx val="48672768"/>
      </c:catAx>
      <c:valAx>
        <c:axId val="48672768"/>
        <c:scaling>
          <c:orientation val="minMax"/>
          <c:max val="60"/>
          <c:min val="0"/>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Arial"/>
                <a:ea typeface="Arial"/>
                <a:cs typeface="Arial"/>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42D3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30BD0B-7ABE-4BB0-93DC-DC595C1E0381}"/>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83D5D2"/>
                </a:solidFill>
                <a:latin typeface="Arial"/>
                <a:ea typeface="Arial"/>
                <a:cs typeface="Arial"/>
              </a:defRPr>
            </a:defPPr>
            <a:lvl1pPr>
              <a:defRPr sz="1425" b="1">
                <a:solidFill>
                  <a:srgbClr val="83D5D2"/>
                </a:solidFill>
                <a:latin typeface="Arial"/>
                <a:ea typeface="Arial"/>
                <a:cs typeface="Arial"/>
              </a:defRPr>
            </a:lvl1pPr>
            <a:lvl2pPr>
              <a:defRPr sz="1425" b="1">
                <a:solidFill>
                  <a:srgbClr val="83D5D2"/>
                </a:solidFill>
                <a:latin typeface="Arial"/>
                <a:ea typeface="Arial"/>
                <a:cs typeface="Arial"/>
              </a:defRPr>
            </a:lvl2pPr>
            <a:lvl3pPr>
              <a:defRPr sz="1425" b="1">
                <a:solidFill>
                  <a:srgbClr val="83D5D2"/>
                </a:solidFill>
                <a:latin typeface="Arial"/>
                <a:ea typeface="Arial"/>
                <a:cs typeface="Arial"/>
              </a:defRPr>
            </a:lvl3pPr>
            <a:lvl4pPr>
              <a:defRPr sz="1425" b="1">
                <a:solidFill>
                  <a:srgbClr val="83D5D2"/>
                </a:solidFill>
                <a:latin typeface="Arial"/>
                <a:ea typeface="Arial"/>
                <a:cs typeface="Arial"/>
              </a:defRPr>
            </a:lvl4pPr>
            <a:lvl5pPr>
              <a:defRPr sz="1425" b="1">
                <a:solidFill>
                  <a:srgbClr val="83D5D2"/>
                </a:solidFill>
                <a:latin typeface="Arial"/>
                <a:ea typeface="Arial"/>
                <a:cs typeface="Arial"/>
              </a:defRPr>
            </a:lvl5pPr>
            <a:lvl6pPr>
              <a:defRPr sz="1425" b="1">
                <a:solidFill>
                  <a:srgbClr val="83D5D2"/>
                </a:solidFill>
                <a:latin typeface="Arial"/>
                <a:ea typeface="Arial"/>
                <a:cs typeface="Arial"/>
              </a:defRPr>
            </a:lvl6pPr>
            <a:lvl7pPr>
              <a:defRPr sz="1425" b="1">
                <a:solidFill>
                  <a:srgbClr val="83D5D2"/>
                </a:solidFill>
                <a:latin typeface="Arial"/>
                <a:ea typeface="Arial"/>
                <a:cs typeface="Arial"/>
              </a:defRPr>
            </a:lvl7pPr>
            <a:lvl8pPr>
              <a:defRPr sz="1425" b="1">
                <a:solidFill>
                  <a:srgbClr val="83D5D2"/>
                </a:solidFill>
                <a:latin typeface="Arial"/>
                <a:ea typeface="Arial"/>
                <a:cs typeface="Arial"/>
              </a:defRPr>
            </a:lvl8pPr>
            <a:lvl9pPr>
              <a:defRPr sz="1425" b="1">
                <a:solidFill>
                  <a:srgbClr val="83D5D2"/>
                </a:solidFill>
                <a:latin typeface="Arial"/>
                <a:ea typeface="Arial"/>
                <a:cs typeface="Arial"/>
              </a:defRPr>
            </a:lvl9pPr>
          </a:lstStyle>
          <a:p xmlns:a="http://schemas.openxmlformats.org/drawingml/2006/main">
            <a:pPr>
              <a:defRPr sz="1425" b="1">
                <a:solidFill>
                  <a:srgbClr val="83D5D2"/>
                </a:solidFill>
                <a:latin typeface="Arial"/>
                <a:ea typeface="Arial"/>
                <a:cs typeface="Arial"/>
              </a:defRPr>
            </a:pPr>
            <a:r>
              <a:rPr sz="1425" b="1">
                <a:solidFill>
                  <a:srgbClr val="83D5D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29ABBAD8-924A-42A7-B25A-B86209DB8114}"/>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FFFFFF"/>
                </a:solidFill>
                <a:latin typeface="Arial"/>
                <a:ea typeface="Arial"/>
                <a:cs typeface="Arial"/>
              </a:defRPr>
            </a:defPPr>
            <a:lvl1pPr>
              <a:defRPr sz="3675" b="1">
                <a:solidFill>
                  <a:srgbClr val="FFFFFF"/>
                </a:solidFill>
                <a:latin typeface="Arial"/>
                <a:ea typeface="Arial"/>
                <a:cs typeface="Arial"/>
              </a:defRPr>
            </a:lvl1pPr>
            <a:lvl2pPr>
              <a:defRPr sz="3675" b="1">
                <a:solidFill>
                  <a:srgbClr val="FFFFFF"/>
                </a:solidFill>
                <a:latin typeface="Arial"/>
                <a:ea typeface="Arial"/>
                <a:cs typeface="Arial"/>
              </a:defRPr>
            </a:lvl2pPr>
            <a:lvl3pPr>
              <a:defRPr sz="3675" b="1">
                <a:solidFill>
                  <a:srgbClr val="FFFFFF"/>
                </a:solidFill>
                <a:latin typeface="Arial"/>
                <a:ea typeface="Arial"/>
                <a:cs typeface="Arial"/>
              </a:defRPr>
            </a:lvl3pPr>
            <a:lvl4pPr>
              <a:defRPr sz="3675" b="1">
                <a:solidFill>
                  <a:srgbClr val="FFFFFF"/>
                </a:solidFill>
                <a:latin typeface="Arial"/>
                <a:ea typeface="Arial"/>
                <a:cs typeface="Arial"/>
              </a:defRPr>
            </a:lvl4pPr>
            <a:lvl5pPr>
              <a:defRPr sz="3675" b="1">
                <a:solidFill>
                  <a:srgbClr val="FFFFFF"/>
                </a:solidFill>
                <a:latin typeface="Arial"/>
                <a:ea typeface="Arial"/>
                <a:cs typeface="Arial"/>
              </a:defRPr>
            </a:lvl5pPr>
            <a:lvl6pPr>
              <a:defRPr sz="3675" b="1">
                <a:solidFill>
                  <a:srgbClr val="FFFFFF"/>
                </a:solidFill>
                <a:latin typeface="Arial"/>
                <a:ea typeface="Arial"/>
                <a:cs typeface="Arial"/>
              </a:defRPr>
            </a:lvl6pPr>
            <a:lvl7pPr>
              <a:defRPr sz="3675" b="1">
                <a:solidFill>
                  <a:srgbClr val="FFFFFF"/>
                </a:solidFill>
                <a:latin typeface="Arial"/>
                <a:ea typeface="Arial"/>
                <a:cs typeface="Arial"/>
              </a:defRPr>
            </a:lvl7pPr>
            <a:lvl8pPr>
              <a:defRPr sz="3675" b="1">
                <a:solidFill>
                  <a:srgbClr val="FFFFFF"/>
                </a:solidFill>
                <a:latin typeface="Arial"/>
                <a:ea typeface="Arial"/>
                <a:cs typeface="Arial"/>
              </a:defRPr>
            </a:lvl8pPr>
            <a:lvl9pPr>
              <a:defRPr sz="3675" b="1">
                <a:solidFill>
                  <a:srgbClr val="FFFFFF"/>
                </a:solidFill>
                <a:latin typeface="Arial"/>
                <a:ea typeface="Arial"/>
                <a:cs typeface="Arial"/>
              </a:defRPr>
            </a:lvl9pPr>
          </a:lstStyle>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Making Flight Centre information easier for AI to use</a:t>
            </a:r>
          </a:p>
        </p:txBody>
      </p:sp>
      <p:sp>
        <p:nvSpPr>
          <p:cNvPr id="3" name="">
            <a:extLst xmlns:a="http://schemas.openxmlformats.org/drawingml/2006/main">
              <a:ext uri="{FF2B5EF4-FFF2-40B4-BE49-F238E27FC236}">
                <a16:creationId xmlns:a16="http://schemas.microsoft.com/office/drawing/2014/main" id="{723DA943-1322-4431-99B1-9F27BCBA01E6}"/>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83D5D2"/>
                </a:solidFill>
                <a:latin typeface="Arial"/>
                <a:ea typeface="Arial"/>
                <a:cs typeface="Arial"/>
              </a:defRPr>
            </a:defPPr>
            <a:lvl1pPr>
              <a:defRPr sz="2100" b="1">
                <a:solidFill>
                  <a:srgbClr val="83D5D2"/>
                </a:solidFill>
                <a:latin typeface="Arial"/>
                <a:ea typeface="Arial"/>
                <a:cs typeface="Arial"/>
              </a:defRPr>
            </a:lvl1pPr>
            <a:lvl2pPr>
              <a:defRPr sz="2100" b="1">
                <a:solidFill>
                  <a:srgbClr val="83D5D2"/>
                </a:solidFill>
                <a:latin typeface="Arial"/>
                <a:ea typeface="Arial"/>
                <a:cs typeface="Arial"/>
              </a:defRPr>
            </a:lvl2pPr>
            <a:lvl3pPr>
              <a:defRPr sz="2100" b="1">
                <a:solidFill>
                  <a:srgbClr val="83D5D2"/>
                </a:solidFill>
                <a:latin typeface="Arial"/>
                <a:ea typeface="Arial"/>
                <a:cs typeface="Arial"/>
              </a:defRPr>
            </a:lvl3pPr>
            <a:lvl4pPr>
              <a:defRPr sz="2100" b="1">
                <a:solidFill>
                  <a:srgbClr val="83D5D2"/>
                </a:solidFill>
                <a:latin typeface="Arial"/>
                <a:ea typeface="Arial"/>
                <a:cs typeface="Arial"/>
              </a:defRPr>
            </a:lvl4pPr>
            <a:lvl5pPr>
              <a:defRPr sz="2100" b="1">
                <a:solidFill>
                  <a:srgbClr val="83D5D2"/>
                </a:solidFill>
                <a:latin typeface="Arial"/>
                <a:ea typeface="Arial"/>
                <a:cs typeface="Arial"/>
              </a:defRPr>
            </a:lvl5pPr>
            <a:lvl6pPr>
              <a:defRPr sz="2100" b="1">
                <a:solidFill>
                  <a:srgbClr val="83D5D2"/>
                </a:solidFill>
                <a:latin typeface="Arial"/>
                <a:ea typeface="Arial"/>
                <a:cs typeface="Arial"/>
              </a:defRPr>
            </a:lvl6pPr>
            <a:lvl7pPr>
              <a:defRPr sz="2100" b="1">
                <a:solidFill>
                  <a:srgbClr val="83D5D2"/>
                </a:solidFill>
                <a:latin typeface="Arial"/>
                <a:ea typeface="Arial"/>
                <a:cs typeface="Arial"/>
              </a:defRPr>
            </a:lvl7pPr>
            <a:lvl8pPr>
              <a:defRPr sz="2100" b="1">
                <a:solidFill>
                  <a:srgbClr val="83D5D2"/>
                </a:solidFill>
                <a:latin typeface="Arial"/>
                <a:ea typeface="Arial"/>
                <a:cs typeface="Arial"/>
              </a:defRPr>
            </a:lvl8pPr>
            <a:lvl9pPr>
              <a:defRPr sz="2100" b="1">
                <a:solidFill>
                  <a:srgbClr val="83D5D2"/>
                </a:solidFill>
                <a:latin typeface="Arial"/>
                <a:ea typeface="Arial"/>
                <a:cs typeface="Arial"/>
              </a:defRPr>
            </a:lvl9pPr>
          </a:lstStyle>
          <a:p xmlns:a="http://schemas.openxmlformats.org/drawingml/2006/main">
            <a:pPr>
              <a:defRPr sz="2100" b="1">
                <a:solidFill>
                  <a:srgbClr val="83D5D2"/>
                </a:solidFill>
                <a:latin typeface="Arial"/>
                <a:ea typeface="Arial"/>
                <a:cs typeface="Arial"/>
              </a:defRPr>
            </a:pPr>
            <a:r>
              <a:rPr sz="2100" b="1">
                <a:solidFill>
                  <a:srgbClr val="83D5D2"/>
                </a:solidFill>
                <a:latin typeface="Arial"/>
                <a:ea typeface="Arial"/>
                <a:cs typeface="Arial"/>
              </a:rPr>
              <a:t>Flight Centre Travel Group • Semester 2 project</a:t>
            </a:r>
          </a:p>
        </p:txBody>
      </p:sp>
      <p:sp>
        <p:nvSpPr>
          <p:cNvPr id="4" name="">
            <a:extLst xmlns:a="http://schemas.openxmlformats.org/drawingml/2006/main">
              <a:ext uri="{FF2B5EF4-FFF2-40B4-BE49-F238E27FC236}">
                <a16:creationId xmlns:a16="http://schemas.microsoft.com/office/drawing/2014/main" id="{A7CE2713-8688-4719-8DCE-1669310A31C7}"/>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6C7CF"/>
                </a:solidFill>
                <a:latin typeface="Arial"/>
                <a:ea typeface="Arial"/>
                <a:cs typeface="Arial"/>
              </a:defRPr>
            </a:defPPr>
            <a:lvl1pPr>
              <a:defRPr sz="1200" b="0">
                <a:solidFill>
                  <a:srgbClr val="B6C7CF"/>
                </a:solidFill>
                <a:latin typeface="Arial"/>
                <a:ea typeface="Arial"/>
                <a:cs typeface="Arial"/>
              </a:defRPr>
            </a:lvl1pPr>
            <a:lvl2pPr>
              <a:defRPr sz="1200" b="0">
                <a:solidFill>
                  <a:srgbClr val="B6C7CF"/>
                </a:solidFill>
                <a:latin typeface="Arial"/>
                <a:ea typeface="Arial"/>
                <a:cs typeface="Arial"/>
              </a:defRPr>
            </a:lvl2pPr>
            <a:lvl3pPr>
              <a:defRPr sz="1200" b="0">
                <a:solidFill>
                  <a:srgbClr val="B6C7CF"/>
                </a:solidFill>
                <a:latin typeface="Arial"/>
                <a:ea typeface="Arial"/>
                <a:cs typeface="Arial"/>
              </a:defRPr>
            </a:lvl3pPr>
            <a:lvl4pPr>
              <a:defRPr sz="1200" b="0">
                <a:solidFill>
                  <a:srgbClr val="B6C7CF"/>
                </a:solidFill>
                <a:latin typeface="Arial"/>
                <a:ea typeface="Arial"/>
                <a:cs typeface="Arial"/>
              </a:defRPr>
            </a:lvl4pPr>
            <a:lvl5pPr>
              <a:defRPr sz="1200" b="0">
                <a:solidFill>
                  <a:srgbClr val="B6C7CF"/>
                </a:solidFill>
                <a:latin typeface="Arial"/>
                <a:ea typeface="Arial"/>
                <a:cs typeface="Arial"/>
              </a:defRPr>
            </a:lvl5pPr>
            <a:lvl6pPr>
              <a:defRPr sz="1200" b="0">
                <a:solidFill>
                  <a:srgbClr val="B6C7CF"/>
                </a:solidFill>
                <a:latin typeface="Arial"/>
                <a:ea typeface="Arial"/>
                <a:cs typeface="Arial"/>
              </a:defRPr>
            </a:lvl6pPr>
            <a:lvl7pPr>
              <a:defRPr sz="1200" b="0">
                <a:solidFill>
                  <a:srgbClr val="B6C7CF"/>
                </a:solidFill>
                <a:latin typeface="Arial"/>
                <a:ea typeface="Arial"/>
                <a:cs typeface="Arial"/>
              </a:defRPr>
            </a:lvl7pPr>
            <a:lvl8pPr>
              <a:defRPr sz="1200" b="0">
                <a:solidFill>
                  <a:srgbClr val="B6C7CF"/>
                </a:solidFill>
                <a:latin typeface="Arial"/>
                <a:ea typeface="Arial"/>
                <a:cs typeface="Arial"/>
              </a:defRPr>
            </a:lvl8pPr>
            <a:lvl9pPr>
              <a:defRPr sz="1200" b="0">
                <a:solidFill>
                  <a:srgbClr val="B6C7CF"/>
                </a:solidFill>
                <a:latin typeface="Arial"/>
                <a:ea typeface="Arial"/>
                <a:cs typeface="Arial"/>
              </a:defRPr>
            </a:lvl9pPr>
          </a:lstStyle>
          <a:p xmlns:a="http://schemas.openxmlformats.org/drawingml/2006/main">
            <a:pPr>
              <a:defRPr sz="1200" b="0">
                <a:solidFill>
                  <a:srgbClr val="B6C7CF"/>
                </a:solidFill>
                <a:latin typeface="Arial"/>
                <a:ea typeface="Arial"/>
                <a:cs typeface="Arial"/>
              </a:defRPr>
            </a:pPr>
            <a:r>
              <a:rPr sz="1200" b="0">
                <a:solidFill>
                  <a:srgbClr val="B6C7CF"/>
                </a:solidFill>
                <a:latin typeface="Arial"/>
                <a:ea typeface="Arial"/>
                <a:cs typeface="Arial"/>
              </a:rPr>
              <a:t>1 / 18   •   Sources and detail in speaker notes</a:t>
            </a:r>
          </a:p>
        </p:txBody>
      </p:sp>
      <p:sp>
        <p:nvSpPr>
          <p:cNvPr id="5" name="">
            <a:extLst xmlns:a="http://schemas.openxmlformats.org/drawingml/2006/main">
              <a:ext uri="{FF2B5EF4-FFF2-40B4-BE49-F238E27FC236}">
                <a16:creationId xmlns:a16="http://schemas.microsoft.com/office/drawing/2014/main" id="{081DBDE9-054A-4AB8-B0DF-A73C335DFD49}"/>
              </a:ext>
            </a:extLst>
          </p:cNvPr>
          <p:cNvSpPr>
            <a:spLocks xmlns:a="http://schemas.openxmlformats.org/drawingml/2006/main" noGrp="1"/>
          </p:cNvSpPr>
          <p:nvPr/>
        </p:nvSpPr>
        <p:spPr>
          <a:xfrm xmlns:a="http://schemas.openxmlformats.org/drawingml/2006/main">
            <a:off x="619125" y="2381250"/>
            <a:ext cx="13335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500" b="1">
                <a:solidFill>
                  <a:srgbClr val="FFFFFF"/>
                </a:solidFill>
                <a:latin typeface="Arial"/>
                <a:ea typeface="Arial"/>
                <a:cs typeface="Arial"/>
              </a:defRPr>
            </a:defPPr>
            <a:lvl1pPr>
              <a:defRPr sz="4500" b="1">
                <a:solidFill>
                  <a:srgbClr val="FFFFFF"/>
                </a:solidFill>
                <a:latin typeface="Arial"/>
                <a:ea typeface="Arial"/>
                <a:cs typeface="Arial"/>
              </a:defRPr>
            </a:lvl1pPr>
            <a:lvl2pPr>
              <a:defRPr sz="4500" b="1">
                <a:solidFill>
                  <a:srgbClr val="FFFFFF"/>
                </a:solidFill>
                <a:latin typeface="Arial"/>
                <a:ea typeface="Arial"/>
                <a:cs typeface="Arial"/>
              </a:defRPr>
            </a:lvl2pPr>
            <a:lvl3pPr>
              <a:defRPr sz="4500" b="1">
                <a:solidFill>
                  <a:srgbClr val="FFFFFF"/>
                </a:solidFill>
                <a:latin typeface="Arial"/>
                <a:ea typeface="Arial"/>
                <a:cs typeface="Arial"/>
              </a:defRPr>
            </a:lvl3pPr>
            <a:lvl4pPr>
              <a:defRPr sz="4500" b="1">
                <a:solidFill>
                  <a:srgbClr val="FFFFFF"/>
                </a:solidFill>
                <a:latin typeface="Arial"/>
                <a:ea typeface="Arial"/>
                <a:cs typeface="Arial"/>
              </a:defRPr>
            </a:lvl4pPr>
            <a:lvl5pPr>
              <a:defRPr sz="4500" b="1">
                <a:solidFill>
                  <a:srgbClr val="FFFFFF"/>
                </a:solidFill>
                <a:latin typeface="Arial"/>
                <a:ea typeface="Arial"/>
                <a:cs typeface="Arial"/>
              </a:defRPr>
            </a:lvl5pPr>
            <a:lvl6pPr>
              <a:defRPr sz="4500" b="1">
                <a:solidFill>
                  <a:srgbClr val="FFFFFF"/>
                </a:solidFill>
                <a:latin typeface="Arial"/>
                <a:ea typeface="Arial"/>
                <a:cs typeface="Arial"/>
              </a:defRPr>
            </a:lvl6pPr>
            <a:lvl7pPr>
              <a:defRPr sz="4500" b="1">
                <a:solidFill>
                  <a:srgbClr val="FFFFFF"/>
                </a:solidFill>
                <a:latin typeface="Arial"/>
                <a:ea typeface="Arial"/>
                <a:cs typeface="Arial"/>
              </a:defRPr>
            </a:lvl7pPr>
            <a:lvl8pPr>
              <a:defRPr sz="4500" b="1">
                <a:solidFill>
                  <a:srgbClr val="FFFFFF"/>
                </a:solidFill>
                <a:latin typeface="Arial"/>
                <a:ea typeface="Arial"/>
                <a:cs typeface="Arial"/>
              </a:defRPr>
            </a:lvl8pPr>
            <a:lvl9pPr>
              <a:defRPr sz="4500" b="1">
                <a:solidFill>
                  <a:srgbClr val="FFFFFF"/>
                </a:solidFill>
                <a:latin typeface="Arial"/>
                <a:ea typeface="Arial"/>
                <a:cs typeface="Arial"/>
              </a:defRPr>
            </a:lvl9pPr>
          </a:lstStyle>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Can clearer pages help AI use Flight Centre as a source?</a:t>
            </a:r>
          </a:p>
        </p:txBody>
      </p:sp>
      <p:sp>
        <p:nvSpPr>
          <p:cNvPr id="6" name="">
            <a:extLst xmlns:a="http://schemas.openxmlformats.org/drawingml/2006/main">
              <a:ext uri="{FF2B5EF4-FFF2-40B4-BE49-F238E27FC236}">
                <a16:creationId xmlns:a16="http://schemas.microsoft.com/office/drawing/2014/main" id="{FF0D6C03-30E0-4EB9-8F5E-85DB628712B6}"/>
              </a:ext>
            </a:extLst>
          </p:cNvPr>
          <p:cNvSpPr>
            <a:spLocks xmlns:a="http://schemas.openxmlformats.org/drawingml/2006/main" noGrp="1"/>
          </p:cNvSpPr>
          <p:nvPr/>
        </p:nvSpPr>
        <p:spPr>
          <a:xfrm xmlns:a="http://schemas.openxmlformats.org/drawingml/2006/main">
            <a:off x="619125" y="5238750"/>
            <a:ext cx="1381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83D5D2"/>
                </a:solidFill>
                <a:latin typeface="Arial"/>
                <a:ea typeface="Arial"/>
                <a:cs typeface="Arial"/>
              </a:defRPr>
            </a:defPPr>
            <a:lvl1pPr>
              <a:defRPr sz="2850" b="1">
                <a:solidFill>
                  <a:srgbClr val="83D5D2"/>
                </a:solidFill>
                <a:latin typeface="Arial"/>
                <a:ea typeface="Arial"/>
                <a:cs typeface="Arial"/>
              </a:defRPr>
            </a:lvl1pPr>
            <a:lvl2pPr>
              <a:defRPr sz="2850" b="1">
                <a:solidFill>
                  <a:srgbClr val="83D5D2"/>
                </a:solidFill>
                <a:latin typeface="Arial"/>
                <a:ea typeface="Arial"/>
                <a:cs typeface="Arial"/>
              </a:defRPr>
            </a:lvl2pPr>
            <a:lvl3pPr>
              <a:defRPr sz="2850" b="1">
                <a:solidFill>
                  <a:srgbClr val="83D5D2"/>
                </a:solidFill>
                <a:latin typeface="Arial"/>
                <a:ea typeface="Arial"/>
                <a:cs typeface="Arial"/>
              </a:defRPr>
            </a:lvl3pPr>
            <a:lvl4pPr>
              <a:defRPr sz="2850" b="1">
                <a:solidFill>
                  <a:srgbClr val="83D5D2"/>
                </a:solidFill>
                <a:latin typeface="Arial"/>
                <a:ea typeface="Arial"/>
                <a:cs typeface="Arial"/>
              </a:defRPr>
            </a:lvl4pPr>
            <a:lvl5pPr>
              <a:defRPr sz="2850" b="1">
                <a:solidFill>
                  <a:srgbClr val="83D5D2"/>
                </a:solidFill>
                <a:latin typeface="Arial"/>
                <a:ea typeface="Arial"/>
                <a:cs typeface="Arial"/>
              </a:defRPr>
            </a:lvl5pPr>
            <a:lvl6pPr>
              <a:defRPr sz="2850" b="1">
                <a:solidFill>
                  <a:srgbClr val="83D5D2"/>
                </a:solidFill>
                <a:latin typeface="Arial"/>
                <a:ea typeface="Arial"/>
                <a:cs typeface="Arial"/>
              </a:defRPr>
            </a:lvl6pPr>
            <a:lvl7pPr>
              <a:defRPr sz="2850" b="1">
                <a:solidFill>
                  <a:srgbClr val="83D5D2"/>
                </a:solidFill>
                <a:latin typeface="Arial"/>
                <a:ea typeface="Arial"/>
                <a:cs typeface="Arial"/>
              </a:defRPr>
            </a:lvl7pPr>
            <a:lvl8pPr>
              <a:defRPr sz="2850" b="1">
                <a:solidFill>
                  <a:srgbClr val="83D5D2"/>
                </a:solidFill>
                <a:latin typeface="Arial"/>
                <a:ea typeface="Arial"/>
                <a:cs typeface="Arial"/>
              </a:defRPr>
            </a:lvl8pPr>
            <a:lvl9pPr>
              <a:defRPr sz="2850" b="1">
                <a:solidFill>
                  <a:srgbClr val="83D5D2"/>
                </a:solidFill>
                <a:latin typeface="Arial"/>
                <a:ea typeface="Arial"/>
                <a:cs typeface="Arial"/>
              </a:defRPr>
            </a:lvl9pPr>
          </a:lstStyle>
          <a:p xmlns:a="http://schemas.openxmlformats.org/drawingml/2006/main">
            <a:pPr>
              <a:defRPr sz="2850" b="1">
                <a:solidFill>
                  <a:srgbClr val="83D5D2"/>
                </a:solidFill>
                <a:latin typeface="Arial"/>
                <a:ea typeface="Arial"/>
                <a:cs typeface="Arial"/>
              </a:defRPr>
            </a:pPr>
            <a:r>
              <a:rPr sz="2850" b="1">
                <a:solidFill>
                  <a:srgbClr val="83D5D2"/>
                </a:solidFill>
                <a:latin typeface="Arial"/>
                <a:ea typeface="Arial"/>
                <a:cs typeface="Arial"/>
              </a:rPr>
              <a:t>What we built  →  What we tested  →  What we learned</a:t>
            </a:r>
          </a:p>
        </p:txBody>
      </p:sp>
    </p:spTree>
    <p:extLst>
      <p:ext uri="{BB962C8B-B14F-4D97-AF65-F5344CB8AC3E}">
        <p14:creationId xmlns:p14="http://schemas.microsoft.com/office/powerpoint/2010/main" val="1343119675"/>
      </p:ext>
    </p:extLst>
  </p:cSld>
</p:sld>
</file>

<file path=ppt/slides/slide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6E6A0FC-88DA-4B1E-9736-DD4547514C11}"/>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552D6F8F-89EE-4C32-A4B3-9A7AD3116887}"/>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What we measured</a:t>
            </a:r>
          </a:p>
        </p:txBody>
      </p:sp>
      <p:sp>
        <p:nvSpPr>
          <p:cNvPr id="3" name="">
            <a:extLst xmlns:a="http://schemas.openxmlformats.org/drawingml/2006/main">
              <a:ext uri="{FF2B5EF4-FFF2-40B4-BE49-F238E27FC236}">
                <a16:creationId xmlns:a16="http://schemas.microsoft.com/office/drawing/2014/main" id="{53EEBEF4-6932-4F08-89E8-6CB4009C6D8D}"/>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28F7699-D788-4BF3-85C0-AADE19F3903F}"/>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A reference to Flight Centre is not automatically a booking recommendation.</a:t>
            </a:r>
          </a:p>
        </p:txBody>
      </p:sp>
      <p:sp>
        <p:nvSpPr>
          <p:cNvPr id="5" name="">
            <a:extLst xmlns:a="http://schemas.openxmlformats.org/drawingml/2006/main">
              <a:ext uri="{FF2B5EF4-FFF2-40B4-BE49-F238E27FC236}">
                <a16:creationId xmlns:a16="http://schemas.microsoft.com/office/drawing/2014/main" id="{9888992B-DA86-4085-9CA9-E18ABB0C7A84}"/>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2 / 18   •   Sources and detail in speaker notes</a:t>
            </a:r>
          </a:p>
        </p:txBody>
      </p:sp>
      <p:sp>
        <p:nvSpPr>
          <p:cNvPr id="6" name="">
            <a:extLst xmlns:a="http://schemas.openxmlformats.org/drawingml/2006/main">
              <a:ext uri="{FF2B5EF4-FFF2-40B4-BE49-F238E27FC236}">
                <a16:creationId xmlns:a16="http://schemas.microsoft.com/office/drawing/2014/main" id="{B35E8BF7-06D2-4E94-8616-8B1747A99F8E}"/>
              </a:ext>
            </a:extLst>
          </p:cNvPr>
          <p:cNvSpPr>
            <a:spLocks xmlns:a="http://schemas.openxmlformats.org/drawingml/2006/main" noGrp="1"/>
          </p:cNvSpPr>
          <p:nvPr/>
        </p:nvSpPr>
        <p:spPr>
          <a:xfrm xmlns:a="http://schemas.openxmlformats.org/drawingml/2006/main">
            <a:off x="619125" y="3048000"/>
            <a:ext cx="3095625"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7" name="">
            <a:extLst xmlns:a="http://schemas.openxmlformats.org/drawingml/2006/main">
              <a:ext uri="{FF2B5EF4-FFF2-40B4-BE49-F238E27FC236}">
                <a16:creationId xmlns:a16="http://schemas.microsoft.com/office/drawing/2014/main" id="{BC2A5CFF-77DF-48C7-BE50-300F34B62C75}"/>
              </a:ext>
            </a:extLst>
          </p:cNvPr>
          <p:cNvSpPr>
            <a:spLocks xmlns:a="http://schemas.openxmlformats.org/drawingml/2006/main" noGrp="1"/>
          </p:cNvSpPr>
          <p:nvPr/>
        </p:nvSpPr>
        <p:spPr>
          <a:xfrm xmlns:a="http://schemas.openxmlformats.org/drawingml/2006/main">
            <a:off x="619125"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E57680D-54D9-45CC-B703-764C5F8E137B}"/>
              </a:ext>
            </a:extLst>
          </p:cNvPr>
          <p:cNvSpPr>
            <a:spLocks xmlns:a="http://schemas.openxmlformats.org/drawingml/2006/main" noGrp="1"/>
          </p:cNvSpPr>
          <p:nvPr/>
        </p:nvSpPr>
        <p:spPr>
          <a:xfrm xmlns:a="http://schemas.openxmlformats.org/drawingml/2006/main">
            <a:off x="809625" y="31908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Find</a:t>
            </a:r>
          </a:p>
        </p:txBody>
      </p:sp>
      <p:sp>
        <p:nvSpPr>
          <p:cNvPr id="9" name="">
            <a:extLst xmlns:a="http://schemas.openxmlformats.org/drawingml/2006/main">
              <a:ext uri="{FF2B5EF4-FFF2-40B4-BE49-F238E27FC236}">
                <a16:creationId xmlns:a16="http://schemas.microsoft.com/office/drawing/2014/main" id="{35609EE1-CF68-49DF-9CEE-029628609290}"/>
              </a:ext>
            </a:extLst>
          </p:cNvPr>
          <p:cNvSpPr>
            <a:spLocks xmlns:a="http://schemas.openxmlformats.org/drawingml/2006/main" noGrp="1"/>
          </p:cNvSpPr>
          <p:nvPr/>
        </p:nvSpPr>
        <p:spPr>
          <a:xfrm xmlns:a="http://schemas.openxmlformats.org/drawingml/2006/main">
            <a:off x="809625" y="3781425"/>
            <a:ext cx="2714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Information is available</a:t>
            </a:r>
          </a:p>
        </p:txBody>
      </p:sp>
      <p:sp>
        <p:nvSpPr>
          <p:cNvPr id="10" name="">
            <a:extLst xmlns:a="http://schemas.openxmlformats.org/drawingml/2006/main">
              <a:ext uri="{FF2B5EF4-FFF2-40B4-BE49-F238E27FC236}">
                <a16:creationId xmlns:a16="http://schemas.microsoft.com/office/drawing/2014/main" id="{63FC52C2-98F4-4F87-8B96-FE736E7FF5CB}"/>
              </a:ext>
            </a:extLst>
          </p:cNvPr>
          <p:cNvSpPr>
            <a:spLocks xmlns:a="http://schemas.openxmlformats.org/drawingml/2006/main" noGrp="1"/>
          </p:cNvSpPr>
          <p:nvPr/>
        </p:nvSpPr>
        <p:spPr>
          <a:xfrm xmlns:a="http://schemas.openxmlformats.org/drawingml/2006/main">
            <a:off x="3829050" y="3924300"/>
            <a:ext cx="304800" cy="285750"/>
          </a:xfrm>
          <a:prstGeom xmlns:a="http://schemas.openxmlformats.org/drawingml/2006/main" prst="rightArrow">
            <a:avLst/>
          </a:prstGeom>
          <a:solidFill xmlns:a="http://schemas.openxmlformats.org/drawingml/2006/main">
            <a:srgbClr val="087D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99F088AD-571F-4103-8740-B553A29BA76B}"/>
              </a:ext>
            </a:extLst>
          </p:cNvPr>
          <p:cNvSpPr>
            <a:spLocks xmlns:a="http://schemas.openxmlformats.org/drawingml/2006/main" noGrp="1"/>
          </p:cNvSpPr>
          <p:nvPr/>
        </p:nvSpPr>
        <p:spPr>
          <a:xfrm xmlns:a="http://schemas.openxmlformats.org/drawingml/2006/main">
            <a:off x="4248150" y="3048000"/>
            <a:ext cx="3095625"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12" name="">
            <a:extLst xmlns:a="http://schemas.openxmlformats.org/drawingml/2006/main">
              <a:ext uri="{FF2B5EF4-FFF2-40B4-BE49-F238E27FC236}">
                <a16:creationId xmlns:a16="http://schemas.microsoft.com/office/drawing/2014/main" id="{65D38CE7-55A2-44AB-A97C-9AF6FDBB9AB6}"/>
              </a:ext>
            </a:extLst>
          </p:cNvPr>
          <p:cNvSpPr>
            <a:spLocks xmlns:a="http://schemas.openxmlformats.org/drawingml/2006/main" noGrp="1"/>
          </p:cNvSpPr>
          <p:nvPr/>
        </p:nvSpPr>
        <p:spPr>
          <a:xfrm xmlns:a="http://schemas.openxmlformats.org/drawingml/2006/main">
            <a:off x="4248150"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8333782-A25F-46FE-8C32-0D75CE12DA0F}"/>
              </a:ext>
            </a:extLst>
          </p:cNvPr>
          <p:cNvSpPr>
            <a:spLocks xmlns:a="http://schemas.openxmlformats.org/drawingml/2006/main" noGrp="1"/>
          </p:cNvSpPr>
          <p:nvPr/>
        </p:nvSpPr>
        <p:spPr>
          <a:xfrm xmlns:a="http://schemas.openxmlformats.org/drawingml/2006/main">
            <a:off x="4438650" y="31908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Cite</a:t>
            </a:r>
          </a:p>
        </p:txBody>
      </p:sp>
      <p:sp>
        <p:nvSpPr>
          <p:cNvPr id="14" name="">
            <a:extLst xmlns:a="http://schemas.openxmlformats.org/drawingml/2006/main">
              <a:ext uri="{FF2B5EF4-FFF2-40B4-BE49-F238E27FC236}">
                <a16:creationId xmlns:a16="http://schemas.microsoft.com/office/drawing/2014/main" id="{AA319CAB-A10F-48FE-A606-CF647D087C22}"/>
              </a:ext>
            </a:extLst>
          </p:cNvPr>
          <p:cNvSpPr>
            <a:spLocks xmlns:a="http://schemas.openxmlformats.org/drawingml/2006/main" noGrp="1"/>
          </p:cNvSpPr>
          <p:nvPr/>
        </p:nvSpPr>
        <p:spPr>
          <a:xfrm xmlns:a="http://schemas.openxmlformats.org/drawingml/2006/main">
            <a:off x="4438650" y="3781425"/>
            <a:ext cx="2714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The answer references FC</a:t>
            </a:r>
          </a:p>
        </p:txBody>
      </p:sp>
      <p:sp>
        <p:nvSpPr>
          <p:cNvPr id="15" name="">
            <a:extLst xmlns:a="http://schemas.openxmlformats.org/drawingml/2006/main">
              <a:ext uri="{FF2B5EF4-FFF2-40B4-BE49-F238E27FC236}">
                <a16:creationId xmlns:a16="http://schemas.microsoft.com/office/drawing/2014/main" id="{6F5FFB44-4C9C-4047-9E93-29BE701027C5}"/>
              </a:ext>
            </a:extLst>
          </p:cNvPr>
          <p:cNvSpPr>
            <a:spLocks xmlns:a="http://schemas.openxmlformats.org/drawingml/2006/main" noGrp="1"/>
          </p:cNvSpPr>
          <p:nvPr/>
        </p:nvSpPr>
        <p:spPr>
          <a:xfrm xmlns:a="http://schemas.openxmlformats.org/drawingml/2006/main">
            <a:off x="7458075" y="3924300"/>
            <a:ext cx="304800" cy="285750"/>
          </a:xfrm>
          <a:prstGeom xmlns:a="http://schemas.openxmlformats.org/drawingml/2006/main" prst="rightArrow">
            <a:avLst/>
          </a:prstGeom>
          <a:solidFill xmlns:a="http://schemas.openxmlformats.org/drawingml/2006/main">
            <a:srgbClr val="087D8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09C3377-2B7F-43CD-9E9E-2D335E8FB167}"/>
              </a:ext>
            </a:extLst>
          </p:cNvPr>
          <p:cNvSpPr>
            <a:spLocks xmlns:a="http://schemas.openxmlformats.org/drawingml/2006/main" noGrp="1"/>
          </p:cNvSpPr>
          <p:nvPr/>
        </p:nvSpPr>
        <p:spPr>
          <a:xfrm xmlns:a="http://schemas.openxmlformats.org/drawingml/2006/main">
            <a:off x="7877175" y="3048000"/>
            <a:ext cx="3095625"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17" name="">
            <a:extLst xmlns:a="http://schemas.openxmlformats.org/drawingml/2006/main">
              <a:ext uri="{FF2B5EF4-FFF2-40B4-BE49-F238E27FC236}">
                <a16:creationId xmlns:a16="http://schemas.microsoft.com/office/drawing/2014/main" id="{18DD175D-B1F4-43FD-8FAE-27338FA49FB1}"/>
              </a:ext>
            </a:extLst>
          </p:cNvPr>
          <p:cNvSpPr>
            <a:spLocks xmlns:a="http://schemas.openxmlformats.org/drawingml/2006/main" noGrp="1"/>
          </p:cNvSpPr>
          <p:nvPr/>
        </p:nvSpPr>
        <p:spPr>
          <a:xfrm xmlns:a="http://schemas.openxmlformats.org/drawingml/2006/main">
            <a:off x="7877175"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B154447-4090-4262-99FB-8408880EBBD1}"/>
              </a:ext>
            </a:extLst>
          </p:cNvPr>
          <p:cNvSpPr>
            <a:spLocks xmlns:a="http://schemas.openxmlformats.org/drawingml/2006/main" noGrp="1"/>
          </p:cNvSpPr>
          <p:nvPr/>
        </p:nvSpPr>
        <p:spPr>
          <a:xfrm xmlns:a="http://schemas.openxmlformats.org/drawingml/2006/main">
            <a:off x="8067675" y="31908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Recommend</a:t>
            </a:r>
          </a:p>
        </p:txBody>
      </p:sp>
      <p:sp>
        <p:nvSpPr>
          <p:cNvPr id="19" name="">
            <a:extLst xmlns:a="http://schemas.openxmlformats.org/drawingml/2006/main">
              <a:ext uri="{FF2B5EF4-FFF2-40B4-BE49-F238E27FC236}">
                <a16:creationId xmlns:a16="http://schemas.microsoft.com/office/drawing/2014/main" id="{91A77128-D212-4F0D-B4F7-6345F881FC16}"/>
              </a:ext>
            </a:extLst>
          </p:cNvPr>
          <p:cNvSpPr>
            <a:spLocks xmlns:a="http://schemas.openxmlformats.org/drawingml/2006/main" noGrp="1"/>
          </p:cNvSpPr>
          <p:nvPr/>
        </p:nvSpPr>
        <p:spPr>
          <a:xfrm xmlns:a="http://schemas.openxmlformats.org/drawingml/2006/main">
            <a:off x="8067675" y="3781425"/>
            <a:ext cx="2714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FC is suggested for booking</a:t>
            </a:r>
          </a:p>
        </p:txBody>
      </p:sp>
      <p:sp>
        <p:nvSpPr>
          <p:cNvPr id="20" name="">
            <a:extLst xmlns:a="http://schemas.openxmlformats.org/drawingml/2006/main">
              <a:ext uri="{FF2B5EF4-FFF2-40B4-BE49-F238E27FC236}">
                <a16:creationId xmlns:a16="http://schemas.microsoft.com/office/drawing/2014/main" id="{703D0A3F-A0EC-4AFC-A467-B5F086F86CAF}"/>
              </a:ext>
            </a:extLst>
          </p:cNvPr>
          <p:cNvSpPr>
            <a:spLocks xmlns:a="http://schemas.openxmlformats.org/drawingml/2006/main" noGrp="1"/>
          </p:cNvSpPr>
          <p:nvPr/>
        </p:nvSpPr>
        <p:spPr>
          <a:xfrm xmlns:a="http://schemas.openxmlformats.org/drawingml/2006/main">
            <a:off x="11087100" y="3924300"/>
            <a:ext cx="304800" cy="285750"/>
          </a:xfrm>
          <a:prstGeom xmlns:a="http://schemas.openxmlformats.org/drawingml/2006/main" prst="rightArrow">
            <a:avLst/>
          </a:prstGeom>
          <a:solidFill xmlns:a="http://schemas.openxmlformats.org/drawingml/2006/main">
            <a:srgbClr val="087D8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5D3908F-1D51-401D-812E-E5FCF03F953D}"/>
              </a:ext>
            </a:extLst>
          </p:cNvPr>
          <p:cNvSpPr>
            <a:spLocks xmlns:a="http://schemas.openxmlformats.org/drawingml/2006/main" noGrp="1"/>
          </p:cNvSpPr>
          <p:nvPr/>
        </p:nvSpPr>
        <p:spPr>
          <a:xfrm xmlns:a="http://schemas.openxmlformats.org/drawingml/2006/main">
            <a:off x="11506200" y="3048000"/>
            <a:ext cx="3095625"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22" name="">
            <a:extLst xmlns:a="http://schemas.openxmlformats.org/drawingml/2006/main">
              <a:ext uri="{FF2B5EF4-FFF2-40B4-BE49-F238E27FC236}">
                <a16:creationId xmlns:a16="http://schemas.microsoft.com/office/drawing/2014/main" id="{8B8D86F9-A167-4DB5-ADCC-5AE4809842CA}"/>
              </a:ext>
            </a:extLst>
          </p:cNvPr>
          <p:cNvSpPr>
            <a:spLocks xmlns:a="http://schemas.openxmlformats.org/drawingml/2006/main" noGrp="1"/>
          </p:cNvSpPr>
          <p:nvPr/>
        </p:nvSpPr>
        <p:spPr>
          <a:xfrm xmlns:a="http://schemas.openxmlformats.org/drawingml/2006/main">
            <a:off x="11506200"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EF2F4AC4-9A1A-45B1-BF2B-DDC5D7D71B0B}"/>
              </a:ext>
            </a:extLst>
          </p:cNvPr>
          <p:cNvSpPr>
            <a:spLocks xmlns:a="http://schemas.openxmlformats.org/drawingml/2006/main" noGrp="1"/>
          </p:cNvSpPr>
          <p:nvPr/>
        </p:nvSpPr>
        <p:spPr>
          <a:xfrm xmlns:a="http://schemas.openxmlformats.org/drawingml/2006/main">
            <a:off x="11696700" y="31908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Book</a:t>
            </a:r>
          </a:p>
        </p:txBody>
      </p:sp>
      <p:sp>
        <p:nvSpPr>
          <p:cNvPr id="24" name="">
            <a:extLst xmlns:a="http://schemas.openxmlformats.org/drawingml/2006/main">
              <a:ext uri="{FF2B5EF4-FFF2-40B4-BE49-F238E27FC236}">
                <a16:creationId xmlns:a16="http://schemas.microsoft.com/office/drawing/2014/main" id="{2BBB6B15-4EB7-4282-AC73-547B1126F64D}"/>
              </a:ext>
            </a:extLst>
          </p:cNvPr>
          <p:cNvSpPr>
            <a:spLocks xmlns:a="http://schemas.openxmlformats.org/drawingml/2006/main" noGrp="1"/>
          </p:cNvSpPr>
          <p:nvPr/>
        </p:nvSpPr>
        <p:spPr>
          <a:xfrm xmlns:a="http://schemas.openxmlformats.org/drawingml/2006/main">
            <a:off x="11696700" y="3781425"/>
            <a:ext cx="2714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The customer takes action</a:t>
            </a:r>
          </a:p>
        </p:txBody>
      </p:sp>
      <p:sp>
        <p:nvSpPr>
          <p:cNvPr id="25" name="">
            <a:extLst xmlns:a="http://schemas.openxmlformats.org/drawingml/2006/main">
              <a:ext uri="{FF2B5EF4-FFF2-40B4-BE49-F238E27FC236}">
                <a16:creationId xmlns:a16="http://schemas.microsoft.com/office/drawing/2014/main" id="{CAA81B16-F696-4B28-95AD-2637AD3CC7BC}"/>
              </a:ext>
            </a:extLst>
          </p:cNvPr>
          <p:cNvSpPr>
            <a:spLocks xmlns:a="http://schemas.openxmlformats.org/drawingml/2006/main" noGrp="1"/>
          </p:cNvSpPr>
          <p:nvPr/>
        </p:nvSpPr>
        <p:spPr>
          <a:xfrm xmlns:a="http://schemas.openxmlformats.org/drawingml/2006/main">
            <a:off x="619125" y="6191250"/>
            <a:ext cx="1390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506574"/>
                </a:solidFill>
                <a:latin typeface="Arial"/>
                <a:ea typeface="Arial"/>
                <a:cs typeface="Arial"/>
              </a:defRPr>
            </a:defPPr>
            <a:lvl1pPr>
              <a:defRPr sz="2400" b="0">
                <a:solidFill>
                  <a:srgbClr val="506574"/>
                </a:solidFill>
                <a:latin typeface="Arial"/>
                <a:ea typeface="Arial"/>
                <a:cs typeface="Arial"/>
              </a:defRPr>
            </a:lvl1pPr>
            <a:lvl2pPr>
              <a:defRPr sz="2400" b="0">
                <a:solidFill>
                  <a:srgbClr val="506574"/>
                </a:solidFill>
                <a:latin typeface="Arial"/>
                <a:ea typeface="Arial"/>
                <a:cs typeface="Arial"/>
              </a:defRPr>
            </a:lvl2pPr>
            <a:lvl3pPr>
              <a:defRPr sz="2400" b="0">
                <a:solidFill>
                  <a:srgbClr val="506574"/>
                </a:solidFill>
                <a:latin typeface="Arial"/>
                <a:ea typeface="Arial"/>
                <a:cs typeface="Arial"/>
              </a:defRPr>
            </a:lvl3pPr>
            <a:lvl4pPr>
              <a:defRPr sz="2400" b="0">
                <a:solidFill>
                  <a:srgbClr val="506574"/>
                </a:solidFill>
                <a:latin typeface="Arial"/>
                <a:ea typeface="Arial"/>
                <a:cs typeface="Arial"/>
              </a:defRPr>
            </a:lvl4pPr>
            <a:lvl5pPr>
              <a:defRPr sz="2400" b="0">
                <a:solidFill>
                  <a:srgbClr val="506574"/>
                </a:solidFill>
                <a:latin typeface="Arial"/>
                <a:ea typeface="Arial"/>
                <a:cs typeface="Arial"/>
              </a:defRPr>
            </a:lvl5pPr>
            <a:lvl6pPr>
              <a:defRPr sz="2400" b="0">
                <a:solidFill>
                  <a:srgbClr val="506574"/>
                </a:solidFill>
                <a:latin typeface="Arial"/>
                <a:ea typeface="Arial"/>
                <a:cs typeface="Arial"/>
              </a:defRPr>
            </a:lvl6pPr>
            <a:lvl7pPr>
              <a:defRPr sz="2400" b="0">
                <a:solidFill>
                  <a:srgbClr val="506574"/>
                </a:solidFill>
                <a:latin typeface="Arial"/>
                <a:ea typeface="Arial"/>
                <a:cs typeface="Arial"/>
              </a:defRPr>
            </a:lvl7pPr>
            <a:lvl8pPr>
              <a:defRPr sz="2400" b="0">
                <a:solidFill>
                  <a:srgbClr val="506574"/>
                </a:solidFill>
                <a:latin typeface="Arial"/>
                <a:ea typeface="Arial"/>
                <a:cs typeface="Arial"/>
              </a:defRPr>
            </a:lvl8pPr>
            <a:lvl9pPr>
              <a:defRPr sz="2400" b="0">
                <a:solidFill>
                  <a:srgbClr val="506574"/>
                </a:solidFill>
                <a:latin typeface="Arial"/>
                <a:ea typeface="Arial"/>
                <a:cs typeface="Arial"/>
              </a:defRPr>
            </a:lvl9pPr>
          </a:lstStyle>
          <a:p xmlns:a="http://schemas.openxmlformats.org/drawingml/2006/main">
            <a:r>
              <a:t/>
            </a:r>
          </a:p>
        </p:txBody>
      </p:sp>
    </p:spTree>
    <p:extLst>
      <p:ext uri="{BB962C8B-B14F-4D97-AF65-F5344CB8AC3E}">
        <p14:creationId xmlns:p14="http://schemas.microsoft.com/office/powerpoint/2010/main" val="2131139349"/>
      </p:ext>
    </p:extLst>
  </p:cSld>
</p:sld>
</file>

<file path=ppt/slides/slide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5D193CE-180D-46B6-9BA0-2367483C1147}"/>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FC109140-150A-4689-8FAC-84CE2044BBB1}"/>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How our system works</a:t>
            </a:r>
          </a:p>
        </p:txBody>
      </p:sp>
      <p:sp>
        <p:nvSpPr>
          <p:cNvPr id="3" name="">
            <a:extLst xmlns:a="http://schemas.openxmlformats.org/drawingml/2006/main">
              <a:ext uri="{FF2B5EF4-FFF2-40B4-BE49-F238E27FC236}">
                <a16:creationId xmlns:a16="http://schemas.microsoft.com/office/drawing/2014/main" id="{FC5F1363-9D38-4A9A-B2FF-448A8D177BCD}"/>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5A81BB-82D1-4C1C-835D-700C4084143D}"/>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Our code supplies the reading pack. The AI chooses its answer and references.</a:t>
            </a:r>
          </a:p>
        </p:txBody>
      </p:sp>
      <p:sp>
        <p:nvSpPr>
          <p:cNvPr id="5" name="">
            <a:extLst xmlns:a="http://schemas.openxmlformats.org/drawingml/2006/main">
              <a:ext uri="{FF2B5EF4-FFF2-40B4-BE49-F238E27FC236}">
                <a16:creationId xmlns:a16="http://schemas.microsoft.com/office/drawing/2014/main" id="{4F8F5C03-CD6C-4022-ABD7-D95E1877463A}"/>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3 / 18   •   Sources and detail in speaker notes</a:t>
            </a:r>
          </a:p>
        </p:txBody>
      </p:sp>
      <p:sp>
        <p:nvSpPr>
          <p:cNvPr id="6" name="">
            <a:extLst xmlns:a="http://schemas.openxmlformats.org/drawingml/2006/main">
              <a:ext uri="{FF2B5EF4-FFF2-40B4-BE49-F238E27FC236}">
                <a16:creationId xmlns:a16="http://schemas.microsoft.com/office/drawing/2014/main" id="{2939E0BA-0D8E-4F6E-B3F5-9A1DEF2DE8BC}"/>
              </a:ext>
            </a:extLst>
          </p:cNvPr>
          <p:cNvSpPr>
            <a:spLocks xmlns:a="http://schemas.openxmlformats.org/drawingml/2006/main" noGrp="1"/>
          </p:cNvSpPr>
          <p:nvPr/>
        </p:nvSpPr>
        <p:spPr>
          <a:xfrm xmlns:a="http://schemas.openxmlformats.org/drawingml/2006/main">
            <a:off x="619125" y="3048000"/>
            <a:ext cx="3095625"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7" name="">
            <a:extLst xmlns:a="http://schemas.openxmlformats.org/drawingml/2006/main">
              <a:ext uri="{FF2B5EF4-FFF2-40B4-BE49-F238E27FC236}">
                <a16:creationId xmlns:a16="http://schemas.microsoft.com/office/drawing/2014/main" id="{2064D731-ED34-41CC-83ED-DB260D2C7C5B}"/>
              </a:ext>
            </a:extLst>
          </p:cNvPr>
          <p:cNvSpPr>
            <a:spLocks xmlns:a="http://schemas.openxmlformats.org/drawingml/2006/main" noGrp="1"/>
          </p:cNvSpPr>
          <p:nvPr/>
        </p:nvSpPr>
        <p:spPr>
          <a:xfrm xmlns:a="http://schemas.openxmlformats.org/drawingml/2006/main">
            <a:off x="619125"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7DCD8EA4-AC75-42E9-9805-36C434DF104F}"/>
              </a:ext>
            </a:extLst>
          </p:cNvPr>
          <p:cNvSpPr>
            <a:spLocks xmlns:a="http://schemas.openxmlformats.org/drawingml/2006/main" noGrp="1"/>
          </p:cNvSpPr>
          <p:nvPr/>
        </p:nvSpPr>
        <p:spPr>
          <a:xfrm xmlns:a="http://schemas.openxmlformats.org/drawingml/2006/main">
            <a:off x="809625" y="31908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Search</a:t>
            </a:r>
          </a:p>
        </p:txBody>
      </p:sp>
      <p:sp>
        <p:nvSpPr>
          <p:cNvPr id="9" name="">
            <a:extLst xmlns:a="http://schemas.openxmlformats.org/drawingml/2006/main">
              <a:ext uri="{FF2B5EF4-FFF2-40B4-BE49-F238E27FC236}">
                <a16:creationId xmlns:a16="http://schemas.microsoft.com/office/drawing/2014/main" id="{34C01DF3-F26D-4702-B1B6-468D3C0D204F}"/>
              </a:ext>
            </a:extLst>
          </p:cNvPr>
          <p:cNvSpPr>
            <a:spLocks xmlns:a="http://schemas.openxmlformats.org/drawingml/2006/main" noGrp="1"/>
          </p:cNvSpPr>
          <p:nvPr/>
        </p:nvSpPr>
        <p:spPr>
          <a:xfrm xmlns:a="http://schemas.openxmlformats.org/drawingml/2006/main">
            <a:off x="809625" y="3781425"/>
            <a:ext cx="2714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Find travel pages</a:t>
            </a:r>
          </a:p>
        </p:txBody>
      </p:sp>
      <p:sp>
        <p:nvSpPr>
          <p:cNvPr id="10" name="">
            <a:extLst xmlns:a="http://schemas.openxmlformats.org/drawingml/2006/main">
              <a:ext uri="{FF2B5EF4-FFF2-40B4-BE49-F238E27FC236}">
                <a16:creationId xmlns:a16="http://schemas.microsoft.com/office/drawing/2014/main" id="{20A73E6C-CAA8-46E5-B5CC-6AF302B90E87}"/>
              </a:ext>
            </a:extLst>
          </p:cNvPr>
          <p:cNvSpPr>
            <a:spLocks xmlns:a="http://schemas.openxmlformats.org/drawingml/2006/main" noGrp="1"/>
          </p:cNvSpPr>
          <p:nvPr/>
        </p:nvSpPr>
        <p:spPr>
          <a:xfrm xmlns:a="http://schemas.openxmlformats.org/drawingml/2006/main">
            <a:off x="3829050" y="3924300"/>
            <a:ext cx="304800" cy="285750"/>
          </a:xfrm>
          <a:prstGeom xmlns:a="http://schemas.openxmlformats.org/drawingml/2006/main" prst="rightArrow">
            <a:avLst/>
          </a:prstGeom>
          <a:solidFill xmlns:a="http://schemas.openxmlformats.org/drawingml/2006/main">
            <a:srgbClr val="087D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5AEC6DD-7BB5-435E-A259-27FFF23E3A3D}"/>
              </a:ext>
            </a:extLst>
          </p:cNvPr>
          <p:cNvSpPr>
            <a:spLocks xmlns:a="http://schemas.openxmlformats.org/drawingml/2006/main" noGrp="1"/>
          </p:cNvSpPr>
          <p:nvPr/>
        </p:nvSpPr>
        <p:spPr>
          <a:xfrm xmlns:a="http://schemas.openxmlformats.org/drawingml/2006/main">
            <a:off x="4248150" y="3048000"/>
            <a:ext cx="3095625"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12" name="">
            <a:extLst xmlns:a="http://schemas.openxmlformats.org/drawingml/2006/main">
              <a:ext uri="{FF2B5EF4-FFF2-40B4-BE49-F238E27FC236}">
                <a16:creationId xmlns:a16="http://schemas.microsoft.com/office/drawing/2014/main" id="{3CDC061C-E360-4817-B827-44AC8E8AB1E6}"/>
              </a:ext>
            </a:extLst>
          </p:cNvPr>
          <p:cNvSpPr>
            <a:spLocks xmlns:a="http://schemas.openxmlformats.org/drawingml/2006/main" noGrp="1"/>
          </p:cNvSpPr>
          <p:nvPr/>
        </p:nvSpPr>
        <p:spPr>
          <a:xfrm xmlns:a="http://schemas.openxmlformats.org/drawingml/2006/main">
            <a:off x="4248150"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561C2369-1890-4EC5-A289-307D570B9BF5}"/>
              </a:ext>
            </a:extLst>
          </p:cNvPr>
          <p:cNvSpPr>
            <a:spLocks xmlns:a="http://schemas.openxmlformats.org/drawingml/2006/main" noGrp="1"/>
          </p:cNvSpPr>
          <p:nvPr/>
        </p:nvSpPr>
        <p:spPr>
          <a:xfrm xmlns:a="http://schemas.openxmlformats.org/drawingml/2006/main">
            <a:off x="4438650" y="31908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Save</a:t>
            </a:r>
          </a:p>
        </p:txBody>
      </p:sp>
      <p:sp>
        <p:nvSpPr>
          <p:cNvPr id="14" name="">
            <a:extLst xmlns:a="http://schemas.openxmlformats.org/drawingml/2006/main">
              <a:ext uri="{FF2B5EF4-FFF2-40B4-BE49-F238E27FC236}">
                <a16:creationId xmlns:a16="http://schemas.microsoft.com/office/drawing/2014/main" id="{DDFF437C-C2CA-40DC-9750-B70441F166A0}"/>
              </a:ext>
            </a:extLst>
          </p:cNvPr>
          <p:cNvSpPr>
            <a:spLocks xmlns:a="http://schemas.openxmlformats.org/drawingml/2006/main" noGrp="1"/>
          </p:cNvSpPr>
          <p:nvPr/>
        </p:nvSpPr>
        <p:spPr>
          <a:xfrm xmlns:a="http://schemas.openxmlformats.org/drawingml/2006/main">
            <a:off x="4438650" y="3781425"/>
            <a:ext cx="2714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Keep a dated copy</a:t>
            </a:r>
          </a:p>
        </p:txBody>
      </p:sp>
      <p:sp>
        <p:nvSpPr>
          <p:cNvPr id="15" name="">
            <a:extLst xmlns:a="http://schemas.openxmlformats.org/drawingml/2006/main">
              <a:ext uri="{FF2B5EF4-FFF2-40B4-BE49-F238E27FC236}">
                <a16:creationId xmlns:a16="http://schemas.microsoft.com/office/drawing/2014/main" id="{D7459AC2-1B82-488A-BBDE-77D7ADD8964C}"/>
              </a:ext>
            </a:extLst>
          </p:cNvPr>
          <p:cNvSpPr>
            <a:spLocks xmlns:a="http://schemas.openxmlformats.org/drawingml/2006/main" noGrp="1"/>
          </p:cNvSpPr>
          <p:nvPr/>
        </p:nvSpPr>
        <p:spPr>
          <a:xfrm xmlns:a="http://schemas.openxmlformats.org/drawingml/2006/main">
            <a:off x="7458075" y="3924300"/>
            <a:ext cx="304800" cy="285750"/>
          </a:xfrm>
          <a:prstGeom xmlns:a="http://schemas.openxmlformats.org/drawingml/2006/main" prst="rightArrow">
            <a:avLst/>
          </a:prstGeom>
          <a:solidFill xmlns:a="http://schemas.openxmlformats.org/drawingml/2006/main">
            <a:srgbClr val="087D8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6AF5D55-5A47-43F6-9AAA-2B29460C787C}"/>
              </a:ext>
            </a:extLst>
          </p:cNvPr>
          <p:cNvSpPr>
            <a:spLocks xmlns:a="http://schemas.openxmlformats.org/drawingml/2006/main" noGrp="1"/>
          </p:cNvSpPr>
          <p:nvPr/>
        </p:nvSpPr>
        <p:spPr>
          <a:xfrm xmlns:a="http://schemas.openxmlformats.org/drawingml/2006/main">
            <a:off x="7877175" y="3048000"/>
            <a:ext cx="3095625"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17" name="">
            <a:extLst xmlns:a="http://schemas.openxmlformats.org/drawingml/2006/main">
              <a:ext uri="{FF2B5EF4-FFF2-40B4-BE49-F238E27FC236}">
                <a16:creationId xmlns:a16="http://schemas.microsoft.com/office/drawing/2014/main" id="{1B99E2E4-87F2-4F75-BB8A-8F0DC80D6E43}"/>
              </a:ext>
            </a:extLst>
          </p:cNvPr>
          <p:cNvSpPr>
            <a:spLocks xmlns:a="http://schemas.openxmlformats.org/drawingml/2006/main" noGrp="1"/>
          </p:cNvSpPr>
          <p:nvPr/>
        </p:nvSpPr>
        <p:spPr>
          <a:xfrm xmlns:a="http://schemas.openxmlformats.org/drawingml/2006/main">
            <a:off x="7877175"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852322B-2EB2-4EC3-A259-E9E89DC7398D}"/>
              </a:ext>
            </a:extLst>
          </p:cNvPr>
          <p:cNvSpPr>
            <a:spLocks xmlns:a="http://schemas.openxmlformats.org/drawingml/2006/main" noGrp="1"/>
          </p:cNvSpPr>
          <p:nvPr/>
        </p:nvSpPr>
        <p:spPr>
          <a:xfrm xmlns:a="http://schemas.openxmlformats.org/drawingml/2006/main">
            <a:off x="8067675" y="31908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Ask AI</a:t>
            </a:r>
          </a:p>
        </p:txBody>
      </p:sp>
      <p:sp>
        <p:nvSpPr>
          <p:cNvPr id="19" name="">
            <a:extLst xmlns:a="http://schemas.openxmlformats.org/drawingml/2006/main">
              <a:ext uri="{FF2B5EF4-FFF2-40B4-BE49-F238E27FC236}">
                <a16:creationId xmlns:a16="http://schemas.microsoft.com/office/drawing/2014/main" id="{1A58CB38-D59F-4EED-ADFD-6F1BA69E1B53}"/>
              </a:ext>
            </a:extLst>
          </p:cNvPr>
          <p:cNvSpPr>
            <a:spLocks xmlns:a="http://schemas.openxmlformats.org/drawingml/2006/main" noGrp="1"/>
          </p:cNvSpPr>
          <p:nvPr/>
        </p:nvSpPr>
        <p:spPr>
          <a:xfrm xmlns:a="http://schemas.openxmlformats.org/drawingml/2006/main">
            <a:off x="8067675" y="3781425"/>
            <a:ext cx="2714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Send question + sources</a:t>
            </a:r>
          </a:p>
        </p:txBody>
      </p:sp>
      <p:sp>
        <p:nvSpPr>
          <p:cNvPr id="20" name="">
            <a:extLst xmlns:a="http://schemas.openxmlformats.org/drawingml/2006/main">
              <a:ext uri="{FF2B5EF4-FFF2-40B4-BE49-F238E27FC236}">
                <a16:creationId xmlns:a16="http://schemas.microsoft.com/office/drawing/2014/main" id="{B12581D3-5E81-424C-BE5E-C2BFAD462AC0}"/>
              </a:ext>
            </a:extLst>
          </p:cNvPr>
          <p:cNvSpPr>
            <a:spLocks xmlns:a="http://schemas.openxmlformats.org/drawingml/2006/main" noGrp="1"/>
          </p:cNvSpPr>
          <p:nvPr/>
        </p:nvSpPr>
        <p:spPr>
          <a:xfrm xmlns:a="http://schemas.openxmlformats.org/drawingml/2006/main">
            <a:off x="11087100" y="3924300"/>
            <a:ext cx="304800" cy="285750"/>
          </a:xfrm>
          <a:prstGeom xmlns:a="http://schemas.openxmlformats.org/drawingml/2006/main" prst="rightArrow">
            <a:avLst/>
          </a:prstGeom>
          <a:solidFill xmlns:a="http://schemas.openxmlformats.org/drawingml/2006/main">
            <a:srgbClr val="087D8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BD4E837-E75E-4CE7-9B28-CC27C61D907C}"/>
              </a:ext>
            </a:extLst>
          </p:cNvPr>
          <p:cNvSpPr>
            <a:spLocks xmlns:a="http://schemas.openxmlformats.org/drawingml/2006/main" noGrp="1"/>
          </p:cNvSpPr>
          <p:nvPr/>
        </p:nvSpPr>
        <p:spPr>
          <a:xfrm xmlns:a="http://schemas.openxmlformats.org/drawingml/2006/main">
            <a:off x="11506200" y="3048000"/>
            <a:ext cx="3095625"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22" name="">
            <a:extLst xmlns:a="http://schemas.openxmlformats.org/drawingml/2006/main">
              <a:ext uri="{FF2B5EF4-FFF2-40B4-BE49-F238E27FC236}">
                <a16:creationId xmlns:a16="http://schemas.microsoft.com/office/drawing/2014/main" id="{D84C7734-CC01-4DA1-BBB5-0E16E489A708}"/>
              </a:ext>
            </a:extLst>
          </p:cNvPr>
          <p:cNvSpPr>
            <a:spLocks xmlns:a="http://schemas.openxmlformats.org/drawingml/2006/main" noGrp="1"/>
          </p:cNvSpPr>
          <p:nvPr/>
        </p:nvSpPr>
        <p:spPr>
          <a:xfrm xmlns:a="http://schemas.openxmlformats.org/drawingml/2006/main">
            <a:off x="11506200"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6DBB22B-8B4C-4783-B2F7-0028063429DB}"/>
              </a:ext>
            </a:extLst>
          </p:cNvPr>
          <p:cNvSpPr>
            <a:spLocks xmlns:a="http://schemas.openxmlformats.org/drawingml/2006/main" noGrp="1"/>
          </p:cNvSpPr>
          <p:nvPr/>
        </p:nvSpPr>
        <p:spPr>
          <a:xfrm xmlns:a="http://schemas.openxmlformats.org/drawingml/2006/main">
            <a:off x="11696700" y="31908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Check</a:t>
            </a:r>
          </a:p>
        </p:txBody>
      </p:sp>
      <p:sp>
        <p:nvSpPr>
          <p:cNvPr id="24" name="">
            <a:extLst xmlns:a="http://schemas.openxmlformats.org/drawingml/2006/main">
              <a:ext uri="{FF2B5EF4-FFF2-40B4-BE49-F238E27FC236}">
                <a16:creationId xmlns:a16="http://schemas.microsoft.com/office/drawing/2014/main" id="{28E741EA-655A-439D-B78E-752658689FDA}"/>
              </a:ext>
            </a:extLst>
          </p:cNvPr>
          <p:cNvSpPr>
            <a:spLocks xmlns:a="http://schemas.openxmlformats.org/drawingml/2006/main" noGrp="1"/>
          </p:cNvSpPr>
          <p:nvPr/>
        </p:nvSpPr>
        <p:spPr>
          <a:xfrm xmlns:a="http://schemas.openxmlformats.org/drawingml/2006/main">
            <a:off x="11696700" y="3781425"/>
            <a:ext cx="2714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Read the references</a:t>
            </a:r>
          </a:p>
        </p:txBody>
      </p:sp>
      <p:sp>
        <p:nvSpPr>
          <p:cNvPr id="25" name="">
            <a:extLst xmlns:a="http://schemas.openxmlformats.org/drawingml/2006/main">
              <a:ext uri="{FF2B5EF4-FFF2-40B4-BE49-F238E27FC236}">
                <a16:creationId xmlns:a16="http://schemas.microsoft.com/office/drawing/2014/main" id="{E973D409-CD70-4945-B595-4B6CA99FE13C}"/>
              </a:ext>
            </a:extLst>
          </p:cNvPr>
          <p:cNvSpPr>
            <a:spLocks xmlns:a="http://schemas.openxmlformats.org/drawingml/2006/main" noGrp="1"/>
          </p:cNvSpPr>
          <p:nvPr/>
        </p:nvSpPr>
        <p:spPr>
          <a:xfrm xmlns:a="http://schemas.openxmlformats.org/drawingml/2006/main">
            <a:off x="619125" y="6191250"/>
            <a:ext cx="1390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506574"/>
                </a:solidFill>
                <a:latin typeface="Arial"/>
                <a:ea typeface="Arial"/>
                <a:cs typeface="Arial"/>
              </a:defRPr>
            </a:defPPr>
            <a:lvl1pPr>
              <a:defRPr sz="2400" b="0">
                <a:solidFill>
                  <a:srgbClr val="506574"/>
                </a:solidFill>
                <a:latin typeface="Arial"/>
                <a:ea typeface="Arial"/>
                <a:cs typeface="Arial"/>
              </a:defRPr>
            </a:lvl1pPr>
            <a:lvl2pPr>
              <a:defRPr sz="2400" b="0">
                <a:solidFill>
                  <a:srgbClr val="506574"/>
                </a:solidFill>
                <a:latin typeface="Arial"/>
                <a:ea typeface="Arial"/>
                <a:cs typeface="Arial"/>
              </a:defRPr>
            </a:lvl2pPr>
            <a:lvl3pPr>
              <a:defRPr sz="2400" b="0">
                <a:solidFill>
                  <a:srgbClr val="506574"/>
                </a:solidFill>
                <a:latin typeface="Arial"/>
                <a:ea typeface="Arial"/>
                <a:cs typeface="Arial"/>
              </a:defRPr>
            </a:lvl3pPr>
            <a:lvl4pPr>
              <a:defRPr sz="2400" b="0">
                <a:solidFill>
                  <a:srgbClr val="506574"/>
                </a:solidFill>
                <a:latin typeface="Arial"/>
                <a:ea typeface="Arial"/>
                <a:cs typeface="Arial"/>
              </a:defRPr>
            </a:lvl4pPr>
            <a:lvl5pPr>
              <a:defRPr sz="2400" b="0">
                <a:solidFill>
                  <a:srgbClr val="506574"/>
                </a:solidFill>
                <a:latin typeface="Arial"/>
                <a:ea typeface="Arial"/>
                <a:cs typeface="Arial"/>
              </a:defRPr>
            </a:lvl5pPr>
            <a:lvl6pPr>
              <a:defRPr sz="2400" b="0">
                <a:solidFill>
                  <a:srgbClr val="506574"/>
                </a:solidFill>
                <a:latin typeface="Arial"/>
                <a:ea typeface="Arial"/>
                <a:cs typeface="Arial"/>
              </a:defRPr>
            </a:lvl6pPr>
            <a:lvl7pPr>
              <a:defRPr sz="2400" b="0">
                <a:solidFill>
                  <a:srgbClr val="506574"/>
                </a:solidFill>
                <a:latin typeface="Arial"/>
                <a:ea typeface="Arial"/>
                <a:cs typeface="Arial"/>
              </a:defRPr>
            </a:lvl7pPr>
            <a:lvl8pPr>
              <a:defRPr sz="2400" b="0">
                <a:solidFill>
                  <a:srgbClr val="506574"/>
                </a:solidFill>
                <a:latin typeface="Arial"/>
                <a:ea typeface="Arial"/>
                <a:cs typeface="Arial"/>
              </a:defRPr>
            </a:lvl8pPr>
            <a:lvl9pPr>
              <a:defRPr sz="2400" b="0">
                <a:solidFill>
                  <a:srgbClr val="506574"/>
                </a:solidFill>
                <a:latin typeface="Arial"/>
                <a:ea typeface="Arial"/>
                <a:cs typeface="Arial"/>
              </a:defRPr>
            </a:lvl9pPr>
          </a:lstStyle>
          <a:p xmlns:a="http://schemas.openxmlformats.org/drawingml/2006/main">
            <a:pPr>
              <a:defRPr sz="2400" b="0">
                <a:solidFill>
                  <a:srgbClr val="506574"/>
                </a:solidFill>
                <a:latin typeface="Arial"/>
                <a:ea typeface="Arial"/>
                <a:cs typeface="Arial"/>
              </a:defRPr>
            </a:pPr>
            <a:r>
              <a:rPr sz="2400" b="0">
                <a:solidFill>
                  <a:srgbClr val="506574"/>
                </a:solidFill>
                <a:latin typeface="Arial"/>
                <a:ea typeface="Arial"/>
                <a:cs typeface="Arial"/>
              </a:rPr>
              <a:t>Python pipeline  →  saved page text  →  model API  →  citation check</a:t>
            </a:r>
          </a:p>
        </p:txBody>
      </p:sp>
    </p:spTree>
    <p:extLst>
      <p:ext uri="{BB962C8B-B14F-4D97-AF65-F5344CB8AC3E}">
        <p14:creationId xmlns:p14="http://schemas.microsoft.com/office/powerpoint/2010/main" val="265381185"/>
      </p:ext>
    </p:extLst>
  </p:cSld>
</p:sld>
</file>

<file path=ppt/slides/slide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D275074-8191-456F-9153-C0F3B2195562}"/>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D35FC4E6-BC65-4EF0-9E09-D0A2AACFD0A0}"/>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A fair before-and-after comparison</a:t>
            </a:r>
          </a:p>
        </p:txBody>
      </p:sp>
      <p:sp>
        <p:nvSpPr>
          <p:cNvPr id="3" name="">
            <a:extLst xmlns:a="http://schemas.openxmlformats.org/drawingml/2006/main">
              <a:ext uri="{FF2B5EF4-FFF2-40B4-BE49-F238E27FC236}">
                <a16:creationId xmlns:a16="http://schemas.microsoft.com/office/drawing/2014/main" id="{B4C1FFEB-C985-4C63-BEBD-9F03B6EC396D}"/>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B36DD73-86CC-4E2C-A8F2-F2C9BD249FF9}"/>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Same question and competitors; change the Flight Centre page representation.</a:t>
            </a:r>
          </a:p>
        </p:txBody>
      </p:sp>
      <p:sp>
        <p:nvSpPr>
          <p:cNvPr id="5" name="">
            <a:extLst xmlns:a="http://schemas.openxmlformats.org/drawingml/2006/main">
              <a:ext uri="{FF2B5EF4-FFF2-40B4-BE49-F238E27FC236}">
                <a16:creationId xmlns:a16="http://schemas.microsoft.com/office/drawing/2014/main" id="{C85D15DC-3A79-436B-A48D-440FD0B16C77}"/>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4 / 18   •   Sources and detail in speaker notes</a:t>
            </a:r>
          </a:p>
        </p:txBody>
      </p:sp>
      <p:sp>
        <p:nvSpPr>
          <p:cNvPr id="6" name="">
            <a:extLst xmlns:a="http://schemas.openxmlformats.org/drawingml/2006/main">
              <a:ext uri="{FF2B5EF4-FFF2-40B4-BE49-F238E27FC236}">
                <a16:creationId xmlns:a16="http://schemas.microsoft.com/office/drawing/2014/main" id="{57544311-D6BB-47BF-8186-931308F66B86}"/>
              </a:ext>
            </a:extLst>
          </p:cNvPr>
          <p:cNvSpPr>
            <a:spLocks xmlns:a="http://schemas.openxmlformats.org/drawingml/2006/main" noGrp="1"/>
          </p:cNvSpPr>
          <p:nvPr/>
        </p:nvSpPr>
        <p:spPr>
          <a:xfrm xmlns:a="http://schemas.openxmlformats.org/drawingml/2006/main">
            <a:off x="4857750" y="2190750"/>
            <a:ext cx="5524500" cy="1333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7" name="">
            <a:extLst xmlns:a="http://schemas.openxmlformats.org/drawingml/2006/main">
              <a:ext uri="{FF2B5EF4-FFF2-40B4-BE49-F238E27FC236}">
                <a16:creationId xmlns:a16="http://schemas.microsoft.com/office/drawing/2014/main" id="{5ACAC7F7-AE0A-4464-8721-31169CE981E1}"/>
              </a:ext>
            </a:extLst>
          </p:cNvPr>
          <p:cNvSpPr>
            <a:spLocks xmlns:a="http://schemas.openxmlformats.org/drawingml/2006/main" noGrp="1"/>
          </p:cNvSpPr>
          <p:nvPr/>
        </p:nvSpPr>
        <p:spPr>
          <a:xfrm xmlns:a="http://schemas.openxmlformats.org/drawingml/2006/main">
            <a:off x="4857750" y="2190750"/>
            <a:ext cx="66675" cy="1333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1144E1E-0975-4973-B715-3B5B0C90BC0D}"/>
              </a:ext>
            </a:extLst>
          </p:cNvPr>
          <p:cNvSpPr>
            <a:spLocks xmlns:a="http://schemas.openxmlformats.org/drawingml/2006/main" noGrp="1"/>
          </p:cNvSpPr>
          <p:nvPr/>
        </p:nvSpPr>
        <p:spPr>
          <a:xfrm xmlns:a="http://schemas.openxmlformats.org/drawingml/2006/main">
            <a:off x="5048250" y="233362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Same question</a:t>
            </a:r>
          </a:p>
        </p:txBody>
      </p:sp>
      <p:sp>
        <p:nvSpPr>
          <p:cNvPr id="9" name="">
            <a:extLst xmlns:a="http://schemas.openxmlformats.org/drawingml/2006/main">
              <a:ext uri="{FF2B5EF4-FFF2-40B4-BE49-F238E27FC236}">
                <a16:creationId xmlns:a16="http://schemas.microsoft.com/office/drawing/2014/main" id="{E104D06B-03C2-4210-BC20-957A9616B410}"/>
              </a:ext>
            </a:extLst>
          </p:cNvPr>
          <p:cNvSpPr>
            <a:spLocks xmlns:a="http://schemas.openxmlformats.org/drawingml/2006/main" noGrp="1"/>
          </p:cNvSpPr>
          <p:nvPr/>
        </p:nvSpPr>
        <p:spPr>
          <a:xfrm xmlns:a="http://schemas.openxmlformats.org/drawingml/2006/main">
            <a:off x="5048250" y="29241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The traveller asks for help</a:t>
            </a:r>
          </a:p>
        </p:txBody>
      </p:sp>
      <p:sp>
        <p:nvSpPr>
          <p:cNvPr id="10" name="">
            <a:extLst xmlns:a="http://schemas.openxmlformats.org/drawingml/2006/main">
              <a:ext uri="{FF2B5EF4-FFF2-40B4-BE49-F238E27FC236}">
                <a16:creationId xmlns:a16="http://schemas.microsoft.com/office/drawing/2014/main" id="{17AA14D2-E972-4290-AD00-8BF9E349BA63}"/>
              </a:ext>
            </a:extLst>
          </p:cNvPr>
          <p:cNvSpPr>
            <a:spLocks xmlns:a="http://schemas.openxmlformats.org/drawingml/2006/main" noGrp="1"/>
          </p:cNvSpPr>
          <p:nvPr/>
        </p:nvSpPr>
        <p:spPr>
          <a:xfrm xmlns:a="http://schemas.openxmlformats.org/drawingml/2006/main">
            <a:off x="3619500" y="3857625"/>
            <a:ext cx="495300" cy="285750"/>
          </a:xfrm>
          <a:prstGeom xmlns:a="http://schemas.openxmlformats.org/drawingml/2006/main" prst="downArrow">
            <a:avLst/>
          </a:prstGeom>
          <a:solidFill xmlns:a="http://schemas.openxmlformats.org/drawingml/2006/main">
            <a:srgbClr val="087D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B55C534-985A-4404-86B0-568FF60A55A3}"/>
              </a:ext>
            </a:extLst>
          </p:cNvPr>
          <p:cNvSpPr>
            <a:spLocks xmlns:a="http://schemas.openxmlformats.org/drawingml/2006/main" noGrp="1"/>
          </p:cNvSpPr>
          <p:nvPr/>
        </p:nvSpPr>
        <p:spPr>
          <a:xfrm xmlns:a="http://schemas.openxmlformats.org/drawingml/2006/main">
            <a:off x="11144250" y="3857625"/>
            <a:ext cx="495300" cy="285750"/>
          </a:xfrm>
          <a:prstGeom xmlns:a="http://schemas.openxmlformats.org/drawingml/2006/main" prst="downArrow">
            <a:avLst/>
          </a:prstGeom>
          <a:solidFill xmlns:a="http://schemas.openxmlformats.org/drawingml/2006/main">
            <a:srgbClr val="B4214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6681323-FDC4-4A85-B1B5-E25D3EE62DB5}"/>
              </a:ext>
            </a:extLst>
          </p:cNvPr>
          <p:cNvSpPr>
            <a:spLocks xmlns:a="http://schemas.openxmlformats.org/drawingml/2006/main" noGrp="1"/>
          </p:cNvSpPr>
          <p:nvPr/>
        </p:nvSpPr>
        <p:spPr>
          <a:xfrm xmlns:a="http://schemas.openxmlformats.org/drawingml/2006/main">
            <a:off x="619125" y="4381500"/>
            <a:ext cx="6572250" cy="1762125"/>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13" name="">
            <a:extLst xmlns:a="http://schemas.openxmlformats.org/drawingml/2006/main">
              <a:ext uri="{FF2B5EF4-FFF2-40B4-BE49-F238E27FC236}">
                <a16:creationId xmlns:a16="http://schemas.microsoft.com/office/drawing/2014/main" id="{ECAF9D1B-93AB-4C54-9DFE-8C7908428F5F}"/>
              </a:ext>
            </a:extLst>
          </p:cNvPr>
          <p:cNvSpPr>
            <a:spLocks xmlns:a="http://schemas.openxmlformats.org/drawingml/2006/main" noGrp="1"/>
          </p:cNvSpPr>
          <p:nvPr/>
        </p:nvSpPr>
        <p:spPr>
          <a:xfrm xmlns:a="http://schemas.openxmlformats.org/drawingml/2006/main">
            <a:off x="619125" y="4381500"/>
            <a:ext cx="66675" cy="1762125"/>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D3B317B-CDFE-4F89-ABD8-C0DA5C152CA2}"/>
              </a:ext>
            </a:extLst>
          </p:cNvPr>
          <p:cNvSpPr>
            <a:spLocks xmlns:a="http://schemas.openxmlformats.org/drawingml/2006/main" noGrp="1"/>
          </p:cNvSpPr>
          <p:nvPr/>
        </p:nvSpPr>
        <p:spPr>
          <a:xfrm xmlns:a="http://schemas.openxmlformats.org/drawingml/2006/main">
            <a:off x="809625" y="45243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Before</a:t>
            </a:r>
          </a:p>
        </p:txBody>
      </p:sp>
      <p:sp>
        <p:nvSpPr>
          <p:cNvPr id="15" name="">
            <a:extLst xmlns:a="http://schemas.openxmlformats.org/drawingml/2006/main">
              <a:ext uri="{FF2B5EF4-FFF2-40B4-BE49-F238E27FC236}">
                <a16:creationId xmlns:a16="http://schemas.microsoft.com/office/drawing/2014/main" id="{5F568A77-5455-4655-B79F-3F1C922C4045}"/>
              </a:ext>
            </a:extLst>
          </p:cNvPr>
          <p:cNvSpPr>
            <a:spLocks xmlns:a="http://schemas.openxmlformats.org/drawingml/2006/main" noGrp="1"/>
          </p:cNvSpPr>
          <p:nvPr/>
        </p:nvSpPr>
        <p:spPr>
          <a:xfrm xmlns:a="http://schemas.openxmlformats.org/drawingml/2006/main">
            <a:off x="809625" y="5114925"/>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Baseline FC page + competitor pages</a:t>
            </a:r>
          </a:p>
        </p:txBody>
      </p:sp>
      <p:sp>
        <p:nvSpPr>
          <p:cNvPr id="16" name="">
            <a:extLst xmlns:a="http://schemas.openxmlformats.org/drawingml/2006/main">
              <a:ext uri="{FF2B5EF4-FFF2-40B4-BE49-F238E27FC236}">
                <a16:creationId xmlns:a16="http://schemas.microsoft.com/office/drawing/2014/main" id="{A4FF9A16-2C8D-4790-BA1C-5BE3D3EBDC06}"/>
              </a:ext>
            </a:extLst>
          </p:cNvPr>
          <p:cNvSpPr>
            <a:spLocks xmlns:a="http://schemas.openxmlformats.org/drawingml/2006/main" noGrp="1"/>
          </p:cNvSpPr>
          <p:nvPr/>
        </p:nvSpPr>
        <p:spPr>
          <a:xfrm xmlns:a="http://schemas.openxmlformats.org/drawingml/2006/main">
            <a:off x="8048625" y="4381500"/>
            <a:ext cx="6572250" cy="1762125"/>
          </a:xfrm>
          <a:prstGeom xmlns:a="http://schemas.openxmlformats.org/drawingml/2006/main" prst="rect">
            <a:avLst/>
          </a:prstGeom>
          <a:solidFill xmlns:a="http://schemas.openxmlformats.org/drawingml/2006/main">
            <a:srgbClr val="FFFFFF"/>
          </a:solidFill>
          <a:ln xmlns:a="http://schemas.openxmlformats.org/drawingml/2006/main" w="19050">
            <a:solidFill>
              <a:srgbClr val="B42146"/>
            </a:solidFill>
          </a:ln>
        </p:spPr>
      </p:sp>
      <p:sp>
        <p:nvSpPr>
          <p:cNvPr id="17" name="">
            <a:extLst xmlns:a="http://schemas.openxmlformats.org/drawingml/2006/main">
              <a:ext uri="{FF2B5EF4-FFF2-40B4-BE49-F238E27FC236}">
                <a16:creationId xmlns:a16="http://schemas.microsoft.com/office/drawing/2014/main" id="{090E5A2D-B260-4D3C-8D52-63E8B85D3777}"/>
              </a:ext>
            </a:extLst>
          </p:cNvPr>
          <p:cNvSpPr>
            <a:spLocks xmlns:a="http://schemas.openxmlformats.org/drawingml/2006/main" noGrp="1"/>
          </p:cNvSpPr>
          <p:nvPr/>
        </p:nvSpPr>
        <p:spPr>
          <a:xfrm xmlns:a="http://schemas.openxmlformats.org/drawingml/2006/main">
            <a:off x="8048625" y="4381500"/>
            <a:ext cx="66675" cy="176212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52CB78C-37C9-4506-9D65-7A833B5F02B1}"/>
              </a:ext>
            </a:extLst>
          </p:cNvPr>
          <p:cNvSpPr>
            <a:spLocks xmlns:a="http://schemas.openxmlformats.org/drawingml/2006/main" noGrp="1"/>
          </p:cNvSpPr>
          <p:nvPr/>
        </p:nvSpPr>
        <p:spPr>
          <a:xfrm xmlns:a="http://schemas.openxmlformats.org/drawingml/2006/main">
            <a:off x="8239125" y="45243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B42146"/>
                </a:solidFill>
                <a:latin typeface="Arial"/>
                <a:ea typeface="Arial"/>
                <a:cs typeface="Arial"/>
              </a:defRPr>
            </a:defPPr>
            <a:lvl1pPr>
              <a:defRPr sz="2325" b="1">
                <a:solidFill>
                  <a:srgbClr val="B42146"/>
                </a:solidFill>
                <a:latin typeface="Arial"/>
                <a:ea typeface="Arial"/>
                <a:cs typeface="Arial"/>
              </a:defRPr>
            </a:lvl1pPr>
            <a:lvl2pPr>
              <a:defRPr sz="2325" b="1">
                <a:solidFill>
                  <a:srgbClr val="B42146"/>
                </a:solidFill>
                <a:latin typeface="Arial"/>
                <a:ea typeface="Arial"/>
                <a:cs typeface="Arial"/>
              </a:defRPr>
            </a:lvl2pPr>
            <a:lvl3pPr>
              <a:defRPr sz="2325" b="1">
                <a:solidFill>
                  <a:srgbClr val="B42146"/>
                </a:solidFill>
                <a:latin typeface="Arial"/>
                <a:ea typeface="Arial"/>
                <a:cs typeface="Arial"/>
              </a:defRPr>
            </a:lvl3pPr>
            <a:lvl4pPr>
              <a:defRPr sz="2325" b="1">
                <a:solidFill>
                  <a:srgbClr val="B42146"/>
                </a:solidFill>
                <a:latin typeface="Arial"/>
                <a:ea typeface="Arial"/>
                <a:cs typeface="Arial"/>
              </a:defRPr>
            </a:lvl4pPr>
            <a:lvl5pPr>
              <a:defRPr sz="2325" b="1">
                <a:solidFill>
                  <a:srgbClr val="B42146"/>
                </a:solidFill>
                <a:latin typeface="Arial"/>
                <a:ea typeface="Arial"/>
                <a:cs typeface="Arial"/>
              </a:defRPr>
            </a:lvl5pPr>
            <a:lvl6pPr>
              <a:defRPr sz="2325" b="1">
                <a:solidFill>
                  <a:srgbClr val="B42146"/>
                </a:solidFill>
                <a:latin typeface="Arial"/>
                <a:ea typeface="Arial"/>
                <a:cs typeface="Arial"/>
              </a:defRPr>
            </a:lvl6pPr>
            <a:lvl7pPr>
              <a:defRPr sz="2325" b="1">
                <a:solidFill>
                  <a:srgbClr val="B42146"/>
                </a:solidFill>
                <a:latin typeface="Arial"/>
                <a:ea typeface="Arial"/>
                <a:cs typeface="Arial"/>
              </a:defRPr>
            </a:lvl7pPr>
            <a:lvl8pPr>
              <a:defRPr sz="2325" b="1">
                <a:solidFill>
                  <a:srgbClr val="B42146"/>
                </a:solidFill>
                <a:latin typeface="Arial"/>
                <a:ea typeface="Arial"/>
                <a:cs typeface="Arial"/>
              </a:defRPr>
            </a:lvl8pPr>
            <a:lvl9pPr>
              <a:defRPr sz="2325" b="1">
                <a:solidFill>
                  <a:srgbClr val="B42146"/>
                </a:solidFill>
                <a:latin typeface="Arial"/>
                <a:ea typeface="Arial"/>
                <a:cs typeface="Arial"/>
              </a:defRPr>
            </a:lvl9pPr>
          </a:lstStyle>
          <a:p xmlns:a="http://schemas.openxmlformats.org/drawingml/2006/main">
            <a:pPr>
              <a:defRPr sz="2325" b="1">
                <a:solidFill>
                  <a:srgbClr val="B42146"/>
                </a:solidFill>
                <a:latin typeface="Arial"/>
                <a:ea typeface="Arial"/>
                <a:cs typeface="Arial"/>
              </a:defRPr>
            </a:pPr>
            <a:r>
              <a:rPr sz="2325" b="1">
                <a:solidFill>
                  <a:srgbClr val="B42146"/>
                </a:solidFill>
                <a:latin typeface="Arial"/>
                <a:ea typeface="Arial"/>
                <a:cs typeface="Arial"/>
              </a:rPr>
              <a:t>After</a:t>
            </a:r>
          </a:p>
        </p:txBody>
      </p:sp>
      <p:sp>
        <p:nvSpPr>
          <p:cNvPr id="19" name="">
            <a:extLst xmlns:a="http://schemas.openxmlformats.org/drawingml/2006/main">
              <a:ext uri="{FF2B5EF4-FFF2-40B4-BE49-F238E27FC236}">
                <a16:creationId xmlns:a16="http://schemas.microsoft.com/office/drawing/2014/main" id="{FC7DCDA2-37B7-4E4C-9E91-5A5F84749F01}"/>
              </a:ext>
            </a:extLst>
          </p:cNvPr>
          <p:cNvSpPr>
            <a:spLocks xmlns:a="http://schemas.openxmlformats.org/drawingml/2006/main" noGrp="1"/>
          </p:cNvSpPr>
          <p:nvPr/>
        </p:nvSpPr>
        <p:spPr>
          <a:xfrm xmlns:a="http://schemas.openxmlformats.org/drawingml/2006/main">
            <a:off x="8239125" y="5114925"/>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Improved FC page + the same competitors</a:t>
            </a:r>
          </a:p>
        </p:txBody>
      </p:sp>
      <p:sp>
        <p:nvSpPr>
          <p:cNvPr id="20" name="">
            <a:extLst xmlns:a="http://schemas.openxmlformats.org/drawingml/2006/main">
              <a:ext uri="{FF2B5EF4-FFF2-40B4-BE49-F238E27FC236}">
                <a16:creationId xmlns:a16="http://schemas.microsoft.com/office/drawing/2014/main" id="{CB99503B-9D55-4887-BB1A-12244BBDFCED}"/>
              </a:ext>
            </a:extLst>
          </p:cNvPr>
          <p:cNvSpPr>
            <a:spLocks xmlns:a="http://schemas.openxmlformats.org/drawingml/2006/main" noGrp="1"/>
          </p:cNvSpPr>
          <p:nvPr/>
        </p:nvSpPr>
        <p:spPr>
          <a:xfrm xmlns:a="http://schemas.openxmlformats.org/drawingml/2006/main">
            <a:off x="619125" y="6667500"/>
            <a:ext cx="1400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506574"/>
                </a:solidFill>
                <a:latin typeface="Arial"/>
                <a:ea typeface="Arial"/>
                <a:cs typeface="Arial"/>
              </a:defRPr>
            </a:defPPr>
            <a:lvl1pPr>
              <a:defRPr sz="2250" b="0">
                <a:solidFill>
                  <a:srgbClr val="506574"/>
                </a:solidFill>
                <a:latin typeface="Arial"/>
                <a:ea typeface="Arial"/>
                <a:cs typeface="Arial"/>
              </a:defRPr>
            </a:lvl1pPr>
            <a:lvl2pPr>
              <a:defRPr sz="2250" b="0">
                <a:solidFill>
                  <a:srgbClr val="506574"/>
                </a:solidFill>
                <a:latin typeface="Arial"/>
                <a:ea typeface="Arial"/>
                <a:cs typeface="Arial"/>
              </a:defRPr>
            </a:lvl2pPr>
            <a:lvl3pPr>
              <a:defRPr sz="2250" b="0">
                <a:solidFill>
                  <a:srgbClr val="506574"/>
                </a:solidFill>
                <a:latin typeface="Arial"/>
                <a:ea typeface="Arial"/>
                <a:cs typeface="Arial"/>
              </a:defRPr>
            </a:lvl3pPr>
            <a:lvl4pPr>
              <a:defRPr sz="2250" b="0">
                <a:solidFill>
                  <a:srgbClr val="506574"/>
                </a:solidFill>
                <a:latin typeface="Arial"/>
                <a:ea typeface="Arial"/>
                <a:cs typeface="Arial"/>
              </a:defRPr>
            </a:lvl4pPr>
            <a:lvl5pPr>
              <a:defRPr sz="2250" b="0">
                <a:solidFill>
                  <a:srgbClr val="506574"/>
                </a:solidFill>
                <a:latin typeface="Arial"/>
                <a:ea typeface="Arial"/>
                <a:cs typeface="Arial"/>
              </a:defRPr>
            </a:lvl5pPr>
            <a:lvl6pPr>
              <a:defRPr sz="2250" b="0">
                <a:solidFill>
                  <a:srgbClr val="506574"/>
                </a:solidFill>
                <a:latin typeface="Arial"/>
                <a:ea typeface="Arial"/>
                <a:cs typeface="Arial"/>
              </a:defRPr>
            </a:lvl6pPr>
            <a:lvl7pPr>
              <a:defRPr sz="2250" b="0">
                <a:solidFill>
                  <a:srgbClr val="506574"/>
                </a:solidFill>
                <a:latin typeface="Arial"/>
                <a:ea typeface="Arial"/>
                <a:cs typeface="Arial"/>
              </a:defRPr>
            </a:lvl7pPr>
            <a:lvl8pPr>
              <a:defRPr sz="2250" b="0">
                <a:solidFill>
                  <a:srgbClr val="506574"/>
                </a:solidFill>
                <a:latin typeface="Arial"/>
                <a:ea typeface="Arial"/>
                <a:cs typeface="Arial"/>
              </a:defRPr>
            </a:lvl8pPr>
            <a:lvl9pPr>
              <a:defRPr sz="2250" b="0">
                <a:solidFill>
                  <a:srgbClr val="506574"/>
                </a:solidFill>
                <a:latin typeface="Arial"/>
                <a:ea typeface="Arial"/>
                <a:cs typeface="Arial"/>
              </a:defRPr>
            </a:lvl9pPr>
          </a:lstStyle>
          <a:p xmlns:a="http://schemas.openxmlformats.org/drawingml/2006/main">
            <a:pPr>
              <a:defRPr sz="2250" b="0">
                <a:solidFill>
                  <a:srgbClr val="506574"/>
                </a:solidFill>
                <a:latin typeface="Arial"/>
                <a:ea typeface="Arial"/>
                <a:cs typeface="Arial"/>
              </a:defRPr>
            </a:pPr>
            <a:r>
              <a:rPr sz="2250" b="0">
                <a:solidFill>
                  <a:srgbClr val="506574"/>
                </a:solidFill>
                <a:latin typeface="Arial"/>
                <a:ea typeface="Arial"/>
                <a:cs typeface="Arial"/>
              </a:rPr>
              <a:t>We use saved sources and repeat the answers. The baseline answers were generated earlier.</a:t>
            </a:r>
          </a:p>
        </p:txBody>
      </p:sp>
    </p:spTree>
    <p:extLst>
      <p:ext uri="{BB962C8B-B14F-4D97-AF65-F5344CB8AC3E}">
        <p14:creationId xmlns:p14="http://schemas.microsoft.com/office/powerpoint/2010/main" val="1030257307"/>
      </p:ext>
    </p:extLst>
  </p:cSld>
</p:sld>
</file>

<file path=ppt/slides/slide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134050-A320-4837-B6C0-A88F4E9B7C17}"/>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5917BC25-68D1-4F44-A0AD-68065CF82821}"/>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What we tried separately</a:t>
            </a:r>
          </a:p>
        </p:txBody>
      </p:sp>
      <p:sp>
        <p:nvSpPr>
          <p:cNvPr id="3" name="">
            <a:extLst xmlns:a="http://schemas.openxmlformats.org/drawingml/2006/main">
              <a:ext uri="{FF2B5EF4-FFF2-40B4-BE49-F238E27FC236}">
                <a16:creationId xmlns:a16="http://schemas.microsoft.com/office/drawing/2014/main" id="{4355E2D8-EE1A-4567-A9EB-B37C0E371444}"/>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D216BFE-7323-457C-827F-79ED60CC8969}"/>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Some approaches helped in our tests; others were unclear or performed worse.</a:t>
            </a:r>
          </a:p>
        </p:txBody>
      </p:sp>
      <p:sp>
        <p:nvSpPr>
          <p:cNvPr id="5" name="">
            <a:extLst xmlns:a="http://schemas.openxmlformats.org/drawingml/2006/main">
              <a:ext uri="{FF2B5EF4-FFF2-40B4-BE49-F238E27FC236}">
                <a16:creationId xmlns:a16="http://schemas.microsoft.com/office/drawing/2014/main" id="{435E5BB8-783B-471C-B186-D2A20BB9D0B5}"/>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5 / 18   •   Sources and detail in speaker notes</a:t>
            </a:r>
          </a:p>
        </p:txBody>
      </p:sp>
      <p:graphicFrame>
        <p:nvGraphicFramePr>
          <p:cNvPr id="6" name="">
            <a:extLst xmlns:a="http://schemas.openxmlformats.org/drawingml/2006/main">
              <a:ext uri="{FF2B5EF4-FFF2-40B4-BE49-F238E27FC236}">
                <a16:creationId xmlns:a16="http://schemas.microsoft.com/office/drawing/2014/main" id="{8EB25B69-7AAB-414A-B352-FBECE90B2DC3}"/>
              </a:ext>
            </a:extLst>
          </p:cNvPr>
          <p:cNvGraphicFramePr/>
          <p:nvPr/>
        </p:nvGraphicFramePr>
        <p:xfrm>
          <a:off xmlns:a="http://schemas.openxmlformats.org/drawingml/2006/main" x="619125" y="2190750"/>
          <a:ext xmlns:a="http://schemas.openxmlformats.org/drawingml/2006/main" cx="14001750" cy="4619625"/>
        </p:xfrm>
        <a:graphic xmlns:a="http://schemas.openxmlformats.org/drawingml/2006/main">
          <a:graphicData uri="http://schemas.openxmlformats.org/drawingml/2006/table">
            <a:tbl>
              <a:tblPr/>
              <a:tblGrid>
                <a:gridCol w="4095750"/>
                <a:gridCol w="4953000"/>
                <a:gridCol w="4953000"/>
              </a:tblGrid>
              <a:tr h="659946">
                <a:tc>
                  <a:txBody>
                    <a:bodyPr/>
                    <a:lstStyle/>
                    <a:p>
                      <a:r>
                        <a:rPr sz="2100" b="1">
                          <a:solidFill>
                            <a:srgbClr val="FFFFFF"/>
                          </a:solidFill>
                          <a:latin typeface="Arial"/>
                          <a:ea typeface="Arial"/>
                          <a:cs typeface="Arial"/>
                        </a:rPr>
                        <a:t>Approach</a:t>
                      </a:r>
                    </a:p>
                  </a:txBody>
                  <a:tcPr marL="91440" marR="91440" marT="45720" marB="45720">
                    <a:solidFill>
                      <a:srgbClr val="142D3D"/>
                    </a:solidFill>
                  </a:tcPr>
                </a:tc>
                <a:tc>
                  <a:txBody>
                    <a:bodyPr/>
                    <a:lstStyle/>
                    <a:p>
                      <a:r>
                        <a:rPr sz="2100" b="1">
                          <a:solidFill>
                            <a:srgbClr val="FFFFFF"/>
                          </a:solidFill>
                          <a:latin typeface="Arial"/>
                          <a:ea typeface="Arial"/>
                          <a:cs typeface="Arial"/>
                        </a:rPr>
                        <a:t>Purpose</a:t>
                      </a:r>
                    </a:p>
                  </a:txBody>
                  <a:tcPr marL="91440" marR="91440" marT="45720" marB="45720">
                    <a:solidFill>
                      <a:srgbClr val="142D3D"/>
                    </a:solidFill>
                  </a:tcPr>
                </a:tc>
                <a:tc>
                  <a:txBody>
                    <a:bodyPr/>
                    <a:lstStyle/>
                    <a:p>
                      <a:r>
                        <a:rPr sz="2100" b="1">
                          <a:solidFill>
                            <a:srgbClr val="FFFFFF"/>
                          </a:solidFill>
                          <a:latin typeface="Arial"/>
                          <a:ea typeface="Arial"/>
                          <a:cs typeface="Arial"/>
                        </a:rPr>
                        <a:t>What we learned</a:t>
                      </a:r>
                    </a:p>
                  </a:txBody>
                  <a:tcPr marL="91440" marR="91440" marT="45720" marB="45720">
                    <a:solidFill>
                      <a:srgbClr val="142D3D"/>
                    </a:solidFill>
                  </a:tcPr>
                </a:tc>
              </a:tr>
              <a:tr h="659946">
                <a:tc>
                  <a:txBody>
                    <a:bodyPr/>
                    <a:lstStyle/>
                    <a:p>
                      <a:r>
                        <a:rPr sz="2100" b="0">
                          <a:solidFill>
                            <a:srgbClr val="142D3D"/>
                          </a:solidFill>
                          <a:latin typeface="Arial"/>
                          <a:ea typeface="Arial"/>
                          <a:cs typeface="Arial"/>
                        </a:rPr>
                        <a:t>Rendered content</a:t>
                      </a:r>
                    </a:p>
                  </a:txBody>
                  <a:tcPr marL="91440" marR="91440" marT="45720" marB="45720">
                    <a:solidFill>
                      <a:srgbClr val="FFFFFF"/>
                    </a:solidFill>
                  </a:tcPr>
                </a:tc>
                <a:tc>
                  <a:txBody>
                    <a:bodyPr/>
                    <a:lstStyle/>
                    <a:p>
                      <a:r>
                        <a:rPr sz="2100" b="0">
                          <a:solidFill>
                            <a:srgbClr val="142D3D"/>
                          </a:solidFill>
                          <a:latin typeface="Arial"/>
                          <a:ea typeface="Arial"/>
                          <a:cs typeface="Arial"/>
                        </a:rPr>
                        <a:t>Expose useful information</a:t>
                      </a:r>
                    </a:p>
                  </a:txBody>
                  <a:tcPr marL="91440" marR="91440" marT="45720" marB="45720">
                    <a:solidFill>
                      <a:srgbClr val="FFFFFF"/>
                    </a:solidFill>
                  </a:tcPr>
                </a:tc>
                <a:tc>
                  <a:txBody>
                    <a:bodyPr/>
                    <a:lstStyle/>
                    <a:p>
                      <a:r>
                        <a:rPr sz="2100" b="0">
                          <a:solidFill>
                            <a:srgbClr val="142D3D"/>
                          </a:solidFill>
                          <a:latin typeface="Arial"/>
                          <a:ea typeface="Arial"/>
                          <a:cs typeface="Arial"/>
                        </a:rPr>
                        <a:t>Positive estimate; uncertain</a:t>
                      </a:r>
                    </a:p>
                  </a:txBody>
                  <a:tcPr marL="91440" marR="91440" marT="45720" marB="45720">
                    <a:solidFill>
                      <a:srgbClr val="FFFFFF"/>
                    </a:solidFill>
                  </a:tcPr>
                </a:tc>
              </a:tr>
              <a:tr h="659946">
                <a:tc>
                  <a:txBody>
                    <a:bodyPr/>
                    <a:lstStyle/>
                    <a:p>
                      <a:r>
                        <a:rPr sz="2100" b="0">
                          <a:solidFill>
                            <a:srgbClr val="142D3D"/>
                          </a:solidFill>
                          <a:latin typeface="Arial"/>
                          <a:ea typeface="Arial"/>
                          <a:cs typeface="Arial"/>
                        </a:rPr>
                        <a:t>Questions + answers</a:t>
                      </a:r>
                    </a:p>
                  </a:txBody>
                  <a:tcPr marL="91440" marR="91440" marT="45720" marB="45720">
                    <a:solidFill>
                      <a:srgbClr val="E9F0F1"/>
                    </a:solidFill>
                  </a:tcPr>
                </a:tc>
                <a:tc>
                  <a:txBody>
                    <a:bodyPr/>
                    <a:lstStyle/>
                    <a:p>
                      <a:r>
                        <a:rPr sz="2100" b="0">
                          <a:solidFill>
                            <a:srgbClr val="142D3D"/>
                          </a:solidFill>
                          <a:latin typeface="Arial"/>
                          <a:ea typeface="Arial"/>
                          <a:cs typeface="Arial"/>
                        </a:rPr>
                        <a:t>Keep useful context together</a:t>
                      </a:r>
                    </a:p>
                  </a:txBody>
                  <a:tcPr marL="91440" marR="91440" marT="45720" marB="45720">
                    <a:solidFill>
                      <a:srgbClr val="E9F0F1"/>
                    </a:solidFill>
                  </a:tcPr>
                </a:tc>
                <a:tc>
                  <a:txBody>
                    <a:bodyPr/>
                    <a:lstStyle/>
                    <a:p>
                      <a:r>
                        <a:rPr sz="2100" b="0">
                          <a:solidFill>
                            <a:srgbClr val="142D3D"/>
                          </a:solidFill>
                          <a:latin typeface="Arial"/>
                          <a:ea typeface="Arial"/>
                          <a:cs typeface="Arial"/>
                        </a:rPr>
                        <a:t>Encouraging</a:t>
                      </a:r>
                    </a:p>
                  </a:txBody>
                  <a:tcPr marL="91440" marR="91440" marT="45720" marB="45720">
                    <a:solidFill>
                      <a:srgbClr val="E9F0F1"/>
                    </a:solidFill>
                  </a:tcPr>
                </a:tc>
              </a:tr>
              <a:tr h="659946">
                <a:tc>
                  <a:txBody>
                    <a:bodyPr/>
                    <a:lstStyle/>
                    <a:p>
                      <a:r>
                        <a:rPr sz="2100" b="0">
                          <a:solidFill>
                            <a:srgbClr val="142D3D"/>
                          </a:solidFill>
                          <a:latin typeface="Arial"/>
                          <a:ea typeface="Arial"/>
                          <a:cs typeface="Arial"/>
                        </a:rPr>
                        <a:t>Organised facts</a:t>
                      </a:r>
                    </a:p>
                  </a:txBody>
                  <a:tcPr marL="91440" marR="91440" marT="45720" marB="45720">
                    <a:solidFill>
                      <a:srgbClr val="FFFFFF"/>
                    </a:solidFill>
                  </a:tcPr>
                </a:tc>
                <a:tc>
                  <a:txBody>
                    <a:bodyPr/>
                    <a:lstStyle/>
                    <a:p>
                      <a:r>
                        <a:rPr sz="2100" b="0">
                          <a:solidFill>
                            <a:srgbClr val="142D3D"/>
                          </a:solidFill>
                          <a:latin typeface="Arial"/>
                          <a:ea typeface="Arial"/>
                          <a:cs typeface="Arial"/>
                        </a:rPr>
                        <a:t>Make details easy to find</a:t>
                      </a:r>
                    </a:p>
                  </a:txBody>
                  <a:tcPr marL="91440" marR="91440" marT="45720" marB="45720">
                    <a:solidFill>
                      <a:srgbClr val="FFFFFF"/>
                    </a:solidFill>
                  </a:tcPr>
                </a:tc>
                <a:tc>
                  <a:txBody>
                    <a:bodyPr/>
                    <a:lstStyle/>
                    <a:p>
                      <a:r>
                        <a:rPr sz="2100" b="0">
                          <a:solidFill>
                            <a:srgbClr val="142D3D"/>
                          </a:solidFill>
                          <a:latin typeface="Arial"/>
                          <a:ea typeface="Arial"/>
                          <a:cs typeface="Arial"/>
                        </a:rPr>
                        <a:t>Encouraging</a:t>
                      </a:r>
                    </a:p>
                  </a:txBody>
                  <a:tcPr marL="91440" marR="91440" marT="45720" marB="45720">
                    <a:solidFill>
                      <a:srgbClr val="FFFFFF"/>
                    </a:solidFill>
                  </a:tcPr>
                </a:tc>
              </a:tr>
              <a:tr h="659946">
                <a:tc>
                  <a:txBody>
                    <a:bodyPr/>
                    <a:lstStyle/>
                    <a:p>
                      <a:r>
                        <a:rPr sz="2100" b="0">
                          <a:solidFill>
                            <a:srgbClr val="142D3D"/>
                          </a:solidFill>
                          <a:latin typeface="Arial"/>
                          <a:ea typeface="Arial"/>
                          <a:cs typeface="Arial"/>
                        </a:rPr>
                        <a:t>External information</a:t>
                      </a:r>
                    </a:p>
                  </a:txBody>
                  <a:tcPr marL="91440" marR="91440" marT="45720" marB="45720">
                    <a:solidFill>
                      <a:srgbClr val="E9F0F1"/>
                    </a:solidFill>
                  </a:tcPr>
                </a:tc>
                <a:tc>
                  <a:txBody>
                    <a:bodyPr/>
                    <a:lstStyle/>
                    <a:p>
                      <a:r>
                        <a:rPr sz="2100" b="0">
                          <a:solidFill>
                            <a:srgbClr val="142D3D"/>
                          </a:solidFill>
                          <a:latin typeface="Arial"/>
                          <a:ea typeface="Arial"/>
                          <a:cs typeface="Arial"/>
                        </a:rPr>
                        <a:t>Add attributed material</a:t>
                      </a:r>
                    </a:p>
                  </a:txBody>
                  <a:tcPr marL="91440" marR="91440" marT="45720" marB="45720">
                    <a:solidFill>
                      <a:srgbClr val="E9F0F1"/>
                    </a:solidFill>
                  </a:tcPr>
                </a:tc>
                <a:tc>
                  <a:txBody>
                    <a:bodyPr/>
                    <a:lstStyle/>
                    <a:p>
                      <a:r>
                        <a:rPr sz="2100" b="0">
                          <a:solidFill>
                            <a:srgbClr val="142D3D"/>
                          </a:solidFill>
                          <a:latin typeface="Arial"/>
                          <a:ea typeface="Arial"/>
                          <a:cs typeface="Arial"/>
                        </a:rPr>
                        <a:t>No clear isolated gain</a:t>
                      </a:r>
                    </a:p>
                  </a:txBody>
                  <a:tcPr marL="91440" marR="91440" marT="45720" marB="45720">
                    <a:solidFill>
                      <a:srgbClr val="E9F0F1"/>
                    </a:solidFill>
                  </a:tcPr>
                </a:tc>
              </a:tr>
              <a:tr h="659946">
                <a:tc>
                  <a:txBody>
                    <a:bodyPr/>
                    <a:lstStyle/>
                    <a:p>
                      <a:r>
                        <a:rPr sz="2100" b="0">
                          <a:solidFill>
                            <a:srgbClr val="142D3D"/>
                          </a:solidFill>
                          <a:latin typeface="Arial"/>
                          <a:ea typeface="Arial"/>
                          <a:cs typeface="Arial"/>
                        </a:rPr>
                        <a:t>Schema + page text</a:t>
                      </a:r>
                    </a:p>
                  </a:txBody>
                  <a:tcPr marL="91440" marR="91440" marT="45720" marB="45720">
                    <a:solidFill>
                      <a:srgbClr val="FFFFFF"/>
                    </a:solidFill>
                  </a:tcPr>
                </a:tc>
                <a:tc>
                  <a:txBody>
                    <a:bodyPr/>
                    <a:lstStyle/>
                    <a:p>
                      <a:r>
                        <a:rPr sz="2100" b="0">
                          <a:solidFill>
                            <a:srgbClr val="142D3D"/>
                          </a:solidFill>
                          <a:latin typeface="Arial"/>
                          <a:ea typeface="Arial"/>
                          <a:cs typeface="Arial"/>
                        </a:rPr>
                        <a:t>Add machine-readable labels</a:t>
                      </a:r>
                    </a:p>
                  </a:txBody>
                  <a:tcPr marL="91440" marR="91440" marT="45720" marB="45720">
                    <a:solidFill>
                      <a:srgbClr val="FFFFFF"/>
                    </a:solidFill>
                  </a:tcPr>
                </a:tc>
                <a:tc>
                  <a:txBody>
                    <a:bodyPr/>
                    <a:lstStyle/>
                    <a:p>
                      <a:r>
                        <a:rPr sz="2100" b="0">
                          <a:solidFill>
                            <a:srgbClr val="142D3D"/>
                          </a:solidFill>
                          <a:latin typeface="Arial"/>
                          <a:ea typeface="Arial"/>
                          <a:cs typeface="Arial"/>
                        </a:rPr>
                        <a:t>Effect cannot be separated</a:t>
                      </a:r>
                    </a:p>
                  </a:txBody>
                  <a:tcPr marL="91440" marR="91440" marT="45720" marB="45720">
                    <a:solidFill>
                      <a:srgbClr val="FFFFFF"/>
                    </a:solidFill>
                  </a:tcPr>
                </a:tc>
              </a:tr>
              <a:tr h="659946">
                <a:tc>
                  <a:txBody>
                    <a:bodyPr/>
                    <a:lstStyle/>
                    <a:p>
                      <a:r>
                        <a:rPr sz="2100" b="0">
                          <a:solidFill>
                            <a:srgbClr val="142D3D"/>
                          </a:solidFill>
                          <a:latin typeface="Arial"/>
                          <a:ea typeface="Arial"/>
                          <a:cs typeface="Arial"/>
                        </a:rPr>
                        <a:t>Automatic rewriting</a:t>
                      </a:r>
                    </a:p>
                  </a:txBody>
                  <a:tcPr marL="91440" marR="91440" marT="45720" marB="45720">
                    <a:solidFill>
                      <a:srgbClr val="E9F0F1"/>
                    </a:solidFill>
                  </a:tcPr>
                </a:tc>
                <a:tc>
                  <a:txBody>
                    <a:bodyPr/>
                    <a:lstStyle/>
                    <a:p>
                      <a:r>
                        <a:rPr sz="2100" b="0">
                          <a:solidFill>
                            <a:srgbClr val="142D3D"/>
                          </a:solidFill>
                          <a:latin typeface="Arial"/>
                          <a:ea typeface="Arial"/>
                          <a:cs typeface="Arial"/>
                        </a:rPr>
                        <a:t>Rephrase the page</a:t>
                      </a:r>
                    </a:p>
                  </a:txBody>
                  <a:tcPr marL="91440" marR="91440" marT="45720" marB="45720">
                    <a:solidFill>
                      <a:srgbClr val="E9F0F1"/>
                    </a:solidFill>
                  </a:tcPr>
                </a:tc>
                <a:tc>
                  <a:txBody>
                    <a:bodyPr/>
                    <a:lstStyle/>
                    <a:p>
                      <a:r>
                        <a:rPr sz="2100" b="0">
                          <a:solidFill>
                            <a:srgbClr val="142D3D"/>
                          </a:solidFill>
                          <a:latin typeface="Arial"/>
                          <a:ea typeface="Arial"/>
                          <a:cs typeface="Arial"/>
                        </a:rPr>
                        <a:t>Worse in the reviewed run</a:t>
                      </a:r>
                    </a:p>
                  </a:txBody>
                  <a:tcPr marL="91440" marR="91440" marT="45720" marB="45720">
                    <a:solidFill>
                      <a:srgbClr val="E9F0F1"/>
                    </a:solidFill>
                  </a:tcPr>
                </a:tc>
              </a:tr>
            </a:tbl>
          </a:graphicData>
        </a:graphic>
      </p:graphicFrame>
    </p:spTree>
    <p:extLst>
      <p:ext uri="{BB962C8B-B14F-4D97-AF65-F5344CB8AC3E}">
        <p14:creationId xmlns:p14="http://schemas.microsoft.com/office/powerpoint/2010/main" val="1421803467"/>
      </p:ext>
    </p:extLst>
  </p:cSld>
</p:sld>
</file>

<file path=ppt/slides/slide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B137BEA-C7F0-41FD-B20C-3FA9FC330C72}"/>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17E3D7F7-4E88-4C67-A98D-E13023D85A2B}"/>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What we combined</a:t>
            </a:r>
          </a:p>
        </p:txBody>
      </p:sp>
      <p:sp>
        <p:nvSpPr>
          <p:cNvPr id="3" name="">
            <a:extLst xmlns:a="http://schemas.openxmlformats.org/drawingml/2006/main">
              <a:ext uri="{FF2B5EF4-FFF2-40B4-BE49-F238E27FC236}">
                <a16:creationId xmlns:a16="http://schemas.microsoft.com/office/drawing/2014/main" id="{5FAA86DE-9DDA-449E-AD41-5E50C84999BF}"/>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D06027-CA4C-4C15-9938-34299106D9DB}"/>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We tested the combined page as its own version—not by adding method scores.</a:t>
            </a:r>
          </a:p>
        </p:txBody>
      </p:sp>
      <p:sp>
        <p:nvSpPr>
          <p:cNvPr id="5" name="">
            <a:extLst xmlns:a="http://schemas.openxmlformats.org/drawingml/2006/main">
              <a:ext uri="{FF2B5EF4-FFF2-40B4-BE49-F238E27FC236}">
                <a16:creationId xmlns:a16="http://schemas.microsoft.com/office/drawing/2014/main" id="{C3F32097-028D-4BB6-BC87-165E8F4A3D90}"/>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6 / 18   •   Sources and detail in speaker notes</a:t>
            </a:r>
          </a:p>
        </p:txBody>
      </p:sp>
      <p:sp>
        <p:nvSpPr>
          <p:cNvPr id="6" name="">
            <a:extLst xmlns:a="http://schemas.openxmlformats.org/drawingml/2006/main">
              <a:ext uri="{FF2B5EF4-FFF2-40B4-BE49-F238E27FC236}">
                <a16:creationId xmlns:a16="http://schemas.microsoft.com/office/drawing/2014/main" id="{7206D234-334C-43CD-B16E-4D134BD370DD}"/>
              </a:ext>
            </a:extLst>
          </p:cNvPr>
          <p:cNvSpPr>
            <a:spLocks xmlns:a="http://schemas.openxmlformats.org/drawingml/2006/main" noGrp="1"/>
          </p:cNvSpPr>
          <p:nvPr/>
        </p:nvSpPr>
        <p:spPr>
          <a:xfrm xmlns:a="http://schemas.openxmlformats.org/drawingml/2006/main">
            <a:off x="619125" y="3048000"/>
            <a:ext cx="3095625"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7" name="">
            <a:extLst xmlns:a="http://schemas.openxmlformats.org/drawingml/2006/main">
              <a:ext uri="{FF2B5EF4-FFF2-40B4-BE49-F238E27FC236}">
                <a16:creationId xmlns:a16="http://schemas.microsoft.com/office/drawing/2014/main" id="{465E6D31-1B87-4F52-AB84-698455428395}"/>
              </a:ext>
            </a:extLst>
          </p:cNvPr>
          <p:cNvSpPr>
            <a:spLocks xmlns:a="http://schemas.openxmlformats.org/drawingml/2006/main" noGrp="1"/>
          </p:cNvSpPr>
          <p:nvPr/>
        </p:nvSpPr>
        <p:spPr>
          <a:xfrm xmlns:a="http://schemas.openxmlformats.org/drawingml/2006/main">
            <a:off x="619125"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8D210F2-978A-4BFF-B6EC-66B06E71D1EA}"/>
              </a:ext>
            </a:extLst>
          </p:cNvPr>
          <p:cNvSpPr>
            <a:spLocks xmlns:a="http://schemas.openxmlformats.org/drawingml/2006/main" noGrp="1"/>
          </p:cNvSpPr>
          <p:nvPr/>
        </p:nvSpPr>
        <p:spPr>
          <a:xfrm xmlns:a="http://schemas.openxmlformats.org/drawingml/2006/main">
            <a:off x="809625" y="31908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Expose</a:t>
            </a:r>
          </a:p>
        </p:txBody>
      </p:sp>
      <p:sp>
        <p:nvSpPr>
          <p:cNvPr id="9" name="">
            <a:extLst xmlns:a="http://schemas.openxmlformats.org/drawingml/2006/main">
              <a:ext uri="{FF2B5EF4-FFF2-40B4-BE49-F238E27FC236}">
                <a16:creationId xmlns:a16="http://schemas.microsoft.com/office/drawing/2014/main" id="{776BE2CF-6052-44EB-B3EA-1A2F84124EE1}"/>
              </a:ext>
            </a:extLst>
          </p:cNvPr>
          <p:cNvSpPr>
            <a:spLocks xmlns:a="http://schemas.openxmlformats.org/drawingml/2006/main" noGrp="1"/>
          </p:cNvSpPr>
          <p:nvPr/>
        </p:nvSpPr>
        <p:spPr>
          <a:xfrm xmlns:a="http://schemas.openxmlformats.org/drawingml/2006/main">
            <a:off x="809625" y="3781425"/>
            <a:ext cx="2714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Captured offer details</a:t>
            </a:r>
          </a:p>
        </p:txBody>
      </p:sp>
      <p:sp>
        <p:nvSpPr>
          <p:cNvPr id="10" name="">
            <a:extLst xmlns:a="http://schemas.openxmlformats.org/drawingml/2006/main">
              <a:ext uri="{FF2B5EF4-FFF2-40B4-BE49-F238E27FC236}">
                <a16:creationId xmlns:a16="http://schemas.microsoft.com/office/drawing/2014/main" id="{8786DDF1-5372-4766-B7C7-71A2D2946F32}"/>
              </a:ext>
            </a:extLst>
          </p:cNvPr>
          <p:cNvSpPr>
            <a:spLocks xmlns:a="http://schemas.openxmlformats.org/drawingml/2006/main" noGrp="1"/>
          </p:cNvSpPr>
          <p:nvPr/>
        </p:nvSpPr>
        <p:spPr>
          <a:xfrm xmlns:a="http://schemas.openxmlformats.org/drawingml/2006/main">
            <a:off x="3829050" y="3924300"/>
            <a:ext cx="304800" cy="285750"/>
          </a:xfrm>
          <a:prstGeom xmlns:a="http://schemas.openxmlformats.org/drawingml/2006/main" prst="rightArrow">
            <a:avLst/>
          </a:prstGeom>
          <a:solidFill xmlns:a="http://schemas.openxmlformats.org/drawingml/2006/main">
            <a:srgbClr val="087D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5F5D65CB-AE7A-41CE-80AB-F03D3CCDF2DB}"/>
              </a:ext>
            </a:extLst>
          </p:cNvPr>
          <p:cNvSpPr>
            <a:spLocks xmlns:a="http://schemas.openxmlformats.org/drawingml/2006/main" noGrp="1"/>
          </p:cNvSpPr>
          <p:nvPr/>
        </p:nvSpPr>
        <p:spPr>
          <a:xfrm xmlns:a="http://schemas.openxmlformats.org/drawingml/2006/main">
            <a:off x="4248150" y="3048000"/>
            <a:ext cx="3095625"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12" name="">
            <a:extLst xmlns:a="http://schemas.openxmlformats.org/drawingml/2006/main">
              <a:ext uri="{FF2B5EF4-FFF2-40B4-BE49-F238E27FC236}">
                <a16:creationId xmlns:a16="http://schemas.microsoft.com/office/drawing/2014/main" id="{A85F09C9-0443-42CF-9ED0-9D861DFDCE81}"/>
              </a:ext>
            </a:extLst>
          </p:cNvPr>
          <p:cNvSpPr>
            <a:spLocks xmlns:a="http://schemas.openxmlformats.org/drawingml/2006/main" noGrp="1"/>
          </p:cNvSpPr>
          <p:nvPr/>
        </p:nvSpPr>
        <p:spPr>
          <a:xfrm xmlns:a="http://schemas.openxmlformats.org/drawingml/2006/main">
            <a:off x="4248150"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C2CE090-B1B4-4908-B269-3DA05A51AAB0}"/>
              </a:ext>
            </a:extLst>
          </p:cNvPr>
          <p:cNvSpPr>
            <a:spLocks xmlns:a="http://schemas.openxmlformats.org/drawingml/2006/main" noGrp="1"/>
          </p:cNvSpPr>
          <p:nvPr/>
        </p:nvSpPr>
        <p:spPr>
          <a:xfrm xmlns:a="http://schemas.openxmlformats.org/drawingml/2006/main">
            <a:off x="4438650" y="31908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Clean</a:t>
            </a:r>
          </a:p>
        </p:txBody>
      </p:sp>
      <p:sp>
        <p:nvSpPr>
          <p:cNvPr id="14" name="">
            <a:extLst xmlns:a="http://schemas.openxmlformats.org/drawingml/2006/main">
              <a:ext uri="{FF2B5EF4-FFF2-40B4-BE49-F238E27FC236}">
                <a16:creationId xmlns:a16="http://schemas.microsoft.com/office/drawing/2014/main" id="{051C748A-5392-4557-AB18-D4489EB5140C}"/>
              </a:ext>
            </a:extLst>
          </p:cNvPr>
          <p:cNvSpPr>
            <a:spLocks xmlns:a="http://schemas.openxmlformats.org/drawingml/2006/main" noGrp="1"/>
          </p:cNvSpPr>
          <p:nvPr/>
        </p:nvSpPr>
        <p:spPr>
          <a:xfrm xmlns:a="http://schemas.openxmlformats.org/drawingml/2006/main">
            <a:off x="4438650" y="3781425"/>
            <a:ext cx="2714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Readable text and labels</a:t>
            </a:r>
          </a:p>
        </p:txBody>
      </p:sp>
      <p:sp>
        <p:nvSpPr>
          <p:cNvPr id="15" name="">
            <a:extLst xmlns:a="http://schemas.openxmlformats.org/drawingml/2006/main">
              <a:ext uri="{FF2B5EF4-FFF2-40B4-BE49-F238E27FC236}">
                <a16:creationId xmlns:a16="http://schemas.microsoft.com/office/drawing/2014/main" id="{10F3888F-971F-49BD-BF99-19F981FBD317}"/>
              </a:ext>
            </a:extLst>
          </p:cNvPr>
          <p:cNvSpPr>
            <a:spLocks xmlns:a="http://schemas.openxmlformats.org/drawingml/2006/main" noGrp="1"/>
          </p:cNvSpPr>
          <p:nvPr/>
        </p:nvSpPr>
        <p:spPr>
          <a:xfrm xmlns:a="http://schemas.openxmlformats.org/drawingml/2006/main">
            <a:off x="7458075" y="3924300"/>
            <a:ext cx="304800" cy="285750"/>
          </a:xfrm>
          <a:prstGeom xmlns:a="http://schemas.openxmlformats.org/drawingml/2006/main" prst="rightArrow">
            <a:avLst/>
          </a:prstGeom>
          <a:solidFill xmlns:a="http://schemas.openxmlformats.org/drawingml/2006/main">
            <a:srgbClr val="087D8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CA59C0F1-74AF-43BE-8D34-C1B5116BB0F1}"/>
              </a:ext>
            </a:extLst>
          </p:cNvPr>
          <p:cNvSpPr>
            <a:spLocks xmlns:a="http://schemas.openxmlformats.org/drawingml/2006/main" noGrp="1"/>
          </p:cNvSpPr>
          <p:nvPr/>
        </p:nvSpPr>
        <p:spPr>
          <a:xfrm xmlns:a="http://schemas.openxmlformats.org/drawingml/2006/main">
            <a:off x="7877175" y="3048000"/>
            <a:ext cx="3095625"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17" name="">
            <a:extLst xmlns:a="http://schemas.openxmlformats.org/drawingml/2006/main">
              <a:ext uri="{FF2B5EF4-FFF2-40B4-BE49-F238E27FC236}">
                <a16:creationId xmlns:a16="http://schemas.microsoft.com/office/drawing/2014/main" id="{9750EAB7-3323-4B0B-88F1-CE4BB360F588}"/>
              </a:ext>
            </a:extLst>
          </p:cNvPr>
          <p:cNvSpPr>
            <a:spLocks xmlns:a="http://schemas.openxmlformats.org/drawingml/2006/main" noGrp="1"/>
          </p:cNvSpPr>
          <p:nvPr/>
        </p:nvSpPr>
        <p:spPr>
          <a:xfrm xmlns:a="http://schemas.openxmlformats.org/drawingml/2006/main">
            <a:off x="7877175"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854CB4E-35D0-4B65-931C-85EDA1416CBA}"/>
              </a:ext>
            </a:extLst>
          </p:cNvPr>
          <p:cNvSpPr>
            <a:spLocks xmlns:a="http://schemas.openxmlformats.org/drawingml/2006/main" noGrp="1"/>
          </p:cNvSpPr>
          <p:nvPr/>
        </p:nvSpPr>
        <p:spPr>
          <a:xfrm xmlns:a="http://schemas.openxmlformats.org/drawingml/2006/main">
            <a:off x="8067675" y="31908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Organise</a:t>
            </a:r>
          </a:p>
        </p:txBody>
      </p:sp>
      <p:sp>
        <p:nvSpPr>
          <p:cNvPr id="19" name="">
            <a:extLst xmlns:a="http://schemas.openxmlformats.org/drawingml/2006/main">
              <a:ext uri="{FF2B5EF4-FFF2-40B4-BE49-F238E27FC236}">
                <a16:creationId xmlns:a16="http://schemas.microsoft.com/office/drawing/2014/main" id="{24A3487A-9FE1-4BC9-9053-0ACEA139B1E3}"/>
              </a:ext>
            </a:extLst>
          </p:cNvPr>
          <p:cNvSpPr>
            <a:spLocks xmlns:a="http://schemas.openxmlformats.org/drawingml/2006/main" noGrp="1"/>
          </p:cNvSpPr>
          <p:nvPr/>
        </p:nvSpPr>
        <p:spPr>
          <a:xfrm xmlns:a="http://schemas.openxmlformats.org/drawingml/2006/main">
            <a:off x="8067675" y="3781425"/>
            <a:ext cx="2714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Supported route details</a:t>
            </a:r>
          </a:p>
        </p:txBody>
      </p:sp>
      <p:sp>
        <p:nvSpPr>
          <p:cNvPr id="20" name="">
            <a:extLst xmlns:a="http://schemas.openxmlformats.org/drawingml/2006/main">
              <a:ext uri="{FF2B5EF4-FFF2-40B4-BE49-F238E27FC236}">
                <a16:creationId xmlns:a16="http://schemas.microsoft.com/office/drawing/2014/main" id="{7A5A746E-C6EF-4CED-8293-C028154EDBE3}"/>
              </a:ext>
            </a:extLst>
          </p:cNvPr>
          <p:cNvSpPr>
            <a:spLocks xmlns:a="http://schemas.openxmlformats.org/drawingml/2006/main" noGrp="1"/>
          </p:cNvSpPr>
          <p:nvPr/>
        </p:nvSpPr>
        <p:spPr>
          <a:xfrm xmlns:a="http://schemas.openxmlformats.org/drawingml/2006/main">
            <a:off x="11087100" y="3924300"/>
            <a:ext cx="304800" cy="285750"/>
          </a:xfrm>
          <a:prstGeom xmlns:a="http://schemas.openxmlformats.org/drawingml/2006/main" prst="rightArrow">
            <a:avLst/>
          </a:prstGeom>
          <a:solidFill xmlns:a="http://schemas.openxmlformats.org/drawingml/2006/main">
            <a:srgbClr val="087D8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C4E1E5E-A1CB-48A0-B356-4EAED13DC96C}"/>
              </a:ext>
            </a:extLst>
          </p:cNvPr>
          <p:cNvSpPr>
            <a:spLocks xmlns:a="http://schemas.openxmlformats.org/drawingml/2006/main" noGrp="1"/>
          </p:cNvSpPr>
          <p:nvPr/>
        </p:nvSpPr>
        <p:spPr>
          <a:xfrm xmlns:a="http://schemas.openxmlformats.org/drawingml/2006/main">
            <a:off x="11506200" y="3048000"/>
            <a:ext cx="3095625"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22" name="">
            <a:extLst xmlns:a="http://schemas.openxmlformats.org/drawingml/2006/main">
              <a:ext uri="{FF2B5EF4-FFF2-40B4-BE49-F238E27FC236}">
                <a16:creationId xmlns:a16="http://schemas.microsoft.com/office/drawing/2014/main" id="{A4EB8BBA-FAFA-4710-867A-39CE316A969E}"/>
              </a:ext>
            </a:extLst>
          </p:cNvPr>
          <p:cNvSpPr>
            <a:spLocks xmlns:a="http://schemas.openxmlformats.org/drawingml/2006/main" noGrp="1"/>
          </p:cNvSpPr>
          <p:nvPr/>
        </p:nvSpPr>
        <p:spPr>
          <a:xfrm xmlns:a="http://schemas.openxmlformats.org/drawingml/2006/main">
            <a:off x="11506200"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B0C882C7-DB25-4C95-A9E8-291CBD6E5211}"/>
              </a:ext>
            </a:extLst>
          </p:cNvPr>
          <p:cNvSpPr>
            <a:spLocks xmlns:a="http://schemas.openxmlformats.org/drawingml/2006/main" noGrp="1"/>
          </p:cNvSpPr>
          <p:nvPr/>
        </p:nvSpPr>
        <p:spPr>
          <a:xfrm xmlns:a="http://schemas.openxmlformats.org/drawingml/2006/main">
            <a:off x="11696700" y="31908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Connect</a:t>
            </a:r>
          </a:p>
        </p:txBody>
      </p:sp>
      <p:sp>
        <p:nvSpPr>
          <p:cNvPr id="24" name="">
            <a:extLst xmlns:a="http://schemas.openxmlformats.org/drawingml/2006/main">
              <a:ext uri="{FF2B5EF4-FFF2-40B4-BE49-F238E27FC236}">
                <a16:creationId xmlns:a16="http://schemas.microsoft.com/office/drawing/2014/main" id="{A7FC3203-04EF-4CD3-BA70-A33AB8834CA0}"/>
              </a:ext>
            </a:extLst>
          </p:cNvPr>
          <p:cNvSpPr>
            <a:spLocks xmlns:a="http://schemas.openxmlformats.org/drawingml/2006/main" noGrp="1"/>
          </p:cNvSpPr>
          <p:nvPr/>
        </p:nvSpPr>
        <p:spPr>
          <a:xfrm xmlns:a="http://schemas.openxmlformats.org/drawingml/2006/main">
            <a:off x="11696700" y="3781425"/>
            <a:ext cx="2714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Questions beside answers</a:t>
            </a:r>
          </a:p>
        </p:txBody>
      </p:sp>
      <p:sp>
        <p:nvSpPr>
          <p:cNvPr id="25" name="">
            <a:extLst xmlns:a="http://schemas.openxmlformats.org/drawingml/2006/main">
              <a:ext uri="{FF2B5EF4-FFF2-40B4-BE49-F238E27FC236}">
                <a16:creationId xmlns:a16="http://schemas.microsoft.com/office/drawing/2014/main" id="{4296B87C-BC98-45A8-B17A-621EB99B22EA}"/>
              </a:ext>
            </a:extLst>
          </p:cNvPr>
          <p:cNvSpPr>
            <a:spLocks xmlns:a="http://schemas.openxmlformats.org/drawingml/2006/main" noGrp="1"/>
          </p:cNvSpPr>
          <p:nvPr/>
        </p:nvSpPr>
        <p:spPr>
          <a:xfrm xmlns:a="http://schemas.openxmlformats.org/drawingml/2006/main">
            <a:off x="619125" y="6191250"/>
            <a:ext cx="1390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506574"/>
                </a:solidFill>
                <a:latin typeface="Arial"/>
                <a:ea typeface="Arial"/>
                <a:cs typeface="Arial"/>
              </a:defRPr>
            </a:defPPr>
            <a:lvl1pPr>
              <a:defRPr sz="2400" b="0">
                <a:solidFill>
                  <a:srgbClr val="506574"/>
                </a:solidFill>
                <a:latin typeface="Arial"/>
                <a:ea typeface="Arial"/>
                <a:cs typeface="Arial"/>
              </a:defRPr>
            </a:lvl1pPr>
            <a:lvl2pPr>
              <a:defRPr sz="2400" b="0">
                <a:solidFill>
                  <a:srgbClr val="506574"/>
                </a:solidFill>
                <a:latin typeface="Arial"/>
                <a:ea typeface="Arial"/>
                <a:cs typeface="Arial"/>
              </a:defRPr>
            </a:lvl2pPr>
            <a:lvl3pPr>
              <a:defRPr sz="2400" b="0">
                <a:solidFill>
                  <a:srgbClr val="506574"/>
                </a:solidFill>
                <a:latin typeface="Arial"/>
                <a:ea typeface="Arial"/>
                <a:cs typeface="Arial"/>
              </a:defRPr>
            </a:lvl3pPr>
            <a:lvl4pPr>
              <a:defRPr sz="2400" b="0">
                <a:solidFill>
                  <a:srgbClr val="506574"/>
                </a:solidFill>
                <a:latin typeface="Arial"/>
                <a:ea typeface="Arial"/>
                <a:cs typeface="Arial"/>
              </a:defRPr>
            </a:lvl4pPr>
            <a:lvl5pPr>
              <a:defRPr sz="2400" b="0">
                <a:solidFill>
                  <a:srgbClr val="506574"/>
                </a:solidFill>
                <a:latin typeface="Arial"/>
                <a:ea typeface="Arial"/>
                <a:cs typeface="Arial"/>
              </a:defRPr>
            </a:lvl5pPr>
            <a:lvl6pPr>
              <a:defRPr sz="2400" b="0">
                <a:solidFill>
                  <a:srgbClr val="506574"/>
                </a:solidFill>
                <a:latin typeface="Arial"/>
                <a:ea typeface="Arial"/>
                <a:cs typeface="Arial"/>
              </a:defRPr>
            </a:lvl6pPr>
            <a:lvl7pPr>
              <a:defRPr sz="2400" b="0">
                <a:solidFill>
                  <a:srgbClr val="506574"/>
                </a:solidFill>
                <a:latin typeface="Arial"/>
                <a:ea typeface="Arial"/>
                <a:cs typeface="Arial"/>
              </a:defRPr>
            </a:lvl7pPr>
            <a:lvl8pPr>
              <a:defRPr sz="2400" b="0">
                <a:solidFill>
                  <a:srgbClr val="506574"/>
                </a:solidFill>
                <a:latin typeface="Arial"/>
                <a:ea typeface="Arial"/>
                <a:cs typeface="Arial"/>
              </a:defRPr>
            </a:lvl8pPr>
            <a:lvl9pPr>
              <a:defRPr sz="2400" b="0">
                <a:solidFill>
                  <a:srgbClr val="506574"/>
                </a:solidFill>
                <a:latin typeface="Arial"/>
                <a:ea typeface="Arial"/>
                <a:cs typeface="Arial"/>
              </a:defRPr>
            </a:lvl9pPr>
          </a:lstStyle>
          <a:p xmlns:a="http://schemas.openxmlformats.org/drawingml/2006/main">
            <a:r>
              <a:t/>
            </a:r>
          </a:p>
        </p:txBody>
      </p:sp>
    </p:spTree>
    <p:extLst>
      <p:ext uri="{BB962C8B-B14F-4D97-AF65-F5344CB8AC3E}">
        <p14:creationId xmlns:p14="http://schemas.microsoft.com/office/powerpoint/2010/main" val="296075760"/>
      </p:ext>
    </p:extLst>
  </p:cSld>
</p:sld>
</file>

<file path=ppt/slides/slide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1C1C376-3B26-46E3-A1B1-3256D4480701}"/>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5137E9F4-699B-4AF2-BCA6-8BB116653487}"/>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How a page becomes an AI input</a:t>
            </a:r>
          </a:p>
        </p:txBody>
      </p:sp>
      <p:sp>
        <p:nvSpPr>
          <p:cNvPr id="3" name="">
            <a:extLst xmlns:a="http://schemas.openxmlformats.org/drawingml/2006/main">
              <a:ext uri="{FF2B5EF4-FFF2-40B4-BE49-F238E27FC236}">
                <a16:creationId xmlns:a16="http://schemas.microsoft.com/office/drawing/2014/main" id="{228DC8F9-20DE-463C-9483-CC37CA487A6C}"/>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CF81EE-9DE9-433B-8145-FD446D0887B4}"/>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We test the text the AI actually receives—not just how the website looks.</a:t>
            </a:r>
          </a:p>
        </p:txBody>
      </p:sp>
      <p:sp>
        <p:nvSpPr>
          <p:cNvPr id="5" name="">
            <a:extLst xmlns:a="http://schemas.openxmlformats.org/drawingml/2006/main">
              <a:ext uri="{FF2B5EF4-FFF2-40B4-BE49-F238E27FC236}">
                <a16:creationId xmlns:a16="http://schemas.microsoft.com/office/drawing/2014/main" id="{644231BD-8988-4427-9FAD-7B26279077E9}"/>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7 / 18   •   Sources and detail in speaker notes</a:t>
            </a:r>
          </a:p>
        </p:txBody>
      </p:sp>
      <p:sp>
        <p:nvSpPr>
          <p:cNvPr id="6" name="">
            <a:extLst xmlns:a="http://schemas.openxmlformats.org/drawingml/2006/main">
              <a:ext uri="{FF2B5EF4-FFF2-40B4-BE49-F238E27FC236}">
                <a16:creationId xmlns:a16="http://schemas.microsoft.com/office/drawing/2014/main" id="{69B6B56B-EB00-4267-92C0-8E21491C856E}"/>
              </a:ext>
            </a:extLst>
          </p:cNvPr>
          <p:cNvSpPr>
            <a:spLocks xmlns:a="http://schemas.openxmlformats.org/drawingml/2006/main" noGrp="1"/>
          </p:cNvSpPr>
          <p:nvPr/>
        </p:nvSpPr>
        <p:spPr>
          <a:xfrm xmlns:a="http://schemas.openxmlformats.org/drawingml/2006/main">
            <a:off x="619125" y="3048000"/>
            <a:ext cx="3095625"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7" name="">
            <a:extLst xmlns:a="http://schemas.openxmlformats.org/drawingml/2006/main">
              <a:ext uri="{FF2B5EF4-FFF2-40B4-BE49-F238E27FC236}">
                <a16:creationId xmlns:a16="http://schemas.microsoft.com/office/drawing/2014/main" id="{EE73847C-B64A-45F7-A981-F8FABF6BEB2F}"/>
              </a:ext>
            </a:extLst>
          </p:cNvPr>
          <p:cNvSpPr>
            <a:spLocks xmlns:a="http://schemas.openxmlformats.org/drawingml/2006/main" noGrp="1"/>
          </p:cNvSpPr>
          <p:nvPr/>
        </p:nvSpPr>
        <p:spPr>
          <a:xfrm xmlns:a="http://schemas.openxmlformats.org/drawingml/2006/main">
            <a:off x="619125"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4EF8C36-AED4-4AA2-8D15-8C8EA6E3BAF3}"/>
              </a:ext>
            </a:extLst>
          </p:cNvPr>
          <p:cNvSpPr>
            <a:spLocks xmlns:a="http://schemas.openxmlformats.org/drawingml/2006/main" noGrp="1"/>
          </p:cNvSpPr>
          <p:nvPr/>
        </p:nvSpPr>
        <p:spPr>
          <a:xfrm xmlns:a="http://schemas.openxmlformats.org/drawingml/2006/main">
            <a:off x="809625" y="31908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Saved page</a:t>
            </a:r>
          </a:p>
        </p:txBody>
      </p:sp>
      <p:sp>
        <p:nvSpPr>
          <p:cNvPr id="9" name="">
            <a:extLst xmlns:a="http://schemas.openxmlformats.org/drawingml/2006/main">
              <a:ext uri="{FF2B5EF4-FFF2-40B4-BE49-F238E27FC236}">
                <a16:creationId xmlns:a16="http://schemas.microsoft.com/office/drawing/2014/main" id="{D07DD8AB-A5E3-4CAD-B535-C7100885AD6F}"/>
              </a:ext>
            </a:extLst>
          </p:cNvPr>
          <p:cNvSpPr>
            <a:spLocks xmlns:a="http://schemas.openxmlformats.org/drawingml/2006/main" noGrp="1"/>
          </p:cNvSpPr>
          <p:nvPr/>
        </p:nvSpPr>
        <p:spPr>
          <a:xfrm xmlns:a="http://schemas.openxmlformats.org/drawingml/2006/main">
            <a:off x="809625" y="3781425"/>
            <a:ext cx="2714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Starting material</a:t>
            </a:r>
          </a:p>
        </p:txBody>
      </p:sp>
      <p:sp>
        <p:nvSpPr>
          <p:cNvPr id="10" name="">
            <a:extLst xmlns:a="http://schemas.openxmlformats.org/drawingml/2006/main">
              <a:ext uri="{FF2B5EF4-FFF2-40B4-BE49-F238E27FC236}">
                <a16:creationId xmlns:a16="http://schemas.microsoft.com/office/drawing/2014/main" id="{F50440B9-6F25-4000-B120-65022A4ACD24}"/>
              </a:ext>
            </a:extLst>
          </p:cNvPr>
          <p:cNvSpPr>
            <a:spLocks xmlns:a="http://schemas.openxmlformats.org/drawingml/2006/main" noGrp="1"/>
          </p:cNvSpPr>
          <p:nvPr/>
        </p:nvSpPr>
        <p:spPr>
          <a:xfrm xmlns:a="http://schemas.openxmlformats.org/drawingml/2006/main">
            <a:off x="3829050" y="3924300"/>
            <a:ext cx="304800" cy="285750"/>
          </a:xfrm>
          <a:prstGeom xmlns:a="http://schemas.openxmlformats.org/drawingml/2006/main" prst="rightArrow">
            <a:avLst/>
          </a:prstGeom>
          <a:solidFill xmlns:a="http://schemas.openxmlformats.org/drawingml/2006/main">
            <a:srgbClr val="087D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B55BF15C-1B48-4C35-9C4E-3922ED87F4AB}"/>
              </a:ext>
            </a:extLst>
          </p:cNvPr>
          <p:cNvSpPr>
            <a:spLocks xmlns:a="http://schemas.openxmlformats.org/drawingml/2006/main" noGrp="1"/>
          </p:cNvSpPr>
          <p:nvPr/>
        </p:nvSpPr>
        <p:spPr>
          <a:xfrm xmlns:a="http://schemas.openxmlformats.org/drawingml/2006/main">
            <a:off x="4248150" y="3048000"/>
            <a:ext cx="3095625"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12" name="">
            <a:extLst xmlns:a="http://schemas.openxmlformats.org/drawingml/2006/main">
              <a:ext uri="{FF2B5EF4-FFF2-40B4-BE49-F238E27FC236}">
                <a16:creationId xmlns:a16="http://schemas.microsoft.com/office/drawing/2014/main" id="{064CCD94-662D-4AA1-9B44-21DD3C980980}"/>
              </a:ext>
            </a:extLst>
          </p:cNvPr>
          <p:cNvSpPr>
            <a:spLocks xmlns:a="http://schemas.openxmlformats.org/drawingml/2006/main" noGrp="1"/>
          </p:cNvSpPr>
          <p:nvPr/>
        </p:nvSpPr>
        <p:spPr>
          <a:xfrm xmlns:a="http://schemas.openxmlformats.org/drawingml/2006/main">
            <a:off x="4248150"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4FE51A4-4B08-43D6-9167-F9B2AEEEB660}"/>
              </a:ext>
            </a:extLst>
          </p:cNvPr>
          <p:cNvSpPr>
            <a:spLocks xmlns:a="http://schemas.openxmlformats.org/drawingml/2006/main" noGrp="1"/>
          </p:cNvSpPr>
          <p:nvPr/>
        </p:nvSpPr>
        <p:spPr>
          <a:xfrm xmlns:a="http://schemas.openxmlformats.org/drawingml/2006/main">
            <a:off x="4438650" y="31908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Improved page</a:t>
            </a:r>
          </a:p>
        </p:txBody>
      </p:sp>
      <p:sp>
        <p:nvSpPr>
          <p:cNvPr id="14" name="">
            <a:extLst xmlns:a="http://schemas.openxmlformats.org/drawingml/2006/main">
              <a:ext uri="{FF2B5EF4-FFF2-40B4-BE49-F238E27FC236}">
                <a16:creationId xmlns:a16="http://schemas.microsoft.com/office/drawing/2014/main" id="{EDA554C4-DE01-417F-9120-074CAC67DA34}"/>
              </a:ext>
            </a:extLst>
          </p:cNvPr>
          <p:cNvSpPr>
            <a:spLocks xmlns:a="http://schemas.openxmlformats.org/drawingml/2006/main" noGrp="1"/>
          </p:cNvSpPr>
          <p:nvPr/>
        </p:nvSpPr>
        <p:spPr>
          <a:xfrm xmlns:a="http://schemas.openxmlformats.org/drawingml/2006/main">
            <a:off x="4438650" y="3781425"/>
            <a:ext cx="2714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Apply selected changes</a:t>
            </a:r>
          </a:p>
        </p:txBody>
      </p:sp>
      <p:sp>
        <p:nvSpPr>
          <p:cNvPr id="15" name="">
            <a:extLst xmlns:a="http://schemas.openxmlformats.org/drawingml/2006/main">
              <a:ext uri="{FF2B5EF4-FFF2-40B4-BE49-F238E27FC236}">
                <a16:creationId xmlns:a16="http://schemas.microsoft.com/office/drawing/2014/main" id="{D66D0FDF-09DB-488F-B4DC-E50DC65D8934}"/>
              </a:ext>
            </a:extLst>
          </p:cNvPr>
          <p:cNvSpPr>
            <a:spLocks xmlns:a="http://schemas.openxmlformats.org/drawingml/2006/main" noGrp="1"/>
          </p:cNvSpPr>
          <p:nvPr/>
        </p:nvSpPr>
        <p:spPr>
          <a:xfrm xmlns:a="http://schemas.openxmlformats.org/drawingml/2006/main">
            <a:off x="7458075" y="3924300"/>
            <a:ext cx="304800" cy="285750"/>
          </a:xfrm>
          <a:prstGeom xmlns:a="http://schemas.openxmlformats.org/drawingml/2006/main" prst="rightArrow">
            <a:avLst/>
          </a:prstGeom>
          <a:solidFill xmlns:a="http://schemas.openxmlformats.org/drawingml/2006/main">
            <a:srgbClr val="087D8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15BCADA-0FD4-417A-A5E5-94DBA97A1399}"/>
              </a:ext>
            </a:extLst>
          </p:cNvPr>
          <p:cNvSpPr>
            <a:spLocks xmlns:a="http://schemas.openxmlformats.org/drawingml/2006/main" noGrp="1"/>
          </p:cNvSpPr>
          <p:nvPr/>
        </p:nvSpPr>
        <p:spPr>
          <a:xfrm xmlns:a="http://schemas.openxmlformats.org/drawingml/2006/main">
            <a:off x="7877175" y="3048000"/>
            <a:ext cx="3095625"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17" name="">
            <a:extLst xmlns:a="http://schemas.openxmlformats.org/drawingml/2006/main">
              <a:ext uri="{FF2B5EF4-FFF2-40B4-BE49-F238E27FC236}">
                <a16:creationId xmlns:a16="http://schemas.microsoft.com/office/drawing/2014/main" id="{625C6B08-E443-4798-A98B-D7D817124BEF}"/>
              </a:ext>
            </a:extLst>
          </p:cNvPr>
          <p:cNvSpPr>
            <a:spLocks xmlns:a="http://schemas.openxmlformats.org/drawingml/2006/main" noGrp="1"/>
          </p:cNvSpPr>
          <p:nvPr/>
        </p:nvSpPr>
        <p:spPr>
          <a:xfrm xmlns:a="http://schemas.openxmlformats.org/drawingml/2006/main">
            <a:off x="7877175"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E17DA0D-9BB4-4989-8BB4-93DF7FB3F16E}"/>
              </a:ext>
            </a:extLst>
          </p:cNvPr>
          <p:cNvSpPr>
            <a:spLocks xmlns:a="http://schemas.openxmlformats.org/drawingml/2006/main" noGrp="1"/>
          </p:cNvSpPr>
          <p:nvPr/>
        </p:nvSpPr>
        <p:spPr>
          <a:xfrm xmlns:a="http://schemas.openxmlformats.org/drawingml/2006/main">
            <a:off x="8067675" y="31908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Readable text</a:t>
            </a:r>
          </a:p>
        </p:txBody>
      </p:sp>
      <p:sp>
        <p:nvSpPr>
          <p:cNvPr id="19" name="">
            <a:extLst xmlns:a="http://schemas.openxmlformats.org/drawingml/2006/main">
              <a:ext uri="{FF2B5EF4-FFF2-40B4-BE49-F238E27FC236}">
                <a16:creationId xmlns:a16="http://schemas.microsoft.com/office/drawing/2014/main" id="{F5BA61E6-0D4C-4310-B656-0372F42F3888}"/>
              </a:ext>
            </a:extLst>
          </p:cNvPr>
          <p:cNvSpPr>
            <a:spLocks xmlns:a="http://schemas.openxmlformats.org/drawingml/2006/main" noGrp="1"/>
          </p:cNvSpPr>
          <p:nvPr/>
        </p:nvSpPr>
        <p:spPr>
          <a:xfrm xmlns:a="http://schemas.openxmlformats.org/drawingml/2006/main">
            <a:off x="8067675" y="3781425"/>
            <a:ext cx="2714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Prepare the AI input</a:t>
            </a:r>
          </a:p>
        </p:txBody>
      </p:sp>
      <p:sp>
        <p:nvSpPr>
          <p:cNvPr id="20" name="">
            <a:extLst xmlns:a="http://schemas.openxmlformats.org/drawingml/2006/main">
              <a:ext uri="{FF2B5EF4-FFF2-40B4-BE49-F238E27FC236}">
                <a16:creationId xmlns:a16="http://schemas.microsoft.com/office/drawing/2014/main" id="{27CA0BD4-4114-4F9F-9617-0377A199260F}"/>
              </a:ext>
            </a:extLst>
          </p:cNvPr>
          <p:cNvSpPr>
            <a:spLocks xmlns:a="http://schemas.openxmlformats.org/drawingml/2006/main" noGrp="1"/>
          </p:cNvSpPr>
          <p:nvPr/>
        </p:nvSpPr>
        <p:spPr>
          <a:xfrm xmlns:a="http://schemas.openxmlformats.org/drawingml/2006/main">
            <a:off x="11087100" y="3924300"/>
            <a:ext cx="304800" cy="285750"/>
          </a:xfrm>
          <a:prstGeom xmlns:a="http://schemas.openxmlformats.org/drawingml/2006/main" prst="rightArrow">
            <a:avLst/>
          </a:prstGeom>
          <a:solidFill xmlns:a="http://schemas.openxmlformats.org/drawingml/2006/main">
            <a:srgbClr val="087D82"/>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D3B62D9-8A32-4943-8AF6-513738FBBFC9}"/>
              </a:ext>
            </a:extLst>
          </p:cNvPr>
          <p:cNvSpPr>
            <a:spLocks xmlns:a="http://schemas.openxmlformats.org/drawingml/2006/main" noGrp="1"/>
          </p:cNvSpPr>
          <p:nvPr/>
        </p:nvSpPr>
        <p:spPr>
          <a:xfrm xmlns:a="http://schemas.openxmlformats.org/drawingml/2006/main">
            <a:off x="11506200" y="3048000"/>
            <a:ext cx="3095625"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22" name="">
            <a:extLst xmlns:a="http://schemas.openxmlformats.org/drawingml/2006/main">
              <a:ext uri="{FF2B5EF4-FFF2-40B4-BE49-F238E27FC236}">
                <a16:creationId xmlns:a16="http://schemas.microsoft.com/office/drawing/2014/main" id="{14666609-D4C0-4C36-A21B-C4EDE864A829}"/>
              </a:ext>
            </a:extLst>
          </p:cNvPr>
          <p:cNvSpPr>
            <a:spLocks xmlns:a="http://schemas.openxmlformats.org/drawingml/2006/main" noGrp="1"/>
          </p:cNvSpPr>
          <p:nvPr/>
        </p:nvSpPr>
        <p:spPr>
          <a:xfrm xmlns:a="http://schemas.openxmlformats.org/drawingml/2006/main">
            <a:off x="11506200"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E74FE95-85C9-405E-9EC8-13598EB4FF70}"/>
              </a:ext>
            </a:extLst>
          </p:cNvPr>
          <p:cNvSpPr>
            <a:spLocks xmlns:a="http://schemas.openxmlformats.org/drawingml/2006/main" noGrp="1"/>
          </p:cNvSpPr>
          <p:nvPr/>
        </p:nvSpPr>
        <p:spPr>
          <a:xfrm xmlns:a="http://schemas.openxmlformats.org/drawingml/2006/main">
            <a:off x="11696700" y="3190875"/>
            <a:ext cx="2714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Saved answer</a:t>
            </a:r>
          </a:p>
        </p:txBody>
      </p:sp>
      <p:sp>
        <p:nvSpPr>
          <p:cNvPr id="24" name="">
            <a:extLst xmlns:a="http://schemas.openxmlformats.org/drawingml/2006/main">
              <a:ext uri="{FF2B5EF4-FFF2-40B4-BE49-F238E27FC236}">
                <a16:creationId xmlns:a16="http://schemas.microsoft.com/office/drawing/2014/main" id="{FBF342F8-11AD-4BEF-8ABA-E907ED08D985}"/>
              </a:ext>
            </a:extLst>
          </p:cNvPr>
          <p:cNvSpPr>
            <a:spLocks xmlns:a="http://schemas.openxmlformats.org/drawingml/2006/main" noGrp="1"/>
          </p:cNvSpPr>
          <p:nvPr/>
        </p:nvSpPr>
        <p:spPr>
          <a:xfrm xmlns:a="http://schemas.openxmlformats.org/drawingml/2006/main">
            <a:off x="11696700" y="3781425"/>
            <a:ext cx="2714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Keep answer + sources</a:t>
            </a:r>
          </a:p>
        </p:txBody>
      </p:sp>
      <p:sp>
        <p:nvSpPr>
          <p:cNvPr id="25" name="">
            <a:extLst xmlns:a="http://schemas.openxmlformats.org/drawingml/2006/main">
              <a:ext uri="{FF2B5EF4-FFF2-40B4-BE49-F238E27FC236}">
                <a16:creationId xmlns:a16="http://schemas.microsoft.com/office/drawing/2014/main" id="{A5EC1754-A762-4CE0-BDBD-77789A7A5EF6}"/>
              </a:ext>
            </a:extLst>
          </p:cNvPr>
          <p:cNvSpPr>
            <a:spLocks xmlns:a="http://schemas.openxmlformats.org/drawingml/2006/main" noGrp="1"/>
          </p:cNvSpPr>
          <p:nvPr/>
        </p:nvSpPr>
        <p:spPr>
          <a:xfrm xmlns:a="http://schemas.openxmlformats.org/drawingml/2006/main">
            <a:off x="619125" y="6191250"/>
            <a:ext cx="1390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506574"/>
                </a:solidFill>
                <a:latin typeface="Arial"/>
                <a:ea typeface="Arial"/>
                <a:cs typeface="Arial"/>
              </a:defRPr>
            </a:defPPr>
            <a:lvl1pPr>
              <a:defRPr sz="2400" b="0">
                <a:solidFill>
                  <a:srgbClr val="506574"/>
                </a:solidFill>
                <a:latin typeface="Arial"/>
                <a:ea typeface="Arial"/>
                <a:cs typeface="Arial"/>
              </a:defRPr>
            </a:lvl1pPr>
            <a:lvl2pPr>
              <a:defRPr sz="2400" b="0">
                <a:solidFill>
                  <a:srgbClr val="506574"/>
                </a:solidFill>
                <a:latin typeface="Arial"/>
                <a:ea typeface="Arial"/>
                <a:cs typeface="Arial"/>
              </a:defRPr>
            </a:lvl2pPr>
            <a:lvl3pPr>
              <a:defRPr sz="2400" b="0">
                <a:solidFill>
                  <a:srgbClr val="506574"/>
                </a:solidFill>
                <a:latin typeface="Arial"/>
                <a:ea typeface="Arial"/>
                <a:cs typeface="Arial"/>
              </a:defRPr>
            </a:lvl3pPr>
            <a:lvl4pPr>
              <a:defRPr sz="2400" b="0">
                <a:solidFill>
                  <a:srgbClr val="506574"/>
                </a:solidFill>
                <a:latin typeface="Arial"/>
                <a:ea typeface="Arial"/>
                <a:cs typeface="Arial"/>
              </a:defRPr>
            </a:lvl4pPr>
            <a:lvl5pPr>
              <a:defRPr sz="2400" b="0">
                <a:solidFill>
                  <a:srgbClr val="506574"/>
                </a:solidFill>
                <a:latin typeface="Arial"/>
                <a:ea typeface="Arial"/>
                <a:cs typeface="Arial"/>
              </a:defRPr>
            </a:lvl5pPr>
            <a:lvl6pPr>
              <a:defRPr sz="2400" b="0">
                <a:solidFill>
                  <a:srgbClr val="506574"/>
                </a:solidFill>
                <a:latin typeface="Arial"/>
                <a:ea typeface="Arial"/>
                <a:cs typeface="Arial"/>
              </a:defRPr>
            </a:lvl6pPr>
            <a:lvl7pPr>
              <a:defRPr sz="2400" b="0">
                <a:solidFill>
                  <a:srgbClr val="506574"/>
                </a:solidFill>
                <a:latin typeface="Arial"/>
                <a:ea typeface="Arial"/>
                <a:cs typeface="Arial"/>
              </a:defRPr>
            </a:lvl7pPr>
            <a:lvl8pPr>
              <a:defRPr sz="2400" b="0">
                <a:solidFill>
                  <a:srgbClr val="506574"/>
                </a:solidFill>
                <a:latin typeface="Arial"/>
                <a:ea typeface="Arial"/>
                <a:cs typeface="Arial"/>
              </a:defRPr>
            </a:lvl8pPr>
            <a:lvl9pPr>
              <a:defRPr sz="2400" b="0">
                <a:solidFill>
                  <a:srgbClr val="506574"/>
                </a:solidFill>
                <a:latin typeface="Arial"/>
                <a:ea typeface="Arial"/>
                <a:cs typeface="Arial"/>
              </a:defRPr>
            </a:lvl9pPr>
          </a:lstStyle>
          <a:p xmlns:a="http://schemas.openxmlformats.org/drawingml/2006/main">
            <a:pPr>
              <a:defRPr sz="2400" b="0">
                <a:solidFill>
                  <a:srgbClr val="506574"/>
                </a:solidFill>
                <a:latin typeface="Arial"/>
                <a:ea typeface="Arial"/>
                <a:cs typeface="Arial"/>
              </a:defRPr>
            </a:pPr>
            <a:r>
              <a:rPr sz="2400" b="0">
                <a:solidFill>
                  <a:srgbClr val="506574"/>
                </a:solidFill>
                <a:latin typeface="Arial"/>
                <a:ea typeface="Arial"/>
                <a:cs typeface="Arial"/>
              </a:rPr>
              <a:t>The page shown to a person and the text sent to AI are not always the same.</a:t>
            </a:r>
          </a:p>
        </p:txBody>
      </p:sp>
    </p:spTree>
    <p:extLst>
      <p:ext uri="{BB962C8B-B14F-4D97-AF65-F5344CB8AC3E}">
        <p14:creationId xmlns:p14="http://schemas.microsoft.com/office/powerpoint/2010/main" val="791183572"/>
      </p:ext>
    </p:extLst>
  </p:cSld>
</p:sld>
</file>

<file path=ppt/slides/slide8.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AFE43B-8697-47F7-8627-7DD92B9CD102}"/>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D4AE6801-8C85-4B14-B7D2-D320F3E0AA97}"/>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Example: clearer offer information</a:t>
            </a:r>
          </a:p>
        </p:txBody>
      </p:sp>
      <p:sp>
        <p:nvSpPr>
          <p:cNvPr id="3" name="">
            <a:extLst xmlns:a="http://schemas.openxmlformats.org/drawingml/2006/main">
              <a:ext uri="{FF2B5EF4-FFF2-40B4-BE49-F238E27FC236}">
                <a16:creationId xmlns:a16="http://schemas.microsoft.com/office/drawing/2014/main" id="{9E7AC46E-73A9-4E4D-8226-25604EBB60B7}"/>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AE4DFD9-78F2-4387-8AAC-8885E7E1B0F3}"/>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Historical captures differ. This is not a price-reduction comparison.</a:t>
            </a:r>
          </a:p>
        </p:txBody>
      </p:sp>
      <p:sp>
        <p:nvSpPr>
          <p:cNvPr id="5" name="">
            <a:extLst xmlns:a="http://schemas.openxmlformats.org/drawingml/2006/main">
              <a:ext uri="{FF2B5EF4-FFF2-40B4-BE49-F238E27FC236}">
                <a16:creationId xmlns:a16="http://schemas.microsoft.com/office/drawing/2014/main" id="{D4F76C96-9A70-4E02-A598-33CA621FC39E}"/>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8 / 18   •   Sources and detail in speaker notes</a:t>
            </a:r>
          </a:p>
        </p:txBody>
      </p:sp>
      <p:pic>
        <p:nvPicPr>
          <p:cNvPr id="6" name="">
            <a:extLst xmlns:a="http://schemas.openxmlformats.org/drawingml/2006/main">
              <a:ext uri="{FF2B5EF4-FFF2-40B4-BE49-F238E27FC236}">
                <a16:creationId xmlns:a16="http://schemas.microsoft.com/office/drawing/2014/main" id="{7F977488-EB47-4138-B06C-9671D2855401}"/>
              </a:ext>
            </a:extLst>
          </p:cNvPr>
          <p:cNvPicPr>
            <a:picLocks xmlns:a="http://schemas.openxmlformats.org/drawingml/2006/main" noChangeAspect="1"/>
          </p:cNvPicPr>
          <p:nvPr/>
        </p:nvPicPr>
        <p:blipFill>
          <a:blip xmlns:r="http://schemas.openxmlformats.org/officeDocument/2006/relationships" xmlns:a="http://schemas.openxmlformats.org/drawingml/2006/main" r:embed="Re6515153aec846bf"/>
          <a:stretch xmlns:a="http://schemas.openxmlformats.org/drawingml/2006/main"/>
        </p:blipFill>
        <p:spPr>
          <a:xfrm xmlns:a="http://schemas.openxmlformats.org/drawingml/2006/main">
            <a:off x="2371725" y="2143125"/>
            <a:ext cx="10496550" cy="45243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3577FB0-B0D6-4653-BF4D-AE03FF67AF99}"/>
              </a:ext>
            </a:extLst>
          </p:cNvPr>
          <p:cNvSpPr>
            <a:spLocks xmlns:a="http://schemas.openxmlformats.org/drawingml/2006/main" noGrp="1"/>
          </p:cNvSpPr>
          <p:nvPr/>
        </p:nvSpPr>
        <p:spPr>
          <a:xfrm xmlns:a="http://schemas.openxmlformats.org/drawingml/2006/main">
            <a:off x="619125" y="6819900"/>
            <a:ext cx="1400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506574"/>
                </a:solidFill>
                <a:latin typeface="Arial"/>
                <a:ea typeface="Arial"/>
                <a:cs typeface="Arial"/>
              </a:defRPr>
            </a:defPPr>
            <a:lvl1pPr>
              <a:defRPr sz="2400" b="0">
                <a:solidFill>
                  <a:srgbClr val="506574"/>
                </a:solidFill>
                <a:latin typeface="Arial"/>
                <a:ea typeface="Arial"/>
                <a:cs typeface="Arial"/>
              </a:defRPr>
            </a:lvl1pPr>
            <a:lvl2pPr>
              <a:defRPr sz="2400" b="0">
                <a:solidFill>
                  <a:srgbClr val="506574"/>
                </a:solidFill>
                <a:latin typeface="Arial"/>
                <a:ea typeface="Arial"/>
                <a:cs typeface="Arial"/>
              </a:defRPr>
            </a:lvl2pPr>
            <a:lvl3pPr>
              <a:defRPr sz="2400" b="0">
                <a:solidFill>
                  <a:srgbClr val="506574"/>
                </a:solidFill>
                <a:latin typeface="Arial"/>
                <a:ea typeface="Arial"/>
                <a:cs typeface="Arial"/>
              </a:defRPr>
            </a:lvl3pPr>
            <a:lvl4pPr>
              <a:defRPr sz="2400" b="0">
                <a:solidFill>
                  <a:srgbClr val="506574"/>
                </a:solidFill>
                <a:latin typeface="Arial"/>
                <a:ea typeface="Arial"/>
                <a:cs typeface="Arial"/>
              </a:defRPr>
            </a:lvl4pPr>
            <a:lvl5pPr>
              <a:defRPr sz="2400" b="0">
                <a:solidFill>
                  <a:srgbClr val="506574"/>
                </a:solidFill>
                <a:latin typeface="Arial"/>
                <a:ea typeface="Arial"/>
                <a:cs typeface="Arial"/>
              </a:defRPr>
            </a:lvl5pPr>
            <a:lvl6pPr>
              <a:defRPr sz="2400" b="0">
                <a:solidFill>
                  <a:srgbClr val="506574"/>
                </a:solidFill>
                <a:latin typeface="Arial"/>
                <a:ea typeface="Arial"/>
                <a:cs typeface="Arial"/>
              </a:defRPr>
            </a:lvl6pPr>
            <a:lvl7pPr>
              <a:defRPr sz="2400" b="0">
                <a:solidFill>
                  <a:srgbClr val="506574"/>
                </a:solidFill>
                <a:latin typeface="Arial"/>
                <a:ea typeface="Arial"/>
                <a:cs typeface="Arial"/>
              </a:defRPr>
            </a:lvl7pPr>
            <a:lvl8pPr>
              <a:defRPr sz="2400" b="0">
                <a:solidFill>
                  <a:srgbClr val="506574"/>
                </a:solidFill>
                <a:latin typeface="Arial"/>
                <a:ea typeface="Arial"/>
                <a:cs typeface="Arial"/>
              </a:defRPr>
            </a:lvl8pPr>
            <a:lvl9pPr>
              <a:defRPr sz="2400" b="0">
                <a:solidFill>
                  <a:srgbClr val="506574"/>
                </a:solidFill>
                <a:latin typeface="Arial"/>
                <a:ea typeface="Arial"/>
                <a:cs typeface="Arial"/>
              </a:defRPr>
            </a:lvl9pPr>
          </a:lstStyle>
          <a:p xmlns:a="http://schemas.openxmlformats.org/drawingml/2006/main">
            <a:pPr>
              <a:defRPr sz="2400" b="0">
                <a:solidFill>
                  <a:srgbClr val="506574"/>
                </a:solidFill>
                <a:latin typeface="Arial"/>
                <a:ea typeface="Arial"/>
                <a:cs typeface="Arial"/>
              </a:defRPr>
            </a:pPr>
            <a:r>
              <a:rPr sz="2400" b="0">
                <a:solidFill>
                  <a:srgbClr val="506574"/>
                </a:solidFill>
                <a:latin typeface="Arial"/>
                <a:ea typeface="Arial"/>
                <a:cs typeface="Arial"/>
              </a:rPr>
              <a:t>Look for the airline, dates and trip type—not just a headline fare.</a:t>
            </a:r>
          </a:p>
        </p:txBody>
      </p:sp>
    </p:spTree>
    <p:extLst>
      <p:ext uri="{BB962C8B-B14F-4D97-AF65-F5344CB8AC3E}">
        <p14:creationId xmlns:p14="http://schemas.microsoft.com/office/powerpoint/2010/main" val="669308978"/>
      </p:ext>
    </p:extLst>
  </p:cSld>
</p:sld>
</file>

<file path=ppt/slides/slide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3CE2C9-FA8D-45D9-BE88-3B8A4E7FB092}"/>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58B30732-3BF1-4C72-87DA-F8A0A5756AC6}"/>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Example: keeping the question with its answer</a:t>
            </a:r>
          </a:p>
        </p:txBody>
      </p:sp>
      <p:sp>
        <p:nvSpPr>
          <p:cNvPr id="3" name="">
            <a:extLst xmlns:a="http://schemas.openxmlformats.org/drawingml/2006/main">
              <a:ext uri="{FF2B5EF4-FFF2-40B4-BE49-F238E27FC236}">
                <a16:creationId xmlns:a16="http://schemas.microsoft.com/office/drawing/2014/main" id="{52457C8C-C86D-440E-B785-A4ECB03FCC95}"/>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1B2E42-76BA-4443-84E1-70C7A5559C2E}"/>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The refinement restores a captured question; it does not invent its answer.</a:t>
            </a:r>
          </a:p>
        </p:txBody>
      </p:sp>
      <p:sp>
        <p:nvSpPr>
          <p:cNvPr id="5" name="">
            <a:extLst xmlns:a="http://schemas.openxmlformats.org/drawingml/2006/main">
              <a:ext uri="{FF2B5EF4-FFF2-40B4-BE49-F238E27FC236}">
                <a16:creationId xmlns:a16="http://schemas.microsoft.com/office/drawing/2014/main" id="{A47414F0-6184-41DA-B0D0-A7ABA328D2BD}"/>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9 / 18   •   Sources and detail in speaker notes</a:t>
            </a:r>
          </a:p>
        </p:txBody>
      </p:sp>
      <p:pic>
        <p:nvPicPr>
          <p:cNvPr id="6" name="">
            <a:extLst xmlns:a="http://schemas.openxmlformats.org/drawingml/2006/main">
              <a:ext uri="{FF2B5EF4-FFF2-40B4-BE49-F238E27FC236}">
                <a16:creationId xmlns:a16="http://schemas.microsoft.com/office/drawing/2014/main" id="{9CD10F5E-E1CC-4623-9B9A-564F0571F308}"/>
              </a:ext>
            </a:extLst>
          </p:cNvPr>
          <p:cNvPicPr>
            <a:picLocks xmlns:a="http://schemas.openxmlformats.org/drawingml/2006/main" noChangeAspect="1"/>
          </p:cNvPicPr>
          <p:nvPr/>
        </p:nvPicPr>
        <p:blipFill>
          <a:blip xmlns:r="http://schemas.openxmlformats.org/officeDocument/2006/relationships" xmlns:a="http://schemas.openxmlformats.org/drawingml/2006/main" r:embed="R25346cfc6bc04904"/>
          <a:stretch xmlns:a="http://schemas.openxmlformats.org/drawingml/2006/main"/>
        </p:blipFill>
        <p:spPr>
          <a:xfrm xmlns:a="http://schemas.openxmlformats.org/drawingml/2006/main">
            <a:off x="2474632" y="2143125"/>
            <a:ext cx="10290735" cy="45243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B91B4C6-B465-4C33-B625-920377A32CB3}"/>
              </a:ext>
            </a:extLst>
          </p:cNvPr>
          <p:cNvSpPr>
            <a:spLocks xmlns:a="http://schemas.openxmlformats.org/drawingml/2006/main" noGrp="1"/>
          </p:cNvSpPr>
          <p:nvPr/>
        </p:nvSpPr>
        <p:spPr>
          <a:xfrm xmlns:a="http://schemas.openxmlformats.org/drawingml/2006/main">
            <a:off x="619125" y="6819900"/>
            <a:ext cx="14001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506574"/>
                </a:solidFill>
                <a:latin typeface="Arial"/>
                <a:ea typeface="Arial"/>
                <a:cs typeface="Arial"/>
              </a:defRPr>
            </a:defPPr>
            <a:lvl1pPr>
              <a:defRPr sz="2400" b="0">
                <a:solidFill>
                  <a:srgbClr val="506574"/>
                </a:solidFill>
                <a:latin typeface="Arial"/>
                <a:ea typeface="Arial"/>
                <a:cs typeface="Arial"/>
              </a:defRPr>
            </a:lvl1pPr>
            <a:lvl2pPr>
              <a:defRPr sz="2400" b="0">
                <a:solidFill>
                  <a:srgbClr val="506574"/>
                </a:solidFill>
                <a:latin typeface="Arial"/>
                <a:ea typeface="Arial"/>
                <a:cs typeface="Arial"/>
              </a:defRPr>
            </a:lvl2pPr>
            <a:lvl3pPr>
              <a:defRPr sz="2400" b="0">
                <a:solidFill>
                  <a:srgbClr val="506574"/>
                </a:solidFill>
                <a:latin typeface="Arial"/>
                <a:ea typeface="Arial"/>
                <a:cs typeface="Arial"/>
              </a:defRPr>
            </a:lvl3pPr>
            <a:lvl4pPr>
              <a:defRPr sz="2400" b="0">
                <a:solidFill>
                  <a:srgbClr val="506574"/>
                </a:solidFill>
                <a:latin typeface="Arial"/>
                <a:ea typeface="Arial"/>
                <a:cs typeface="Arial"/>
              </a:defRPr>
            </a:lvl4pPr>
            <a:lvl5pPr>
              <a:defRPr sz="2400" b="0">
                <a:solidFill>
                  <a:srgbClr val="506574"/>
                </a:solidFill>
                <a:latin typeface="Arial"/>
                <a:ea typeface="Arial"/>
                <a:cs typeface="Arial"/>
              </a:defRPr>
            </a:lvl5pPr>
            <a:lvl6pPr>
              <a:defRPr sz="2400" b="0">
                <a:solidFill>
                  <a:srgbClr val="506574"/>
                </a:solidFill>
                <a:latin typeface="Arial"/>
                <a:ea typeface="Arial"/>
                <a:cs typeface="Arial"/>
              </a:defRPr>
            </a:lvl6pPr>
            <a:lvl7pPr>
              <a:defRPr sz="2400" b="0">
                <a:solidFill>
                  <a:srgbClr val="506574"/>
                </a:solidFill>
                <a:latin typeface="Arial"/>
                <a:ea typeface="Arial"/>
                <a:cs typeface="Arial"/>
              </a:defRPr>
            </a:lvl7pPr>
            <a:lvl8pPr>
              <a:defRPr sz="2400" b="0">
                <a:solidFill>
                  <a:srgbClr val="506574"/>
                </a:solidFill>
                <a:latin typeface="Arial"/>
                <a:ea typeface="Arial"/>
                <a:cs typeface="Arial"/>
              </a:defRPr>
            </a:lvl8pPr>
            <a:lvl9pPr>
              <a:defRPr sz="2400" b="0">
                <a:solidFill>
                  <a:srgbClr val="506574"/>
                </a:solidFill>
                <a:latin typeface="Arial"/>
                <a:ea typeface="Arial"/>
                <a:cs typeface="Arial"/>
              </a:defRPr>
            </a:lvl9pPr>
          </a:lstStyle>
          <a:p xmlns:a="http://schemas.openxmlformats.org/drawingml/2006/main">
            <a:pPr>
              <a:defRPr sz="2400" b="0">
                <a:solidFill>
                  <a:srgbClr val="506574"/>
                </a:solidFill>
                <a:latin typeface="Arial"/>
                <a:ea typeface="Arial"/>
                <a:cs typeface="Arial"/>
              </a:defRPr>
            </a:pPr>
            <a:r>
              <a:rPr sz="2400" b="0">
                <a:solidFill>
                  <a:srgbClr val="506574"/>
                </a:solidFill>
                <a:latin typeface="Arial"/>
                <a:ea typeface="Arial"/>
                <a:cs typeface="Arial"/>
              </a:rPr>
              <a:t>Without the question, the same answer can lose its context.</a:t>
            </a:r>
          </a:p>
        </p:txBody>
      </p:sp>
    </p:spTree>
    <p:extLst>
      <p:ext uri="{BB962C8B-B14F-4D97-AF65-F5344CB8AC3E}">
        <p14:creationId xmlns:p14="http://schemas.microsoft.com/office/powerpoint/2010/main" val="2115469292"/>
      </p:ext>
    </p:extLst>
  </p:cSld>
</p:sld>
</file>

<file path=ppt/slides/slide1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50F3889-14FE-4C3D-BE11-EE8AE30734EE}"/>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AEA5BE14-9B53-48BE-A562-5FAC4D154142}"/>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How we checked the page changes</a:t>
            </a:r>
          </a:p>
        </p:txBody>
      </p:sp>
      <p:sp>
        <p:nvSpPr>
          <p:cNvPr id="3" name="">
            <a:extLst xmlns:a="http://schemas.openxmlformats.org/drawingml/2006/main">
              <a:ext uri="{FF2B5EF4-FFF2-40B4-BE49-F238E27FC236}">
                <a16:creationId xmlns:a16="http://schemas.microsoft.com/office/drawing/2014/main" id="{8B6C9066-2C7B-4887-9D79-C8B6A34C007E}"/>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FC5BDDC-D691-4302-AD64-5B6503B33CC6}"/>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These checks verify the implementation—not every travel fact or future AI answer.</a:t>
            </a:r>
          </a:p>
        </p:txBody>
      </p:sp>
      <p:sp>
        <p:nvSpPr>
          <p:cNvPr id="5" name="">
            <a:extLst xmlns:a="http://schemas.openxmlformats.org/drawingml/2006/main">
              <a:ext uri="{FF2B5EF4-FFF2-40B4-BE49-F238E27FC236}">
                <a16:creationId xmlns:a16="http://schemas.microsoft.com/office/drawing/2014/main" id="{9E4D3CAD-6203-4BFA-B42E-5DAFE362B547}"/>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10 / 18   •   Sources and detail in speaker notes</a:t>
            </a:r>
          </a:p>
        </p:txBody>
      </p:sp>
      <p:sp>
        <p:nvSpPr>
          <p:cNvPr id="6" name="">
            <a:extLst xmlns:a="http://schemas.openxmlformats.org/drawingml/2006/main">
              <a:ext uri="{FF2B5EF4-FFF2-40B4-BE49-F238E27FC236}">
                <a16:creationId xmlns:a16="http://schemas.microsoft.com/office/drawing/2014/main" id="{6BA8A921-943E-4432-A090-589BF12CBE17}"/>
              </a:ext>
            </a:extLst>
          </p:cNvPr>
          <p:cNvSpPr>
            <a:spLocks xmlns:a="http://schemas.openxmlformats.org/drawingml/2006/main" noGrp="1"/>
          </p:cNvSpPr>
          <p:nvPr/>
        </p:nvSpPr>
        <p:spPr>
          <a:xfrm xmlns:a="http://schemas.openxmlformats.org/drawingml/2006/main">
            <a:off x="619125" y="3048000"/>
            <a:ext cx="409575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7" name="">
            <a:extLst xmlns:a="http://schemas.openxmlformats.org/drawingml/2006/main">
              <a:ext uri="{FF2B5EF4-FFF2-40B4-BE49-F238E27FC236}">
                <a16:creationId xmlns:a16="http://schemas.microsoft.com/office/drawing/2014/main" id="{C0660275-6AD8-4EDB-8A74-BDD9E41A47E1}"/>
              </a:ext>
            </a:extLst>
          </p:cNvPr>
          <p:cNvSpPr>
            <a:spLocks xmlns:a="http://schemas.openxmlformats.org/drawingml/2006/main" noGrp="1"/>
          </p:cNvSpPr>
          <p:nvPr/>
        </p:nvSpPr>
        <p:spPr>
          <a:xfrm xmlns:a="http://schemas.openxmlformats.org/drawingml/2006/main">
            <a:off x="619125"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954A56D-7B52-4C0E-9FF9-6731FC154608}"/>
              </a:ext>
            </a:extLst>
          </p:cNvPr>
          <p:cNvSpPr>
            <a:spLocks xmlns:a="http://schemas.openxmlformats.org/drawingml/2006/main" noGrp="1"/>
          </p:cNvSpPr>
          <p:nvPr/>
        </p:nvSpPr>
        <p:spPr>
          <a:xfrm xmlns:a="http://schemas.openxmlformats.org/drawingml/2006/main">
            <a:off x="809625" y="3190875"/>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Correct version</a:t>
            </a:r>
          </a:p>
        </p:txBody>
      </p:sp>
      <p:sp>
        <p:nvSpPr>
          <p:cNvPr id="9" name="">
            <a:extLst xmlns:a="http://schemas.openxmlformats.org/drawingml/2006/main">
              <a:ext uri="{FF2B5EF4-FFF2-40B4-BE49-F238E27FC236}">
                <a16:creationId xmlns:a16="http://schemas.microsoft.com/office/drawing/2014/main" id="{9A19889B-3193-4990-8327-764313349185}"/>
              </a:ext>
            </a:extLst>
          </p:cNvPr>
          <p:cNvSpPr>
            <a:spLocks xmlns:a="http://schemas.openxmlformats.org/drawingml/2006/main" noGrp="1"/>
          </p:cNvSpPr>
          <p:nvPr/>
        </p:nvSpPr>
        <p:spPr>
          <a:xfrm xmlns:a="http://schemas.openxmlformats.org/drawingml/2006/main">
            <a:off x="809625" y="3781425"/>
            <a:ext cx="3714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Check saved files</a:t>
            </a:r>
          </a:p>
        </p:txBody>
      </p:sp>
      <p:sp>
        <p:nvSpPr>
          <p:cNvPr id="10" name="">
            <a:extLst xmlns:a="http://schemas.openxmlformats.org/drawingml/2006/main">
              <a:ext uri="{FF2B5EF4-FFF2-40B4-BE49-F238E27FC236}">
                <a16:creationId xmlns:a16="http://schemas.microsoft.com/office/drawing/2014/main" id="{63DA1A93-B42D-48BA-831A-86166A6F0DDB}"/>
              </a:ext>
            </a:extLst>
          </p:cNvPr>
          <p:cNvSpPr>
            <a:spLocks xmlns:a="http://schemas.openxmlformats.org/drawingml/2006/main" noGrp="1"/>
          </p:cNvSpPr>
          <p:nvPr/>
        </p:nvSpPr>
        <p:spPr>
          <a:xfrm xmlns:a="http://schemas.openxmlformats.org/drawingml/2006/main">
            <a:off x="4829175" y="3924300"/>
            <a:ext cx="628650" cy="285750"/>
          </a:xfrm>
          <a:prstGeom xmlns:a="http://schemas.openxmlformats.org/drawingml/2006/main" prst="rightArrow">
            <a:avLst/>
          </a:prstGeom>
          <a:solidFill xmlns:a="http://schemas.openxmlformats.org/drawingml/2006/main">
            <a:srgbClr val="087D8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99D72AB-431D-4FB3-9839-2CCD41BD350C}"/>
              </a:ext>
            </a:extLst>
          </p:cNvPr>
          <p:cNvSpPr>
            <a:spLocks xmlns:a="http://schemas.openxmlformats.org/drawingml/2006/main" noGrp="1"/>
          </p:cNvSpPr>
          <p:nvPr/>
        </p:nvSpPr>
        <p:spPr>
          <a:xfrm xmlns:a="http://schemas.openxmlformats.org/drawingml/2006/main">
            <a:off x="5572125" y="3048000"/>
            <a:ext cx="409575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12" name="">
            <a:extLst xmlns:a="http://schemas.openxmlformats.org/drawingml/2006/main">
              <a:ext uri="{FF2B5EF4-FFF2-40B4-BE49-F238E27FC236}">
                <a16:creationId xmlns:a16="http://schemas.microsoft.com/office/drawing/2014/main" id="{B1467FAB-C0AE-4984-B151-B1249ABD703B}"/>
              </a:ext>
            </a:extLst>
          </p:cNvPr>
          <p:cNvSpPr>
            <a:spLocks xmlns:a="http://schemas.openxmlformats.org/drawingml/2006/main" noGrp="1"/>
          </p:cNvSpPr>
          <p:nvPr/>
        </p:nvSpPr>
        <p:spPr>
          <a:xfrm xmlns:a="http://schemas.openxmlformats.org/drawingml/2006/main">
            <a:off x="5572125"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AF29408-CBCA-4838-98A7-6D4974F995F4}"/>
              </a:ext>
            </a:extLst>
          </p:cNvPr>
          <p:cNvSpPr>
            <a:spLocks xmlns:a="http://schemas.openxmlformats.org/drawingml/2006/main" noGrp="1"/>
          </p:cNvSpPr>
          <p:nvPr/>
        </p:nvSpPr>
        <p:spPr>
          <a:xfrm xmlns:a="http://schemas.openxmlformats.org/drawingml/2006/main">
            <a:off x="5762625" y="3190875"/>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Preserved meaning</a:t>
            </a:r>
          </a:p>
        </p:txBody>
      </p:sp>
      <p:sp>
        <p:nvSpPr>
          <p:cNvPr id="14" name="">
            <a:extLst xmlns:a="http://schemas.openxmlformats.org/drawingml/2006/main">
              <a:ext uri="{FF2B5EF4-FFF2-40B4-BE49-F238E27FC236}">
                <a16:creationId xmlns:a16="http://schemas.microsoft.com/office/drawing/2014/main" id="{211EFD32-A729-406F-9902-299419CBCD11}"/>
              </a:ext>
            </a:extLst>
          </p:cNvPr>
          <p:cNvSpPr>
            <a:spLocks xmlns:a="http://schemas.openxmlformats.org/drawingml/2006/main" noGrp="1"/>
          </p:cNvSpPr>
          <p:nvPr/>
        </p:nvSpPr>
        <p:spPr>
          <a:xfrm xmlns:a="http://schemas.openxmlformats.org/drawingml/2006/main">
            <a:off x="5762625" y="3781425"/>
            <a:ext cx="3714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Keep existing answers</a:t>
            </a:r>
          </a:p>
        </p:txBody>
      </p:sp>
      <p:sp>
        <p:nvSpPr>
          <p:cNvPr id="15" name="">
            <a:extLst xmlns:a="http://schemas.openxmlformats.org/drawingml/2006/main">
              <a:ext uri="{FF2B5EF4-FFF2-40B4-BE49-F238E27FC236}">
                <a16:creationId xmlns:a16="http://schemas.microsoft.com/office/drawing/2014/main" id="{5164BD92-43E6-4390-8717-419399E4D74F}"/>
              </a:ext>
            </a:extLst>
          </p:cNvPr>
          <p:cNvSpPr>
            <a:spLocks xmlns:a="http://schemas.openxmlformats.org/drawingml/2006/main" noGrp="1"/>
          </p:cNvSpPr>
          <p:nvPr/>
        </p:nvSpPr>
        <p:spPr>
          <a:xfrm xmlns:a="http://schemas.openxmlformats.org/drawingml/2006/main">
            <a:off x="9782175" y="3924300"/>
            <a:ext cx="628650" cy="285750"/>
          </a:xfrm>
          <a:prstGeom xmlns:a="http://schemas.openxmlformats.org/drawingml/2006/main" prst="rightArrow">
            <a:avLst/>
          </a:prstGeom>
          <a:solidFill xmlns:a="http://schemas.openxmlformats.org/drawingml/2006/main">
            <a:srgbClr val="087D8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EFC67CA-5141-4D0E-A2AE-EDD69FF938F2}"/>
              </a:ext>
            </a:extLst>
          </p:cNvPr>
          <p:cNvSpPr>
            <a:spLocks xmlns:a="http://schemas.openxmlformats.org/drawingml/2006/main" noGrp="1"/>
          </p:cNvSpPr>
          <p:nvPr/>
        </p:nvSpPr>
        <p:spPr>
          <a:xfrm xmlns:a="http://schemas.openxmlformats.org/drawingml/2006/main">
            <a:off x="10525125" y="3048000"/>
            <a:ext cx="4095750" cy="2095500"/>
          </a:xfrm>
          <a:prstGeom xmlns:a="http://schemas.openxmlformats.org/drawingml/2006/main" prst="rect">
            <a:avLst/>
          </a:prstGeom>
          <a:solidFill xmlns:a="http://schemas.openxmlformats.org/drawingml/2006/main">
            <a:srgbClr val="FFFFFF"/>
          </a:solidFill>
          <a:ln xmlns:a="http://schemas.openxmlformats.org/drawingml/2006/main" w="19050">
            <a:solidFill>
              <a:srgbClr val="087D82"/>
            </a:solidFill>
          </a:ln>
        </p:spPr>
      </p:sp>
      <p:sp>
        <p:nvSpPr>
          <p:cNvPr id="17" name="">
            <a:extLst xmlns:a="http://schemas.openxmlformats.org/drawingml/2006/main">
              <a:ext uri="{FF2B5EF4-FFF2-40B4-BE49-F238E27FC236}">
                <a16:creationId xmlns:a16="http://schemas.microsoft.com/office/drawing/2014/main" id="{653764A3-46D9-4545-801C-A7400D449B6F}"/>
              </a:ext>
            </a:extLst>
          </p:cNvPr>
          <p:cNvSpPr>
            <a:spLocks xmlns:a="http://schemas.openxmlformats.org/drawingml/2006/main" noGrp="1"/>
          </p:cNvSpPr>
          <p:nvPr/>
        </p:nvSpPr>
        <p:spPr>
          <a:xfrm xmlns:a="http://schemas.openxmlformats.org/drawingml/2006/main">
            <a:off x="10525125" y="3048000"/>
            <a:ext cx="66675" cy="2095500"/>
          </a:xfrm>
          <a:prstGeom xmlns:a="http://schemas.openxmlformats.org/drawingml/2006/main" prst="rect">
            <a:avLst/>
          </a:prstGeom>
          <a:solidFill xmlns:a="http://schemas.openxmlformats.org/drawingml/2006/main">
            <a:srgbClr val="087D8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2C2D896-C271-4D91-82C1-F519E7852EC5}"/>
              </a:ext>
            </a:extLst>
          </p:cNvPr>
          <p:cNvSpPr>
            <a:spLocks xmlns:a="http://schemas.openxmlformats.org/drawingml/2006/main" noGrp="1"/>
          </p:cNvSpPr>
          <p:nvPr/>
        </p:nvSpPr>
        <p:spPr>
          <a:xfrm xmlns:a="http://schemas.openxmlformats.org/drawingml/2006/main">
            <a:off x="10715625" y="3190875"/>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087D82"/>
                </a:solidFill>
                <a:latin typeface="Arial"/>
                <a:ea typeface="Arial"/>
                <a:cs typeface="Arial"/>
              </a:defRPr>
            </a:defPPr>
            <a:lvl1pPr>
              <a:defRPr sz="2325" b="1">
                <a:solidFill>
                  <a:srgbClr val="087D82"/>
                </a:solidFill>
                <a:latin typeface="Arial"/>
                <a:ea typeface="Arial"/>
                <a:cs typeface="Arial"/>
              </a:defRPr>
            </a:lvl1pPr>
            <a:lvl2pPr>
              <a:defRPr sz="2325" b="1">
                <a:solidFill>
                  <a:srgbClr val="087D82"/>
                </a:solidFill>
                <a:latin typeface="Arial"/>
                <a:ea typeface="Arial"/>
                <a:cs typeface="Arial"/>
              </a:defRPr>
            </a:lvl2pPr>
            <a:lvl3pPr>
              <a:defRPr sz="2325" b="1">
                <a:solidFill>
                  <a:srgbClr val="087D82"/>
                </a:solidFill>
                <a:latin typeface="Arial"/>
                <a:ea typeface="Arial"/>
                <a:cs typeface="Arial"/>
              </a:defRPr>
            </a:lvl3pPr>
            <a:lvl4pPr>
              <a:defRPr sz="2325" b="1">
                <a:solidFill>
                  <a:srgbClr val="087D82"/>
                </a:solidFill>
                <a:latin typeface="Arial"/>
                <a:ea typeface="Arial"/>
                <a:cs typeface="Arial"/>
              </a:defRPr>
            </a:lvl4pPr>
            <a:lvl5pPr>
              <a:defRPr sz="2325" b="1">
                <a:solidFill>
                  <a:srgbClr val="087D82"/>
                </a:solidFill>
                <a:latin typeface="Arial"/>
                <a:ea typeface="Arial"/>
                <a:cs typeface="Arial"/>
              </a:defRPr>
            </a:lvl5pPr>
            <a:lvl6pPr>
              <a:defRPr sz="2325" b="1">
                <a:solidFill>
                  <a:srgbClr val="087D82"/>
                </a:solidFill>
                <a:latin typeface="Arial"/>
                <a:ea typeface="Arial"/>
                <a:cs typeface="Arial"/>
              </a:defRPr>
            </a:lvl6pPr>
            <a:lvl7pPr>
              <a:defRPr sz="2325" b="1">
                <a:solidFill>
                  <a:srgbClr val="087D82"/>
                </a:solidFill>
                <a:latin typeface="Arial"/>
                <a:ea typeface="Arial"/>
                <a:cs typeface="Arial"/>
              </a:defRPr>
            </a:lvl7pPr>
            <a:lvl8pPr>
              <a:defRPr sz="2325" b="1">
                <a:solidFill>
                  <a:srgbClr val="087D82"/>
                </a:solidFill>
                <a:latin typeface="Arial"/>
                <a:ea typeface="Arial"/>
                <a:cs typeface="Arial"/>
              </a:defRPr>
            </a:lvl8pPr>
            <a:lvl9pPr>
              <a:defRPr sz="2325" b="1">
                <a:solidFill>
                  <a:srgbClr val="087D82"/>
                </a:solidFill>
                <a:latin typeface="Arial"/>
                <a:ea typeface="Arial"/>
                <a:cs typeface="Arial"/>
              </a:defRPr>
            </a:lvl9pPr>
          </a:lstStyle>
          <a:p xmlns:a="http://schemas.openxmlformats.org/drawingml/2006/main">
            <a:pPr>
              <a:defRPr sz="2325" b="1">
                <a:solidFill>
                  <a:srgbClr val="087D82"/>
                </a:solidFill>
                <a:latin typeface="Arial"/>
                <a:ea typeface="Arial"/>
                <a:cs typeface="Arial"/>
              </a:defRPr>
            </a:pPr>
            <a:r>
              <a:rPr sz="2325" b="1">
                <a:solidFill>
                  <a:srgbClr val="087D82"/>
                </a:solidFill>
                <a:latin typeface="Arial"/>
                <a:ea typeface="Arial"/>
                <a:cs typeface="Arial"/>
              </a:rPr>
              <a:t>Correct AI input</a:t>
            </a:r>
          </a:p>
        </p:txBody>
      </p:sp>
      <p:sp>
        <p:nvSpPr>
          <p:cNvPr id="19" name="">
            <a:extLst xmlns:a="http://schemas.openxmlformats.org/drawingml/2006/main">
              <a:ext uri="{FF2B5EF4-FFF2-40B4-BE49-F238E27FC236}">
                <a16:creationId xmlns:a16="http://schemas.microsoft.com/office/drawing/2014/main" id="{B42F78FE-71A1-42E2-8A57-CD330DB6D8F3}"/>
              </a:ext>
            </a:extLst>
          </p:cNvPr>
          <p:cNvSpPr>
            <a:spLocks xmlns:a="http://schemas.openxmlformats.org/drawingml/2006/main" noGrp="1"/>
          </p:cNvSpPr>
          <p:nvPr/>
        </p:nvSpPr>
        <p:spPr>
          <a:xfrm xmlns:a="http://schemas.openxmlformats.org/drawingml/2006/main">
            <a:off x="10715625" y="3781425"/>
            <a:ext cx="3714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42D3D"/>
                </a:solidFill>
                <a:latin typeface="Arial"/>
                <a:ea typeface="Arial"/>
                <a:cs typeface="Arial"/>
              </a:defRPr>
            </a:defPPr>
            <a:lvl1pPr>
              <a:defRPr sz="1950" b="0">
                <a:solidFill>
                  <a:srgbClr val="142D3D"/>
                </a:solidFill>
                <a:latin typeface="Arial"/>
                <a:ea typeface="Arial"/>
                <a:cs typeface="Arial"/>
              </a:defRPr>
            </a:lvl1pPr>
            <a:lvl2pPr>
              <a:defRPr sz="1950" b="0">
                <a:solidFill>
                  <a:srgbClr val="142D3D"/>
                </a:solidFill>
                <a:latin typeface="Arial"/>
                <a:ea typeface="Arial"/>
                <a:cs typeface="Arial"/>
              </a:defRPr>
            </a:lvl2pPr>
            <a:lvl3pPr>
              <a:defRPr sz="1950" b="0">
                <a:solidFill>
                  <a:srgbClr val="142D3D"/>
                </a:solidFill>
                <a:latin typeface="Arial"/>
                <a:ea typeface="Arial"/>
                <a:cs typeface="Arial"/>
              </a:defRPr>
            </a:lvl3pPr>
            <a:lvl4pPr>
              <a:defRPr sz="1950" b="0">
                <a:solidFill>
                  <a:srgbClr val="142D3D"/>
                </a:solidFill>
                <a:latin typeface="Arial"/>
                <a:ea typeface="Arial"/>
                <a:cs typeface="Arial"/>
              </a:defRPr>
            </a:lvl4pPr>
            <a:lvl5pPr>
              <a:defRPr sz="1950" b="0">
                <a:solidFill>
                  <a:srgbClr val="142D3D"/>
                </a:solidFill>
                <a:latin typeface="Arial"/>
                <a:ea typeface="Arial"/>
                <a:cs typeface="Arial"/>
              </a:defRPr>
            </a:lvl5pPr>
            <a:lvl6pPr>
              <a:defRPr sz="1950" b="0">
                <a:solidFill>
                  <a:srgbClr val="142D3D"/>
                </a:solidFill>
                <a:latin typeface="Arial"/>
                <a:ea typeface="Arial"/>
                <a:cs typeface="Arial"/>
              </a:defRPr>
            </a:lvl6pPr>
            <a:lvl7pPr>
              <a:defRPr sz="1950" b="0">
                <a:solidFill>
                  <a:srgbClr val="142D3D"/>
                </a:solidFill>
                <a:latin typeface="Arial"/>
                <a:ea typeface="Arial"/>
                <a:cs typeface="Arial"/>
              </a:defRPr>
            </a:lvl7pPr>
            <a:lvl8pPr>
              <a:defRPr sz="1950" b="0">
                <a:solidFill>
                  <a:srgbClr val="142D3D"/>
                </a:solidFill>
                <a:latin typeface="Arial"/>
                <a:ea typeface="Arial"/>
                <a:cs typeface="Arial"/>
              </a:defRPr>
            </a:lvl8pPr>
            <a:lvl9pPr>
              <a:defRPr sz="1950" b="0">
                <a:solidFill>
                  <a:srgbClr val="142D3D"/>
                </a:solidFill>
                <a:latin typeface="Arial"/>
                <a:ea typeface="Arial"/>
                <a:cs typeface="Arial"/>
              </a:defRPr>
            </a:lvl9pPr>
          </a:lstStyle>
          <a:p xmlns:a="http://schemas.openxmlformats.org/drawingml/2006/main">
            <a:pPr>
              <a:defRPr sz="1950" b="0">
                <a:solidFill>
                  <a:srgbClr val="142D3D"/>
                </a:solidFill>
                <a:latin typeface="Arial"/>
                <a:ea typeface="Arial"/>
                <a:cs typeface="Arial"/>
              </a:defRPr>
            </a:pPr>
            <a:r>
              <a:rPr sz="1950" b="0">
                <a:solidFill>
                  <a:srgbClr val="142D3D"/>
                </a:solidFill>
                <a:latin typeface="Arial"/>
                <a:ea typeface="Arial"/>
                <a:cs typeface="Arial"/>
              </a:rPr>
              <a:t>Match the sent text</a:t>
            </a:r>
          </a:p>
        </p:txBody>
      </p:sp>
      <p:sp>
        <p:nvSpPr>
          <p:cNvPr id="20" name="">
            <a:extLst xmlns:a="http://schemas.openxmlformats.org/drawingml/2006/main">
              <a:ext uri="{FF2B5EF4-FFF2-40B4-BE49-F238E27FC236}">
                <a16:creationId xmlns:a16="http://schemas.microsoft.com/office/drawing/2014/main" id="{B53D1513-906B-4EB4-A662-5E2B1D8DDC02}"/>
              </a:ext>
            </a:extLst>
          </p:cNvPr>
          <p:cNvSpPr>
            <a:spLocks xmlns:a="http://schemas.openxmlformats.org/drawingml/2006/main" noGrp="1"/>
          </p:cNvSpPr>
          <p:nvPr/>
        </p:nvSpPr>
        <p:spPr>
          <a:xfrm xmlns:a="http://schemas.openxmlformats.org/drawingml/2006/main">
            <a:off x="619125" y="6191250"/>
            <a:ext cx="13906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506574"/>
                </a:solidFill>
                <a:latin typeface="Arial"/>
                <a:ea typeface="Arial"/>
                <a:cs typeface="Arial"/>
              </a:defRPr>
            </a:defPPr>
            <a:lvl1pPr>
              <a:defRPr sz="2400" b="0">
                <a:solidFill>
                  <a:srgbClr val="506574"/>
                </a:solidFill>
                <a:latin typeface="Arial"/>
                <a:ea typeface="Arial"/>
                <a:cs typeface="Arial"/>
              </a:defRPr>
            </a:lvl1pPr>
            <a:lvl2pPr>
              <a:defRPr sz="2400" b="0">
                <a:solidFill>
                  <a:srgbClr val="506574"/>
                </a:solidFill>
                <a:latin typeface="Arial"/>
                <a:ea typeface="Arial"/>
                <a:cs typeface="Arial"/>
              </a:defRPr>
            </a:lvl2pPr>
            <a:lvl3pPr>
              <a:defRPr sz="2400" b="0">
                <a:solidFill>
                  <a:srgbClr val="506574"/>
                </a:solidFill>
                <a:latin typeface="Arial"/>
                <a:ea typeface="Arial"/>
                <a:cs typeface="Arial"/>
              </a:defRPr>
            </a:lvl3pPr>
            <a:lvl4pPr>
              <a:defRPr sz="2400" b="0">
                <a:solidFill>
                  <a:srgbClr val="506574"/>
                </a:solidFill>
                <a:latin typeface="Arial"/>
                <a:ea typeface="Arial"/>
                <a:cs typeface="Arial"/>
              </a:defRPr>
            </a:lvl4pPr>
            <a:lvl5pPr>
              <a:defRPr sz="2400" b="0">
                <a:solidFill>
                  <a:srgbClr val="506574"/>
                </a:solidFill>
                <a:latin typeface="Arial"/>
                <a:ea typeface="Arial"/>
                <a:cs typeface="Arial"/>
              </a:defRPr>
            </a:lvl5pPr>
            <a:lvl6pPr>
              <a:defRPr sz="2400" b="0">
                <a:solidFill>
                  <a:srgbClr val="506574"/>
                </a:solidFill>
                <a:latin typeface="Arial"/>
                <a:ea typeface="Arial"/>
                <a:cs typeface="Arial"/>
              </a:defRPr>
            </a:lvl6pPr>
            <a:lvl7pPr>
              <a:defRPr sz="2400" b="0">
                <a:solidFill>
                  <a:srgbClr val="506574"/>
                </a:solidFill>
                <a:latin typeface="Arial"/>
                <a:ea typeface="Arial"/>
                <a:cs typeface="Arial"/>
              </a:defRPr>
            </a:lvl7pPr>
            <a:lvl8pPr>
              <a:defRPr sz="2400" b="0">
                <a:solidFill>
                  <a:srgbClr val="506574"/>
                </a:solidFill>
                <a:latin typeface="Arial"/>
                <a:ea typeface="Arial"/>
                <a:cs typeface="Arial"/>
              </a:defRPr>
            </a:lvl8pPr>
            <a:lvl9pPr>
              <a:defRPr sz="2400" b="0">
                <a:solidFill>
                  <a:srgbClr val="506574"/>
                </a:solidFill>
                <a:latin typeface="Arial"/>
                <a:ea typeface="Arial"/>
                <a:cs typeface="Arial"/>
              </a:defRPr>
            </a:lvl9pPr>
          </a:lstStyle>
          <a:p xmlns:a="http://schemas.openxmlformats.org/drawingml/2006/main">
            <a:r>
              <a:t/>
            </a:r>
          </a:p>
        </p:txBody>
      </p:sp>
    </p:spTree>
    <p:extLst>
      <p:ext uri="{BB962C8B-B14F-4D97-AF65-F5344CB8AC3E}">
        <p14:creationId xmlns:p14="http://schemas.microsoft.com/office/powerpoint/2010/main" val="15347634"/>
      </p:ext>
    </p:extLst>
  </p:cSld>
</p:sld>
</file>

<file path=ppt/slides/slide1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CD92A8C-118C-493D-8CED-E45FB6A93E15}"/>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315049BE-2CBD-46D3-A529-B10419902237}"/>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Demonstration: follow a reference</a:t>
            </a:r>
          </a:p>
        </p:txBody>
      </p:sp>
      <p:sp>
        <p:nvSpPr>
          <p:cNvPr id="3" name="">
            <a:extLst xmlns:a="http://schemas.openxmlformats.org/drawingml/2006/main">
              <a:ext uri="{FF2B5EF4-FFF2-40B4-BE49-F238E27FC236}">
                <a16:creationId xmlns:a16="http://schemas.microsoft.com/office/drawing/2014/main" id="{57FE1F5B-52C1-4657-AB3E-12BB7C79C8DB}"/>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BF8B01C-7F5D-4F36-ABC7-EC8C5F4DD778}"/>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[7] identifies a supplied source. Here, that source is Flight Centre.</a:t>
            </a:r>
          </a:p>
        </p:txBody>
      </p:sp>
      <p:sp>
        <p:nvSpPr>
          <p:cNvPr id="5" name="">
            <a:extLst xmlns:a="http://schemas.openxmlformats.org/drawingml/2006/main">
              <a:ext uri="{FF2B5EF4-FFF2-40B4-BE49-F238E27FC236}">
                <a16:creationId xmlns:a16="http://schemas.microsoft.com/office/drawing/2014/main" id="{FE9ADFB0-42D8-4B39-9F49-A615F4E4A377}"/>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11 / 18   •   Sources and detail in speaker notes</a:t>
            </a:r>
          </a:p>
        </p:txBody>
      </p:sp>
      <p:sp>
        <p:nvSpPr>
          <p:cNvPr id="6" name="">
            <a:extLst xmlns:a="http://schemas.openxmlformats.org/drawingml/2006/main">
              <a:ext uri="{FF2B5EF4-FFF2-40B4-BE49-F238E27FC236}">
                <a16:creationId xmlns:a16="http://schemas.microsoft.com/office/drawing/2014/main" id="{DD282883-A4D5-4A75-8795-C4BC4AD4EBAF}"/>
              </a:ext>
            </a:extLst>
          </p:cNvPr>
          <p:cNvSpPr>
            <a:spLocks xmlns:a="http://schemas.openxmlformats.org/drawingml/2006/main" noGrp="1"/>
          </p:cNvSpPr>
          <p:nvPr/>
        </p:nvSpPr>
        <p:spPr>
          <a:xfrm xmlns:a="http://schemas.openxmlformats.org/drawingml/2006/main">
            <a:off x="619125" y="2257425"/>
            <a:ext cx="647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506574"/>
                </a:solidFill>
                <a:latin typeface="Arial"/>
                <a:ea typeface="Arial"/>
                <a:cs typeface="Arial"/>
              </a:defRPr>
            </a:defPPr>
            <a:lvl1pPr>
              <a:defRPr sz="1725" b="1">
                <a:solidFill>
                  <a:srgbClr val="506574"/>
                </a:solidFill>
                <a:latin typeface="Arial"/>
                <a:ea typeface="Arial"/>
                <a:cs typeface="Arial"/>
              </a:defRPr>
            </a:lvl1pPr>
            <a:lvl2pPr>
              <a:defRPr sz="1725" b="1">
                <a:solidFill>
                  <a:srgbClr val="506574"/>
                </a:solidFill>
                <a:latin typeface="Arial"/>
                <a:ea typeface="Arial"/>
                <a:cs typeface="Arial"/>
              </a:defRPr>
            </a:lvl2pPr>
            <a:lvl3pPr>
              <a:defRPr sz="1725" b="1">
                <a:solidFill>
                  <a:srgbClr val="506574"/>
                </a:solidFill>
                <a:latin typeface="Arial"/>
                <a:ea typeface="Arial"/>
                <a:cs typeface="Arial"/>
              </a:defRPr>
            </a:lvl3pPr>
            <a:lvl4pPr>
              <a:defRPr sz="1725" b="1">
                <a:solidFill>
                  <a:srgbClr val="506574"/>
                </a:solidFill>
                <a:latin typeface="Arial"/>
                <a:ea typeface="Arial"/>
                <a:cs typeface="Arial"/>
              </a:defRPr>
            </a:lvl4pPr>
            <a:lvl5pPr>
              <a:defRPr sz="1725" b="1">
                <a:solidFill>
                  <a:srgbClr val="506574"/>
                </a:solidFill>
                <a:latin typeface="Arial"/>
                <a:ea typeface="Arial"/>
                <a:cs typeface="Arial"/>
              </a:defRPr>
            </a:lvl5pPr>
            <a:lvl6pPr>
              <a:defRPr sz="1725" b="1">
                <a:solidFill>
                  <a:srgbClr val="506574"/>
                </a:solidFill>
                <a:latin typeface="Arial"/>
                <a:ea typeface="Arial"/>
                <a:cs typeface="Arial"/>
              </a:defRPr>
            </a:lvl6pPr>
            <a:lvl7pPr>
              <a:defRPr sz="1725" b="1">
                <a:solidFill>
                  <a:srgbClr val="506574"/>
                </a:solidFill>
                <a:latin typeface="Arial"/>
                <a:ea typeface="Arial"/>
                <a:cs typeface="Arial"/>
              </a:defRPr>
            </a:lvl7pPr>
            <a:lvl8pPr>
              <a:defRPr sz="1725" b="1">
                <a:solidFill>
                  <a:srgbClr val="506574"/>
                </a:solidFill>
                <a:latin typeface="Arial"/>
                <a:ea typeface="Arial"/>
                <a:cs typeface="Arial"/>
              </a:defRPr>
            </a:lvl8pPr>
            <a:lvl9pPr>
              <a:defRPr sz="1725" b="1">
                <a:solidFill>
                  <a:srgbClr val="506574"/>
                </a:solidFill>
                <a:latin typeface="Arial"/>
                <a:ea typeface="Arial"/>
                <a:cs typeface="Arial"/>
              </a:defRPr>
            </a:lvl9pPr>
          </a:lstStyle>
          <a:p xmlns:a="http://schemas.openxmlformats.org/drawingml/2006/main">
            <a:pPr>
              <a:defRPr sz="1725" b="1">
                <a:solidFill>
                  <a:srgbClr val="506574"/>
                </a:solidFill>
                <a:latin typeface="Arial"/>
                <a:ea typeface="Arial"/>
                <a:cs typeface="Arial"/>
              </a:defRPr>
            </a:pPr>
            <a:r>
              <a:rPr sz="1725" b="1">
                <a:solidFill>
                  <a:srgbClr val="506574"/>
                </a:solidFill>
                <a:latin typeface="Arial"/>
                <a:ea typeface="Arial"/>
                <a:cs typeface="Arial"/>
              </a:rPr>
              <a:t>BASELINE EXCERPT</a:t>
            </a:r>
          </a:p>
        </p:txBody>
      </p:sp>
      <p:sp>
        <p:nvSpPr>
          <p:cNvPr id="7" name="">
            <a:extLst xmlns:a="http://schemas.openxmlformats.org/drawingml/2006/main">
              <a:ext uri="{FF2B5EF4-FFF2-40B4-BE49-F238E27FC236}">
                <a16:creationId xmlns:a16="http://schemas.microsoft.com/office/drawing/2014/main" id="{B2502227-7B47-4816-B32C-D2521C3CA99E}"/>
              </a:ext>
            </a:extLst>
          </p:cNvPr>
          <p:cNvSpPr>
            <a:spLocks xmlns:a="http://schemas.openxmlformats.org/drawingml/2006/main" noGrp="1"/>
          </p:cNvSpPr>
          <p:nvPr/>
        </p:nvSpPr>
        <p:spPr>
          <a:xfrm xmlns:a="http://schemas.openxmlformats.org/drawingml/2006/main">
            <a:off x="8143875" y="2257425"/>
            <a:ext cx="647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B42146"/>
                </a:solidFill>
                <a:latin typeface="Arial"/>
                <a:ea typeface="Arial"/>
                <a:cs typeface="Arial"/>
              </a:defRPr>
            </a:defPPr>
            <a:lvl1pPr>
              <a:defRPr sz="1725" b="1">
                <a:solidFill>
                  <a:srgbClr val="B42146"/>
                </a:solidFill>
                <a:latin typeface="Arial"/>
                <a:ea typeface="Arial"/>
                <a:cs typeface="Arial"/>
              </a:defRPr>
            </a:lvl1pPr>
            <a:lvl2pPr>
              <a:defRPr sz="1725" b="1">
                <a:solidFill>
                  <a:srgbClr val="B42146"/>
                </a:solidFill>
                <a:latin typeface="Arial"/>
                <a:ea typeface="Arial"/>
                <a:cs typeface="Arial"/>
              </a:defRPr>
            </a:lvl2pPr>
            <a:lvl3pPr>
              <a:defRPr sz="1725" b="1">
                <a:solidFill>
                  <a:srgbClr val="B42146"/>
                </a:solidFill>
                <a:latin typeface="Arial"/>
                <a:ea typeface="Arial"/>
                <a:cs typeface="Arial"/>
              </a:defRPr>
            </a:lvl3pPr>
            <a:lvl4pPr>
              <a:defRPr sz="1725" b="1">
                <a:solidFill>
                  <a:srgbClr val="B42146"/>
                </a:solidFill>
                <a:latin typeface="Arial"/>
                <a:ea typeface="Arial"/>
                <a:cs typeface="Arial"/>
              </a:defRPr>
            </a:lvl4pPr>
            <a:lvl5pPr>
              <a:defRPr sz="1725" b="1">
                <a:solidFill>
                  <a:srgbClr val="B42146"/>
                </a:solidFill>
                <a:latin typeface="Arial"/>
                <a:ea typeface="Arial"/>
                <a:cs typeface="Arial"/>
              </a:defRPr>
            </a:lvl5pPr>
            <a:lvl6pPr>
              <a:defRPr sz="1725" b="1">
                <a:solidFill>
                  <a:srgbClr val="B42146"/>
                </a:solidFill>
                <a:latin typeface="Arial"/>
                <a:ea typeface="Arial"/>
                <a:cs typeface="Arial"/>
              </a:defRPr>
            </a:lvl6pPr>
            <a:lvl7pPr>
              <a:defRPr sz="1725" b="1">
                <a:solidFill>
                  <a:srgbClr val="B42146"/>
                </a:solidFill>
                <a:latin typeface="Arial"/>
                <a:ea typeface="Arial"/>
                <a:cs typeface="Arial"/>
              </a:defRPr>
            </a:lvl7pPr>
            <a:lvl8pPr>
              <a:defRPr sz="1725" b="1">
                <a:solidFill>
                  <a:srgbClr val="B42146"/>
                </a:solidFill>
                <a:latin typeface="Arial"/>
                <a:ea typeface="Arial"/>
                <a:cs typeface="Arial"/>
              </a:defRPr>
            </a:lvl8pPr>
            <a:lvl9pPr>
              <a:defRPr sz="1725" b="1">
                <a:solidFill>
                  <a:srgbClr val="B42146"/>
                </a:solidFill>
                <a:latin typeface="Arial"/>
                <a:ea typeface="Arial"/>
                <a:cs typeface="Arial"/>
              </a:defRPr>
            </a:lvl9pPr>
          </a:lstStyle>
          <a:p xmlns:a="http://schemas.openxmlformats.org/drawingml/2006/main">
            <a:pPr>
              <a:defRPr sz="1725" b="1">
                <a:solidFill>
                  <a:srgbClr val="B42146"/>
                </a:solidFill>
                <a:latin typeface="Arial"/>
                <a:ea typeface="Arial"/>
                <a:cs typeface="Arial"/>
              </a:defRPr>
            </a:pPr>
            <a:r>
              <a:rPr sz="1725" b="1">
                <a:solidFill>
                  <a:srgbClr val="B42146"/>
                </a:solidFill>
                <a:latin typeface="Arial"/>
                <a:ea typeface="Arial"/>
                <a:cs typeface="Arial"/>
              </a:rPr>
              <a:t>OPTIMISED EXCERPT</a:t>
            </a:r>
          </a:p>
        </p:txBody>
      </p:sp>
      <p:sp>
        <p:nvSpPr>
          <p:cNvPr id="8" name="">
            <a:extLst xmlns:a="http://schemas.openxmlformats.org/drawingml/2006/main">
              <a:ext uri="{FF2B5EF4-FFF2-40B4-BE49-F238E27FC236}">
                <a16:creationId xmlns:a16="http://schemas.microsoft.com/office/drawing/2014/main" id="{EFD5E38F-B855-481B-804C-24B686370A8A}"/>
              </a:ext>
            </a:extLst>
          </p:cNvPr>
          <p:cNvSpPr>
            <a:spLocks xmlns:a="http://schemas.openxmlformats.org/drawingml/2006/main" noGrp="1"/>
          </p:cNvSpPr>
          <p:nvPr/>
        </p:nvSpPr>
        <p:spPr>
          <a:xfrm xmlns:a="http://schemas.openxmlformats.org/drawingml/2006/main">
            <a:off x="619125" y="2905125"/>
            <a:ext cx="6477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142D3D"/>
                </a:solidFill>
                <a:latin typeface="Arial"/>
                <a:ea typeface="Arial"/>
                <a:cs typeface="Arial"/>
              </a:defRPr>
            </a:defPPr>
            <a:lvl1pPr>
              <a:defRPr sz="2475" b="0">
                <a:solidFill>
                  <a:srgbClr val="142D3D"/>
                </a:solidFill>
                <a:latin typeface="Arial"/>
                <a:ea typeface="Arial"/>
                <a:cs typeface="Arial"/>
              </a:defRPr>
            </a:lvl1pPr>
            <a:lvl2pPr>
              <a:defRPr sz="2475" b="0">
                <a:solidFill>
                  <a:srgbClr val="142D3D"/>
                </a:solidFill>
                <a:latin typeface="Arial"/>
                <a:ea typeface="Arial"/>
                <a:cs typeface="Arial"/>
              </a:defRPr>
            </a:lvl2pPr>
            <a:lvl3pPr>
              <a:defRPr sz="2475" b="0">
                <a:solidFill>
                  <a:srgbClr val="142D3D"/>
                </a:solidFill>
                <a:latin typeface="Arial"/>
                <a:ea typeface="Arial"/>
                <a:cs typeface="Arial"/>
              </a:defRPr>
            </a:lvl3pPr>
            <a:lvl4pPr>
              <a:defRPr sz="2475" b="0">
                <a:solidFill>
                  <a:srgbClr val="142D3D"/>
                </a:solidFill>
                <a:latin typeface="Arial"/>
                <a:ea typeface="Arial"/>
                <a:cs typeface="Arial"/>
              </a:defRPr>
            </a:lvl4pPr>
            <a:lvl5pPr>
              <a:defRPr sz="2475" b="0">
                <a:solidFill>
                  <a:srgbClr val="142D3D"/>
                </a:solidFill>
                <a:latin typeface="Arial"/>
                <a:ea typeface="Arial"/>
                <a:cs typeface="Arial"/>
              </a:defRPr>
            </a:lvl5pPr>
            <a:lvl6pPr>
              <a:defRPr sz="2475" b="0">
                <a:solidFill>
                  <a:srgbClr val="142D3D"/>
                </a:solidFill>
                <a:latin typeface="Arial"/>
                <a:ea typeface="Arial"/>
                <a:cs typeface="Arial"/>
              </a:defRPr>
            </a:lvl6pPr>
            <a:lvl7pPr>
              <a:defRPr sz="2475" b="0">
                <a:solidFill>
                  <a:srgbClr val="142D3D"/>
                </a:solidFill>
                <a:latin typeface="Arial"/>
                <a:ea typeface="Arial"/>
                <a:cs typeface="Arial"/>
              </a:defRPr>
            </a:lvl7pPr>
            <a:lvl8pPr>
              <a:defRPr sz="2475" b="0">
                <a:solidFill>
                  <a:srgbClr val="142D3D"/>
                </a:solidFill>
                <a:latin typeface="Arial"/>
                <a:ea typeface="Arial"/>
                <a:cs typeface="Arial"/>
              </a:defRPr>
            </a:lvl8pPr>
            <a:lvl9pPr>
              <a:defRPr sz="2475" b="0">
                <a:solidFill>
                  <a:srgbClr val="142D3D"/>
                </a:solidFill>
                <a:latin typeface="Arial"/>
                <a:ea typeface="Arial"/>
                <a:cs typeface="Arial"/>
              </a:defRPr>
            </a:lvl9pPr>
          </a:lstStyle>
          <a:p xmlns:a="http://schemas.openxmlformats.org/drawingml/2006/main">
            <a:pPr>
              <a:defRPr sz="2475" b="0">
                <a:solidFill>
                  <a:srgbClr val="142D3D"/>
                </a:solidFill>
                <a:latin typeface="Arial"/>
                <a:ea typeface="Arial"/>
                <a:cs typeface="Arial"/>
              </a:defRPr>
            </a:pPr>
            <a:r>
              <a:rPr sz="2475" b="0">
                <a:solidFill>
                  <a:srgbClr val="142D3D"/>
                </a:solidFill>
                <a:latin typeface="Arial"/>
                <a:ea typeface="Arial"/>
                <a:cs typeface="Arial"/>
              </a:rPr>
              <a:t>“Flights from Melbourne Airport (MEL) to London generally require at least one stop, with common connections in Dubai, Singapore, Doha or Shanghai.”</a:t>
            </a:r>
          </a:p>
        </p:txBody>
      </p:sp>
      <p:sp>
        <p:nvSpPr>
          <p:cNvPr id="9" name="">
            <a:extLst xmlns:a="http://schemas.openxmlformats.org/drawingml/2006/main">
              <a:ext uri="{FF2B5EF4-FFF2-40B4-BE49-F238E27FC236}">
                <a16:creationId xmlns:a16="http://schemas.microsoft.com/office/drawing/2014/main" id="{63556AB9-5B42-4F4C-B3F4-6F14D036E9CD}"/>
              </a:ext>
            </a:extLst>
          </p:cNvPr>
          <p:cNvSpPr>
            <a:spLocks xmlns:a="http://schemas.openxmlformats.org/drawingml/2006/main" noGrp="1"/>
          </p:cNvSpPr>
          <p:nvPr/>
        </p:nvSpPr>
        <p:spPr>
          <a:xfrm xmlns:a="http://schemas.openxmlformats.org/drawingml/2006/main">
            <a:off x="8143875" y="2905125"/>
            <a:ext cx="6477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0">
                <a:solidFill>
                  <a:srgbClr val="142D3D"/>
                </a:solidFill>
                <a:latin typeface="Arial"/>
                <a:ea typeface="Arial"/>
                <a:cs typeface="Arial"/>
              </a:defRPr>
            </a:defPPr>
            <a:lvl1pPr>
              <a:defRPr sz="2475" b="0">
                <a:solidFill>
                  <a:srgbClr val="142D3D"/>
                </a:solidFill>
                <a:latin typeface="Arial"/>
                <a:ea typeface="Arial"/>
                <a:cs typeface="Arial"/>
              </a:defRPr>
            </a:lvl1pPr>
            <a:lvl2pPr>
              <a:defRPr sz="2475" b="0">
                <a:solidFill>
                  <a:srgbClr val="142D3D"/>
                </a:solidFill>
                <a:latin typeface="Arial"/>
                <a:ea typeface="Arial"/>
                <a:cs typeface="Arial"/>
              </a:defRPr>
            </a:lvl2pPr>
            <a:lvl3pPr>
              <a:defRPr sz="2475" b="0">
                <a:solidFill>
                  <a:srgbClr val="142D3D"/>
                </a:solidFill>
                <a:latin typeface="Arial"/>
                <a:ea typeface="Arial"/>
                <a:cs typeface="Arial"/>
              </a:defRPr>
            </a:lvl3pPr>
            <a:lvl4pPr>
              <a:defRPr sz="2475" b="0">
                <a:solidFill>
                  <a:srgbClr val="142D3D"/>
                </a:solidFill>
                <a:latin typeface="Arial"/>
                <a:ea typeface="Arial"/>
                <a:cs typeface="Arial"/>
              </a:defRPr>
            </a:lvl4pPr>
            <a:lvl5pPr>
              <a:defRPr sz="2475" b="0">
                <a:solidFill>
                  <a:srgbClr val="142D3D"/>
                </a:solidFill>
                <a:latin typeface="Arial"/>
                <a:ea typeface="Arial"/>
                <a:cs typeface="Arial"/>
              </a:defRPr>
            </a:lvl5pPr>
            <a:lvl6pPr>
              <a:defRPr sz="2475" b="0">
                <a:solidFill>
                  <a:srgbClr val="142D3D"/>
                </a:solidFill>
                <a:latin typeface="Arial"/>
                <a:ea typeface="Arial"/>
                <a:cs typeface="Arial"/>
              </a:defRPr>
            </a:lvl6pPr>
            <a:lvl7pPr>
              <a:defRPr sz="2475" b="0">
                <a:solidFill>
                  <a:srgbClr val="142D3D"/>
                </a:solidFill>
                <a:latin typeface="Arial"/>
                <a:ea typeface="Arial"/>
                <a:cs typeface="Arial"/>
              </a:defRPr>
            </a:lvl7pPr>
            <a:lvl8pPr>
              <a:defRPr sz="2475" b="0">
                <a:solidFill>
                  <a:srgbClr val="142D3D"/>
                </a:solidFill>
                <a:latin typeface="Arial"/>
                <a:ea typeface="Arial"/>
                <a:cs typeface="Arial"/>
              </a:defRPr>
            </a:lvl8pPr>
            <a:lvl9pPr>
              <a:defRPr sz="2475" b="0">
                <a:solidFill>
                  <a:srgbClr val="142D3D"/>
                </a:solidFill>
                <a:latin typeface="Arial"/>
                <a:ea typeface="Arial"/>
                <a:cs typeface="Arial"/>
              </a:defRPr>
            </a:lvl9pPr>
          </a:lstStyle>
          <a:p xmlns:a="http://schemas.openxmlformats.org/drawingml/2006/main">
            <a:pPr>
              <a:defRPr sz="2475" b="0">
                <a:solidFill>
                  <a:srgbClr val="142D3D"/>
                </a:solidFill>
                <a:latin typeface="Arial"/>
                <a:ea typeface="Arial"/>
                <a:cs typeface="Arial"/>
              </a:defRPr>
            </a:pPr>
            <a:r>
              <a:rPr sz="2475" b="0">
                <a:solidFill>
                  <a:srgbClr val="142D3D"/>
                </a:solidFill>
                <a:latin typeface="Arial"/>
                <a:ea typeface="Arial"/>
                <a:cs typeface="Arial"/>
              </a:rPr>
              <a:t>“Most itineraries require at least one stop, with common connections in Dubai, Shanghai, Singapore, or Doha.”</a:t>
            </a:r>
          </a:p>
        </p:txBody>
      </p:sp>
      <p:sp>
        <p:nvSpPr>
          <p:cNvPr id="10" name="">
            <a:extLst xmlns:a="http://schemas.openxmlformats.org/drawingml/2006/main">
              <a:ext uri="{FF2B5EF4-FFF2-40B4-BE49-F238E27FC236}">
                <a16:creationId xmlns:a16="http://schemas.microsoft.com/office/drawing/2014/main" id="{502E64C0-5FCE-4ADC-8165-C45E44D329A1}"/>
              </a:ext>
            </a:extLst>
          </p:cNvPr>
          <p:cNvSpPr>
            <a:spLocks xmlns:a="http://schemas.openxmlformats.org/drawingml/2006/main" noGrp="1"/>
          </p:cNvSpPr>
          <p:nvPr/>
        </p:nvSpPr>
        <p:spPr>
          <a:xfrm xmlns:a="http://schemas.openxmlformats.org/drawingml/2006/main">
            <a:off x="619125" y="5314950"/>
            <a:ext cx="647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506574"/>
                </a:solidFill>
                <a:latin typeface="Arial"/>
                <a:ea typeface="Arial"/>
                <a:cs typeface="Arial"/>
              </a:defRPr>
            </a:defPPr>
            <a:lvl1pPr>
              <a:defRPr sz="3600" b="1">
                <a:solidFill>
                  <a:srgbClr val="506574"/>
                </a:solidFill>
                <a:latin typeface="Arial"/>
                <a:ea typeface="Arial"/>
                <a:cs typeface="Arial"/>
              </a:defRPr>
            </a:lvl1pPr>
            <a:lvl2pPr>
              <a:defRPr sz="3600" b="1">
                <a:solidFill>
                  <a:srgbClr val="506574"/>
                </a:solidFill>
                <a:latin typeface="Arial"/>
                <a:ea typeface="Arial"/>
                <a:cs typeface="Arial"/>
              </a:defRPr>
            </a:lvl2pPr>
            <a:lvl3pPr>
              <a:defRPr sz="3600" b="1">
                <a:solidFill>
                  <a:srgbClr val="506574"/>
                </a:solidFill>
                <a:latin typeface="Arial"/>
                <a:ea typeface="Arial"/>
                <a:cs typeface="Arial"/>
              </a:defRPr>
            </a:lvl3pPr>
            <a:lvl4pPr>
              <a:defRPr sz="3600" b="1">
                <a:solidFill>
                  <a:srgbClr val="506574"/>
                </a:solidFill>
                <a:latin typeface="Arial"/>
                <a:ea typeface="Arial"/>
                <a:cs typeface="Arial"/>
              </a:defRPr>
            </a:lvl4pPr>
            <a:lvl5pPr>
              <a:defRPr sz="3600" b="1">
                <a:solidFill>
                  <a:srgbClr val="506574"/>
                </a:solidFill>
                <a:latin typeface="Arial"/>
                <a:ea typeface="Arial"/>
                <a:cs typeface="Arial"/>
              </a:defRPr>
            </a:lvl5pPr>
            <a:lvl6pPr>
              <a:defRPr sz="3600" b="1">
                <a:solidFill>
                  <a:srgbClr val="506574"/>
                </a:solidFill>
                <a:latin typeface="Arial"/>
                <a:ea typeface="Arial"/>
                <a:cs typeface="Arial"/>
              </a:defRPr>
            </a:lvl6pPr>
            <a:lvl7pPr>
              <a:defRPr sz="3600" b="1">
                <a:solidFill>
                  <a:srgbClr val="506574"/>
                </a:solidFill>
                <a:latin typeface="Arial"/>
                <a:ea typeface="Arial"/>
                <a:cs typeface="Arial"/>
              </a:defRPr>
            </a:lvl7pPr>
            <a:lvl8pPr>
              <a:defRPr sz="3600" b="1">
                <a:solidFill>
                  <a:srgbClr val="506574"/>
                </a:solidFill>
                <a:latin typeface="Arial"/>
                <a:ea typeface="Arial"/>
                <a:cs typeface="Arial"/>
              </a:defRPr>
            </a:lvl8pPr>
            <a:lvl9pPr>
              <a:defRPr sz="3600" b="1">
                <a:solidFill>
                  <a:srgbClr val="506574"/>
                </a:solidFill>
                <a:latin typeface="Arial"/>
                <a:ea typeface="Arial"/>
                <a:cs typeface="Arial"/>
              </a:defRPr>
            </a:lvl9pPr>
          </a:lstStyle>
          <a:p xmlns:a="http://schemas.openxmlformats.org/drawingml/2006/main">
            <a:pPr>
              <a:defRPr sz="3600" b="1">
                <a:solidFill>
                  <a:srgbClr val="506574"/>
                </a:solidFill>
                <a:latin typeface="Arial"/>
                <a:ea typeface="Arial"/>
                <a:cs typeface="Arial"/>
              </a:defRPr>
            </a:pPr>
            <a:r>
              <a:rPr sz="3600" b="1">
                <a:solidFill>
                  <a:srgbClr val="506574"/>
                </a:solidFill>
                <a:latin typeface="Arial"/>
                <a:ea typeface="Arial"/>
                <a:cs typeface="Arial"/>
              </a:rPr>
              <a:t>[2] [3] [5] [8]</a:t>
            </a:r>
          </a:p>
        </p:txBody>
      </p:sp>
      <p:sp>
        <p:nvSpPr>
          <p:cNvPr id="11" name="">
            <a:extLst xmlns:a="http://schemas.openxmlformats.org/drawingml/2006/main">
              <a:ext uri="{FF2B5EF4-FFF2-40B4-BE49-F238E27FC236}">
                <a16:creationId xmlns:a16="http://schemas.microsoft.com/office/drawing/2014/main" id="{77A7D5A5-3E55-474C-95EB-1DB05F93AB85}"/>
              </a:ext>
            </a:extLst>
          </p:cNvPr>
          <p:cNvSpPr>
            <a:spLocks xmlns:a="http://schemas.openxmlformats.org/drawingml/2006/main" noGrp="1"/>
          </p:cNvSpPr>
          <p:nvPr/>
        </p:nvSpPr>
        <p:spPr>
          <a:xfrm xmlns:a="http://schemas.openxmlformats.org/drawingml/2006/main">
            <a:off x="8143875" y="5314950"/>
            <a:ext cx="6477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00" b="1">
                <a:solidFill>
                  <a:srgbClr val="B42146"/>
                </a:solidFill>
                <a:latin typeface="Arial"/>
                <a:ea typeface="Arial"/>
                <a:cs typeface="Arial"/>
              </a:defRPr>
            </a:defPPr>
            <a:lvl1pPr>
              <a:defRPr sz="3600" b="1">
                <a:solidFill>
                  <a:srgbClr val="B42146"/>
                </a:solidFill>
                <a:latin typeface="Arial"/>
                <a:ea typeface="Arial"/>
                <a:cs typeface="Arial"/>
              </a:defRPr>
            </a:lvl1pPr>
            <a:lvl2pPr>
              <a:defRPr sz="3600" b="1">
                <a:solidFill>
                  <a:srgbClr val="B42146"/>
                </a:solidFill>
                <a:latin typeface="Arial"/>
                <a:ea typeface="Arial"/>
                <a:cs typeface="Arial"/>
              </a:defRPr>
            </a:lvl2pPr>
            <a:lvl3pPr>
              <a:defRPr sz="3600" b="1">
                <a:solidFill>
                  <a:srgbClr val="B42146"/>
                </a:solidFill>
                <a:latin typeface="Arial"/>
                <a:ea typeface="Arial"/>
                <a:cs typeface="Arial"/>
              </a:defRPr>
            </a:lvl3pPr>
            <a:lvl4pPr>
              <a:defRPr sz="3600" b="1">
                <a:solidFill>
                  <a:srgbClr val="B42146"/>
                </a:solidFill>
                <a:latin typeface="Arial"/>
                <a:ea typeface="Arial"/>
                <a:cs typeface="Arial"/>
              </a:defRPr>
            </a:lvl4pPr>
            <a:lvl5pPr>
              <a:defRPr sz="3600" b="1">
                <a:solidFill>
                  <a:srgbClr val="B42146"/>
                </a:solidFill>
                <a:latin typeface="Arial"/>
                <a:ea typeface="Arial"/>
                <a:cs typeface="Arial"/>
              </a:defRPr>
            </a:lvl5pPr>
            <a:lvl6pPr>
              <a:defRPr sz="3600" b="1">
                <a:solidFill>
                  <a:srgbClr val="B42146"/>
                </a:solidFill>
                <a:latin typeface="Arial"/>
                <a:ea typeface="Arial"/>
                <a:cs typeface="Arial"/>
              </a:defRPr>
            </a:lvl6pPr>
            <a:lvl7pPr>
              <a:defRPr sz="3600" b="1">
                <a:solidFill>
                  <a:srgbClr val="B42146"/>
                </a:solidFill>
                <a:latin typeface="Arial"/>
                <a:ea typeface="Arial"/>
                <a:cs typeface="Arial"/>
              </a:defRPr>
            </a:lvl7pPr>
            <a:lvl8pPr>
              <a:defRPr sz="3600" b="1">
                <a:solidFill>
                  <a:srgbClr val="B42146"/>
                </a:solidFill>
                <a:latin typeface="Arial"/>
                <a:ea typeface="Arial"/>
                <a:cs typeface="Arial"/>
              </a:defRPr>
            </a:lvl8pPr>
            <a:lvl9pPr>
              <a:defRPr sz="3600" b="1">
                <a:solidFill>
                  <a:srgbClr val="B42146"/>
                </a:solidFill>
                <a:latin typeface="Arial"/>
                <a:ea typeface="Arial"/>
                <a:cs typeface="Arial"/>
              </a:defRPr>
            </a:lvl9pPr>
          </a:lstStyle>
          <a:p xmlns:a="http://schemas.openxmlformats.org/drawingml/2006/main">
            <a:pPr>
              <a:defRPr sz="3600" b="1">
                <a:solidFill>
                  <a:srgbClr val="B42146"/>
                </a:solidFill>
                <a:latin typeface="Arial"/>
                <a:ea typeface="Arial"/>
                <a:cs typeface="Arial"/>
              </a:defRPr>
            </a:pPr>
            <a:r>
              <a:rPr sz="3600" b="1">
                <a:solidFill>
                  <a:srgbClr val="B42146"/>
                </a:solidFill>
                <a:latin typeface="Arial"/>
                <a:ea typeface="Arial"/>
                <a:cs typeface="Arial"/>
              </a:rPr>
              <a:t>[2] [3] [7]</a:t>
            </a:r>
          </a:p>
        </p:txBody>
      </p:sp>
      <p:sp>
        <p:nvSpPr>
          <p:cNvPr id="12" name="">
            <a:extLst xmlns:a="http://schemas.openxmlformats.org/drawingml/2006/main">
              <a:ext uri="{FF2B5EF4-FFF2-40B4-BE49-F238E27FC236}">
                <a16:creationId xmlns:a16="http://schemas.microsoft.com/office/drawing/2014/main" id="{D37E192E-CFE6-4778-BF38-69F8AB9019F0}"/>
              </a:ext>
            </a:extLst>
          </p:cNvPr>
          <p:cNvSpPr>
            <a:spLocks xmlns:a="http://schemas.openxmlformats.org/drawingml/2006/main" noGrp="1"/>
          </p:cNvSpPr>
          <p:nvPr/>
        </p:nvSpPr>
        <p:spPr>
          <a:xfrm xmlns:a="http://schemas.openxmlformats.org/drawingml/2006/main">
            <a:off x="619125" y="6210300"/>
            <a:ext cx="14001750" cy="28575"/>
          </a:xfrm>
          <a:prstGeom xmlns:a="http://schemas.openxmlformats.org/drawingml/2006/main" prst="rect">
            <a:avLst/>
          </a:prstGeom>
          <a:solidFill xmlns:a="http://schemas.openxmlformats.org/drawingml/2006/main">
            <a:srgbClr val="D4DEE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992B00BC-A81B-4782-904C-036199247FA4}"/>
              </a:ext>
            </a:extLst>
          </p:cNvPr>
          <p:cNvSpPr>
            <a:spLocks xmlns:a="http://schemas.openxmlformats.org/drawingml/2006/main" noGrp="1"/>
          </p:cNvSpPr>
          <p:nvPr/>
        </p:nvSpPr>
        <p:spPr>
          <a:xfrm xmlns:a="http://schemas.openxmlformats.org/drawingml/2006/main">
            <a:off x="619125" y="6477000"/>
            <a:ext cx="1400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1">
                <a:solidFill>
                  <a:srgbClr val="142D3D"/>
                </a:solidFill>
                <a:latin typeface="Arial"/>
                <a:ea typeface="Arial"/>
                <a:cs typeface="Arial"/>
              </a:defRPr>
            </a:defPPr>
            <a:lvl1pPr>
              <a:defRPr sz="2175" b="1">
                <a:solidFill>
                  <a:srgbClr val="142D3D"/>
                </a:solidFill>
                <a:latin typeface="Arial"/>
                <a:ea typeface="Arial"/>
                <a:cs typeface="Arial"/>
              </a:defRPr>
            </a:lvl1pPr>
            <a:lvl2pPr>
              <a:defRPr sz="2175" b="1">
                <a:solidFill>
                  <a:srgbClr val="142D3D"/>
                </a:solidFill>
                <a:latin typeface="Arial"/>
                <a:ea typeface="Arial"/>
                <a:cs typeface="Arial"/>
              </a:defRPr>
            </a:lvl2pPr>
            <a:lvl3pPr>
              <a:defRPr sz="2175" b="1">
                <a:solidFill>
                  <a:srgbClr val="142D3D"/>
                </a:solidFill>
                <a:latin typeface="Arial"/>
                <a:ea typeface="Arial"/>
                <a:cs typeface="Arial"/>
              </a:defRPr>
            </a:lvl3pPr>
            <a:lvl4pPr>
              <a:defRPr sz="2175" b="1">
                <a:solidFill>
                  <a:srgbClr val="142D3D"/>
                </a:solidFill>
                <a:latin typeface="Arial"/>
                <a:ea typeface="Arial"/>
                <a:cs typeface="Arial"/>
              </a:defRPr>
            </a:lvl4pPr>
            <a:lvl5pPr>
              <a:defRPr sz="2175" b="1">
                <a:solidFill>
                  <a:srgbClr val="142D3D"/>
                </a:solidFill>
                <a:latin typeface="Arial"/>
                <a:ea typeface="Arial"/>
                <a:cs typeface="Arial"/>
              </a:defRPr>
            </a:lvl5pPr>
            <a:lvl6pPr>
              <a:defRPr sz="2175" b="1">
                <a:solidFill>
                  <a:srgbClr val="142D3D"/>
                </a:solidFill>
                <a:latin typeface="Arial"/>
                <a:ea typeface="Arial"/>
                <a:cs typeface="Arial"/>
              </a:defRPr>
            </a:lvl6pPr>
            <a:lvl7pPr>
              <a:defRPr sz="2175" b="1">
                <a:solidFill>
                  <a:srgbClr val="142D3D"/>
                </a:solidFill>
                <a:latin typeface="Arial"/>
                <a:ea typeface="Arial"/>
                <a:cs typeface="Arial"/>
              </a:defRPr>
            </a:lvl7pPr>
            <a:lvl8pPr>
              <a:defRPr sz="2175" b="1">
                <a:solidFill>
                  <a:srgbClr val="142D3D"/>
                </a:solidFill>
                <a:latin typeface="Arial"/>
                <a:ea typeface="Arial"/>
                <a:cs typeface="Arial"/>
              </a:defRPr>
            </a:lvl8pPr>
            <a:lvl9pPr>
              <a:defRPr sz="2175" b="1">
                <a:solidFill>
                  <a:srgbClr val="142D3D"/>
                </a:solidFill>
                <a:latin typeface="Arial"/>
                <a:ea typeface="Arial"/>
                <a:cs typeface="Arial"/>
              </a:defRPr>
            </a:lvl9pPr>
          </a:lstStyle>
          <a:p xmlns:a="http://schemas.openxmlformats.org/drawingml/2006/main">
            <a:pPr>
              <a:defRPr sz="2175" b="1">
                <a:solidFill>
                  <a:srgbClr val="142D3D"/>
                </a:solidFill>
                <a:latin typeface="Arial"/>
                <a:ea typeface="Arial"/>
                <a:cs typeface="Arial"/>
              </a:defRPr>
            </a:pPr>
            <a:r>
              <a:rPr sz="2175" b="1">
                <a:solidFill>
                  <a:srgbClr val="142D3D"/>
                </a:solidFill>
                <a:latin typeface="Arial"/>
                <a:ea typeface="Arial"/>
                <a:cs typeface="Arial"/>
              </a:rPr>
              <a:t>[7] = flightcentre.com.au/flights/au-vic-melbourne/gb-eng-london</a:t>
            </a:r>
          </a:p>
        </p:txBody>
      </p:sp>
    </p:spTree>
    <p:extLst>
      <p:ext uri="{BB962C8B-B14F-4D97-AF65-F5344CB8AC3E}">
        <p14:creationId xmlns:p14="http://schemas.microsoft.com/office/powerpoint/2010/main" val="1136223610"/>
      </p:ext>
    </p:extLst>
  </p:cSld>
</p:sld>
</file>

<file path=ppt/slides/slide1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76DD94-2A23-4AF6-A893-DFF600ED5A0F}"/>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DC203B7A-FDB9-4B8F-BA2A-77E3DA72456C}"/>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Flight Centre was cited more often</a:t>
            </a:r>
          </a:p>
        </p:txBody>
      </p:sp>
      <p:sp>
        <p:nvSpPr>
          <p:cNvPr id="3" name="">
            <a:extLst xmlns:a="http://schemas.openxmlformats.org/drawingml/2006/main">
              <a:ext uri="{FF2B5EF4-FFF2-40B4-BE49-F238E27FC236}">
                <a16:creationId xmlns:a16="http://schemas.microsoft.com/office/drawing/2014/main" id="{A3399B38-B687-4C76-83F6-63BC9FEC5C52}"/>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6333E05-8035-45F7-A46A-E73DC6439378}"/>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Same improved pages, two runs. The percentage can vary.</a:t>
            </a:r>
          </a:p>
        </p:txBody>
      </p:sp>
      <p:sp>
        <p:nvSpPr>
          <p:cNvPr id="5" name="">
            <a:extLst xmlns:a="http://schemas.openxmlformats.org/drawingml/2006/main">
              <a:ext uri="{FF2B5EF4-FFF2-40B4-BE49-F238E27FC236}">
                <a16:creationId xmlns:a16="http://schemas.microsoft.com/office/drawing/2014/main" id="{797277E4-8B69-4315-AE1A-2734E6D8DD96}"/>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12 / 18   •   Sources and detail in speaker notes</a:t>
            </a:r>
          </a:p>
        </p:txBody>
      </p:sp>
      <p:graphicFrame>
        <p:nvGraphicFramePr>
          <p:cNvPr id="6" name="Chart">
            <a:extLst xmlns:a="http://schemas.openxmlformats.org/drawingml/2006/main">
              <a:ext uri="{FF2B5EF4-FFF2-40B4-BE49-F238E27FC236}">
                <a16:creationId xmlns:a16="http://schemas.microsoft.com/office/drawing/2014/main" id="{B9926E81-8200-4FB2-9DD9-54D6F563ED62}"/>
              </a:ext>
            </a:extLst>
          </p:cNvPr>
          <p:cNvGraphicFramePr/>
          <p:nvPr/>
        </p:nvGraphicFramePr>
        <p:xfrm>
          <a:off xmlns:a="http://schemas.openxmlformats.org/drawingml/2006/main" x="952500" y="2381250"/>
          <a:ext xmlns:a="http://schemas.openxmlformats.org/drawingml/2006/main" cx="13049250" cy="4429125"/>
        </p:xfrm>
        <a:graphic xmlns:a="http://schemas.openxmlformats.org/drawingml/2006/main">
          <a:graphicData uri="http://schemas.openxmlformats.org/drawingml/2006/chart">
            <c:chart xmlns:r="http://schemas.openxmlformats.org/officeDocument/2006/relationships" xmlns:c="http://schemas.openxmlformats.org/drawingml/2006/chart" r:id="Rb29715315a0e41fc"/>
          </a:graphicData>
        </a:graphic>
      </p:graphicFrame>
      <p:sp>
        <p:nvSpPr>
          <p:cNvPr id="7" name="">
            <a:extLst xmlns:a="http://schemas.openxmlformats.org/drawingml/2006/main">
              <a:ext uri="{FF2B5EF4-FFF2-40B4-BE49-F238E27FC236}">
                <a16:creationId xmlns:a16="http://schemas.microsoft.com/office/drawing/2014/main" id="{FE091875-3769-4949-8278-4A1334713B50}"/>
              </a:ext>
            </a:extLst>
          </p:cNvPr>
          <p:cNvSpPr>
            <a:spLocks xmlns:a="http://schemas.openxmlformats.org/drawingml/2006/main" noGrp="1"/>
          </p:cNvSpPr>
          <p:nvPr/>
        </p:nvSpPr>
        <p:spPr>
          <a:xfrm xmlns:a="http://schemas.openxmlformats.org/drawingml/2006/main">
            <a:off x="952500" y="6953250"/>
            <a:ext cx="1304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506574"/>
                </a:solidFill>
                <a:latin typeface="Arial"/>
                <a:ea typeface="Arial"/>
                <a:cs typeface="Arial"/>
              </a:defRPr>
            </a:defPPr>
            <a:lvl1pPr>
              <a:defRPr sz="2250" b="0">
                <a:solidFill>
                  <a:srgbClr val="506574"/>
                </a:solidFill>
                <a:latin typeface="Arial"/>
                <a:ea typeface="Arial"/>
                <a:cs typeface="Arial"/>
              </a:defRPr>
            </a:lvl1pPr>
            <a:lvl2pPr>
              <a:defRPr sz="2250" b="0">
                <a:solidFill>
                  <a:srgbClr val="506574"/>
                </a:solidFill>
                <a:latin typeface="Arial"/>
                <a:ea typeface="Arial"/>
                <a:cs typeface="Arial"/>
              </a:defRPr>
            </a:lvl2pPr>
            <a:lvl3pPr>
              <a:defRPr sz="2250" b="0">
                <a:solidFill>
                  <a:srgbClr val="506574"/>
                </a:solidFill>
                <a:latin typeface="Arial"/>
                <a:ea typeface="Arial"/>
                <a:cs typeface="Arial"/>
              </a:defRPr>
            </a:lvl3pPr>
            <a:lvl4pPr>
              <a:defRPr sz="2250" b="0">
                <a:solidFill>
                  <a:srgbClr val="506574"/>
                </a:solidFill>
                <a:latin typeface="Arial"/>
                <a:ea typeface="Arial"/>
                <a:cs typeface="Arial"/>
              </a:defRPr>
            </a:lvl4pPr>
            <a:lvl5pPr>
              <a:defRPr sz="2250" b="0">
                <a:solidFill>
                  <a:srgbClr val="506574"/>
                </a:solidFill>
                <a:latin typeface="Arial"/>
                <a:ea typeface="Arial"/>
                <a:cs typeface="Arial"/>
              </a:defRPr>
            </a:lvl5pPr>
            <a:lvl6pPr>
              <a:defRPr sz="2250" b="0">
                <a:solidFill>
                  <a:srgbClr val="506574"/>
                </a:solidFill>
                <a:latin typeface="Arial"/>
                <a:ea typeface="Arial"/>
                <a:cs typeface="Arial"/>
              </a:defRPr>
            </a:lvl6pPr>
            <a:lvl7pPr>
              <a:defRPr sz="2250" b="0">
                <a:solidFill>
                  <a:srgbClr val="506574"/>
                </a:solidFill>
                <a:latin typeface="Arial"/>
                <a:ea typeface="Arial"/>
                <a:cs typeface="Arial"/>
              </a:defRPr>
            </a:lvl7pPr>
            <a:lvl8pPr>
              <a:defRPr sz="2250" b="0">
                <a:solidFill>
                  <a:srgbClr val="506574"/>
                </a:solidFill>
                <a:latin typeface="Arial"/>
                <a:ea typeface="Arial"/>
                <a:cs typeface="Arial"/>
              </a:defRPr>
            </a:lvl8pPr>
            <a:lvl9pPr>
              <a:defRPr sz="2250" b="0">
                <a:solidFill>
                  <a:srgbClr val="506574"/>
                </a:solidFill>
                <a:latin typeface="Arial"/>
                <a:ea typeface="Arial"/>
                <a:cs typeface="Arial"/>
              </a:defRPr>
            </a:lvl9pPr>
          </a:lstStyle>
          <a:p xmlns:a="http://schemas.openxmlformats.org/drawingml/2006/main">
            <a:pPr>
              <a:defRPr sz="2250" b="0">
                <a:solidFill>
                  <a:srgbClr val="506574"/>
                </a:solidFill>
                <a:latin typeface="Arial"/>
                <a:ea typeface="Arial"/>
                <a:cs typeface="Arial"/>
              </a:defRPr>
            </a:pPr>
            <a:r>
              <a:rPr sz="2250" b="0">
                <a:solidFill>
                  <a:srgbClr val="506574"/>
                </a:solidFill>
                <a:latin typeface="Arial"/>
                <a:ea typeface="Arial"/>
                <a:cs typeface="Arial"/>
              </a:rPr>
              <a:t>Share of answers that referenced a Flight Centre source</a:t>
            </a:r>
          </a:p>
        </p:txBody>
      </p:sp>
    </p:spTree>
    <p:extLst>
      <p:ext uri="{BB962C8B-B14F-4D97-AF65-F5344CB8AC3E}">
        <p14:creationId xmlns:p14="http://schemas.microsoft.com/office/powerpoint/2010/main" val="2018973045"/>
      </p:ext>
    </p:extLst>
  </p:cSld>
</p:sld>
</file>

<file path=ppt/slides/slide1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54F757B6-1E7B-4AB8-AB8A-E411CC57DF87}"/>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7D030EE5-98D6-4C2F-B44B-A628CEF696A7}"/>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How confident are we?</a:t>
            </a:r>
          </a:p>
        </p:txBody>
      </p:sp>
      <p:sp>
        <p:nvSpPr>
          <p:cNvPr id="3" name="">
            <a:extLst xmlns:a="http://schemas.openxmlformats.org/drawingml/2006/main">
              <a:ext uri="{FF2B5EF4-FFF2-40B4-BE49-F238E27FC236}">
                <a16:creationId xmlns:a16="http://schemas.microsoft.com/office/drawing/2014/main" id="{11422317-238A-484C-9C71-C08ABAF5A442}"/>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67746B-C8C7-4E06-9778-410469D5B8F2}"/>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The result is encouraging, but it is not a guaranteed future rate.</a:t>
            </a:r>
          </a:p>
        </p:txBody>
      </p:sp>
      <p:sp>
        <p:nvSpPr>
          <p:cNvPr id="5" name="">
            <a:extLst xmlns:a="http://schemas.openxmlformats.org/drawingml/2006/main">
              <a:ext uri="{FF2B5EF4-FFF2-40B4-BE49-F238E27FC236}">
                <a16:creationId xmlns:a16="http://schemas.microsoft.com/office/drawing/2014/main" id="{1807FA6F-FD64-4DF5-AFE3-E543D43FC761}"/>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13 / 18   •   Sources and detail in speaker notes</a:t>
            </a:r>
          </a:p>
        </p:txBody>
      </p:sp>
      <p:sp>
        <p:nvSpPr>
          <p:cNvPr id="6" name="">
            <a:extLst xmlns:a="http://schemas.openxmlformats.org/drawingml/2006/main">
              <a:ext uri="{FF2B5EF4-FFF2-40B4-BE49-F238E27FC236}">
                <a16:creationId xmlns:a16="http://schemas.microsoft.com/office/drawing/2014/main" id="{43EFE2D4-A7B8-4166-8295-D8823EAA05E8}"/>
              </a:ext>
            </a:extLst>
          </p:cNvPr>
          <p:cNvSpPr>
            <a:spLocks xmlns:a="http://schemas.openxmlformats.org/drawingml/2006/main" noGrp="1"/>
          </p:cNvSpPr>
          <p:nvPr/>
        </p:nvSpPr>
        <p:spPr>
          <a:xfrm xmlns:a="http://schemas.openxmlformats.org/drawingml/2006/main">
            <a:off x="619125" y="25717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3BC978A4-65DA-45BA-BE70-BBDE9341D191}"/>
              </a:ext>
            </a:extLst>
          </p:cNvPr>
          <p:cNvSpPr>
            <a:spLocks xmlns:a="http://schemas.openxmlformats.org/drawingml/2006/main" noGrp="1"/>
          </p:cNvSpPr>
          <p:nvPr/>
        </p:nvSpPr>
        <p:spPr>
          <a:xfrm xmlns:a="http://schemas.openxmlformats.org/drawingml/2006/main">
            <a:off x="1600200" y="257175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Repeat</a:t>
            </a:r>
          </a:p>
        </p:txBody>
      </p:sp>
      <p:sp>
        <p:nvSpPr>
          <p:cNvPr id="8" name="">
            <a:extLst xmlns:a="http://schemas.openxmlformats.org/drawingml/2006/main">
              <a:ext uri="{FF2B5EF4-FFF2-40B4-BE49-F238E27FC236}">
                <a16:creationId xmlns:a16="http://schemas.microsoft.com/office/drawing/2014/main" id="{290B6624-9148-4B41-8868-B20D311F5383}"/>
              </a:ext>
            </a:extLst>
          </p:cNvPr>
          <p:cNvSpPr>
            <a:spLocks xmlns:a="http://schemas.openxmlformats.org/drawingml/2006/main" noGrp="1"/>
          </p:cNvSpPr>
          <p:nvPr/>
        </p:nvSpPr>
        <p:spPr>
          <a:xfrm xmlns:a="http://schemas.openxmlformats.org/drawingml/2006/main">
            <a:off x="5381625" y="2571750"/>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Compare more than one generated answer</a:t>
            </a:r>
          </a:p>
        </p:txBody>
      </p:sp>
      <p:sp>
        <p:nvSpPr>
          <p:cNvPr id="9" name="">
            <a:extLst xmlns:a="http://schemas.openxmlformats.org/drawingml/2006/main">
              <a:ext uri="{FF2B5EF4-FFF2-40B4-BE49-F238E27FC236}">
                <a16:creationId xmlns:a16="http://schemas.microsoft.com/office/drawing/2014/main" id="{46E86046-EE2D-4BAF-A2FE-95A8CCBBEF45}"/>
              </a:ext>
            </a:extLst>
          </p:cNvPr>
          <p:cNvSpPr>
            <a:spLocks xmlns:a="http://schemas.openxmlformats.org/drawingml/2006/main" noGrp="1"/>
          </p:cNvSpPr>
          <p:nvPr/>
        </p:nvSpPr>
        <p:spPr>
          <a:xfrm xmlns:a="http://schemas.openxmlformats.org/drawingml/2006/main">
            <a:off x="619125" y="4048125"/>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9F3DCE53-9E64-44B1-AA05-D786800A4C9B}"/>
              </a:ext>
            </a:extLst>
          </p:cNvPr>
          <p:cNvSpPr>
            <a:spLocks xmlns:a="http://schemas.openxmlformats.org/drawingml/2006/main" noGrp="1"/>
          </p:cNvSpPr>
          <p:nvPr/>
        </p:nvSpPr>
        <p:spPr>
          <a:xfrm xmlns:a="http://schemas.openxmlformats.org/drawingml/2006/main">
            <a:off x="1600200" y="4048125"/>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Check variation</a:t>
            </a:r>
          </a:p>
        </p:txBody>
      </p:sp>
      <p:sp>
        <p:nvSpPr>
          <p:cNvPr id="11" name="">
            <a:extLst xmlns:a="http://schemas.openxmlformats.org/drawingml/2006/main">
              <a:ext uri="{FF2B5EF4-FFF2-40B4-BE49-F238E27FC236}">
                <a16:creationId xmlns:a16="http://schemas.microsoft.com/office/drawing/2014/main" id="{1CAA6083-B997-46F2-8959-02BBDBDE7B61}"/>
              </a:ext>
            </a:extLst>
          </p:cNvPr>
          <p:cNvSpPr>
            <a:spLocks xmlns:a="http://schemas.openxmlformats.org/drawingml/2006/main" noGrp="1"/>
          </p:cNvSpPr>
          <p:nvPr/>
        </p:nvSpPr>
        <p:spPr>
          <a:xfrm xmlns:a="http://schemas.openxmlformats.org/drawingml/2006/main">
            <a:off x="5381625" y="4048125"/>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Some questions improve; some decline</a:t>
            </a:r>
          </a:p>
        </p:txBody>
      </p:sp>
      <p:sp>
        <p:nvSpPr>
          <p:cNvPr id="12" name="">
            <a:extLst xmlns:a="http://schemas.openxmlformats.org/drawingml/2006/main">
              <a:ext uri="{FF2B5EF4-FFF2-40B4-BE49-F238E27FC236}">
                <a16:creationId xmlns:a16="http://schemas.microsoft.com/office/drawing/2014/main" id="{5280716F-6435-4A05-80FB-81E23FC8283B}"/>
              </a:ext>
            </a:extLst>
          </p:cNvPr>
          <p:cNvSpPr>
            <a:spLocks xmlns:a="http://schemas.openxmlformats.org/drawingml/2006/main" noGrp="1"/>
          </p:cNvSpPr>
          <p:nvPr/>
        </p:nvSpPr>
        <p:spPr>
          <a:xfrm xmlns:a="http://schemas.openxmlformats.org/drawingml/2006/main">
            <a:off x="619125" y="55245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94116C91-213B-4378-A11E-5A62A325B453}"/>
              </a:ext>
            </a:extLst>
          </p:cNvPr>
          <p:cNvSpPr>
            <a:spLocks xmlns:a="http://schemas.openxmlformats.org/drawingml/2006/main" noGrp="1"/>
          </p:cNvSpPr>
          <p:nvPr/>
        </p:nvSpPr>
        <p:spPr>
          <a:xfrm xmlns:a="http://schemas.openxmlformats.org/drawingml/2006/main">
            <a:off x="1600200" y="552450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Keep the boundary</a:t>
            </a:r>
          </a:p>
        </p:txBody>
      </p:sp>
      <p:sp>
        <p:nvSpPr>
          <p:cNvPr id="14" name="">
            <a:extLst xmlns:a="http://schemas.openxmlformats.org/drawingml/2006/main">
              <a:ext uri="{FF2B5EF4-FFF2-40B4-BE49-F238E27FC236}">
                <a16:creationId xmlns:a16="http://schemas.microsoft.com/office/drawing/2014/main" id="{05E8EFBC-C812-442D-A644-58E993114723}"/>
              </a:ext>
            </a:extLst>
          </p:cNvPr>
          <p:cNvSpPr>
            <a:spLocks xmlns:a="http://schemas.openxmlformats.org/drawingml/2006/main" noGrp="1"/>
          </p:cNvSpPr>
          <p:nvPr/>
        </p:nvSpPr>
        <p:spPr>
          <a:xfrm xmlns:a="http://schemas.openxmlformats.org/drawingml/2006/main">
            <a:off x="5381625" y="5524500"/>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Development evidence, not a production promise</a:t>
            </a:r>
          </a:p>
        </p:txBody>
      </p:sp>
    </p:spTree>
    <p:extLst>
      <p:ext uri="{BB962C8B-B14F-4D97-AF65-F5344CB8AC3E}">
        <p14:creationId xmlns:p14="http://schemas.microsoft.com/office/powerpoint/2010/main" val="68207231"/>
      </p:ext>
    </p:extLst>
  </p:cSld>
</p:sld>
</file>

<file path=ppt/slides/slide1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6948F58-0C66-4485-AF86-DE27A5A4133F}"/>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B2A46A9E-8341-4599-8A0F-D7861ACFEF3B}"/>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Source order also mattered</a:t>
            </a:r>
          </a:p>
        </p:txBody>
      </p:sp>
      <p:sp>
        <p:nvSpPr>
          <p:cNvPr id="3" name="">
            <a:extLst xmlns:a="http://schemas.openxmlformats.org/drawingml/2006/main">
              <a:ext uri="{FF2B5EF4-FFF2-40B4-BE49-F238E27FC236}">
                <a16:creationId xmlns:a16="http://schemas.microsoft.com/office/drawing/2014/main" id="{64050838-BDC3-4D2C-8A73-6835A3D534E1}"/>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CDB761-487E-4074-ADB4-9AD72922066B}"/>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Order in the AI’s reading pack is different from ranking on a search engine.</a:t>
            </a:r>
          </a:p>
        </p:txBody>
      </p:sp>
      <p:sp>
        <p:nvSpPr>
          <p:cNvPr id="5" name="">
            <a:extLst xmlns:a="http://schemas.openxmlformats.org/drawingml/2006/main">
              <a:ext uri="{FF2B5EF4-FFF2-40B4-BE49-F238E27FC236}">
                <a16:creationId xmlns:a16="http://schemas.microsoft.com/office/drawing/2014/main" id="{DC519331-3570-4A64-BF35-AF49EFA96E04}"/>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14 / 18   •   Sources and detail in speaker notes</a:t>
            </a:r>
          </a:p>
        </p:txBody>
      </p:sp>
      <p:sp>
        <p:nvSpPr>
          <p:cNvPr id="6" name="">
            <a:extLst xmlns:a="http://schemas.openxmlformats.org/drawingml/2006/main">
              <a:ext uri="{FF2B5EF4-FFF2-40B4-BE49-F238E27FC236}">
                <a16:creationId xmlns:a16="http://schemas.microsoft.com/office/drawing/2014/main" id="{9DE8C603-53FF-4BC8-A38E-9C5474C5974B}"/>
              </a:ext>
            </a:extLst>
          </p:cNvPr>
          <p:cNvSpPr>
            <a:spLocks xmlns:a="http://schemas.openxmlformats.org/drawingml/2006/main" noGrp="1"/>
          </p:cNvSpPr>
          <p:nvPr/>
        </p:nvSpPr>
        <p:spPr>
          <a:xfrm xmlns:a="http://schemas.openxmlformats.org/drawingml/2006/main">
            <a:off x="619125" y="2286000"/>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87D82"/>
                </a:solidFill>
                <a:latin typeface="Arial"/>
                <a:ea typeface="Arial"/>
                <a:cs typeface="Arial"/>
              </a:defRPr>
            </a:defPPr>
            <a:lvl1pPr>
              <a:defRPr sz="1725" b="1">
                <a:solidFill>
                  <a:srgbClr val="087D82"/>
                </a:solidFill>
                <a:latin typeface="Arial"/>
                <a:ea typeface="Arial"/>
                <a:cs typeface="Arial"/>
              </a:defRPr>
            </a:lvl1pPr>
            <a:lvl2pPr>
              <a:defRPr sz="1725" b="1">
                <a:solidFill>
                  <a:srgbClr val="087D82"/>
                </a:solidFill>
                <a:latin typeface="Arial"/>
                <a:ea typeface="Arial"/>
                <a:cs typeface="Arial"/>
              </a:defRPr>
            </a:lvl2pPr>
            <a:lvl3pPr>
              <a:defRPr sz="1725" b="1">
                <a:solidFill>
                  <a:srgbClr val="087D82"/>
                </a:solidFill>
                <a:latin typeface="Arial"/>
                <a:ea typeface="Arial"/>
                <a:cs typeface="Arial"/>
              </a:defRPr>
            </a:lvl3pPr>
            <a:lvl4pPr>
              <a:defRPr sz="1725" b="1">
                <a:solidFill>
                  <a:srgbClr val="087D82"/>
                </a:solidFill>
                <a:latin typeface="Arial"/>
                <a:ea typeface="Arial"/>
                <a:cs typeface="Arial"/>
              </a:defRPr>
            </a:lvl4pPr>
            <a:lvl5pPr>
              <a:defRPr sz="1725" b="1">
                <a:solidFill>
                  <a:srgbClr val="087D82"/>
                </a:solidFill>
                <a:latin typeface="Arial"/>
                <a:ea typeface="Arial"/>
                <a:cs typeface="Arial"/>
              </a:defRPr>
            </a:lvl5pPr>
            <a:lvl6pPr>
              <a:defRPr sz="1725" b="1">
                <a:solidFill>
                  <a:srgbClr val="087D82"/>
                </a:solidFill>
                <a:latin typeface="Arial"/>
                <a:ea typeface="Arial"/>
                <a:cs typeface="Arial"/>
              </a:defRPr>
            </a:lvl6pPr>
            <a:lvl7pPr>
              <a:defRPr sz="1725" b="1">
                <a:solidFill>
                  <a:srgbClr val="087D82"/>
                </a:solidFill>
                <a:latin typeface="Arial"/>
                <a:ea typeface="Arial"/>
                <a:cs typeface="Arial"/>
              </a:defRPr>
            </a:lvl7pPr>
            <a:lvl8pPr>
              <a:defRPr sz="1725" b="1">
                <a:solidFill>
                  <a:srgbClr val="087D82"/>
                </a:solidFill>
                <a:latin typeface="Arial"/>
                <a:ea typeface="Arial"/>
                <a:cs typeface="Arial"/>
              </a:defRPr>
            </a:lvl8pPr>
            <a:lvl9pPr>
              <a:defRPr sz="1725" b="1">
                <a:solidFill>
                  <a:srgbClr val="087D82"/>
                </a:solidFill>
                <a:latin typeface="Arial"/>
                <a:ea typeface="Arial"/>
                <a:cs typeface="Arial"/>
              </a:defRPr>
            </a:lvl9pPr>
          </a:lstStyle>
          <a:p xmlns:a="http://schemas.openxmlformats.org/drawingml/2006/main">
            <a:pPr>
              <a:defRPr sz="1725" b="1">
                <a:solidFill>
                  <a:srgbClr val="087D82"/>
                </a:solidFill>
                <a:latin typeface="Arial"/>
                <a:ea typeface="Arial"/>
                <a:cs typeface="Arial"/>
              </a:defRPr>
            </a:pPr>
            <a:r>
              <a:rPr sz="1725" b="1">
                <a:solidFill>
                  <a:srgbClr val="087D82"/>
                </a:solidFill>
                <a:latin typeface="Arial"/>
                <a:ea typeface="Arial"/>
                <a:cs typeface="Arial"/>
              </a:rPr>
              <a:t>ORIGINAL READING ORDER</a:t>
            </a:r>
          </a:p>
        </p:txBody>
      </p:sp>
      <p:sp>
        <p:nvSpPr>
          <p:cNvPr id="7" name="">
            <a:extLst xmlns:a="http://schemas.openxmlformats.org/drawingml/2006/main">
              <a:ext uri="{FF2B5EF4-FFF2-40B4-BE49-F238E27FC236}">
                <a16:creationId xmlns:a16="http://schemas.microsoft.com/office/drawing/2014/main" id="{448EC83A-7B8D-4FD1-908A-87ACC6A69CA4}"/>
              </a:ext>
            </a:extLst>
          </p:cNvPr>
          <p:cNvSpPr>
            <a:spLocks xmlns:a="http://schemas.openxmlformats.org/drawingml/2006/main" noGrp="1"/>
          </p:cNvSpPr>
          <p:nvPr/>
        </p:nvSpPr>
        <p:spPr>
          <a:xfrm xmlns:a="http://schemas.openxmlformats.org/drawingml/2006/main">
            <a:off x="8048625" y="2286000"/>
            <a:ext cx="6572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87D82"/>
                </a:solidFill>
                <a:latin typeface="Arial"/>
                <a:ea typeface="Arial"/>
                <a:cs typeface="Arial"/>
              </a:defRPr>
            </a:defPPr>
            <a:lvl1pPr>
              <a:defRPr sz="1725" b="1">
                <a:solidFill>
                  <a:srgbClr val="087D82"/>
                </a:solidFill>
                <a:latin typeface="Arial"/>
                <a:ea typeface="Arial"/>
                <a:cs typeface="Arial"/>
              </a:defRPr>
            </a:lvl1pPr>
            <a:lvl2pPr>
              <a:defRPr sz="1725" b="1">
                <a:solidFill>
                  <a:srgbClr val="087D82"/>
                </a:solidFill>
                <a:latin typeface="Arial"/>
                <a:ea typeface="Arial"/>
                <a:cs typeface="Arial"/>
              </a:defRPr>
            </a:lvl2pPr>
            <a:lvl3pPr>
              <a:defRPr sz="1725" b="1">
                <a:solidFill>
                  <a:srgbClr val="087D82"/>
                </a:solidFill>
                <a:latin typeface="Arial"/>
                <a:ea typeface="Arial"/>
                <a:cs typeface="Arial"/>
              </a:defRPr>
            </a:lvl3pPr>
            <a:lvl4pPr>
              <a:defRPr sz="1725" b="1">
                <a:solidFill>
                  <a:srgbClr val="087D82"/>
                </a:solidFill>
                <a:latin typeface="Arial"/>
                <a:ea typeface="Arial"/>
                <a:cs typeface="Arial"/>
              </a:defRPr>
            </a:lvl4pPr>
            <a:lvl5pPr>
              <a:defRPr sz="1725" b="1">
                <a:solidFill>
                  <a:srgbClr val="087D82"/>
                </a:solidFill>
                <a:latin typeface="Arial"/>
                <a:ea typeface="Arial"/>
                <a:cs typeface="Arial"/>
              </a:defRPr>
            </a:lvl5pPr>
            <a:lvl6pPr>
              <a:defRPr sz="1725" b="1">
                <a:solidFill>
                  <a:srgbClr val="087D82"/>
                </a:solidFill>
                <a:latin typeface="Arial"/>
                <a:ea typeface="Arial"/>
                <a:cs typeface="Arial"/>
              </a:defRPr>
            </a:lvl6pPr>
            <a:lvl7pPr>
              <a:defRPr sz="1725" b="1">
                <a:solidFill>
                  <a:srgbClr val="087D82"/>
                </a:solidFill>
                <a:latin typeface="Arial"/>
                <a:ea typeface="Arial"/>
                <a:cs typeface="Arial"/>
              </a:defRPr>
            </a:lvl7pPr>
            <a:lvl8pPr>
              <a:defRPr sz="1725" b="1">
                <a:solidFill>
                  <a:srgbClr val="087D82"/>
                </a:solidFill>
                <a:latin typeface="Arial"/>
                <a:ea typeface="Arial"/>
                <a:cs typeface="Arial"/>
              </a:defRPr>
            </a:lvl8pPr>
            <a:lvl9pPr>
              <a:defRPr sz="1725" b="1">
                <a:solidFill>
                  <a:srgbClr val="087D82"/>
                </a:solidFill>
                <a:latin typeface="Arial"/>
                <a:ea typeface="Arial"/>
                <a:cs typeface="Arial"/>
              </a:defRPr>
            </a:lvl9pPr>
          </a:lstStyle>
          <a:p xmlns:a="http://schemas.openxmlformats.org/drawingml/2006/main">
            <a:pPr>
              <a:defRPr sz="1725" b="1">
                <a:solidFill>
                  <a:srgbClr val="087D82"/>
                </a:solidFill>
                <a:latin typeface="Arial"/>
                <a:ea typeface="Arial"/>
                <a:cs typeface="Arial"/>
              </a:defRPr>
            </a:pPr>
            <a:r>
              <a:rPr sz="1725" b="1">
                <a:solidFill>
                  <a:srgbClr val="087D82"/>
                </a:solidFill>
                <a:latin typeface="Arial"/>
                <a:ea typeface="Arial"/>
                <a:cs typeface="Arial"/>
              </a:rPr>
              <a:t>SEPARATE ORDER TEST</a:t>
            </a:r>
          </a:p>
        </p:txBody>
      </p:sp>
      <p:sp>
        <p:nvSpPr>
          <p:cNvPr id="8" name="">
            <a:extLst xmlns:a="http://schemas.openxmlformats.org/drawingml/2006/main">
              <a:ext uri="{FF2B5EF4-FFF2-40B4-BE49-F238E27FC236}">
                <a16:creationId xmlns:a16="http://schemas.microsoft.com/office/drawing/2014/main" id="{BE4EFC33-4FBA-40CF-ABA7-68CC9B10196A}"/>
              </a:ext>
            </a:extLst>
          </p:cNvPr>
          <p:cNvSpPr>
            <a:spLocks xmlns:a="http://schemas.openxmlformats.org/drawingml/2006/main" noGrp="1"/>
          </p:cNvSpPr>
          <p:nvPr/>
        </p:nvSpPr>
        <p:spPr>
          <a:xfrm xmlns:a="http://schemas.openxmlformats.org/drawingml/2006/main">
            <a:off x="619125" y="3000375"/>
            <a:ext cx="6572250" cy="809625"/>
          </a:xfrm>
          <a:prstGeom xmlns:a="http://schemas.openxmlformats.org/drawingml/2006/main" prst="rect">
            <a:avLst/>
          </a:prstGeom>
          <a:solidFill xmlns:a="http://schemas.openxmlformats.org/drawingml/2006/main">
            <a:srgbClr val="E9F0F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26F2676-0822-4671-AB7E-46C515DE1AE4}"/>
              </a:ext>
            </a:extLst>
          </p:cNvPr>
          <p:cNvSpPr>
            <a:spLocks xmlns:a="http://schemas.openxmlformats.org/drawingml/2006/main" noGrp="1"/>
          </p:cNvSpPr>
          <p:nvPr/>
        </p:nvSpPr>
        <p:spPr>
          <a:xfrm xmlns:a="http://schemas.openxmlformats.org/drawingml/2006/main">
            <a:off x="857250" y="3171825"/>
            <a:ext cx="609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42D3D"/>
                </a:solidFill>
                <a:latin typeface="Arial"/>
                <a:ea typeface="Arial"/>
                <a:cs typeface="Arial"/>
              </a:defRPr>
            </a:defPPr>
            <a:lvl1pPr>
              <a:defRPr sz="2550" b="1">
                <a:solidFill>
                  <a:srgbClr val="142D3D"/>
                </a:solidFill>
                <a:latin typeface="Arial"/>
                <a:ea typeface="Arial"/>
                <a:cs typeface="Arial"/>
              </a:defRPr>
            </a:lvl1pPr>
            <a:lvl2pPr>
              <a:defRPr sz="2550" b="1">
                <a:solidFill>
                  <a:srgbClr val="142D3D"/>
                </a:solidFill>
                <a:latin typeface="Arial"/>
                <a:ea typeface="Arial"/>
                <a:cs typeface="Arial"/>
              </a:defRPr>
            </a:lvl2pPr>
            <a:lvl3pPr>
              <a:defRPr sz="2550" b="1">
                <a:solidFill>
                  <a:srgbClr val="142D3D"/>
                </a:solidFill>
                <a:latin typeface="Arial"/>
                <a:ea typeface="Arial"/>
                <a:cs typeface="Arial"/>
              </a:defRPr>
            </a:lvl3pPr>
            <a:lvl4pPr>
              <a:defRPr sz="2550" b="1">
                <a:solidFill>
                  <a:srgbClr val="142D3D"/>
                </a:solidFill>
                <a:latin typeface="Arial"/>
                <a:ea typeface="Arial"/>
                <a:cs typeface="Arial"/>
              </a:defRPr>
            </a:lvl4pPr>
            <a:lvl5pPr>
              <a:defRPr sz="2550" b="1">
                <a:solidFill>
                  <a:srgbClr val="142D3D"/>
                </a:solidFill>
                <a:latin typeface="Arial"/>
                <a:ea typeface="Arial"/>
                <a:cs typeface="Arial"/>
              </a:defRPr>
            </a:lvl5pPr>
            <a:lvl6pPr>
              <a:defRPr sz="2550" b="1">
                <a:solidFill>
                  <a:srgbClr val="142D3D"/>
                </a:solidFill>
                <a:latin typeface="Arial"/>
                <a:ea typeface="Arial"/>
                <a:cs typeface="Arial"/>
              </a:defRPr>
            </a:lvl6pPr>
            <a:lvl7pPr>
              <a:defRPr sz="2550" b="1">
                <a:solidFill>
                  <a:srgbClr val="142D3D"/>
                </a:solidFill>
                <a:latin typeface="Arial"/>
                <a:ea typeface="Arial"/>
                <a:cs typeface="Arial"/>
              </a:defRPr>
            </a:lvl7pPr>
            <a:lvl8pPr>
              <a:defRPr sz="2550" b="1">
                <a:solidFill>
                  <a:srgbClr val="142D3D"/>
                </a:solidFill>
                <a:latin typeface="Arial"/>
                <a:ea typeface="Arial"/>
                <a:cs typeface="Arial"/>
              </a:defRPr>
            </a:lvl8pPr>
            <a:lvl9pPr>
              <a:defRPr sz="2550" b="1">
                <a:solidFill>
                  <a:srgbClr val="142D3D"/>
                </a:solidFill>
                <a:latin typeface="Arial"/>
                <a:ea typeface="Arial"/>
                <a:cs typeface="Arial"/>
              </a:defRPr>
            </a:lvl9pPr>
          </a:lstStyle>
          <a:p xmlns:a="http://schemas.openxmlformats.org/drawingml/2006/main">
            <a:pPr>
              <a:defRPr sz="2550" b="1">
                <a:solidFill>
                  <a:srgbClr val="142D3D"/>
                </a:solidFill>
                <a:latin typeface="Arial"/>
                <a:ea typeface="Arial"/>
                <a:cs typeface="Arial"/>
              </a:defRPr>
            </a:pPr>
            <a:r>
              <a:rPr sz="2550" b="1">
                <a:solidFill>
                  <a:srgbClr val="142D3D"/>
                </a:solidFill>
                <a:latin typeface="Arial"/>
                <a:ea typeface="Arial"/>
                <a:cs typeface="Arial"/>
              </a:rPr>
              <a:t>Other source</a:t>
            </a:r>
          </a:p>
        </p:txBody>
      </p:sp>
      <p:sp>
        <p:nvSpPr>
          <p:cNvPr id="10" name="">
            <a:extLst xmlns:a="http://schemas.openxmlformats.org/drawingml/2006/main">
              <a:ext uri="{FF2B5EF4-FFF2-40B4-BE49-F238E27FC236}">
                <a16:creationId xmlns:a16="http://schemas.microsoft.com/office/drawing/2014/main" id="{3794BFDE-C430-45DE-ADAD-CF318F44BD20}"/>
              </a:ext>
            </a:extLst>
          </p:cNvPr>
          <p:cNvSpPr>
            <a:spLocks xmlns:a="http://schemas.openxmlformats.org/drawingml/2006/main" noGrp="1"/>
          </p:cNvSpPr>
          <p:nvPr/>
        </p:nvSpPr>
        <p:spPr>
          <a:xfrm xmlns:a="http://schemas.openxmlformats.org/drawingml/2006/main">
            <a:off x="619125" y="4048125"/>
            <a:ext cx="6572250" cy="809625"/>
          </a:xfrm>
          <a:prstGeom xmlns:a="http://schemas.openxmlformats.org/drawingml/2006/main" prst="rect">
            <a:avLst/>
          </a:prstGeom>
          <a:solidFill xmlns:a="http://schemas.openxmlformats.org/drawingml/2006/main">
            <a:srgbClr val="F5E7E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10A71A2-D4F9-4998-8D57-9DA3C37D452B}"/>
              </a:ext>
            </a:extLst>
          </p:cNvPr>
          <p:cNvSpPr>
            <a:spLocks xmlns:a="http://schemas.openxmlformats.org/drawingml/2006/main" noGrp="1"/>
          </p:cNvSpPr>
          <p:nvPr/>
        </p:nvSpPr>
        <p:spPr>
          <a:xfrm xmlns:a="http://schemas.openxmlformats.org/drawingml/2006/main">
            <a:off x="857250" y="4219575"/>
            <a:ext cx="609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B42146"/>
                </a:solidFill>
                <a:latin typeface="Arial"/>
                <a:ea typeface="Arial"/>
                <a:cs typeface="Arial"/>
              </a:defRPr>
            </a:defPPr>
            <a:lvl1pPr>
              <a:defRPr sz="2550" b="1">
                <a:solidFill>
                  <a:srgbClr val="B42146"/>
                </a:solidFill>
                <a:latin typeface="Arial"/>
                <a:ea typeface="Arial"/>
                <a:cs typeface="Arial"/>
              </a:defRPr>
            </a:lvl1pPr>
            <a:lvl2pPr>
              <a:defRPr sz="2550" b="1">
                <a:solidFill>
                  <a:srgbClr val="B42146"/>
                </a:solidFill>
                <a:latin typeface="Arial"/>
                <a:ea typeface="Arial"/>
                <a:cs typeface="Arial"/>
              </a:defRPr>
            </a:lvl2pPr>
            <a:lvl3pPr>
              <a:defRPr sz="2550" b="1">
                <a:solidFill>
                  <a:srgbClr val="B42146"/>
                </a:solidFill>
                <a:latin typeface="Arial"/>
                <a:ea typeface="Arial"/>
                <a:cs typeface="Arial"/>
              </a:defRPr>
            </a:lvl3pPr>
            <a:lvl4pPr>
              <a:defRPr sz="2550" b="1">
                <a:solidFill>
                  <a:srgbClr val="B42146"/>
                </a:solidFill>
                <a:latin typeface="Arial"/>
                <a:ea typeface="Arial"/>
                <a:cs typeface="Arial"/>
              </a:defRPr>
            </a:lvl4pPr>
            <a:lvl5pPr>
              <a:defRPr sz="2550" b="1">
                <a:solidFill>
                  <a:srgbClr val="B42146"/>
                </a:solidFill>
                <a:latin typeface="Arial"/>
                <a:ea typeface="Arial"/>
                <a:cs typeface="Arial"/>
              </a:defRPr>
            </a:lvl5pPr>
            <a:lvl6pPr>
              <a:defRPr sz="2550" b="1">
                <a:solidFill>
                  <a:srgbClr val="B42146"/>
                </a:solidFill>
                <a:latin typeface="Arial"/>
                <a:ea typeface="Arial"/>
                <a:cs typeface="Arial"/>
              </a:defRPr>
            </a:lvl6pPr>
            <a:lvl7pPr>
              <a:defRPr sz="2550" b="1">
                <a:solidFill>
                  <a:srgbClr val="B42146"/>
                </a:solidFill>
                <a:latin typeface="Arial"/>
                <a:ea typeface="Arial"/>
                <a:cs typeface="Arial"/>
              </a:defRPr>
            </a:lvl7pPr>
            <a:lvl8pPr>
              <a:defRPr sz="2550" b="1">
                <a:solidFill>
                  <a:srgbClr val="B42146"/>
                </a:solidFill>
                <a:latin typeface="Arial"/>
                <a:ea typeface="Arial"/>
                <a:cs typeface="Arial"/>
              </a:defRPr>
            </a:lvl8pPr>
            <a:lvl9pPr>
              <a:defRPr sz="2550" b="1">
                <a:solidFill>
                  <a:srgbClr val="B42146"/>
                </a:solidFill>
                <a:latin typeface="Arial"/>
                <a:ea typeface="Arial"/>
                <a:cs typeface="Arial"/>
              </a:defRPr>
            </a:lvl9pPr>
          </a:lstStyle>
          <a:p xmlns:a="http://schemas.openxmlformats.org/drawingml/2006/main">
            <a:pPr>
              <a:defRPr sz="2550" b="1">
                <a:solidFill>
                  <a:srgbClr val="B42146"/>
                </a:solidFill>
                <a:latin typeface="Arial"/>
                <a:ea typeface="Arial"/>
                <a:cs typeface="Arial"/>
              </a:defRPr>
            </a:pPr>
            <a:r>
              <a:rPr sz="2550" b="1">
                <a:solidFill>
                  <a:srgbClr val="B42146"/>
                </a:solidFill>
                <a:latin typeface="Arial"/>
                <a:ea typeface="Arial"/>
                <a:cs typeface="Arial"/>
              </a:rPr>
              <a:t>Flight Centre</a:t>
            </a:r>
          </a:p>
        </p:txBody>
      </p:sp>
      <p:sp>
        <p:nvSpPr>
          <p:cNvPr id="12" name="">
            <a:extLst xmlns:a="http://schemas.openxmlformats.org/drawingml/2006/main">
              <a:ext uri="{FF2B5EF4-FFF2-40B4-BE49-F238E27FC236}">
                <a16:creationId xmlns:a16="http://schemas.microsoft.com/office/drawing/2014/main" id="{7A042F81-1569-4814-8F4C-60348F7F56D6}"/>
              </a:ext>
            </a:extLst>
          </p:cNvPr>
          <p:cNvSpPr>
            <a:spLocks xmlns:a="http://schemas.openxmlformats.org/drawingml/2006/main" noGrp="1"/>
          </p:cNvSpPr>
          <p:nvPr/>
        </p:nvSpPr>
        <p:spPr>
          <a:xfrm xmlns:a="http://schemas.openxmlformats.org/drawingml/2006/main">
            <a:off x="619125" y="5095875"/>
            <a:ext cx="6572250" cy="809625"/>
          </a:xfrm>
          <a:prstGeom xmlns:a="http://schemas.openxmlformats.org/drawingml/2006/main" prst="rect">
            <a:avLst/>
          </a:prstGeom>
          <a:solidFill xmlns:a="http://schemas.openxmlformats.org/drawingml/2006/main">
            <a:srgbClr val="E9F0F1"/>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E821686-7C32-4BF2-A65A-BA66C6E71952}"/>
              </a:ext>
            </a:extLst>
          </p:cNvPr>
          <p:cNvSpPr>
            <a:spLocks xmlns:a="http://schemas.openxmlformats.org/drawingml/2006/main" noGrp="1"/>
          </p:cNvSpPr>
          <p:nvPr/>
        </p:nvSpPr>
        <p:spPr>
          <a:xfrm xmlns:a="http://schemas.openxmlformats.org/drawingml/2006/main">
            <a:off x="857250" y="5267325"/>
            <a:ext cx="609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42D3D"/>
                </a:solidFill>
                <a:latin typeface="Arial"/>
                <a:ea typeface="Arial"/>
                <a:cs typeface="Arial"/>
              </a:defRPr>
            </a:defPPr>
            <a:lvl1pPr>
              <a:defRPr sz="2550" b="1">
                <a:solidFill>
                  <a:srgbClr val="142D3D"/>
                </a:solidFill>
                <a:latin typeface="Arial"/>
                <a:ea typeface="Arial"/>
                <a:cs typeface="Arial"/>
              </a:defRPr>
            </a:lvl1pPr>
            <a:lvl2pPr>
              <a:defRPr sz="2550" b="1">
                <a:solidFill>
                  <a:srgbClr val="142D3D"/>
                </a:solidFill>
                <a:latin typeface="Arial"/>
                <a:ea typeface="Arial"/>
                <a:cs typeface="Arial"/>
              </a:defRPr>
            </a:lvl2pPr>
            <a:lvl3pPr>
              <a:defRPr sz="2550" b="1">
                <a:solidFill>
                  <a:srgbClr val="142D3D"/>
                </a:solidFill>
                <a:latin typeface="Arial"/>
                <a:ea typeface="Arial"/>
                <a:cs typeface="Arial"/>
              </a:defRPr>
            </a:lvl3pPr>
            <a:lvl4pPr>
              <a:defRPr sz="2550" b="1">
                <a:solidFill>
                  <a:srgbClr val="142D3D"/>
                </a:solidFill>
                <a:latin typeface="Arial"/>
                <a:ea typeface="Arial"/>
                <a:cs typeface="Arial"/>
              </a:defRPr>
            </a:lvl4pPr>
            <a:lvl5pPr>
              <a:defRPr sz="2550" b="1">
                <a:solidFill>
                  <a:srgbClr val="142D3D"/>
                </a:solidFill>
                <a:latin typeface="Arial"/>
                <a:ea typeface="Arial"/>
                <a:cs typeface="Arial"/>
              </a:defRPr>
            </a:lvl5pPr>
            <a:lvl6pPr>
              <a:defRPr sz="2550" b="1">
                <a:solidFill>
                  <a:srgbClr val="142D3D"/>
                </a:solidFill>
                <a:latin typeface="Arial"/>
                <a:ea typeface="Arial"/>
                <a:cs typeface="Arial"/>
              </a:defRPr>
            </a:lvl6pPr>
            <a:lvl7pPr>
              <a:defRPr sz="2550" b="1">
                <a:solidFill>
                  <a:srgbClr val="142D3D"/>
                </a:solidFill>
                <a:latin typeface="Arial"/>
                <a:ea typeface="Arial"/>
                <a:cs typeface="Arial"/>
              </a:defRPr>
            </a:lvl7pPr>
            <a:lvl8pPr>
              <a:defRPr sz="2550" b="1">
                <a:solidFill>
                  <a:srgbClr val="142D3D"/>
                </a:solidFill>
                <a:latin typeface="Arial"/>
                <a:ea typeface="Arial"/>
                <a:cs typeface="Arial"/>
              </a:defRPr>
            </a:lvl8pPr>
            <a:lvl9pPr>
              <a:defRPr sz="2550" b="1">
                <a:solidFill>
                  <a:srgbClr val="142D3D"/>
                </a:solidFill>
                <a:latin typeface="Arial"/>
                <a:ea typeface="Arial"/>
                <a:cs typeface="Arial"/>
              </a:defRPr>
            </a:lvl9pPr>
          </a:lstStyle>
          <a:p xmlns:a="http://schemas.openxmlformats.org/drawingml/2006/main">
            <a:pPr>
              <a:defRPr sz="2550" b="1">
                <a:solidFill>
                  <a:srgbClr val="142D3D"/>
                </a:solidFill>
                <a:latin typeface="Arial"/>
                <a:ea typeface="Arial"/>
                <a:cs typeface="Arial"/>
              </a:defRPr>
            </a:pPr>
            <a:r>
              <a:rPr sz="2550" b="1">
                <a:solidFill>
                  <a:srgbClr val="142D3D"/>
                </a:solidFill>
                <a:latin typeface="Arial"/>
                <a:ea typeface="Arial"/>
                <a:cs typeface="Arial"/>
              </a:rPr>
              <a:t>Other source</a:t>
            </a:r>
          </a:p>
        </p:txBody>
      </p:sp>
      <p:sp>
        <p:nvSpPr>
          <p:cNvPr id="14" name="">
            <a:extLst xmlns:a="http://schemas.openxmlformats.org/drawingml/2006/main">
              <a:ext uri="{FF2B5EF4-FFF2-40B4-BE49-F238E27FC236}">
                <a16:creationId xmlns:a16="http://schemas.microsoft.com/office/drawing/2014/main" id="{4374E0A6-6FB3-43BA-B7B2-9AFFE6025139}"/>
              </a:ext>
            </a:extLst>
          </p:cNvPr>
          <p:cNvSpPr>
            <a:spLocks xmlns:a="http://schemas.openxmlformats.org/drawingml/2006/main" noGrp="1"/>
          </p:cNvSpPr>
          <p:nvPr/>
        </p:nvSpPr>
        <p:spPr>
          <a:xfrm xmlns:a="http://schemas.openxmlformats.org/drawingml/2006/main">
            <a:off x="8048625" y="3000375"/>
            <a:ext cx="6572250" cy="809625"/>
          </a:xfrm>
          <a:prstGeom xmlns:a="http://schemas.openxmlformats.org/drawingml/2006/main" prst="rect">
            <a:avLst/>
          </a:prstGeom>
          <a:solidFill xmlns:a="http://schemas.openxmlformats.org/drawingml/2006/main">
            <a:srgbClr val="F5E7E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BBB8E48-8CCE-446D-BC54-409D67AC0FF4}"/>
              </a:ext>
            </a:extLst>
          </p:cNvPr>
          <p:cNvSpPr>
            <a:spLocks xmlns:a="http://schemas.openxmlformats.org/drawingml/2006/main" noGrp="1"/>
          </p:cNvSpPr>
          <p:nvPr/>
        </p:nvSpPr>
        <p:spPr>
          <a:xfrm xmlns:a="http://schemas.openxmlformats.org/drawingml/2006/main">
            <a:off x="8286750" y="3171825"/>
            <a:ext cx="609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B42146"/>
                </a:solidFill>
                <a:latin typeface="Arial"/>
                <a:ea typeface="Arial"/>
                <a:cs typeface="Arial"/>
              </a:defRPr>
            </a:defPPr>
            <a:lvl1pPr>
              <a:defRPr sz="2550" b="1">
                <a:solidFill>
                  <a:srgbClr val="B42146"/>
                </a:solidFill>
                <a:latin typeface="Arial"/>
                <a:ea typeface="Arial"/>
                <a:cs typeface="Arial"/>
              </a:defRPr>
            </a:lvl1pPr>
            <a:lvl2pPr>
              <a:defRPr sz="2550" b="1">
                <a:solidFill>
                  <a:srgbClr val="B42146"/>
                </a:solidFill>
                <a:latin typeface="Arial"/>
                <a:ea typeface="Arial"/>
                <a:cs typeface="Arial"/>
              </a:defRPr>
            </a:lvl2pPr>
            <a:lvl3pPr>
              <a:defRPr sz="2550" b="1">
                <a:solidFill>
                  <a:srgbClr val="B42146"/>
                </a:solidFill>
                <a:latin typeface="Arial"/>
                <a:ea typeface="Arial"/>
                <a:cs typeface="Arial"/>
              </a:defRPr>
            </a:lvl3pPr>
            <a:lvl4pPr>
              <a:defRPr sz="2550" b="1">
                <a:solidFill>
                  <a:srgbClr val="B42146"/>
                </a:solidFill>
                <a:latin typeface="Arial"/>
                <a:ea typeface="Arial"/>
                <a:cs typeface="Arial"/>
              </a:defRPr>
            </a:lvl4pPr>
            <a:lvl5pPr>
              <a:defRPr sz="2550" b="1">
                <a:solidFill>
                  <a:srgbClr val="B42146"/>
                </a:solidFill>
                <a:latin typeface="Arial"/>
                <a:ea typeface="Arial"/>
                <a:cs typeface="Arial"/>
              </a:defRPr>
            </a:lvl5pPr>
            <a:lvl6pPr>
              <a:defRPr sz="2550" b="1">
                <a:solidFill>
                  <a:srgbClr val="B42146"/>
                </a:solidFill>
                <a:latin typeface="Arial"/>
                <a:ea typeface="Arial"/>
                <a:cs typeface="Arial"/>
              </a:defRPr>
            </a:lvl6pPr>
            <a:lvl7pPr>
              <a:defRPr sz="2550" b="1">
                <a:solidFill>
                  <a:srgbClr val="B42146"/>
                </a:solidFill>
                <a:latin typeface="Arial"/>
                <a:ea typeface="Arial"/>
                <a:cs typeface="Arial"/>
              </a:defRPr>
            </a:lvl7pPr>
            <a:lvl8pPr>
              <a:defRPr sz="2550" b="1">
                <a:solidFill>
                  <a:srgbClr val="B42146"/>
                </a:solidFill>
                <a:latin typeface="Arial"/>
                <a:ea typeface="Arial"/>
                <a:cs typeface="Arial"/>
              </a:defRPr>
            </a:lvl8pPr>
            <a:lvl9pPr>
              <a:defRPr sz="2550" b="1">
                <a:solidFill>
                  <a:srgbClr val="B42146"/>
                </a:solidFill>
                <a:latin typeface="Arial"/>
                <a:ea typeface="Arial"/>
                <a:cs typeface="Arial"/>
              </a:defRPr>
            </a:lvl9pPr>
          </a:lstStyle>
          <a:p xmlns:a="http://schemas.openxmlformats.org/drawingml/2006/main">
            <a:pPr>
              <a:defRPr sz="2550" b="1">
                <a:solidFill>
                  <a:srgbClr val="B42146"/>
                </a:solidFill>
                <a:latin typeface="Arial"/>
                <a:ea typeface="Arial"/>
                <a:cs typeface="Arial"/>
              </a:defRPr>
            </a:pPr>
            <a:r>
              <a:rPr sz="2550" b="1">
                <a:solidFill>
                  <a:srgbClr val="B42146"/>
                </a:solidFill>
                <a:latin typeface="Arial"/>
                <a:ea typeface="Arial"/>
                <a:cs typeface="Arial"/>
              </a:rPr>
              <a:t>Flight Centre</a:t>
            </a:r>
          </a:p>
        </p:txBody>
      </p:sp>
      <p:sp>
        <p:nvSpPr>
          <p:cNvPr id="16" name="">
            <a:extLst xmlns:a="http://schemas.openxmlformats.org/drawingml/2006/main">
              <a:ext uri="{FF2B5EF4-FFF2-40B4-BE49-F238E27FC236}">
                <a16:creationId xmlns:a16="http://schemas.microsoft.com/office/drawing/2014/main" id="{42F8C6C9-3CD7-4518-A2B6-40646A0EF3A9}"/>
              </a:ext>
            </a:extLst>
          </p:cNvPr>
          <p:cNvSpPr>
            <a:spLocks xmlns:a="http://schemas.openxmlformats.org/drawingml/2006/main" noGrp="1"/>
          </p:cNvSpPr>
          <p:nvPr/>
        </p:nvSpPr>
        <p:spPr>
          <a:xfrm xmlns:a="http://schemas.openxmlformats.org/drawingml/2006/main">
            <a:off x="8048625" y="4048125"/>
            <a:ext cx="6572250" cy="809625"/>
          </a:xfrm>
          <a:prstGeom xmlns:a="http://schemas.openxmlformats.org/drawingml/2006/main" prst="rect">
            <a:avLst/>
          </a:prstGeom>
          <a:solidFill xmlns:a="http://schemas.openxmlformats.org/drawingml/2006/main">
            <a:srgbClr val="E9F0F1"/>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9A71D33-D0CF-48ED-9459-8B0743F93351}"/>
              </a:ext>
            </a:extLst>
          </p:cNvPr>
          <p:cNvSpPr>
            <a:spLocks xmlns:a="http://schemas.openxmlformats.org/drawingml/2006/main" noGrp="1"/>
          </p:cNvSpPr>
          <p:nvPr/>
        </p:nvSpPr>
        <p:spPr>
          <a:xfrm xmlns:a="http://schemas.openxmlformats.org/drawingml/2006/main">
            <a:off x="8286750" y="4219575"/>
            <a:ext cx="609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42D3D"/>
                </a:solidFill>
                <a:latin typeface="Arial"/>
                <a:ea typeface="Arial"/>
                <a:cs typeface="Arial"/>
              </a:defRPr>
            </a:defPPr>
            <a:lvl1pPr>
              <a:defRPr sz="2550" b="1">
                <a:solidFill>
                  <a:srgbClr val="142D3D"/>
                </a:solidFill>
                <a:latin typeface="Arial"/>
                <a:ea typeface="Arial"/>
                <a:cs typeface="Arial"/>
              </a:defRPr>
            </a:lvl1pPr>
            <a:lvl2pPr>
              <a:defRPr sz="2550" b="1">
                <a:solidFill>
                  <a:srgbClr val="142D3D"/>
                </a:solidFill>
                <a:latin typeface="Arial"/>
                <a:ea typeface="Arial"/>
                <a:cs typeface="Arial"/>
              </a:defRPr>
            </a:lvl2pPr>
            <a:lvl3pPr>
              <a:defRPr sz="2550" b="1">
                <a:solidFill>
                  <a:srgbClr val="142D3D"/>
                </a:solidFill>
                <a:latin typeface="Arial"/>
                <a:ea typeface="Arial"/>
                <a:cs typeface="Arial"/>
              </a:defRPr>
            </a:lvl3pPr>
            <a:lvl4pPr>
              <a:defRPr sz="2550" b="1">
                <a:solidFill>
                  <a:srgbClr val="142D3D"/>
                </a:solidFill>
                <a:latin typeface="Arial"/>
                <a:ea typeface="Arial"/>
                <a:cs typeface="Arial"/>
              </a:defRPr>
            </a:lvl4pPr>
            <a:lvl5pPr>
              <a:defRPr sz="2550" b="1">
                <a:solidFill>
                  <a:srgbClr val="142D3D"/>
                </a:solidFill>
                <a:latin typeface="Arial"/>
                <a:ea typeface="Arial"/>
                <a:cs typeface="Arial"/>
              </a:defRPr>
            </a:lvl5pPr>
            <a:lvl6pPr>
              <a:defRPr sz="2550" b="1">
                <a:solidFill>
                  <a:srgbClr val="142D3D"/>
                </a:solidFill>
                <a:latin typeface="Arial"/>
                <a:ea typeface="Arial"/>
                <a:cs typeface="Arial"/>
              </a:defRPr>
            </a:lvl6pPr>
            <a:lvl7pPr>
              <a:defRPr sz="2550" b="1">
                <a:solidFill>
                  <a:srgbClr val="142D3D"/>
                </a:solidFill>
                <a:latin typeface="Arial"/>
                <a:ea typeface="Arial"/>
                <a:cs typeface="Arial"/>
              </a:defRPr>
            </a:lvl7pPr>
            <a:lvl8pPr>
              <a:defRPr sz="2550" b="1">
                <a:solidFill>
                  <a:srgbClr val="142D3D"/>
                </a:solidFill>
                <a:latin typeface="Arial"/>
                <a:ea typeface="Arial"/>
                <a:cs typeface="Arial"/>
              </a:defRPr>
            </a:lvl8pPr>
            <a:lvl9pPr>
              <a:defRPr sz="2550" b="1">
                <a:solidFill>
                  <a:srgbClr val="142D3D"/>
                </a:solidFill>
                <a:latin typeface="Arial"/>
                <a:ea typeface="Arial"/>
                <a:cs typeface="Arial"/>
              </a:defRPr>
            </a:lvl9pPr>
          </a:lstStyle>
          <a:p xmlns:a="http://schemas.openxmlformats.org/drawingml/2006/main">
            <a:pPr>
              <a:defRPr sz="2550" b="1">
                <a:solidFill>
                  <a:srgbClr val="142D3D"/>
                </a:solidFill>
                <a:latin typeface="Arial"/>
                <a:ea typeface="Arial"/>
                <a:cs typeface="Arial"/>
              </a:defRPr>
            </a:pPr>
            <a:r>
              <a:rPr sz="2550" b="1">
                <a:solidFill>
                  <a:srgbClr val="142D3D"/>
                </a:solidFill>
                <a:latin typeface="Arial"/>
                <a:ea typeface="Arial"/>
                <a:cs typeface="Arial"/>
              </a:rPr>
              <a:t>Other source</a:t>
            </a:r>
          </a:p>
        </p:txBody>
      </p:sp>
      <p:sp>
        <p:nvSpPr>
          <p:cNvPr id="18" name="">
            <a:extLst xmlns:a="http://schemas.openxmlformats.org/drawingml/2006/main">
              <a:ext uri="{FF2B5EF4-FFF2-40B4-BE49-F238E27FC236}">
                <a16:creationId xmlns:a16="http://schemas.microsoft.com/office/drawing/2014/main" id="{AC89CB3D-0CB5-4881-BA9A-B4F58637285C}"/>
              </a:ext>
            </a:extLst>
          </p:cNvPr>
          <p:cNvSpPr>
            <a:spLocks xmlns:a="http://schemas.openxmlformats.org/drawingml/2006/main" noGrp="1"/>
          </p:cNvSpPr>
          <p:nvPr/>
        </p:nvSpPr>
        <p:spPr>
          <a:xfrm xmlns:a="http://schemas.openxmlformats.org/drawingml/2006/main">
            <a:off x="8048625" y="5095875"/>
            <a:ext cx="6572250" cy="809625"/>
          </a:xfrm>
          <a:prstGeom xmlns:a="http://schemas.openxmlformats.org/drawingml/2006/main" prst="rect">
            <a:avLst/>
          </a:prstGeom>
          <a:solidFill xmlns:a="http://schemas.openxmlformats.org/drawingml/2006/main">
            <a:srgbClr val="E9F0F1"/>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7DFED64-BEE7-4FCB-85A5-FFE3BB1D0F25}"/>
              </a:ext>
            </a:extLst>
          </p:cNvPr>
          <p:cNvSpPr>
            <a:spLocks xmlns:a="http://schemas.openxmlformats.org/drawingml/2006/main" noGrp="1"/>
          </p:cNvSpPr>
          <p:nvPr/>
        </p:nvSpPr>
        <p:spPr>
          <a:xfrm xmlns:a="http://schemas.openxmlformats.org/drawingml/2006/main">
            <a:off x="8286750" y="5267325"/>
            <a:ext cx="609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550" b="1">
                <a:solidFill>
                  <a:srgbClr val="142D3D"/>
                </a:solidFill>
                <a:latin typeface="Arial"/>
                <a:ea typeface="Arial"/>
                <a:cs typeface="Arial"/>
              </a:defRPr>
            </a:defPPr>
            <a:lvl1pPr>
              <a:defRPr sz="2550" b="1">
                <a:solidFill>
                  <a:srgbClr val="142D3D"/>
                </a:solidFill>
                <a:latin typeface="Arial"/>
                <a:ea typeface="Arial"/>
                <a:cs typeface="Arial"/>
              </a:defRPr>
            </a:lvl1pPr>
            <a:lvl2pPr>
              <a:defRPr sz="2550" b="1">
                <a:solidFill>
                  <a:srgbClr val="142D3D"/>
                </a:solidFill>
                <a:latin typeface="Arial"/>
                <a:ea typeface="Arial"/>
                <a:cs typeface="Arial"/>
              </a:defRPr>
            </a:lvl2pPr>
            <a:lvl3pPr>
              <a:defRPr sz="2550" b="1">
                <a:solidFill>
                  <a:srgbClr val="142D3D"/>
                </a:solidFill>
                <a:latin typeface="Arial"/>
                <a:ea typeface="Arial"/>
                <a:cs typeface="Arial"/>
              </a:defRPr>
            </a:lvl3pPr>
            <a:lvl4pPr>
              <a:defRPr sz="2550" b="1">
                <a:solidFill>
                  <a:srgbClr val="142D3D"/>
                </a:solidFill>
                <a:latin typeface="Arial"/>
                <a:ea typeface="Arial"/>
                <a:cs typeface="Arial"/>
              </a:defRPr>
            </a:lvl4pPr>
            <a:lvl5pPr>
              <a:defRPr sz="2550" b="1">
                <a:solidFill>
                  <a:srgbClr val="142D3D"/>
                </a:solidFill>
                <a:latin typeface="Arial"/>
                <a:ea typeface="Arial"/>
                <a:cs typeface="Arial"/>
              </a:defRPr>
            </a:lvl5pPr>
            <a:lvl6pPr>
              <a:defRPr sz="2550" b="1">
                <a:solidFill>
                  <a:srgbClr val="142D3D"/>
                </a:solidFill>
                <a:latin typeface="Arial"/>
                <a:ea typeface="Arial"/>
                <a:cs typeface="Arial"/>
              </a:defRPr>
            </a:lvl6pPr>
            <a:lvl7pPr>
              <a:defRPr sz="2550" b="1">
                <a:solidFill>
                  <a:srgbClr val="142D3D"/>
                </a:solidFill>
                <a:latin typeface="Arial"/>
                <a:ea typeface="Arial"/>
                <a:cs typeface="Arial"/>
              </a:defRPr>
            </a:lvl7pPr>
            <a:lvl8pPr>
              <a:defRPr sz="2550" b="1">
                <a:solidFill>
                  <a:srgbClr val="142D3D"/>
                </a:solidFill>
                <a:latin typeface="Arial"/>
                <a:ea typeface="Arial"/>
                <a:cs typeface="Arial"/>
              </a:defRPr>
            </a:lvl8pPr>
            <a:lvl9pPr>
              <a:defRPr sz="2550" b="1">
                <a:solidFill>
                  <a:srgbClr val="142D3D"/>
                </a:solidFill>
                <a:latin typeface="Arial"/>
                <a:ea typeface="Arial"/>
                <a:cs typeface="Arial"/>
              </a:defRPr>
            </a:lvl9pPr>
          </a:lstStyle>
          <a:p xmlns:a="http://schemas.openxmlformats.org/drawingml/2006/main">
            <a:pPr>
              <a:defRPr sz="2550" b="1">
                <a:solidFill>
                  <a:srgbClr val="142D3D"/>
                </a:solidFill>
                <a:latin typeface="Arial"/>
                <a:ea typeface="Arial"/>
                <a:cs typeface="Arial"/>
              </a:defRPr>
            </a:pPr>
            <a:r>
              <a:rPr sz="2550" b="1">
                <a:solidFill>
                  <a:srgbClr val="142D3D"/>
                </a:solidFill>
                <a:latin typeface="Arial"/>
                <a:ea typeface="Arial"/>
                <a:cs typeface="Arial"/>
              </a:rPr>
              <a:t>Other source</a:t>
            </a:r>
          </a:p>
        </p:txBody>
      </p:sp>
      <p:sp>
        <p:nvSpPr>
          <p:cNvPr id="20" name="">
            <a:extLst xmlns:a="http://schemas.openxmlformats.org/drawingml/2006/main">
              <a:ext uri="{FF2B5EF4-FFF2-40B4-BE49-F238E27FC236}">
                <a16:creationId xmlns:a16="http://schemas.microsoft.com/office/drawing/2014/main" id="{572F4023-9BA8-438D-BC45-EDF46360AB0C}"/>
              </a:ext>
            </a:extLst>
          </p:cNvPr>
          <p:cNvSpPr>
            <a:spLocks xmlns:a="http://schemas.openxmlformats.org/drawingml/2006/main" noGrp="1"/>
          </p:cNvSpPr>
          <p:nvPr/>
        </p:nvSpPr>
        <p:spPr>
          <a:xfrm xmlns:a="http://schemas.openxmlformats.org/drawingml/2006/main">
            <a:off x="619125" y="6629400"/>
            <a:ext cx="1400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700" b="1">
                <a:solidFill>
                  <a:srgbClr val="087D82"/>
                </a:solidFill>
                <a:latin typeface="Arial"/>
                <a:ea typeface="Arial"/>
                <a:cs typeface="Arial"/>
              </a:defRPr>
            </a:defPPr>
            <a:lvl1pPr>
              <a:defRPr sz="2700" b="1">
                <a:solidFill>
                  <a:srgbClr val="087D82"/>
                </a:solidFill>
                <a:latin typeface="Arial"/>
                <a:ea typeface="Arial"/>
                <a:cs typeface="Arial"/>
              </a:defRPr>
            </a:lvl1pPr>
            <a:lvl2pPr>
              <a:defRPr sz="2700" b="1">
                <a:solidFill>
                  <a:srgbClr val="087D82"/>
                </a:solidFill>
                <a:latin typeface="Arial"/>
                <a:ea typeface="Arial"/>
                <a:cs typeface="Arial"/>
              </a:defRPr>
            </a:lvl2pPr>
            <a:lvl3pPr>
              <a:defRPr sz="2700" b="1">
                <a:solidFill>
                  <a:srgbClr val="087D82"/>
                </a:solidFill>
                <a:latin typeface="Arial"/>
                <a:ea typeface="Arial"/>
                <a:cs typeface="Arial"/>
              </a:defRPr>
            </a:lvl3pPr>
            <a:lvl4pPr>
              <a:defRPr sz="2700" b="1">
                <a:solidFill>
                  <a:srgbClr val="087D82"/>
                </a:solidFill>
                <a:latin typeface="Arial"/>
                <a:ea typeface="Arial"/>
                <a:cs typeface="Arial"/>
              </a:defRPr>
            </a:lvl4pPr>
            <a:lvl5pPr>
              <a:defRPr sz="2700" b="1">
                <a:solidFill>
                  <a:srgbClr val="087D82"/>
                </a:solidFill>
                <a:latin typeface="Arial"/>
                <a:ea typeface="Arial"/>
                <a:cs typeface="Arial"/>
              </a:defRPr>
            </a:lvl5pPr>
            <a:lvl6pPr>
              <a:defRPr sz="2700" b="1">
                <a:solidFill>
                  <a:srgbClr val="087D82"/>
                </a:solidFill>
                <a:latin typeface="Arial"/>
                <a:ea typeface="Arial"/>
                <a:cs typeface="Arial"/>
              </a:defRPr>
            </a:lvl6pPr>
            <a:lvl7pPr>
              <a:defRPr sz="2700" b="1">
                <a:solidFill>
                  <a:srgbClr val="087D82"/>
                </a:solidFill>
                <a:latin typeface="Arial"/>
                <a:ea typeface="Arial"/>
                <a:cs typeface="Arial"/>
              </a:defRPr>
            </a:lvl7pPr>
            <a:lvl8pPr>
              <a:defRPr sz="2700" b="1">
                <a:solidFill>
                  <a:srgbClr val="087D82"/>
                </a:solidFill>
                <a:latin typeface="Arial"/>
                <a:ea typeface="Arial"/>
                <a:cs typeface="Arial"/>
              </a:defRPr>
            </a:lvl8pPr>
            <a:lvl9pPr>
              <a:defRPr sz="2700" b="1">
                <a:solidFill>
                  <a:srgbClr val="087D82"/>
                </a:solidFill>
                <a:latin typeface="Arial"/>
                <a:ea typeface="Arial"/>
                <a:cs typeface="Arial"/>
              </a:defRPr>
            </a:lvl9pPr>
          </a:lstStyle>
          <a:p xmlns:a="http://schemas.openxmlformats.org/drawingml/2006/main">
            <a:pPr>
              <a:defRPr sz="2700" b="1">
                <a:solidFill>
                  <a:srgbClr val="087D82"/>
                </a:solidFill>
                <a:latin typeface="Arial"/>
                <a:ea typeface="Arial"/>
                <a:cs typeface="Arial"/>
              </a:defRPr>
            </a:pPr>
            <a:r>
              <a:rPr sz="2700" b="1">
                <a:solidFill>
                  <a:srgbClr val="087D82"/>
                </a:solidFill>
                <a:latin typeface="Arial"/>
                <a:ea typeface="Arial"/>
                <a:cs typeface="Arial"/>
              </a:rPr>
              <a:t>Moving FC earlier increased citations in this separate test.</a:t>
            </a:r>
          </a:p>
        </p:txBody>
      </p:sp>
    </p:spTree>
    <p:extLst>
      <p:ext uri="{BB962C8B-B14F-4D97-AF65-F5344CB8AC3E}">
        <p14:creationId xmlns:p14="http://schemas.microsoft.com/office/powerpoint/2010/main" val="1614875191"/>
      </p:ext>
    </p:extLst>
  </p:cSld>
</p:sld>
</file>

<file path=ppt/slides/slide1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F19E5E9-38F5-4D24-9E9B-9358BEE5D120}"/>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04161AC6-D59C-41B6-B15B-22A2EDC9F62B}"/>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What this means for Flight Centre</a:t>
            </a:r>
          </a:p>
        </p:txBody>
      </p:sp>
      <p:sp>
        <p:nvSpPr>
          <p:cNvPr id="3" name="">
            <a:extLst xmlns:a="http://schemas.openxmlformats.org/drawingml/2006/main">
              <a:ext uri="{FF2B5EF4-FFF2-40B4-BE49-F238E27FC236}">
                <a16:creationId xmlns:a16="http://schemas.microsoft.com/office/drawing/2014/main" id="{C38A2BE0-4FB8-445F-81A0-C60346FEBDA4}"/>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B5F76ED-E90F-4529-867E-832B828DC15B}"/>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Clearer content can help once the AI has access to it.</a:t>
            </a:r>
          </a:p>
        </p:txBody>
      </p:sp>
      <p:sp>
        <p:nvSpPr>
          <p:cNvPr id="5" name="">
            <a:extLst xmlns:a="http://schemas.openxmlformats.org/drawingml/2006/main">
              <a:ext uri="{FF2B5EF4-FFF2-40B4-BE49-F238E27FC236}">
                <a16:creationId xmlns:a16="http://schemas.microsoft.com/office/drawing/2014/main" id="{9DE135F6-4961-4E2C-B250-103A62D9D9A6}"/>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15 / 18   •   Sources and detail in speaker notes</a:t>
            </a:r>
          </a:p>
        </p:txBody>
      </p:sp>
      <p:sp>
        <p:nvSpPr>
          <p:cNvPr id="6" name="">
            <a:extLst xmlns:a="http://schemas.openxmlformats.org/drawingml/2006/main">
              <a:ext uri="{FF2B5EF4-FFF2-40B4-BE49-F238E27FC236}">
                <a16:creationId xmlns:a16="http://schemas.microsoft.com/office/drawing/2014/main" id="{BE89094C-5F0E-4A93-B95A-0C7F0191C2AD}"/>
              </a:ext>
            </a:extLst>
          </p:cNvPr>
          <p:cNvSpPr>
            <a:spLocks xmlns:a="http://schemas.openxmlformats.org/drawingml/2006/main" noGrp="1"/>
          </p:cNvSpPr>
          <p:nvPr/>
        </p:nvSpPr>
        <p:spPr>
          <a:xfrm xmlns:a="http://schemas.openxmlformats.org/drawingml/2006/main">
            <a:off x="619125" y="25717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27DE04D4-C899-436A-86EC-A96C86D76DD1}"/>
              </a:ext>
            </a:extLst>
          </p:cNvPr>
          <p:cNvSpPr>
            <a:spLocks xmlns:a="http://schemas.openxmlformats.org/drawingml/2006/main" noGrp="1"/>
          </p:cNvSpPr>
          <p:nvPr/>
        </p:nvSpPr>
        <p:spPr>
          <a:xfrm xmlns:a="http://schemas.openxmlformats.org/drawingml/2006/main">
            <a:off x="1600200" y="257175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Delivered</a:t>
            </a:r>
          </a:p>
        </p:txBody>
      </p:sp>
      <p:sp>
        <p:nvSpPr>
          <p:cNvPr id="8" name="">
            <a:extLst xmlns:a="http://schemas.openxmlformats.org/drawingml/2006/main">
              <a:ext uri="{FF2B5EF4-FFF2-40B4-BE49-F238E27FC236}">
                <a16:creationId xmlns:a16="http://schemas.microsoft.com/office/drawing/2014/main" id="{D955EB75-44A5-44F1-BDC6-D6C72820961F}"/>
              </a:ext>
            </a:extLst>
          </p:cNvPr>
          <p:cNvSpPr>
            <a:spLocks xmlns:a="http://schemas.openxmlformats.org/drawingml/2006/main" noGrp="1"/>
          </p:cNvSpPr>
          <p:nvPr/>
        </p:nvSpPr>
        <p:spPr>
          <a:xfrm xmlns:a="http://schemas.openxmlformats.org/drawingml/2006/main">
            <a:off x="5381625" y="2571750"/>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A working page-improvement prototype</a:t>
            </a:r>
          </a:p>
        </p:txBody>
      </p:sp>
      <p:sp>
        <p:nvSpPr>
          <p:cNvPr id="9" name="">
            <a:extLst xmlns:a="http://schemas.openxmlformats.org/drawingml/2006/main">
              <a:ext uri="{FF2B5EF4-FFF2-40B4-BE49-F238E27FC236}">
                <a16:creationId xmlns:a16="http://schemas.microsoft.com/office/drawing/2014/main" id="{13EC98FC-FFF3-4535-BA2F-5446875B1C10}"/>
              </a:ext>
            </a:extLst>
          </p:cNvPr>
          <p:cNvSpPr>
            <a:spLocks xmlns:a="http://schemas.openxmlformats.org/drawingml/2006/main" noGrp="1"/>
          </p:cNvSpPr>
          <p:nvPr/>
        </p:nvSpPr>
        <p:spPr>
          <a:xfrm xmlns:a="http://schemas.openxmlformats.org/drawingml/2006/main">
            <a:off x="619125" y="4048125"/>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CC3E0036-FC40-4C56-B504-E6C8917CE766}"/>
              </a:ext>
            </a:extLst>
          </p:cNvPr>
          <p:cNvSpPr>
            <a:spLocks xmlns:a="http://schemas.openxmlformats.org/drawingml/2006/main" noGrp="1"/>
          </p:cNvSpPr>
          <p:nvPr/>
        </p:nvSpPr>
        <p:spPr>
          <a:xfrm xmlns:a="http://schemas.openxmlformats.org/drawingml/2006/main">
            <a:off x="1600200" y="4048125"/>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Observed</a:t>
            </a:r>
          </a:p>
        </p:txBody>
      </p:sp>
      <p:sp>
        <p:nvSpPr>
          <p:cNvPr id="11" name="">
            <a:extLst xmlns:a="http://schemas.openxmlformats.org/drawingml/2006/main">
              <a:ext uri="{FF2B5EF4-FFF2-40B4-BE49-F238E27FC236}">
                <a16:creationId xmlns:a16="http://schemas.microsoft.com/office/drawing/2014/main" id="{09D1FDFF-3467-4DAC-9914-6976F62D1713}"/>
              </a:ext>
            </a:extLst>
          </p:cNvPr>
          <p:cNvSpPr>
            <a:spLocks xmlns:a="http://schemas.openxmlformats.org/drawingml/2006/main" noGrp="1"/>
          </p:cNvSpPr>
          <p:nvPr/>
        </p:nvSpPr>
        <p:spPr>
          <a:xfrm xmlns:a="http://schemas.openxmlformats.org/drawingml/2006/main">
            <a:off x="5381625" y="4048125"/>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More source references in this comparison</a:t>
            </a:r>
          </a:p>
        </p:txBody>
      </p:sp>
      <p:sp>
        <p:nvSpPr>
          <p:cNvPr id="12" name="">
            <a:extLst xmlns:a="http://schemas.openxmlformats.org/drawingml/2006/main">
              <a:ext uri="{FF2B5EF4-FFF2-40B4-BE49-F238E27FC236}">
                <a16:creationId xmlns:a16="http://schemas.microsoft.com/office/drawing/2014/main" id="{4603FFF3-A0BF-45C2-AF0B-1E1C6E66282C}"/>
              </a:ext>
            </a:extLst>
          </p:cNvPr>
          <p:cNvSpPr>
            <a:spLocks xmlns:a="http://schemas.openxmlformats.org/drawingml/2006/main" noGrp="1"/>
          </p:cNvSpPr>
          <p:nvPr/>
        </p:nvSpPr>
        <p:spPr>
          <a:xfrm xmlns:a="http://schemas.openxmlformats.org/drawingml/2006/main">
            <a:off x="619125" y="55245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B23215E-9710-4B7F-96CE-E282629AE0BC}"/>
              </a:ext>
            </a:extLst>
          </p:cNvPr>
          <p:cNvSpPr>
            <a:spLocks xmlns:a="http://schemas.openxmlformats.org/drawingml/2006/main" noGrp="1"/>
          </p:cNvSpPr>
          <p:nvPr/>
        </p:nvSpPr>
        <p:spPr>
          <a:xfrm xmlns:a="http://schemas.openxmlformats.org/drawingml/2006/main">
            <a:off x="1600200" y="552450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Not established</a:t>
            </a:r>
          </a:p>
        </p:txBody>
      </p:sp>
      <p:sp>
        <p:nvSpPr>
          <p:cNvPr id="14" name="">
            <a:extLst xmlns:a="http://schemas.openxmlformats.org/drawingml/2006/main">
              <a:ext uri="{FF2B5EF4-FFF2-40B4-BE49-F238E27FC236}">
                <a16:creationId xmlns:a16="http://schemas.microsoft.com/office/drawing/2014/main" id="{0EEBE7DF-4E39-4678-9AB4-3B94F3F7AE29}"/>
              </a:ext>
            </a:extLst>
          </p:cNvPr>
          <p:cNvSpPr>
            <a:spLocks xmlns:a="http://schemas.openxmlformats.org/drawingml/2006/main" noGrp="1"/>
          </p:cNvSpPr>
          <p:nvPr/>
        </p:nvSpPr>
        <p:spPr>
          <a:xfrm xmlns:a="http://schemas.openxmlformats.org/drawingml/2006/main">
            <a:off x="5381625" y="5524500"/>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More booking recommendations or sales</a:t>
            </a:r>
          </a:p>
        </p:txBody>
      </p:sp>
    </p:spTree>
    <p:extLst>
      <p:ext uri="{BB962C8B-B14F-4D97-AF65-F5344CB8AC3E}">
        <p14:creationId xmlns:p14="http://schemas.microsoft.com/office/powerpoint/2010/main" val="1531505277"/>
      </p:ext>
    </p:extLst>
  </p:cSld>
</p:sld>
</file>

<file path=ppt/slides/slide1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8A0C575-F941-433E-8616-C6291E188813}"/>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8ADB6373-B41B-43B3-AFF6-EA75AF7E6DCA}"/>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What this experiment cannot prove</a:t>
            </a:r>
          </a:p>
        </p:txBody>
      </p:sp>
      <p:sp>
        <p:nvSpPr>
          <p:cNvPr id="3" name="">
            <a:extLst xmlns:a="http://schemas.openxmlformats.org/drawingml/2006/main">
              <a:ext uri="{FF2B5EF4-FFF2-40B4-BE49-F238E27FC236}">
                <a16:creationId xmlns:a16="http://schemas.microsoft.com/office/drawing/2014/main" id="{28BA6E5A-50AE-4AF6-B9A0-CE3DCFD33546}"/>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101F48D-7EF6-4702-924D-23EB4E565E1D}"/>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We report the positive result together with its limits.</a:t>
            </a:r>
          </a:p>
        </p:txBody>
      </p:sp>
      <p:sp>
        <p:nvSpPr>
          <p:cNvPr id="5" name="">
            <a:extLst xmlns:a="http://schemas.openxmlformats.org/drawingml/2006/main">
              <a:ext uri="{FF2B5EF4-FFF2-40B4-BE49-F238E27FC236}">
                <a16:creationId xmlns:a16="http://schemas.microsoft.com/office/drawing/2014/main" id="{9E25D83D-A23D-4685-A99C-ED2843E640EB}"/>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16 / 18   •   Sources and detail in speaker notes</a:t>
            </a:r>
          </a:p>
        </p:txBody>
      </p:sp>
      <p:sp>
        <p:nvSpPr>
          <p:cNvPr id="6" name="">
            <a:extLst xmlns:a="http://schemas.openxmlformats.org/drawingml/2006/main">
              <a:ext uri="{FF2B5EF4-FFF2-40B4-BE49-F238E27FC236}">
                <a16:creationId xmlns:a16="http://schemas.microsoft.com/office/drawing/2014/main" id="{76DD2F8C-A9BB-4AFA-BF19-0BA61D5435F3}"/>
              </a:ext>
            </a:extLst>
          </p:cNvPr>
          <p:cNvSpPr>
            <a:spLocks xmlns:a="http://schemas.openxmlformats.org/drawingml/2006/main" noGrp="1"/>
          </p:cNvSpPr>
          <p:nvPr/>
        </p:nvSpPr>
        <p:spPr>
          <a:xfrm xmlns:a="http://schemas.openxmlformats.org/drawingml/2006/main">
            <a:off x="619125" y="25717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F43D26F9-EACA-49D4-AD5E-26A6507DF737}"/>
              </a:ext>
            </a:extLst>
          </p:cNvPr>
          <p:cNvSpPr>
            <a:spLocks xmlns:a="http://schemas.openxmlformats.org/drawingml/2006/main" noGrp="1"/>
          </p:cNvSpPr>
          <p:nvPr/>
        </p:nvSpPr>
        <p:spPr>
          <a:xfrm xmlns:a="http://schemas.openxmlformats.org/drawingml/2006/main">
            <a:off x="1600200" y="257175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Availability</a:t>
            </a:r>
          </a:p>
        </p:txBody>
      </p:sp>
      <p:sp>
        <p:nvSpPr>
          <p:cNvPr id="8" name="">
            <a:extLst xmlns:a="http://schemas.openxmlformats.org/drawingml/2006/main">
              <a:ext uri="{FF2B5EF4-FFF2-40B4-BE49-F238E27FC236}">
                <a16:creationId xmlns:a16="http://schemas.microsoft.com/office/drawing/2014/main" id="{DD598699-4359-443E-BBDC-434F768FDD1E}"/>
              </a:ext>
            </a:extLst>
          </p:cNvPr>
          <p:cNvSpPr>
            <a:spLocks xmlns:a="http://schemas.openxmlformats.org/drawingml/2006/main" noGrp="1"/>
          </p:cNvSpPr>
          <p:nvPr/>
        </p:nvSpPr>
        <p:spPr>
          <a:xfrm xmlns:a="http://schemas.openxmlformats.org/drawingml/2006/main">
            <a:off x="5381625" y="2571750"/>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The main test already supplied FC sources</a:t>
            </a:r>
          </a:p>
        </p:txBody>
      </p:sp>
      <p:sp>
        <p:nvSpPr>
          <p:cNvPr id="9" name="">
            <a:extLst xmlns:a="http://schemas.openxmlformats.org/drawingml/2006/main">
              <a:ext uri="{FF2B5EF4-FFF2-40B4-BE49-F238E27FC236}">
                <a16:creationId xmlns:a16="http://schemas.microsoft.com/office/drawing/2014/main" id="{25A1A478-2CE6-4148-B2FB-B5E3B46B627E}"/>
              </a:ext>
            </a:extLst>
          </p:cNvPr>
          <p:cNvSpPr>
            <a:spLocks xmlns:a="http://schemas.openxmlformats.org/drawingml/2006/main" noGrp="1"/>
          </p:cNvSpPr>
          <p:nvPr/>
        </p:nvSpPr>
        <p:spPr>
          <a:xfrm xmlns:a="http://schemas.openxmlformats.org/drawingml/2006/main">
            <a:off x="619125" y="4048125"/>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C02EABF9-89F4-46CC-BD3A-AA78B6D8422F}"/>
              </a:ext>
            </a:extLst>
          </p:cNvPr>
          <p:cNvSpPr>
            <a:spLocks xmlns:a="http://schemas.openxmlformats.org/drawingml/2006/main" noGrp="1"/>
          </p:cNvSpPr>
          <p:nvPr/>
        </p:nvSpPr>
        <p:spPr>
          <a:xfrm xmlns:a="http://schemas.openxmlformats.org/drawingml/2006/main">
            <a:off x="1600200" y="4048125"/>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Comparability</a:t>
            </a:r>
          </a:p>
        </p:txBody>
      </p:sp>
      <p:sp>
        <p:nvSpPr>
          <p:cNvPr id="11" name="">
            <a:extLst xmlns:a="http://schemas.openxmlformats.org/drawingml/2006/main">
              <a:ext uri="{FF2B5EF4-FFF2-40B4-BE49-F238E27FC236}">
                <a16:creationId xmlns:a16="http://schemas.microsoft.com/office/drawing/2014/main" id="{9733BAF8-B90F-419E-92E4-E965DC902C5E}"/>
              </a:ext>
            </a:extLst>
          </p:cNvPr>
          <p:cNvSpPr>
            <a:spLocks xmlns:a="http://schemas.openxmlformats.org/drawingml/2006/main" noGrp="1"/>
          </p:cNvSpPr>
          <p:nvPr/>
        </p:nvSpPr>
        <p:spPr>
          <a:xfrm xmlns:a="http://schemas.openxmlformats.org/drawingml/2006/main">
            <a:off x="5381625" y="4048125"/>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Earlier answers and different capture contexts</a:t>
            </a:r>
          </a:p>
        </p:txBody>
      </p:sp>
      <p:sp>
        <p:nvSpPr>
          <p:cNvPr id="12" name="">
            <a:extLst xmlns:a="http://schemas.openxmlformats.org/drawingml/2006/main">
              <a:ext uri="{FF2B5EF4-FFF2-40B4-BE49-F238E27FC236}">
                <a16:creationId xmlns:a16="http://schemas.microsoft.com/office/drawing/2014/main" id="{3FDD3CB1-42DE-48E7-A552-0177D10A9609}"/>
              </a:ext>
            </a:extLst>
          </p:cNvPr>
          <p:cNvSpPr>
            <a:spLocks xmlns:a="http://schemas.openxmlformats.org/drawingml/2006/main" noGrp="1"/>
          </p:cNvSpPr>
          <p:nvPr/>
        </p:nvSpPr>
        <p:spPr>
          <a:xfrm xmlns:a="http://schemas.openxmlformats.org/drawingml/2006/main">
            <a:off x="619125" y="55245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8CB77394-BE05-467C-A7B8-409C6497266E}"/>
              </a:ext>
            </a:extLst>
          </p:cNvPr>
          <p:cNvSpPr>
            <a:spLocks xmlns:a="http://schemas.openxmlformats.org/drawingml/2006/main" noGrp="1"/>
          </p:cNvSpPr>
          <p:nvPr/>
        </p:nvSpPr>
        <p:spPr>
          <a:xfrm xmlns:a="http://schemas.openxmlformats.org/drawingml/2006/main">
            <a:off x="1600200" y="552450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Outcome</a:t>
            </a:r>
          </a:p>
        </p:txBody>
      </p:sp>
      <p:sp>
        <p:nvSpPr>
          <p:cNvPr id="14" name="">
            <a:extLst xmlns:a="http://schemas.openxmlformats.org/drawingml/2006/main">
              <a:ext uri="{FF2B5EF4-FFF2-40B4-BE49-F238E27FC236}">
                <a16:creationId xmlns:a16="http://schemas.microsoft.com/office/drawing/2014/main" id="{0CDC2729-6AB4-42AB-9664-AB9BB03EE66E}"/>
              </a:ext>
            </a:extLst>
          </p:cNvPr>
          <p:cNvSpPr>
            <a:spLocks xmlns:a="http://schemas.openxmlformats.org/drawingml/2006/main" noGrp="1"/>
          </p:cNvSpPr>
          <p:nvPr/>
        </p:nvSpPr>
        <p:spPr>
          <a:xfrm xmlns:a="http://schemas.openxmlformats.org/drawingml/2006/main">
            <a:off x="5381625" y="5524500"/>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References do not prove recommendations or bookings</a:t>
            </a:r>
          </a:p>
        </p:txBody>
      </p:sp>
    </p:spTree>
    <p:extLst>
      <p:ext uri="{BB962C8B-B14F-4D97-AF65-F5344CB8AC3E}">
        <p14:creationId xmlns:p14="http://schemas.microsoft.com/office/powerpoint/2010/main" val="1873768779"/>
      </p:ext>
    </p:extLst>
  </p:cSld>
</p:sld>
</file>

<file path=ppt/slides/slide17.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8E18FDE-991C-4539-B9D9-EF8E13B611DC}"/>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026A32FC-F8D3-415B-8ABD-42646C3A04BE}"/>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What we are handing over</a:t>
            </a:r>
          </a:p>
        </p:txBody>
      </p:sp>
      <p:sp>
        <p:nvSpPr>
          <p:cNvPr id="3" name="">
            <a:extLst xmlns:a="http://schemas.openxmlformats.org/drawingml/2006/main">
              <a:ext uri="{FF2B5EF4-FFF2-40B4-BE49-F238E27FC236}">
                <a16:creationId xmlns:a16="http://schemas.microsoft.com/office/drawing/2014/main" id="{4BC1DFA2-F8EA-48AC-960A-48D9BF5053BD}"/>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633BE9C-7399-443A-83D5-5A8924177A3C}"/>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The public repository and the evidence package serve different purposes.</a:t>
            </a:r>
          </a:p>
        </p:txBody>
      </p:sp>
      <p:sp>
        <p:nvSpPr>
          <p:cNvPr id="5" name="">
            <a:extLst xmlns:a="http://schemas.openxmlformats.org/drawingml/2006/main">
              <a:ext uri="{FF2B5EF4-FFF2-40B4-BE49-F238E27FC236}">
                <a16:creationId xmlns:a16="http://schemas.microsoft.com/office/drawing/2014/main" id="{EA7DF837-212C-4706-8525-D2146A2A9774}"/>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17 / 18   •   Sources and detail in speaker notes</a:t>
            </a:r>
          </a:p>
        </p:txBody>
      </p:sp>
      <p:sp>
        <p:nvSpPr>
          <p:cNvPr id="6" name="">
            <a:extLst xmlns:a="http://schemas.openxmlformats.org/drawingml/2006/main">
              <a:ext uri="{FF2B5EF4-FFF2-40B4-BE49-F238E27FC236}">
                <a16:creationId xmlns:a16="http://schemas.microsoft.com/office/drawing/2014/main" id="{9453B49E-1A6F-4AC2-8E41-F1B637D8D17C}"/>
              </a:ext>
            </a:extLst>
          </p:cNvPr>
          <p:cNvSpPr>
            <a:spLocks xmlns:a="http://schemas.openxmlformats.org/drawingml/2006/main" noGrp="1"/>
          </p:cNvSpPr>
          <p:nvPr/>
        </p:nvSpPr>
        <p:spPr>
          <a:xfrm xmlns:a="http://schemas.openxmlformats.org/drawingml/2006/main">
            <a:off x="619125" y="25717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57930F1D-7F8A-4639-AF71-3BCD7ED5E08D}"/>
              </a:ext>
            </a:extLst>
          </p:cNvPr>
          <p:cNvSpPr>
            <a:spLocks xmlns:a="http://schemas.openxmlformats.org/drawingml/2006/main" noGrp="1"/>
          </p:cNvSpPr>
          <p:nvPr/>
        </p:nvSpPr>
        <p:spPr>
          <a:xfrm xmlns:a="http://schemas.openxmlformats.org/drawingml/2006/main">
            <a:off x="1600200" y="257175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Explain</a:t>
            </a:r>
          </a:p>
        </p:txBody>
      </p:sp>
      <p:sp>
        <p:nvSpPr>
          <p:cNvPr id="8" name="">
            <a:extLst xmlns:a="http://schemas.openxmlformats.org/drawingml/2006/main">
              <a:ext uri="{FF2B5EF4-FFF2-40B4-BE49-F238E27FC236}">
                <a16:creationId xmlns:a16="http://schemas.microsoft.com/office/drawing/2014/main" id="{935B94B5-3793-4655-96C3-59DC36CDDEFF}"/>
              </a:ext>
            </a:extLst>
          </p:cNvPr>
          <p:cNvSpPr>
            <a:spLocks xmlns:a="http://schemas.openxmlformats.org/drawingml/2006/main" noGrp="1"/>
          </p:cNvSpPr>
          <p:nvPr/>
        </p:nvSpPr>
        <p:spPr>
          <a:xfrm xmlns:a="http://schemas.openxmlformats.org/drawingml/2006/main">
            <a:off x="5381625" y="2571750"/>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Presentation, scripts and technical report</a:t>
            </a:r>
          </a:p>
        </p:txBody>
      </p:sp>
      <p:sp>
        <p:nvSpPr>
          <p:cNvPr id="9" name="">
            <a:extLst xmlns:a="http://schemas.openxmlformats.org/drawingml/2006/main">
              <a:ext uri="{FF2B5EF4-FFF2-40B4-BE49-F238E27FC236}">
                <a16:creationId xmlns:a16="http://schemas.microsoft.com/office/drawing/2014/main" id="{264929B6-ACCA-49BB-B33D-6BD087E38D94}"/>
              </a:ext>
            </a:extLst>
          </p:cNvPr>
          <p:cNvSpPr>
            <a:spLocks xmlns:a="http://schemas.openxmlformats.org/drawingml/2006/main" noGrp="1"/>
          </p:cNvSpPr>
          <p:nvPr/>
        </p:nvSpPr>
        <p:spPr>
          <a:xfrm xmlns:a="http://schemas.openxmlformats.org/drawingml/2006/main">
            <a:off x="619125" y="4048125"/>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FD9C2B0F-8325-4FE5-94E1-B4A0D7317AF4}"/>
              </a:ext>
            </a:extLst>
          </p:cNvPr>
          <p:cNvSpPr>
            <a:spLocks xmlns:a="http://schemas.openxmlformats.org/drawingml/2006/main" noGrp="1"/>
          </p:cNvSpPr>
          <p:nvPr/>
        </p:nvSpPr>
        <p:spPr>
          <a:xfrm xmlns:a="http://schemas.openxmlformats.org/drawingml/2006/main">
            <a:off x="1600200" y="4048125"/>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Implement</a:t>
            </a:r>
          </a:p>
        </p:txBody>
      </p:sp>
      <p:sp>
        <p:nvSpPr>
          <p:cNvPr id="11" name="">
            <a:extLst xmlns:a="http://schemas.openxmlformats.org/drawingml/2006/main">
              <a:ext uri="{FF2B5EF4-FFF2-40B4-BE49-F238E27FC236}">
                <a16:creationId xmlns:a16="http://schemas.microsoft.com/office/drawing/2014/main" id="{83C056C3-FCEB-4B12-AA16-D856F196EBEB}"/>
              </a:ext>
            </a:extLst>
          </p:cNvPr>
          <p:cNvSpPr>
            <a:spLocks xmlns:a="http://schemas.openxmlformats.org/drawingml/2006/main" noGrp="1"/>
          </p:cNvSpPr>
          <p:nvPr/>
        </p:nvSpPr>
        <p:spPr>
          <a:xfrm xmlns:a="http://schemas.openxmlformats.org/drawingml/2006/main">
            <a:off x="5381625" y="4048125"/>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Page-processing and evaluation code</a:t>
            </a:r>
          </a:p>
        </p:txBody>
      </p:sp>
      <p:sp>
        <p:nvSpPr>
          <p:cNvPr id="12" name="">
            <a:extLst xmlns:a="http://schemas.openxmlformats.org/drawingml/2006/main">
              <a:ext uri="{FF2B5EF4-FFF2-40B4-BE49-F238E27FC236}">
                <a16:creationId xmlns:a16="http://schemas.microsoft.com/office/drawing/2014/main" id="{00DF200A-4896-415C-9323-AA8F5D4117BF}"/>
              </a:ext>
            </a:extLst>
          </p:cNvPr>
          <p:cNvSpPr>
            <a:spLocks xmlns:a="http://schemas.openxmlformats.org/drawingml/2006/main" noGrp="1"/>
          </p:cNvSpPr>
          <p:nvPr/>
        </p:nvSpPr>
        <p:spPr>
          <a:xfrm xmlns:a="http://schemas.openxmlformats.org/drawingml/2006/main">
            <a:off x="619125" y="55245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0328A3D-E69A-430C-BF2B-ED312D8C1D96}"/>
              </a:ext>
            </a:extLst>
          </p:cNvPr>
          <p:cNvSpPr>
            <a:spLocks xmlns:a="http://schemas.openxmlformats.org/drawingml/2006/main" noGrp="1"/>
          </p:cNvSpPr>
          <p:nvPr/>
        </p:nvSpPr>
        <p:spPr>
          <a:xfrm xmlns:a="http://schemas.openxmlformats.org/drawingml/2006/main">
            <a:off x="1600200" y="552450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Verify</a:t>
            </a:r>
          </a:p>
        </p:txBody>
      </p:sp>
      <p:sp>
        <p:nvSpPr>
          <p:cNvPr id="14" name="">
            <a:extLst xmlns:a="http://schemas.openxmlformats.org/drawingml/2006/main">
              <a:ext uri="{FF2B5EF4-FFF2-40B4-BE49-F238E27FC236}">
                <a16:creationId xmlns:a16="http://schemas.microsoft.com/office/drawing/2014/main" id="{B27F7B35-42E5-4942-91A8-431947EC68FC}"/>
              </a:ext>
            </a:extLst>
          </p:cNvPr>
          <p:cNvSpPr>
            <a:spLocks xmlns:a="http://schemas.openxmlformats.org/drawingml/2006/main" noGrp="1"/>
          </p:cNvSpPr>
          <p:nvPr/>
        </p:nvSpPr>
        <p:spPr>
          <a:xfrm xmlns:a="http://schemas.openxmlformats.org/drawingml/2006/main">
            <a:off x="5381625" y="5524500"/>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Saved outputs, answers and reproduction guide</a:t>
            </a:r>
          </a:p>
        </p:txBody>
      </p:sp>
    </p:spTree>
    <p:extLst>
      <p:ext uri="{BB962C8B-B14F-4D97-AF65-F5344CB8AC3E}">
        <p14:creationId xmlns:p14="http://schemas.microsoft.com/office/powerpoint/2010/main" val="457928210"/>
      </p:ext>
    </p:extLst>
  </p:cSld>
</p:sld>
</file>

<file path=ppt/slides/slide18.xml><?xml version="1.0" encoding="utf-8"?>
<p:sld xmlns:p="http://schemas.openxmlformats.org/presentationml/2006/main">
  <p:cSld>
    <p:bg>
      <p:bgPr>
        <a:solidFill xmlns:a="http://schemas.openxmlformats.org/drawingml/2006/main">
          <a:srgbClr val="142D3D"/>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CC57CB2-E732-43CC-893F-4C47BF1C77AB}"/>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83D5D2"/>
                </a:solidFill>
                <a:latin typeface="Arial"/>
                <a:ea typeface="Arial"/>
                <a:cs typeface="Arial"/>
              </a:defRPr>
            </a:defPPr>
            <a:lvl1pPr>
              <a:defRPr sz="1425" b="1">
                <a:solidFill>
                  <a:srgbClr val="83D5D2"/>
                </a:solidFill>
                <a:latin typeface="Arial"/>
                <a:ea typeface="Arial"/>
                <a:cs typeface="Arial"/>
              </a:defRPr>
            </a:lvl1pPr>
            <a:lvl2pPr>
              <a:defRPr sz="1425" b="1">
                <a:solidFill>
                  <a:srgbClr val="83D5D2"/>
                </a:solidFill>
                <a:latin typeface="Arial"/>
                <a:ea typeface="Arial"/>
                <a:cs typeface="Arial"/>
              </a:defRPr>
            </a:lvl2pPr>
            <a:lvl3pPr>
              <a:defRPr sz="1425" b="1">
                <a:solidFill>
                  <a:srgbClr val="83D5D2"/>
                </a:solidFill>
                <a:latin typeface="Arial"/>
                <a:ea typeface="Arial"/>
                <a:cs typeface="Arial"/>
              </a:defRPr>
            </a:lvl3pPr>
            <a:lvl4pPr>
              <a:defRPr sz="1425" b="1">
                <a:solidFill>
                  <a:srgbClr val="83D5D2"/>
                </a:solidFill>
                <a:latin typeface="Arial"/>
                <a:ea typeface="Arial"/>
                <a:cs typeface="Arial"/>
              </a:defRPr>
            </a:lvl4pPr>
            <a:lvl5pPr>
              <a:defRPr sz="1425" b="1">
                <a:solidFill>
                  <a:srgbClr val="83D5D2"/>
                </a:solidFill>
                <a:latin typeface="Arial"/>
                <a:ea typeface="Arial"/>
                <a:cs typeface="Arial"/>
              </a:defRPr>
            </a:lvl5pPr>
            <a:lvl6pPr>
              <a:defRPr sz="1425" b="1">
                <a:solidFill>
                  <a:srgbClr val="83D5D2"/>
                </a:solidFill>
                <a:latin typeface="Arial"/>
                <a:ea typeface="Arial"/>
                <a:cs typeface="Arial"/>
              </a:defRPr>
            </a:lvl6pPr>
            <a:lvl7pPr>
              <a:defRPr sz="1425" b="1">
                <a:solidFill>
                  <a:srgbClr val="83D5D2"/>
                </a:solidFill>
                <a:latin typeface="Arial"/>
                <a:ea typeface="Arial"/>
                <a:cs typeface="Arial"/>
              </a:defRPr>
            </a:lvl7pPr>
            <a:lvl8pPr>
              <a:defRPr sz="1425" b="1">
                <a:solidFill>
                  <a:srgbClr val="83D5D2"/>
                </a:solidFill>
                <a:latin typeface="Arial"/>
                <a:ea typeface="Arial"/>
                <a:cs typeface="Arial"/>
              </a:defRPr>
            </a:lvl8pPr>
            <a:lvl9pPr>
              <a:defRPr sz="1425" b="1">
                <a:solidFill>
                  <a:srgbClr val="83D5D2"/>
                </a:solidFill>
                <a:latin typeface="Arial"/>
                <a:ea typeface="Arial"/>
                <a:cs typeface="Arial"/>
              </a:defRPr>
            </a:lvl9pPr>
          </a:lstStyle>
          <a:p xmlns:a="http://schemas.openxmlformats.org/drawingml/2006/main">
            <a:pPr>
              <a:defRPr sz="1425" b="1">
                <a:solidFill>
                  <a:srgbClr val="83D5D2"/>
                </a:solidFill>
                <a:latin typeface="Arial"/>
                <a:ea typeface="Arial"/>
                <a:cs typeface="Arial"/>
              </a:defRPr>
            </a:pPr>
            <a:r>
              <a:rPr sz="1425" b="1">
                <a:solidFill>
                  <a:srgbClr val="83D5D2"/>
                </a:solidFill>
                <a:latin typeface="Arial"/>
                <a:ea typeface="Arial"/>
                <a:cs typeface="Arial"/>
              </a:rPr>
              <a:t>FLIGHT CENTRE • SEMESTER 2 PROJECT</a:t>
            </a:r>
          </a:p>
        </p:txBody>
      </p:sp>
      <p:sp>
        <p:nvSpPr>
          <p:cNvPr id="2" name="">
            <a:extLst xmlns:a="http://schemas.openxmlformats.org/drawingml/2006/main">
              <a:ext uri="{FF2B5EF4-FFF2-40B4-BE49-F238E27FC236}">
                <a16:creationId xmlns:a16="http://schemas.microsoft.com/office/drawing/2014/main" id="{CA0B1DDF-2145-4779-8706-529A62476596}"/>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FFFFFF"/>
                </a:solidFill>
                <a:latin typeface="Arial"/>
                <a:ea typeface="Arial"/>
                <a:cs typeface="Arial"/>
              </a:defRPr>
            </a:defPPr>
            <a:lvl1pPr>
              <a:defRPr sz="3675" b="1">
                <a:solidFill>
                  <a:srgbClr val="FFFFFF"/>
                </a:solidFill>
                <a:latin typeface="Arial"/>
                <a:ea typeface="Arial"/>
                <a:cs typeface="Arial"/>
              </a:defRPr>
            </a:lvl1pPr>
            <a:lvl2pPr>
              <a:defRPr sz="3675" b="1">
                <a:solidFill>
                  <a:srgbClr val="FFFFFF"/>
                </a:solidFill>
                <a:latin typeface="Arial"/>
                <a:ea typeface="Arial"/>
                <a:cs typeface="Arial"/>
              </a:defRPr>
            </a:lvl2pPr>
            <a:lvl3pPr>
              <a:defRPr sz="3675" b="1">
                <a:solidFill>
                  <a:srgbClr val="FFFFFF"/>
                </a:solidFill>
                <a:latin typeface="Arial"/>
                <a:ea typeface="Arial"/>
                <a:cs typeface="Arial"/>
              </a:defRPr>
            </a:lvl3pPr>
            <a:lvl4pPr>
              <a:defRPr sz="3675" b="1">
                <a:solidFill>
                  <a:srgbClr val="FFFFFF"/>
                </a:solidFill>
                <a:latin typeface="Arial"/>
                <a:ea typeface="Arial"/>
                <a:cs typeface="Arial"/>
              </a:defRPr>
            </a:lvl4pPr>
            <a:lvl5pPr>
              <a:defRPr sz="3675" b="1">
                <a:solidFill>
                  <a:srgbClr val="FFFFFF"/>
                </a:solidFill>
                <a:latin typeface="Arial"/>
                <a:ea typeface="Arial"/>
                <a:cs typeface="Arial"/>
              </a:defRPr>
            </a:lvl5pPr>
            <a:lvl6pPr>
              <a:defRPr sz="3675" b="1">
                <a:solidFill>
                  <a:srgbClr val="FFFFFF"/>
                </a:solidFill>
                <a:latin typeface="Arial"/>
                <a:ea typeface="Arial"/>
                <a:cs typeface="Arial"/>
              </a:defRPr>
            </a:lvl6pPr>
            <a:lvl7pPr>
              <a:defRPr sz="3675" b="1">
                <a:solidFill>
                  <a:srgbClr val="FFFFFF"/>
                </a:solidFill>
                <a:latin typeface="Arial"/>
                <a:ea typeface="Arial"/>
                <a:cs typeface="Arial"/>
              </a:defRPr>
            </a:lvl7pPr>
            <a:lvl8pPr>
              <a:defRPr sz="3675" b="1">
                <a:solidFill>
                  <a:srgbClr val="FFFFFF"/>
                </a:solidFill>
                <a:latin typeface="Arial"/>
                <a:ea typeface="Arial"/>
                <a:cs typeface="Arial"/>
              </a:defRPr>
            </a:lvl8pPr>
            <a:lvl9pPr>
              <a:defRPr sz="3675" b="1">
                <a:solidFill>
                  <a:srgbClr val="FFFFFF"/>
                </a:solidFill>
                <a:latin typeface="Arial"/>
                <a:ea typeface="Arial"/>
                <a:cs typeface="Arial"/>
              </a:defRPr>
            </a:lvl9pPr>
          </a:lstStyle>
          <a:p xmlns:a="http://schemas.openxmlformats.org/drawingml/2006/main">
            <a:pPr>
              <a:defRPr sz="3675" b="1">
                <a:solidFill>
                  <a:srgbClr val="FFFFFF"/>
                </a:solidFill>
                <a:latin typeface="Arial"/>
                <a:ea typeface="Arial"/>
                <a:cs typeface="Arial"/>
              </a:defRPr>
            </a:pPr>
            <a:r>
              <a:rPr sz="3675" b="1">
                <a:solidFill>
                  <a:srgbClr val="FFFFFF"/>
                </a:solidFill>
                <a:latin typeface="Arial"/>
                <a:ea typeface="Arial"/>
                <a:cs typeface="Arial"/>
              </a:rPr>
              <a:t>Our conclusion</a:t>
            </a:r>
          </a:p>
        </p:txBody>
      </p:sp>
      <p:sp>
        <p:nvSpPr>
          <p:cNvPr id="3" name="">
            <a:extLst xmlns:a="http://schemas.openxmlformats.org/drawingml/2006/main">
              <a:ext uri="{FF2B5EF4-FFF2-40B4-BE49-F238E27FC236}">
                <a16:creationId xmlns:a16="http://schemas.microsoft.com/office/drawing/2014/main" id="{3F62CA30-986B-4E0E-829C-74D581655D01}"/>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83D5D2"/>
                </a:solidFill>
                <a:latin typeface="Arial"/>
                <a:ea typeface="Arial"/>
                <a:cs typeface="Arial"/>
              </a:defRPr>
            </a:defPPr>
            <a:lvl1pPr>
              <a:defRPr sz="2100" b="1">
                <a:solidFill>
                  <a:srgbClr val="83D5D2"/>
                </a:solidFill>
                <a:latin typeface="Arial"/>
                <a:ea typeface="Arial"/>
                <a:cs typeface="Arial"/>
              </a:defRPr>
            </a:lvl1pPr>
            <a:lvl2pPr>
              <a:defRPr sz="2100" b="1">
                <a:solidFill>
                  <a:srgbClr val="83D5D2"/>
                </a:solidFill>
                <a:latin typeface="Arial"/>
                <a:ea typeface="Arial"/>
                <a:cs typeface="Arial"/>
              </a:defRPr>
            </a:lvl2pPr>
            <a:lvl3pPr>
              <a:defRPr sz="2100" b="1">
                <a:solidFill>
                  <a:srgbClr val="83D5D2"/>
                </a:solidFill>
                <a:latin typeface="Arial"/>
                <a:ea typeface="Arial"/>
                <a:cs typeface="Arial"/>
              </a:defRPr>
            </a:lvl3pPr>
            <a:lvl4pPr>
              <a:defRPr sz="2100" b="1">
                <a:solidFill>
                  <a:srgbClr val="83D5D2"/>
                </a:solidFill>
                <a:latin typeface="Arial"/>
                <a:ea typeface="Arial"/>
                <a:cs typeface="Arial"/>
              </a:defRPr>
            </a:lvl4pPr>
            <a:lvl5pPr>
              <a:defRPr sz="2100" b="1">
                <a:solidFill>
                  <a:srgbClr val="83D5D2"/>
                </a:solidFill>
                <a:latin typeface="Arial"/>
                <a:ea typeface="Arial"/>
                <a:cs typeface="Arial"/>
              </a:defRPr>
            </a:lvl5pPr>
            <a:lvl6pPr>
              <a:defRPr sz="2100" b="1">
                <a:solidFill>
                  <a:srgbClr val="83D5D2"/>
                </a:solidFill>
                <a:latin typeface="Arial"/>
                <a:ea typeface="Arial"/>
                <a:cs typeface="Arial"/>
              </a:defRPr>
            </a:lvl6pPr>
            <a:lvl7pPr>
              <a:defRPr sz="2100" b="1">
                <a:solidFill>
                  <a:srgbClr val="83D5D2"/>
                </a:solidFill>
                <a:latin typeface="Arial"/>
                <a:ea typeface="Arial"/>
                <a:cs typeface="Arial"/>
              </a:defRPr>
            </a:lvl7pPr>
            <a:lvl8pPr>
              <a:defRPr sz="2100" b="1">
                <a:solidFill>
                  <a:srgbClr val="83D5D2"/>
                </a:solidFill>
                <a:latin typeface="Arial"/>
                <a:ea typeface="Arial"/>
                <a:cs typeface="Arial"/>
              </a:defRPr>
            </a:lvl8pPr>
            <a:lvl9pPr>
              <a:defRPr sz="2100" b="1">
                <a:solidFill>
                  <a:srgbClr val="83D5D2"/>
                </a:solidFill>
                <a:latin typeface="Arial"/>
                <a:ea typeface="Arial"/>
                <a:cs typeface="Arial"/>
              </a:defRPr>
            </a:lvl9pPr>
          </a:lstStyle>
          <a:p xmlns:a="http://schemas.openxmlformats.org/drawingml/2006/main">
            <a:pPr>
              <a:defRPr sz="2100" b="1">
                <a:solidFill>
                  <a:srgbClr val="83D5D2"/>
                </a:solidFill>
                <a:latin typeface="Arial"/>
                <a:ea typeface="Arial"/>
                <a:cs typeface="Arial"/>
              </a:defRPr>
            </a:pPr>
            <a:r>
              <a:rPr sz="2100" b="1">
                <a:solidFill>
                  <a:srgbClr val="83D5D2"/>
                </a:solidFill>
                <a:latin typeface="Arial"/>
                <a:ea typeface="Arial"/>
                <a:cs typeface="Arial"/>
              </a:rPr>
              <a:t>A working prototype, an observed improvement, and evidence others can inspect.</a:t>
            </a:r>
          </a:p>
        </p:txBody>
      </p:sp>
      <p:sp>
        <p:nvSpPr>
          <p:cNvPr id="4" name="">
            <a:extLst xmlns:a="http://schemas.openxmlformats.org/drawingml/2006/main">
              <a:ext uri="{FF2B5EF4-FFF2-40B4-BE49-F238E27FC236}">
                <a16:creationId xmlns:a16="http://schemas.microsoft.com/office/drawing/2014/main" id="{1D5F23C1-F46A-4412-B9A3-5E39B2F048B2}"/>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B6C7CF"/>
                </a:solidFill>
                <a:latin typeface="Arial"/>
                <a:ea typeface="Arial"/>
                <a:cs typeface="Arial"/>
              </a:defRPr>
            </a:defPPr>
            <a:lvl1pPr>
              <a:defRPr sz="1200" b="0">
                <a:solidFill>
                  <a:srgbClr val="B6C7CF"/>
                </a:solidFill>
                <a:latin typeface="Arial"/>
                <a:ea typeface="Arial"/>
                <a:cs typeface="Arial"/>
              </a:defRPr>
            </a:lvl1pPr>
            <a:lvl2pPr>
              <a:defRPr sz="1200" b="0">
                <a:solidFill>
                  <a:srgbClr val="B6C7CF"/>
                </a:solidFill>
                <a:latin typeface="Arial"/>
                <a:ea typeface="Arial"/>
                <a:cs typeface="Arial"/>
              </a:defRPr>
            </a:lvl2pPr>
            <a:lvl3pPr>
              <a:defRPr sz="1200" b="0">
                <a:solidFill>
                  <a:srgbClr val="B6C7CF"/>
                </a:solidFill>
                <a:latin typeface="Arial"/>
                <a:ea typeface="Arial"/>
                <a:cs typeface="Arial"/>
              </a:defRPr>
            </a:lvl3pPr>
            <a:lvl4pPr>
              <a:defRPr sz="1200" b="0">
                <a:solidFill>
                  <a:srgbClr val="B6C7CF"/>
                </a:solidFill>
                <a:latin typeface="Arial"/>
                <a:ea typeface="Arial"/>
                <a:cs typeface="Arial"/>
              </a:defRPr>
            </a:lvl4pPr>
            <a:lvl5pPr>
              <a:defRPr sz="1200" b="0">
                <a:solidFill>
                  <a:srgbClr val="B6C7CF"/>
                </a:solidFill>
                <a:latin typeface="Arial"/>
                <a:ea typeface="Arial"/>
                <a:cs typeface="Arial"/>
              </a:defRPr>
            </a:lvl5pPr>
            <a:lvl6pPr>
              <a:defRPr sz="1200" b="0">
                <a:solidFill>
                  <a:srgbClr val="B6C7CF"/>
                </a:solidFill>
                <a:latin typeface="Arial"/>
                <a:ea typeface="Arial"/>
                <a:cs typeface="Arial"/>
              </a:defRPr>
            </a:lvl6pPr>
            <a:lvl7pPr>
              <a:defRPr sz="1200" b="0">
                <a:solidFill>
                  <a:srgbClr val="B6C7CF"/>
                </a:solidFill>
                <a:latin typeface="Arial"/>
                <a:ea typeface="Arial"/>
                <a:cs typeface="Arial"/>
              </a:defRPr>
            </a:lvl7pPr>
            <a:lvl8pPr>
              <a:defRPr sz="1200" b="0">
                <a:solidFill>
                  <a:srgbClr val="B6C7CF"/>
                </a:solidFill>
                <a:latin typeface="Arial"/>
                <a:ea typeface="Arial"/>
                <a:cs typeface="Arial"/>
              </a:defRPr>
            </a:lvl8pPr>
            <a:lvl9pPr>
              <a:defRPr sz="1200" b="0">
                <a:solidFill>
                  <a:srgbClr val="B6C7CF"/>
                </a:solidFill>
                <a:latin typeface="Arial"/>
                <a:ea typeface="Arial"/>
                <a:cs typeface="Arial"/>
              </a:defRPr>
            </a:lvl9pPr>
          </a:lstStyle>
          <a:p xmlns:a="http://schemas.openxmlformats.org/drawingml/2006/main">
            <a:pPr>
              <a:defRPr sz="1200" b="0">
                <a:solidFill>
                  <a:srgbClr val="B6C7CF"/>
                </a:solidFill>
                <a:latin typeface="Arial"/>
                <a:ea typeface="Arial"/>
                <a:cs typeface="Arial"/>
              </a:defRPr>
            </a:pPr>
            <a:r>
              <a:rPr sz="1200" b="0">
                <a:solidFill>
                  <a:srgbClr val="B6C7CF"/>
                </a:solidFill>
                <a:latin typeface="Arial"/>
                <a:ea typeface="Arial"/>
                <a:cs typeface="Arial"/>
              </a:rPr>
              <a:t>18 / 18   •   Sources and detail in speaker notes</a:t>
            </a:r>
          </a:p>
        </p:txBody>
      </p:sp>
      <p:sp>
        <p:nvSpPr>
          <p:cNvPr id="5" name="">
            <a:extLst xmlns:a="http://schemas.openxmlformats.org/drawingml/2006/main">
              <a:ext uri="{FF2B5EF4-FFF2-40B4-BE49-F238E27FC236}">
                <a16:creationId xmlns:a16="http://schemas.microsoft.com/office/drawing/2014/main" id="{44C3ABAF-2E31-4B7D-AF12-AB3FD8C549D9}"/>
              </a:ext>
            </a:extLst>
          </p:cNvPr>
          <p:cNvSpPr>
            <a:spLocks xmlns:a="http://schemas.openxmlformats.org/drawingml/2006/main" noGrp="1"/>
          </p:cNvSpPr>
          <p:nvPr/>
        </p:nvSpPr>
        <p:spPr>
          <a:xfrm xmlns:a="http://schemas.openxmlformats.org/drawingml/2006/main">
            <a:off x="619125" y="2381250"/>
            <a:ext cx="13335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500" b="1">
                <a:solidFill>
                  <a:srgbClr val="FFFFFF"/>
                </a:solidFill>
                <a:latin typeface="Arial"/>
                <a:ea typeface="Arial"/>
                <a:cs typeface="Arial"/>
              </a:defRPr>
            </a:defPPr>
            <a:lvl1pPr>
              <a:defRPr sz="4500" b="1">
                <a:solidFill>
                  <a:srgbClr val="FFFFFF"/>
                </a:solidFill>
                <a:latin typeface="Arial"/>
                <a:ea typeface="Arial"/>
                <a:cs typeface="Arial"/>
              </a:defRPr>
            </a:lvl1pPr>
            <a:lvl2pPr>
              <a:defRPr sz="4500" b="1">
                <a:solidFill>
                  <a:srgbClr val="FFFFFF"/>
                </a:solidFill>
                <a:latin typeface="Arial"/>
                <a:ea typeface="Arial"/>
                <a:cs typeface="Arial"/>
              </a:defRPr>
            </a:lvl2pPr>
            <a:lvl3pPr>
              <a:defRPr sz="4500" b="1">
                <a:solidFill>
                  <a:srgbClr val="FFFFFF"/>
                </a:solidFill>
                <a:latin typeface="Arial"/>
                <a:ea typeface="Arial"/>
                <a:cs typeface="Arial"/>
              </a:defRPr>
            </a:lvl3pPr>
            <a:lvl4pPr>
              <a:defRPr sz="4500" b="1">
                <a:solidFill>
                  <a:srgbClr val="FFFFFF"/>
                </a:solidFill>
                <a:latin typeface="Arial"/>
                <a:ea typeface="Arial"/>
                <a:cs typeface="Arial"/>
              </a:defRPr>
            </a:lvl4pPr>
            <a:lvl5pPr>
              <a:defRPr sz="4500" b="1">
                <a:solidFill>
                  <a:srgbClr val="FFFFFF"/>
                </a:solidFill>
                <a:latin typeface="Arial"/>
                <a:ea typeface="Arial"/>
                <a:cs typeface="Arial"/>
              </a:defRPr>
            </a:lvl5pPr>
            <a:lvl6pPr>
              <a:defRPr sz="4500" b="1">
                <a:solidFill>
                  <a:srgbClr val="FFFFFF"/>
                </a:solidFill>
                <a:latin typeface="Arial"/>
                <a:ea typeface="Arial"/>
                <a:cs typeface="Arial"/>
              </a:defRPr>
            </a:lvl6pPr>
            <a:lvl7pPr>
              <a:defRPr sz="4500" b="1">
                <a:solidFill>
                  <a:srgbClr val="FFFFFF"/>
                </a:solidFill>
                <a:latin typeface="Arial"/>
                <a:ea typeface="Arial"/>
                <a:cs typeface="Arial"/>
              </a:defRPr>
            </a:lvl7pPr>
            <a:lvl8pPr>
              <a:defRPr sz="4500" b="1">
                <a:solidFill>
                  <a:srgbClr val="FFFFFF"/>
                </a:solidFill>
                <a:latin typeface="Arial"/>
                <a:ea typeface="Arial"/>
                <a:cs typeface="Arial"/>
              </a:defRPr>
            </a:lvl8pPr>
            <a:lvl9pPr>
              <a:defRPr sz="4500" b="1">
                <a:solidFill>
                  <a:srgbClr val="FFFFFF"/>
                </a:solidFill>
                <a:latin typeface="Arial"/>
                <a:ea typeface="Arial"/>
                <a:cs typeface="Arial"/>
              </a:defRPr>
            </a:lvl9pPr>
          </a:lstStyle>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Clearer pages were cited more often</a:t>
            </a:r>
          </a:p>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in our saved comparisons.</a:t>
            </a:r>
          </a:p>
        </p:txBody>
      </p:sp>
      <p:sp>
        <p:nvSpPr>
          <p:cNvPr id="6" name="">
            <a:extLst xmlns:a="http://schemas.openxmlformats.org/drawingml/2006/main">
              <a:ext uri="{FF2B5EF4-FFF2-40B4-BE49-F238E27FC236}">
                <a16:creationId xmlns:a16="http://schemas.microsoft.com/office/drawing/2014/main" id="{EADEB571-9BF9-4A1C-9641-18CC89F4AD30}"/>
              </a:ext>
            </a:extLst>
          </p:cNvPr>
          <p:cNvSpPr>
            <a:spLocks xmlns:a="http://schemas.openxmlformats.org/drawingml/2006/main" noGrp="1"/>
          </p:cNvSpPr>
          <p:nvPr/>
        </p:nvSpPr>
        <p:spPr>
          <a:xfrm xmlns:a="http://schemas.openxmlformats.org/drawingml/2006/main">
            <a:off x="619125" y="5286375"/>
            <a:ext cx="13335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83D5D2"/>
                </a:solidFill>
                <a:latin typeface="Arial"/>
                <a:ea typeface="Arial"/>
                <a:cs typeface="Arial"/>
              </a:defRPr>
            </a:defPPr>
            <a:lvl1pPr>
              <a:defRPr sz="2850" b="1">
                <a:solidFill>
                  <a:srgbClr val="83D5D2"/>
                </a:solidFill>
                <a:latin typeface="Arial"/>
                <a:ea typeface="Arial"/>
                <a:cs typeface="Arial"/>
              </a:defRPr>
            </a:lvl1pPr>
            <a:lvl2pPr>
              <a:defRPr sz="2850" b="1">
                <a:solidFill>
                  <a:srgbClr val="83D5D2"/>
                </a:solidFill>
                <a:latin typeface="Arial"/>
                <a:ea typeface="Arial"/>
                <a:cs typeface="Arial"/>
              </a:defRPr>
            </a:lvl2pPr>
            <a:lvl3pPr>
              <a:defRPr sz="2850" b="1">
                <a:solidFill>
                  <a:srgbClr val="83D5D2"/>
                </a:solidFill>
                <a:latin typeface="Arial"/>
                <a:ea typeface="Arial"/>
                <a:cs typeface="Arial"/>
              </a:defRPr>
            </a:lvl3pPr>
            <a:lvl4pPr>
              <a:defRPr sz="2850" b="1">
                <a:solidFill>
                  <a:srgbClr val="83D5D2"/>
                </a:solidFill>
                <a:latin typeface="Arial"/>
                <a:ea typeface="Arial"/>
                <a:cs typeface="Arial"/>
              </a:defRPr>
            </a:lvl4pPr>
            <a:lvl5pPr>
              <a:defRPr sz="2850" b="1">
                <a:solidFill>
                  <a:srgbClr val="83D5D2"/>
                </a:solidFill>
                <a:latin typeface="Arial"/>
                <a:ea typeface="Arial"/>
                <a:cs typeface="Arial"/>
              </a:defRPr>
            </a:lvl5pPr>
            <a:lvl6pPr>
              <a:defRPr sz="2850" b="1">
                <a:solidFill>
                  <a:srgbClr val="83D5D2"/>
                </a:solidFill>
                <a:latin typeface="Arial"/>
                <a:ea typeface="Arial"/>
                <a:cs typeface="Arial"/>
              </a:defRPr>
            </a:lvl6pPr>
            <a:lvl7pPr>
              <a:defRPr sz="2850" b="1">
                <a:solidFill>
                  <a:srgbClr val="83D5D2"/>
                </a:solidFill>
                <a:latin typeface="Arial"/>
                <a:ea typeface="Arial"/>
                <a:cs typeface="Arial"/>
              </a:defRPr>
            </a:lvl7pPr>
            <a:lvl8pPr>
              <a:defRPr sz="2850" b="1">
                <a:solidFill>
                  <a:srgbClr val="83D5D2"/>
                </a:solidFill>
                <a:latin typeface="Arial"/>
                <a:ea typeface="Arial"/>
                <a:cs typeface="Arial"/>
              </a:defRPr>
            </a:lvl8pPr>
            <a:lvl9pPr>
              <a:defRPr sz="2850" b="1">
                <a:solidFill>
                  <a:srgbClr val="83D5D2"/>
                </a:solidFill>
                <a:latin typeface="Arial"/>
                <a:ea typeface="Arial"/>
                <a:cs typeface="Arial"/>
              </a:defRPr>
            </a:lvl9pPr>
          </a:lstStyle>
          <a:p xmlns:a="http://schemas.openxmlformats.org/drawingml/2006/main">
            <a:pPr>
              <a:defRPr sz="2850" b="1">
                <a:solidFill>
                  <a:srgbClr val="83D5D2"/>
                </a:solidFill>
                <a:latin typeface="Arial"/>
                <a:ea typeface="Arial"/>
                <a:cs typeface="Arial"/>
              </a:defRPr>
            </a:pPr>
            <a:r>
              <a:rPr sz="2850" b="1">
                <a:solidFill>
                  <a:srgbClr val="83D5D2"/>
                </a:solidFill>
                <a:latin typeface="Arial"/>
                <a:ea typeface="Arial"/>
                <a:cs typeface="Arial"/>
              </a:rPr>
              <a:t>This supports further testing—not a promise of more bookings.</a:t>
            </a:r>
          </a:p>
        </p:txBody>
      </p:sp>
    </p:spTree>
    <p:extLst>
      <p:ext uri="{BB962C8B-B14F-4D97-AF65-F5344CB8AC3E}">
        <p14:creationId xmlns:p14="http://schemas.microsoft.com/office/powerpoint/2010/main" val="1188705891"/>
      </p:ext>
    </p:extLst>
  </p:cSld>
</p:sld>
</file>

<file path=ppt/slides/slide19.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E4CA4D-A343-4654-AF60-A82DE91F6DF1}"/>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BACKUP • QUESTIONS</a:t>
            </a:r>
          </a:p>
        </p:txBody>
      </p:sp>
      <p:sp>
        <p:nvSpPr>
          <p:cNvPr id="2" name="">
            <a:extLst xmlns:a="http://schemas.openxmlformats.org/drawingml/2006/main">
              <a:ext uri="{FF2B5EF4-FFF2-40B4-BE49-F238E27FC236}">
                <a16:creationId xmlns:a16="http://schemas.microsoft.com/office/drawing/2014/main" id="{82361217-86BC-40A6-A4BA-2BCDFB9DE533}"/>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The exact experimental recipe</a:t>
            </a:r>
          </a:p>
        </p:txBody>
      </p:sp>
      <p:sp>
        <p:nvSpPr>
          <p:cNvPr id="3" name="">
            <a:extLst xmlns:a="http://schemas.openxmlformats.org/drawingml/2006/main">
              <a:ext uri="{FF2B5EF4-FFF2-40B4-BE49-F238E27FC236}">
                <a16:creationId xmlns:a16="http://schemas.microsoft.com/office/drawing/2014/main" id="{06E56496-B34C-4AC2-B422-3E22440DFD37}"/>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C05FE3D-C031-46BE-90BE-F1639C521011}"/>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A controlled source-use evaluation, not live web search or model training.</a:t>
            </a:r>
          </a:p>
        </p:txBody>
      </p:sp>
      <p:sp>
        <p:nvSpPr>
          <p:cNvPr id="5" name="">
            <a:extLst xmlns:a="http://schemas.openxmlformats.org/drawingml/2006/main">
              <a:ext uri="{FF2B5EF4-FFF2-40B4-BE49-F238E27FC236}">
                <a16:creationId xmlns:a16="http://schemas.microsoft.com/office/drawing/2014/main" id="{10B8047E-0A95-441C-BF67-DE214EA7044E}"/>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Supporting evidence 1 / 8   •   Full references in speaker notes</a:t>
            </a:r>
          </a:p>
        </p:txBody>
      </p:sp>
      <p:graphicFrame>
        <p:nvGraphicFramePr>
          <p:cNvPr id="6" name="">
            <a:extLst xmlns:a="http://schemas.openxmlformats.org/drawingml/2006/main">
              <a:ext uri="{FF2B5EF4-FFF2-40B4-BE49-F238E27FC236}">
                <a16:creationId xmlns:a16="http://schemas.microsoft.com/office/drawing/2014/main" id="{1D486E0E-7913-4BAA-974F-40B0DCFCAA4C}"/>
              </a:ext>
            </a:extLst>
          </p:cNvPr>
          <p:cNvGraphicFramePr/>
          <p:nvPr/>
        </p:nvGraphicFramePr>
        <p:xfrm>
          <a:off xmlns:a="http://schemas.openxmlformats.org/drawingml/2006/main" x="619125" y="2257425"/>
          <a:ext xmlns:a="http://schemas.openxmlformats.org/drawingml/2006/main" cx="14001750" cy="4667250"/>
        </p:xfrm>
        <a:graphic xmlns:a="http://schemas.openxmlformats.org/drawingml/2006/main">
          <a:graphicData uri="http://schemas.openxmlformats.org/drawingml/2006/table">
            <a:tbl>
              <a:tblPr/>
              <a:tblGrid>
                <a:gridCol w="3714750"/>
                <a:gridCol w="10287000"/>
              </a:tblGrid>
              <a:tr h="666750">
                <a:tc>
                  <a:txBody>
                    <a:bodyPr/>
                    <a:lstStyle/>
                    <a:p>
                      <a:r>
                        <a:rPr sz="2175" b="1">
                          <a:solidFill>
                            <a:srgbClr val="FFFFFF"/>
                          </a:solidFill>
                          <a:latin typeface="Arial"/>
                          <a:ea typeface="Arial"/>
                          <a:cs typeface="Arial"/>
                        </a:rPr>
                        <a:t>Element</a:t>
                      </a:r>
                    </a:p>
                  </a:txBody>
                  <a:tcPr marL="91440" marR="91440" marT="45720" marB="45720">
                    <a:solidFill>
                      <a:srgbClr val="142D3D"/>
                    </a:solidFill>
                  </a:tcPr>
                </a:tc>
                <a:tc>
                  <a:txBody>
                    <a:bodyPr/>
                    <a:lstStyle/>
                    <a:p>
                      <a:r>
                        <a:rPr sz="2175" b="1">
                          <a:solidFill>
                            <a:srgbClr val="FFFFFF"/>
                          </a:solidFill>
                          <a:latin typeface="Arial"/>
                          <a:ea typeface="Arial"/>
                          <a:cs typeface="Arial"/>
                        </a:rPr>
                        <a:t>Saved implementation</a:t>
                      </a:r>
                    </a:p>
                  </a:txBody>
                  <a:tcPr marL="91440" marR="91440" marT="45720" marB="45720">
                    <a:solidFill>
                      <a:srgbClr val="142D3D"/>
                    </a:solidFill>
                  </a:tcPr>
                </a:tc>
              </a:tr>
              <a:tr h="666750">
                <a:tc>
                  <a:txBody>
                    <a:bodyPr/>
                    <a:lstStyle/>
                    <a:p>
                      <a:r>
                        <a:rPr sz="2175" b="0">
                          <a:solidFill>
                            <a:srgbClr val="142D3D"/>
                          </a:solidFill>
                          <a:latin typeface="Arial"/>
                          <a:ea typeface="Arial"/>
                          <a:cs typeface="Arial"/>
                        </a:rPr>
                        <a:t>Architecture</a:t>
                      </a:r>
                    </a:p>
                  </a:txBody>
                  <a:tcPr marL="91440" marR="91440" marT="45720" marB="45720">
                    <a:solidFill>
                      <a:srgbClr val="FFFFFF"/>
                    </a:solidFill>
                  </a:tcPr>
                </a:tc>
                <a:tc>
                  <a:txBody>
                    <a:bodyPr/>
                    <a:lstStyle/>
                    <a:p>
                      <a:r>
                        <a:rPr sz="2175" b="0">
                          <a:solidFill>
                            <a:srgbClr val="142D3D"/>
                          </a:solidFill>
                          <a:latin typeface="Arial"/>
                          <a:ea typeface="Arial"/>
                          <a:cs typeface="Arial"/>
                        </a:rPr>
                        <a:t>Saved source context + API answer generation</a:t>
                      </a:r>
                    </a:p>
                  </a:txBody>
                  <a:tcPr marL="91440" marR="91440" marT="45720" marB="45720">
                    <a:solidFill>
                      <a:srgbClr val="FFFFFF"/>
                    </a:solidFill>
                  </a:tcPr>
                </a:tc>
              </a:tr>
              <a:tr h="666750">
                <a:tc>
                  <a:txBody>
                    <a:bodyPr/>
                    <a:lstStyle/>
                    <a:p>
                      <a:r>
                        <a:rPr sz="2175" b="0">
                          <a:solidFill>
                            <a:srgbClr val="142D3D"/>
                          </a:solidFill>
                          <a:latin typeface="Arial"/>
                          <a:ea typeface="Arial"/>
                          <a:cs typeface="Arial"/>
                        </a:rPr>
                        <a:t>Generator</a:t>
                      </a:r>
                    </a:p>
                  </a:txBody>
                  <a:tcPr marL="91440" marR="91440" marT="45720" marB="45720">
                    <a:solidFill>
                      <a:srgbClr val="E9F0F1"/>
                    </a:solidFill>
                  </a:tcPr>
                </a:tc>
                <a:tc>
                  <a:txBody>
                    <a:bodyPr/>
                    <a:lstStyle/>
                    <a:p>
                      <a:r>
                        <a:rPr sz="2175" b="0">
                          <a:solidFill>
                            <a:srgbClr val="142D3D"/>
                          </a:solidFill>
                          <a:latin typeface="Arial"/>
                          <a:ea typeface="Arial"/>
                          <a:cs typeface="Arial"/>
                        </a:rPr>
                        <a:t>gpt-5.6-luna, as recorded</a:t>
                      </a:r>
                    </a:p>
                  </a:txBody>
                  <a:tcPr marL="91440" marR="91440" marT="45720" marB="45720">
                    <a:solidFill>
                      <a:srgbClr val="E9F0F1"/>
                    </a:solidFill>
                  </a:tcPr>
                </a:tc>
              </a:tr>
              <a:tr h="666750">
                <a:tc>
                  <a:txBody>
                    <a:bodyPr/>
                    <a:lstStyle/>
                    <a:p>
                      <a:r>
                        <a:rPr sz="2175" b="0">
                          <a:solidFill>
                            <a:srgbClr val="142D3D"/>
                          </a:solidFill>
                          <a:latin typeface="Arial"/>
                          <a:ea typeface="Arial"/>
                          <a:cs typeface="Arial"/>
                        </a:rPr>
                        <a:t>Inputs</a:t>
                      </a:r>
                    </a:p>
                  </a:txBody>
                  <a:tcPr marL="91440" marR="91440" marT="45720" marB="45720">
                    <a:solidFill>
                      <a:srgbClr val="FFFFFF"/>
                    </a:solidFill>
                  </a:tcPr>
                </a:tc>
                <a:tc>
                  <a:txBody>
                    <a:bodyPr/>
                    <a:lstStyle/>
                    <a:p>
                      <a:r>
                        <a:rPr sz="2175" b="0">
                          <a:solidFill>
                            <a:srgbClr val="142D3D"/>
                          </a:solidFill>
                          <a:latin typeface="Arial"/>
                          <a:ea typeface="Arial"/>
                          <a:cs typeface="Arial"/>
                        </a:rPr>
                        <a:t>Question, shared prompt, 5–10 numbered source texts</a:t>
                      </a:r>
                    </a:p>
                  </a:txBody>
                  <a:tcPr marL="91440" marR="91440" marT="45720" marB="45720">
                    <a:solidFill>
                      <a:srgbClr val="FFFFFF"/>
                    </a:solidFill>
                  </a:tcPr>
                </a:tc>
              </a:tr>
              <a:tr h="666750">
                <a:tc>
                  <a:txBody>
                    <a:bodyPr/>
                    <a:lstStyle/>
                    <a:p>
                      <a:r>
                        <a:rPr sz="2175" b="0">
                          <a:solidFill>
                            <a:srgbClr val="142D3D"/>
                          </a:solidFill>
                          <a:latin typeface="Arial"/>
                          <a:ea typeface="Arial"/>
                          <a:cs typeface="Arial"/>
                        </a:rPr>
                        <a:t>Source budget</a:t>
                      </a:r>
                    </a:p>
                  </a:txBody>
                  <a:tcPr marL="91440" marR="91440" marT="45720" marB="45720">
                    <a:solidFill>
                      <a:srgbClr val="E9F0F1"/>
                    </a:solidFill>
                  </a:tcPr>
                </a:tc>
                <a:tc>
                  <a:txBody>
                    <a:bodyPr/>
                    <a:lstStyle/>
                    <a:p>
                      <a:r>
                        <a:rPr sz="2175" b="0">
                          <a:solidFill>
                            <a:srgbClr val="142D3D"/>
                          </a:solidFill>
                          <a:latin typeface="Arial"/>
                          <a:ea typeface="Arial"/>
                          <a:cs typeface="Arial"/>
                        </a:rPr>
                        <a:t>24,000 characters per source</a:t>
                      </a:r>
                    </a:p>
                  </a:txBody>
                  <a:tcPr marL="91440" marR="91440" marT="45720" marB="45720">
                    <a:solidFill>
                      <a:srgbClr val="E9F0F1"/>
                    </a:solidFill>
                  </a:tcPr>
                </a:tc>
              </a:tr>
              <a:tr h="666750">
                <a:tc>
                  <a:txBody>
                    <a:bodyPr/>
                    <a:lstStyle/>
                    <a:p>
                      <a:r>
                        <a:rPr sz="2175" b="0">
                          <a:solidFill>
                            <a:srgbClr val="142D3D"/>
                          </a:solidFill>
                          <a:latin typeface="Arial"/>
                          <a:ea typeface="Arial"/>
                          <a:cs typeface="Arial"/>
                        </a:rPr>
                        <a:t>Trial structure</a:t>
                      </a:r>
                    </a:p>
                  </a:txBody>
                  <a:tcPr marL="91440" marR="91440" marT="45720" marB="45720">
                    <a:solidFill>
                      <a:srgbClr val="FFFFFF"/>
                    </a:solidFill>
                  </a:tcPr>
                </a:tc>
                <a:tc>
                  <a:txBody>
                    <a:bodyPr/>
                    <a:lstStyle/>
                    <a:p>
                      <a:r>
                        <a:rPr sz="2175" b="0">
                          <a:solidFill>
                            <a:srgbClr val="142D3D"/>
                          </a:solidFill>
                          <a:latin typeface="Arial"/>
                          <a:ea typeface="Arial"/>
                          <a:cs typeface="Arial"/>
                        </a:rPr>
                        <a:t>29 questions × 2 order arrangements × 5 repeats</a:t>
                      </a:r>
                    </a:p>
                  </a:txBody>
                  <a:tcPr marL="91440" marR="91440" marT="45720" marB="45720">
                    <a:solidFill>
                      <a:srgbClr val="FFFFFF"/>
                    </a:solidFill>
                  </a:tcPr>
                </a:tc>
              </a:tr>
              <a:tr h="666750">
                <a:tc>
                  <a:txBody>
                    <a:bodyPr/>
                    <a:lstStyle/>
                    <a:p>
                      <a:r>
                        <a:rPr sz="2175" b="0">
                          <a:solidFill>
                            <a:srgbClr val="142D3D"/>
                          </a:solidFill>
                          <a:latin typeface="Arial"/>
                          <a:ea typeface="Arial"/>
                          <a:cs typeface="Arial"/>
                        </a:rPr>
                        <a:t>Sampling / control</a:t>
                      </a:r>
                    </a:p>
                  </a:txBody>
                  <a:tcPr marL="91440" marR="91440" marT="45720" marB="45720">
                    <a:solidFill>
                      <a:srgbClr val="E9F0F1"/>
                    </a:solidFill>
                  </a:tcPr>
                </a:tc>
                <a:tc>
                  <a:txBody>
                    <a:bodyPr/>
                    <a:lstStyle/>
                    <a:p>
                      <a:r>
                        <a:rPr sz="2175" b="0">
                          <a:solidFill>
                            <a:srgbClr val="142D3D"/>
                          </a:solidFill>
                          <a:latin typeface="Arial"/>
                          <a:ea typeface="Arial"/>
                          <a:cs typeface="Arial"/>
                        </a:rPr>
                        <a:t>Provider defaults, no API seed, historical baseline</a:t>
                      </a:r>
                    </a:p>
                  </a:txBody>
                  <a:tcPr marL="91440" marR="91440" marT="45720" marB="45720">
                    <a:solidFill>
                      <a:srgbClr val="E9F0F1"/>
                    </a:solidFill>
                  </a:tcPr>
                </a:tc>
              </a:tr>
            </a:tbl>
          </a:graphicData>
        </a:graphic>
      </p:graphicFrame>
    </p:spTree>
    <p:extLst>
      <p:ext uri="{BB962C8B-B14F-4D97-AF65-F5344CB8AC3E}">
        <p14:creationId xmlns:p14="http://schemas.microsoft.com/office/powerpoint/2010/main" val="1660374654"/>
      </p:ext>
    </p:extLst>
  </p:cSld>
</p:sld>
</file>

<file path=ppt/slides/slide20.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6419CD-8E37-4C65-814C-EA293B52D386}"/>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BACKUP • QUESTIONS</a:t>
            </a:r>
          </a:p>
        </p:txBody>
      </p:sp>
      <p:sp>
        <p:nvSpPr>
          <p:cNvPr id="2" name="">
            <a:extLst xmlns:a="http://schemas.openxmlformats.org/drawingml/2006/main">
              <a:ext uri="{FF2B5EF4-FFF2-40B4-BE49-F238E27FC236}">
                <a16:creationId xmlns:a16="http://schemas.microsoft.com/office/drawing/2014/main" id="{A6DB2E71-8C13-48A1-835E-6496205003C0}"/>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Full saved baseline answer</a:t>
            </a:r>
          </a:p>
        </p:txBody>
      </p:sp>
      <p:sp>
        <p:nvSpPr>
          <p:cNvPr id="3" name="">
            <a:extLst xmlns:a="http://schemas.openxmlformats.org/drawingml/2006/main">
              <a:ext uri="{FF2B5EF4-FFF2-40B4-BE49-F238E27FC236}">
                <a16:creationId xmlns:a16="http://schemas.microsoft.com/office/drawing/2014/main" id="{0930F1CF-572F-4A13-88AC-18C3AE4C109C}"/>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EDDEDFB-7C23-46FB-A51F-FB44361F12A7}"/>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Q06, source arrangement s2, repetition r4. No FC source citation in this saved answer.</a:t>
            </a:r>
          </a:p>
        </p:txBody>
      </p:sp>
      <p:sp>
        <p:nvSpPr>
          <p:cNvPr id="5" name="">
            <a:extLst xmlns:a="http://schemas.openxmlformats.org/drawingml/2006/main">
              <a:ext uri="{FF2B5EF4-FFF2-40B4-BE49-F238E27FC236}">
                <a16:creationId xmlns:a16="http://schemas.microsoft.com/office/drawing/2014/main" id="{C46F84B4-F134-4F81-81EA-2B55CC0C06FA}"/>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Supporting evidence 2 / 8   •   Full references in speaker notes</a:t>
            </a:r>
          </a:p>
        </p:txBody>
      </p:sp>
      <p:sp>
        <p:nvSpPr>
          <p:cNvPr id="6" name="">
            <a:extLst xmlns:a="http://schemas.openxmlformats.org/drawingml/2006/main">
              <a:ext uri="{FF2B5EF4-FFF2-40B4-BE49-F238E27FC236}">
                <a16:creationId xmlns:a16="http://schemas.microsoft.com/office/drawing/2014/main" id="{FBF33D7A-9987-4F80-8B38-521D3C2A98FE}"/>
              </a:ext>
            </a:extLst>
          </p:cNvPr>
          <p:cNvSpPr>
            <a:spLocks xmlns:a="http://schemas.openxmlformats.org/drawingml/2006/main" noGrp="1"/>
          </p:cNvSpPr>
          <p:nvPr/>
        </p:nvSpPr>
        <p:spPr>
          <a:xfrm xmlns:a="http://schemas.openxmlformats.org/drawingml/2006/main">
            <a:off x="619125" y="2143125"/>
            <a:ext cx="14001750" cy="504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42D3D"/>
                </a:solidFill>
                <a:latin typeface="Arial"/>
                <a:ea typeface="Arial"/>
                <a:cs typeface="Arial"/>
              </a:defRPr>
            </a:defPPr>
            <a:lvl1pPr>
              <a:defRPr sz="1725" b="0">
                <a:solidFill>
                  <a:srgbClr val="142D3D"/>
                </a:solidFill>
                <a:latin typeface="Arial"/>
                <a:ea typeface="Arial"/>
                <a:cs typeface="Arial"/>
              </a:defRPr>
            </a:lvl1pPr>
            <a:lvl2pPr>
              <a:defRPr sz="1725" b="0">
                <a:solidFill>
                  <a:srgbClr val="142D3D"/>
                </a:solidFill>
                <a:latin typeface="Arial"/>
                <a:ea typeface="Arial"/>
                <a:cs typeface="Arial"/>
              </a:defRPr>
            </a:lvl2pPr>
            <a:lvl3pPr>
              <a:defRPr sz="1725" b="0">
                <a:solidFill>
                  <a:srgbClr val="142D3D"/>
                </a:solidFill>
                <a:latin typeface="Arial"/>
                <a:ea typeface="Arial"/>
                <a:cs typeface="Arial"/>
              </a:defRPr>
            </a:lvl3pPr>
            <a:lvl4pPr>
              <a:defRPr sz="1725" b="0">
                <a:solidFill>
                  <a:srgbClr val="142D3D"/>
                </a:solidFill>
                <a:latin typeface="Arial"/>
                <a:ea typeface="Arial"/>
                <a:cs typeface="Arial"/>
              </a:defRPr>
            </a:lvl4pPr>
            <a:lvl5pPr>
              <a:defRPr sz="1725" b="0">
                <a:solidFill>
                  <a:srgbClr val="142D3D"/>
                </a:solidFill>
                <a:latin typeface="Arial"/>
                <a:ea typeface="Arial"/>
                <a:cs typeface="Arial"/>
              </a:defRPr>
            </a:lvl5pPr>
            <a:lvl6pPr>
              <a:defRPr sz="1725" b="0">
                <a:solidFill>
                  <a:srgbClr val="142D3D"/>
                </a:solidFill>
                <a:latin typeface="Arial"/>
                <a:ea typeface="Arial"/>
                <a:cs typeface="Arial"/>
              </a:defRPr>
            </a:lvl6pPr>
            <a:lvl7pPr>
              <a:defRPr sz="1725" b="0">
                <a:solidFill>
                  <a:srgbClr val="142D3D"/>
                </a:solidFill>
                <a:latin typeface="Arial"/>
                <a:ea typeface="Arial"/>
                <a:cs typeface="Arial"/>
              </a:defRPr>
            </a:lvl7pPr>
            <a:lvl8pPr>
              <a:defRPr sz="1725" b="0">
                <a:solidFill>
                  <a:srgbClr val="142D3D"/>
                </a:solidFill>
                <a:latin typeface="Arial"/>
                <a:ea typeface="Arial"/>
                <a:cs typeface="Arial"/>
              </a:defRPr>
            </a:lvl8pPr>
            <a:lvl9pPr>
              <a:defRPr sz="1725" b="0">
                <a:solidFill>
                  <a:srgbClr val="142D3D"/>
                </a:solidFill>
                <a:latin typeface="Arial"/>
                <a:ea typeface="Arial"/>
                <a:cs typeface="Arial"/>
              </a:defRPr>
            </a:lvl9pPr>
          </a:lstStyle>
          <a:p xmlns:a="http://schemas.openxmlformats.org/drawingml/2006/main">
            <a:pPr>
              <a:defRPr sz="1725" b="0">
                <a:solidFill>
                  <a:srgbClr val="142D3D"/>
                </a:solidFill>
                <a:latin typeface="Arial"/>
                <a:ea typeface="Arial"/>
                <a:cs typeface="Arial"/>
              </a:defRPr>
            </a:pPr>
            <a:r>
              <a:rPr sz="1725" b="0">
                <a:solidFill>
                  <a:srgbClr val="142D3D"/>
                </a:solidFill>
                <a:latin typeface="Arial"/>
                <a:ea typeface="Arial"/>
                <a:cs typeface="Arial"/>
              </a:rPr>
              <a:t>Flights from Melbourne Airport (MEL) to London generally require at least one stop, with common connections in Dubai, Singapore, Doha or Shanghai. [2][3][5][8]</a:t>
            </a:r>
          </a:p>
          <a:p xmlns:a="http://schemas.openxmlformats.org/drawingml/2006/main">
            <a:r>
              <a:t/>
            </a:r>
          </a:p>
          <a:p xmlns:a="http://schemas.openxmlformats.org/drawingml/2006/main">
            <a:pPr>
              <a:defRPr sz="1725" b="0">
                <a:solidFill>
                  <a:srgbClr val="142D3D"/>
                </a:solidFill>
                <a:latin typeface="Arial"/>
                <a:ea typeface="Arial"/>
                <a:cs typeface="Arial"/>
              </a:defRPr>
            </a:pPr>
            <a:r>
              <a:rPr sz="1725" b="0">
                <a:solidFill>
                  <a:srgbClr val="142D3D"/>
                </a:solidFill>
                <a:latin typeface="Arial"/>
                <a:ea typeface="Arial"/>
                <a:cs typeface="Arial"/>
              </a:rPr>
              <a:t>Indicative fares currently include:</a:t>
            </a:r>
          </a:p>
          <a:p xmlns:a="http://schemas.openxmlformats.org/drawingml/2006/main">
            <a:r>
              <a:t/>
            </a:r>
          </a:p>
          <a:p xmlns:a="http://schemas.openxmlformats.org/drawingml/2006/main">
            <a:pPr>
              <a:defRPr sz="1725" b="0">
                <a:solidFill>
                  <a:srgbClr val="142D3D"/>
                </a:solidFill>
                <a:latin typeface="Arial"/>
                <a:ea typeface="Arial"/>
                <a:cs typeface="Arial"/>
              </a:defRPr>
            </a:pPr>
            <a:r>
              <a:rPr sz="1725" b="0">
                <a:solidFill>
                  <a:srgbClr val="142D3D"/>
                </a:solidFill>
                <a:latin typeface="Arial"/>
                <a:ea typeface="Arial"/>
                <a:cs typeface="Arial"/>
              </a:rPr>
              <a:t>- One-way: from about AU$648, typically with China Eastern and arrival at Heathrow or Gatwick. [1]</a:t>
            </a:r>
          </a:p>
          <a:p xmlns:a="http://schemas.openxmlformats.org/drawingml/2006/main">
            <a:pPr>
              <a:defRPr sz="1725" b="0">
                <a:solidFill>
                  <a:srgbClr val="142D3D"/>
                </a:solidFill>
                <a:latin typeface="Arial"/>
                <a:ea typeface="Arial"/>
                <a:cs typeface="Arial"/>
              </a:defRPr>
            </a:pPr>
            <a:r>
              <a:rPr sz="1725" b="0">
                <a:solidFill>
                  <a:srgbClr val="142D3D"/>
                </a:solidFill>
                <a:latin typeface="Arial"/>
                <a:ea typeface="Arial"/>
                <a:cs typeface="Arial"/>
              </a:rPr>
              <a:t>- Return: from about AU$1,096–AU$1,342, depending on dates, airline and London airport. [5][8]</a:t>
            </a:r>
          </a:p>
          <a:p xmlns:a="http://schemas.openxmlformats.org/drawingml/2006/main">
            <a:pPr>
              <a:defRPr sz="1725" b="0">
                <a:solidFill>
                  <a:srgbClr val="142D3D"/>
                </a:solidFill>
                <a:latin typeface="Arial"/>
                <a:ea typeface="Arial"/>
                <a:cs typeface="Arial"/>
              </a:defRPr>
            </a:pPr>
            <a:r>
              <a:rPr sz="1725" b="0">
                <a:solidFill>
                  <a:srgbClr val="142D3D"/>
                </a:solidFill>
                <a:latin typeface="Arial"/>
                <a:ea typeface="Arial"/>
                <a:cs typeface="Arial"/>
              </a:rPr>
              <a:t>- Typical return range: roughly AU$1,446–AU$2,130 on momondo’s route data. [1]</a:t>
            </a:r>
          </a:p>
          <a:p xmlns:a="http://schemas.openxmlformats.org/drawingml/2006/main">
            <a:r>
              <a:t/>
            </a:r>
          </a:p>
          <a:p xmlns:a="http://schemas.openxmlformats.org/drawingml/2006/main">
            <a:pPr>
              <a:defRPr sz="1725" b="0">
                <a:solidFill>
                  <a:srgbClr val="142D3D"/>
                </a:solidFill>
                <a:latin typeface="Arial"/>
                <a:ea typeface="Arial"/>
                <a:cs typeface="Arial"/>
              </a:defRPr>
            </a:pPr>
            <a:r>
              <a:rPr sz="1725" b="0">
                <a:solidFill>
                  <a:srgbClr val="142D3D"/>
                </a:solidFill>
                <a:latin typeface="Arial"/>
                <a:ea typeface="Arial"/>
                <a:cs typeface="Arial"/>
              </a:rPr>
              <a:t>Popular airlines include Emirates, Etihad Airways, Qatar Airways, China Eastern, Singapore Airlines, Qantas and British Airways. [1][3][5]</a:t>
            </a:r>
          </a:p>
          <a:p xmlns:a="http://schemas.openxmlformats.org/drawingml/2006/main">
            <a:r>
              <a:t/>
            </a:r>
          </a:p>
          <a:p xmlns:a="http://schemas.openxmlformats.org/drawingml/2006/main">
            <a:pPr>
              <a:defRPr sz="1725" b="0">
                <a:solidFill>
                  <a:srgbClr val="142D3D"/>
                </a:solidFill>
                <a:latin typeface="Arial"/>
                <a:ea typeface="Arial"/>
                <a:cs typeface="Arial"/>
              </a:defRPr>
            </a:pPr>
            <a:r>
              <a:rPr sz="1725" b="0">
                <a:solidFill>
                  <a:srgbClr val="142D3D"/>
                </a:solidFill>
                <a:latin typeface="Arial"/>
                <a:ea typeface="Arial"/>
                <a:cs typeface="Arial"/>
              </a:rPr>
              <a:t>Travel time is usually around 24–30 hours including a stopover, although longer itineraries can take considerably more. [1][3][6]</a:t>
            </a:r>
          </a:p>
          <a:p xmlns:a="http://schemas.openxmlformats.org/drawingml/2006/main">
            <a:r>
              <a:t/>
            </a:r>
          </a:p>
          <a:p xmlns:a="http://schemas.openxmlformats.org/drawingml/2006/main">
            <a:pPr>
              <a:defRPr sz="1725" b="0">
                <a:solidFill>
                  <a:srgbClr val="142D3D"/>
                </a:solidFill>
                <a:latin typeface="Arial"/>
                <a:ea typeface="Arial"/>
                <a:cs typeface="Arial"/>
              </a:defRPr>
            </a:pPr>
            <a:r>
              <a:rPr sz="1725" b="0">
                <a:solidFill>
                  <a:srgbClr val="142D3D"/>
                </a:solidFill>
                <a:latin typeface="Arial"/>
                <a:ea typeface="Arial"/>
                <a:cs typeface="Arial"/>
              </a:rPr>
              <a:t>The cheapest options may arrive at Gatwick, Stansted or Luton, while Heathrow is generally the main long-haul arrival airport. [1][4][8]</a:t>
            </a:r>
          </a:p>
          <a:p xmlns:a="http://schemas.openxmlformats.org/drawingml/2006/main">
            <a:r>
              <a:t/>
            </a:r>
          </a:p>
          <a:p xmlns:a="http://schemas.openxmlformats.org/drawingml/2006/main">
            <a:pPr>
              <a:defRPr sz="1725" b="0">
                <a:solidFill>
                  <a:srgbClr val="142D3D"/>
                </a:solidFill>
                <a:latin typeface="Arial"/>
                <a:ea typeface="Arial"/>
                <a:cs typeface="Arial"/>
              </a:defRPr>
            </a:pPr>
            <a:r>
              <a:rPr sz="1725" b="0">
                <a:solidFill>
                  <a:srgbClr val="142D3D"/>
                </a:solidFill>
                <a:latin typeface="Arial"/>
                <a:ea typeface="Arial"/>
                <a:cs typeface="Arial"/>
              </a:rPr>
              <a:t>Send me your departure date, return date or one-way preference, number of travellers and cabin class, and I can narrow down the best options.</a:t>
            </a:r>
          </a:p>
        </p:txBody>
      </p:sp>
    </p:spTree>
    <p:extLst>
      <p:ext uri="{BB962C8B-B14F-4D97-AF65-F5344CB8AC3E}">
        <p14:creationId xmlns:p14="http://schemas.microsoft.com/office/powerpoint/2010/main" val="292203882"/>
      </p:ext>
    </p:extLst>
  </p:cSld>
</p:sld>
</file>

<file path=ppt/slides/slide21.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50AB234-C1E5-46AE-95F7-1B9A8829A836}"/>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BACKUP • QUESTIONS</a:t>
            </a:r>
          </a:p>
        </p:txBody>
      </p:sp>
      <p:sp>
        <p:nvSpPr>
          <p:cNvPr id="2" name="">
            <a:extLst xmlns:a="http://schemas.openxmlformats.org/drawingml/2006/main">
              <a:ext uri="{FF2B5EF4-FFF2-40B4-BE49-F238E27FC236}">
                <a16:creationId xmlns:a16="http://schemas.microsoft.com/office/drawing/2014/main" id="{80889128-8FC7-43A9-BF64-05E03016D09F}"/>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Full saved optimised answer</a:t>
            </a:r>
          </a:p>
        </p:txBody>
      </p:sp>
      <p:sp>
        <p:nvSpPr>
          <p:cNvPr id="3" name="">
            <a:extLst xmlns:a="http://schemas.openxmlformats.org/drawingml/2006/main">
              <a:ext uri="{FF2B5EF4-FFF2-40B4-BE49-F238E27FC236}">
                <a16:creationId xmlns:a16="http://schemas.microsoft.com/office/drawing/2014/main" id="{59BDF675-81AD-4382-9BE5-88F3D0AAC46C}"/>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8A9A0EA-BB95-46F2-99EB-3CE6994F663E}"/>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The answer cites source [7], the saved Flight Centre Melbourne–London page.</a:t>
            </a:r>
          </a:p>
        </p:txBody>
      </p:sp>
      <p:sp>
        <p:nvSpPr>
          <p:cNvPr id="5" name="">
            <a:extLst xmlns:a="http://schemas.openxmlformats.org/drawingml/2006/main">
              <a:ext uri="{FF2B5EF4-FFF2-40B4-BE49-F238E27FC236}">
                <a16:creationId xmlns:a16="http://schemas.microsoft.com/office/drawing/2014/main" id="{F2D831BE-1B5E-4BD9-953C-9565F021B966}"/>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Supporting evidence 3 / 8   •   Full references in speaker notes</a:t>
            </a:r>
          </a:p>
        </p:txBody>
      </p:sp>
      <p:sp>
        <p:nvSpPr>
          <p:cNvPr id="6" name="">
            <a:extLst xmlns:a="http://schemas.openxmlformats.org/drawingml/2006/main">
              <a:ext uri="{FF2B5EF4-FFF2-40B4-BE49-F238E27FC236}">
                <a16:creationId xmlns:a16="http://schemas.microsoft.com/office/drawing/2014/main" id="{A68A4E2E-5FA1-462C-9FAA-C872D40C7F52}"/>
              </a:ext>
            </a:extLst>
          </p:cNvPr>
          <p:cNvSpPr>
            <a:spLocks xmlns:a="http://schemas.openxmlformats.org/drawingml/2006/main" noGrp="1"/>
          </p:cNvSpPr>
          <p:nvPr/>
        </p:nvSpPr>
        <p:spPr>
          <a:xfrm xmlns:a="http://schemas.openxmlformats.org/drawingml/2006/main">
            <a:off x="619125" y="2143125"/>
            <a:ext cx="14001750" cy="504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42D3D"/>
                </a:solidFill>
                <a:latin typeface="Arial"/>
                <a:ea typeface="Arial"/>
                <a:cs typeface="Arial"/>
              </a:defRPr>
            </a:defPPr>
            <a:lvl1pPr>
              <a:defRPr sz="2175" b="0">
                <a:solidFill>
                  <a:srgbClr val="142D3D"/>
                </a:solidFill>
                <a:latin typeface="Arial"/>
                <a:ea typeface="Arial"/>
                <a:cs typeface="Arial"/>
              </a:defRPr>
            </a:lvl1pPr>
            <a:lvl2pPr>
              <a:defRPr sz="2175" b="0">
                <a:solidFill>
                  <a:srgbClr val="142D3D"/>
                </a:solidFill>
                <a:latin typeface="Arial"/>
                <a:ea typeface="Arial"/>
                <a:cs typeface="Arial"/>
              </a:defRPr>
            </a:lvl2pPr>
            <a:lvl3pPr>
              <a:defRPr sz="2175" b="0">
                <a:solidFill>
                  <a:srgbClr val="142D3D"/>
                </a:solidFill>
                <a:latin typeface="Arial"/>
                <a:ea typeface="Arial"/>
                <a:cs typeface="Arial"/>
              </a:defRPr>
            </a:lvl3pPr>
            <a:lvl4pPr>
              <a:defRPr sz="2175" b="0">
                <a:solidFill>
                  <a:srgbClr val="142D3D"/>
                </a:solidFill>
                <a:latin typeface="Arial"/>
                <a:ea typeface="Arial"/>
                <a:cs typeface="Arial"/>
              </a:defRPr>
            </a:lvl4pPr>
            <a:lvl5pPr>
              <a:defRPr sz="2175" b="0">
                <a:solidFill>
                  <a:srgbClr val="142D3D"/>
                </a:solidFill>
                <a:latin typeface="Arial"/>
                <a:ea typeface="Arial"/>
                <a:cs typeface="Arial"/>
              </a:defRPr>
            </a:lvl5pPr>
            <a:lvl6pPr>
              <a:defRPr sz="2175" b="0">
                <a:solidFill>
                  <a:srgbClr val="142D3D"/>
                </a:solidFill>
                <a:latin typeface="Arial"/>
                <a:ea typeface="Arial"/>
                <a:cs typeface="Arial"/>
              </a:defRPr>
            </a:lvl6pPr>
            <a:lvl7pPr>
              <a:defRPr sz="2175" b="0">
                <a:solidFill>
                  <a:srgbClr val="142D3D"/>
                </a:solidFill>
                <a:latin typeface="Arial"/>
                <a:ea typeface="Arial"/>
                <a:cs typeface="Arial"/>
              </a:defRPr>
            </a:lvl7pPr>
            <a:lvl8pPr>
              <a:defRPr sz="2175" b="0">
                <a:solidFill>
                  <a:srgbClr val="142D3D"/>
                </a:solidFill>
                <a:latin typeface="Arial"/>
                <a:ea typeface="Arial"/>
                <a:cs typeface="Arial"/>
              </a:defRPr>
            </a:lvl8pPr>
            <a:lvl9pPr>
              <a:defRPr sz="2175" b="0">
                <a:solidFill>
                  <a:srgbClr val="142D3D"/>
                </a:solidFill>
                <a:latin typeface="Arial"/>
                <a:ea typeface="Arial"/>
                <a:cs typeface="Arial"/>
              </a:defRPr>
            </a:lvl9pPr>
          </a:lstStyle>
          <a:p xmlns:a="http://schemas.openxmlformats.org/drawingml/2006/main">
            <a:pPr>
              <a:defRPr sz="2175" b="0">
                <a:solidFill>
                  <a:srgbClr val="142D3D"/>
                </a:solidFill>
                <a:latin typeface="Arial"/>
                <a:ea typeface="Arial"/>
                <a:cs typeface="Arial"/>
              </a:defRPr>
            </a:pPr>
            <a:r>
              <a:rPr sz="2175" b="0">
                <a:solidFill>
                  <a:srgbClr val="142D3D"/>
                </a:solidFill>
                <a:latin typeface="Arial"/>
                <a:ea typeface="Arial"/>
                <a:cs typeface="Arial"/>
              </a:rPr>
              <a:t>I can help you compare Melbourne–London flights, but I’ll need your travel dates, whether you want one-way or return, number of passengers, and preferred cabin class.</a:t>
            </a:r>
          </a:p>
          <a:p xmlns:a="http://schemas.openxmlformats.org/drawingml/2006/main">
            <a:r>
              <a:t/>
            </a:r>
          </a:p>
          <a:p xmlns:a="http://schemas.openxmlformats.org/drawingml/2006/main">
            <a:pPr>
              <a:defRPr sz="2175" b="0">
                <a:solidFill>
                  <a:srgbClr val="142D3D"/>
                </a:solidFill>
                <a:latin typeface="Arial"/>
                <a:ea typeface="Arial"/>
                <a:cs typeface="Arial"/>
              </a:defRPr>
            </a:pPr>
            <a:r>
              <a:rPr sz="2175" b="0">
                <a:solidFill>
                  <a:srgbClr val="142D3D"/>
                </a:solidFill>
                <a:latin typeface="Arial"/>
                <a:ea typeface="Arial"/>
                <a:cs typeface="Arial"/>
              </a:rPr>
              <a:t>Indicative fares currently include one-way options from about A$648 and return fares from approximately A$1,096–A$1,386, although prices and availability can change quickly. [1][7][8]</a:t>
            </a:r>
          </a:p>
          <a:p xmlns:a="http://schemas.openxmlformats.org/drawingml/2006/main">
            <a:r>
              <a:t/>
            </a:r>
          </a:p>
          <a:p xmlns:a="http://schemas.openxmlformats.org/drawingml/2006/main">
            <a:pPr>
              <a:defRPr sz="2175" b="0">
                <a:solidFill>
                  <a:srgbClr val="142D3D"/>
                </a:solidFill>
                <a:latin typeface="Arial"/>
                <a:ea typeface="Arial"/>
                <a:cs typeface="Arial"/>
              </a:defRPr>
            </a:pPr>
            <a:r>
              <a:rPr sz="2175" b="0">
                <a:solidFill>
                  <a:srgbClr val="142D3D"/>
                </a:solidFill>
                <a:latin typeface="Arial"/>
                <a:ea typeface="Arial"/>
                <a:cs typeface="Arial"/>
              </a:rPr>
              <a:t>Most itineraries require at least one stop, with common connections in Dubai, Shanghai, Singapore, or Doha. [2][3][7]</a:t>
            </a:r>
          </a:p>
          <a:p xmlns:a="http://schemas.openxmlformats.org/drawingml/2006/main">
            <a:r>
              <a:t/>
            </a:r>
          </a:p>
          <a:p xmlns:a="http://schemas.openxmlformats.org/drawingml/2006/main">
            <a:pPr>
              <a:defRPr sz="2175" b="0">
                <a:solidFill>
                  <a:srgbClr val="142D3D"/>
                </a:solidFill>
                <a:latin typeface="Arial"/>
                <a:ea typeface="Arial"/>
                <a:cs typeface="Arial"/>
              </a:defRPr>
            </a:pPr>
            <a:r>
              <a:rPr sz="2175" b="0">
                <a:solidFill>
                  <a:srgbClr val="142D3D"/>
                </a:solidFill>
                <a:latin typeface="Arial"/>
                <a:ea typeface="Arial"/>
                <a:cs typeface="Arial"/>
              </a:rPr>
              <a:t>Airlines serving the route include Emirates, Etihad Airways, Qatar Airways, China Eastern, Singapore Airlines, Qantas, British Airways, and Finnair. [1][2][3]</a:t>
            </a:r>
          </a:p>
          <a:p xmlns:a="http://schemas.openxmlformats.org/drawingml/2006/main">
            <a:r>
              <a:t/>
            </a:r>
          </a:p>
          <a:p xmlns:a="http://schemas.openxmlformats.org/drawingml/2006/main">
            <a:pPr>
              <a:defRPr sz="2175" b="0">
                <a:solidFill>
                  <a:srgbClr val="142D3D"/>
                </a:solidFill>
                <a:latin typeface="Arial"/>
                <a:ea typeface="Arial"/>
                <a:cs typeface="Arial"/>
              </a:defRPr>
            </a:pPr>
            <a:r>
              <a:rPr sz="2175" b="0">
                <a:solidFill>
                  <a:srgbClr val="142D3D"/>
                </a:solidFill>
                <a:latin typeface="Arial"/>
                <a:ea typeface="Arial"/>
                <a:cs typeface="Arial"/>
              </a:rPr>
              <a:t>The main departure airport is Melbourne Airport (MEL), while London options include Heathrow (LHR), Gatwick (LGW), Stansted (STN), Luton (LTN), and London City (LCY). [1][4][7]</a:t>
            </a:r>
          </a:p>
        </p:txBody>
      </p:sp>
    </p:spTree>
    <p:extLst>
      <p:ext uri="{BB962C8B-B14F-4D97-AF65-F5344CB8AC3E}">
        <p14:creationId xmlns:p14="http://schemas.microsoft.com/office/powerpoint/2010/main" val="1134544735"/>
      </p:ext>
    </p:extLst>
  </p:cSld>
</p:sld>
</file>

<file path=ppt/slides/slide22.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AC3EA3B-82A8-42A0-9361-08AFF78DB397}"/>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BACKUP • QUESTIONS</a:t>
            </a:r>
          </a:p>
        </p:txBody>
      </p:sp>
      <p:sp>
        <p:nvSpPr>
          <p:cNvPr id="2" name="">
            <a:extLst xmlns:a="http://schemas.openxmlformats.org/drawingml/2006/main">
              <a:ext uri="{FF2B5EF4-FFF2-40B4-BE49-F238E27FC236}">
                <a16:creationId xmlns:a16="http://schemas.microsoft.com/office/drawing/2014/main" id="{8CA20159-D231-4F30-9920-0FB5E39C3222}"/>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Published research: what it supports</a:t>
            </a:r>
          </a:p>
        </p:txBody>
      </p:sp>
      <p:sp>
        <p:nvSpPr>
          <p:cNvPr id="3" name="">
            <a:extLst xmlns:a="http://schemas.openxmlformats.org/drawingml/2006/main">
              <a:ext uri="{FF2B5EF4-FFF2-40B4-BE49-F238E27FC236}">
                <a16:creationId xmlns:a16="http://schemas.microsoft.com/office/drawing/2014/main" id="{3308CD68-923A-43B6-ADB7-31CCA51C99D9}"/>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3226E1C-8B29-4CC6-AE0E-5F9996F316CE}"/>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Research supports design choices, not an automatic percentage target for Flight Centre.</a:t>
            </a:r>
          </a:p>
        </p:txBody>
      </p:sp>
      <p:sp>
        <p:nvSpPr>
          <p:cNvPr id="5" name="">
            <a:extLst xmlns:a="http://schemas.openxmlformats.org/drawingml/2006/main">
              <a:ext uri="{FF2B5EF4-FFF2-40B4-BE49-F238E27FC236}">
                <a16:creationId xmlns:a16="http://schemas.microsoft.com/office/drawing/2014/main" id="{32FD3AA0-1461-4BDB-A591-A272740F1208}"/>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Supporting evidence 4 / 8   •   Full references in speaker notes</a:t>
            </a:r>
          </a:p>
        </p:txBody>
      </p:sp>
      <p:graphicFrame>
        <p:nvGraphicFramePr>
          <p:cNvPr id="6" name="">
            <a:extLst xmlns:a="http://schemas.openxmlformats.org/drawingml/2006/main">
              <a:ext uri="{FF2B5EF4-FFF2-40B4-BE49-F238E27FC236}">
                <a16:creationId xmlns:a16="http://schemas.microsoft.com/office/drawing/2014/main" id="{203EF565-7C8A-492A-8124-D7B5760EB3AA}"/>
              </a:ext>
            </a:extLst>
          </p:cNvPr>
          <p:cNvGraphicFramePr/>
          <p:nvPr/>
        </p:nvGraphicFramePr>
        <p:xfrm>
          <a:off xmlns:a="http://schemas.openxmlformats.org/drawingml/2006/main" x="619125" y="2238375"/>
          <a:ext xmlns:a="http://schemas.openxmlformats.org/drawingml/2006/main" cx="14001750" cy="4619625"/>
        </p:xfrm>
        <a:graphic xmlns:a="http://schemas.openxmlformats.org/drawingml/2006/main">
          <a:graphicData uri="http://schemas.openxmlformats.org/drawingml/2006/table">
            <a:tbl>
              <a:tblPr/>
              <a:tblGrid>
                <a:gridCol w="4000500"/>
                <a:gridCol w="4953000"/>
                <a:gridCol w="5048250"/>
              </a:tblGrid>
              <a:tr h="923925">
                <a:tc>
                  <a:txBody>
                    <a:bodyPr/>
                    <a:lstStyle/>
                    <a:p>
                      <a:r>
                        <a:rPr sz="2100" b="1">
                          <a:solidFill>
                            <a:srgbClr val="FFFFFF"/>
                          </a:solidFill>
                          <a:latin typeface="Arial"/>
                          <a:ea typeface="Arial"/>
                          <a:cs typeface="Arial"/>
                        </a:rPr>
                        <a:t>Research</a:t>
                      </a:r>
                    </a:p>
                  </a:txBody>
                  <a:tcPr marL="91440" marR="91440" marT="45720" marB="45720">
                    <a:solidFill>
                      <a:srgbClr val="142D3D"/>
                    </a:solidFill>
                  </a:tcPr>
                </a:tc>
                <a:tc>
                  <a:txBody>
                    <a:bodyPr/>
                    <a:lstStyle/>
                    <a:p>
                      <a:r>
                        <a:rPr sz="2100" b="1">
                          <a:solidFill>
                            <a:srgbClr val="FFFFFF"/>
                          </a:solidFill>
                          <a:latin typeface="Arial"/>
                          <a:ea typeface="Arial"/>
                          <a:cs typeface="Arial"/>
                        </a:rPr>
                        <a:t>Useful principle</a:t>
                      </a:r>
                    </a:p>
                  </a:txBody>
                  <a:tcPr marL="91440" marR="91440" marT="45720" marB="45720">
                    <a:solidFill>
                      <a:srgbClr val="142D3D"/>
                    </a:solidFill>
                  </a:tcPr>
                </a:tc>
                <a:tc>
                  <a:txBody>
                    <a:bodyPr/>
                    <a:lstStyle/>
                    <a:p>
                      <a:r>
                        <a:rPr sz="2100" b="1">
                          <a:solidFill>
                            <a:srgbClr val="FFFFFF"/>
                          </a:solidFill>
                          <a:latin typeface="Arial"/>
                          <a:ea typeface="Arial"/>
                          <a:cs typeface="Arial"/>
                        </a:rPr>
                        <a:t>Boundary for our work</a:t>
                      </a:r>
                    </a:p>
                  </a:txBody>
                  <a:tcPr marL="91440" marR="91440" marT="45720" marB="45720">
                    <a:solidFill>
                      <a:srgbClr val="142D3D"/>
                    </a:solidFill>
                  </a:tcPr>
                </a:tc>
              </a:tr>
              <a:tr h="923925">
                <a:tc>
                  <a:txBody>
                    <a:bodyPr/>
                    <a:lstStyle/>
                    <a:p>
                      <a:r>
                        <a:rPr sz="2100" b="0">
                          <a:solidFill>
                            <a:srgbClr val="142D3D"/>
                          </a:solidFill>
                          <a:latin typeface="Arial"/>
                          <a:ea typeface="Arial"/>
                          <a:cs typeface="Arial"/>
                        </a:rPr>
                        <a:t>RAG, NeurIPS 2020</a:t>
                      </a:r>
                    </a:p>
                  </a:txBody>
                  <a:tcPr marL="91440" marR="91440" marT="45720" marB="45720">
                    <a:solidFill>
                      <a:srgbClr val="FFFFFF"/>
                    </a:solidFill>
                  </a:tcPr>
                </a:tc>
                <a:tc>
                  <a:txBody>
                    <a:bodyPr/>
                    <a:lstStyle/>
                    <a:p>
                      <a:r>
                        <a:rPr sz="2100" b="0">
                          <a:solidFill>
                            <a:srgbClr val="142D3D"/>
                          </a:solidFill>
                          <a:latin typeface="Arial"/>
                          <a:ea typeface="Arial"/>
                          <a:cs typeface="Arial"/>
                        </a:rPr>
                        <a:t>Supply evidence during generation</a:t>
                      </a:r>
                    </a:p>
                  </a:txBody>
                  <a:tcPr marL="91440" marR="91440" marT="45720" marB="45720">
                    <a:solidFill>
                      <a:srgbClr val="FFFFFF"/>
                    </a:solidFill>
                  </a:tcPr>
                </a:tc>
                <a:tc>
                  <a:txBody>
                    <a:bodyPr/>
                    <a:lstStyle/>
                    <a:p>
                      <a:r>
                        <a:rPr sz="2100" b="0">
                          <a:solidFill>
                            <a:srgbClr val="142D3D"/>
                          </a:solidFill>
                          <a:latin typeface="Arial"/>
                          <a:ea typeface="Arial"/>
                          <a:cs typeface="Arial"/>
                        </a:rPr>
                        <a:t>We did not reproduce its training</a:t>
                      </a:r>
                    </a:p>
                  </a:txBody>
                  <a:tcPr marL="91440" marR="91440" marT="45720" marB="45720">
                    <a:solidFill>
                      <a:srgbClr val="FFFFFF"/>
                    </a:solidFill>
                  </a:tcPr>
                </a:tc>
              </a:tr>
              <a:tr h="923925">
                <a:tc>
                  <a:txBody>
                    <a:bodyPr/>
                    <a:lstStyle/>
                    <a:p>
                      <a:r>
                        <a:rPr sz="2100" b="0">
                          <a:solidFill>
                            <a:srgbClr val="142D3D"/>
                          </a:solidFill>
                          <a:latin typeface="Arial"/>
                          <a:ea typeface="Arial"/>
                          <a:cs typeface="Arial"/>
                        </a:rPr>
                        <a:t>GEO, KDD 2024</a:t>
                      </a:r>
                    </a:p>
                  </a:txBody>
                  <a:tcPr marL="91440" marR="91440" marT="45720" marB="45720">
                    <a:solidFill>
                      <a:srgbClr val="E9F0F1"/>
                    </a:solidFill>
                  </a:tcPr>
                </a:tc>
                <a:tc>
                  <a:txBody>
                    <a:bodyPr/>
                    <a:lstStyle/>
                    <a:p>
                      <a:r>
                        <a:rPr sz="2100" b="0">
                          <a:solidFill>
                            <a:srgbClr val="142D3D"/>
                          </a:solidFill>
                          <a:latin typeface="Arial"/>
                          <a:ea typeface="Arial"/>
                          <a:cs typeface="Arial"/>
                        </a:rPr>
                        <a:t>Test source changes and visibility</a:t>
                      </a:r>
                    </a:p>
                  </a:txBody>
                  <a:tcPr marL="91440" marR="91440" marT="45720" marB="45720">
                    <a:solidFill>
                      <a:srgbClr val="E9F0F1"/>
                    </a:solidFill>
                  </a:tcPr>
                </a:tc>
                <a:tc>
                  <a:txBody>
                    <a:bodyPr/>
                    <a:lstStyle/>
                    <a:p>
                      <a:r>
                        <a:rPr sz="2100" b="0">
                          <a:solidFill>
                            <a:srgbClr val="142D3D"/>
                          </a:solidFill>
                          <a:latin typeface="Arial"/>
                          <a:ea typeface="Arial"/>
                          <a:cs typeface="Arial"/>
                        </a:rPr>
                        <a:t>Our binary inclusion metric differs</a:t>
                      </a:r>
                    </a:p>
                  </a:txBody>
                  <a:tcPr marL="91440" marR="91440" marT="45720" marB="45720">
                    <a:solidFill>
                      <a:srgbClr val="E9F0F1"/>
                    </a:solidFill>
                  </a:tcPr>
                </a:tc>
              </a:tr>
              <a:tr h="923925">
                <a:tc>
                  <a:txBody>
                    <a:bodyPr/>
                    <a:lstStyle/>
                    <a:p>
                      <a:r>
                        <a:rPr sz="2100" b="0">
                          <a:solidFill>
                            <a:srgbClr val="142D3D"/>
                          </a:solidFill>
                          <a:latin typeface="Arial"/>
                          <a:ea typeface="Arial"/>
                          <a:cs typeface="Arial"/>
                        </a:rPr>
                        <a:t>ALCE, EMNLP 2023</a:t>
                      </a:r>
                    </a:p>
                  </a:txBody>
                  <a:tcPr marL="91440" marR="91440" marT="45720" marB="45720">
                    <a:solidFill>
                      <a:srgbClr val="FFFFFF"/>
                    </a:solidFill>
                  </a:tcPr>
                </a:tc>
                <a:tc>
                  <a:txBody>
                    <a:bodyPr/>
                    <a:lstStyle/>
                    <a:p>
                      <a:r>
                        <a:rPr sz="2100" b="0">
                          <a:solidFill>
                            <a:srgbClr val="142D3D"/>
                          </a:solidFill>
                          <a:latin typeface="Arial"/>
                          <a:ea typeface="Arial"/>
                          <a:cs typeface="Arial"/>
                        </a:rPr>
                        <a:t>Evaluate citation support separately</a:t>
                      </a:r>
                    </a:p>
                  </a:txBody>
                  <a:tcPr marL="91440" marR="91440" marT="45720" marB="45720">
                    <a:solidFill>
                      <a:srgbClr val="FFFFFF"/>
                    </a:solidFill>
                  </a:tcPr>
                </a:tc>
                <a:tc>
                  <a:txBody>
                    <a:bodyPr/>
                    <a:lstStyle/>
                    <a:p>
                      <a:r>
                        <a:rPr sz="2100" b="0">
                          <a:solidFill>
                            <a:srgbClr val="142D3D"/>
                          </a:solidFill>
                          <a:latin typeface="Arial"/>
                          <a:ea typeface="Arial"/>
                          <a:cs typeface="Arial"/>
                        </a:rPr>
                        <a:t>Presence alone is not correctness</a:t>
                      </a:r>
                    </a:p>
                  </a:txBody>
                  <a:tcPr marL="91440" marR="91440" marT="45720" marB="45720">
                    <a:solidFill>
                      <a:srgbClr val="FFFFFF"/>
                    </a:solidFill>
                  </a:tcPr>
                </a:tc>
              </a:tr>
              <a:tr h="923925">
                <a:tc>
                  <a:txBody>
                    <a:bodyPr/>
                    <a:lstStyle/>
                    <a:p>
                      <a:r>
                        <a:rPr sz="2100" b="0">
                          <a:solidFill>
                            <a:srgbClr val="142D3D"/>
                          </a:solidFill>
                          <a:latin typeface="Arial"/>
                          <a:ea typeface="Arial"/>
                          <a:cs typeface="Arial"/>
                        </a:rPr>
                        <a:t>Lost in the Middle, TACL 2024</a:t>
                      </a:r>
                    </a:p>
                  </a:txBody>
                  <a:tcPr marL="91440" marR="91440" marT="45720" marB="45720">
                    <a:solidFill>
                      <a:srgbClr val="E9F0F1"/>
                    </a:solidFill>
                  </a:tcPr>
                </a:tc>
                <a:tc>
                  <a:txBody>
                    <a:bodyPr/>
                    <a:lstStyle/>
                    <a:p>
                      <a:r>
                        <a:rPr sz="2100" b="0">
                          <a:solidFill>
                            <a:srgbClr val="142D3D"/>
                          </a:solidFill>
                          <a:latin typeface="Arial"/>
                          <a:ea typeface="Arial"/>
                          <a:cs typeface="Arial"/>
                        </a:rPr>
                        <a:t>Examine source-order sensitivity</a:t>
                      </a:r>
                    </a:p>
                  </a:txBody>
                  <a:tcPr marL="91440" marR="91440" marT="45720" marB="45720">
                    <a:solidFill>
                      <a:srgbClr val="E9F0F1"/>
                    </a:solidFill>
                  </a:tcPr>
                </a:tc>
                <a:tc>
                  <a:txBody>
                    <a:bodyPr/>
                    <a:lstStyle/>
                    <a:p>
                      <a:r>
                        <a:rPr sz="2100" b="0">
                          <a:solidFill>
                            <a:srgbClr val="142D3D"/>
                          </a:solidFill>
                          <a:latin typeface="Arial"/>
                          <a:ea typeface="Arial"/>
                          <a:cs typeface="Arial"/>
                        </a:rPr>
                        <a:t>Context position is not web rank</a:t>
                      </a:r>
                    </a:p>
                  </a:txBody>
                  <a:tcPr marL="91440" marR="91440" marT="45720" marB="45720">
                    <a:solidFill>
                      <a:srgbClr val="E9F0F1"/>
                    </a:solidFill>
                  </a:tcPr>
                </a:tc>
              </a:tr>
            </a:tbl>
          </a:graphicData>
        </a:graphic>
      </p:graphicFrame>
    </p:spTree>
    <p:extLst>
      <p:ext uri="{BB962C8B-B14F-4D97-AF65-F5344CB8AC3E}">
        <p14:creationId xmlns:p14="http://schemas.microsoft.com/office/powerpoint/2010/main" val="1833892222"/>
      </p:ext>
    </p:extLst>
  </p:cSld>
</p:sld>
</file>

<file path=ppt/slides/slide23.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0D7582-C58A-4F91-9029-00300A3E754C}"/>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BACKUP • QUESTIONS</a:t>
            </a:r>
          </a:p>
        </p:txBody>
      </p:sp>
      <p:sp>
        <p:nvSpPr>
          <p:cNvPr id="2" name="">
            <a:extLst xmlns:a="http://schemas.openxmlformats.org/drawingml/2006/main">
              <a:ext uri="{FF2B5EF4-FFF2-40B4-BE49-F238E27FC236}">
                <a16:creationId xmlns:a16="http://schemas.microsoft.com/office/drawing/2014/main" id="{F3204729-9C04-453D-A07B-5422E5062239}"/>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Repeating the same pages did not give identical answers</a:t>
            </a:r>
          </a:p>
        </p:txBody>
      </p:sp>
      <p:sp>
        <p:nvSpPr>
          <p:cNvPr id="3" name="">
            <a:extLst xmlns:a="http://schemas.openxmlformats.org/drawingml/2006/main">
              <a:ext uri="{FF2B5EF4-FFF2-40B4-BE49-F238E27FC236}">
                <a16:creationId xmlns:a16="http://schemas.microsoft.com/office/drawing/2014/main" id="{97AC867E-6DC7-4DCC-8FD4-1ACEAC1E0C87}"/>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870049C-1F5C-4B5E-91A7-37EEC3B83CC4}"/>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Repeated trials estimate variation; they do not make a language model deterministic.</a:t>
            </a:r>
          </a:p>
        </p:txBody>
      </p:sp>
      <p:sp>
        <p:nvSpPr>
          <p:cNvPr id="5" name="">
            <a:extLst xmlns:a="http://schemas.openxmlformats.org/drawingml/2006/main">
              <a:ext uri="{FF2B5EF4-FFF2-40B4-BE49-F238E27FC236}">
                <a16:creationId xmlns:a16="http://schemas.microsoft.com/office/drawing/2014/main" id="{1650CCAF-DE2F-45B8-A76B-D6746466D43E}"/>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Supporting evidence 5 / 8   •   Full references in speaker notes</a:t>
            </a:r>
          </a:p>
        </p:txBody>
      </p:sp>
      <p:graphicFrame>
        <p:nvGraphicFramePr>
          <p:cNvPr id="6" name="">
            <a:extLst xmlns:a="http://schemas.openxmlformats.org/drawingml/2006/main">
              <a:ext uri="{FF2B5EF4-FFF2-40B4-BE49-F238E27FC236}">
                <a16:creationId xmlns:a16="http://schemas.microsoft.com/office/drawing/2014/main" id="{47401EA0-24EE-441C-8A93-2927E1C42B6F}"/>
              </a:ext>
            </a:extLst>
          </p:cNvPr>
          <p:cNvGraphicFramePr/>
          <p:nvPr/>
        </p:nvGraphicFramePr>
        <p:xfrm>
          <a:off xmlns:a="http://schemas.openxmlformats.org/drawingml/2006/main" x="619125" y="2286000"/>
          <a:ext xmlns:a="http://schemas.openxmlformats.org/drawingml/2006/main" cx="14001750" cy="3429000"/>
        </p:xfrm>
        <a:graphic xmlns:a="http://schemas.openxmlformats.org/drawingml/2006/main">
          <a:graphicData uri="http://schemas.openxmlformats.org/drawingml/2006/table">
            <a:tbl>
              <a:tblPr/>
              <a:tblGrid>
                <a:gridCol w="5334000"/>
                <a:gridCol w="3333750"/>
                <a:gridCol w="5334000"/>
              </a:tblGrid>
              <a:tr h="857250">
                <a:tc>
                  <a:txBody>
                    <a:bodyPr/>
                    <a:lstStyle/>
                    <a:p>
                      <a:r>
                        <a:rPr sz="2250" b="1">
                          <a:solidFill>
                            <a:srgbClr val="FFFFFF"/>
                          </a:solidFill>
                          <a:latin typeface="Arial"/>
                          <a:ea typeface="Arial"/>
                          <a:cs typeface="Arial"/>
                        </a:rPr>
                        <a:t>Treatment version / run</a:t>
                      </a:r>
                    </a:p>
                  </a:txBody>
                  <a:tcPr marL="91440" marR="91440" marT="45720" marB="45720">
                    <a:solidFill>
                      <a:srgbClr val="142D3D"/>
                    </a:solidFill>
                  </a:tcPr>
                </a:tc>
                <a:tc>
                  <a:txBody>
                    <a:bodyPr/>
                    <a:lstStyle/>
                    <a:p>
                      <a:r>
                        <a:rPr sz="2250" b="1">
                          <a:solidFill>
                            <a:srgbClr val="FFFFFF"/>
                          </a:solidFill>
                          <a:latin typeface="Arial"/>
                          <a:ea typeface="Arial"/>
                          <a:cs typeface="Arial"/>
                        </a:rPr>
                        <a:t>Citing answers</a:t>
                      </a:r>
                    </a:p>
                  </a:txBody>
                  <a:tcPr marL="91440" marR="91440" marT="45720" marB="45720">
                    <a:solidFill>
                      <a:srgbClr val="142D3D"/>
                    </a:solidFill>
                  </a:tcPr>
                </a:tc>
                <a:tc>
                  <a:txBody>
                    <a:bodyPr/>
                    <a:lstStyle/>
                    <a:p>
                      <a:r>
                        <a:rPr sz="2250" b="1">
                          <a:solidFill>
                            <a:srgbClr val="FFFFFF"/>
                          </a:solidFill>
                          <a:latin typeface="Arial"/>
                          <a:ea typeface="Arial"/>
                          <a:cs typeface="Arial"/>
                        </a:rPr>
                        <a:t>Meaning</a:t>
                      </a:r>
                    </a:p>
                  </a:txBody>
                  <a:tcPr marL="91440" marR="91440" marT="45720" marB="45720">
                    <a:solidFill>
                      <a:srgbClr val="142D3D"/>
                    </a:solidFill>
                  </a:tcPr>
                </a:tc>
              </a:tr>
              <a:tr h="857250">
                <a:tc>
                  <a:txBody>
                    <a:bodyPr/>
                    <a:lstStyle/>
                    <a:p>
                      <a:r>
                        <a:rPr sz="2250" b="0">
                          <a:solidFill>
                            <a:srgbClr val="142D3D"/>
                          </a:solidFill>
                          <a:latin typeface="Arial"/>
                          <a:ea typeface="Arial"/>
                          <a:cs typeface="Arial"/>
                        </a:rPr>
                        <a:t>Original unchanged package</a:t>
                      </a:r>
                    </a:p>
                  </a:txBody>
                  <a:tcPr marL="91440" marR="91440" marT="45720" marB="45720">
                    <a:solidFill>
                      <a:srgbClr val="FFFFFF"/>
                    </a:solidFill>
                  </a:tcPr>
                </a:tc>
                <a:tc>
                  <a:txBody>
                    <a:bodyPr/>
                    <a:lstStyle/>
                    <a:p>
                      <a:r>
                        <a:rPr sz="2250" b="0">
                          <a:solidFill>
                            <a:srgbClr val="142D3D"/>
                          </a:solidFill>
                          <a:latin typeface="Arial"/>
                          <a:ea typeface="Arial"/>
                          <a:cs typeface="Arial"/>
                        </a:rPr>
                        <a:t>143/290 = 49.3%</a:t>
                      </a:r>
                    </a:p>
                  </a:txBody>
                  <a:tcPr marL="91440" marR="91440" marT="45720" marB="45720">
                    <a:solidFill>
                      <a:srgbClr val="FFFFFF"/>
                    </a:solidFill>
                  </a:tcPr>
                </a:tc>
                <a:tc>
                  <a:txBody>
                    <a:bodyPr/>
                    <a:lstStyle/>
                    <a:p>
                      <a:r>
                        <a:rPr sz="2250" b="0">
                          <a:solidFill>
                            <a:srgbClr val="142D3D"/>
                          </a:solidFill>
                          <a:latin typeface="Arial"/>
                          <a:ea typeface="Arial"/>
                          <a:cs typeface="Arial"/>
                        </a:rPr>
                        <a:t>Initial generation of these pages</a:t>
                      </a:r>
                    </a:p>
                  </a:txBody>
                  <a:tcPr marL="91440" marR="91440" marT="45720" marB="45720">
                    <a:solidFill>
                      <a:srgbClr val="FFFFFF"/>
                    </a:solidFill>
                  </a:tcPr>
                </a:tc>
              </a:tr>
              <a:tr h="857250">
                <a:tc>
                  <a:txBody>
                    <a:bodyPr/>
                    <a:lstStyle/>
                    <a:p>
                      <a:r>
                        <a:rPr sz="2250" b="0">
                          <a:solidFill>
                            <a:srgbClr val="142D3D"/>
                          </a:solidFill>
                          <a:latin typeface="Arial"/>
                          <a:ea typeface="Arial"/>
                          <a:cs typeface="Arial"/>
                        </a:rPr>
                        <a:t>Unchanged package repeated</a:t>
                      </a:r>
                    </a:p>
                  </a:txBody>
                  <a:tcPr marL="91440" marR="91440" marT="45720" marB="45720">
                    <a:solidFill>
                      <a:srgbClr val="E9F0F1"/>
                    </a:solidFill>
                  </a:tcPr>
                </a:tc>
                <a:tc>
                  <a:txBody>
                    <a:bodyPr/>
                    <a:lstStyle/>
                    <a:p>
                      <a:r>
                        <a:rPr sz="2250" b="0">
                          <a:solidFill>
                            <a:srgbClr val="142D3D"/>
                          </a:solidFill>
                          <a:latin typeface="Arial"/>
                          <a:ea typeface="Arial"/>
                          <a:cs typeface="Arial"/>
                        </a:rPr>
                        <a:t>152/290 = 52.4%</a:t>
                      </a:r>
                    </a:p>
                  </a:txBody>
                  <a:tcPr marL="91440" marR="91440" marT="45720" marB="45720">
                    <a:solidFill>
                      <a:srgbClr val="E9F0F1"/>
                    </a:solidFill>
                  </a:tcPr>
                </a:tc>
                <a:tc>
                  <a:txBody>
                    <a:bodyPr/>
                    <a:lstStyle/>
                    <a:p>
                      <a:r>
                        <a:rPr sz="2250" b="0">
                          <a:solidFill>
                            <a:srgbClr val="142D3D"/>
                          </a:solidFill>
                          <a:latin typeface="Arial"/>
                          <a:ea typeface="Arial"/>
                          <a:cs typeface="Arial"/>
                        </a:rPr>
                        <a:t>Selected headline repeat</a:t>
                      </a:r>
                    </a:p>
                  </a:txBody>
                  <a:tcPr marL="91440" marR="91440" marT="45720" marB="45720">
                    <a:solidFill>
                      <a:srgbClr val="E9F0F1"/>
                    </a:solidFill>
                  </a:tcPr>
                </a:tc>
              </a:tr>
              <a:tr h="857250">
                <a:tc>
                  <a:txBody>
                    <a:bodyPr/>
                    <a:lstStyle/>
                    <a:p>
                      <a:r>
                        <a:rPr sz="2250" b="0">
                          <a:solidFill>
                            <a:srgbClr val="142D3D"/>
                          </a:solidFill>
                          <a:latin typeface="Arial"/>
                          <a:ea typeface="Arial"/>
                          <a:cs typeface="Arial"/>
                        </a:rPr>
                        <a:t>Price-matched follow-up</a:t>
                      </a:r>
                    </a:p>
                  </a:txBody>
                  <a:tcPr marL="91440" marR="91440" marT="45720" marB="45720">
                    <a:solidFill>
                      <a:srgbClr val="FFFFFF"/>
                    </a:solidFill>
                  </a:tcPr>
                </a:tc>
                <a:tc>
                  <a:txBody>
                    <a:bodyPr/>
                    <a:lstStyle/>
                    <a:p>
                      <a:r>
                        <a:rPr sz="2250" b="0">
                          <a:solidFill>
                            <a:srgbClr val="142D3D"/>
                          </a:solidFill>
                          <a:latin typeface="Arial"/>
                          <a:ea typeface="Arial"/>
                          <a:cs typeface="Arial"/>
                        </a:rPr>
                        <a:t>131/290 = 45.2%</a:t>
                      </a:r>
                    </a:p>
                  </a:txBody>
                  <a:tcPr marL="91440" marR="91440" marT="45720" marB="45720">
                    <a:solidFill>
                      <a:srgbClr val="FFFFFF"/>
                    </a:solidFill>
                  </a:tcPr>
                </a:tc>
                <a:tc>
                  <a:txBody>
                    <a:bodyPr/>
                    <a:lstStyle/>
                    <a:p>
                      <a:r>
                        <a:rPr sz="2250" b="0">
                          <a:solidFill>
                            <a:srgbClr val="142D3D"/>
                          </a:solidFill>
                          <a:latin typeface="Arial"/>
                          <a:ea typeface="Arial"/>
                          <a:cs typeface="Arial"/>
                        </a:rPr>
                        <a:t>A different page treatment</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8333A6AC-022F-4ADE-8364-70F7EF5222D1}"/>
              </a:ext>
            </a:extLst>
          </p:cNvPr>
          <p:cNvSpPr>
            <a:spLocks xmlns:a="http://schemas.openxmlformats.org/drawingml/2006/main" noGrp="1"/>
          </p:cNvSpPr>
          <p:nvPr/>
        </p:nvSpPr>
        <p:spPr>
          <a:xfrm xmlns:a="http://schemas.openxmlformats.org/drawingml/2006/main">
            <a:off x="619125" y="6238875"/>
            <a:ext cx="14001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B42146"/>
                </a:solidFill>
                <a:latin typeface="Arial"/>
                <a:ea typeface="Arial"/>
                <a:cs typeface="Arial"/>
              </a:defRPr>
            </a:defPPr>
            <a:lvl1pPr>
              <a:defRPr sz="2475" b="1">
                <a:solidFill>
                  <a:srgbClr val="B42146"/>
                </a:solidFill>
                <a:latin typeface="Arial"/>
                <a:ea typeface="Arial"/>
                <a:cs typeface="Arial"/>
              </a:defRPr>
            </a:lvl1pPr>
            <a:lvl2pPr>
              <a:defRPr sz="2475" b="1">
                <a:solidFill>
                  <a:srgbClr val="B42146"/>
                </a:solidFill>
                <a:latin typeface="Arial"/>
                <a:ea typeface="Arial"/>
                <a:cs typeface="Arial"/>
              </a:defRPr>
            </a:lvl2pPr>
            <a:lvl3pPr>
              <a:defRPr sz="2475" b="1">
                <a:solidFill>
                  <a:srgbClr val="B42146"/>
                </a:solidFill>
                <a:latin typeface="Arial"/>
                <a:ea typeface="Arial"/>
                <a:cs typeface="Arial"/>
              </a:defRPr>
            </a:lvl3pPr>
            <a:lvl4pPr>
              <a:defRPr sz="2475" b="1">
                <a:solidFill>
                  <a:srgbClr val="B42146"/>
                </a:solidFill>
                <a:latin typeface="Arial"/>
                <a:ea typeface="Arial"/>
                <a:cs typeface="Arial"/>
              </a:defRPr>
            </a:lvl4pPr>
            <a:lvl5pPr>
              <a:defRPr sz="2475" b="1">
                <a:solidFill>
                  <a:srgbClr val="B42146"/>
                </a:solidFill>
                <a:latin typeface="Arial"/>
                <a:ea typeface="Arial"/>
                <a:cs typeface="Arial"/>
              </a:defRPr>
            </a:lvl5pPr>
            <a:lvl6pPr>
              <a:defRPr sz="2475" b="1">
                <a:solidFill>
                  <a:srgbClr val="B42146"/>
                </a:solidFill>
                <a:latin typeface="Arial"/>
                <a:ea typeface="Arial"/>
                <a:cs typeface="Arial"/>
              </a:defRPr>
            </a:lvl6pPr>
            <a:lvl7pPr>
              <a:defRPr sz="2475" b="1">
                <a:solidFill>
                  <a:srgbClr val="B42146"/>
                </a:solidFill>
                <a:latin typeface="Arial"/>
                <a:ea typeface="Arial"/>
                <a:cs typeface="Arial"/>
              </a:defRPr>
            </a:lvl7pPr>
            <a:lvl8pPr>
              <a:defRPr sz="2475" b="1">
                <a:solidFill>
                  <a:srgbClr val="B42146"/>
                </a:solidFill>
                <a:latin typeface="Arial"/>
                <a:ea typeface="Arial"/>
                <a:cs typeface="Arial"/>
              </a:defRPr>
            </a:lvl8pPr>
            <a:lvl9pPr>
              <a:defRPr sz="2475" b="1">
                <a:solidFill>
                  <a:srgbClr val="B42146"/>
                </a:solidFill>
                <a:latin typeface="Arial"/>
                <a:ea typeface="Arial"/>
                <a:cs typeface="Arial"/>
              </a:defRPr>
            </a:lvl9pPr>
          </a:lstStyle>
          <a:p xmlns:a="http://schemas.openxmlformats.org/drawingml/2006/main">
            <a:pPr>
              <a:defRPr sz="2475" b="1">
                <a:solidFill>
                  <a:srgbClr val="B42146"/>
                </a:solidFill>
                <a:latin typeface="Arial"/>
                <a:ea typeface="Arial"/>
                <a:cs typeface="Arial"/>
              </a:defRPr>
            </a:pPr>
            <a:r>
              <a:rPr sz="2475" b="1">
                <a:solidFill>
                  <a:srgbClr val="B42146"/>
                </a:solidFill>
                <a:latin typeface="Arial"/>
                <a:ea typeface="Arial"/>
                <a:cs typeface="Arial"/>
              </a:rPr>
              <a:t>Repeat minus initial: +3.1 pp; 95% interval −2.8 to +8.3 pp.</a:t>
            </a:r>
          </a:p>
        </p:txBody>
      </p:sp>
      <p:sp>
        <p:nvSpPr>
          <p:cNvPr id="8" name="">
            <a:extLst xmlns:a="http://schemas.openxmlformats.org/drawingml/2006/main">
              <a:ext uri="{FF2B5EF4-FFF2-40B4-BE49-F238E27FC236}">
                <a16:creationId xmlns:a16="http://schemas.microsoft.com/office/drawing/2014/main" id="{94897C0E-BA08-4DCE-ADF5-571EB1387192}"/>
              </a:ext>
            </a:extLst>
          </p:cNvPr>
          <p:cNvSpPr>
            <a:spLocks xmlns:a="http://schemas.openxmlformats.org/drawingml/2006/main" noGrp="1"/>
          </p:cNvSpPr>
          <p:nvPr/>
        </p:nvSpPr>
        <p:spPr>
          <a:xfrm xmlns:a="http://schemas.openxmlformats.org/drawingml/2006/main">
            <a:off x="619125" y="6943725"/>
            <a:ext cx="14001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506574"/>
                </a:solidFill>
                <a:latin typeface="Arial"/>
                <a:ea typeface="Arial"/>
                <a:cs typeface="Arial"/>
              </a:defRPr>
            </a:defPPr>
            <a:lvl1pPr>
              <a:defRPr sz="2100" b="0">
                <a:solidFill>
                  <a:srgbClr val="506574"/>
                </a:solidFill>
                <a:latin typeface="Arial"/>
                <a:ea typeface="Arial"/>
                <a:cs typeface="Arial"/>
              </a:defRPr>
            </a:lvl1pPr>
            <a:lvl2pPr>
              <a:defRPr sz="2100" b="0">
                <a:solidFill>
                  <a:srgbClr val="506574"/>
                </a:solidFill>
                <a:latin typeface="Arial"/>
                <a:ea typeface="Arial"/>
                <a:cs typeface="Arial"/>
              </a:defRPr>
            </a:lvl2pPr>
            <a:lvl3pPr>
              <a:defRPr sz="2100" b="0">
                <a:solidFill>
                  <a:srgbClr val="506574"/>
                </a:solidFill>
                <a:latin typeface="Arial"/>
                <a:ea typeface="Arial"/>
                <a:cs typeface="Arial"/>
              </a:defRPr>
            </a:lvl3pPr>
            <a:lvl4pPr>
              <a:defRPr sz="2100" b="0">
                <a:solidFill>
                  <a:srgbClr val="506574"/>
                </a:solidFill>
                <a:latin typeface="Arial"/>
                <a:ea typeface="Arial"/>
                <a:cs typeface="Arial"/>
              </a:defRPr>
            </a:lvl4pPr>
            <a:lvl5pPr>
              <a:defRPr sz="2100" b="0">
                <a:solidFill>
                  <a:srgbClr val="506574"/>
                </a:solidFill>
                <a:latin typeface="Arial"/>
                <a:ea typeface="Arial"/>
                <a:cs typeface="Arial"/>
              </a:defRPr>
            </a:lvl5pPr>
            <a:lvl6pPr>
              <a:defRPr sz="2100" b="0">
                <a:solidFill>
                  <a:srgbClr val="506574"/>
                </a:solidFill>
                <a:latin typeface="Arial"/>
                <a:ea typeface="Arial"/>
                <a:cs typeface="Arial"/>
              </a:defRPr>
            </a:lvl6pPr>
            <a:lvl7pPr>
              <a:defRPr sz="2100" b="0">
                <a:solidFill>
                  <a:srgbClr val="506574"/>
                </a:solidFill>
                <a:latin typeface="Arial"/>
                <a:ea typeface="Arial"/>
                <a:cs typeface="Arial"/>
              </a:defRPr>
            </a:lvl7pPr>
            <a:lvl8pPr>
              <a:defRPr sz="2100" b="0">
                <a:solidFill>
                  <a:srgbClr val="506574"/>
                </a:solidFill>
                <a:latin typeface="Arial"/>
                <a:ea typeface="Arial"/>
                <a:cs typeface="Arial"/>
              </a:defRPr>
            </a:lvl8pPr>
            <a:lvl9pPr>
              <a:defRPr sz="2100" b="0">
                <a:solidFill>
                  <a:srgbClr val="506574"/>
                </a:solidFill>
                <a:latin typeface="Arial"/>
                <a:ea typeface="Arial"/>
                <a:cs typeface="Arial"/>
              </a:defRPr>
            </a:lvl9pPr>
          </a:lstStyle>
          <a:p xmlns:a="http://schemas.openxmlformats.org/drawingml/2006/main">
            <a:pPr>
              <a:defRPr sz="2100" b="0">
                <a:solidFill>
                  <a:srgbClr val="506574"/>
                </a:solidFill>
                <a:latin typeface="Arial"/>
                <a:ea typeface="Arial"/>
                <a:cs typeface="Arial"/>
              </a:defRPr>
            </a:pPr>
            <a:r>
              <a:rPr sz="2100" b="0">
                <a:solidFill>
                  <a:srgbClr val="506574"/>
                </a:solidFill>
                <a:latin typeface="Arial"/>
                <a:ea typeface="Arial"/>
                <a:cs typeface="Arial"/>
              </a:rPr>
              <a:t>Same page content does not guarantee identical model answers.</a:t>
            </a:r>
          </a:p>
        </p:txBody>
      </p:sp>
    </p:spTree>
    <p:extLst>
      <p:ext uri="{BB962C8B-B14F-4D97-AF65-F5344CB8AC3E}">
        <p14:creationId xmlns:p14="http://schemas.microsoft.com/office/powerpoint/2010/main" val="1230097102"/>
      </p:ext>
    </p:extLst>
  </p:cSld>
</p:sld>
</file>

<file path=ppt/slides/slide24.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43A948E-4BF8-4D11-85C8-66213007BE2D}"/>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BACKUP • QUESTIONS</a:t>
            </a:r>
          </a:p>
        </p:txBody>
      </p:sp>
      <p:sp>
        <p:nvSpPr>
          <p:cNvPr id="2" name="">
            <a:extLst xmlns:a="http://schemas.openxmlformats.org/drawingml/2006/main">
              <a:ext uri="{FF2B5EF4-FFF2-40B4-BE49-F238E27FC236}">
                <a16:creationId xmlns:a16="http://schemas.microsoft.com/office/drawing/2014/main" id="{0796D47E-56E1-4688-8F3C-E379D8986280}"/>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Assessment and handover checklist</a:t>
            </a:r>
          </a:p>
        </p:txBody>
      </p:sp>
      <p:sp>
        <p:nvSpPr>
          <p:cNvPr id="3" name="">
            <a:extLst xmlns:a="http://schemas.openxmlformats.org/drawingml/2006/main">
              <a:ext uri="{FF2B5EF4-FFF2-40B4-BE49-F238E27FC236}">
                <a16:creationId xmlns:a16="http://schemas.microsoft.com/office/drawing/2014/main" id="{DD60E0E0-DC96-4B7B-BF75-3FE44784C3F8}"/>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861DC18-E68A-427D-B1D3-159C06AA588B}"/>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20 minutes presenting + 5 minutes for questions; every member speaks.</a:t>
            </a:r>
          </a:p>
        </p:txBody>
      </p:sp>
      <p:sp>
        <p:nvSpPr>
          <p:cNvPr id="5" name="">
            <a:extLst xmlns:a="http://schemas.openxmlformats.org/drawingml/2006/main">
              <a:ext uri="{FF2B5EF4-FFF2-40B4-BE49-F238E27FC236}">
                <a16:creationId xmlns:a16="http://schemas.microsoft.com/office/drawing/2014/main" id="{54C4723B-C8FB-4DFD-BA1D-898A84A1FC93}"/>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Supporting evidence 6 / 8   •   Full references in speaker notes</a:t>
            </a:r>
          </a:p>
        </p:txBody>
      </p:sp>
      <p:sp>
        <p:nvSpPr>
          <p:cNvPr id="6" name="">
            <a:extLst xmlns:a="http://schemas.openxmlformats.org/drawingml/2006/main">
              <a:ext uri="{FF2B5EF4-FFF2-40B4-BE49-F238E27FC236}">
                <a16:creationId xmlns:a16="http://schemas.microsoft.com/office/drawing/2014/main" id="{F20C59EA-704D-4940-8301-2E255BADA687}"/>
              </a:ext>
            </a:extLst>
          </p:cNvPr>
          <p:cNvSpPr>
            <a:spLocks xmlns:a="http://schemas.openxmlformats.org/drawingml/2006/main" noGrp="1"/>
          </p:cNvSpPr>
          <p:nvPr/>
        </p:nvSpPr>
        <p:spPr>
          <a:xfrm xmlns:a="http://schemas.openxmlformats.org/drawingml/2006/main">
            <a:off x="619125" y="25717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FB724788-60B0-4AF5-ADF1-9FD674F55531}"/>
              </a:ext>
            </a:extLst>
          </p:cNvPr>
          <p:cNvSpPr>
            <a:spLocks xmlns:a="http://schemas.openxmlformats.org/drawingml/2006/main" noGrp="1"/>
          </p:cNvSpPr>
          <p:nvPr/>
        </p:nvSpPr>
        <p:spPr>
          <a:xfrm xmlns:a="http://schemas.openxmlformats.org/drawingml/2006/main">
            <a:off x="1600200" y="257175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15 marks</a:t>
            </a:r>
          </a:p>
        </p:txBody>
      </p:sp>
      <p:sp>
        <p:nvSpPr>
          <p:cNvPr id="8" name="">
            <a:extLst xmlns:a="http://schemas.openxmlformats.org/drawingml/2006/main">
              <a:ext uri="{FF2B5EF4-FFF2-40B4-BE49-F238E27FC236}">
                <a16:creationId xmlns:a16="http://schemas.microsoft.com/office/drawing/2014/main" id="{3120C14C-069D-4822-823A-D0D5C9B77B7E}"/>
              </a:ext>
            </a:extLst>
          </p:cNvPr>
          <p:cNvSpPr>
            <a:spLocks xmlns:a="http://schemas.openxmlformats.org/drawingml/2006/main" noGrp="1"/>
          </p:cNvSpPr>
          <p:nvPr/>
        </p:nvSpPr>
        <p:spPr>
          <a:xfrm xmlns:a="http://schemas.openxmlformats.org/drawingml/2006/main">
            <a:off x="5381625" y="2571750"/>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Project discussion, architecture and demonstration</a:t>
            </a:r>
          </a:p>
        </p:txBody>
      </p:sp>
      <p:sp>
        <p:nvSpPr>
          <p:cNvPr id="9" name="">
            <a:extLst xmlns:a="http://schemas.openxmlformats.org/drawingml/2006/main">
              <a:ext uri="{FF2B5EF4-FFF2-40B4-BE49-F238E27FC236}">
                <a16:creationId xmlns:a16="http://schemas.microsoft.com/office/drawing/2014/main" id="{7B532B7D-E46A-40B6-AFE9-DA63C05269D8}"/>
              </a:ext>
            </a:extLst>
          </p:cNvPr>
          <p:cNvSpPr>
            <a:spLocks xmlns:a="http://schemas.openxmlformats.org/drawingml/2006/main" noGrp="1"/>
          </p:cNvSpPr>
          <p:nvPr/>
        </p:nvSpPr>
        <p:spPr>
          <a:xfrm xmlns:a="http://schemas.openxmlformats.org/drawingml/2006/main">
            <a:off x="619125" y="4048125"/>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9B90D0B4-B81A-467C-8DE7-CBC1AF133F52}"/>
              </a:ext>
            </a:extLst>
          </p:cNvPr>
          <p:cNvSpPr>
            <a:spLocks xmlns:a="http://schemas.openxmlformats.org/drawingml/2006/main" noGrp="1"/>
          </p:cNvSpPr>
          <p:nvPr/>
        </p:nvSpPr>
        <p:spPr>
          <a:xfrm xmlns:a="http://schemas.openxmlformats.org/drawingml/2006/main">
            <a:off x="1600200" y="4048125"/>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5 marks</a:t>
            </a:r>
          </a:p>
        </p:txBody>
      </p:sp>
      <p:sp>
        <p:nvSpPr>
          <p:cNvPr id="11" name="">
            <a:extLst xmlns:a="http://schemas.openxmlformats.org/drawingml/2006/main">
              <a:ext uri="{FF2B5EF4-FFF2-40B4-BE49-F238E27FC236}">
                <a16:creationId xmlns:a16="http://schemas.microsoft.com/office/drawing/2014/main" id="{602409DE-D102-40E2-96A2-C3DF3C67209C}"/>
              </a:ext>
            </a:extLst>
          </p:cNvPr>
          <p:cNvSpPr>
            <a:spLocks xmlns:a="http://schemas.openxmlformats.org/drawingml/2006/main" noGrp="1"/>
          </p:cNvSpPr>
          <p:nvPr/>
        </p:nvSpPr>
        <p:spPr>
          <a:xfrm xmlns:a="http://schemas.openxmlformats.org/drawingml/2006/main">
            <a:off x="5381625" y="4048125"/>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Clear communication and useful slides</a:t>
            </a:r>
          </a:p>
        </p:txBody>
      </p:sp>
      <p:sp>
        <p:nvSpPr>
          <p:cNvPr id="12" name="">
            <a:extLst xmlns:a="http://schemas.openxmlformats.org/drawingml/2006/main">
              <a:ext uri="{FF2B5EF4-FFF2-40B4-BE49-F238E27FC236}">
                <a16:creationId xmlns:a16="http://schemas.microsoft.com/office/drawing/2014/main" id="{9A028F77-8C61-410E-9B0B-160EAA821F7D}"/>
              </a:ext>
            </a:extLst>
          </p:cNvPr>
          <p:cNvSpPr>
            <a:spLocks xmlns:a="http://schemas.openxmlformats.org/drawingml/2006/main" noGrp="1"/>
          </p:cNvSpPr>
          <p:nvPr/>
        </p:nvSpPr>
        <p:spPr>
          <a:xfrm xmlns:a="http://schemas.openxmlformats.org/drawingml/2006/main">
            <a:off x="619125" y="55245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037C84D4-2CC4-475F-8E7C-ECA050E541C5}"/>
              </a:ext>
            </a:extLst>
          </p:cNvPr>
          <p:cNvSpPr>
            <a:spLocks xmlns:a="http://schemas.openxmlformats.org/drawingml/2006/main" noGrp="1"/>
          </p:cNvSpPr>
          <p:nvPr/>
        </p:nvSpPr>
        <p:spPr>
          <a:xfrm xmlns:a="http://schemas.openxmlformats.org/drawingml/2006/main">
            <a:off x="1600200" y="552450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5 marks</a:t>
            </a:r>
          </a:p>
        </p:txBody>
      </p:sp>
      <p:sp>
        <p:nvSpPr>
          <p:cNvPr id="14" name="">
            <a:extLst xmlns:a="http://schemas.openxmlformats.org/drawingml/2006/main">
              <a:ext uri="{FF2B5EF4-FFF2-40B4-BE49-F238E27FC236}">
                <a16:creationId xmlns:a16="http://schemas.microsoft.com/office/drawing/2014/main" id="{13FAC5B5-86F2-42EB-A71F-9A17E63C7C16}"/>
              </a:ext>
            </a:extLst>
          </p:cNvPr>
          <p:cNvSpPr>
            <a:spLocks xmlns:a="http://schemas.openxmlformats.org/drawingml/2006/main" noGrp="1"/>
          </p:cNvSpPr>
          <p:nvPr/>
        </p:nvSpPr>
        <p:spPr>
          <a:xfrm xmlns:a="http://schemas.openxmlformats.org/drawingml/2006/main">
            <a:off x="5381625" y="5524500"/>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Timing, preparation and smooth delivery</a:t>
            </a:r>
          </a:p>
        </p:txBody>
      </p:sp>
    </p:spTree>
    <p:extLst>
      <p:ext uri="{BB962C8B-B14F-4D97-AF65-F5344CB8AC3E}">
        <p14:creationId xmlns:p14="http://schemas.microsoft.com/office/powerpoint/2010/main" val="913525284"/>
      </p:ext>
    </p:extLst>
  </p:cSld>
</p:sld>
</file>

<file path=ppt/slides/slide25.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2145971-F418-4D0B-9E00-E0CDA746E0BC}"/>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BACKUP • QUESTIONS</a:t>
            </a:r>
          </a:p>
        </p:txBody>
      </p:sp>
      <p:sp>
        <p:nvSpPr>
          <p:cNvPr id="2" name="">
            <a:extLst xmlns:a="http://schemas.openxmlformats.org/drawingml/2006/main">
              <a:ext uri="{FF2B5EF4-FFF2-40B4-BE49-F238E27FC236}">
                <a16:creationId xmlns:a16="http://schemas.microsoft.com/office/drawing/2014/main" id="{9E2E5DBA-4569-4DA2-99F1-43F11A869C64}"/>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A three-minute evidence walkthrough</a:t>
            </a:r>
          </a:p>
        </p:txBody>
      </p:sp>
      <p:sp>
        <p:nvSpPr>
          <p:cNvPr id="3" name="">
            <a:extLst xmlns:a="http://schemas.openxmlformats.org/drawingml/2006/main">
              <a:ext uri="{FF2B5EF4-FFF2-40B4-BE49-F238E27FC236}">
                <a16:creationId xmlns:a16="http://schemas.microsoft.com/office/drawing/2014/main" id="{D9D38442-1BE0-4C9F-871E-F38CFEF34F0B}"/>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7466802-F937-4298-B0C1-DB7484EF42A3}"/>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Everything needed for this walkthrough is in the extracted submission folder.</a:t>
            </a:r>
          </a:p>
        </p:txBody>
      </p:sp>
      <p:sp>
        <p:nvSpPr>
          <p:cNvPr id="5" name="">
            <a:extLst xmlns:a="http://schemas.openxmlformats.org/drawingml/2006/main">
              <a:ext uri="{FF2B5EF4-FFF2-40B4-BE49-F238E27FC236}">
                <a16:creationId xmlns:a16="http://schemas.microsoft.com/office/drawing/2014/main" id="{66AE2048-F937-415F-B2AC-627926EE8241}"/>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Supporting evidence 7 / 8   •   Full references in speaker notes</a:t>
            </a:r>
          </a:p>
        </p:txBody>
      </p:sp>
      <p:sp>
        <p:nvSpPr>
          <p:cNvPr id="6" name="">
            <a:extLst xmlns:a="http://schemas.openxmlformats.org/drawingml/2006/main">
              <a:ext uri="{FF2B5EF4-FFF2-40B4-BE49-F238E27FC236}">
                <a16:creationId xmlns:a16="http://schemas.microsoft.com/office/drawing/2014/main" id="{2088F626-B46F-45E8-BC9C-5782DF9A7CB2}"/>
              </a:ext>
            </a:extLst>
          </p:cNvPr>
          <p:cNvSpPr>
            <a:spLocks xmlns:a="http://schemas.openxmlformats.org/drawingml/2006/main" noGrp="1"/>
          </p:cNvSpPr>
          <p:nvPr/>
        </p:nvSpPr>
        <p:spPr>
          <a:xfrm xmlns:a="http://schemas.openxmlformats.org/drawingml/2006/main">
            <a:off x="619125" y="23050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01</a:t>
            </a:r>
          </a:p>
        </p:txBody>
      </p:sp>
      <p:sp>
        <p:nvSpPr>
          <p:cNvPr id="7" name="">
            <a:extLst xmlns:a="http://schemas.openxmlformats.org/drawingml/2006/main">
              <a:ext uri="{FF2B5EF4-FFF2-40B4-BE49-F238E27FC236}">
                <a16:creationId xmlns:a16="http://schemas.microsoft.com/office/drawing/2014/main" id="{C592D0E7-BEF9-42BA-80DA-008C45CADE59}"/>
              </a:ext>
            </a:extLst>
          </p:cNvPr>
          <p:cNvSpPr>
            <a:spLocks xmlns:a="http://schemas.openxmlformats.org/drawingml/2006/main" noGrp="1"/>
          </p:cNvSpPr>
          <p:nvPr/>
        </p:nvSpPr>
        <p:spPr>
          <a:xfrm xmlns:a="http://schemas.openxmlformats.org/drawingml/2006/main">
            <a:off x="1600200" y="230505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Open START_HERE.html</a:t>
            </a:r>
          </a:p>
        </p:txBody>
      </p:sp>
      <p:sp>
        <p:nvSpPr>
          <p:cNvPr id="8" name="">
            <a:extLst xmlns:a="http://schemas.openxmlformats.org/drawingml/2006/main">
              <a:ext uri="{FF2B5EF4-FFF2-40B4-BE49-F238E27FC236}">
                <a16:creationId xmlns:a16="http://schemas.microsoft.com/office/drawing/2014/main" id="{1D155F32-D219-4701-9BC9-9B5456C6CC9F}"/>
              </a:ext>
            </a:extLst>
          </p:cNvPr>
          <p:cNvSpPr>
            <a:spLocks xmlns:a="http://schemas.openxmlformats.org/drawingml/2006/main" noGrp="1"/>
          </p:cNvSpPr>
          <p:nvPr/>
        </p:nvSpPr>
        <p:spPr>
          <a:xfrm xmlns:a="http://schemas.openxmlformats.org/drawingml/2006/main">
            <a:off x="5381625" y="2305050"/>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Select a question → complete answers → numbered source maps.</a:t>
            </a:r>
          </a:p>
        </p:txBody>
      </p:sp>
      <p:sp>
        <p:nvSpPr>
          <p:cNvPr id="9" name="">
            <a:extLst xmlns:a="http://schemas.openxmlformats.org/drawingml/2006/main">
              <a:ext uri="{FF2B5EF4-FFF2-40B4-BE49-F238E27FC236}">
                <a16:creationId xmlns:a16="http://schemas.microsoft.com/office/drawing/2014/main" id="{CA09000F-0104-44C4-817F-594BF59708A5}"/>
              </a:ext>
            </a:extLst>
          </p:cNvPr>
          <p:cNvSpPr>
            <a:spLocks xmlns:a="http://schemas.openxmlformats.org/drawingml/2006/main" noGrp="1"/>
          </p:cNvSpPr>
          <p:nvPr/>
        </p:nvSpPr>
        <p:spPr>
          <a:xfrm xmlns:a="http://schemas.openxmlformats.org/drawingml/2006/main">
            <a:off x="619125" y="38290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02</a:t>
            </a:r>
          </a:p>
        </p:txBody>
      </p:sp>
      <p:sp>
        <p:nvSpPr>
          <p:cNvPr id="10" name="">
            <a:extLst xmlns:a="http://schemas.openxmlformats.org/drawingml/2006/main">
              <a:ext uri="{FF2B5EF4-FFF2-40B4-BE49-F238E27FC236}">
                <a16:creationId xmlns:a16="http://schemas.microsoft.com/office/drawing/2014/main" id="{356DDA5D-0716-4AF8-9186-4E003DB799F0}"/>
              </a:ext>
            </a:extLst>
          </p:cNvPr>
          <p:cNvSpPr>
            <a:spLocks xmlns:a="http://schemas.openxmlformats.org/drawingml/2006/main" noGrp="1"/>
          </p:cNvSpPr>
          <p:nvPr/>
        </p:nvSpPr>
        <p:spPr>
          <a:xfrm xmlns:a="http://schemas.openxmlformats.org/drawingml/2006/main">
            <a:off x="1600200" y="382905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Inspect pages</a:t>
            </a:r>
          </a:p>
        </p:txBody>
      </p:sp>
      <p:sp>
        <p:nvSpPr>
          <p:cNvPr id="11" name="">
            <a:extLst xmlns:a="http://schemas.openxmlformats.org/drawingml/2006/main">
              <a:ext uri="{FF2B5EF4-FFF2-40B4-BE49-F238E27FC236}">
                <a16:creationId xmlns:a16="http://schemas.microsoft.com/office/drawing/2014/main" id="{148F783F-7A25-4D1A-8043-4458E240B034}"/>
              </a:ext>
            </a:extLst>
          </p:cNvPr>
          <p:cNvSpPr>
            <a:spLocks xmlns:a="http://schemas.openxmlformats.org/drawingml/2006/main" noGrp="1"/>
          </p:cNvSpPr>
          <p:nvPr/>
        </p:nvSpPr>
        <p:spPr>
          <a:xfrm xmlns:a="http://schemas.openxmlformats.org/drawingml/2006/main">
            <a:off x="5381625" y="3829050"/>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Compare full source text; inspect the final page output and code.</a:t>
            </a:r>
          </a:p>
        </p:txBody>
      </p:sp>
      <p:sp>
        <p:nvSpPr>
          <p:cNvPr id="12" name="">
            <a:extLst xmlns:a="http://schemas.openxmlformats.org/drawingml/2006/main">
              <a:ext uri="{FF2B5EF4-FFF2-40B4-BE49-F238E27FC236}">
                <a16:creationId xmlns:a16="http://schemas.microsoft.com/office/drawing/2014/main" id="{F14C6066-742A-4791-B1FC-65B38B9DCB71}"/>
              </a:ext>
            </a:extLst>
          </p:cNvPr>
          <p:cNvSpPr>
            <a:spLocks xmlns:a="http://schemas.openxmlformats.org/drawingml/2006/main" noGrp="1"/>
          </p:cNvSpPr>
          <p:nvPr/>
        </p:nvSpPr>
        <p:spPr>
          <a:xfrm xmlns:a="http://schemas.openxmlformats.org/drawingml/2006/main">
            <a:off x="619125" y="53530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D82"/>
                </a:solidFill>
                <a:latin typeface="Arial"/>
                <a:ea typeface="Arial"/>
                <a:cs typeface="Arial"/>
              </a:defRPr>
            </a:defPPr>
            <a:lvl1pPr>
              <a:defRPr sz="3150" b="1">
                <a:solidFill>
                  <a:srgbClr val="087D82"/>
                </a:solidFill>
                <a:latin typeface="Arial"/>
                <a:ea typeface="Arial"/>
                <a:cs typeface="Arial"/>
              </a:defRPr>
            </a:lvl1pPr>
            <a:lvl2pPr>
              <a:defRPr sz="3150" b="1">
                <a:solidFill>
                  <a:srgbClr val="087D82"/>
                </a:solidFill>
                <a:latin typeface="Arial"/>
                <a:ea typeface="Arial"/>
                <a:cs typeface="Arial"/>
              </a:defRPr>
            </a:lvl2pPr>
            <a:lvl3pPr>
              <a:defRPr sz="3150" b="1">
                <a:solidFill>
                  <a:srgbClr val="087D82"/>
                </a:solidFill>
                <a:latin typeface="Arial"/>
                <a:ea typeface="Arial"/>
                <a:cs typeface="Arial"/>
              </a:defRPr>
            </a:lvl3pPr>
            <a:lvl4pPr>
              <a:defRPr sz="3150" b="1">
                <a:solidFill>
                  <a:srgbClr val="087D82"/>
                </a:solidFill>
                <a:latin typeface="Arial"/>
                <a:ea typeface="Arial"/>
                <a:cs typeface="Arial"/>
              </a:defRPr>
            </a:lvl4pPr>
            <a:lvl5pPr>
              <a:defRPr sz="3150" b="1">
                <a:solidFill>
                  <a:srgbClr val="087D82"/>
                </a:solidFill>
                <a:latin typeface="Arial"/>
                <a:ea typeface="Arial"/>
                <a:cs typeface="Arial"/>
              </a:defRPr>
            </a:lvl5pPr>
            <a:lvl6pPr>
              <a:defRPr sz="3150" b="1">
                <a:solidFill>
                  <a:srgbClr val="087D82"/>
                </a:solidFill>
                <a:latin typeface="Arial"/>
                <a:ea typeface="Arial"/>
                <a:cs typeface="Arial"/>
              </a:defRPr>
            </a:lvl6pPr>
            <a:lvl7pPr>
              <a:defRPr sz="3150" b="1">
                <a:solidFill>
                  <a:srgbClr val="087D82"/>
                </a:solidFill>
                <a:latin typeface="Arial"/>
                <a:ea typeface="Arial"/>
                <a:cs typeface="Arial"/>
              </a:defRPr>
            </a:lvl7pPr>
            <a:lvl8pPr>
              <a:defRPr sz="3150" b="1">
                <a:solidFill>
                  <a:srgbClr val="087D82"/>
                </a:solidFill>
                <a:latin typeface="Arial"/>
                <a:ea typeface="Arial"/>
                <a:cs typeface="Arial"/>
              </a:defRPr>
            </a:lvl8pPr>
            <a:lvl9pPr>
              <a:defRPr sz="3150" b="1">
                <a:solidFill>
                  <a:srgbClr val="087D82"/>
                </a:solidFill>
                <a:latin typeface="Arial"/>
                <a:ea typeface="Arial"/>
                <a:cs typeface="Arial"/>
              </a:defRPr>
            </a:lvl9pPr>
          </a:lstStyle>
          <a:p xmlns:a="http://schemas.openxmlformats.org/drawingml/2006/main">
            <a:pPr>
              <a:defRPr sz="3150" b="1">
                <a:solidFill>
                  <a:srgbClr val="087D82"/>
                </a:solidFill>
                <a:latin typeface="Arial"/>
                <a:ea typeface="Arial"/>
                <a:cs typeface="Arial"/>
              </a:defRPr>
            </a:pPr>
            <a:r>
              <a:rPr sz="3150" b="1">
                <a:solidFill>
                  <a:srgbClr val="087D82"/>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AEF484D9-9B91-40A2-A489-004ADB5F823A}"/>
              </a:ext>
            </a:extLst>
          </p:cNvPr>
          <p:cNvSpPr>
            <a:spLocks xmlns:a="http://schemas.openxmlformats.org/drawingml/2006/main" noGrp="1"/>
          </p:cNvSpPr>
          <p:nvPr/>
        </p:nvSpPr>
        <p:spPr>
          <a:xfrm xmlns:a="http://schemas.openxmlformats.org/drawingml/2006/main">
            <a:off x="1600200" y="5353050"/>
            <a:ext cx="33337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B42146"/>
                </a:solidFill>
                <a:latin typeface="Arial"/>
                <a:ea typeface="Arial"/>
                <a:cs typeface="Arial"/>
              </a:defRPr>
            </a:defPPr>
            <a:lvl1pPr>
              <a:defRPr sz="2250" b="1">
                <a:solidFill>
                  <a:srgbClr val="B42146"/>
                </a:solidFill>
                <a:latin typeface="Arial"/>
                <a:ea typeface="Arial"/>
                <a:cs typeface="Arial"/>
              </a:defRPr>
            </a:lvl1pPr>
            <a:lvl2pPr>
              <a:defRPr sz="2250" b="1">
                <a:solidFill>
                  <a:srgbClr val="B42146"/>
                </a:solidFill>
                <a:latin typeface="Arial"/>
                <a:ea typeface="Arial"/>
                <a:cs typeface="Arial"/>
              </a:defRPr>
            </a:lvl2pPr>
            <a:lvl3pPr>
              <a:defRPr sz="2250" b="1">
                <a:solidFill>
                  <a:srgbClr val="B42146"/>
                </a:solidFill>
                <a:latin typeface="Arial"/>
                <a:ea typeface="Arial"/>
                <a:cs typeface="Arial"/>
              </a:defRPr>
            </a:lvl3pPr>
            <a:lvl4pPr>
              <a:defRPr sz="2250" b="1">
                <a:solidFill>
                  <a:srgbClr val="B42146"/>
                </a:solidFill>
                <a:latin typeface="Arial"/>
                <a:ea typeface="Arial"/>
                <a:cs typeface="Arial"/>
              </a:defRPr>
            </a:lvl4pPr>
            <a:lvl5pPr>
              <a:defRPr sz="2250" b="1">
                <a:solidFill>
                  <a:srgbClr val="B42146"/>
                </a:solidFill>
                <a:latin typeface="Arial"/>
                <a:ea typeface="Arial"/>
                <a:cs typeface="Arial"/>
              </a:defRPr>
            </a:lvl5pPr>
            <a:lvl6pPr>
              <a:defRPr sz="2250" b="1">
                <a:solidFill>
                  <a:srgbClr val="B42146"/>
                </a:solidFill>
                <a:latin typeface="Arial"/>
                <a:ea typeface="Arial"/>
                <a:cs typeface="Arial"/>
              </a:defRPr>
            </a:lvl6pPr>
            <a:lvl7pPr>
              <a:defRPr sz="2250" b="1">
                <a:solidFill>
                  <a:srgbClr val="B42146"/>
                </a:solidFill>
                <a:latin typeface="Arial"/>
                <a:ea typeface="Arial"/>
                <a:cs typeface="Arial"/>
              </a:defRPr>
            </a:lvl7pPr>
            <a:lvl8pPr>
              <a:defRPr sz="2250" b="1">
                <a:solidFill>
                  <a:srgbClr val="B42146"/>
                </a:solidFill>
                <a:latin typeface="Arial"/>
                <a:ea typeface="Arial"/>
                <a:cs typeface="Arial"/>
              </a:defRPr>
            </a:lvl8pPr>
            <a:lvl9pPr>
              <a:defRPr sz="2250" b="1">
                <a:solidFill>
                  <a:srgbClr val="B42146"/>
                </a:solidFill>
                <a:latin typeface="Arial"/>
                <a:ea typeface="Arial"/>
                <a:cs typeface="Arial"/>
              </a:defRPr>
            </a:lvl9pPr>
          </a:lstStyle>
          <a:p xmlns:a="http://schemas.openxmlformats.org/drawingml/2006/main">
            <a:pPr>
              <a:defRPr sz="2250" b="1">
                <a:solidFill>
                  <a:srgbClr val="B42146"/>
                </a:solidFill>
                <a:latin typeface="Arial"/>
                <a:ea typeface="Arial"/>
                <a:cs typeface="Arial"/>
              </a:defRPr>
            </a:pPr>
            <a:r>
              <a:rPr sz="2250" b="1">
                <a:solidFill>
                  <a:srgbClr val="B42146"/>
                </a:solidFill>
                <a:latin typeface="Arial"/>
                <a:ea typeface="Arial"/>
                <a:cs typeface="Arial"/>
              </a:rPr>
              <a:t>Verify the result</a:t>
            </a:r>
          </a:p>
        </p:txBody>
      </p:sp>
      <p:sp>
        <p:nvSpPr>
          <p:cNvPr id="14" name="">
            <a:extLst xmlns:a="http://schemas.openxmlformats.org/drawingml/2006/main">
              <a:ext uri="{FF2B5EF4-FFF2-40B4-BE49-F238E27FC236}">
                <a16:creationId xmlns:a16="http://schemas.microsoft.com/office/drawing/2014/main" id="{A2EA1928-1D6F-4367-BCC7-A2B9FB3F49DE}"/>
              </a:ext>
            </a:extLst>
          </p:cNvPr>
          <p:cNvSpPr>
            <a:spLocks xmlns:a="http://schemas.openxmlformats.org/drawingml/2006/main" noGrp="1"/>
          </p:cNvSpPr>
          <p:nvPr/>
        </p:nvSpPr>
        <p:spPr>
          <a:xfrm xmlns:a="http://schemas.openxmlformats.org/drawingml/2006/main">
            <a:off x="5381625" y="5353050"/>
            <a:ext cx="895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0">
                <a:solidFill>
                  <a:srgbClr val="142D3D"/>
                </a:solidFill>
                <a:latin typeface="Arial"/>
                <a:ea typeface="Arial"/>
                <a:cs typeface="Arial"/>
              </a:defRPr>
            </a:defPPr>
            <a:lvl1pPr>
              <a:defRPr sz="2250" b="0">
                <a:solidFill>
                  <a:srgbClr val="142D3D"/>
                </a:solidFill>
                <a:latin typeface="Arial"/>
                <a:ea typeface="Arial"/>
                <a:cs typeface="Arial"/>
              </a:defRPr>
            </a:lvl1pPr>
            <a:lvl2pPr>
              <a:defRPr sz="2250" b="0">
                <a:solidFill>
                  <a:srgbClr val="142D3D"/>
                </a:solidFill>
                <a:latin typeface="Arial"/>
                <a:ea typeface="Arial"/>
                <a:cs typeface="Arial"/>
              </a:defRPr>
            </a:lvl2pPr>
            <a:lvl3pPr>
              <a:defRPr sz="2250" b="0">
                <a:solidFill>
                  <a:srgbClr val="142D3D"/>
                </a:solidFill>
                <a:latin typeface="Arial"/>
                <a:ea typeface="Arial"/>
                <a:cs typeface="Arial"/>
              </a:defRPr>
            </a:lvl3pPr>
            <a:lvl4pPr>
              <a:defRPr sz="2250" b="0">
                <a:solidFill>
                  <a:srgbClr val="142D3D"/>
                </a:solidFill>
                <a:latin typeface="Arial"/>
                <a:ea typeface="Arial"/>
                <a:cs typeface="Arial"/>
              </a:defRPr>
            </a:lvl4pPr>
            <a:lvl5pPr>
              <a:defRPr sz="2250" b="0">
                <a:solidFill>
                  <a:srgbClr val="142D3D"/>
                </a:solidFill>
                <a:latin typeface="Arial"/>
                <a:ea typeface="Arial"/>
                <a:cs typeface="Arial"/>
              </a:defRPr>
            </a:lvl5pPr>
            <a:lvl6pPr>
              <a:defRPr sz="2250" b="0">
                <a:solidFill>
                  <a:srgbClr val="142D3D"/>
                </a:solidFill>
                <a:latin typeface="Arial"/>
                <a:ea typeface="Arial"/>
                <a:cs typeface="Arial"/>
              </a:defRPr>
            </a:lvl6pPr>
            <a:lvl7pPr>
              <a:defRPr sz="2250" b="0">
                <a:solidFill>
                  <a:srgbClr val="142D3D"/>
                </a:solidFill>
                <a:latin typeface="Arial"/>
                <a:ea typeface="Arial"/>
                <a:cs typeface="Arial"/>
              </a:defRPr>
            </a:lvl7pPr>
            <a:lvl8pPr>
              <a:defRPr sz="2250" b="0">
                <a:solidFill>
                  <a:srgbClr val="142D3D"/>
                </a:solidFill>
                <a:latin typeface="Arial"/>
                <a:ea typeface="Arial"/>
                <a:cs typeface="Arial"/>
              </a:defRPr>
            </a:lvl8pPr>
            <a:lvl9pPr>
              <a:defRPr sz="2250" b="0">
                <a:solidFill>
                  <a:srgbClr val="142D3D"/>
                </a:solidFill>
                <a:latin typeface="Arial"/>
                <a:ea typeface="Arial"/>
                <a:cs typeface="Arial"/>
              </a:defRPr>
            </a:lvl9pPr>
          </a:lstStyle>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Run: python 03_code/verify_results.py</a:t>
            </a:r>
          </a:p>
          <a:p xmlns:a="http://schemas.openxmlformats.org/drawingml/2006/main">
            <a:pPr>
              <a:defRPr sz="2250" b="0">
                <a:solidFill>
                  <a:srgbClr val="142D3D"/>
                </a:solidFill>
                <a:latin typeface="Arial"/>
                <a:ea typeface="Arial"/>
                <a:cs typeface="Arial"/>
              </a:defRPr>
            </a:pPr>
            <a:r>
              <a:rPr sz="2250" b="0">
                <a:solidFill>
                  <a:srgbClr val="142D3D"/>
                </a:solidFill>
                <a:latin typeface="Arial"/>
                <a:ea typeface="Arial"/>
                <a:cs typeface="Arial"/>
              </a:rPr>
              <a:t>No API key or paid generation required.</a:t>
            </a:r>
          </a:p>
        </p:txBody>
      </p:sp>
    </p:spTree>
    <p:extLst>
      <p:ext uri="{BB962C8B-B14F-4D97-AF65-F5344CB8AC3E}">
        <p14:creationId xmlns:p14="http://schemas.microsoft.com/office/powerpoint/2010/main" val="281183199"/>
      </p:ext>
    </p:extLst>
  </p:cSld>
</p:sld>
</file>

<file path=ppt/slides/slide26.xml><?xml version="1.0" encoding="utf-8"?>
<p:sld xmlns:p="http://schemas.openxmlformats.org/presentationml/2006/main">
  <p:cSld>
    <p:bg>
      <p:bgPr>
        <a:solidFill xmlns:a="http://schemas.openxmlformats.org/drawingml/2006/main">
          <a:srgbClr val="FAF9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3D9A4555-47B4-46E9-83D2-5F52404E40E8}"/>
              </a:ext>
            </a:extLst>
          </p:cNvPr>
          <p:cNvSpPr>
            <a:spLocks xmlns:a="http://schemas.openxmlformats.org/drawingml/2006/main" noGrp="1"/>
          </p:cNvSpPr>
          <p:nvPr/>
        </p:nvSpPr>
        <p:spPr>
          <a:xfrm xmlns:a="http://schemas.openxmlformats.org/drawingml/2006/main">
            <a:off x="619125" y="247650"/>
            <a:ext cx="1400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425" b="1">
                <a:solidFill>
                  <a:srgbClr val="087D82"/>
                </a:solidFill>
                <a:latin typeface="Arial"/>
                <a:ea typeface="Arial"/>
                <a:cs typeface="Arial"/>
              </a:defRPr>
            </a:defPPr>
            <a:lvl1pPr>
              <a:defRPr sz="1425" b="1">
                <a:solidFill>
                  <a:srgbClr val="087D82"/>
                </a:solidFill>
                <a:latin typeface="Arial"/>
                <a:ea typeface="Arial"/>
                <a:cs typeface="Arial"/>
              </a:defRPr>
            </a:lvl1pPr>
            <a:lvl2pPr>
              <a:defRPr sz="1425" b="1">
                <a:solidFill>
                  <a:srgbClr val="087D82"/>
                </a:solidFill>
                <a:latin typeface="Arial"/>
                <a:ea typeface="Arial"/>
                <a:cs typeface="Arial"/>
              </a:defRPr>
            </a:lvl2pPr>
            <a:lvl3pPr>
              <a:defRPr sz="1425" b="1">
                <a:solidFill>
                  <a:srgbClr val="087D82"/>
                </a:solidFill>
                <a:latin typeface="Arial"/>
                <a:ea typeface="Arial"/>
                <a:cs typeface="Arial"/>
              </a:defRPr>
            </a:lvl3pPr>
            <a:lvl4pPr>
              <a:defRPr sz="1425" b="1">
                <a:solidFill>
                  <a:srgbClr val="087D82"/>
                </a:solidFill>
                <a:latin typeface="Arial"/>
                <a:ea typeface="Arial"/>
                <a:cs typeface="Arial"/>
              </a:defRPr>
            </a:lvl4pPr>
            <a:lvl5pPr>
              <a:defRPr sz="1425" b="1">
                <a:solidFill>
                  <a:srgbClr val="087D82"/>
                </a:solidFill>
                <a:latin typeface="Arial"/>
                <a:ea typeface="Arial"/>
                <a:cs typeface="Arial"/>
              </a:defRPr>
            </a:lvl5pPr>
            <a:lvl6pPr>
              <a:defRPr sz="1425" b="1">
                <a:solidFill>
                  <a:srgbClr val="087D82"/>
                </a:solidFill>
                <a:latin typeface="Arial"/>
                <a:ea typeface="Arial"/>
                <a:cs typeface="Arial"/>
              </a:defRPr>
            </a:lvl6pPr>
            <a:lvl7pPr>
              <a:defRPr sz="1425" b="1">
                <a:solidFill>
                  <a:srgbClr val="087D82"/>
                </a:solidFill>
                <a:latin typeface="Arial"/>
                <a:ea typeface="Arial"/>
                <a:cs typeface="Arial"/>
              </a:defRPr>
            </a:lvl7pPr>
            <a:lvl8pPr>
              <a:defRPr sz="1425" b="1">
                <a:solidFill>
                  <a:srgbClr val="087D82"/>
                </a:solidFill>
                <a:latin typeface="Arial"/>
                <a:ea typeface="Arial"/>
                <a:cs typeface="Arial"/>
              </a:defRPr>
            </a:lvl8pPr>
            <a:lvl9pPr>
              <a:defRPr sz="1425" b="1">
                <a:solidFill>
                  <a:srgbClr val="087D82"/>
                </a:solidFill>
                <a:latin typeface="Arial"/>
                <a:ea typeface="Arial"/>
                <a:cs typeface="Arial"/>
              </a:defRPr>
            </a:lvl9pPr>
          </a:lstStyle>
          <a:p xmlns:a="http://schemas.openxmlformats.org/drawingml/2006/main">
            <a:pPr>
              <a:defRPr sz="1425" b="1">
                <a:solidFill>
                  <a:srgbClr val="087D82"/>
                </a:solidFill>
                <a:latin typeface="Arial"/>
                <a:ea typeface="Arial"/>
                <a:cs typeface="Arial"/>
              </a:defRPr>
            </a:pPr>
            <a:r>
              <a:rPr sz="1425" b="1">
                <a:solidFill>
                  <a:srgbClr val="087D82"/>
                </a:solidFill>
                <a:latin typeface="Arial"/>
                <a:ea typeface="Arial"/>
                <a:cs typeface="Arial"/>
              </a:rPr>
              <a:t>BACKUP • QUESTIONS</a:t>
            </a:r>
          </a:p>
        </p:txBody>
      </p:sp>
      <p:sp>
        <p:nvSpPr>
          <p:cNvPr id="2" name="">
            <a:extLst xmlns:a="http://schemas.openxmlformats.org/drawingml/2006/main">
              <a:ext uri="{FF2B5EF4-FFF2-40B4-BE49-F238E27FC236}">
                <a16:creationId xmlns:a16="http://schemas.microsoft.com/office/drawing/2014/main" id="{E451EDD6-339B-4F84-80FF-3F84025CEC1B}"/>
              </a:ext>
            </a:extLst>
          </p:cNvPr>
          <p:cNvSpPr>
            <a:spLocks xmlns:a="http://schemas.openxmlformats.org/drawingml/2006/main" noGrp="1"/>
          </p:cNvSpPr>
          <p:nvPr/>
        </p:nvSpPr>
        <p:spPr>
          <a:xfrm xmlns:a="http://schemas.openxmlformats.org/drawingml/2006/main">
            <a:off x="619125" y="781050"/>
            <a:ext cx="14001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675" b="1">
                <a:solidFill>
                  <a:srgbClr val="142D3D"/>
                </a:solidFill>
                <a:latin typeface="Arial"/>
                <a:ea typeface="Arial"/>
                <a:cs typeface="Arial"/>
              </a:defRPr>
            </a:defPPr>
            <a:lvl1pPr>
              <a:defRPr sz="3675" b="1">
                <a:solidFill>
                  <a:srgbClr val="142D3D"/>
                </a:solidFill>
                <a:latin typeface="Arial"/>
                <a:ea typeface="Arial"/>
                <a:cs typeface="Arial"/>
              </a:defRPr>
            </a:lvl1pPr>
            <a:lvl2pPr>
              <a:defRPr sz="3675" b="1">
                <a:solidFill>
                  <a:srgbClr val="142D3D"/>
                </a:solidFill>
                <a:latin typeface="Arial"/>
                <a:ea typeface="Arial"/>
                <a:cs typeface="Arial"/>
              </a:defRPr>
            </a:lvl2pPr>
            <a:lvl3pPr>
              <a:defRPr sz="3675" b="1">
                <a:solidFill>
                  <a:srgbClr val="142D3D"/>
                </a:solidFill>
                <a:latin typeface="Arial"/>
                <a:ea typeface="Arial"/>
                <a:cs typeface="Arial"/>
              </a:defRPr>
            </a:lvl3pPr>
            <a:lvl4pPr>
              <a:defRPr sz="3675" b="1">
                <a:solidFill>
                  <a:srgbClr val="142D3D"/>
                </a:solidFill>
                <a:latin typeface="Arial"/>
                <a:ea typeface="Arial"/>
                <a:cs typeface="Arial"/>
              </a:defRPr>
            </a:lvl4pPr>
            <a:lvl5pPr>
              <a:defRPr sz="3675" b="1">
                <a:solidFill>
                  <a:srgbClr val="142D3D"/>
                </a:solidFill>
                <a:latin typeface="Arial"/>
                <a:ea typeface="Arial"/>
                <a:cs typeface="Arial"/>
              </a:defRPr>
            </a:lvl5pPr>
            <a:lvl6pPr>
              <a:defRPr sz="3675" b="1">
                <a:solidFill>
                  <a:srgbClr val="142D3D"/>
                </a:solidFill>
                <a:latin typeface="Arial"/>
                <a:ea typeface="Arial"/>
                <a:cs typeface="Arial"/>
              </a:defRPr>
            </a:lvl6pPr>
            <a:lvl7pPr>
              <a:defRPr sz="3675" b="1">
                <a:solidFill>
                  <a:srgbClr val="142D3D"/>
                </a:solidFill>
                <a:latin typeface="Arial"/>
                <a:ea typeface="Arial"/>
                <a:cs typeface="Arial"/>
              </a:defRPr>
            </a:lvl7pPr>
            <a:lvl8pPr>
              <a:defRPr sz="3675" b="1">
                <a:solidFill>
                  <a:srgbClr val="142D3D"/>
                </a:solidFill>
                <a:latin typeface="Arial"/>
                <a:ea typeface="Arial"/>
                <a:cs typeface="Arial"/>
              </a:defRPr>
            </a:lvl8pPr>
            <a:lvl9pPr>
              <a:defRPr sz="3675" b="1">
                <a:solidFill>
                  <a:srgbClr val="142D3D"/>
                </a:solidFill>
                <a:latin typeface="Arial"/>
                <a:ea typeface="Arial"/>
                <a:cs typeface="Arial"/>
              </a:defRPr>
            </a:lvl9pPr>
          </a:lstStyle>
          <a:p xmlns:a="http://schemas.openxmlformats.org/drawingml/2006/main">
            <a:pPr>
              <a:defRPr sz="3675" b="1">
                <a:solidFill>
                  <a:srgbClr val="142D3D"/>
                </a:solidFill>
                <a:latin typeface="Arial"/>
                <a:ea typeface="Arial"/>
                <a:cs typeface="Arial"/>
              </a:defRPr>
            </a:pPr>
            <a:r>
              <a:rPr sz="3675" b="1">
                <a:solidFill>
                  <a:srgbClr val="142D3D"/>
                </a:solidFill>
                <a:latin typeface="Arial"/>
                <a:ea typeface="Arial"/>
                <a:cs typeface="Arial"/>
              </a:rPr>
              <a:t>Research supporting the design decisions</a:t>
            </a:r>
          </a:p>
        </p:txBody>
      </p:sp>
      <p:sp>
        <p:nvSpPr>
          <p:cNvPr id="3" name="">
            <a:extLst xmlns:a="http://schemas.openxmlformats.org/drawingml/2006/main">
              <a:ext uri="{FF2B5EF4-FFF2-40B4-BE49-F238E27FC236}">
                <a16:creationId xmlns:a16="http://schemas.microsoft.com/office/drawing/2014/main" id="{CA657EB6-9504-404F-B6BF-75D43F7CC93C}"/>
              </a:ext>
            </a:extLst>
          </p:cNvPr>
          <p:cNvSpPr>
            <a:spLocks xmlns:a="http://schemas.openxmlformats.org/drawingml/2006/main" noGrp="1"/>
          </p:cNvSpPr>
          <p:nvPr/>
        </p:nvSpPr>
        <p:spPr>
          <a:xfrm xmlns:a="http://schemas.openxmlformats.org/drawingml/2006/main">
            <a:off x="619125" y="1876425"/>
            <a:ext cx="857250" cy="28575"/>
          </a:xfrm>
          <a:prstGeom xmlns:a="http://schemas.openxmlformats.org/drawingml/2006/main" prst="rect">
            <a:avLst/>
          </a:prstGeom>
          <a:solidFill xmlns:a="http://schemas.openxmlformats.org/drawingml/2006/main">
            <a:srgbClr val="B42146"/>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2DFDF82-3840-46C4-BD0A-C4B784C573A4}"/>
              </a:ext>
            </a:extLst>
          </p:cNvPr>
          <p:cNvSpPr>
            <a:spLocks xmlns:a="http://schemas.openxmlformats.org/drawingml/2006/main" noGrp="1"/>
          </p:cNvSpPr>
          <p:nvPr/>
        </p:nvSpPr>
        <p:spPr>
          <a:xfrm xmlns:a="http://schemas.openxmlformats.org/drawingml/2006/main">
            <a:off x="619125" y="7524750"/>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rPr>
              <a:t>Published principles support the design choices; our exact test and metric remain our own.</a:t>
            </a:r>
          </a:p>
        </p:txBody>
      </p:sp>
      <p:sp>
        <p:nvSpPr>
          <p:cNvPr id="5" name="">
            <a:extLst xmlns:a="http://schemas.openxmlformats.org/drawingml/2006/main">
              <a:ext uri="{FF2B5EF4-FFF2-40B4-BE49-F238E27FC236}">
                <a16:creationId xmlns:a16="http://schemas.microsoft.com/office/drawing/2014/main" id="{44857DC1-810A-46CD-ACFD-0F1BD6BF6D80}"/>
              </a:ext>
            </a:extLst>
          </p:cNvPr>
          <p:cNvSpPr>
            <a:spLocks xmlns:a="http://schemas.openxmlformats.org/drawingml/2006/main" noGrp="1"/>
          </p:cNvSpPr>
          <p:nvPr/>
        </p:nvSpPr>
        <p:spPr>
          <a:xfrm xmlns:a="http://schemas.openxmlformats.org/drawingml/2006/main">
            <a:off x="619125" y="8220075"/>
            <a:ext cx="14001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06574"/>
                </a:solidFill>
                <a:latin typeface="Arial"/>
                <a:ea typeface="Arial"/>
                <a:cs typeface="Arial"/>
              </a:defRPr>
            </a:defPPr>
            <a:lvl1pPr>
              <a:defRPr sz="1200" b="0">
                <a:solidFill>
                  <a:srgbClr val="506574"/>
                </a:solidFill>
                <a:latin typeface="Arial"/>
                <a:ea typeface="Arial"/>
                <a:cs typeface="Arial"/>
              </a:defRPr>
            </a:lvl1pPr>
            <a:lvl2pPr>
              <a:defRPr sz="1200" b="0">
                <a:solidFill>
                  <a:srgbClr val="506574"/>
                </a:solidFill>
                <a:latin typeface="Arial"/>
                <a:ea typeface="Arial"/>
                <a:cs typeface="Arial"/>
              </a:defRPr>
            </a:lvl2pPr>
            <a:lvl3pPr>
              <a:defRPr sz="1200" b="0">
                <a:solidFill>
                  <a:srgbClr val="506574"/>
                </a:solidFill>
                <a:latin typeface="Arial"/>
                <a:ea typeface="Arial"/>
                <a:cs typeface="Arial"/>
              </a:defRPr>
            </a:lvl3pPr>
            <a:lvl4pPr>
              <a:defRPr sz="1200" b="0">
                <a:solidFill>
                  <a:srgbClr val="506574"/>
                </a:solidFill>
                <a:latin typeface="Arial"/>
                <a:ea typeface="Arial"/>
                <a:cs typeface="Arial"/>
              </a:defRPr>
            </a:lvl4pPr>
            <a:lvl5pPr>
              <a:defRPr sz="1200" b="0">
                <a:solidFill>
                  <a:srgbClr val="506574"/>
                </a:solidFill>
                <a:latin typeface="Arial"/>
                <a:ea typeface="Arial"/>
                <a:cs typeface="Arial"/>
              </a:defRPr>
            </a:lvl5pPr>
            <a:lvl6pPr>
              <a:defRPr sz="1200" b="0">
                <a:solidFill>
                  <a:srgbClr val="506574"/>
                </a:solidFill>
                <a:latin typeface="Arial"/>
                <a:ea typeface="Arial"/>
                <a:cs typeface="Arial"/>
              </a:defRPr>
            </a:lvl6pPr>
            <a:lvl7pPr>
              <a:defRPr sz="1200" b="0">
                <a:solidFill>
                  <a:srgbClr val="506574"/>
                </a:solidFill>
                <a:latin typeface="Arial"/>
                <a:ea typeface="Arial"/>
                <a:cs typeface="Arial"/>
              </a:defRPr>
            </a:lvl7pPr>
            <a:lvl8pPr>
              <a:defRPr sz="1200" b="0">
                <a:solidFill>
                  <a:srgbClr val="506574"/>
                </a:solidFill>
                <a:latin typeface="Arial"/>
                <a:ea typeface="Arial"/>
                <a:cs typeface="Arial"/>
              </a:defRPr>
            </a:lvl8pPr>
            <a:lvl9pPr>
              <a:defRPr sz="1200" b="0">
                <a:solidFill>
                  <a:srgbClr val="506574"/>
                </a:solidFill>
                <a:latin typeface="Arial"/>
                <a:ea typeface="Arial"/>
                <a:cs typeface="Arial"/>
              </a:defRPr>
            </a:lvl9pPr>
          </a:lstStyle>
          <a:p xmlns:a="http://schemas.openxmlformats.org/drawingml/2006/main">
            <a:pPr>
              <a:defRPr sz="1200" b="0">
                <a:solidFill>
                  <a:srgbClr val="506574"/>
                </a:solidFill>
                <a:latin typeface="Arial"/>
                <a:ea typeface="Arial"/>
                <a:cs typeface="Arial"/>
              </a:defRPr>
            </a:pPr>
            <a:r>
              <a:rPr sz="1200" b="0">
                <a:solidFill>
                  <a:srgbClr val="506574"/>
                </a:solidFill>
                <a:latin typeface="Arial"/>
                <a:ea typeface="Arial"/>
                <a:cs typeface="Arial"/>
              </a:rPr>
              <a:t>Supporting evidence 8 / 8   •   Full references in speaker notes</a:t>
            </a:r>
          </a:p>
        </p:txBody>
      </p:sp>
      <p:sp>
        <p:nvSpPr>
          <p:cNvPr id="6" name="">
            <a:extLst xmlns:a="http://schemas.openxmlformats.org/drawingml/2006/main">
              <a:ext uri="{FF2B5EF4-FFF2-40B4-BE49-F238E27FC236}">
                <a16:creationId xmlns:a16="http://schemas.microsoft.com/office/drawing/2014/main" id="{F0A0A319-B1D4-496F-A11B-B8DEDA039543}"/>
              </a:ext>
            </a:extLst>
          </p:cNvPr>
          <p:cNvSpPr>
            <a:spLocks xmlns:a="http://schemas.openxmlformats.org/drawingml/2006/main" noGrp="1"/>
          </p:cNvSpPr>
          <p:nvPr/>
        </p:nvSpPr>
        <p:spPr>
          <a:xfrm xmlns:a="http://schemas.openxmlformats.org/drawingml/2006/main">
            <a:off x="619125" y="2209800"/>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87D82"/>
                </a:solidFill>
                <a:latin typeface="Arial"/>
                <a:ea typeface="Arial"/>
                <a:cs typeface="Arial"/>
              </a:defRPr>
            </a:defPPr>
            <a:lvl1pPr>
              <a:defRPr sz="1725" b="1">
                <a:solidFill>
                  <a:srgbClr val="087D82"/>
                </a:solidFill>
                <a:latin typeface="Arial"/>
                <a:ea typeface="Arial"/>
                <a:cs typeface="Arial"/>
              </a:defRPr>
            </a:lvl1pPr>
            <a:lvl2pPr>
              <a:defRPr sz="1725" b="1">
                <a:solidFill>
                  <a:srgbClr val="087D82"/>
                </a:solidFill>
                <a:latin typeface="Arial"/>
                <a:ea typeface="Arial"/>
                <a:cs typeface="Arial"/>
              </a:defRPr>
            </a:lvl2pPr>
            <a:lvl3pPr>
              <a:defRPr sz="1725" b="1">
                <a:solidFill>
                  <a:srgbClr val="087D82"/>
                </a:solidFill>
                <a:latin typeface="Arial"/>
                <a:ea typeface="Arial"/>
                <a:cs typeface="Arial"/>
              </a:defRPr>
            </a:lvl3pPr>
            <a:lvl4pPr>
              <a:defRPr sz="1725" b="1">
                <a:solidFill>
                  <a:srgbClr val="087D82"/>
                </a:solidFill>
                <a:latin typeface="Arial"/>
                <a:ea typeface="Arial"/>
                <a:cs typeface="Arial"/>
              </a:defRPr>
            </a:lvl4pPr>
            <a:lvl5pPr>
              <a:defRPr sz="1725" b="1">
                <a:solidFill>
                  <a:srgbClr val="087D82"/>
                </a:solidFill>
                <a:latin typeface="Arial"/>
                <a:ea typeface="Arial"/>
                <a:cs typeface="Arial"/>
              </a:defRPr>
            </a:lvl5pPr>
            <a:lvl6pPr>
              <a:defRPr sz="1725" b="1">
                <a:solidFill>
                  <a:srgbClr val="087D82"/>
                </a:solidFill>
                <a:latin typeface="Arial"/>
                <a:ea typeface="Arial"/>
                <a:cs typeface="Arial"/>
              </a:defRPr>
            </a:lvl6pPr>
            <a:lvl7pPr>
              <a:defRPr sz="1725" b="1">
                <a:solidFill>
                  <a:srgbClr val="087D82"/>
                </a:solidFill>
                <a:latin typeface="Arial"/>
                <a:ea typeface="Arial"/>
                <a:cs typeface="Arial"/>
              </a:defRPr>
            </a:lvl7pPr>
            <a:lvl8pPr>
              <a:defRPr sz="1725" b="1">
                <a:solidFill>
                  <a:srgbClr val="087D82"/>
                </a:solidFill>
                <a:latin typeface="Arial"/>
                <a:ea typeface="Arial"/>
                <a:cs typeface="Arial"/>
              </a:defRPr>
            </a:lvl8pPr>
            <a:lvl9pPr>
              <a:defRPr sz="1725" b="1">
                <a:solidFill>
                  <a:srgbClr val="087D82"/>
                </a:solidFill>
                <a:latin typeface="Arial"/>
                <a:ea typeface="Arial"/>
                <a:cs typeface="Arial"/>
              </a:defRPr>
            </a:lvl9pPr>
          </a:lstStyle>
          <a:p xmlns:a="http://schemas.openxmlformats.org/drawingml/2006/main">
            <a:pPr>
              <a:defRPr sz="1725" b="1">
                <a:solidFill>
                  <a:srgbClr val="087D82"/>
                </a:solidFill>
                <a:latin typeface="Arial"/>
                <a:ea typeface="Arial"/>
                <a:cs typeface="Arial"/>
              </a:defRPr>
            </a:pPr>
            <a:r>
              <a:rPr sz="1725" b="1">
                <a:solidFill>
                  <a:srgbClr val="087D82"/>
                </a:solidFill>
                <a:latin typeface="Arial"/>
                <a:ea typeface="Arial"/>
                <a:cs typeface="Arial"/>
              </a:rPr>
              <a:t>PUBLISHED RESEARCH</a:t>
            </a:r>
          </a:p>
        </p:txBody>
      </p:sp>
      <p:sp>
        <p:nvSpPr>
          <p:cNvPr id="7" name="">
            <a:extLst xmlns:a="http://schemas.openxmlformats.org/drawingml/2006/main">
              <a:ext uri="{FF2B5EF4-FFF2-40B4-BE49-F238E27FC236}">
                <a16:creationId xmlns:a16="http://schemas.microsoft.com/office/drawing/2014/main" id="{E2308C6A-43F3-4EE9-BCEF-C5CBF3C8D4C6}"/>
              </a:ext>
            </a:extLst>
          </p:cNvPr>
          <p:cNvSpPr>
            <a:spLocks xmlns:a="http://schemas.openxmlformats.org/drawingml/2006/main" noGrp="1"/>
          </p:cNvSpPr>
          <p:nvPr/>
        </p:nvSpPr>
        <p:spPr>
          <a:xfrm xmlns:a="http://schemas.openxmlformats.org/drawingml/2006/main">
            <a:off x="7953375" y="2209800"/>
            <a:ext cx="66675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1">
                <a:solidFill>
                  <a:srgbClr val="087D82"/>
                </a:solidFill>
                <a:latin typeface="Arial"/>
                <a:ea typeface="Arial"/>
                <a:cs typeface="Arial"/>
              </a:defRPr>
            </a:defPPr>
            <a:lvl1pPr>
              <a:defRPr sz="1725" b="1">
                <a:solidFill>
                  <a:srgbClr val="087D82"/>
                </a:solidFill>
                <a:latin typeface="Arial"/>
                <a:ea typeface="Arial"/>
                <a:cs typeface="Arial"/>
              </a:defRPr>
            </a:lvl1pPr>
            <a:lvl2pPr>
              <a:defRPr sz="1725" b="1">
                <a:solidFill>
                  <a:srgbClr val="087D82"/>
                </a:solidFill>
                <a:latin typeface="Arial"/>
                <a:ea typeface="Arial"/>
                <a:cs typeface="Arial"/>
              </a:defRPr>
            </a:lvl2pPr>
            <a:lvl3pPr>
              <a:defRPr sz="1725" b="1">
                <a:solidFill>
                  <a:srgbClr val="087D82"/>
                </a:solidFill>
                <a:latin typeface="Arial"/>
                <a:ea typeface="Arial"/>
                <a:cs typeface="Arial"/>
              </a:defRPr>
            </a:lvl3pPr>
            <a:lvl4pPr>
              <a:defRPr sz="1725" b="1">
                <a:solidFill>
                  <a:srgbClr val="087D82"/>
                </a:solidFill>
                <a:latin typeface="Arial"/>
                <a:ea typeface="Arial"/>
                <a:cs typeface="Arial"/>
              </a:defRPr>
            </a:lvl4pPr>
            <a:lvl5pPr>
              <a:defRPr sz="1725" b="1">
                <a:solidFill>
                  <a:srgbClr val="087D82"/>
                </a:solidFill>
                <a:latin typeface="Arial"/>
                <a:ea typeface="Arial"/>
                <a:cs typeface="Arial"/>
              </a:defRPr>
            </a:lvl5pPr>
            <a:lvl6pPr>
              <a:defRPr sz="1725" b="1">
                <a:solidFill>
                  <a:srgbClr val="087D82"/>
                </a:solidFill>
                <a:latin typeface="Arial"/>
                <a:ea typeface="Arial"/>
                <a:cs typeface="Arial"/>
              </a:defRPr>
            </a:lvl6pPr>
            <a:lvl7pPr>
              <a:defRPr sz="1725" b="1">
                <a:solidFill>
                  <a:srgbClr val="087D82"/>
                </a:solidFill>
                <a:latin typeface="Arial"/>
                <a:ea typeface="Arial"/>
                <a:cs typeface="Arial"/>
              </a:defRPr>
            </a:lvl7pPr>
            <a:lvl8pPr>
              <a:defRPr sz="1725" b="1">
                <a:solidFill>
                  <a:srgbClr val="087D82"/>
                </a:solidFill>
                <a:latin typeface="Arial"/>
                <a:ea typeface="Arial"/>
                <a:cs typeface="Arial"/>
              </a:defRPr>
            </a:lvl8pPr>
            <a:lvl9pPr>
              <a:defRPr sz="1725" b="1">
                <a:solidFill>
                  <a:srgbClr val="087D82"/>
                </a:solidFill>
                <a:latin typeface="Arial"/>
                <a:ea typeface="Arial"/>
                <a:cs typeface="Arial"/>
              </a:defRPr>
            </a:lvl9pPr>
          </a:lstStyle>
          <a:p xmlns:a="http://schemas.openxmlformats.org/drawingml/2006/main">
            <a:pPr>
              <a:defRPr sz="1725" b="1">
                <a:solidFill>
                  <a:srgbClr val="087D82"/>
                </a:solidFill>
                <a:latin typeface="Arial"/>
                <a:ea typeface="Arial"/>
                <a:cs typeface="Arial"/>
              </a:defRPr>
            </a:pPr>
            <a:r>
              <a:rPr sz="1725" b="1">
                <a:solidFill>
                  <a:srgbClr val="087D82"/>
                </a:solidFill>
                <a:latin typeface="Arial"/>
                <a:ea typeface="Arial"/>
                <a:cs typeface="Arial"/>
              </a:rPr>
              <a:t>DESIGN BOUNDARIES</a:t>
            </a:r>
          </a:p>
        </p:txBody>
      </p:sp>
      <p:sp>
        <p:nvSpPr>
          <p:cNvPr id="8" name="">
            <a:extLst xmlns:a="http://schemas.openxmlformats.org/drawingml/2006/main">
              <a:ext uri="{FF2B5EF4-FFF2-40B4-BE49-F238E27FC236}">
                <a16:creationId xmlns:a16="http://schemas.microsoft.com/office/drawing/2014/main" id="{11824F4B-58E5-43C4-A5C0-3138958ECBBE}"/>
              </a:ext>
            </a:extLst>
          </p:cNvPr>
          <p:cNvSpPr>
            <a:spLocks xmlns:a="http://schemas.openxmlformats.org/drawingml/2006/main" noGrp="1"/>
          </p:cNvSpPr>
          <p:nvPr/>
        </p:nvSpPr>
        <p:spPr>
          <a:xfrm xmlns:a="http://schemas.openxmlformats.org/drawingml/2006/main">
            <a:off x="619125" y="2800350"/>
            <a:ext cx="666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hlinkClick xmlns:r="http://schemas.openxmlformats.org/officeDocument/2006/relationships" r:id="R53b98420b17a4a85"/>
              </a:rPr>
              <a:t>Retrieval-Augmented Generation, NeurIPS 2020</a:t>
            </a:r>
          </a:p>
        </p:txBody>
      </p:sp>
      <p:sp>
        <p:nvSpPr>
          <p:cNvPr id="9" name="">
            <a:extLst xmlns:a="http://schemas.openxmlformats.org/drawingml/2006/main">
              <a:ext uri="{FF2B5EF4-FFF2-40B4-BE49-F238E27FC236}">
                <a16:creationId xmlns:a16="http://schemas.microsoft.com/office/drawing/2014/main" id="{D7780E04-D789-4D9E-A2D6-269F3F27BBF0}"/>
              </a:ext>
            </a:extLst>
          </p:cNvPr>
          <p:cNvSpPr>
            <a:spLocks xmlns:a="http://schemas.openxmlformats.org/drawingml/2006/main" noGrp="1"/>
          </p:cNvSpPr>
          <p:nvPr/>
        </p:nvSpPr>
        <p:spPr>
          <a:xfrm xmlns:a="http://schemas.openxmlformats.org/drawingml/2006/main">
            <a:off x="619125" y="3581400"/>
            <a:ext cx="666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hlinkClick xmlns:r="http://schemas.openxmlformats.org/officeDocument/2006/relationships" r:id="R3ffb4217921749b7"/>
              </a:rPr>
              <a:t>GEO, KDD 2024</a:t>
            </a:r>
          </a:p>
        </p:txBody>
      </p:sp>
      <p:sp>
        <p:nvSpPr>
          <p:cNvPr id="10" name="">
            <a:extLst xmlns:a="http://schemas.openxmlformats.org/drawingml/2006/main">
              <a:ext uri="{FF2B5EF4-FFF2-40B4-BE49-F238E27FC236}">
                <a16:creationId xmlns:a16="http://schemas.microsoft.com/office/drawing/2014/main" id="{DE15F2BE-4A8C-4DF7-8D37-B5255D996DB6}"/>
              </a:ext>
            </a:extLst>
          </p:cNvPr>
          <p:cNvSpPr>
            <a:spLocks xmlns:a="http://schemas.openxmlformats.org/drawingml/2006/main" noGrp="1"/>
          </p:cNvSpPr>
          <p:nvPr/>
        </p:nvSpPr>
        <p:spPr>
          <a:xfrm xmlns:a="http://schemas.openxmlformats.org/drawingml/2006/main">
            <a:off x="619125" y="4362450"/>
            <a:ext cx="666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hlinkClick xmlns:r="http://schemas.openxmlformats.org/officeDocument/2006/relationships" r:id="R4a2c6ee33e9d4ea6"/>
              </a:rPr>
              <a:t>ALCE, EMNLP 2023</a:t>
            </a:r>
          </a:p>
        </p:txBody>
      </p:sp>
      <p:sp>
        <p:nvSpPr>
          <p:cNvPr id="11" name="">
            <a:extLst xmlns:a="http://schemas.openxmlformats.org/drawingml/2006/main">
              <a:ext uri="{FF2B5EF4-FFF2-40B4-BE49-F238E27FC236}">
                <a16:creationId xmlns:a16="http://schemas.microsoft.com/office/drawing/2014/main" id="{A5000E26-4F31-47A4-8E0A-F405AC82D375}"/>
              </a:ext>
            </a:extLst>
          </p:cNvPr>
          <p:cNvSpPr>
            <a:spLocks xmlns:a="http://schemas.openxmlformats.org/drawingml/2006/main" noGrp="1"/>
          </p:cNvSpPr>
          <p:nvPr/>
        </p:nvSpPr>
        <p:spPr>
          <a:xfrm xmlns:a="http://schemas.openxmlformats.org/drawingml/2006/main">
            <a:off x="619125" y="5143500"/>
            <a:ext cx="666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087D82"/>
                </a:solidFill>
                <a:latin typeface="Arial"/>
                <a:ea typeface="Arial"/>
                <a:cs typeface="Arial"/>
              </a:defRPr>
            </a:defPPr>
            <a:lvl1pPr>
              <a:defRPr sz="2100" b="1">
                <a:solidFill>
                  <a:srgbClr val="087D82"/>
                </a:solidFill>
                <a:latin typeface="Arial"/>
                <a:ea typeface="Arial"/>
                <a:cs typeface="Arial"/>
              </a:defRPr>
            </a:lvl1pPr>
            <a:lvl2pPr>
              <a:defRPr sz="2100" b="1">
                <a:solidFill>
                  <a:srgbClr val="087D82"/>
                </a:solidFill>
                <a:latin typeface="Arial"/>
                <a:ea typeface="Arial"/>
                <a:cs typeface="Arial"/>
              </a:defRPr>
            </a:lvl2pPr>
            <a:lvl3pPr>
              <a:defRPr sz="2100" b="1">
                <a:solidFill>
                  <a:srgbClr val="087D82"/>
                </a:solidFill>
                <a:latin typeface="Arial"/>
                <a:ea typeface="Arial"/>
                <a:cs typeface="Arial"/>
              </a:defRPr>
            </a:lvl3pPr>
            <a:lvl4pPr>
              <a:defRPr sz="2100" b="1">
                <a:solidFill>
                  <a:srgbClr val="087D82"/>
                </a:solidFill>
                <a:latin typeface="Arial"/>
                <a:ea typeface="Arial"/>
                <a:cs typeface="Arial"/>
              </a:defRPr>
            </a:lvl4pPr>
            <a:lvl5pPr>
              <a:defRPr sz="2100" b="1">
                <a:solidFill>
                  <a:srgbClr val="087D82"/>
                </a:solidFill>
                <a:latin typeface="Arial"/>
                <a:ea typeface="Arial"/>
                <a:cs typeface="Arial"/>
              </a:defRPr>
            </a:lvl5pPr>
            <a:lvl6pPr>
              <a:defRPr sz="2100" b="1">
                <a:solidFill>
                  <a:srgbClr val="087D82"/>
                </a:solidFill>
                <a:latin typeface="Arial"/>
                <a:ea typeface="Arial"/>
                <a:cs typeface="Arial"/>
              </a:defRPr>
            </a:lvl6pPr>
            <a:lvl7pPr>
              <a:defRPr sz="2100" b="1">
                <a:solidFill>
                  <a:srgbClr val="087D82"/>
                </a:solidFill>
                <a:latin typeface="Arial"/>
                <a:ea typeface="Arial"/>
                <a:cs typeface="Arial"/>
              </a:defRPr>
            </a:lvl7pPr>
            <a:lvl8pPr>
              <a:defRPr sz="2100" b="1">
                <a:solidFill>
                  <a:srgbClr val="087D82"/>
                </a:solidFill>
                <a:latin typeface="Arial"/>
                <a:ea typeface="Arial"/>
                <a:cs typeface="Arial"/>
              </a:defRPr>
            </a:lvl8pPr>
            <a:lvl9pPr>
              <a:defRPr sz="2100" b="1">
                <a:solidFill>
                  <a:srgbClr val="087D82"/>
                </a:solidFill>
                <a:latin typeface="Arial"/>
                <a:ea typeface="Arial"/>
                <a:cs typeface="Arial"/>
              </a:defRPr>
            </a:lvl9pPr>
          </a:lstStyle>
          <a:p xmlns:a="http://schemas.openxmlformats.org/drawingml/2006/main">
            <a:pPr>
              <a:defRPr sz="2100" b="1">
                <a:solidFill>
                  <a:srgbClr val="087D82"/>
                </a:solidFill>
                <a:latin typeface="Arial"/>
                <a:ea typeface="Arial"/>
                <a:cs typeface="Arial"/>
              </a:defRPr>
            </a:pPr>
            <a:r>
              <a:rPr sz="2100" b="1">
                <a:solidFill>
                  <a:srgbClr val="087D82"/>
                </a:solidFill>
                <a:latin typeface="Arial"/>
                <a:ea typeface="Arial"/>
                <a:cs typeface="Arial"/>
                <a:hlinkClick xmlns:r="http://schemas.openxmlformats.org/officeDocument/2006/relationships" r:id="Rf21a7ee066a14e84"/>
              </a:rPr>
              <a:t>Lost in the Middle, TACL 2024</a:t>
            </a:r>
          </a:p>
        </p:txBody>
      </p:sp>
      <p:sp>
        <p:nvSpPr>
          <p:cNvPr id="12" name="">
            <a:extLst xmlns:a="http://schemas.openxmlformats.org/drawingml/2006/main">
              <a:ext uri="{FF2B5EF4-FFF2-40B4-BE49-F238E27FC236}">
                <a16:creationId xmlns:a16="http://schemas.microsoft.com/office/drawing/2014/main" id="{1CF9D0CF-3E37-4511-BC65-F1CF4D9F92A5}"/>
              </a:ext>
            </a:extLst>
          </p:cNvPr>
          <p:cNvSpPr>
            <a:spLocks xmlns:a="http://schemas.openxmlformats.org/drawingml/2006/main" noGrp="1"/>
          </p:cNvSpPr>
          <p:nvPr/>
        </p:nvSpPr>
        <p:spPr>
          <a:xfrm xmlns:a="http://schemas.openxmlformats.org/drawingml/2006/main">
            <a:off x="7953375" y="280035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42D3D"/>
                </a:solidFill>
                <a:latin typeface="Arial"/>
                <a:ea typeface="Arial"/>
                <a:cs typeface="Arial"/>
              </a:defRPr>
            </a:defPPr>
            <a:lvl1pPr>
              <a:defRPr sz="2100" b="0">
                <a:solidFill>
                  <a:srgbClr val="142D3D"/>
                </a:solidFill>
                <a:latin typeface="Arial"/>
                <a:ea typeface="Arial"/>
                <a:cs typeface="Arial"/>
              </a:defRPr>
            </a:lvl1pPr>
            <a:lvl2pPr>
              <a:defRPr sz="2100" b="0">
                <a:solidFill>
                  <a:srgbClr val="142D3D"/>
                </a:solidFill>
                <a:latin typeface="Arial"/>
                <a:ea typeface="Arial"/>
                <a:cs typeface="Arial"/>
              </a:defRPr>
            </a:lvl2pPr>
            <a:lvl3pPr>
              <a:defRPr sz="2100" b="0">
                <a:solidFill>
                  <a:srgbClr val="142D3D"/>
                </a:solidFill>
                <a:latin typeface="Arial"/>
                <a:ea typeface="Arial"/>
                <a:cs typeface="Arial"/>
              </a:defRPr>
            </a:lvl3pPr>
            <a:lvl4pPr>
              <a:defRPr sz="2100" b="0">
                <a:solidFill>
                  <a:srgbClr val="142D3D"/>
                </a:solidFill>
                <a:latin typeface="Arial"/>
                <a:ea typeface="Arial"/>
                <a:cs typeface="Arial"/>
              </a:defRPr>
            </a:lvl4pPr>
            <a:lvl5pPr>
              <a:defRPr sz="2100" b="0">
                <a:solidFill>
                  <a:srgbClr val="142D3D"/>
                </a:solidFill>
                <a:latin typeface="Arial"/>
                <a:ea typeface="Arial"/>
                <a:cs typeface="Arial"/>
              </a:defRPr>
            </a:lvl5pPr>
            <a:lvl6pPr>
              <a:defRPr sz="2100" b="0">
                <a:solidFill>
                  <a:srgbClr val="142D3D"/>
                </a:solidFill>
                <a:latin typeface="Arial"/>
                <a:ea typeface="Arial"/>
                <a:cs typeface="Arial"/>
              </a:defRPr>
            </a:lvl6pPr>
            <a:lvl7pPr>
              <a:defRPr sz="2100" b="0">
                <a:solidFill>
                  <a:srgbClr val="142D3D"/>
                </a:solidFill>
                <a:latin typeface="Arial"/>
                <a:ea typeface="Arial"/>
                <a:cs typeface="Arial"/>
              </a:defRPr>
            </a:lvl7pPr>
            <a:lvl8pPr>
              <a:defRPr sz="2100" b="0">
                <a:solidFill>
                  <a:srgbClr val="142D3D"/>
                </a:solidFill>
                <a:latin typeface="Arial"/>
                <a:ea typeface="Arial"/>
                <a:cs typeface="Arial"/>
              </a:defRPr>
            </a:lvl8pPr>
            <a:lvl9pPr>
              <a:defRPr sz="2100" b="0">
                <a:solidFill>
                  <a:srgbClr val="142D3D"/>
                </a:solidFill>
                <a:latin typeface="Arial"/>
                <a:ea typeface="Arial"/>
                <a:cs typeface="Arial"/>
              </a:defRPr>
            </a:lvl9pPr>
          </a:lstStyle>
          <a:p xmlns:a="http://schemas.openxmlformats.org/drawingml/2006/main">
            <a:pPr>
              <a:defRPr sz="2100" b="0">
                <a:solidFill>
                  <a:srgbClr val="142D3D"/>
                </a:solidFill>
                <a:latin typeface="Arial"/>
                <a:ea typeface="Arial"/>
                <a:cs typeface="Arial"/>
              </a:defRPr>
            </a:pPr>
            <a:r>
              <a:rPr sz="2100" b="0">
                <a:solidFill>
                  <a:srgbClr val="142D3D"/>
                </a:solidFill>
                <a:latin typeface="Arial"/>
                <a:ea typeface="Arial"/>
                <a:cs typeface="Arial"/>
              </a:rPr>
              <a:t>RAG-style workflow; no retriever training</a:t>
            </a:r>
          </a:p>
        </p:txBody>
      </p:sp>
      <p:sp>
        <p:nvSpPr>
          <p:cNvPr id="13" name="">
            <a:extLst xmlns:a="http://schemas.openxmlformats.org/drawingml/2006/main">
              <a:ext uri="{FF2B5EF4-FFF2-40B4-BE49-F238E27FC236}">
                <a16:creationId xmlns:a16="http://schemas.microsoft.com/office/drawing/2014/main" id="{6A14A452-FB74-4943-8283-6D3908901932}"/>
              </a:ext>
            </a:extLst>
          </p:cNvPr>
          <p:cNvSpPr>
            <a:spLocks xmlns:a="http://schemas.openxmlformats.org/drawingml/2006/main" noGrp="1"/>
          </p:cNvSpPr>
          <p:nvPr/>
        </p:nvSpPr>
        <p:spPr>
          <a:xfrm xmlns:a="http://schemas.openxmlformats.org/drawingml/2006/main">
            <a:off x="7953375" y="358140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42D3D"/>
                </a:solidFill>
                <a:latin typeface="Arial"/>
                <a:ea typeface="Arial"/>
                <a:cs typeface="Arial"/>
              </a:defRPr>
            </a:defPPr>
            <a:lvl1pPr>
              <a:defRPr sz="2100" b="0">
                <a:solidFill>
                  <a:srgbClr val="142D3D"/>
                </a:solidFill>
                <a:latin typeface="Arial"/>
                <a:ea typeface="Arial"/>
                <a:cs typeface="Arial"/>
              </a:defRPr>
            </a:lvl1pPr>
            <a:lvl2pPr>
              <a:defRPr sz="2100" b="0">
                <a:solidFill>
                  <a:srgbClr val="142D3D"/>
                </a:solidFill>
                <a:latin typeface="Arial"/>
                <a:ea typeface="Arial"/>
                <a:cs typeface="Arial"/>
              </a:defRPr>
            </a:lvl2pPr>
            <a:lvl3pPr>
              <a:defRPr sz="2100" b="0">
                <a:solidFill>
                  <a:srgbClr val="142D3D"/>
                </a:solidFill>
                <a:latin typeface="Arial"/>
                <a:ea typeface="Arial"/>
                <a:cs typeface="Arial"/>
              </a:defRPr>
            </a:lvl3pPr>
            <a:lvl4pPr>
              <a:defRPr sz="2100" b="0">
                <a:solidFill>
                  <a:srgbClr val="142D3D"/>
                </a:solidFill>
                <a:latin typeface="Arial"/>
                <a:ea typeface="Arial"/>
                <a:cs typeface="Arial"/>
              </a:defRPr>
            </a:lvl4pPr>
            <a:lvl5pPr>
              <a:defRPr sz="2100" b="0">
                <a:solidFill>
                  <a:srgbClr val="142D3D"/>
                </a:solidFill>
                <a:latin typeface="Arial"/>
                <a:ea typeface="Arial"/>
                <a:cs typeface="Arial"/>
              </a:defRPr>
            </a:lvl5pPr>
            <a:lvl6pPr>
              <a:defRPr sz="2100" b="0">
                <a:solidFill>
                  <a:srgbClr val="142D3D"/>
                </a:solidFill>
                <a:latin typeface="Arial"/>
                <a:ea typeface="Arial"/>
                <a:cs typeface="Arial"/>
              </a:defRPr>
            </a:lvl6pPr>
            <a:lvl7pPr>
              <a:defRPr sz="2100" b="0">
                <a:solidFill>
                  <a:srgbClr val="142D3D"/>
                </a:solidFill>
                <a:latin typeface="Arial"/>
                <a:ea typeface="Arial"/>
                <a:cs typeface="Arial"/>
              </a:defRPr>
            </a:lvl7pPr>
            <a:lvl8pPr>
              <a:defRPr sz="2100" b="0">
                <a:solidFill>
                  <a:srgbClr val="142D3D"/>
                </a:solidFill>
                <a:latin typeface="Arial"/>
                <a:ea typeface="Arial"/>
                <a:cs typeface="Arial"/>
              </a:defRPr>
            </a:lvl8pPr>
            <a:lvl9pPr>
              <a:defRPr sz="2100" b="0">
                <a:solidFill>
                  <a:srgbClr val="142D3D"/>
                </a:solidFill>
                <a:latin typeface="Arial"/>
                <a:ea typeface="Arial"/>
                <a:cs typeface="Arial"/>
              </a:defRPr>
            </a:lvl9pPr>
          </a:lstStyle>
          <a:p xmlns:a="http://schemas.openxmlformats.org/drawingml/2006/main">
            <a:pPr>
              <a:defRPr sz="2100" b="0">
                <a:solidFill>
                  <a:srgbClr val="142D3D"/>
                </a:solidFill>
                <a:latin typeface="Arial"/>
                <a:ea typeface="Arial"/>
                <a:cs typeface="Arial"/>
              </a:defRPr>
            </a:pPr>
            <a:r>
              <a:rPr sz="2100" b="0">
                <a:solidFill>
                  <a:srgbClr val="142D3D"/>
                </a:solidFill>
                <a:latin typeface="Arial"/>
                <a:ea typeface="Arial"/>
                <a:cs typeface="Arial"/>
              </a:rPr>
              <a:t>Source visibility; a different metric</a:t>
            </a:r>
          </a:p>
        </p:txBody>
      </p:sp>
      <p:sp>
        <p:nvSpPr>
          <p:cNvPr id="14" name="">
            <a:extLst xmlns:a="http://schemas.openxmlformats.org/drawingml/2006/main">
              <a:ext uri="{FF2B5EF4-FFF2-40B4-BE49-F238E27FC236}">
                <a16:creationId xmlns:a16="http://schemas.microsoft.com/office/drawing/2014/main" id="{4F9E710F-A44F-4D32-B61D-EE1061D35ED3}"/>
              </a:ext>
            </a:extLst>
          </p:cNvPr>
          <p:cNvSpPr>
            <a:spLocks xmlns:a="http://schemas.openxmlformats.org/drawingml/2006/main" noGrp="1"/>
          </p:cNvSpPr>
          <p:nvPr/>
        </p:nvSpPr>
        <p:spPr>
          <a:xfrm xmlns:a="http://schemas.openxmlformats.org/drawingml/2006/main">
            <a:off x="7953375" y="436245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42D3D"/>
                </a:solidFill>
                <a:latin typeface="Arial"/>
                <a:ea typeface="Arial"/>
                <a:cs typeface="Arial"/>
              </a:defRPr>
            </a:defPPr>
            <a:lvl1pPr>
              <a:defRPr sz="2100" b="0">
                <a:solidFill>
                  <a:srgbClr val="142D3D"/>
                </a:solidFill>
                <a:latin typeface="Arial"/>
                <a:ea typeface="Arial"/>
                <a:cs typeface="Arial"/>
              </a:defRPr>
            </a:lvl1pPr>
            <a:lvl2pPr>
              <a:defRPr sz="2100" b="0">
                <a:solidFill>
                  <a:srgbClr val="142D3D"/>
                </a:solidFill>
                <a:latin typeface="Arial"/>
                <a:ea typeface="Arial"/>
                <a:cs typeface="Arial"/>
              </a:defRPr>
            </a:lvl2pPr>
            <a:lvl3pPr>
              <a:defRPr sz="2100" b="0">
                <a:solidFill>
                  <a:srgbClr val="142D3D"/>
                </a:solidFill>
                <a:latin typeface="Arial"/>
                <a:ea typeface="Arial"/>
                <a:cs typeface="Arial"/>
              </a:defRPr>
            </a:lvl3pPr>
            <a:lvl4pPr>
              <a:defRPr sz="2100" b="0">
                <a:solidFill>
                  <a:srgbClr val="142D3D"/>
                </a:solidFill>
                <a:latin typeface="Arial"/>
                <a:ea typeface="Arial"/>
                <a:cs typeface="Arial"/>
              </a:defRPr>
            </a:lvl4pPr>
            <a:lvl5pPr>
              <a:defRPr sz="2100" b="0">
                <a:solidFill>
                  <a:srgbClr val="142D3D"/>
                </a:solidFill>
                <a:latin typeface="Arial"/>
                <a:ea typeface="Arial"/>
                <a:cs typeface="Arial"/>
              </a:defRPr>
            </a:lvl5pPr>
            <a:lvl6pPr>
              <a:defRPr sz="2100" b="0">
                <a:solidFill>
                  <a:srgbClr val="142D3D"/>
                </a:solidFill>
                <a:latin typeface="Arial"/>
                <a:ea typeface="Arial"/>
                <a:cs typeface="Arial"/>
              </a:defRPr>
            </a:lvl6pPr>
            <a:lvl7pPr>
              <a:defRPr sz="2100" b="0">
                <a:solidFill>
                  <a:srgbClr val="142D3D"/>
                </a:solidFill>
                <a:latin typeface="Arial"/>
                <a:ea typeface="Arial"/>
                <a:cs typeface="Arial"/>
              </a:defRPr>
            </a:lvl7pPr>
            <a:lvl8pPr>
              <a:defRPr sz="2100" b="0">
                <a:solidFill>
                  <a:srgbClr val="142D3D"/>
                </a:solidFill>
                <a:latin typeface="Arial"/>
                <a:ea typeface="Arial"/>
                <a:cs typeface="Arial"/>
              </a:defRPr>
            </a:lvl8pPr>
            <a:lvl9pPr>
              <a:defRPr sz="2100" b="0">
                <a:solidFill>
                  <a:srgbClr val="142D3D"/>
                </a:solidFill>
                <a:latin typeface="Arial"/>
                <a:ea typeface="Arial"/>
                <a:cs typeface="Arial"/>
              </a:defRPr>
            </a:lvl9pPr>
          </a:lstStyle>
          <a:p xmlns:a="http://schemas.openxmlformats.org/drawingml/2006/main">
            <a:pPr>
              <a:defRPr sz="2100" b="0">
                <a:solidFill>
                  <a:srgbClr val="142D3D"/>
                </a:solidFill>
                <a:latin typeface="Arial"/>
                <a:ea typeface="Arial"/>
                <a:cs typeface="Arial"/>
              </a:defRPr>
            </a:pPr>
            <a:r>
              <a:rPr sz="2100" b="0">
                <a:solidFill>
                  <a:srgbClr val="142D3D"/>
                </a:solidFill>
                <a:latin typeface="Arial"/>
                <a:ea typeface="Arial"/>
                <a:cs typeface="Arial"/>
              </a:rPr>
              <a:t>Citation presence is not claim support</a:t>
            </a:r>
          </a:p>
        </p:txBody>
      </p:sp>
      <p:sp>
        <p:nvSpPr>
          <p:cNvPr id="15" name="">
            <a:extLst xmlns:a="http://schemas.openxmlformats.org/drawingml/2006/main">
              <a:ext uri="{FF2B5EF4-FFF2-40B4-BE49-F238E27FC236}">
                <a16:creationId xmlns:a16="http://schemas.microsoft.com/office/drawing/2014/main" id="{7C40E82B-A364-495B-B6FD-2360E443E462}"/>
              </a:ext>
            </a:extLst>
          </p:cNvPr>
          <p:cNvSpPr>
            <a:spLocks xmlns:a="http://schemas.openxmlformats.org/drawingml/2006/main" noGrp="1"/>
          </p:cNvSpPr>
          <p:nvPr/>
        </p:nvSpPr>
        <p:spPr>
          <a:xfrm xmlns:a="http://schemas.openxmlformats.org/drawingml/2006/main">
            <a:off x="7953375" y="514350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42D3D"/>
                </a:solidFill>
                <a:latin typeface="Arial"/>
                <a:ea typeface="Arial"/>
                <a:cs typeface="Arial"/>
              </a:defRPr>
            </a:defPPr>
            <a:lvl1pPr>
              <a:defRPr sz="2100" b="0">
                <a:solidFill>
                  <a:srgbClr val="142D3D"/>
                </a:solidFill>
                <a:latin typeface="Arial"/>
                <a:ea typeface="Arial"/>
                <a:cs typeface="Arial"/>
              </a:defRPr>
            </a:lvl1pPr>
            <a:lvl2pPr>
              <a:defRPr sz="2100" b="0">
                <a:solidFill>
                  <a:srgbClr val="142D3D"/>
                </a:solidFill>
                <a:latin typeface="Arial"/>
                <a:ea typeface="Arial"/>
                <a:cs typeface="Arial"/>
              </a:defRPr>
            </a:lvl2pPr>
            <a:lvl3pPr>
              <a:defRPr sz="2100" b="0">
                <a:solidFill>
                  <a:srgbClr val="142D3D"/>
                </a:solidFill>
                <a:latin typeface="Arial"/>
                <a:ea typeface="Arial"/>
                <a:cs typeface="Arial"/>
              </a:defRPr>
            </a:lvl3pPr>
            <a:lvl4pPr>
              <a:defRPr sz="2100" b="0">
                <a:solidFill>
                  <a:srgbClr val="142D3D"/>
                </a:solidFill>
                <a:latin typeface="Arial"/>
                <a:ea typeface="Arial"/>
                <a:cs typeface="Arial"/>
              </a:defRPr>
            </a:lvl4pPr>
            <a:lvl5pPr>
              <a:defRPr sz="2100" b="0">
                <a:solidFill>
                  <a:srgbClr val="142D3D"/>
                </a:solidFill>
                <a:latin typeface="Arial"/>
                <a:ea typeface="Arial"/>
                <a:cs typeface="Arial"/>
              </a:defRPr>
            </a:lvl5pPr>
            <a:lvl6pPr>
              <a:defRPr sz="2100" b="0">
                <a:solidFill>
                  <a:srgbClr val="142D3D"/>
                </a:solidFill>
                <a:latin typeface="Arial"/>
                <a:ea typeface="Arial"/>
                <a:cs typeface="Arial"/>
              </a:defRPr>
            </a:lvl6pPr>
            <a:lvl7pPr>
              <a:defRPr sz="2100" b="0">
                <a:solidFill>
                  <a:srgbClr val="142D3D"/>
                </a:solidFill>
                <a:latin typeface="Arial"/>
                <a:ea typeface="Arial"/>
                <a:cs typeface="Arial"/>
              </a:defRPr>
            </a:lvl7pPr>
            <a:lvl8pPr>
              <a:defRPr sz="2100" b="0">
                <a:solidFill>
                  <a:srgbClr val="142D3D"/>
                </a:solidFill>
                <a:latin typeface="Arial"/>
                <a:ea typeface="Arial"/>
                <a:cs typeface="Arial"/>
              </a:defRPr>
            </a:lvl8pPr>
            <a:lvl9pPr>
              <a:defRPr sz="2100" b="0">
                <a:solidFill>
                  <a:srgbClr val="142D3D"/>
                </a:solidFill>
                <a:latin typeface="Arial"/>
                <a:ea typeface="Arial"/>
                <a:cs typeface="Arial"/>
              </a:defRPr>
            </a:lvl9pPr>
          </a:lstStyle>
          <a:p xmlns:a="http://schemas.openxmlformats.org/drawingml/2006/main">
            <a:pPr>
              <a:defRPr sz="2100" b="0">
                <a:solidFill>
                  <a:srgbClr val="142D3D"/>
                </a:solidFill>
                <a:latin typeface="Arial"/>
                <a:ea typeface="Arial"/>
                <a:cs typeface="Arial"/>
              </a:defRPr>
            </a:pPr>
            <a:r>
              <a:rPr sz="2100" b="0">
                <a:solidFill>
                  <a:srgbClr val="142D3D"/>
                </a:solidFill>
                <a:latin typeface="Arial"/>
                <a:ea typeface="Arial"/>
                <a:cs typeface="Arial"/>
              </a:rPr>
              <a:t>Context position is not search rank</a:t>
            </a:r>
          </a:p>
        </p:txBody>
      </p:sp>
      <p:sp>
        <p:nvSpPr>
          <p:cNvPr id="16" name="">
            <a:extLst xmlns:a="http://schemas.openxmlformats.org/drawingml/2006/main">
              <a:ext uri="{FF2B5EF4-FFF2-40B4-BE49-F238E27FC236}">
                <a16:creationId xmlns:a16="http://schemas.microsoft.com/office/drawing/2014/main" id="{10E8947C-F8DD-41BD-B175-AA3E2EF2369F}"/>
              </a:ext>
            </a:extLst>
          </p:cNvPr>
          <p:cNvSpPr>
            <a:spLocks xmlns:a="http://schemas.openxmlformats.org/drawingml/2006/main" noGrp="1"/>
          </p:cNvSpPr>
          <p:nvPr/>
        </p:nvSpPr>
        <p:spPr>
          <a:xfrm xmlns:a="http://schemas.openxmlformats.org/drawingml/2006/main">
            <a:off x="619125" y="6924675"/>
            <a:ext cx="14001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06574"/>
                </a:solidFill>
                <a:latin typeface="Arial"/>
                <a:ea typeface="Arial"/>
                <a:cs typeface="Arial"/>
              </a:defRPr>
            </a:defPPr>
            <a:lvl1pPr>
              <a:defRPr sz="1950" b="0">
                <a:solidFill>
                  <a:srgbClr val="506574"/>
                </a:solidFill>
                <a:latin typeface="Arial"/>
                <a:ea typeface="Arial"/>
                <a:cs typeface="Arial"/>
              </a:defRPr>
            </a:lvl1pPr>
            <a:lvl2pPr>
              <a:defRPr sz="1950" b="0">
                <a:solidFill>
                  <a:srgbClr val="506574"/>
                </a:solidFill>
                <a:latin typeface="Arial"/>
                <a:ea typeface="Arial"/>
                <a:cs typeface="Arial"/>
              </a:defRPr>
            </a:lvl2pPr>
            <a:lvl3pPr>
              <a:defRPr sz="1950" b="0">
                <a:solidFill>
                  <a:srgbClr val="506574"/>
                </a:solidFill>
                <a:latin typeface="Arial"/>
                <a:ea typeface="Arial"/>
                <a:cs typeface="Arial"/>
              </a:defRPr>
            </a:lvl3pPr>
            <a:lvl4pPr>
              <a:defRPr sz="1950" b="0">
                <a:solidFill>
                  <a:srgbClr val="506574"/>
                </a:solidFill>
                <a:latin typeface="Arial"/>
                <a:ea typeface="Arial"/>
                <a:cs typeface="Arial"/>
              </a:defRPr>
            </a:lvl4pPr>
            <a:lvl5pPr>
              <a:defRPr sz="1950" b="0">
                <a:solidFill>
                  <a:srgbClr val="506574"/>
                </a:solidFill>
                <a:latin typeface="Arial"/>
                <a:ea typeface="Arial"/>
                <a:cs typeface="Arial"/>
              </a:defRPr>
            </a:lvl5pPr>
            <a:lvl6pPr>
              <a:defRPr sz="1950" b="0">
                <a:solidFill>
                  <a:srgbClr val="506574"/>
                </a:solidFill>
                <a:latin typeface="Arial"/>
                <a:ea typeface="Arial"/>
                <a:cs typeface="Arial"/>
              </a:defRPr>
            </a:lvl6pPr>
            <a:lvl7pPr>
              <a:defRPr sz="1950" b="0">
                <a:solidFill>
                  <a:srgbClr val="506574"/>
                </a:solidFill>
                <a:latin typeface="Arial"/>
                <a:ea typeface="Arial"/>
                <a:cs typeface="Arial"/>
              </a:defRPr>
            </a:lvl7pPr>
            <a:lvl8pPr>
              <a:defRPr sz="1950" b="0">
                <a:solidFill>
                  <a:srgbClr val="506574"/>
                </a:solidFill>
                <a:latin typeface="Arial"/>
                <a:ea typeface="Arial"/>
                <a:cs typeface="Arial"/>
              </a:defRPr>
            </a:lvl8pPr>
            <a:lvl9pPr>
              <a:defRPr sz="1950" b="0">
                <a:solidFill>
                  <a:srgbClr val="506574"/>
                </a:solidFill>
                <a:latin typeface="Arial"/>
                <a:ea typeface="Arial"/>
                <a:cs typeface="Arial"/>
              </a:defRPr>
            </a:lvl9pPr>
          </a:lstStyle>
          <a:p xmlns:a="http://schemas.openxmlformats.org/drawingml/2006/main">
            <a:pPr>
              <a:defRPr sz="1950" b="0">
                <a:solidFill>
                  <a:srgbClr val="506574"/>
                </a:solidFill>
                <a:latin typeface="Arial"/>
                <a:ea typeface="Arial"/>
                <a:cs typeface="Arial"/>
              </a:defRPr>
            </a:pPr>
            <a:r>
              <a:rPr sz="1950" b="0">
                <a:solidFill>
                  <a:srgbClr val="506574"/>
                </a:solidFill>
                <a:latin typeface="Arial"/>
                <a:ea typeface="Arial"/>
                <a:cs typeface="Arial"/>
              </a:rPr>
              <a:t>Clickable paper titles. Experimental claims are supported by the bundled saved records.</a:t>
            </a:r>
          </a:p>
        </p:txBody>
      </p:sp>
    </p:spTree>
    <p:extLst>
      <p:ext uri="{BB962C8B-B14F-4D97-AF65-F5344CB8AC3E}">
        <p14:creationId xmlns:p14="http://schemas.microsoft.com/office/powerpoint/2010/main" val="5513349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2026-10-18T16:51:45.9500000Z</dcterms:created>
  <dcterms:modified xsi:type="dcterms:W3CDTF">2026-10-18T16:51:45.9500000Z</dcterms:modified>
</coreProperties>
</file>